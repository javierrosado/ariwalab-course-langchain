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presentar la sesión (semana 1, martes, 6 h: 3.5 h de teoría y 2.5 h de práctica, contando 1 h de pre-work y 2 h de laboratorio). Anunciar los dos hitos: Test 1 al cierre del bloque teórico y elección de track al final de la sesión en vivo. Idea central: por qué un LLM solo no es un agente. Aclarar desde el inicio que hoy no se construye un agente: el primero llega en S3. 2) Pregunta a la audiencia: ¿quién completó la autoevaluación de S0 con 8 aciertos o más? 3) Laboratorio: L1 · Entorno y primer script (lab/README.md).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leer los cinco objetivos y cómo se verifica cada uno: el 1 y el 2 con el Test 1; el 4 y el 5 con el laboratorio L1. El objetivo 3 (ubicar los objetos de LangChain 1.x en el mapa del curso) no tiene instrumento propio en esta sesión: se retoma al abrir cada sesión de los módulos 1 y 2. 2) Pregunta a la audiencia: ¿cuál de estos objetivos les parece más lejano de su experiencia actual? 3) Laboratorio: los objetivos 4 y 5 son el criterio de aceptación del L1: primer_contacto.py usa comun.provider.get_chat_model().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recorrer de izquierda a derecha. S0 es nivelación (autoevaluación 8/10). M1 (S1–S3) cierra con el Assignment A1; M2 (S4–S7) con el Proyecto M2; M3 (S8–S11) con el integrador; el bonus de Microsoft Foundry es opcional y no ponderado (contorno discontinuo). Mostrar la app final funcionando y decir que cada equipo la construye lab a lab desde hoy, en su propio repositorio: proyecto-final/ es la implementación de referencia del docente, no una plantilla. 2) Pregunta a la audiencia: ¿qué parte de la app final les parece más difícil de construir? 3) Laboratorio: el L1 es el primer incremento; del L2 al L11 se construye sobre el mismo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partir de la expectativa del ingeniero de software: una API REST bien diseñada es determinística y, si falla, lo hace con un código explícito (404, 500, timeout). Contrastar con el LLM: la misma pregunta puede dar respuestas distintas incluso con temperature=0 (lo vieron en la demo 2 de S0) y, cuando alucina, no hay ningún código de error. Consecuencia: un test con assert respuesta == "esperado" falla incluso cuando el agente responde bien; la evaluación se formaliza en S10. 2) Pregunta a la audiencia: ¿cómo probarían hoy una función cuyo resultado cambia entre llamadas? 3) Laboratorio: en el L1 verán respuestas convincentes que no provienen de ningún dato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ejecutar la demo en vivo, no describirla: preguntar al modelo dos veces seguidas la tarifa de un plan de AndesMóvil y completar las dos respuestas en la diapositiva. Señalar la seguridad con la que responde y que ninguna cifra es real, porque el modelo nunca tuvo acceso al tarifario. No prometer el resultado: si responde lo mismo las dos veces, remarcar que tampoco consultó ninguna fuente. El resto de la sesión explica por qué pasa; las diez sesiones siguientes construyen las defensas. 2) Pregunta a la audiencia: ¿de dónde salió esa cifra? 3) Laboratorio: reto opcional del L1 (lab/&lt;track&gt;/enunciado.md): una cuarta pregunta cuyo dato solo existe en los sistemas de la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primera diapositiva de una secuencia que mantiene la misma composición hasta la 11. Hoy solo existen Usuario y LLM; lo demás aparece en contorno discontinuo con la sesión que lo construye. El modelo recibe mensajes y genera texto: no sabe si acertó, no recuerda la conversación salvo que se la reenvíes y no puede tocar ningún sistema. También puede proponer llamadas estructuradas a tools (S3), pero proponer no es ejecutar. 2) Pregunta a la audiencia: si el modelo no toca el sistema, ¿qué habría que construir alrededor para que el dato sea real? 3) Laboratorio: primer_contacto.py del L1 está en este estado: model.invoke() sin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aparece el contenedor Agente. Foco en Runtime y Herramientas: el LLM propone una acción, el runtime la ejecuta con la herramienta y el resultado vuelve al modelo como observación. Con herramientas, el agente consulta de verdad el plan del cliente, el saldo o el estado del pedido. Se construye en S3 (tools y bucle) y S4 (catálogo). Error frecuente: creer que el modelo ejecuta Python o llama a la API. 2) Pregunta a la audiencia: ¿qué componente hace realmente la llamada al sistema? 3) Laboratorio: no aplica en el L1; la primera tool llega en el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foco en Memoria. Si no le reenvías la conversación, el modelo no sabe que ya te presentaste; recordar es tu código reenviando el historial en cada llamada (flecha discontinua: contexto). La memoria persistente no es requisito definitorio de todo agente, pero sí una capacidad del proyecto desde S5, donde es un historial por thread_id en un diccionario por proceso. No confundir memoria con RAG. 2) Pregunta a la audiencia: ¿qué le pasa a esa memoria si el proceso se reinicia? 3) Laboratorio: en el L1 cada pregunta es una llamada independiente; la memoria llega en el L5.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foco en Objetivo. Un agente necesita un criterio para saber cuándo terminó la tarea; sin él, se detiene demasiado pronto o repite pasos indefinidamente. Es una señal de control sobre el bucle (flecha discontinua), no un dato del sistema. Se trabaja en S4; en S7 se profundiza el límite de pasos del bucle. 2) Pregunta a la audiencia: en un reclamo de seguros, ¿cómo sabría el agente que ya terminó? 3) Laboratorio: no aplica en el L1.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foco en Control. Sin control, un agente de banca podría “decidir” que ejecutar una transferencia es el siguiente paso lógico. Los controles se construyen en S6 con guardrails y middleware manual. Aclarar que una política escrita en el prompt no impone una autorización, y que ningún control cubre todos los ataques. 2) Pregunta a la audiencia: ¿qué acción de su industria nunca debería ejecutar un agente sin control? 3) Laboratorio: no aplica en el L1; los controles se prueban en el L6.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cierre de la secuencia. Recorrer el bucle marcado: el LLM propone, el runtime ejecuta y la observación vuelve al modelo; se repite hasta cumplir el objetivo o llegar a un límite. Cada pieza lleva la sesión que la construye, y este mapa se repite al abrir las sesiones 3, 4, 5 y 6. 2) Pregunta a la audiencia: ¿cuál de las cuatro piezas creen que es la más difícil de hacer bien? 3) Laboratorio: ubicar el L1 en el mapa: solo Usuario y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el marco que se usa todo el curso para describir cualquier agente. Percepción: lee el mensaje y el estado de la conversación. Razonamiento: el LLM decide el siguiente paso con el contexto que tiene. Acción: llama a una tool, responde o pide más datos. Entorno: el sistema real responde. La flecha marcada cierra el ciclo: el agente observa el resultado y vuelve a razonar, mientras lo considere necesario. Cada vuelta es una oportunidad de razonar mejor y también de acumular error. 2) Pregunta a la audiencia: ¿en qué paso ubicarían “consultar la base de datos”? 3) Laboratorio: en el L1 el ciclo no se cierra: no hay acción sobre el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misma composición, ahora con el caso de Banco Inti del README §4. Percepción: el cliente dice que hay un cargo que no reconoce. Razonamiento (en foco): decide evaluar el riesgo antes de tranquilizar o alertar. Acción (en foco): llama a la tool de riesgo, score_transaction_risk. Entorno: el motor de riesgo devuelve un puntaje y una recomendación. El modelo no responde de memoria: primero consigue el dato real. 2) Pregunta a la audiencia: ¿qué pasaría si el modelo respondiera sin llamar a la tool? 3) Laboratorio: la tool no existe en el L1; aparece en el catálogo de cuatro tools del L4.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recorrer la tabla por filas. En los cuatro casos el modelo no responde de memoria: percibe, decide que le falta un dato real, actúa para conseguirlo y recién entonces responde. Es el patrón que se construye desde S3. Las marcas son ficticias y tienen igual jerarquía; los nombres de tools se implementan en S3–S4 y la consulta del condicionado de seguros usa RAG, que llega en S5. 2) Pregunta a la audiencia: ¿qué industria les resulta más cercana para su proyecto? 3) Laboratorio: insumo para la elección de track al cierre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 (4 min, asset aprobado IMG-M01-S01-001): separar la llamada al modelo de un sistema que ejecuta acciones. Recorrer en orden: Usuario → Agente; dentro, el LLM propone, el Runtime ejecuta y la Tool realiza la acción sobre la API; el resultado vuelve al LLM, que entrega la respuesta. Mostrar el límite de iteraciones como borde del bucle. En la imagen la flecha Resultado llega directo al LLM: aclarar que en el código ese resultado lo recibe y reenvía la aplicación (runtime). Anunciar tools en S3, historial en S5 y controles en S6. Ejemplo AndesMóvil: el plan de una línea debe salir del simulador. Error frecuente: creer que generar una Tool Call significa haber ejecutado la herramienta. 2) Pregunta a la audiencia: ¿qué componente puede ejecutar la consulta HTTP? 3) Laboratorio: el L1 no ejecuta tools; el bucle se implementa en S3.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la pregunta clave es quién decide la ruta. En un workflow la decide el código: puede incluir condiciones, ciclos y un número variable de pasos, así que no es “siempre lineal”. En un agente la aplicación delega esa decisión al modelo; el modelo propone y el runtime ejecuta. Ambos pueden llegar a los mismos pasos: cambia quién elige. 2) Pregunta a la audiencia: en su trabajo actual, ¿qué proceso tiene ramas que se pueden escribir de antemano? 3) Laboratorio: no aplica en el L1; el Test 1 evalúa esta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recorrer el árbol de arriba abajo, según el cuadro del README §5. Si hay un paso que debe ocurrir siempre (por ejemplo, registrar el reclamo), workflow: un agente puede saltárselo si “decide” que no hace falta. Si las condiciones y ramas pueden programarse explícitamente, workflow, aunque tenga ciclos o un número variable de pasos. Solo si la ruta la selecciona el modelo según el contexto, agente (flecha marcada). 2) Pregunta a la audiencia: ¿cuál de las dos preguntas les parece más difícil de responder en un caso real? 3) Laboratorio: no aplica en el L1; el Test 1 evalúa esta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el mensaje que deben llevarse del bloque. Para un ingeniero de software, construir un agente cuando un workflow alcanza es más caro, más lento y menos predecible sin ninguna ganancia a cambio. Solo se justifica cuando la ruta no se puede escribir de antemano. Pausa de 10 minutos después de esta diapositiva. 2) Pregunta a la audiencia: ¿qué proyecto “con IA” que conocen podría haberse resuelto con un workflow? 3) Laboratorio: no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LangChain 1.x se organiza en cinco objetos. model: un LLM que responde, sin importar el proveedor (hoy, vía comun/provider.py). message: system, human, ai y tool (hoy en la demo 2 y a fondo en S2). tool: una función de tu código que el modelo puede pedir ejecutar (S3). agent: el bucle que encadena model, tool y message (S3, create_agent()). middleware: interceptores antes o después de cada paso (S6), implementados como wrapper manual. No memorizar la tabla: volver a ella al abrir cada sesión de los módulos 1 y 2. 2) Pregunta a la audiencia: ¿cuál de estos objetos ya usaron en S0? 3) Laboratorio: el L1 solo usa model y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un modelo de pesos abiertos permite descargar sus parámetros bajo las condiciones de su licencia; en uno cerrado, el acceso habitual es una API del proveedor. El curso usa Qwen/Qwen3-32B a través de Hugging Face: el alumno consume inferencia remota y no instala ningún motor de inferencia. Aclarar el error frecuente: pesos abiertos no significa gratis ni más rápido. 2) Pregunta a la audiencia: ¿qué ganan y qué pierden con un modelo de pesos abiertos consumido en línea? 3) Laboratorio: criterio de aceptación del L1: el script corre sin instalar motor de inferencia ni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antes de las prácticas, ejecutar python -m comun.check_stack --solo-modelo: comprueba que el endpoint del modelo responda y permita llamar herramientas, sin revisar Qdrant ni Langfuse. La configuración fija HF_ENABLE_THINKING=false; al observar llamadas a herramientas, no confundir un texto explicativo con una llamada estructurada. La disponibilidad del proveedor puede cambiar: un resultado anterior no garantiza que hoy funcione. 2) Pregunta a la audiencia: ¿quién ya tiene el check en verde? 3) Laboratorio: parte 1 del L1 (40 min), la única ventana del curso dedicada a arreglar entornos.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todo llamado al modelo pasa por dos funciones de comun/provider.py. get_chat_model() lee AI_PROVIDER del .env (flecha discontinua: configuración) y construye un ChatOpenAI contra el router de Hugging Face o, en el bonus, contra un endpoint de Microsoft Foundry; desde afuera es el mismo objeto. Límite: esta indirección permite reutilizar el cliente de chat, pero credenciales, embeddings y adaptación al hosting requieren comprobaciones adicionales. 2) Pregunta a la audiencia: ¿qué tendrían que cambiar en el bonus si cada archivo instanciara su propio cliente? 3) Laboratorio: primer_contacto.py, main(): model = get_chat_model(). El criterio de aceptación del L1 lo revisa explícitamente.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misma composición; foco en la llamada real al router de Hugging Face. Ejecutar desde la raíz: python modulo-1-fundamentos/sesion-01-fundamentos-agentes/code/01_primer_llamado.py. Señalar la línea de describe_provider(): proveedor, track, modelo y URL, sin que el script sepa nada de Hugging Face. Luego, el llamado con una pregunta del track activo: la respuesta suena convincente, pero el modelo no consultó ningún sistema. Si tarda unos 20 s, es la cola del proveedor, no un error. 2) Pregunta a la audiencia: busquen ChatOpenAI en el archivo: ¿aparece? 3) Laboratorio: primer_contacto.py imprime describe_provider() al inicio de main().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ejecutar code/02_tipos_de_mensaje.py. El HumanMessage es idéntico en las dos ejecuciones; solo cambia si hay SystemMessage. Sin system: respuesta genérica. Con el system de la industria (get_system_prompt): rol, vocabulario y límites. El system no agrega información nueva al modelo. Un AIMessage también puede reenviarse como historial: así funciona la memoria de S5. Error esperable: si responde en inglés, falta el system en español. 2) Pregunta a la audiencia: si la pregunta fue la misma, ¿qué cambió en la respuesta? 3) Laboratorio: primer_contacto.py envía get_system_prompt(TRACK) como mensaje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misma composición que la demo 2. Ejecutar code/03_un_modelo_cuatro_industrias.py: la misma pregunta y el mismo modelo con los cuatro system prompts de comun/prompts_industria.py. Cada respuesta suena a su industria sin reentrenar nada: cambiar el tono de un agente es editar texto. Ninguna respuesta cita una fuente real todavía; eso llega con RAG en S5. 2) Pregunta a la audiencia: ¿qué ventaja tiene un solo modelo verificado frente a cuatro modelos distintos? 3) Laboratorio: en primer_contacto.py cada equipo importa get_system_prompt() con su propio track, no los cuatro.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15 minutos al cierre del bloque teórico. Diez preguntas de opción múltiple del banco en conceptos-previos.md; el docente indica el formato de entrega (papel, formulario u otro). Verifica los objetivos 1 y 2 y no tiene umbral de aprobación. Las respuestas comentadas se muestran solo en la autocorrección, después de responder. 2) Pregunta a la audiencia: ¿hay dudas sobre el formato antes de empezar? 3) Laboratorio: no aplica; al terminar, elección de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cada equipo de 2 personas declara el track sobre el que construirá todos los laboratorios, del L2 al L11. El docente ajusta la propuesta solo si hace falta: los cuatro tracks deben quedar representados en la sustentación final, y Banca, el más exigente en guardrails y structured output, no debe caer en el equipo con menos experiencia. El track es irrevocable. Quien quiera ver los casos antes de proponer puede revisar docente/casos-de-uso-industrias.md. 2) Pregunta a la audiencia: ¿qué equipo ya tiene una propuesta? 3) Laboratorio: parte 3 del L1: registrar equipo y track en la plantilla del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las cuatro partes del L1 y sus tiempos. Parte 1: check_stack en verde (40 min, porque el primer laboratorio se consume arreglando entornos y la S3 ya es el Assignment A1). Parte 2: primer_contacto.py con 3 preguntas del dominio. Parte 3: registro de equipo y track. Parte 4: verificación cruzada entre compañeros. Recordar que cada equipo construye en su propio repositorio; proyecto-final/ es la implementación de referencia del docente. 2) Pregunta a la audiencia: ¿quién espera tener problemas de entorno? 3) Laboratorio: entregable en lab/&lt;track&gt;/primer_contacto.py; .env completo en la raíz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tres criterios. El script corre sin instalar motor de inferencia ni base de datos; usa comun.provider.get_chat_model() y no instancia ChatOpenAI; las 3 preguntas son del dominio del track (“¿qué es un agente?” no cuenta). Usar get_system_prompt() es recomendable: es el patrón que se reutiliza desde el L2. El extracto viene de solucion/&lt;track&gt;/primer_contacto.py, un checkpoint para consultar después de intentarlo, no antes. 2) Pregunta a la audiencia: ¿qué línea del extracto rompería el criterio si la cambian? 3) Laboratorio: primer_contacto.py, función main().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reto opcional, no evaluado, para quien termine antes. Hacerle al modelo una cuarta pregunta cuya respuesta solo existe en los datos internos de la empresa; en AndesMóvil, el consumo de la línea 987654321, que solo existe en el sistema de facturación. El modelo no tiene herramientas: anotar en 5 líneas qué inventó y con qué seguridad lo presentó. Guardar la nota: se relee en S5 como el “antes” del RAG. Cada enunciado de track trae su propia pregunta. 2) Pregunta a la audiencia: ¿cómo detectarían que ese dato fue inventado? 3) Laboratorio: en solucion/&lt;track&gt;/primer_contacto.py, la línea QUESTIONS.append(...) está comentada.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delimitar el alcance: hoy no se construye un agente. Señalar en la imagen (IMG-M01-S01-001) lo que existe hoy, el LLM, y lo que llega después: runtime y tool en S3. Recorrer la tabla: @tool, function calling, create_agent() y el simulador en S3; Pydantic, structured output, plantillas y few-shot en S2; MCP en S4; Qdrant en S5 y Langfuse en S9 (hoy solo la cuenta creada); las reglas A1–A6 se aplican desde S2 y hoy solo se nombran. Recordatorio: la flecha Resultado de la imagen llega directo al LLM; en el código el resultado lo reenvía el runtime. 2) Pregunta a la audiencia: ¿qué esperaban construir hoy que llega más adelante? 3) Laboratorio: el L1 no usa tools, Pydantic ni create_agent().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Qué explicar: resumen en tres puntos y puente al laboratorio. Ahora: L1 durante 2 h; ante un bloqueo, revisar primero las tablas de errores esperables de code/README.md y lab/README.md (401 de Hugging Face, ModuleNotFoundError, acentos rotos en Windows, respuesta en inglés, latencia de unos 20 s). Próxima sesión, S2: mensajes, prompts y salida estructurada; el ejercicio de Pydantic se entrega antes de la sesión como pase de entrada. 2) Pregunta a la audiencia: ¿qué idea de hoy cambia su forma de probar software con LLM? 3) Laboratorio: L1 · lab/README.md y el enunciado de su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AriwaLabs · IA Agent Building · Módulo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91060"/>
            <a:ext cx="10883392" cy="1040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</a:t>
            </a:r>
            <a:endParaRPr lang="en-US" sz="3600" dirty="0"/>
          </a:p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agentes inteligentes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343287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FF5733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3610670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Semana 1 · martes · 6 h (3.5 h teoría · 2.5 h práctica)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018062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Hitos: </a:t>
            </a: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1</a:t>
            </a: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elección de 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425454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Hoy: por qué un LLM solo no es un agente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01 / 32</a:t>
            </a:r>
            <a:endParaRPr lang="en-US" sz="1200" dirty="0"/>
          </a:p>
        </p:txBody>
      </p:sp>
      <p:pic>
        <p:nvPicPr>
          <p:cNvPr id="9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Objetivos de aprendizaje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453555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9150" y="1447205"/>
            <a:ext cx="0" cy="2480866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" y="1536105"/>
          <a:ext cx="10350500" cy="2315766"/>
        </p:xfrm>
        <a:graphic>
          <a:graphicData uri="http://schemas.openxmlformats.org/drawingml/2006/table">
            <a:tbl>
              <a:tblPr/>
              <a:tblGrid>
                <a:gridCol w="7659370"/>
                <a:gridCol w="269113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 terminar puedes…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verifica con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 Explicar por qué un LLM solo no es un agente y nombrar las cuatro piezas que le faltan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 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 Decidir si un problema necesita un workflow o un agente, y justificarlo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 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 Situar model · message · tool · agent · middleware en el mapa de las 11 sesiones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retoma en cada sesión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 Ejecutar un script que llama en línea a un modelo de pesos abiertos, sin motor local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 Explicar qué hace comun/provider.py y por qué nadie instancia el modelo directamente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02 / 32</a:t>
            </a:r>
            <a:endParaRPr lang="en-US" sz="1200" dirty="0"/>
          </a:p>
        </p:txBody>
      </p:sp>
      <p:pic>
        <p:nvPicPr>
          <p:cNvPr id="7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construirán en 6 semanas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 de nivelación, tres módulos con evaluación y un bonus opcional. La app final se construye lab a lab.</a:t>
            </a:r>
            <a:endParaRPr lang="en-US" sz="1600" dirty="0"/>
          </a:p>
        </p:txBody>
      </p:sp>
      <p:pic>
        <p:nvPicPr>
          <p:cNvPr id="4" name="Image 0" descr="Recorrido del curso: S0, M1, M2, M3 y bonus Foundry; hoy S1 dentro de M1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812800" y="1905000"/>
            <a:ext cx="10566400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" y="2247900"/>
            <a:ext cx="1651000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5200" y="2628900"/>
            <a:ext cx="16510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Nivelación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5200" y="29337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Autoevaluación 8/10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30550" y="2247900"/>
            <a:ext cx="1651000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130550" y="2628900"/>
            <a:ext cx="16510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S1–S3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30550" y="29337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Fundamentos · A1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95900" y="2247900"/>
            <a:ext cx="1651000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295900" y="2628900"/>
            <a:ext cx="16510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S4–S7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95900" y="29337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Agentes avanzados · Proyecto M2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61250" y="2247900"/>
            <a:ext cx="1651000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461250" y="2628900"/>
            <a:ext cx="16510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S8–S11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61250" y="29337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Producción · Integrador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26600" y="2247900"/>
            <a:ext cx="1651000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26600" y="2628900"/>
            <a:ext cx="16510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Foundry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626600" y="29337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Opcional, no ponderado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130550" y="3810000"/>
            <a:ext cx="16510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Hoy: S1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2800" y="5207000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del docente: la app final funcionando.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03 / 32</a:t>
            </a:r>
            <a:endParaRPr lang="en-US" sz="1200" dirty="0"/>
          </a:p>
        </p:txBody>
      </p:sp>
      <p:pic>
        <p:nvPicPr>
          <p:cNvPr id="23" name="Image 1" descr="Logo de AriwaLabs">    </p:cNvPr>
          <p:cNvPicPr>
            <a:picLocks noChangeAspect="1"/>
          </p:cNvPicPr>
          <p:nvPr/>
        </p:nvPicPr>
        <p:blipFill>
          <a:blip r:embed="rId2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LLM no es una API REST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antipatrón de hoy: esperar determinismo y un código de error explícito.</a:t>
            </a:r>
            <a:endParaRPr lang="en-US" sz="1600" dirty="0"/>
          </a:p>
        </p:txBody>
      </p:sp>
      <p:pic>
        <p:nvPicPr>
          <p:cNvPr id="4" name="Image 0" descr="Comparación: una API REST responde igual y falla con código; un LLM varía y alucina sin código de error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812800" y="1905000"/>
            <a:ext cx="10566400" cy="393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6000" y="2057400"/>
            <a:ext cx="4813808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espera un ingeniero</a:t>
            </a:r>
            <a:endParaRPr lang="en-US" sz="2200" dirty="0"/>
          </a:p>
        </p:txBody>
      </p:sp>
      <p:pic>
        <p:nvPicPr>
          <p:cNvPr id="6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89100" y="2806700"/>
            <a:ext cx="279400" cy="279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3175000"/>
            <a:ext cx="1371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</a:t>
            </a:r>
            <a:endParaRPr lang="en-US" sz="1400" dirty="0"/>
          </a:p>
        </p:txBody>
      </p:sp>
      <p:pic>
        <p:nvPicPr>
          <p:cNvPr id="8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37100" y="2806700"/>
            <a:ext cx="279400" cy="279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91000" y="3175000"/>
            <a:ext cx="1371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2590800" y="27178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parámetros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590800" y="34417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66800" y="4064000"/>
            <a:ext cx="4709160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Mismos parámetros, misma respuesta.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066800" y="4699000"/>
            <a:ext cx="4709160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falla: 404, 500 o timeout.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02400" y="2057400"/>
            <a:ext cx="4813808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hace un LLM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629400" y="3175000"/>
            <a:ext cx="1371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677400" y="3175000"/>
            <a:ext cx="1371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077200" y="27178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pregunta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077200" y="34417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respuesta variable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53200" y="4064000"/>
            <a:ext cx="4709160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misma pregunta puede dar respuestas distintas.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53200" y="4699000"/>
            <a:ext cx="4709160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alucina, no hay código de error.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04 / 32</a:t>
            </a:r>
            <a:endParaRPr lang="en-US" sz="1200" dirty="0"/>
          </a:p>
        </p:txBody>
      </p:sp>
      <p:pic>
        <p:nvPicPr>
          <p:cNvPr id="22" name="Image 3" descr="Logo de AriwaLabs">    </p:cNvPr>
          <p:cNvPicPr>
            <a:picLocks noChangeAspect="1"/>
          </p:cNvPicPr>
          <p:nvPr/>
        </p:nvPicPr>
        <p:blipFill>
          <a:blip r:embed="rId4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en vivo: la tarifa inventada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Preguntamos dos veces seguidas la tarifa de un plan de AndesMóvil.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9150" y="1860947"/>
            <a:ext cx="5168900" cy="1105297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070497"/>
            <a:ext cx="4892294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Respuesta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700" y="2476302"/>
            <a:ext cx="4892294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[cifra A · se completa en vivo]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3950" y="1860947"/>
            <a:ext cx="5168900" cy="1105297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3500" y="2070497"/>
            <a:ext cx="4892294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Respuesta 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13500" y="2476302"/>
            <a:ext cx="4892294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[cifra B · se completa en vivo]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5500" y="3112294"/>
            <a:ext cx="10541000" cy="992584"/>
          </a:xfrm>
          <a:prstGeom prst="roundRect">
            <a:avLst>
              <a:gd name="adj" fmla="val 8956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1400" y="3328194"/>
            <a:ext cx="10412476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Ninguna cifra es real:</a:t>
            </a: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modelo nunca tuvo acceso al tarifario. Respondió con total seguridad y sin ningún código de error.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244578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sesiones siguientes construyen las defensas: tools, RAG, guardrails y evaluación.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05 / 32</a:t>
            </a:r>
            <a:endParaRPr lang="en-US" sz="1200" dirty="0"/>
          </a:p>
        </p:txBody>
      </p:sp>
      <p:pic>
        <p:nvPicPr>
          <p:cNvPr id="14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LLM solo: texto → texto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Recibe texto y devuelve texto: no consulta tus sistemas ni sabe si acertó.</a:t>
            </a:r>
            <a:endParaRPr lang="en-US" sz="1600" dirty="0"/>
          </a:p>
        </p:txBody>
      </p:sp>
      <p:pic>
        <p:nvPicPr>
          <p:cNvPr id="4" name="Image 0" descr="Agente: Usuario, LLM, Runtime, Herramientas, Memoria, Objetivo y Contro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6900" y="1993900"/>
            <a:ext cx="457835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 · se construye desde S3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9000" y="2984500"/>
            <a:ext cx="1117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14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14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62800" y="255270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89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 · S3</a:t>
            </a:r>
            <a:endParaRPr lang="en-US" sz="1200" dirty="0"/>
          </a:p>
        </p:txBody>
      </p:sp>
      <p:pic>
        <p:nvPicPr>
          <p:cNvPr id="12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83800" y="255270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0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410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· S4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4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14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S5</a:t>
            </a:r>
            <a:endParaRPr lang="en-US" sz="1200" dirty="0"/>
          </a:p>
        </p:txBody>
      </p:sp>
      <p:pic>
        <p:nvPicPr>
          <p:cNvPr id="17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62800" y="452120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89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89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</a:t>
            </a:r>
            <a:endParaRPr lang="en-US" sz="1200" dirty="0"/>
          </a:p>
        </p:txBody>
      </p:sp>
      <p:pic>
        <p:nvPicPr>
          <p:cNvPr id="20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83800" y="4521200"/>
            <a:ext cx="279400" cy="279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10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410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095500" y="25908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mensaje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2095500" y="33147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06 / 32</a:t>
            </a:r>
            <a:endParaRPr lang="en-US" sz="1200" dirty="0"/>
          </a:p>
        </p:txBody>
      </p:sp>
      <p:pic>
        <p:nvPicPr>
          <p:cNvPr id="26" name="Image 5" descr="Logo de AriwaLabs">    </p:cNvPr>
          <p:cNvPicPr>
            <a:picLocks noChangeAspect="1"/>
          </p:cNvPicPr>
          <p:nvPr/>
        </p:nvPicPr>
        <p:blipFill>
          <a:blip r:embed="rId6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Pieza 1 · Herramientas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herramientas, el modelo solo puede inventar que consultó tu sistema.</a:t>
            </a:r>
            <a:endParaRPr lang="en-US" sz="1600" dirty="0"/>
          </a:p>
        </p:txBody>
      </p:sp>
      <p:pic>
        <p:nvPicPr>
          <p:cNvPr id="4" name="Image 0" descr="Agente: Usuario, LLM, Runtime, Herramientas, Memoria, Objetivo y Contro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6900" y="1993900"/>
            <a:ext cx="457835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9000" y="2984500"/>
            <a:ext cx="1117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14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14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62800" y="255270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89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 · S3</a:t>
            </a:r>
            <a:endParaRPr lang="en-US" sz="1200" dirty="0"/>
          </a:p>
        </p:txBody>
      </p:sp>
      <p:pic>
        <p:nvPicPr>
          <p:cNvPr id="12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83800" y="255270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0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410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· S4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4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14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S5</a:t>
            </a:r>
            <a:endParaRPr lang="en-US" sz="1200" dirty="0"/>
          </a:p>
        </p:txBody>
      </p:sp>
      <p:pic>
        <p:nvPicPr>
          <p:cNvPr id="17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62800" y="452120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89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89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</a:t>
            </a:r>
            <a:endParaRPr lang="en-US" sz="1200" dirty="0"/>
          </a:p>
        </p:txBody>
      </p:sp>
      <p:pic>
        <p:nvPicPr>
          <p:cNvPr id="20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83800" y="4521200"/>
            <a:ext cx="279400" cy="279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10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410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095500" y="25908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mensaje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2095500" y="33147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054600" y="25273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54600" y="3365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204200" y="25273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204200" y="33655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07 / 32</a:t>
            </a:r>
            <a:endParaRPr lang="en-US" sz="1200" dirty="0"/>
          </a:p>
        </p:txBody>
      </p:sp>
      <p:pic>
        <p:nvPicPr>
          <p:cNvPr id="30" name="Image 5" descr="Logo de AriwaLabs">    </p:cNvPr>
          <p:cNvPicPr>
            <a:picLocks noChangeAspect="1"/>
          </p:cNvPicPr>
          <p:nvPr/>
        </p:nvPicPr>
        <p:blipFill>
          <a:blip r:embed="rId6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Pieza 2 · Memoria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modelo es stateless: “recordar” es tu código reenviando el historial.</a:t>
            </a:r>
            <a:endParaRPr lang="en-US" sz="1600" dirty="0"/>
          </a:p>
        </p:txBody>
      </p:sp>
      <p:pic>
        <p:nvPicPr>
          <p:cNvPr id="4" name="Image 0" descr="Agente: Usuario, LLM, Runtime, Herramientas, Memoria, Objetivo y Contro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6900" y="1993900"/>
            <a:ext cx="457835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9000" y="2984500"/>
            <a:ext cx="1117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14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14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62800" y="255270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89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 · S3</a:t>
            </a:r>
            <a:endParaRPr lang="en-US" sz="1200" dirty="0"/>
          </a:p>
        </p:txBody>
      </p:sp>
      <p:pic>
        <p:nvPicPr>
          <p:cNvPr id="12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83800" y="255270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0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410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· S4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4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14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S5</a:t>
            </a:r>
            <a:endParaRPr lang="en-US" sz="1200" dirty="0"/>
          </a:p>
        </p:txBody>
      </p:sp>
      <p:pic>
        <p:nvPicPr>
          <p:cNvPr id="17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62800" y="452120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89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89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</a:t>
            </a:r>
            <a:endParaRPr lang="en-US" sz="1200" dirty="0"/>
          </a:p>
        </p:txBody>
      </p:sp>
      <p:pic>
        <p:nvPicPr>
          <p:cNvPr id="20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83800" y="4521200"/>
            <a:ext cx="279400" cy="279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10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410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095500" y="25908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mensaje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2095500" y="33147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054600" y="25273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54600" y="3365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204200" y="25273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204200" y="33655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203700" y="3848100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08 / 32</a:t>
            </a:r>
            <a:endParaRPr lang="en-US" sz="1200" dirty="0"/>
          </a:p>
        </p:txBody>
      </p:sp>
      <p:pic>
        <p:nvPicPr>
          <p:cNvPr id="31" name="Image 5" descr="Logo de AriwaLabs">    </p:cNvPr>
          <p:cNvPicPr>
            <a:picLocks noChangeAspect="1"/>
          </p:cNvPicPr>
          <p:nvPr/>
        </p:nvPicPr>
        <p:blipFill>
          <a:blip r:embed="rId6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Pieza 3 · Objetivo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criterio para saber cuándo terminó: sin él, se detiene antes o repite pasos.</a:t>
            </a:r>
            <a:endParaRPr lang="en-US" sz="1600" dirty="0"/>
          </a:p>
        </p:txBody>
      </p:sp>
      <p:pic>
        <p:nvPicPr>
          <p:cNvPr id="4" name="Image 0" descr="Agente: Usuario, LLM, Runtime, Herramientas, Memoria, Objetivo y Contro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6900" y="1993900"/>
            <a:ext cx="457835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9000" y="2984500"/>
            <a:ext cx="1117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14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14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62800" y="255270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89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 · S3</a:t>
            </a:r>
            <a:endParaRPr lang="en-US" sz="1200" dirty="0"/>
          </a:p>
        </p:txBody>
      </p:sp>
      <p:pic>
        <p:nvPicPr>
          <p:cNvPr id="12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83800" y="255270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0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410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· S4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4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14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S5</a:t>
            </a:r>
            <a:endParaRPr lang="en-US" sz="1200" dirty="0"/>
          </a:p>
        </p:txBody>
      </p:sp>
      <p:pic>
        <p:nvPicPr>
          <p:cNvPr id="17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62800" y="452120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89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89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</a:t>
            </a:r>
            <a:endParaRPr lang="en-US" sz="1200" dirty="0"/>
          </a:p>
        </p:txBody>
      </p:sp>
      <p:pic>
        <p:nvPicPr>
          <p:cNvPr id="20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83800" y="4521200"/>
            <a:ext cx="279400" cy="279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10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410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095500" y="25908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mensaje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2095500" y="33147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054600" y="25273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54600" y="3365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204200" y="25273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204200" y="33655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203700" y="3848100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664200" y="3721100"/>
            <a:ext cx="1295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cuándo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terminar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09 / 32</a:t>
            </a:r>
            <a:endParaRPr lang="en-US" sz="1200" dirty="0"/>
          </a:p>
        </p:txBody>
      </p:sp>
      <p:pic>
        <p:nvPicPr>
          <p:cNvPr id="32" name="Image 5" descr="Logo de AriwaLabs">    </p:cNvPr>
          <p:cNvPicPr>
            <a:picLocks noChangeAspect="1"/>
          </p:cNvPicPr>
          <p:nvPr/>
        </p:nvPicPr>
        <p:blipFill>
          <a:blip r:embed="rId6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Pieza 4 · Control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Límites explícitos de lo que el agente puede y no puede hacer.</a:t>
            </a:r>
            <a:endParaRPr lang="en-US" sz="1600" dirty="0"/>
          </a:p>
        </p:txBody>
      </p:sp>
      <p:pic>
        <p:nvPicPr>
          <p:cNvPr id="4" name="Image 0" descr="Agente: Usuario, LLM, Runtime, Herramientas, Memoria, Objetivo y Contro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6900" y="1993900"/>
            <a:ext cx="457835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9000" y="2984500"/>
            <a:ext cx="1117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14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14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62800" y="255270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89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 · S3</a:t>
            </a:r>
            <a:endParaRPr lang="en-US" sz="1200" dirty="0"/>
          </a:p>
        </p:txBody>
      </p:sp>
      <p:pic>
        <p:nvPicPr>
          <p:cNvPr id="12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83800" y="255270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0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410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· S4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4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14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S5</a:t>
            </a:r>
            <a:endParaRPr lang="en-US" sz="1200" dirty="0"/>
          </a:p>
        </p:txBody>
      </p:sp>
      <p:pic>
        <p:nvPicPr>
          <p:cNvPr id="17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62800" y="452120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89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89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</a:t>
            </a:r>
            <a:endParaRPr lang="en-US" sz="1200" dirty="0"/>
          </a:p>
        </p:txBody>
      </p:sp>
      <p:pic>
        <p:nvPicPr>
          <p:cNvPr id="20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83800" y="4521200"/>
            <a:ext cx="279400" cy="279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10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410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095500" y="25908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mensaje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2095500" y="33147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054600" y="25273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54600" y="3365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204200" y="25273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204200" y="33655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203700" y="3848100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664200" y="3721100"/>
            <a:ext cx="1295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cuándo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terminar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255000" y="4019550"/>
            <a:ext cx="1066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10 / 32</a:t>
            </a:r>
            <a:endParaRPr lang="en-US" sz="1200" dirty="0"/>
          </a:p>
        </p:txBody>
      </p:sp>
      <p:pic>
        <p:nvPicPr>
          <p:cNvPr id="33" name="Image 5" descr="Logo de AriwaLabs">    </p:cNvPr>
          <p:cNvPicPr>
            <a:picLocks noChangeAspect="1"/>
          </p:cNvPicPr>
          <p:nvPr/>
        </p:nvPicPr>
        <p:blipFill>
          <a:blip r:embed="rId6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mapa del curso: LLM + 4 piezas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→ [razonar → actuar → observar]* → texto. Este mapa vuelve en S3, S4, S5 y S6.</a:t>
            </a:r>
            <a:endParaRPr lang="en-US" sz="1600" dirty="0"/>
          </a:p>
        </p:txBody>
      </p:sp>
      <p:pic>
        <p:nvPicPr>
          <p:cNvPr id="4" name="Image 0" descr="Agente: Usuario, LLM, Runtime, Herramientas, Memoria, Objetivo y Contro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36900" y="1993900"/>
            <a:ext cx="457835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9000" y="2984500"/>
            <a:ext cx="1117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14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14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pic>
        <p:nvPicPr>
          <p:cNvPr id="9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62800" y="2552700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9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89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 · S3</a:t>
            </a:r>
            <a:endParaRPr lang="en-US" sz="1200" dirty="0"/>
          </a:p>
        </p:txBody>
      </p:sp>
      <p:pic>
        <p:nvPicPr>
          <p:cNvPr id="12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83800" y="255270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0700" y="29210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Herramientas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410700" y="31750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· S4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4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14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S5</a:t>
            </a:r>
            <a:endParaRPr lang="en-US" sz="1200" dirty="0"/>
          </a:p>
        </p:txBody>
      </p:sp>
      <p:pic>
        <p:nvPicPr>
          <p:cNvPr id="17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62800" y="4521200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89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89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</a:t>
            </a:r>
            <a:endParaRPr lang="en-US" sz="1200" dirty="0"/>
          </a:p>
        </p:txBody>
      </p:sp>
      <p:pic>
        <p:nvPicPr>
          <p:cNvPr id="20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83800" y="4521200"/>
            <a:ext cx="279400" cy="279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10700" y="4889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410700" y="5143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095500" y="25908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mensaje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2095500" y="3314700"/>
            <a:ext cx="876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054600" y="25273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054600" y="3365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204200" y="25273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204200" y="3365500"/>
            <a:ext cx="1117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203700" y="3848100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historial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664200" y="3721100"/>
            <a:ext cx="1295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cuándo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terminar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255000" y="4019550"/>
            <a:ext cx="1066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11 / 32</a:t>
            </a:r>
            <a:endParaRPr lang="en-US" sz="1200" dirty="0"/>
          </a:p>
        </p:txBody>
      </p:sp>
      <p:pic>
        <p:nvPicPr>
          <p:cNvPr id="33" name="Image 5" descr="Logo de AriwaLabs">    </p:cNvPr>
          <p:cNvPicPr>
            <a:picLocks noChangeAspect="1"/>
          </p:cNvPicPr>
          <p:nvPr/>
        </p:nvPicPr>
        <p:blipFill>
          <a:blip r:embed="rId6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ciclo del agente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Percepción → razonamiento → acción → entorno, en cada vuelta del bucle.</a:t>
            </a:r>
            <a:endParaRPr lang="en-US" sz="1600" dirty="0"/>
          </a:p>
        </p:txBody>
      </p:sp>
      <p:pic>
        <p:nvPicPr>
          <p:cNvPr id="4" name="Image 0" descr="Ciclo del agente: percepción, razonamiento, acción y entorno, con retorno del resultad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130" y="2413000"/>
            <a:ext cx="183134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Percepción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3130" y="2717800"/>
            <a:ext cx="183134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 el mensaje del usuario y el estado de la conversación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757930" y="2413000"/>
            <a:ext cx="183134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Razonamiento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57930" y="2717800"/>
            <a:ext cx="183134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LLM decide el próximo paso con el contexto que tiene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02730" y="2413000"/>
            <a:ext cx="183134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2730" y="2717800"/>
            <a:ext cx="183134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llama a una tool, responde o pide más datos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47530" y="2413000"/>
            <a:ext cx="183134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Entorno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47530" y="2717800"/>
            <a:ext cx="183134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sistema real responde: CRM, base de datos, API externa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44800" y="27051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89600" y="27051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34400" y="27051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llamada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87900" y="4267200"/>
            <a:ext cx="2616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 el resultado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4953000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vuelta suma información real y también puede acumular error.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12 / 32</a:t>
            </a:r>
            <a:endParaRPr lang="en-US" sz="1200" dirty="0"/>
          </a:p>
        </p:txBody>
      </p:sp>
      <p:pic>
        <p:nvPicPr>
          <p:cNvPr id="19" name="Image 1" descr="Logo de AriwaLabs">    </p:cNvPr>
          <p:cNvPicPr>
            <a:picLocks noChangeAspect="1"/>
          </p:cNvPicPr>
          <p:nvPr/>
        </p:nvPicPr>
        <p:blipFill>
          <a:blip r:embed="rId2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ciclo en un caso real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 Inti: el mismo marco, aplicado a un cargo que el cliente no reconoce.</a:t>
            </a:r>
            <a:endParaRPr lang="en-US" sz="1600" dirty="0"/>
          </a:p>
        </p:txBody>
      </p:sp>
      <p:pic>
        <p:nvPicPr>
          <p:cNvPr id="4" name="Image 0" descr="Ciclo del agente: percepción, razonamiento, acción y entorno, con retorno del resultad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130" y="2413000"/>
            <a:ext cx="183134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Percepción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3130" y="2717800"/>
            <a:ext cx="18313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“Hay un cargo que no reconozco”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757930" y="2413000"/>
            <a:ext cx="183134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Razonamiento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57930" y="2717800"/>
            <a:ext cx="183134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evaluar el riesgo antes de tranquilizar o alertar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02730" y="2413000"/>
            <a:ext cx="183134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02730" y="2717800"/>
            <a:ext cx="18313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llama a la tool de riesgo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47530" y="2413000"/>
            <a:ext cx="183134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Entorno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47530" y="2717800"/>
            <a:ext cx="183134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motor de riesgo devuelve puntaje y recomendación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44800" y="27051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89600" y="27051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34400" y="27051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llamada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87900" y="4267200"/>
            <a:ext cx="2616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 el resultado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4953000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tool de riesgo, score_transaction_risk, forma parte del catálogo de banca de S4.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13 / 32</a:t>
            </a:r>
            <a:endParaRPr lang="en-US" sz="1200" dirty="0"/>
          </a:p>
        </p:txBody>
      </p:sp>
      <p:pic>
        <p:nvPicPr>
          <p:cNvPr id="19" name="Image 1" descr="Logo de AriwaLabs">    </p:cNvPr>
          <p:cNvPicPr>
            <a:picLocks noChangeAspect="1"/>
          </p:cNvPicPr>
          <p:nvPr/>
        </p:nvPicPr>
        <p:blipFill>
          <a:blip r:embed="rId2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mismo marco en 4 industrias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453555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9150" y="1447205"/>
            <a:ext cx="0" cy="2681288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" y="1536105"/>
          <a:ext cx="10350500" cy="2516188"/>
        </p:xfrm>
        <a:graphic>
          <a:graphicData uri="http://schemas.openxmlformats.org/drawingml/2006/table">
            <a:tbl>
              <a:tblPr/>
              <a:tblGrid>
                <a:gridCol w="1656080"/>
                <a:gridCol w="1966595"/>
                <a:gridCol w="2173605"/>
                <a:gridCol w="2277110"/>
                <a:gridCol w="2277110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Industria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Percepción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Razonamiento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Entorno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AndesMóvil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telco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“Se me acabaron mis gigas y no sé por qué”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Necesita el consumo real antes de responder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get_data_usage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Facturación devuelve el consumo del ciclo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Banco Inti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banca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“Hay un cargo que no reconozco”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Evaluar el riesgo antes de tranquilizar o alertar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score_transaction_risk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 motor de riesgo devuelve puntaje y recomendación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MercaSur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retail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“Mi pedido no ha llegado”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Necesita el estado real del envío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track_order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 courier devuelve el último evento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Andina Seguros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seguros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“Choqué y no sé qué hacer”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Guiar el reporte, no improvisar coberturas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open_claim + condicionado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registra el expediente; el RAG devuelve la cláusula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14 / 32</a:t>
            </a:r>
            <a:endParaRPr lang="en-US" sz="1200" dirty="0"/>
          </a:p>
        </p:txBody>
      </p:sp>
      <p:pic>
        <p:nvPicPr>
          <p:cNvPr id="7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modelo propone; la aplicación ejecuta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447205"/>
            <a:ext cx="7302500" cy="410845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/>
        </p:spPr>
      </p:sp>
      <p:pic>
        <p:nvPicPr>
          <p:cNvPr id="4" name="Image 0" descr="IMG-M01-S01-001 Agentic Loop: Usuario, y dentro del Agente LLM que propone, Runtime que ejecuta y Tool que realiza la acción sobre una API; el resultado vuelve al LLM; límite de iteraciones">    </p:cNvPr>
          <p:cNvPicPr>
            <a:picLocks noChangeAspect="1"/>
          </p:cNvPicPr>
          <p:nvPr/>
        </p:nvPicPr>
        <p:blipFill>
          <a:blip r:embed="rId1"/>
          <a:srcRect l="-17" r="-17" t="0" b="0"/>
          <a:stretch/>
        </p:blipFill>
        <p:spPr>
          <a:xfrm>
            <a:off x="812800" y="1447205"/>
            <a:ext cx="7302500" cy="4108450"/>
          </a:xfrm>
          <a:prstGeom prst="roundRect">
            <a:avLst>
              <a:gd name="adj" fmla="val 2473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426450" y="2235795"/>
            <a:ext cx="2946400" cy="597892"/>
          </a:xfrm>
          <a:prstGeom prst="roundRect">
            <a:avLst>
              <a:gd name="adj" fmla="val 15931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85200" y="2394545"/>
            <a:ext cx="2707767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propone acciones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32800" y="3055938"/>
            <a:ext cx="2933700" cy="610592"/>
          </a:xfrm>
          <a:prstGeom prst="roundRect">
            <a:avLst>
              <a:gd name="adj" fmla="val 14560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7900" y="3221038"/>
            <a:ext cx="2681605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ejecuta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426450" y="3888780"/>
            <a:ext cx="2946400" cy="878284"/>
          </a:xfrm>
          <a:prstGeom prst="roundRect">
            <a:avLst>
              <a:gd name="adj" fmla="val 10845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85200" y="4047530"/>
            <a:ext cx="2707767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</a:t>
            </a: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 de iteraciones</a:t>
            </a: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acota el bucle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15 / 32</a:t>
            </a:r>
            <a:endParaRPr lang="en-US" sz="1200" dirty="0"/>
          </a:p>
        </p:txBody>
      </p:sp>
      <p:pic>
        <p:nvPicPr>
          <p:cNvPr id="12" name="Image 1" descr="Logo de AriwaLabs">    </p:cNvPr>
          <p:cNvPicPr>
            <a:picLocks noChangeAspect="1"/>
          </p:cNvPicPr>
          <p:nvPr/>
        </p:nvPicPr>
        <p:blipFill>
          <a:blip r:embed="rId2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vs agente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diferencia está en quién decide la ruta.</a:t>
            </a:r>
            <a:endParaRPr lang="en-US" sz="1600" dirty="0"/>
          </a:p>
        </p:txBody>
      </p:sp>
      <p:pic>
        <p:nvPicPr>
          <p:cNvPr id="4" name="Image 0" descr="Workflow: la lógica if/else decide la ruta. Agente: el LLM propone la ruta y el runtime la ejecut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6000" y="2019300"/>
            <a:ext cx="4682998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· el código decide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197600" y="2019300"/>
            <a:ext cx="5127752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 · el modelo decide</a:t>
            </a:r>
            <a:endParaRPr lang="en-US" sz="2200" dirty="0"/>
          </a:p>
        </p:txBody>
      </p:sp>
      <p:pic>
        <p:nvPicPr>
          <p:cNvPr id="7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16100" y="3378200"/>
            <a:ext cx="279400" cy="279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3746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Lógica if/else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43000" y="4000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ruta está escrita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013200" y="2667000"/>
            <a:ext cx="1371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Paso 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013200" y="4318000"/>
            <a:ext cx="1371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Paso B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273300" y="2730500"/>
            <a:ext cx="1066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condición 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73300" y="4445000"/>
            <a:ext cx="1066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condición B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24473" y="3048000"/>
            <a:ext cx="175285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24473" y="3302000"/>
            <a:ext cx="175285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 la ruta</a:t>
            </a:r>
            <a:endParaRPr lang="en-US" sz="1200" dirty="0"/>
          </a:p>
        </p:txBody>
      </p:sp>
      <p:pic>
        <p:nvPicPr>
          <p:cNvPr id="16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61200" y="4330700"/>
            <a:ext cx="279400" cy="279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4473" y="4699000"/>
            <a:ext cx="175285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4473" y="4953000"/>
            <a:ext cx="175285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277100" y="3733800"/>
            <a:ext cx="939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propone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677400" y="2667000"/>
            <a:ext cx="1371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Paso 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677400" y="4318000"/>
            <a:ext cx="1371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Paso B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140700" y="3556000"/>
            <a:ext cx="685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229600" y="49022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ejecuta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16000" y="5245100"/>
            <a:ext cx="4709160" cy="455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workflow puede incluir condiciones, ciclos y un número variable de pasos.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97600" y="5245100"/>
            <a:ext cx="5127752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un agente, la aplicación delega esa decisión al modelo.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16 / 32</a:t>
            </a:r>
            <a:endParaRPr lang="en-US" sz="1200" dirty="0"/>
          </a:p>
        </p:txBody>
      </p:sp>
      <p:pic>
        <p:nvPicPr>
          <p:cNvPr id="27" name="Image 3" descr="Logo de AriwaLabs">    </p:cNvPr>
          <p:cNvPicPr>
            <a:picLocks noChangeAspect="1"/>
          </p:cNvPicPr>
          <p:nvPr/>
        </p:nvPicPr>
        <p:blipFill>
          <a:blip r:embed="rId4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¿Workflow o agente?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Dos preguntas antes de construir un agente.</a:t>
            </a:r>
            <a:endParaRPr lang="en-US" sz="1600" dirty="0"/>
          </a:p>
        </p:txBody>
      </p:sp>
      <p:pic>
        <p:nvPicPr>
          <p:cNvPr id="4" name="Image 0" descr="Árbol de decisión: paso obligatorio o ramas programables llevan a workflow; si la ruta la selecciona el modelo, agent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136" y="2235200"/>
            <a:ext cx="3767328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¿Hay un paso que debe ocurrir siempre?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1136" y="2844800"/>
            <a:ext cx="376732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p. ej., registrar el reclamo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1136" y="4203700"/>
            <a:ext cx="3767328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¿Las condiciones y ramas se pueden programar?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1136" y="4813300"/>
            <a:ext cx="376732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if/else, ciclos o pasos variables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51928" y="2222500"/>
            <a:ext cx="293014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51928" y="2476500"/>
            <a:ext cx="293014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 barato, más rápido, depurable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51928" y="4191000"/>
            <a:ext cx="293014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51928" y="4445000"/>
            <a:ext cx="293014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ruta la selecciona el modelo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89600" y="21336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46400" y="3479800"/>
            <a:ext cx="558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26200" y="3429000"/>
            <a:ext cx="431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sí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89600" y="4546600"/>
            <a:ext cx="812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17 / 32</a:t>
            </a:r>
            <a:endParaRPr lang="en-US" sz="1200" dirty="0"/>
          </a:p>
        </p:txBody>
      </p:sp>
      <p:pic>
        <p:nvPicPr>
          <p:cNvPr id="18" name="Image 1" descr="Logo de AriwaLabs">    </p:cNvPr>
          <p:cNvPicPr>
            <a:picLocks noChangeAspect="1"/>
          </p:cNvPicPr>
          <p:nvPr/>
        </p:nvPicPr>
        <p:blipFill>
          <a:blip r:embed="rId2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Cuándo NO necesitas un agente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5500" y="2754908"/>
            <a:ext cx="10541000" cy="964605"/>
          </a:xfrm>
          <a:prstGeom prst="roundRect">
            <a:avLst>
              <a:gd name="adj" fmla="val 9216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3072408"/>
            <a:ext cx="10203180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agente es más caro, más lento y menos predecible que un workflow.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3859212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se justifica cuando la ruta no se puede escribir de antemano con un if/else.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2666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puedes dibujar el diagrama de flujo completo antes de escribir código, necesitas un workflow.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18 / 32</a:t>
            </a:r>
            <a:endParaRPr lang="en-US" sz="1200" dirty="0"/>
          </a:p>
        </p:txBody>
      </p:sp>
      <p:pic>
        <p:nvPicPr>
          <p:cNvPr id="8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Anatomía de LangChain 1.x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Cinco objetos y la sesión en la que cada uno entra en código.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5500" y="2864445"/>
            <a:ext cx="1981200" cy="1625600"/>
          </a:xfrm>
          <a:prstGeom prst="roundRect">
            <a:avLst>
              <a:gd name="adj" fmla="val 5469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2350" y="3061295"/>
            <a:ext cx="489843" cy="254000"/>
          </a:xfrm>
          <a:prstGeom prst="roundRect">
            <a:avLst>
              <a:gd name="adj" fmla="val 37500"/>
            </a:avLst>
          </a:prstGeom>
          <a:solidFill>
            <a:srgbClr val="FFF0EB"/>
          </a:solidFill>
          <a:ln w="12700">
            <a:solidFill>
              <a:srgbClr val="FF57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300" y="3093045"/>
            <a:ext cx="32474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3397845"/>
            <a:ext cx="16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728045"/>
            <a:ext cx="1651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LLM que responde, sin importar el proveedor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84500" y="2864445"/>
            <a:ext cx="1981200" cy="1625600"/>
          </a:xfrm>
          <a:prstGeom prst="roundRect">
            <a:avLst>
              <a:gd name="adj" fmla="val 5469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1350" y="3061295"/>
            <a:ext cx="799604" cy="254000"/>
          </a:xfrm>
          <a:prstGeom prst="roundRect">
            <a:avLst>
              <a:gd name="adj" fmla="val 37500"/>
            </a:avLst>
          </a:prstGeom>
          <a:solidFill>
            <a:srgbClr val="FFF0EB"/>
          </a:solidFill>
          <a:ln w="12700">
            <a:solidFill>
              <a:srgbClr val="FF5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9300" y="3093045"/>
            <a:ext cx="6345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 · S2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5000" y="3397845"/>
            <a:ext cx="16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message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75000" y="3728045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/ human / ai / tool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37150" y="2858095"/>
            <a:ext cx="1968500" cy="16383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27650" y="3048595"/>
            <a:ext cx="400546" cy="254000"/>
          </a:xfrm>
          <a:prstGeom prst="roundRect">
            <a:avLst>
              <a:gd name="adj" fmla="val 37500"/>
            </a:avLst>
          </a:prstGeom>
          <a:solidFill>
            <a:srgbClr val="E9F0F7"/>
          </a:solidFill>
          <a:ln w="12700">
            <a:solidFill>
              <a:srgbClr val="5262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5600" y="3080345"/>
            <a:ext cx="23544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21300" y="3385145"/>
            <a:ext cx="16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21300" y="3715345"/>
            <a:ext cx="1651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función que el modelo puede pedir ejecutar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70750" y="2858095"/>
            <a:ext cx="1968500" cy="16383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250" y="3048595"/>
            <a:ext cx="400546" cy="254000"/>
          </a:xfrm>
          <a:prstGeom prst="roundRect">
            <a:avLst>
              <a:gd name="adj" fmla="val 37500"/>
            </a:avLst>
          </a:prstGeom>
          <a:solidFill>
            <a:srgbClr val="E9F0F7"/>
          </a:solidFill>
          <a:ln w="12700">
            <a:solidFill>
              <a:srgbClr val="5262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9200" y="3080345"/>
            <a:ext cx="23544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4900" y="3385145"/>
            <a:ext cx="16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4900" y="3715345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bucle que encadena model, tool y message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04350" y="2858095"/>
            <a:ext cx="1968500" cy="16383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94850" y="3048595"/>
            <a:ext cx="400546" cy="254000"/>
          </a:xfrm>
          <a:prstGeom prst="roundRect">
            <a:avLst>
              <a:gd name="adj" fmla="val 37500"/>
            </a:avLst>
          </a:prstGeom>
          <a:solidFill>
            <a:srgbClr val="E9F0F7"/>
          </a:solidFill>
          <a:ln w="12700">
            <a:solidFill>
              <a:srgbClr val="5262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02800" y="3080345"/>
            <a:ext cx="23544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88500" y="3385145"/>
            <a:ext cx="165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middleware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88500" y="3715345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Interceptores antes o después de cada paso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4629745"/>
            <a:ext cx="10883392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S6, middleware significa un wrapper manual; la API AgentMiddleware de LangChain no se usa.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19 / 32</a:t>
            </a:r>
            <a:endParaRPr lang="en-US" sz="1200" dirty="0"/>
          </a:p>
        </p:txBody>
      </p:sp>
      <p:pic>
        <p:nvPicPr>
          <p:cNvPr id="31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abiertos y cerrados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se publica y cómo se accede al modelo.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5500" y="2626916"/>
            <a:ext cx="5168900" cy="2035373"/>
          </a:xfrm>
          <a:prstGeom prst="roundRect">
            <a:avLst>
              <a:gd name="adj" fmla="val 4368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1400" y="2842816"/>
            <a:ext cx="4879213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Pesos abiertos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400" y="3248620"/>
            <a:ext cx="4879213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 parámetros se pueden descargar bajo las condiciones de su licencia.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3885605"/>
            <a:ext cx="4879213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Curso: Qwen/Qwen3-32B vía Hugging Face, con inferencia remota: nada se instala en tu laptop.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6650" y="2620566"/>
            <a:ext cx="5156200" cy="2048073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200" y="2830116"/>
            <a:ext cx="4879213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cerrado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6200" y="3235920"/>
            <a:ext cx="4879213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acceso habitual es la API del proveedor.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6200" y="3592513"/>
            <a:ext cx="4879213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 descargan sus parámetros.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801989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Pesos abiertos no implica gratuidad ni velocidad.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20 / 32</a:t>
            </a:r>
            <a:endParaRPr lang="en-US" sz="1200" dirty="0"/>
          </a:p>
        </p:txBody>
      </p:sp>
      <p:pic>
        <p:nvPicPr>
          <p:cNvPr id="14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 antes de practicar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Ejecuta desde la raíz del curso, con el entorno virtual activado.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2767211"/>
            <a:ext cx="10566400" cy="585192"/>
          </a:xfrm>
          <a:prstGeom prst="roundRect">
            <a:avLst>
              <a:gd name="adj" fmla="val 434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945011"/>
            <a:ext cx="1041247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8"/>
              </a:lnSpc>
              <a:buNone/>
            </a:pPr>
            <a:r>
              <a:rPr lang="en-US" sz="1600" dirty="0">
                <a:solidFill>
                  <a:srgbClr val="FF5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 -m comun.check_stack --solo-modelo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9150" y="3485753"/>
            <a:ext cx="3373934" cy="1437184"/>
          </a:xfrm>
          <a:prstGeom prst="roundRect">
            <a:avLst>
              <a:gd name="adj" fmla="val 6628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3695303"/>
            <a:ext cx="304347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comprueba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8700" y="4025503"/>
            <a:ext cx="3043479" cy="7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 el endpoint responda y permita llamar herramientas. Omite Qdrant y Langfuse.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8984" y="3485753"/>
            <a:ext cx="3374033" cy="1437184"/>
          </a:xfrm>
          <a:prstGeom prst="roundRect">
            <a:avLst>
              <a:gd name="adj" fmla="val 6628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8534" y="3695303"/>
            <a:ext cx="304358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8534" y="4025503"/>
            <a:ext cx="3043581" cy="7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HF_ENABLE_THINKING=false: no confundas texto explicativo con una llamada estructurada.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8916" y="3485753"/>
            <a:ext cx="3373934" cy="1437184"/>
          </a:xfrm>
          <a:prstGeom prst="roundRect">
            <a:avLst>
              <a:gd name="adj" fmla="val 6628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8466" y="3695303"/>
            <a:ext cx="304347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Límite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08466" y="4025503"/>
            <a:ext cx="3043479" cy="7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disponibilidad del proveedor puede cambiar: un resultado anterior no garantiza el de hoy.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21 / 32</a:t>
            </a:r>
            <a:endParaRPr lang="en-US" sz="1200" dirty="0"/>
          </a:p>
        </p:txBody>
      </p:sp>
      <p:pic>
        <p:nvPicPr>
          <p:cNvPr id="16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sola puerta al modelo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Ningún archivo instancia ChatOpenAI: todo pasa por comun/provider.py.</a:t>
            </a:r>
            <a:endParaRPr lang="en-US" sz="1600" dirty="0"/>
          </a:p>
        </p:txBody>
      </p:sp>
      <p:pic>
        <p:nvPicPr>
          <p:cNvPr id="4" name="Image 0" descr="comun/provider.py: el script llama a get_chat_model(), que según AI_PROVIDER construye el cliente de Hugging Face o, en el bonus, de Foundr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pic>
        <p:nvPicPr>
          <p:cNvPr id="5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98600" y="3187700"/>
            <a:ext cx="279400" cy="279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9000" y="3556000"/>
            <a:ext cx="1498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 script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89000" y="3810000"/>
            <a:ext cx="149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primer_contacto.py</a:t>
            </a:r>
            <a:endParaRPr lang="en-US" sz="1200" dirty="0"/>
          </a:p>
        </p:txBody>
      </p:sp>
      <p:pic>
        <p:nvPicPr>
          <p:cNvPr id="8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67300" y="3187700"/>
            <a:ext cx="279400" cy="279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65168" y="3556000"/>
            <a:ext cx="188366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comun/provider.py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265168" y="2032000"/>
            <a:ext cx="188366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.env</a:t>
            </a:r>
            <a:endParaRPr lang="en-US" sz="1400" dirty="0"/>
          </a:p>
        </p:txBody>
      </p:sp>
      <p:pic>
        <p:nvPicPr>
          <p:cNvPr id="11" name="Image 3" descr="Clou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40800" y="3187700"/>
            <a:ext cx="279400" cy="279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42453" y="3556000"/>
            <a:ext cx="227609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Router Hugging Face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942453" y="3810000"/>
            <a:ext cx="22760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Qwen/Qwen3-32B</a:t>
            </a:r>
            <a:endParaRPr lang="en-US" sz="1200" dirty="0"/>
          </a:p>
        </p:txBody>
      </p:sp>
      <p:pic>
        <p:nvPicPr>
          <p:cNvPr id="14" name="Image 4" descr="Clou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40800" y="4584700"/>
            <a:ext cx="279400" cy="2794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942453" y="4953000"/>
            <a:ext cx="227609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Foundry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295900" y="2730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AI_PROVIDER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2476500" y="3276600"/>
            <a:ext cx="1714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get_chat_model()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261100" y="3276600"/>
            <a:ext cx="157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huggingface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334000" y="4908550"/>
            <a:ext cx="209296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foundry (bonus)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12800" y="5397500"/>
            <a:ext cx="10883392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portabilidad cubre el cliente de chat; credenciales, embeddings y hosting requieren comprobaciones adicionales.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22 / 32</a:t>
            </a:r>
            <a:endParaRPr lang="en-US" sz="1200" dirty="0"/>
          </a:p>
        </p:txBody>
      </p:sp>
      <p:pic>
        <p:nvPicPr>
          <p:cNvPr id="22" name="Image 5" descr="Logo de AriwaLabs">    </p:cNvPr>
          <p:cNvPicPr>
            <a:picLocks noChangeAspect="1"/>
          </p:cNvPicPr>
          <p:nvPr/>
        </p:nvPicPr>
        <p:blipFill>
          <a:blip r:embed="rId6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1 · Primer llamado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describe_provider() dice qué proveedor, track, modelo y URL están activos.</a:t>
            </a:r>
            <a:endParaRPr lang="en-US" sz="1600" dirty="0"/>
          </a:p>
        </p:txBody>
      </p:sp>
      <p:pic>
        <p:nvPicPr>
          <p:cNvPr id="4" name="Image 0" descr="comun/provider.py: el script llama a get_chat_model(), que según AI_PROVIDER construye el cliente de Hugging Face o, en el bonus, de Foundr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pic>
        <p:nvPicPr>
          <p:cNvPr id="5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98600" y="3187700"/>
            <a:ext cx="279400" cy="279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9000" y="3556000"/>
            <a:ext cx="1498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 script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89000" y="3810000"/>
            <a:ext cx="149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primer_contacto.py</a:t>
            </a:r>
            <a:endParaRPr lang="en-US" sz="1200" dirty="0"/>
          </a:p>
        </p:txBody>
      </p:sp>
      <p:pic>
        <p:nvPicPr>
          <p:cNvPr id="8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67300" y="3187700"/>
            <a:ext cx="279400" cy="279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65168" y="3556000"/>
            <a:ext cx="188366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comun/provider.py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265168" y="2032000"/>
            <a:ext cx="188366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.env</a:t>
            </a:r>
            <a:endParaRPr lang="en-US" sz="1400" dirty="0"/>
          </a:p>
        </p:txBody>
      </p:sp>
      <p:pic>
        <p:nvPicPr>
          <p:cNvPr id="11" name="Image 3" descr="Clou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40800" y="3187700"/>
            <a:ext cx="279400" cy="279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42453" y="3556000"/>
            <a:ext cx="227609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Router Hugging Face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942453" y="3810000"/>
            <a:ext cx="22760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Qwen/Qwen3-32B</a:t>
            </a:r>
            <a:endParaRPr lang="en-US" sz="1200" dirty="0"/>
          </a:p>
        </p:txBody>
      </p:sp>
      <p:pic>
        <p:nvPicPr>
          <p:cNvPr id="14" name="Image 4" descr="Clou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40800" y="4584700"/>
            <a:ext cx="279400" cy="2794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942453" y="4953000"/>
            <a:ext cx="227609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Foundry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295900" y="27305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AI_PROVIDER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2476500" y="3276600"/>
            <a:ext cx="1714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get_chat_model()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261100" y="3276600"/>
            <a:ext cx="157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huggingface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334000" y="4908550"/>
            <a:ext cx="209296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foundry (bonus)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12800" y="5397500"/>
            <a:ext cx="10883392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code/01_primer_llamado.py · se ejecuta desde la raíz del curso.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23 / 32</a:t>
            </a:r>
            <a:endParaRPr lang="en-US" sz="1200" dirty="0"/>
          </a:p>
        </p:txBody>
      </p:sp>
      <p:pic>
        <p:nvPicPr>
          <p:cNvPr id="22" name="Image 5" descr="Logo de AriwaLabs">    </p:cNvPr>
          <p:cNvPicPr>
            <a:picLocks noChangeAspect="1"/>
          </p:cNvPicPr>
          <p:nvPr/>
        </p:nvPicPr>
        <p:blipFill>
          <a:blip r:embed="rId6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2 · Con y sin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pregunta del cliente no cambia; el system cambia el tono y los límites.</a:t>
            </a:r>
            <a:endParaRPr lang="en-US" sz="1600" dirty="0"/>
          </a:p>
        </p:txBody>
      </p:sp>
      <p:pic>
        <p:nvPicPr>
          <p:cNvPr id="4" name="Image 0" descr="Mensajes: SystemMessage y HumanMessage entran al LLM, que devuelve un AIMessag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pic>
        <p:nvPicPr>
          <p:cNvPr id="5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33600" y="2171700"/>
            <a:ext cx="279400" cy="279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3633" y="2540000"/>
            <a:ext cx="279933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SystemMessage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73633" y="2794000"/>
            <a:ext cx="279933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o sin él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73633" y="4445000"/>
            <a:ext cx="279933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HumanMessage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73633" y="4699000"/>
            <a:ext cx="279933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“Llevo dos días esperando una respuesta…”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283200" y="3492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283200" y="3746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mismo modelo</a:t>
            </a:r>
            <a:endParaRPr lang="en-US" sz="1200" dirty="0"/>
          </a:p>
        </p:txBody>
      </p:sp>
      <p:pic>
        <p:nvPicPr>
          <p:cNvPr id="12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79000" y="312420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19033" y="3492500"/>
            <a:ext cx="279933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AIMessage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519033" y="3746500"/>
            <a:ext cx="279933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respuesta por ejecución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810000" y="2324100"/>
            <a:ext cx="1447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instrucciones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810000" y="4610100"/>
            <a:ext cx="1447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pregunta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023100" y="3302000"/>
            <a:ext cx="1384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2800" y="5397500"/>
            <a:ext cx="10883392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code/02_tipos_de_mensaje.py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24 / 32</a:t>
            </a:r>
            <a:endParaRPr lang="en-US" sz="1200" dirty="0"/>
          </a:p>
        </p:txBody>
      </p:sp>
      <p:pic>
        <p:nvPicPr>
          <p:cNvPr id="20" name="Image 3" descr="Logo de AriwaLabs">    </p:cNvPr>
          <p:cNvPicPr>
            <a:picLocks noChangeAspect="1"/>
          </p:cNvPicPr>
          <p:nvPr/>
        </p:nvPicPr>
        <p:blipFill>
          <a:blip r:embed="rId4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3 · Un modelo, cuatro industrias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personalización vive en texto editable, no en los pesos del modelo.</a:t>
            </a:r>
            <a:endParaRPr lang="en-US" sz="1600" dirty="0"/>
          </a:p>
        </p:txBody>
      </p:sp>
      <p:pic>
        <p:nvPicPr>
          <p:cNvPr id="4" name="Image 0" descr="Mensajes: SystemMessage y HumanMessage entran al LLM, que devuelve un AIMessag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79600"/>
            <a:ext cx="10566400" cy="3962400"/>
          </a:xfrm>
          <a:prstGeom prst="rect">
            <a:avLst/>
          </a:prstGeom>
        </p:spPr>
      </p:pic>
      <p:pic>
        <p:nvPicPr>
          <p:cNvPr id="5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33600" y="2171700"/>
            <a:ext cx="279400" cy="279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3633" y="2540000"/>
            <a:ext cx="279933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SystemMessage × 4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73633" y="2794000"/>
            <a:ext cx="279933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get_system_prompt(track)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73633" y="4445000"/>
            <a:ext cx="279933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HumanMessage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73633" y="4699000"/>
            <a:ext cx="279933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“Necesito ayuda pero no sé bien a quién más recurrir…”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283200" y="3492500"/>
            <a:ext cx="16256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283200" y="3746500"/>
            <a:ext cx="1625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mismo modelo</a:t>
            </a:r>
            <a:endParaRPr lang="en-US" sz="1200" dirty="0"/>
          </a:p>
        </p:txBody>
      </p:sp>
      <p:pic>
        <p:nvPicPr>
          <p:cNvPr id="12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79000" y="312420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19033" y="3492500"/>
            <a:ext cx="2799334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94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AIMessage × 4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519033" y="3746500"/>
            <a:ext cx="279933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respuestas, una por industria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810000" y="2324100"/>
            <a:ext cx="1447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instrucciones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810000" y="4610100"/>
            <a:ext cx="1447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pregunta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023100" y="3302000"/>
            <a:ext cx="1384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2800" y="5397500"/>
            <a:ext cx="10883392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code/03_un_modelo_cuatro_industrias.py · prompts en comun/prompts_industria.py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25 / 32</a:t>
            </a:r>
            <a:endParaRPr lang="en-US" sz="1200" dirty="0"/>
          </a:p>
        </p:txBody>
      </p:sp>
      <p:pic>
        <p:nvPicPr>
          <p:cNvPr id="20" name="Image 3" descr="Logo de AriwaLabs">    </p:cNvPr>
          <p:cNvPicPr>
            <a:picLocks noChangeAspect="1"/>
          </p:cNvPicPr>
          <p:nvPr/>
        </p:nvPicPr>
        <p:blipFill>
          <a:blip r:embed="rId4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preguntas de opción múltiple · 15 min · al cierre del bloque teórico · sin umbral de aprobación.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860947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54597"/>
            <a:ext cx="0" cy="3252788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" y="1943497"/>
          <a:ext cx="10350500" cy="3087688"/>
        </p:xfrm>
        <a:graphic>
          <a:graphicData uri="http://schemas.openxmlformats.org/drawingml/2006/table">
            <a:tbl>
              <a:tblPr/>
              <a:tblGrid>
                <a:gridCol w="2070100"/>
                <a:gridCol w="828040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Preguntas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Evalúa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1–2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Las cuatro piezas que le faltan a un LLM para ser agente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3–4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Percepción → razonamiento → acción → entorno, aplicado a un caso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5–6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Workflow vs agente: elegir y justificar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 qué un LLM no es una API determinística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Qué es un modelo de pesos abiertos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Qué hace provider.py y por qué existe la indirección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Cuándo no conviene un agente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26 / 32</a:t>
            </a:r>
            <a:endParaRPr lang="en-US" sz="1200" dirty="0"/>
          </a:p>
        </p:txBody>
      </p:sp>
      <p:pic>
        <p:nvPicPr>
          <p:cNvPr id="8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Elección de track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equipo propone, el docente balancea.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9150" y="1860947"/>
            <a:ext cx="2514600" cy="913606"/>
          </a:xfrm>
          <a:prstGeom prst="roundRect">
            <a:avLst>
              <a:gd name="adj" fmla="val 10426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045097"/>
            <a:ext cx="22106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AndesMóvil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3300" y="2375297"/>
            <a:ext cx="2210689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Telecomunicaciones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8850" y="1860947"/>
            <a:ext cx="2514600" cy="913606"/>
          </a:xfrm>
          <a:prstGeom prst="roundRect">
            <a:avLst>
              <a:gd name="adj" fmla="val 10426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3000" y="2045097"/>
            <a:ext cx="22106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 Inti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83000" y="2375297"/>
            <a:ext cx="2210689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8550" y="1860947"/>
            <a:ext cx="2514600" cy="913606"/>
          </a:xfrm>
          <a:prstGeom prst="roundRect">
            <a:avLst>
              <a:gd name="adj" fmla="val 10426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2700" y="2045097"/>
            <a:ext cx="22106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MercaSur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2700" y="2375297"/>
            <a:ext cx="2210689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Retail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58250" y="1860947"/>
            <a:ext cx="2514600" cy="913606"/>
          </a:xfrm>
          <a:prstGeom prst="roundRect">
            <a:avLst>
              <a:gd name="adj" fmla="val 10426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2400" y="2045097"/>
            <a:ext cx="22106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Andina Seguros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42400" y="2375297"/>
            <a:ext cx="2210689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509367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Equipos de 2 personas: el track elegido guía todos los laboratorios del L2 al L11.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3916759"/>
            <a:ext cx="10883392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4 tracks quedan representados en la sustentación final; Banca, el más exigente en guardrails y structured output, no va al equipo con menos experiencia.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5500" y="4617244"/>
            <a:ext cx="10541000" cy="610592"/>
          </a:xfrm>
          <a:prstGeom prst="roundRect">
            <a:avLst>
              <a:gd name="adj" fmla="val 14560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600" y="4782344"/>
            <a:ext cx="10517124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Irrevocable</a:t>
            </a: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una vez asignado.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27 / 32</a:t>
            </a:r>
            <a:endParaRPr lang="en-US" sz="1200" dirty="0"/>
          </a:p>
        </p:txBody>
      </p:sp>
      <p:pic>
        <p:nvPicPr>
          <p:cNvPr id="21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Laboratorio L1 · 4 partes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Entorno verde y primer script del track. Sin tools, sin Pydantic, sin agente · 2 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860947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54597"/>
            <a:ext cx="0" cy="2094905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" y="1943497"/>
          <a:ext cx="10350500" cy="1929805"/>
        </p:xfrm>
        <a:graphic>
          <a:graphicData uri="http://schemas.openxmlformats.org/drawingml/2006/table">
            <a:tbl>
              <a:tblPr/>
              <a:tblGrid>
                <a:gridCol w="1242060"/>
                <a:gridCol w="1035050"/>
                <a:gridCol w="807339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Qué haces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check_stack --solo-modelo en verde; pide ayuda ahora, no después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Escribir primer_contacto.py: 3 preguntas reales de tu industria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Registrar equipo y track en la plantilla del docente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Verificación cruzada: cada uno corre el script del otro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076502"/>
            <a:ext cx="10883392" cy="25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Entregable: lab/&lt;tu-track&gt;/primer_contacto.py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4432796"/>
            <a:ext cx="10883392" cy="25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proyecto-final/ es la referencia del docente, no tu repositorio.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28 / 32</a:t>
            </a:r>
            <a:endParaRPr lang="en-US" sz="1200" dirty="0"/>
          </a:p>
        </p:txBody>
      </p:sp>
      <p:pic>
        <p:nvPicPr>
          <p:cNvPr id="10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Criterio de aceptación del L1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2341066"/>
            <a:ext cx="4787900" cy="546795"/>
          </a:xfrm>
          <a:prstGeom prst="roundRect">
            <a:avLst>
              <a:gd name="adj" fmla="val 17420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7900" y="2499816"/>
            <a:ext cx="4604512" cy="25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 </a:t>
            </a: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instalar</a:t>
            </a: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motor de inferencia ni base de datos.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5500" y="3059311"/>
            <a:ext cx="4775200" cy="559495"/>
          </a:xfrm>
          <a:prstGeom prst="roundRect">
            <a:avLst>
              <a:gd name="adj" fmla="val 15889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" y="3224411"/>
            <a:ext cx="4578350" cy="25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 </a:t>
            </a: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get_chat_model()</a:t>
            </a: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no instancia ChatOpenAI.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9150" y="3790255"/>
            <a:ext cx="4787900" cy="546795"/>
          </a:xfrm>
          <a:prstGeom prst="roundRect">
            <a:avLst>
              <a:gd name="adj" fmla="val 17420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900" y="3949005"/>
            <a:ext cx="4604512" cy="25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3 preguntas son </a:t>
            </a:r>
            <a:r>
              <a:rPr lang="en-US" sz="14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tu dominio</a:t>
            </a: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 genéricas.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495800"/>
            <a:ext cx="4944618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Recomendado: get_system_prompt() para el tono de tu industria.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18200" y="2438003"/>
            <a:ext cx="5461000" cy="2413000"/>
          </a:xfrm>
          <a:prstGeom prst="roundRect">
            <a:avLst>
              <a:gd name="adj" fmla="val 105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146800" y="26158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 extracto · solucion/&lt;track&gt;/primer_contacto.py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28444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57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 = get_chat_model()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46800" y="30730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system_prompt = get_system_prompt(TRACK)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6800" y="33016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answer = model.invoke(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6800" y="35302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  [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6800" y="37588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      {"role": "system", "content": system_prompt},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6800" y="39874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      {"role": "user", "content": question},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6800" y="42160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  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6800" y="4444603"/>
            <a:ext cx="515391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29 / 32</a:t>
            </a:r>
            <a:endParaRPr lang="en-US" sz="1200" dirty="0"/>
          </a:p>
        </p:txBody>
      </p:sp>
      <p:pic>
        <p:nvPicPr>
          <p:cNvPr id="21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Reto opcional: el dato que falta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447205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evaluado. Una cuarta pregunta cuya respuesta solo existe en los datos de la empresa.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9150" y="2616002"/>
            <a:ext cx="10553700" cy="1117005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876352"/>
            <a:ext cx="1033399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Ejemplo AndesMóvil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500" y="3143052"/>
            <a:ext cx="10333990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“¿Cuántos GB ha consumido este mes la línea 987654321?”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9150" y="3872706"/>
            <a:ext cx="5156200" cy="1207889"/>
          </a:xfrm>
          <a:prstGeom prst="roundRect">
            <a:avLst>
              <a:gd name="adj" fmla="val 7886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" y="4082256"/>
            <a:ext cx="487921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" y="4412456"/>
            <a:ext cx="4879213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5 líneas: qué cifra inventó y con qué seguridad la presentó.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7600" y="3879056"/>
            <a:ext cx="5168900" cy="1195189"/>
          </a:xfrm>
          <a:prstGeom prst="roundRect">
            <a:avLst>
              <a:gd name="adj" fmla="val 7438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3500" y="4094956"/>
            <a:ext cx="487921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3500" y="4425156"/>
            <a:ext cx="4879213" cy="25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relees en S5 como el “antes” del RAG.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30 / 32</a:t>
            </a:r>
            <a:endParaRPr lang="en-US" sz="1200" dirty="0"/>
          </a:p>
        </p:txBody>
      </p:sp>
      <p:pic>
        <p:nvPicPr>
          <p:cNvPr id="14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NO entra hoy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447205"/>
            <a:ext cx="5969000" cy="3359150"/>
          </a:xfrm>
          <a:prstGeom prst="roundRect">
            <a:avLst>
              <a:gd name="adj" fmla="val 3025"/>
            </a:avLst>
          </a:prstGeom>
          <a:solidFill>
            <a:srgbClr val="FFFFFF"/>
          </a:solidFill>
          <a:ln/>
        </p:spPr>
      </p:sp>
      <p:pic>
        <p:nvPicPr>
          <p:cNvPr id="4" name="Image 0" descr="IMG-M01-S01-001 Agentic Loop, usado para señalar qué componentes llegan en sesiones posteriores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812800" y="1447205"/>
            <a:ext cx="5969000" cy="3359150"/>
          </a:xfrm>
          <a:prstGeom prst="roundRect">
            <a:avLst>
              <a:gd name="adj" fmla="val 3025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7086600" y="1553964"/>
            <a:ext cx="42926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92950" y="1547614"/>
            <a:ext cx="0" cy="3158331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00900" y="1636514"/>
          <a:ext cx="4076700" cy="2993231"/>
        </p:xfrm>
        <a:graphic>
          <a:graphicData uri="http://schemas.openxmlformats.org/drawingml/2006/table">
            <a:tbl>
              <a:tblPr/>
              <a:tblGrid>
                <a:gridCol w="2772156"/>
                <a:gridCol w="1304544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Concepto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7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@tool, function calling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create_agent()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Simulador de industria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Pydantic, structured output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Plantillas de prompt, few-shot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MCP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Qdrant · Langfuse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S5 · S9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Reglas A1–A6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Desde S2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12800" y="4933355"/>
            <a:ext cx="10883392" cy="254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Hoy existe el LLM; el runtime y la tool llegan en S3.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31 / 32</a:t>
            </a:r>
            <a:endParaRPr lang="en-US" sz="1200" dirty="0"/>
          </a:p>
        </p:txBody>
      </p:sp>
      <p:pic>
        <p:nvPicPr>
          <p:cNvPr id="10" name="Image 1" descr="Logo de AriwaLabs">    </p:cNvPr>
          <p:cNvPicPr>
            <a:picLocks noChangeAspect="1"/>
          </p:cNvPicPr>
          <p:nvPr/>
        </p:nvPicPr>
        <p:blipFill>
          <a:blip r:embed="rId2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6"/>
              </a:lnSpc>
              <a:buNone/>
            </a:pPr>
            <a:r>
              <a:rPr lang="en-US" sz="3600" b="1" spc="-35" kern="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Siguiente paso: Sesión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453555"/>
            <a:ext cx="3407767" cy="1461988"/>
          </a:xfrm>
          <a:prstGeom prst="roundRect">
            <a:avLst>
              <a:gd name="adj" fmla="val 6515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3300" y="1637705"/>
            <a:ext cx="3130651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3300" y="2043509"/>
            <a:ext cx="3130651" cy="7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LLM solo no es un agente: faltan herramientas, memoria, objetivo y control.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2017" y="1453555"/>
            <a:ext cx="3407866" cy="1461988"/>
          </a:xfrm>
          <a:prstGeom prst="roundRect">
            <a:avLst>
              <a:gd name="adj" fmla="val 6515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6167" y="1637705"/>
            <a:ext cx="3130753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6167" y="2043509"/>
            <a:ext cx="3130753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si la ruta se puede escribir; agente si la selecciona el modelo.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4984" y="1453555"/>
            <a:ext cx="3407866" cy="1461988"/>
          </a:xfrm>
          <a:prstGeom prst="roundRect">
            <a:avLst>
              <a:gd name="adj" fmla="val 6515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9134" y="1637705"/>
            <a:ext cx="3130753" cy="355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6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49134" y="2043509"/>
            <a:ext cx="3130753" cy="48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6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llamado al modelo pasa por comun/provider.py.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5500" y="3745409"/>
            <a:ext cx="10541000" cy="992584"/>
          </a:xfrm>
          <a:prstGeom prst="roundRect">
            <a:avLst>
              <a:gd name="adj" fmla="val 8956"/>
            </a:avLst>
          </a:prstGeom>
          <a:solidFill>
            <a:srgbClr val="FFF0EB"/>
          </a:solidFill>
          <a:ln w="25400">
            <a:solidFill>
              <a:srgbClr val="FF5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1400" y="3961309"/>
            <a:ext cx="10412476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Ahora:</a:t>
            </a: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laboratorio L1 (2 h). Si te bloqueas, revisa las tablas de errores esperables de code/README.md y lab/README.md.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877693"/>
            <a:ext cx="10883392" cy="30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S2:</a:t>
            </a:r>
            <a:r>
              <a:rPr lang="en-US" sz="1600" dirty="0">
                <a:solidFill>
                  <a:srgbClr val="1E29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mensajes, prompts y salida estructurada. El ejercicio de Pydantic es pase de entrada obligatorio.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61100"/>
            <a:ext cx="784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62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 · Fundamentos de los agentes inteligentes · 32 / 32</a:t>
            </a:r>
            <a:endParaRPr lang="en-US" sz="1200" dirty="0"/>
          </a:p>
        </p:txBody>
      </p:sp>
      <p:pic>
        <p:nvPicPr>
          <p:cNvPr id="16" name="Image 0" descr="Logo de AriwaLabs">    </p:cNvPr>
          <p:cNvPicPr>
            <a:picLocks noChangeAspect="1"/>
          </p:cNvPicPr>
          <p:nvPr/>
        </p:nvPicPr>
        <p:blipFill>
          <a:blip r:embed="rId1"/>
          <a:srcRect l="-9345" r="-9345" t="0" b="0"/>
          <a:stretch/>
        </p:blipFill>
        <p:spPr>
          <a:xfrm>
            <a:off x="10680700" y="6197600"/>
            <a:ext cx="6985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S01 · Fundamentos de los agentes inteligentes</dc:title>
  <dc:subject>PptxGenJS Presentation</dc:subject>
  <dc:creator>PptxGenJS</dc:creator>
  <cp:lastModifiedBy>PptxGenJS</cp:lastModifiedBy>
  <cp:revision>1</cp:revision>
  <dcterms:created xsi:type="dcterms:W3CDTF">2026-09-25T13:45:20Z</dcterms:created>
  <dcterms:modified xsi:type="dcterms:W3CDTF">2026-09-25T13:45:20Z</dcterms:modified>
</cp:coreProperties>
</file>