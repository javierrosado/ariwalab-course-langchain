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presenta la sesión 2 y sus dos hitos. El pase de entrada de Pydantic (ejercicio Reclamo) es bloqueante: quien no lo entregó dedica el laboratorio a resolverlo y retoma el L2 con el checkpoint de la solución. Anuncia el objetivo del día: dejar de pedir texto al modelo y pedirle una estructura con campos y tipos, y medir cuánto acierta. Aclara que el título oficial menciona cadenas, pero hoy el trabajo se centra en mensajes, prompts, few-shot y salida estructurada. 2) Pregunta a la audiencia: ¿quién entregó el Reclamo y comprobó su model_json_schema()? 3) Laboratorio: el L2 es el clasificador de intención de tu track (schemas.py, prompts.py, clasificar.py y medir_clasificador.py).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recorre el guion de 180 minutos: 120 de teoría, 50 de práctica y 10 de pausa. Con el pre-work de 1 h y las 2 h del L2 se completan 3.0 h de teoría y 3.0 h de práctica. Señala que los bloques 1 a 5 construyen una sola idea: del mensaje al contrato tipado, y que el Test 2 se responde al final, después de toda la teoría. 2) Pregunta a la audiencia: ¿qué bloque creen que les costará más y por qué? 3) Laboratorio: el bloque 6 arranca el schemas.py del L2 en clase; el resto del L2 se completa en las 2 h de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en S1 tu código invocaba al modelo y recibía texto. Recorre el diagrama de izquierda a derecha: tu código (la aplicación) llama con invoke(), el modelo responde y la salida está en foco porque es lo que cambia hoy. Pasamos de texto libre a un objeto con campos y tipos. Este es el primer paso de una composición que se irá completando en las próximas diapositivas. No se repite cómo se obtiene el modelo: eso se vio en S1 con comun/provider.py. 2) Pregunta a la audiencia: si el modelo responde con una frase correcta pero en formato distinto cada vez, ¿cómo la procesaría tu código? 3) Laboratorio: el primer_contacto.py del L1 devolvía texto; el clasificar.py del L2 devolverá un objeto Intencion.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la misma composición de la diapositiva anterior; ahora aparece la lista de mensajes, en foco. Tu código arma la lista y la envía al modelo. Recorre los roles: system lleva instrucciones de la aplicación, human lo que escribe el usuario, ai lo que respondió el modelo. El rol tool aparece discontinuo porque solo se anuncia: llega en S3, cuando el modelo proponga llamadas a herramientas. Retoma la demo 2 de S1 (system vs human) solo como recordatorio, sin repetirla. Error frecuente: confundir el mensaje tool con la función tool. 2) Pregunta a la audiencia: ¿qué rol representa lo que escribe el usuario? 3) Laboratorio: en el L2 la lista la arma extraer() de comun/structured.py a partir de tu prompt y tus ejemplos.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modelo es stateless, no guarda nada entre llamadas. Lo que parece memoria es tu código reenviando la lista completa en cada turno. La flecha activa es el reenvío: en el turno N viajan todos los turnos anteriores. Por eso el costo de un turno crece con la conversación, sin un multiplicador fijo: depende de la longitud de cada turno. La memoria conversacional real, con thread_id, se implementa en S5; hoy basta entender que es una lista que crece. 2) Pregunta a la audiencia: si el usuario escribe lo mismo de largo en el turno 1 y en el turno 10, ¿por qué el turno 10 cuesta más tokens? 3) Laboratorio: el L2 es de un solo turno; no arrastra historial. El efecto del historial se mide en code/04_tokens_y_costo.py.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la estructura de un prompt de producción, en cuatro partes. Rol: quién eres (el asistente de AndesMóvil). Contexto: qué sabes ya (el vocabulario y los límites del sector). Tarea: qué haces con esta entrada (clasificar la consulta). Formato: cómo debe verse la salida (un objeto Intencion con categoría, urgencia y entidades). El prompt completo está en foco y la flecha activa muestra que viaja entero en la llamada. 2) Pregunta a la audiencia: en el prompt "Eres el asistente de AndesMóvil. Clasifica la consulta del cliente.", ¿qué partes identificas? 3) Laboratorio: prompts.py del L2, función construir_prompt(), que une ROL, CONTEXTO, la tarea y FORMATO.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misma composición; ahora el foco pasa a Tarea y Formato. comun/prompts_industria.py, que usaron en S1, ya aporta Rol, Contexto y los límites de la industria. Hoy le agregan la Tarea (clasificar) y el Formato (el objeto Intencion) para construir el prompt de clasificación. Muestra el checkpoint de telecomunicaciones: ROL y CONTEXTO describen las categorías y distinguen AVERIA de RECLAMO. Distingue las instrucciones de formato del prompt del esquema que aporta la integración de salida estructurada: se ven en el bloque 4. 2) Pregunta a la audiencia: en tu track, ¿qué dos categorías crees que el modelo confundirá más? 3) Laboratorio: prompts.py del L2, constantes ROL, CONTEXTO y FORMATO, y construir_prompt(consulta).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ejecuta code/01_plantilla_dominio.py desde la raíz del curso (requiere HF_TOKEN). La demo invoca dos veces: con las cuatro partes y sin el bloque FORMATO. El Formato aparece retirado y la salida está en foco. Sin Formato el modelo puede identificar la categoría, pero la forma de la respuesta no es predecible: una frase, una lista, una explicación. Registra lo observado en vivo; no prometas un resultado concreto. Conclusión: sin Formato no tienes un contrato que tu código pueda parsear. 2) Pregunta a la audiencia: ¿cómo extraerían la categoría de la segunda respuesta de forma fiable? 3) Laboratorio: code/01_plantilla_dominio.py, función construir_prompt(con_formato).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volvemos a la composición de la lista de mensajes. El few-shot son pares de ejemplo, un human con una consulta y un ai con la respuesta esperada, colocados antes de la consulta real; están en foco. Ayudan al modelo a entender un patrón ambiguo mejor que una descripción en prosa. No es fine-tuning: no se modifican los pesos, solo el contexto de esta llamada. 2) Pregunta a la audiencia: ¿qué par de categorías de tu track merece un ejemplo? 3) Laboratorio: prompts.py define EJEMPLOS_FEW_SHOT (2 ejemplos) y clasificar.py los pasa con extraer(..., ejemplos=EJEMPLOS_FEW_SHOT); code/02_few_shot.py construye los pares en construir_mensajes().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la regla A5 como decisión de costo y beneficio. Recorre la tabla por filas: el few-shot rinde cuando hay ambigüedad (categorías parecidas, formatos que replicar, errores observados) y solo gasta tokens cuando la categoría ya es obvia o los ejemplos no mejoran nada medido. Subraya que los ejemplos del checkpoint se eligieron por medición: el segundo ejemplo de telecomunicaciones resuelve la confusión entre preguntar por el precio de un plan (OTRO) y por el plan propio (CONSULTA_PLAN). 2) Pregunta a la audiencia: ¿en cuál de estos casos no conviene el few-shot: un Enum con categorías parecidas o una categoría obvia por su vocabulario? 3) Laboratorio: elige los 2 ejemplos de prompts.py a partir de los errores que veas en medir_clasificador.py.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ejecuta code/02_few_shot.py (requiere HF_TOKEN). La demo clasifica dos consultas ambiguas entre AVERIA y RECLAMO con 0, 2 y 4 ejemplos. Muestra en el código las líneas clave: cada ejemplo agrega un par human y ai a la lista. Llena la tabla con lo que se observe en esta ejecución; no uses resultados de otra corrida. Lo esperable, según la guía de la demo, es que el salto de 0 a 2 corrija más que el de 2 a 4, pero se registra lo que ocurra. 2) Pregunta a la audiencia: si 4 ejemplos no mejoran a 2, ¿qué ganaste y qué pagaste? 3) Laboratorio: code/02_few_shot.py, funciones construir_mensajes() y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la misma lista de mensajes con dos zonas en foco. Arriba, system y few-shot: un costo fijo que se paga igual en el turno 1 y en el turno 20. Abajo, el historial: crece con cada turno. Ejecuta code/04_tokens_y_costo.py (no requiere HF_TOKEN; usa tokenización real si transformers está instalado, si no una estimación) y lee sus cifras en vivo, indicando si son reales o estimadas. Para un clasificador de un solo turno como el L2, el few-shot es casi todo el costo extra; en un agente de varios turnos, desde S3, termina dominando el historial. 2) Pregunta a la audiencia: en una conversación de 10 turnos con few-shot, ¿qué componente domina el costo total? 3) Laboratorio: code/04_tokens_y_costo.py, función main(); en el L2 el costo extra es el de tus 2 ejemplos.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este diagrama es de S0; hoy solo interesa el panel inferior izquierdo, Pydantic v2. Cuando pides salida estructurada, el modelo no recibe tu clase Python: recibe el JSON Schema que Pydantic genera con model_json_schema(). Por eso el description de cada Field no es documentación, es prompt: es el texto que el modelo lee para decidir qué poner en cada campo. Conecta con el pase de entrada: el alumno imprimió el schema de Reclamo y vio sus restricciones. El resto del diagrama (.env, settings, provider) ya se trató en S0 y S1. 2) Pregunta a la audiencia: ¿qué recibe el modelo, tu clase Python o el JSON Schema? 3) Laboratorio: schemas.py del L2, los description de CategoriaIntencion dentro de Field(description=...) de la clase Intencion.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modelo.with_structured_output(Intencion) recibe una clase Pydantic y valida la salida según ese esquema. Recorre el diagrama: la consulta entra, el modelo produce una salida con el esquema, y la validación Pydantic, en foco, decide: si es válida sale un objeto tipado; si no, un ValidationError, también en foco. La flecha activa es la salida del modelo hacia la validación. Esta validación la hace la integración, no el wrapper del curso. 2) Pregunta a la audiencia: si el modelo devuelve la categoría URGENTE y el Enum no la tiene, ¿qué pasa? 3) Laboratorio: la demo 3 usa esta invocación directa para contrastar; en el L2 no se usa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misma composición; ahora el foco está en el objeto tipado. Pasar la validación demuestra la forma, no la verdad: una categoría permitida pero equivocada pasa la validación sin problemas. Ejemplo ilustrativo de Banco Inti: una consulta de saldo clasificada con otra categoría válida del Enum. La flecha discontinua indica que la exactitud semántica no la comprueba Pydantic: se mide contra un conjunto de prueba. Validez estructural y exactitud semántica son comprobaciones diferentes. 2) Pregunta a la audiencia: ¿un objeto Pydantic válido demuestra que la intención fue bien clasificada? 3) Laboratorio: medir_clasificador.py, función evaluar(), compara la categoría obtenida con la esperada en el golden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ejecuta code/03_structured_crudo_vs_robusto.py (requiere HF_TOKEN) con la consulta ambigua de la demo, que no usa ninguna palabra literal de las categorías. Ambos caminos usan la validación del esquema Pydantic. El crudo puede lanzar un error de validación o del proveedor, devolver None o un objeto válido. El robusto comprueba el retorno, reintenta una vez y termina en un Intencion válido o en una ExtraccionFallida explícita. Si hoy ambos devuelven un objeto válido, discute su exactitud semántica. Para mostrar un fallo reproducible, ejecuta docente/verificar_structured.py, que usa un modelo simulado. 2) Pregunta a la audiencia: ¿qué camino preferirían depurar a las 3 de la mañana y por qué? 3) Laboratorio: code/03, funciones camino_crudo() y camino_robusto(); el L2 prohíbe with_structured_output() directo.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esquema valida la forma; el wrapper administra errores. Recorre el flujo: consulta, modelo más esquema, validación Pydantic. Rama válida: objeto tipado. Primer error: un reintento que vuelve al modelo con una instrucción correctiva. Segundo error: ExtraccionFallida. Además de capturar excepciones, el wrapper comprueba None y un tipo de retorno inesperado; no hace una segunda validación de todos los campos. Cierra con la nota del diagrama: validez no es veracidad. Error frecuente: atribuir al wrapper la validación que ya hace la integración Pydantic. 2) Pregunta a la audiencia: ¿qué gana tu código al recibir una ExtraccionFallida en lugar de un None? 3) Laboratorio: comun/structured.py, función extraer_con_detalle(); clasificar.py usa extraer().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bucle hace hasta reintentos + 1 intentos. Tras un fallo agrega una instrucción correctiva que nombra el error y los campos obligatorios; para un ValidationError indica cuántos campos son inválidos, no el detalle de cada uno. Un reintento es el presupuesto elegido por el curso para limitar costo y latencia; los labs conservan el valor por defecto. Agotarlo no prueba que el prompt esté mal: también puede fallar la infraestructura o el proveedor. Por eso se diagnostica antes de subir el número. 2) Pregunta a la audiencia: ¿por qué no cinco reintentos? 3) Laboratorio: comun/structured.py, _instruccion_correctiva() y el campo al_primer_intento de ResultadoEstructurado, que medirás en el L2.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pausa de 10 minutos. Al volver, cada equipo abre su track y empieza el esquema Intencion. Pide que tengan a mano el Reclamo del pase de entrada y el enunciado de su track en lab/&lt;track&gt;/enunciado.md. 2) Pregunta a la audiencia: ¿qué equipos todavía no tienen verificado su Reclamo? Resuélvanlo en la pausa. 3) Laboratorio: prepara el archivo schemas.py de tu proyecto para la práctica guiada.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práctica guiada de 35 minutos. Muestra el checkpoint de telecomunicaciones: un Enum de 5 categorías, un Enum de urgencia y un campo entidades opcional. La línea clave es el Field de categoria: su description dice cuándo aplica cada categoría y cuándo no. Cada equipo escribe el Enum de su track y lo prueba imprimiendo model_json_schema(). Error frecuente: si todo se clasifica como OTRO, los description de las otras cuatro categorías no las distinguen; escribe en cada una cuándo NO aplica. 2) Pregunta a la audiencia: ¿qué frase del description evitaría la confusión que más temen en su track? 3) Laboratorio: schemas.py, clases CategoriaIntencion, Urgencia e Intencion (Parte 1 del L2).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la taxonomía del L2 está alineada 1:1 con las tools núcleo del L4. En el L4 no se reclasifica nada: la categoría que hoy aprenden a producir es la herramienta que su agente deberá elegir. La columna derecha solo se anuncia: esas tools se construyen en S4 y el Tool Calling se enseña en S3. OTRO no es un cajón de sastre: agrupa preguntas sobre tarifas, coberturas y políticas, las que en S5 se responden con RAG. 2) Pregunta a la audiencia: en tu track, ¿qué categoría corresponde a una acción y cuál solo a una consulta? 3) Laboratorio: CategoriaIntencion en schemas.py; el mismo golden set se reutiliza para la matriz de selección del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L2 en un diagrama. schemas.py define Intencion; prompts.py arma el prompt con Rol, Contexto, Tarea, Formato y 2 ejemplos; clasificar.py, en foco, llama a extraer() de comun/structured.py, también en foco: la flecha activa es esa llamada. medir_clasificador.py invoca la clasificación para cada consulta del golden set de su track (recursos/golden/consultas-&lt;track&gt;.json, 30 consultas). Cada equipo construye en su propio proyecto; la solución de referencia se consulta después, en solucion/&lt;track&gt;/. 2) Pregunta a la audiencia: ¿por qué el lab prohíbe with_structured_output() directo si también valida? 3) Laboratorio: clasificar.py, función clasificar(modelo, consulta), y medir_clasificador.py, función evaluar().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L2 se acepta con números, no con opiniones. Recorre las cuatro filas: acierto global sobre las 30 consultas del golden set, matriz de confusión por categoría, cuántas extracciones necesitaron reintento (el primer dato de fiabilidad que miden con sus manos, se retoma en S10) y el acierto sobre 35 al sumar sus 5 consultas propias. Aclara que el umbral del 90 % no está verificado contra el endpoint real; si miden por debajo de forma consistente, se decide con evidencia. 2) Pregunta a la audiencia: si aciertan mucho en las 30 del curso y poco en sus 5 propias, ¿qué les dice eso sobre sus etiquetas? 3) Laboratorio: medir_clasificador.py, funciones cargar_golden(), evaluar() e imprimir_matriz().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Test 2 tiene 10 preguntas de opción múltiple en cinco partes: mensajes y memoria, las cuatro partes del prompt, few-shot, structured output y costo. Se responde ahora, en 15 minutos. Evalúa los objetivos 1, 2, 3 y 5; los objetivos 4 y 6 se verifican con el L2. No muestres respuestas: la autocorrección está en conceptos-previos.md y se revisa después. 2) Pregunta a la audiencia: antes de empezar, ¿qué parte les genera más dudas? 3) Laboratorio: las dudas del test se resuelven sobre el código del L2 (schemas.py y clasificar.py).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lo que se anuncia y la sesión que lo construye. El L2 llama a la API de inferencia, pero no al simulador ni a tools de negocio: entra texto, sale estructura. Es la única sesión en la que el modelo trabaja solo. En S3 se rompe ese aislamiento: el modelo propone una llamada a una herramienta y el runtime la ejecuta contra el simulador. Pydantic vuelve en S3 como args_schema de las tools, por eso el pase de entrada fue bloqueante. 2) Pregunta a la audiencia: si el modelo no ejecuta código, ¿quién debería ejecutar la herramienta en S3? 3) Laboratorio: termina y mide el L2; el checkpoint de S2 es la entrada del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14" r="-14" t="0" b="0"/>
          <a:stretch/>
        </p:blipFill>
        <p:spPr>
          <a:xfrm>
            <a:off x="0" y="0"/>
            <a:ext cx="12192000" cy="1422400"/>
          </a:xfrm>
          <a:prstGeom prst="rect">
            <a:avLst/>
          </a:prstGeom>
        </p:spPr>
      </p:pic>
      <p:sp>
        <p:nvSpPr>
          <p:cNvPr id="3" name="Text 0"/>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01 / 25</a:t>
            </a:r>
            <a:endParaRPr lang="en-US" sz="1200" dirty="0"/>
          </a:p>
        </p:txBody>
      </p:sp>
      <p:pic>
        <p:nvPicPr>
          <p:cNvPr id="4"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
        <p:nvSpPr>
          <p:cNvPr id="5" name="Text 1"/>
          <p:cNvSpPr/>
          <p:nvPr/>
        </p:nvSpPr>
        <p:spPr>
          <a:xfrm>
            <a:off x="0" y="1987550"/>
            <a:ext cx="1255776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IA Agent Building · Módulo 1 · Fundamentos</a:t>
            </a:r>
            <a:endParaRPr lang="en-US" sz="1400" dirty="0"/>
          </a:p>
        </p:txBody>
      </p:sp>
      <p:sp>
        <p:nvSpPr>
          <p:cNvPr id="6" name="Text 2"/>
          <p:cNvSpPr/>
          <p:nvPr/>
        </p:nvSpPr>
        <p:spPr>
          <a:xfrm>
            <a:off x="0" y="2508250"/>
            <a:ext cx="12557760"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S02 · Ecosistema LangChain:</a:t>
            </a:r>
            <a:endParaRPr lang="en-US" sz="3600" dirty="0"/>
          </a:p>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prompts, cadenas y modelos</a:t>
            </a:r>
            <a:endParaRPr lang="en-US" sz="3600" dirty="0"/>
          </a:p>
        </p:txBody>
      </p:sp>
      <p:sp>
        <p:nvSpPr>
          <p:cNvPr id="7" name="Text 3"/>
          <p:cNvSpPr/>
          <p:nvPr/>
        </p:nvSpPr>
        <p:spPr>
          <a:xfrm>
            <a:off x="0" y="3829050"/>
            <a:ext cx="12557760" cy="30480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1 · jueves · 6 h (3.0 teoría + 3.0 práctica)</a:t>
            </a:r>
            <a:endParaRPr lang="en-US" sz="1600" dirty="0"/>
          </a:p>
        </p:txBody>
      </p:sp>
      <p:sp>
        <p:nvSpPr>
          <p:cNvPr id="8" name="Text 4"/>
          <p:cNvSpPr/>
          <p:nvPr/>
        </p:nvSpPr>
        <p:spPr>
          <a:xfrm>
            <a:off x="0" y="4210050"/>
            <a:ext cx="12557760" cy="30480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Hitos: Test 2 · pase de entrada de Pydantic (sin él no se hace el L2)</a:t>
            </a:r>
            <a:endParaRPr lang="en-US" sz="1600" dirty="0"/>
          </a:p>
        </p:txBody>
      </p:sp>
      <p:sp>
        <p:nvSpPr>
          <p:cNvPr id="9" name="Text 5"/>
          <p:cNvSpPr/>
          <p:nvPr/>
        </p:nvSpPr>
        <p:spPr>
          <a:xfrm>
            <a:off x="0" y="4591050"/>
            <a:ext cx="12557760" cy="30480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Objetivo: pasar de texto libre a una estructura tipada, validada y medida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2585"/>
          </a:xfrm>
          <a:prstGeom prst="rect">
            <a:avLst/>
          </a:prstGeom>
          <a:noFill/>
          <a:ln/>
        </p:spPr>
        <p:txBody>
          <a:bodyPr wrap="square" lIns="0" tIns="0" rIns="0" bIns="0" rtlCol="0" anchor="t">
            <a:normAutofit/>
          </a:bodyPr>
          <a:lstStyle/>
          <a:p>
            <a:pPr algn="l" indent="0" marL="0">
              <a:lnSpc>
                <a:spcPts val="3921"/>
              </a:lnSpc>
              <a:buNone/>
            </a:pPr>
            <a:r>
              <a:rPr lang="en-US" sz="3532" b="1" spc="-35" kern="0" dirty="0">
                <a:solidFill>
                  <a:srgbClr val="1E293B"/>
                </a:solidFill>
                <a:latin typeface="IBM Plex Sans" pitchFamily="34" charset="0"/>
                <a:ea typeface="IBM Plex Sans" pitchFamily="34" charset="-122"/>
                <a:cs typeface="IBM Plex Sans" pitchFamily="34" charset="-120"/>
              </a:rPr>
              <a:t>Qué hacemos hoy</a:t>
            </a:r>
            <a:endParaRPr lang="en-US" sz="3532" dirty="0"/>
          </a:p>
        </p:txBody>
      </p:sp>
      <p:sp>
        <p:nvSpPr>
          <p:cNvPr id="3" name="Shape 1"/>
          <p:cNvSpPr/>
          <p:nvPr/>
        </p:nvSpPr>
        <p:spPr>
          <a:xfrm>
            <a:off x="812800" y="1621135"/>
            <a:ext cx="10566400" cy="0"/>
          </a:xfrm>
          <a:prstGeom prst="line">
            <a:avLst/>
          </a:prstGeom>
          <a:noFill/>
          <a:ln w="12700">
            <a:solidFill>
              <a:srgbClr val="141413">
                <a:alpha val="22000"/>
              </a:srgbClr>
            </a:solidFill>
            <a:prstDash val="solid"/>
          </a:ln>
        </p:spPr>
      </p:sp>
      <p:sp>
        <p:nvSpPr>
          <p:cNvPr id="4" name="Shape 2"/>
          <p:cNvSpPr/>
          <p:nvPr/>
        </p:nvSpPr>
        <p:spPr>
          <a:xfrm>
            <a:off x="819150" y="1614785"/>
            <a:ext cx="0" cy="3711575"/>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716385"/>
          <a:ext cx="10299700" cy="3521075"/>
        </p:xfrm>
        <a:graphic>
          <a:graphicData uri="http://schemas.openxmlformats.org/drawingml/2006/table">
            <a:tbl>
              <a:tblPr/>
              <a:tblGrid>
                <a:gridCol w="823976"/>
                <a:gridCol w="6385814"/>
                <a:gridCol w="1235964"/>
                <a:gridCol w="1853946"/>
              </a:tblGrid>
              <a:tr h="352028">
                <a:tc>
                  <a:txBody>
                    <a:bodyPr/>
                    <a:lstStyle/>
                    <a:p>
                      <a:pPr indent="0" marL="0">
                        <a:lnSpc>
                          <a:spcPts val="1780"/>
                        </a:lnSpc>
                        <a:buNone/>
                      </a:pPr>
                      <a:r>
                        <a:rPr lang="en-US" sz="1272" b="1" dirty="0">
                          <a:solidFill>
                            <a:srgbClr val="1E293B"/>
                          </a:solidFill>
                          <a:latin typeface="IBM Plex Sans" pitchFamily="34" charset="0"/>
                          <a:ea typeface="IBM Plex Sans" pitchFamily="34" charset="-122"/>
                          <a:cs typeface="IBM Plex Sans" pitchFamily="34" charset="-120"/>
                        </a:rPr>
                        <a:t>#</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780"/>
                        </a:lnSpc>
                        <a:buNone/>
                      </a:pPr>
                      <a:r>
                        <a:rPr lang="en-US" sz="1272" b="1" dirty="0">
                          <a:solidFill>
                            <a:srgbClr val="1E293B"/>
                          </a:solidFill>
                          <a:latin typeface="IBM Plex Sans" pitchFamily="34" charset="0"/>
                          <a:ea typeface="IBM Plex Sans" pitchFamily="34" charset="-122"/>
                          <a:cs typeface="IBM Plex Sans" pitchFamily="34" charset="-120"/>
                        </a:rPr>
                        <a:t>Bloque</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780"/>
                        </a:lnSpc>
                        <a:buNone/>
                      </a:pPr>
                      <a:r>
                        <a:rPr lang="en-US" sz="1272" b="1" dirty="0">
                          <a:solidFill>
                            <a:srgbClr val="1E293B"/>
                          </a:solidFill>
                          <a:latin typeface="IBM Plex Sans" pitchFamily="34" charset="0"/>
                          <a:ea typeface="IBM Plex Sans" pitchFamily="34" charset="-122"/>
                          <a:cs typeface="IBM Plex Sans" pitchFamily="34" charset="-120"/>
                        </a:rPr>
                        <a:t>Min</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780"/>
                        </a:lnSpc>
                        <a:buNone/>
                      </a:pPr>
                      <a:r>
                        <a:rPr lang="en-US" sz="1272" b="1" dirty="0">
                          <a:solidFill>
                            <a:srgbClr val="1E293B"/>
                          </a:solidFill>
                          <a:latin typeface="IBM Plex Sans" pitchFamily="34" charset="0"/>
                          <a:ea typeface="IBM Plex Sans" pitchFamily="34" charset="-122"/>
                          <a:cs typeface="IBM Plex Sans" pitchFamily="34" charset="-120"/>
                        </a:rPr>
                        <a:t>Tipo</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r>
              <a:tr h="352028">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0</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De "primer llamado" a "primer contrato"</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5</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Teoría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1</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Mensajes, roles y statelessness</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25</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Teoría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2</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Rol + Contexto + Tarea + Formato</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25</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Teoría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3</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Few-shot (regla A5)</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20</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Teoría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4</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Structured Output: la demo del fallo</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25</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Teoría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5</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comun/structured.py (regla A3)</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20</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Teoría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Pausa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10</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6</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Práctica guiada: esquema Intencion del track</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35</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Práctica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2127">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7</a:t>
                      </a:r>
                      <a:endParaRPr lang="en-US" sz="1272" dirty="0">
                        <a:latin typeface="IBM Plex Sans" charset="0"/>
                        <a:ea typeface="IBM Plex Sans" charset="0"/>
                        <a:cs typeface="IBM Plex Sans" charset="0"/>
                      </a:endParaRPr>
                    </a:p>
                  </a:txBody>
                  <a:tcPr marL="56521" marR="56521" marT="56521" marB="56521"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Test 2</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15</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780"/>
                        </a:lnSpc>
                        <a:buNone/>
                      </a:pPr>
                      <a:r>
                        <a:rPr lang="en-US" sz="1272" dirty="0">
                          <a:solidFill>
                            <a:srgbClr val="1E293B"/>
                          </a:solidFill>
                          <a:latin typeface="IBM Plex Sans" pitchFamily="34" charset="0"/>
                          <a:ea typeface="IBM Plex Sans" pitchFamily="34" charset="-122"/>
                          <a:cs typeface="IBM Plex Sans" pitchFamily="34" charset="-120"/>
                        </a:rPr>
                        <a:t>Práctica</a:t>
                      </a:r>
                      <a:endParaRPr lang="en-US" sz="1272" dirty="0">
                        <a:latin typeface="IBM Plex Sans" charset="0"/>
                        <a:ea typeface="IBM Plex Sans" charset="0"/>
                        <a:cs typeface="IBM Plex Sans" charset="0"/>
                      </a:endParaRPr>
                    </a:p>
                  </a:txBody>
                  <a:tcPr marL="56521" marR="56521" marT="56521" marB="56521"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Text 3"/>
          <p:cNvSpPr/>
          <p:nvPr/>
        </p:nvSpPr>
        <p:spPr>
          <a:xfrm>
            <a:off x="812800" y="5631160"/>
            <a:ext cx="10883392" cy="236240"/>
          </a:xfrm>
          <a:prstGeom prst="rect">
            <a:avLst/>
          </a:prstGeom>
          <a:noFill/>
          <a:ln/>
        </p:spPr>
        <p:txBody>
          <a:bodyPr wrap="square" lIns="0" tIns="0" rIns="0" bIns="0" rtlCol="0" anchor="t">
            <a:normAutofit/>
          </a:bodyPr>
          <a:lstStyle/>
          <a:p>
            <a:pPr algn="l" indent="0" marL="0">
              <a:lnSpc>
                <a:spcPts val="1673"/>
              </a:lnSpc>
              <a:buNone/>
            </a:pPr>
            <a:r>
              <a:rPr lang="en-US" sz="1383" dirty="0">
                <a:solidFill>
                  <a:srgbClr val="526277"/>
                </a:solidFill>
                <a:latin typeface="IBM Plex Sans" pitchFamily="34" charset="0"/>
                <a:ea typeface="IBM Plex Sans" pitchFamily="34" charset="-122"/>
                <a:cs typeface="IBM Plex Sans" pitchFamily="34" charset="-120"/>
              </a:rPr>
              <a:t>Más 1 h de pre-work antes de la sesión y 2 h de laboratorio L2</a:t>
            </a:r>
            <a:endParaRPr lang="en-US" sz="1383" dirty="0"/>
          </a:p>
        </p:txBody>
      </p:sp>
      <p:sp>
        <p:nvSpPr>
          <p:cNvPr id="7" name="Text 4"/>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02 / 25</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 primer llamado a primer contrato</a:t>
            </a:r>
            <a:endParaRPr lang="en-US" sz="3600" dirty="0"/>
          </a:p>
        </p:txBody>
      </p:sp>
      <p:pic>
        <p:nvPicPr>
          <p:cNvPr id="3" name="Image 0" descr="Tu código invoca al modelo; la salida pasa de texto libre a un objeto tipado">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6300" y="3415705"/>
            <a:ext cx="16510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Tu código</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aplicación</a:t>
            </a:r>
            <a:endParaRPr lang="en-US" sz="1400" dirty="0"/>
          </a:p>
        </p:txBody>
      </p:sp>
      <p:sp>
        <p:nvSpPr>
          <p:cNvPr id="5" name="Text 2"/>
          <p:cNvSpPr/>
          <p:nvPr/>
        </p:nvSpPr>
        <p:spPr>
          <a:xfrm>
            <a:off x="7987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6" name="Text 3"/>
          <p:cNvSpPr/>
          <p:nvPr/>
        </p:nvSpPr>
        <p:spPr>
          <a:xfrm>
            <a:off x="7987792" y="4488855"/>
            <a:ext cx="177901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texto → objeto</a:t>
            </a:r>
            <a:endParaRPr lang="en-US" sz="1400" dirty="0"/>
          </a:p>
        </p:txBody>
      </p:sp>
      <p:sp>
        <p:nvSpPr>
          <p:cNvPr id="7" name="Text 4"/>
          <p:cNvSpPr/>
          <p:nvPr/>
        </p:nvSpPr>
        <p:spPr>
          <a:xfrm>
            <a:off x="4584700" y="3110905"/>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invoke()</a:t>
            </a:r>
            <a:endParaRPr lang="en-US" sz="1400" dirty="0"/>
          </a:p>
        </p:txBody>
      </p:sp>
      <p:sp>
        <p:nvSpPr>
          <p:cNvPr id="8" name="Text 5"/>
          <p:cNvSpPr/>
          <p:nvPr/>
        </p:nvSpPr>
        <p:spPr>
          <a:xfrm>
            <a:off x="8991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9" name="Text 6"/>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cualquier desviación de la estructura es un error, no una curiosidad.</a:t>
            </a:r>
            <a:endParaRPr lang="en-US" sz="1600" dirty="0"/>
          </a:p>
        </p:txBody>
      </p:sp>
      <p:sp>
        <p:nvSpPr>
          <p:cNvPr id="10" name="Text 7"/>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03 / 25</a:t>
            </a:r>
            <a:endParaRPr lang="en-US" sz="1200" dirty="0"/>
          </a:p>
        </p:txBody>
      </p:sp>
      <p:pic>
        <p:nvPicPr>
          <p:cNvPr id="11"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Una conversación es una lista</a:t>
            </a:r>
            <a:endParaRPr lang="en-US" sz="3600" dirty="0"/>
          </a:p>
        </p:txBody>
      </p:sp>
      <p:pic>
        <p:nvPicPr>
          <p:cNvPr id="3" name="Image 0" descr="Tu código arma una lista de mensajes system, human y ai y la envía al modelo; el rol tool se suma en S3">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6300" y="3415705"/>
            <a:ext cx="16510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Tu código</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aplicación</a:t>
            </a:r>
            <a:endParaRPr lang="en-US" sz="1400" dirty="0"/>
          </a:p>
        </p:txBody>
      </p:sp>
      <p:sp>
        <p:nvSpPr>
          <p:cNvPr id="5" name="Text 2"/>
          <p:cNvSpPr/>
          <p:nvPr/>
        </p:nvSpPr>
        <p:spPr>
          <a:xfrm>
            <a:off x="3759200" y="1853605"/>
            <a:ext cx="308711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Lista de mensajes</a:t>
            </a:r>
            <a:endParaRPr lang="en-US" sz="1400" dirty="0"/>
          </a:p>
        </p:txBody>
      </p:sp>
      <p:sp>
        <p:nvSpPr>
          <p:cNvPr id="6" name="Text 3"/>
          <p:cNvSpPr/>
          <p:nvPr/>
        </p:nvSpPr>
        <p:spPr>
          <a:xfrm>
            <a:off x="3822700" y="22282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system · instrucciones</a:t>
            </a:r>
            <a:endParaRPr lang="en-US" sz="1400" dirty="0"/>
          </a:p>
        </p:txBody>
      </p:sp>
      <p:sp>
        <p:nvSpPr>
          <p:cNvPr id="7" name="Text 4"/>
          <p:cNvSpPr/>
          <p:nvPr/>
        </p:nvSpPr>
        <p:spPr>
          <a:xfrm>
            <a:off x="3822700" y="26600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consulta</a:t>
            </a:r>
            <a:endParaRPr lang="en-US" sz="1400" dirty="0"/>
          </a:p>
        </p:txBody>
      </p:sp>
      <p:sp>
        <p:nvSpPr>
          <p:cNvPr id="8" name="Text 5"/>
          <p:cNvSpPr/>
          <p:nvPr/>
        </p:nvSpPr>
        <p:spPr>
          <a:xfrm>
            <a:off x="3822700" y="30918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ai · respuesta</a:t>
            </a:r>
            <a:endParaRPr lang="en-US" sz="1400" dirty="0"/>
          </a:p>
        </p:txBody>
      </p:sp>
      <p:sp>
        <p:nvSpPr>
          <p:cNvPr id="9" name="Text 6"/>
          <p:cNvSpPr/>
          <p:nvPr/>
        </p:nvSpPr>
        <p:spPr>
          <a:xfrm>
            <a:off x="3822700" y="35236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tool · se suma en S3</a:t>
            </a:r>
            <a:endParaRPr lang="en-US" sz="1400" dirty="0"/>
          </a:p>
        </p:txBody>
      </p:sp>
      <p:sp>
        <p:nvSpPr>
          <p:cNvPr id="10" name="Text 7"/>
          <p:cNvSpPr/>
          <p:nvPr/>
        </p:nvSpPr>
        <p:spPr>
          <a:xfrm>
            <a:off x="7987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11" name="Text 8"/>
          <p:cNvSpPr/>
          <p:nvPr/>
        </p:nvSpPr>
        <p:spPr>
          <a:xfrm>
            <a:off x="7987792" y="45968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2" name="Text 9"/>
          <p:cNvSpPr/>
          <p:nvPr/>
        </p:nvSpPr>
        <p:spPr>
          <a:xfrm>
            <a:off x="2628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arma</a:t>
            </a:r>
            <a:endParaRPr lang="en-US" sz="1400" dirty="0"/>
          </a:p>
        </p:txBody>
      </p:sp>
      <p:sp>
        <p:nvSpPr>
          <p:cNvPr id="13" name="Text 10"/>
          <p:cNvSpPr/>
          <p:nvPr/>
        </p:nvSpPr>
        <p:spPr>
          <a:xfrm>
            <a:off x="6946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envía</a:t>
            </a:r>
            <a:endParaRPr lang="en-US" sz="1400" dirty="0"/>
          </a:p>
        </p:txBody>
      </p:sp>
      <p:sp>
        <p:nvSpPr>
          <p:cNvPr id="14" name="Text 11"/>
          <p:cNvSpPr/>
          <p:nvPr/>
        </p:nvSpPr>
        <p:spPr>
          <a:xfrm>
            <a:off x="8991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5" name="Text 12"/>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mensaje tiene un rol: system, human o ai. El rol tool se suma en S3.</a:t>
            </a:r>
            <a:endParaRPr lang="en-US" sz="1600" dirty="0"/>
          </a:p>
        </p:txBody>
      </p:sp>
      <p:sp>
        <p:nvSpPr>
          <p:cNvPr id="16" name="Text 13"/>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04 / 25</a:t>
            </a:r>
            <a:endParaRPr lang="en-US" sz="1200" dirty="0"/>
          </a:p>
        </p:txBody>
      </p:sp>
      <p:pic>
        <p:nvPicPr>
          <p:cNvPr id="17"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modelo no recuerda nada</a:t>
            </a:r>
            <a:endParaRPr lang="en-US" sz="3600" dirty="0"/>
          </a:p>
        </p:txBody>
      </p:sp>
      <p:pic>
        <p:nvPicPr>
          <p:cNvPr id="3" name="Image 0" descr="En el turno N tu código reenvía la lista completa con todos los turnos anteriores">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6300" y="3415705"/>
            <a:ext cx="16510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Tu código</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aplicación</a:t>
            </a:r>
            <a:endParaRPr lang="en-US" sz="1400" dirty="0"/>
          </a:p>
        </p:txBody>
      </p:sp>
      <p:sp>
        <p:nvSpPr>
          <p:cNvPr id="5" name="Text 2"/>
          <p:cNvSpPr/>
          <p:nvPr/>
        </p:nvSpPr>
        <p:spPr>
          <a:xfrm>
            <a:off x="3759200" y="1853605"/>
            <a:ext cx="308711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Lista de mensajes</a:t>
            </a:r>
            <a:endParaRPr lang="en-US" sz="1400" dirty="0"/>
          </a:p>
        </p:txBody>
      </p:sp>
      <p:sp>
        <p:nvSpPr>
          <p:cNvPr id="6" name="Text 3"/>
          <p:cNvSpPr/>
          <p:nvPr/>
        </p:nvSpPr>
        <p:spPr>
          <a:xfrm>
            <a:off x="3822700" y="22282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system · instrucciones</a:t>
            </a:r>
            <a:endParaRPr lang="en-US" sz="1400" dirty="0"/>
          </a:p>
        </p:txBody>
      </p:sp>
      <p:sp>
        <p:nvSpPr>
          <p:cNvPr id="7" name="Text 4"/>
          <p:cNvSpPr/>
          <p:nvPr/>
        </p:nvSpPr>
        <p:spPr>
          <a:xfrm>
            <a:off x="3822700" y="26600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turno 1</a:t>
            </a:r>
            <a:endParaRPr lang="en-US" sz="1400" dirty="0"/>
          </a:p>
        </p:txBody>
      </p:sp>
      <p:sp>
        <p:nvSpPr>
          <p:cNvPr id="8" name="Text 5"/>
          <p:cNvSpPr/>
          <p:nvPr/>
        </p:nvSpPr>
        <p:spPr>
          <a:xfrm>
            <a:off x="3822700" y="30918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ai · turno 1</a:t>
            </a:r>
            <a:endParaRPr lang="en-US" sz="1400" dirty="0"/>
          </a:p>
        </p:txBody>
      </p:sp>
      <p:sp>
        <p:nvSpPr>
          <p:cNvPr id="9" name="Text 6"/>
          <p:cNvSpPr/>
          <p:nvPr/>
        </p:nvSpPr>
        <p:spPr>
          <a:xfrm>
            <a:off x="3822700" y="35236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turno 2</a:t>
            </a:r>
            <a:endParaRPr lang="en-US" sz="1400" dirty="0"/>
          </a:p>
        </p:txBody>
      </p:sp>
      <p:sp>
        <p:nvSpPr>
          <p:cNvPr id="10" name="Text 7"/>
          <p:cNvSpPr/>
          <p:nvPr/>
        </p:nvSpPr>
        <p:spPr>
          <a:xfrm>
            <a:off x="3822700" y="39554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ai · turno 2</a:t>
            </a:r>
            <a:endParaRPr lang="en-US" sz="1400" dirty="0"/>
          </a:p>
        </p:txBody>
      </p:sp>
      <p:sp>
        <p:nvSpPr>
          <p:cNvPr id="11" name="Text 8"/>
          <p:cNvSpPr/>
          <p:nvPr/>
        </p:nvSpPr>
        <p:spPr>
          <a:xfrm>
            <a:off x="3822700" y="43872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turno N</a:t>
            </a:r>
            <a:endParaRPr lang="en-US" sz="1400" dirty="0"/>
          </a:p>
        </p:txBody>
      </p:sp>
      <p:sp>
        <p:nvSpPr>
          <p:cNvPr id="12" name="Text 9"/>
          <p:cNvSpPr/>
          <p:nvPr/>
        </p:nvSpPr>
        <p:spPr>
          <a:xfrm>
            <a:off x="7987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13" name="Text 10"/>
          <p:cNvSpPr/>
          <p:nvPr/>
        </p:nvSpPr>
        <p:spPr>
          <a:xfrm>
            <a:off x="7987792" y="45968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4" name="Text 11"/>
          <p:cNvSpPr/>
          <p:nvPr/>
        </p:nvSpPr>
        <p:spPr>
          <a:xfrm>
            <a:off x="2628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reenvía</a:t>
            </a:r>
            <a:endParaRPr lang="en-US" sz="1400" dirty="0"/>
          </a:p>
        </p:txBody>
      </p:sp>
      <p:sp>
        <p:nvSpPr>
          <p:cNvPr id="15" name="Text 12"/>
          <p:cNvSpPr/>
          <p:nvPr/>
        </p:nvSpPr>
        <p:spPr>
          <a:xfrm>
            <a:off x="6946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envía</a:t>
            </a:r>
            <a:endParaRPr lang="en-US" sz="1400" dirty="0"/>
          </a:p>
        </p:txBody>
      </p:sp>
      <p:sp>
        <p:nvSpPr>
          <p:cNvPr id="16" name="Text 13"/>
          <p:cNvSpPr/>
          <p:nvPr/>
        </p:nvSpPr>
        <p:spPr>
          <a:xfrm>
            <a:off x="8991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7" name="Text 14"/>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turno 10 cuesta más que el turno 1 porque arrastra los 9 anteriores.</a:t>
            </a:r>
            <a:endParaRPr lang="en-US" sz="1600" dirty="0"/>
          </a:p>
        </p:txBody>
      </p:sp>
      <p:sp>
        <p:nvSpPr>
          <p:cNvPr id="18" name="Text 15"/>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05 / 25</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Rol + Contexto + Tarea + Formato</a:t>
            </a:r>
            <a:endParaRPr lang="en-US" sz="3600" dirty="0"/>
          </a:p>
        </p:txBody>
      </p:sp>
      <p:pic>
        <p:nvPicPr>
          <p:cNvPr id="3" name="Image 0" descr="Un prompt con cuatro partes, Rol, Contexto, Tarea y Formato, que se envía al modelo">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965200" y="1726605"/>
            <a:ext cx="504926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Prompt</a:t>
            </a:r>
            <a:endParaRPr lang="en-US" sz="1400" dirty="0"/>
          </a:p>
        </p:txBody>
      </p:sp>
      <p:sp>
        <p:nvSpPr>
          <p:cNvPr id="5" name="Text 2"/>
          <p:cNvSpPr/>
          <p:nvPr/>
        </p:nvSpPr>
        <p:spPr>
          <a:xfrm>
            <a:off x="1155700" y="22790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Rol · ¿Quién eres?</a:t>
            </a:r>
            <a:endParaRPr lang="en-US" sz="1400" dirty="0"/>
          </a:p>
        </p:txBody>
      </p:sp>
      <p:sp>
        <p:nvSpPr>
          <p:cNvPr id="6" name="Text 3"/>
          <p:cNvSpPr/>
          <p:nvPr/>
        </p:nvSpPr>
        <p:spPr>
          <a:xfrm>
            <a:off x="1155700" y="29902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Contexto · ¿Qué sabes ya?</a:t>
            </a:r>
            <a:endParaRPr lang="en-US" sz="1400" dirty="0"/>
          </a:p>
        </p:txBody>
      </p:sp>
      <p:sp>
        <p:nvSpPr>
          <p:cNvPr id="7" name="Text 4"/>
          <p:cNvSpPr/>
          <p:nvPr/>
        </p:nvSpPr>
        <p:spPr>
          <a:xfrm>
            <a:off x="1155700" y="37014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Tarea · ¿Qué haces con esta entrada?</a:t>
            </a:r>
            <a:endParaRPr lang="en-US" sz="1400" dirty="0"/>
          </a:p>
        </p:txBody>
      </p:sp>
      <p:sp>
        <p:nvSpPr>
          <p:cNvPr id="8" name="Text 5"/>
          <p:cNvSpPr/>
          <p:nvPr/>
        </p:nvSpPr>
        <p:spPr>
          <a:xfrm>
            <a:off x="1155700" y="44126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Formato · ¿Cómo se ve la salida?</a:t>
            </a:r>
            <a:endParaRPr lang="en-US" sz="1400" dirty="0"/>
          </a:p>
        </p:txBody>
      </p:sp>
      <p:sp>
        <p:nvSpPr>
          <p:cNvPr id="9" name="Text 6"/>
          <p:cNvSpPr/>
          <p:nvPr/>
        </p:nvSpPr>
        <p:spPr>
          <a:xfrm>
            <a:off x="7479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10" name="Text 7"/>
          <p:cNvSpPr/>
          <p:nvPr/>
        </p:nvSpPr>
        <p:spPr>
          <a:xfrm>
            <a:off x="7479792" y="45968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1" name="Text 8"/>
          <p:cNvSpPr/>
          <p:nvPr/>
        </p:nvSpPr>
        <p:spPr>
          <a:xfrm>
            <a:off x="6057900" y="3110905"/>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invoke()</a:t>
            </a:r>
            <a:endParaRPr lang="en-US" sz="1400" dirty="0"/>
          </a:p>
        </p:txBody>
      </p:sp>
      <p:sp>
        <p:nvSpPr>
          <p:cNvPr id="12" name="Text 9"/>
          <p:cNvSpPr/>
          <p:nvPr/>
        </p:nvSpPr>
        <p:spPr>
          <a:xfrm>
            <a:off x="8483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3" name="Text 10"/>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parte responde una pregunta distinta sobre la llamada.</a:t>
            </a:r>
            <a:endParaRPr lang="en-US" sz="1600" dirty="0"/>
          </a:p>
        </p:txBody>
      </p:sp>
      <p:sp>
        <p:nvSpPr>
          <p:cNvPr id="14" name="Text 11"/>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06 / 25</a:t>
            </a:r>
            <a:endParaRPr lang="en-US" sz="1200" dirty="0"/>
          </a:p>
        </p:txBody>
      </p:sp>
      <p:pic>
        <p:nvPicPr>
          <p:cNvPr id="15"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Hoy se suman Tarea y Formato</a:t>
            </a:r>
            <a:endParaRPr lang="en-US" sz="3600" dirty="0"/>
          </a:p>
        </p:txBody>
      </p:sp>
      <p:pic>
        <p:nvPicPr>
          <p:cNvPr id="3" name="Image 0" descr="Rol y Contexto ya existen desde S1; hoy se suman Tarea y Formato">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965200" y="1726605"/>
            <a:ext cx="504926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Prompt</a:t>
            </a:r>
            <a:endParaRPr lang="en-US" sz="1400" dirty="0"/>
          </a:p>
        </p:txBody>
      </p:sp>
      <p:sp>
        <p:nvSpPr>
          <p:cNvPr id="5" name="Text 2"/>
          <p:cNvSpPr/>
          <p:nvPr/>
        </p:nvSpPr>
        <p:spPr>
          <a:xfrm>
            <a:off x="1155700" y="22790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Rol · ¿Quién eres?</a:t>
            </a:r>
            <a:endParaRPr lang="en-US" sz="1400" dirty="0"/>
          </a:p>
        </p:txBody>
      </p:sp>
      <p:sp>
        <p:nvSpPr>
          <p:cNvPr id="6" name="Text 3"/>
          <p:cNvSpPr/>
          <p:nvPr/>
        </p:nvSpPr>
        <p:spPr>
          <a:xfrm>
            <a:off x="1155700" y="29902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Contexto · ¿Qué sabes ya?</a:t>
            </a:r>
            <a:endParaRPr lang="en-US" sz="1400" dirty="0"/>
          </a:p>
        </p:txBody>
      </p:sp>
      <p:sp>
        <p:nvSpPr>
          <p:cNvPr id="7" name="Text 4"/>
          <p:cNvSpPr/>
          <p:nvPr/>
        </p:nvSpPr>
        <p:spPr>
          <a:xfrm>
            <a:off x="1155700" y="37014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Tarea · ¿Qué haces con esta entrada?</a:t>
            </a:r>
            <a:endParaRPr lang="en-US" sz="1400" dirty="0"/>
          </a:p>
        </p:txBody>
      </p:sp>
      <p:sp>
        <p:nvSpPr>
          <p:cNvPr id="8" name="Text 5"/>
          <p:cNvSpPr/>
          <p:nvPr/>
        </p:nvSpPr>
        <p:spPr>
          <a:xfrm>
            <a:off x="1155700" y="44126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Formato · ¿Cómo se ve la salida?</a:t>
            </a:r>
            <a:endParaRPr lang="en-US" sz="1400" dirty="0"/>
          </a:p>
        </p:txBody>
      </p:sp>
      <p:sp>
        <p:nvSpPr>
          <p:cNvPr id="9" name="Text 6"/>
          <p:cNvSpPr/>
          <p:nvPr/>
        </p:nvSpPr>
        <p:spPr>
          <a:xfrm>
            <a:off x="7479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10" name="Text 7"/>
          <p:cNvSpPr/>
          <p:nvPr/>
        </p:nvSpPr>
        <p:spPr>
          <a:xfrm>
            <a:off x="7479792" y="45968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1" name="Text 8"/>
          <p:cNvSpPr/>
          <p:nvPr/>
        </p:nvSpPr>
        <p:spPr>
          <a:xfrm>
            <a:off x="6057900" y="3110905"/>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invoke()</a:t>
            </a:r>
            <a:endParaRPr lang="en-US" sz="1400" dirty="0"/>
          </a:p>
        </p:txBody>
      </p:sp>
      <p:sp>
        <p:nvSpPr>
          <p:cNvPr id="12" name="Text 9"/>
          <p:cNvSpPr/>
          <p:nvPr/>
        </p:nvSpPr>
        <p:spPr>
          <a:xfrm>
            <a:off x="8483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3" name="Text 10"/>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Rol, Contexto y límites ya vienen de comun/prompts_industria.py (S1).</a:t>
            </a:r>
            <a:endParaRPr lang="en-US" sz="1600" dirty="0"/>
          </a:p>
        </p:txBody>
      </p:sp>
      <p:sp>
        <p:nvSpPr>
          <p:cNvPr id="14" name="Text 11"/>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07 / 25</a:t>
            </a:r>
            <a:endParaRPr lang="en-US" sz="1200" dirty="0"/>
          </a:p>
        </p:txBody>
      </p:sp>
      <p:pic>
        <p:nvPicPr>
          <p:cNvPr id="15"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Sin Formato no hay contrato</a:t>
            </a:r>
            <a:endParaRPr lang="en-US" sz="3600" dirty="0"/>
          </a:p>
        </p:txBody>
      </p:sp>
      <p:pic>
        <p:nvPicPr>
          <p:cNvPr id="3" name="Image 0" descr="Sin el bloque Formato la salida del modelo no tiene una forma predecible">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965200" y="1726605"/>
            <a:ext cx="504926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Prompt</a:t>
            </a:r>
            <a:endParaRPr lang="en-US" sz="1400" dirty="0"/>
          </a:p>
        </p:txBody>
      </p:sp>
      <p:sp>
        <p:nvSpPr>
          <p:cNvPr id="5" name="Text 2"/>
          <p:cNvSpPr/>
          <p:nvPr/>
        </p:nvSpPr>
        <p:spPr>
          <a:xfrm>
            <a:off x="1155700" y="22790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Rol · ¿Quién eres?</a:t>
            </a:r>
            <a:endParaRPr lang="en-US" sz="1400" dirty="0"/>
          </a:p>
        </p:txBody>
      </p:sp>
      <p:sp>
        <p:nvSpPr>
          <p:cNvPr id="6" name="Text 3"/>
          <p:cNvSpPr/>
          <p:nvPr/>
        </p:nvSpPr>
        <p:spPr>
          <a:xfrm>
            <a:off x="1155700" y="29902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Contexto · ¿Qué sabes ya?</a:t>
            </a:r>
            <a:endParaRPr lang="en-US" sz="1400" dirty="0"/>
          </a:p>
        </p:txBody>
      </p:sp>
      <p:sp>
        <p:nvSpPr>
          <p:cNvPr id="7" name="Text 4"/>
          <p:cNvSpPr/>
          <p:nvPr/>
        </p:nvSpPr>
        <p:spPr>
          <a:xfrm>
            <a:off x="1155700" y="37014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Tarea · ¿Qué haces con esta entrada?</a:t>
            </a:r>
            <a:endParaRPr lang="en-US" sz="1400" dirty="0"/>
          </a:p>
        </p:txBody>
      </p:sp>
      <p:sp>
        <p:nvSpPr>
          <p:cNvPr id="8" name="Text 5"/>
          <p:cNvSpPr/>
          <p:nvPr/>
        </p:nvSpPr>
        <p:spPr>
          <a:xfrm>
            <a:off x="1155700" y="4412655"/>
            <a:ext cx="465683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Formato · retirado</a:t>
            </a:r>
            <a:endParaRPr lang="en-US" sz="1400" dirty="0"/>
          </a:p>
        </p:txBody>
      </p:sp>
      <p:sp>
        <p:nvSpPr>
          <p:cNvPr id="9" name="Text 6"/>
          <p:cNvSpPr/>
          <p:nvPr/>
        </p:nvSpPr>
        <p:spPr>
          <a:xfrm>
            <a:off x="7479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10" name="Text 7"/>
          <p:cNvSpPr/>
          <p:nvPr/>
        </p:nvSpPr>
        <p:spPr>
          <a:xfrm>
            <a:off x="7479792" y="4488855"/>
            <a:ext cx="177901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forma impredecible</a:t>
            </a:r>
            <a:endParaRPr lang="en-US" sz="1400" dirty="0"/>
          </a:p>
        </p:txBody>
      </p:sp>
      <p:sp>
        <p:nvSpPr>
          <p:cNvPr id="11" name="Text 8"/>
          <p:cNvSpPr/>
          <p:nvPr/>
        </p:nvSpPr>
        <p:spPr>
          <a:xfrm>
            <a:off x="6057900" y="3110905"/>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invoke()</a:t>
            </a:r>
            <a:endParaRPr lang="en-US" sz="1400" dirty="0"/>
          </a:p>
        </p:txBody>
      </p:sp>
      <p:sp>
        <p:nvSpPr>
          <p:cNvPr id="12" name="Text 9"/>
          <p:cNvSpPr/>
          <p:nvPr/>
        </p:nvSpPr>
        <p:spPr>
          <a:xfrm>
            <a:off x="8483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3" name="Text 10"/>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Demo 1: la misma consulta con y sin el bloque Formato.</a:t>
            </a:r>
            <a:endParaRPr lang="en-US" sz="1600" dirty="0"/>
          </a:p>
        </p:txBody>
      </p:sp>
      <p:sp>
        <p:nvSpPr>
          <p:cNvPr id="14" name="Text 11"/>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08 / 25</a:t>
            </a:r>
            <a:endParaRPr lang="en-US" sz="1200" dirty="0"/>
          </a:p>
        </p:txBody>
      </p:sp>
      <p:pic>
        <p:nvPicPr>
          <p:cNvPr id="15"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Few-shot: ejemplos en la lista</a:t>
            </a:r>
            <a:endParaRPr lang="en-US" sz="3600" dirty="0"/>
          </a:p>
        </p:txBody>
      </p:sp>
      <p:pic>
        <p:nvPicPr>
          <p:cNvPr id="3" name="Image 0" descr="Few-shot: dos pares human y ai de ejemplo antes de la consulta real, dentro de la misma lista">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6300" y="3415705"/>
            <a:ext cx="16510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Tu código</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aplicación</a:t>
            </a:r>
            <a:endParaRPr lang="en-US" sz="1400" dirty="0"/>
          </a:p>
        </p:txBody>
      </p:sp>
      <p:sp>
        <p:nvSpPr>
          <p:cNvPr id="5" name="Text 2"/>
          <p:cNvSpPr/>
          <p:nvPr/>
        </p:nvSpPr>
        <p:spPr>
          <a:xfrm>
            <a:off x="3759200" y="1853605"/>
            <a:ext cx="308711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Lista de mensajes</a:t>
            </a:r>
            <a:endParaRPr lang="en-US" sz="1400" dirty="0"/>
          </a:p>
        </p:txBody>
      </p:sp>
      <p:sp>
        <p:nvSpPr>
          <p:cNvPr id="6" name="Text 3"/>
          <p:cNvSpPr/>
          <p:nvPr/>
        </p:nvSpPr>
        <p:spPr>
          <a:xfrm>
            <a:off x="3822700" y="22282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system · instrucciones</a:t>
            </a:r>
            <a:endParaRPr lang="en-US" sz="1400" dirty="0"/>
          </a:p>
        </p:txBody>
      </p:sp>
      <p:sp>
        <p:nvSpPr>
          <p:cNvPr id="7" name="Text 4"/>
          <p:cNvSpPr/>
          <p:nvPr/>
        </p:nvSpPr>
        <p:spPr>
          <a:xfrm>
            <a:off x="3822700" y="26600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ejemplo 1</a:t>
            </a:r>
            <a:endParaRPr lang="en-US" sz="1400" dirty="0"/>
          </a:p>
        </p:txBody>
      </p:sp>
      <p:sp>
        <p:nvSpPr>
          <p:cNvPr id="8" name="Text 5"/>
          <p:cNvSpPr/>
          <p:nvPr/>
        </p:nvSpPr>
        <p:spPr>
          <a:xfrm>
            <a:off x="3822700" y="30918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ai · categoría 1</a:t>
            </a:r>
            <a:endParaRPr lang="en-US" sz="1400" dirty="0"/>
          </a:p>
        </p:txBody>
      </p:sp>
      <p:sp>
        <p:nvSpPr>
          <p:cNvPr id="9" name="Text 6"/>
          <p:cNvSpPr/>
          <p:nvPr/>
        </p:nvSpPr>
        <p:spPr>
          <a:xfrm>
            <a:off x="3822700" y="35236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ejemplo 2</a:t>
            </a:r>
            <a:endParaRPr lang="en-US" sz="1400" dirty="0"/>
          </a:p>
        </p:txBody>
      </p:sp>
      <p:sp>
        <p:nvSpPr>
          <p:cNvPr id="10" name="Text 7"/>
          <p:cNvSpPr/>
          <p:nvPr/>
        </p:nvSpPr>
        <p:spPr>
          <a:xfrm>
            <a:off x="3822700" y="39554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ai · categoría 2</a:t>
            </a:r>
            <a:endParaRPr lang="en-US" sz="1400" dirty="0"/>
          </a:p>
        </p:txBody>
      </p:sp>
      <p:sp>
        <p:nvSpPr>
          <p:cNvPr id="11" name="Text 8"/>
          <p:cNvSpPr/>
          <p:nvPr/>
        </p:nvSpPr>
        <p:spPr>
          <a:xfrm>
            <a:off x="3822700" y="43872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consulta real</a:t>
            </a:r>
            <a:endParaRPr lang="en-US" sz="1400" dirty="0"/>
          </a:p>
        </p:txBody>
      </p:sp>
      <p:sp>
        <p:nvSpPr>
          <p:cNvPr id="12" name="Text 9"/>
          <p:cNvSpPr/>
          <p:nvPr/>
        </p:nvSpPr>
        <p:spPr>
          <a:xfrm>
            <a:off x="7987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13" name="Text 10"/>
          <p:cNvSpPr/>
          <p:nvPr/>
        </p:nvSpPr>
        <p:spPr>
          <a:xfrm>
            <a:off x="7987792" y="45968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4" name="Text 11"/>
          <p:cNvSpPr/>
          <p:nvPr/>
        </p:nvSpPr>
        <p:spPr>
          <a:xfrm>
            <a:off x="2628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arma</a:t>
            </a:r>
            <a:endParaRPr lang="en-US" sz="1400" dirty="0"/>
          </a:p>
        </p:txBody>
      </p:sp>
      <p:sp>
        <p:nvSpPr>
          <p:cNvPr id="15" name="Text 12"/>
          <p:cNvSpPr/>
          <p:nvPr/>
        </p:nvSpPr>
        <p:spPr>
          <a:xfrm>
            <a:off x="6946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envía</a:t>
            </a:r>
            <a:endParaRPr lang="en-US" sz="1400" dirty="0"/>
          </a:p>
        </p:txBody>
      </p:sp>
      <p:sp>
        <p:nvSpPr>
          <p:cNvPr id="16" name="Text 13"/>
          <p:cNvSpPr/>
          <p:nvPr/>
        </p:nvSpPr>
        <p:spPr>
          <a:xfrm>
            <a:off x="8991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7" name="Text 14"/>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ejemplo es un par human → ai que viaja antes de la consulta real.</a:t>
            </a:r>
            <a:endParaRPr lang="en-US" sz="1600" dirty="0"/>
          </a:p>
        </p:txBody>
      </p:sp>
      <p:sp>
        <p:nvSpPr>
          <p:cNvPr id="18" name="Text 15"/>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09 / 25</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Cuándo rinde el few-shot</a:t>
            </a:r>
            <a:endParaRPr lang="en-US" sz="3600" dirty="0"/>
          </a:p>
        </p:txBody>
      </p:sp>
      <p:sp>
        <p:nvSpPr>
          <p:cNvPr id="3" name="Shape 1"/>
          <p:cNvSpPr/>
          <p:nvPr/>
        </p:nvSpPr>
        <p:spPr>
          <a:xfrm>
            <a:off x="812800" y="1631355"/>
            <a:ext cx="10566400" cy="0"/>
          </a:xfrm>
          <a:prstGeom prst="line">
            <a:avLst/>
          </a:prstGeom>
          <a:noFill/>
          <a:ln w="12700">
            <a:solidFill>
              <a:srgbClr val="141413">
                <a:alpha val="22000"/>
              </a:srgbClr>
            </a:solidFill>
            <a:prstDash val="solid"/>
          </a:ln>
        </p:spPr>
      </p:sp>
      <p:sp>
        <p:nvSpPr>
          <p:cNvPr id="4" name="Shape 2"/>
          <p:cNvSpPr/>
          <p:nvPr/>
        </p:nvSpPr>
        <p:spPr>
          <a:xfrm>
            <a:off x="819150" y="1625005"/>
            <a:ext cx="0" cy="2516386"/>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726605"/>
          <a:ext cx="10299700" cy="2325886"/>
        </p:xfrm>
        <a:graphic>
          <a:graphicData uri="http://schemas.openxmlformats.org/drawingml/2006/table">
            <a:tbl>
              <a:tblPr/>
              <a:tblGrid>
                <a:gridCol w="5149850"/>
                <a:gridCol w="5149850"/>
              </a:tblGrid>
              <a:tr h="439241">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Cuándo rinde</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Cuándo solo gasta tokens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Enums con categorías parecidas entre sí</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Categorías ya obvias por el vocabulario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723702">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Campos con un formato específico que hay que replicar</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Texto libre sin restricción de forma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723702">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Ejemplos relevantes que resuelven errores observados</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Ejemplos redundantes sin mejora medida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Text 3"/>
          <p:cNvSpPr/>
          <p:nvPr/>
        </p:nvSpPr>
        <p:spPr>
          <a:xfrm>
            <a:off x="812800" y="444619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Regla A5: cada ejemplo se paga en tokens, en cada llamada.</a:t>
            </a:r>
            <a:endParaRPr lang="en-US" sz="1600" dirty="0"/>
          </a:p>
        </p:txBody>
      </p:sp>
      <p:sp>
        <p:nvSpPr>
          <p:cNvPr id="7" name="Text 4"/>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10 / 25</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2: 0, 2 y 4 ejemplos</a:t>
            </a:r>
            <a:endParaRPr lang="en-US" sz="3600" dirty="0"/>
          </a:p>
        </p:txBody>
      </p:sp>
      <p:sp>
        <p:nvSpPr>
          <p:cNvPr id="3" name="Shape 1"/>
          <p:cNvSpPr/>
          <p:nvPr/>
        </p:nvSpPr>
        <p:spPr>
          <a:xfrm>
            <a:off x="812800" y="1625005"/>
            <a:ext cx="6350000" cy="2001044"/>
          </a:xfrm>
          <a:prstGeom prst="roundRect">
            <a:avLst>
              <a:gd name="adj" fmla="val 1269"/>
            </a:avLst>
          </a:prstGeom>
          <a:solidFill>
            <a:srgbClr val="1E293B"/>
          </a:solidFill>
          <a:ln/>
        </p:spPr>
      </p:sp>
      <p:sp>
        <p:nvSpPr>
          <p:cNvPr id="4" name="Text 2"/>
          <p:cNvSpPr/>
          <p:nvPr/>
        </p:nvSpPr>
        <p:spPr>
          <a:xfrm>
            <a:off x="1016000" y="1828205"/>
            <a:ext cx="6121908" cy="1620044"/>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def construir_mensajes(consulta, n_ejemplos):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mensajes = [("system", SISTEMA)]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for texto, categoria in EJEMPLOS[:n_ejemplos]:</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mensajes.append(("human", texto))</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mensajes.append(("ai", categoria))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mensajes.append(("human", consulta))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return mensajes</a:t>
            </a:r>
            <a:endParaRPr lang="en-US" sz="1300" dirty="0"/>
          </a:p>
        </p:txBody>
      </p:sp>
      <p:sp>
        <p:nvSpPr>
          <p:cNvPr id="5" name="Shape 3"/>
          <p:cNvSpPr/>
          <p:nvPr/>
        </p:nvSpPr>
        <p:spPr>
          <a:xfrm>
            <a:off x="7569200" y="1631355"/>
            <a:ext cx="3810000" cy="0"/>
          </a:xfrm>
          <a:prstGeom prst="line">
            <a:avLst/>
          </a:prstGeom>
          <a:noFill/>
          <a:ln w="12700">
            <a:solidFill>
              <a:srgbClr val="141413">
                <a:alpha val="22000"/>
              </a:srgbClr>
            </a:solidFill>
            <a:prstDash val="solid"/>
          </a:ln>
        </p:spPr>
      </p:sp>
      <p:sp>
        <p:nvSpPr>
          <p:cNvPr id="6" name="Shape 4"/>
          <p:cNvSpPr/>
          <p:nvPr/>
        </p:nvSpPr>
        <p:spPr>
          <a:xfrm>
            <a:off x="7575550" y="1625005"/>
            <a:ext cx="0" cy="1734344"/>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08900" y="1726605"/>
          <a:ext cx="3543300" cy="1543844"/>
        </p:xfrm>
        <a:graphic>
          <a:graphicData uri="http://schemas.openxmlformats.org/drawingml/2006/table">
            <a:tbl>
              <a:tblPr/>
              <a:tblGrid>
                <a:gridCol w="1417320"/>
                <a:gridCol w="2125980"/>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Ejemplos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Resultado observado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[registrar en vivo]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[registrar en vivo]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[registrar en vivo]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8" name="Text 5"/>
          <p:cNvSpPr/>
          <p:nvPr/>
        </p:nvSpPr>
        <p:spPr>
          <a:xfrm>
            <a:off x="7569200" y="3511748"/>
            <a:ext cx="39243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El efecto depende del modelo, los ejemplos y las consultas.</a:t>
            </a:r>
            <a:endParaRPr lang="en-US" sz="1400" dirty="0"/>
          </a:p>
        </p:txBody>
      </p:sp>
      <p:sp>
        <p:nvSpPr>
          <p:cNvPr id="9" name="Text 6"/>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11 / 25</a:t>
            </a:r>
            <a:endParaRPr lang="en-US" sz="1200" dirty="0"/>
          </a:p>
        </p:txBody>
      </p:sp>
      <p:pic>
        <p:nvPicPr>
          <p:cNvPr id="10"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Few-shot fijo, historial creciente</a:t>
            </a:r>
            <a:endParaRPr lang="en-US" sz="3600" dirty="0"/>
          </a:p>
        </p:txBody>
      </p:sp>
      <p:pic>
        <p:nvPicPr>
          <p:cNvPr id="3" name="Image 0" descr="Parte fija de la lista (system y few-shot) y parte que crece con cada turno de conversación">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6300" y="3415705"/>
            <a:ext cx="16510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Tu código</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aplicación</a:t>
            </a:r>
            <a:endParaRPr lang="en-US" sz="1400" dirty="0"/>
          </a:p>
        </p:txBody>
      </p:sp>
      <p:sp>
        <p:nvSpPr>
          <p:cNvPr id="5" name="Text 2"/>
          <p:cNvSpPr/>
          <p:nvPr/>
        </p:nvSpPr>
        <p:spPr>
          <a:xfrm>
            <a:off x="3759200" y="1853605"/>
            <a:ext cx="308711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Lista de mensajes</a:t>
            </a:r>
            <a:endParaRPr lang="en-US" sz="1400" dirty="0"/>
          </a:p>
        </p:txBody>
      </p:sp>
      <p:sp>
        <p:nvSpPr>
          <p:cNvPr id="6" name="Text 3"/>
          <p:cNvSpPr/>
          <p:nvPr/>
        </p:nvSpPr>
        <p:spPr>
          <a:xfrm>
            <a:off x="3822700" y="22282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system · instrucciones</a:t>
            </a:r>
            <a:endParaRPr lang="en-US" sz="1400" dirty="0"/>
          </a:p>
        </p:txBody>
      </p:sp>
      <p:sp>
        <p:nvSpPr>
          <p:cNvPr id="7" name="Text 4"/>
          <p:cNvSpPr/>
          <p:nvPr/>
        </p:nvSpPr>
        <p:spPr>
          <a:xfrm>
            <a:off x="3822700" y="26600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few-shot · ejemplos</a:t>
            </a:r>
            <a:endParaRPr lang="en-US" sz="1400" dirty="0"/>
          </a:p>
        </p:txBody>
      </p:sp>
      <p:sp>
        <p:nvSpPr>
          <p:cNvPr id="8" name="Text 5"/>
          <p:cNvSpPr/>
          <p:nvPr/>
        </p:nvSpPr>
        <p:spPr>
          <a:xfrm>
            <a:off x="3822700" y="30918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turno 1</a:t>
            </a:r>
            <a:endParaRPr lang="en-US" sz="1400" dirty="0"/>
          </a:p>
        </p:txBody>
      </p:sp>
      <p:sp>
        <p:nvSpPr>
          <p:cNvPr id="9" name="Text 6"/>
          <p:cNvSpPr/>
          <p:nvPr/>
        </p:nvSpPr>
        <p:spPr>
          <a:xfrm>
            <a:off x="3822700" y="35236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ai · turno 1</a:t>
            </a:r>
            <a:endParaRPr lang="en-US" sz="1400" dirty="0"/>
          </a:p>
        </p:txBody>
      </p:sp>
      <p:sp>
        <p:nvSpPr>
          <p:cNvPr id="10" name="Text 7"/>
          <p:cNvSpPr/>
          <p:nvPr/>
        </p:nvSpPr>
        <p:spPr>
          <a:xfrm>
            <a:off x="3822700" y="39554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 turnos intermedios</a:t>
            </a:r>
            <a:endParaRPr lang="en-US" sz="1400" dirty="0"/>
          </a:p>
        </p:txBody>
      </p:sp>
      <p:sp>
        <p:nvSpPr>
          <p:cNvPr id="11" name="Text 8"/>
          <p:cNvSpPr/>
          <p:nvPr/>
        </p:nvSpPr>
        <p:spPr>
          <a:xfrm>
            <a:off x="3822700" y="4387255"/>
            <a:ext cx="29563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 · turno N</a:t>
            </a:r>
            <a:endParaRPr lang="en-US" sz="1400" dirty="0"/>
          </a:p>
        </p:txBody>
      </p:sp>
      <p:sp>
        <p:nvSpPr>
          <p:cNvPr id="12" name="Text 9"/>
          <p:cNvSpPr/>
          <p:nvPr/>
        </p:nvSpPr>
        <p:spPr>
          <a:xfrm>
            <a:off x="7987792" y="34157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(LLM)</a:t>
            </a:r>
            <a:endParaRPr lang="en-US" sz="1400" dirty="0"/>
          </a:p>
        </p:txBody>
      </p:sp>
      <p:sp>
        <p:nvSpPr>
          <p:cNvPr id="13" name="Text 10"/>
          <p:cNvSpPr/>
          <p:nvPr/>
        </p:nvSpPr>
        <p:spPr>
          <a:xfrm>
            <a:off x="7987792" y="45968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4" name="Text 11"/>
          <p:cNvSpPr/>
          <p:nvPr/>
        </p:nvSpPr>
        <p:spPr>
          <a:xfrm>
            <a:off x="2628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arma</a:t>
            </a:r>
            <a:endParaRPr lang="en-US" sz="1400" dirty="0"/>
          </a:p>
        </p:txBody>
      </p:sp>
      <p:sp>
        <p:nvSpPr>
          <p:cNvPr id="15" name="Text 12"/>
          <p:cNvSpPr/>
          <p:nvPr/>
        </p:nvSpPr>
        <p:spPr>
          <a:xfrm>
            <a:off x="6946900" y="3110905"/>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envía</a:t>
            </a:r>
            <a:endParaRPr lang="en-US" sz="1400" dirty="0"/>
          </a:p>
        </p:txBody>
      </p:sp>
      <p:sp>
        <p:nvSpPr>
          <p:cNvPr id="16" name="Text 13"/>
          <p:cNvSpPr/>
          <p:nvPr/>
        </p:nvSpPr>
        <p:spPr>
          <a:xfrm>
            <a:off x="8991600" y="4044355"/>
            <a:ext cx="1193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7" name="Text 14"/>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Arriba: costo fijo en cada llamada. Abajo: crece con cada turno.</a:t>
            </a:r>
            <a:endParaRPr lang="en-US" sz="1600" dirty="0"/>
          </a:p>
        </p:txBody>
      </p:sp>
      <p:sp>
        <p:nvSpPr>
          <p:cNvPr id="18" name="Text 15"/>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12 / 25</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 que el modelo lee: el JSON Schema</a:t>
            </a:r>
            <a:endParaRPr lang="en-US" sz="3600" dirty="0"/>
          </a:p>
        </p:txBody>
      </p:sp>
      <p:sp>
        <p:nvSpPr>
          <p:cNvPr id="3" name="Shape 1"/>
          <p:cNvSpPr/>
          <p:nvPr/>
        </p:nvSpPr>
        <p:spPr>
          <a:xfrm>
            <a:off x="812800" y="1625005"/>
            <a:ext cx="6997700" cy="3937000"/>
          </a:xfrm>
          <a:prstGeom prst="roundRect">
            <a:avLst>
              <a:gd name="adj" fmla="val 2581"/>
            </a:avLst>
          </a:prstGeom>
          <a:solidFill>
            <a:srgbClr val="FFFFFF"/>
          </a:solidFill>
          <a:ln/>
        </p:spPr>
      </p:sp>
      <p:pic>
        <p:nvPicPr>
          <p:cNvPr id="4" name="Image 0" descr="IMG-S00-006: entorno, secretos y configuración; el panel Pydantic v2 muestra que el description del Field llega al modelo a través de model_json_schema()">    </p:cNvPr>
          <p:cNvPicPr>
            <a:picLocks noChangeAspect="1"/>
          </p:cNvPicPr>
          <p:nvPr/>
        </p:nvPicPr>
        <p:blipFill>
          <a:blip r:embed="rId1"/>
          <a:srcRect l="-16" r="-16" t="0" b="0"/>
          <a:stretch/>
        </p:blipFill>
        <p:spPr>
          <a:xfrm>
            <a:off x="812800" y="1625005"/>
            <a:ext cx="6997700" cy="3937000"/>
          </a:xfrm>
          <a:prstGeom prst="roundRect">
            <a:avLst>
              <a:gd name="adj" fmla="val 2581"/>
            </a:avLst>
          </a:prstGeom>
        </p:spPr>
      </p:pic>
      <p:sp>
        <p:nvSpPr>
          <p:cNvPr id="5" name="Shape 2"/>
          <p:cNvSpPr/>
          <p:nvPr/>
        </p:nvSpPr>
        <p:spPr>
          <a:xfrm>
            <a:off x="8128000" y="1637705"/>
            <a:ext cx="3238500" cy="2314178"/>
          </a:xfrm>
          <a:prstGeom prst="roundRect">
            <a:avLst>
              <a:gd name="adj" fmla="val 3842"/>
            </a:avLst>
          </a:prstGeom>
          <a:solidFill>
            <a:srgbClr val="FFF0EB"/>
          </a:solidFill>
          <a:ln w="25400">
            <a:solidFill>
              <a:srgbClr val="FF5733"/>
            </a:solidFill>
            <a:prstDash val="solid"/>
          </a:ln>
        </p:spPr>
      </p:sp>
      <p:sp>
        <p:nvSpPr>
          <p:cNvPr id="6" name="Text 3"/>
          <p:cNvSpPr/>
          <p:nvPr/>
        </p:nvSpPr>
        <p:spPr>
          <a:xfrm>
            <a:off x="8343900" y="1853605"/>
            <a:ext cx="2890901"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Foco: panel Pydantic v2</a:t>
            </a:r>
            <a:endParaRPr lang="en-US" sz="2200" dirty="0"/>
          </a:p>
        </p:txBody>
      </p:sp>
      <p:sp>
        <p:nvSpPr>
          <p:cNvPr id="7" name="Text 4"/>
          <p:cNvSpPr/>
          <p:nvPr/>
        </p:nvSpPr>
        <p:spPr>
          <a:xfrm>
            <a:off x="8343900" y="2614414"/>
            <a:ext cx="2890901" cy="1146969"/>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Abajo a la izquierda: Field(description=...) → model_json_schema() → el modelo lo lee.</a:t>
            </a:r>
            <a:endParaRPr lang="en-US" sz="1600" dirty="0"/>
          </a:p>
        </p:txBody>
      </p:sp>
      <p:sp>
        <p:nvSpPr>
          <p:cNvPr id="8" name="Text 5"/>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13 / 25</a:t>
            </a:r>
            <a:endParaRPr lang="en-US" sz="1200" dirty="0"/>
          </a:p>
        </p:txBody>
      </p:sp>
      <p:pic>
        <p:nvPicPr>
          <p:cNvPr id="9"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esquema valida la forma</a:t>
            </a:r>
            <a:endParaRPr lang="en-US" sz="3600" dirty="0"/>
          </a:p>
        </p:txBody>
      </p:sp>
      <p:pic>
        <p:nvPicPr>
          <p:cNvPr id="3" name="Image 0" descr="with_structured_output: consulta, modelo con esquema, validación Pydantic; salida válida da un objeto tipado, inválida un ValidationError">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6300" y="2590205"/>
            <a:ext cx="13970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5" name="Text 2"/>
          <p:cNvSpPr/>
          <p:nvPr/>
        </p:nvSpPr>
        <p:spPr>
          <a:xfrm>
            <a:off x="3159887" y="2590205"/>
            <a:ext cx="19098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 esquema</a:t>
            </a:r>
            <a:endParaRPr lang="en-US" sz="1400" dirty="0"/>
          </a:p>
        </p:txBody>
      </p:sp>
      <p:sp>
        <p:nvSpPr>
          <p:cNvPr id="6" name="Text 3"/>
          <p:cNvSpPr/>
          <p:nvPr/>
        </p:nvSpPr>
        <p:spPr>
          <a:xfrm>
            <a:off x="5955792" y="25902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Validación Pydantic</a:t>
            </a:r>
            <a:endParaRPr lang="en-US" sz="1400" dirty="0"/>
          </a:p>
        </p:txBody>
      </p:sp>
      <p:sp>
        <p:nvSpPr>
          <p:cNvPr id="7" name="Text 4"/>
          <p:cNvSpPr/>
          <p:nvPr/>
        </p:nvSpPr>
        <p:spPr>
          <a:xfrm>
            <a:off x="9124696" y="259020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Objeto tipado</a:t>
            </a:r>
            <a:endParaRPr lang="en-US" sz="1400" dirty="0"/>
          </a:p>
        </p:txBody>
      </p:sp>
      <p:sp>
        <p:nvSpPr>
          <p:cNvPr id="8" name="Text 5"/>
          <p:cNvSpPr/>
          <p:nvPr/>
        </p:nvSpPr>
        <p:spPr>
          <a:xfrm>
            <a:off x="5955792" y="46222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ValidationError</a:t>
            </a:r>
            <a:endParaRPr lang="en-US" sz="1400" dirty="0"/>
          </a:p>
        </p:txBody>
      </p:sp>
      <p:sp>
        <p:nvSpPr>
          <p:cNvPr id="9" name="Text 6"/>
          <p:cNvSpPr/>
          <p:nvPr/>
        </p:nvSpPr>
        <p:spPr>
          <a:xfrm>
            <a:off x="2362200" y="2285405"/>
            <a:ext cx="7112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envía</a:t>
            </a:r>
            <a:endParaRPr lang="en-US" sz="1400" dirty="0"/>
          </a:p>
        </p:txBody>
      </p:sp>
      <p:sp>
        <p:nvSpPr>
          <p:cNvPr id="10" name="Text 7"/>
          <p:cNvSpPr/>
          <p:nvPr/>
        </p:nvSpPr>
        <p:spPr>
          <a:xfrm>
            <a:off x="5156200" y="2285405"/>
            <a:ext cx="7112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1" name="Text 8"/>
          <p:cNvSpPr/>
          <p:nvPr/>
        </p:nvSpPr>
        <p:spPr>
          <a:xfrm>
            <a:off x="7899400" y="2285405"/>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válida</a:t>
            </a:r>
            <a:endParaRPr lang="en-US" sz="1400" dirty="0"/>
          </a:p>
        </p:txBody>
      </p:sp>
      <p:sp>
        <p:nvSpPr>
          <p:cNvPr id="12" name="Text 9"/>
          <p:cNvSpPr/>
          <p:nvPr/>
        </p:nvSpPr>
        <p:spPr>
          <a:xfrm>
            <a:off x="6959600" y="345380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inválida</a:t>
            </a:r>
            <a:endParaRPr lang="en-US" sz="1400" dirty="0"/>
          </a:p>
        </p:txBody>
      </p:sp>
      <p:sp>
        <p:nvSpPr>
          <p:cNvPr id="13" name="Text 10"/>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Una categoría fuera del Enum puede producir ValidationError durante invoke().</a:t>
            </a:r>
            <a:endParaRPr lang="en-US" sz="1600" dirty="0"/>
          </a:p>
        </p:txBody>
      </p:sp>
      <p:sp>
        <p:nvSpPr>
          <p:cNvPr id="14" name="Text 11"/>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14 / 25</a:t>
            </a:r>
            <a:endParaRPr lang="en-US" sz="1200" dirty="0"/>
          </a:p>
        </p:txBody>
      </p:sp>
      <p:pic>
        <p:nvPicPr>
          <p:cNvPr id="15"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 objeto válido puede estar mal</a:t>
            </a:r>
            <a:endParaRPr lang="en-US" sz="3600" dirty="0"/>
          </a:p>
        </p:txBody>
      </p:sp>
      <p:pic>
        <p:nvPicPr>
          <p:cNvPr id="3" name="Image 0" descr="Un objeto tipado válido no demuestra que la categoría sea correcta; eso se mide en el L2">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6300" y="2590205"/>
            <a:ext cx="13970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5" name="Text 2"/>
          <p:cNvSpPr/>
          <p:nvPr/>
        </p:nvSpPr>
        <p:spPr>
          <a:xfrm>
            <a:off x="3159887" y="2590205"/>
            <a:ext cx="19098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 + esquema</a:t>
            </a:r>
            <a:endParaRPr lang="en-US" sz="1400" dirty="0"/>
          </a:p>
        </p:txBody>
      </p:sp>
      <p:sp>
        <p:nvSpPr>
          <p:cNvPr id="6" name="Text 3"/>
          <p:cNvSpPr/>
          <p:nvPr/>
        </p:nvSpPr>
        <p:spPr>
          <a:xfrm>
            <a:off x="5955792" y="25902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Validación Pydantic</a:t>
            </a:r>
            <a:endParaRPr lang="en-US" sz="1400" dirty="0"/>
          </a:p>
        </p:txBody>
      </p:sp>
      <p:sp>
        <p:nvSpPr>
          <p:cNvPr id="7" name="Text 4"/>
          <p:cNvSpPr/>
          <p:nvPr/>
        </p:nvSpPr>
        <p:spPr>
          <a:xfrm>
            <a:off x="9124696" y="259020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Objeto tipado</a:t>
            </a:r>
            <a:endParaRPr lang="en-US" sz="1400" dirty="0"/>
          </a:p>
        </p:txBody>
      </p:sp>
      <p:sp>
        <p:nvSpPr>
          <p:cNvPr id="8" name="Text 5"/>
          <p:cNvSpPr/>
          <p:nvPr/>
        </p:nvSpPr>
        <p:spPr>
          <a:xfrm>
            <a:off x="5955792" y="4622205"/>
            <a:ext cx="177901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ValidationError</a:t>
            </a:r>
            <a:endParaRPr lang="en-US" sz="1400" dirty="0"/>
          </a:p>
        </p:txBody>
      </p:sp>
      <p:sp>
        <p:nvSpPr>
          <p:cNvPr id="9" name="Text 6"/>
          <p:cNvSpPr/>
          <p:nvPr/>
        </p:nvSpPr>
        <p:spPr>
          <a:xfrm>
            <a:off x="9124696" y="4330105"/>
            <a:ext cx="2197608"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¿Categoría correcta?</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se mide en el L2</a:t>
            </a:r>
            <a:endParaRPr lang="en-US" sz="1400" dirty="0"/>
          </a:p>
        </p:txBody>
      </p:sp>
      <p:sp>
        <p:nvSpPr>
          <p:cNvPr id="10" name="Text 7"/>
          <p:cNvSpPr/>
          <p:nvPr/>
        </p:nvSpPr>
        <p:spPr>
          <a:xfrm>
            <a:off x="2362200" y="2285405"/>
            <a:ext cx="7112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envía</a:t>
            </a:r>
            <a:endParaRPr lang="en-US" sz="1400" dirty="0"/>
          </a:p>
        </p:txBody>
      </p:sp>
      <p:sp>
        <p:nvSpPr>
          <p:cNvPr id="11" name="Text 8"/>
          <p:cNvSpPr/>
          <p:nvPr/>
        </p:nvSpPr>
        <p:spPr>
          <a:xfrm>
            <a:off x="5156200" y="2285405"/>
            <a:ext cx="7112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a:t>
            </a:r>
            <a:endParaRPr lang="en-US" sz="1400" dirty="0"/>
          </a:p>
        </p:txBody>
      </p:sp>
      <p:sp>
        <p:nvSpPr>
          <p:cNvPr id="12" name="Text 9"/>
          <p:cNvSpPr/>
          <p:nvPr/>
        </p:nvSpPr>
        <p:spPr>
          <a:xfrm>
            <a:off x="7899400" y="2285405"/>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válida</a:t>
            </a:r>
            <a:endParaRPr lang="en-US" sz="1400" dirty="0"/>
          </a:p>
        </p:txBody>
      </p:sp>
      <p:sp>
        <p:nvSpPr>
          <p:cNvPr id="13" name="Text 10"/>
          <p:cNvSpPr/>
          <p:nvPr/>
        </p:nvSpPr>
        <p:spPr>
          <a:xfrm>
            <a:off x="6959600" y="345380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inválida</a:t>
            </a:r>
            <a:endParaRPr lang="en-US" sz="1400" dirty="0"/>
          </a:p>
        </p:txBody>
      </p:sp>
      <p:sp>
        <p:nvSpPr>
          <p:cNvPr id="14" name="Text 11"/>
          <p:cNvSpPr/>
          <p:nvPr/>
        </p:nvSpPr>
        <p:spPr>
          <a:xfrm>
            <a:off x="10337800" y="345380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se mide</a:t>
            </a:r>
            <a:endParaRPr lang="en-US" sz="1400" dirty="0"/>
          </a:p>
        </p:txBody>
      </p:sp>
      <p:sp>
        <p:nvSpPr>
          <p:cNvPr id="15" name="Text 12"/>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Ejemplo (Banco Inti): consulta de saldo con esquema válido e intención equivocada.</a:t>
            </a:r>
            <a:endParaRPr lang="en-US" sz="1600" dirty="0"/>
          </a:p>
        </p:txBody>
      </p:sp>
      <p:sp>
        <p:nvSpPr>
          <p:cNvPr id="16" name="Text 13"/>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15 / 25</a:t>
            </a:r>
            <a:endParaRPr lang="en-US" sz="1200" dirty="0"/>
          </a:p>
        </p:txBody>
      </p:sp>
      <p:pic>
        <p:nvPicPr>
          <p:cNvPr id="17"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3: crudo frente a robusto</a:t>
            </a:r>
            <a:endParaRPr lang="en-US" sz="3600" dirty="0"/>
          </a:p>
        </p:txBody>
      </p:sp>
      <p:sp>
        <p:nvSpPr>
          <p:cNvPr id="3" name="Text 1"/>
          <p:cNvSpPr/>
          <p:nvPr/>
        </p:nvSpPr>
        <p:spPr>
          <a:xfrm>
            <a:off x="812800" y="1625005"/>
            <a:ext cx="528472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Camino crudo</a:t>
            </a:r>
            <a:endParaRPr lang="en-US" sz="2200" dirty="0"/>
          </a:p>
        </p:txBody>
      </p:sp>
      <p:sp>
        <p:nvSpPr>
          <p:cNvPr id="4" name="Shape 2"/>
          <p:cNvSpPr/>
          <p:nvPr/>
        </p:nvSpPr>
        <p:spPr>
          <a:xfrm>
            <a:off x="812800" y="2107009"/>
            <a:ext cx="5130800" cy="1317625"/>
          </a:xfrm>
          <a:prstGeom prst="roundRect">
            <a:avLst>
              <a:gd name="adj" fmla="val 1928"/>
            </a:avLst>
          </a:prstGeom>
          <a:solidFill>
            <a:srgbClr val="1E293B"/>
          </a:solidFill>
          <a:ln/>
        </p:spPr>
      </p:sp>
      <p:sp>
        <p:nvSpPr>
          <p:cNvPr id="5" name="Text 3"/>
          <p:cNvSpPr/>
          <p:nvPr/>
        </p:nvSpPr>
        <p:spPr>
          <a:xfrm>
            <a:off x="1016000" y="2310209"/>
            <a:ext cx="4866132" cy="936625"/>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estructurado = modelo.with_structured_output(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Intencion)</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resultado = estructurado.invoke(consulta)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excepción, None u objeto válido</a:t>
            </a:r>
            <a:endParaRPr lang="en-US" sz="1300" dirty="0"/>
          </a:p>
        </p:txBody>
      </p:sp>
      <p:sp>
        <p:nvSpPr>
          <p:cNvPr id="6" name="Text 4"/>
          <p:cNvSpPr/>
          <p:nvPr/>
        </p:nvSpPr>
        <p:spPr>
          <a:xfrm>
            <a:off x="6248400" y="1625005"/>
            <a:ext cx="528472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Camino robusto</a:t>
            </a:r>
            <a:endParaRPr lang="en-US" sz="2200" dirty="0"/>
          </a:p>
        </p:txBody>
      </p:sp>
      <p:sp>
        <p:nvSpPr>
          <p:cNvPr id="7" name="Shape 5"/>
          <p:cNvSpPr/>
          <p:nvPr/>
        </p:nvSpPr>
        <p:spPr>
          <a:xfrm>
            <a:off x="6248400" y="2107009"/>
            <a:ext cx="5130800" cy="1545431"/>
          </a:xfrm>
          <a:prstGeom prst="roundRect">
            <a:avLst>
              <a:gd name="adj" fmla="val 1644"/>
            </a:avLst>
          </a:prstGeom>
          <a:solidFill>
            <a:srgbClr val="1E293B"/>
          </a:solidFill>
          <a:ln/>
        </p:spPr>
      </p:sp>
      <p:sp>
        <p:nvSpPr>
          <p:cNvPr id="8" name="Text 6"/>
          <p:cNvSpPr/>
          <p:nvPr/>
        </p:nvSpPr>
        <p:spPr>
          <a:xfrm>
            <a:off x="6451600" y="2310209"/>
            <a:ext cx="4866132" cy="1164431"/>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r = extraer_con_detalle(</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modelo, Intencion, consulta,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reintentos=1)</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r.datos, r.intentos, r.errores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o ExtraccionFallida explícita</a:t>
            </a:r>
            <a:endParaRPr lang="en-US" sz="1300" dirty="0"/>
          </a:p>
        </p:txBody>
      </p:sp>
      <p:sp>
        <p:nvSpPr>
          <p:cNvPr id="9" name="Text 7"/>
          <p:cNvSpPr/>
          <p:nvPr/>
        </p:nvSpPr>
        <p:spPr>
          <a:xfrm>
            <a:off x="812800" y="395724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El fallo no está garantizado: se registra lo que ocurra.</a:t>
            </a:r>
            <a:endParaRPr lang="en-US" sz="1600" dirty="0"/>
          </a:p>
        </p:txBody>
      </p:sp>
      <p:sp>
        <p:nvSpPr>
          <p:cNvPr id="10" name="Text 8"/>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16 / 25</a:t>
            </a:r>
            <a:endParaRPr lang="en-US" sz="1200" dirty="0"/>
          </a:p>
        </p:txBody>
      </p:sp>
      <p:pic>
        <p:nvPicPr>
          <p:cNvPr id="11"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11870"/>
          </a:xfrm>
          <a:prstGeom prst="rect">
            <a:avLst/>
          </a:prstGeom>
          <a:noFill/>
          <a:ln/>
        </p:spPr>
        <p:txBody>
          <a:bodyPr wrap="square" lIns="0" tIns="0" rIns="0" bIns="0" rtlCol="0" anchor="t">
            <a:normAutofit/>
          </a:bodyPr>
          <a:lstStyle/>
          <a:p>
            <a:pPr algn="l" indent="0" marL="0">
              <a:lnSpc>
                <a:spcPts val="3871"/>
              </a:lnSpc>
              <a:buNone/>
            </a:pPr>
            <a:r>
              <a:rPr lang="en-US" sz="3488" b="1" spc="-35" kern="0" dirty="0">
                <a:solidFill>
                  <a:srgbClr val="1E293B"/>
                </a:solidFill>
                <a:latin typeface="IBM Plex Sans" pitchFamily="34" charset="0"/>
                <a:ea typeface="IBM Plex Sans" pitchFamily="34" charset="-122"/>
                <a:cs typeface="IBM Plex Sans" pitchFamily="34" charset="-120"/>
              </a:rPr>
              <a:t>extraer(): recuperación acotada</a:t>
            </a:r>
            <a:endParaRPr lang="en-US" sz="3488" dirty="0"/>
          </a:p>
        </p:txBody>
      </p:sp>
      <p:sp>
        <p:nvSpPr>
          <p:cNvPr id="3" name="Shape 1"/>
          <p:cNvSpPr/>
          <p:nvPr/>
        </p:nvSpPr>
        <p:spPr>
          <a:xfrm>
            <a:off x="2168525" y="1604070"/>
            <a:ext cx="7854950" cy="4237930"/>
          </a:xfrm>
          <a:prstGeom prst="roundRect">
            <a:avLst>
              <a:gd name="adj" fmla="val 2397"/>
            </a:avLst>
          </a:prstGeom>
          <a:solidFill>
            <a:srgbClr val="FFFFFF"/>
          </a:solidFill>
          <a:ln/>
        </p:spPr>
      </p:sp>
      <p:pic>
        <p:nvPicPr>
          <p:cNvPr id="4" name="Image 0" descr="IMG-M01-S02-001: Structured Output. Consulta, modelo más esquema, validación Pydantic; si es válida, objeto tipado; primer error, un reintento que vuelve al modelo; segundo error, ExtraccionFallida. Validez no es veracidad.">    </p:cNvPr>
          <p:cNvPicPr>
            <a:picLocks noChangeAspect="1"/>
          </p:cNvPicPr>
          <p:nvPr/>
        </p:nvPicPr>
        <p:blipFill>
          <a:blip r:embed="rId1"/>
          <a:stretch>
            <a:fillRect/>
          </a:stretch>
        </p:blipFill>
        <p:spPr>
          <a:xfrm>
            <a:off x="2330952" y="1604070"/>
            <a:ext cx="7530095" cy="4237930"/>
          </a:xfrm>
          <a:prstGeom prst="rect">
            <a:avLst/>
          </a:prstGeom>
        </p:spPr>
      </p:pic>
      <p:sp>
        <p:nvSpPr>
          <p:cNvPr id="5" name="Text 2"/>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17 / 25</a:t>
            </a:r>
            <a:endParaRPr lang="en-US" sz="1200" dirty="0"/>
          </a:p>
        </p:txBody>
      </p:sp>
      <p:pic>
        <p:nvPicPr>
          <p:cNvPr id="6"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 solo reintento, por presupuesto</a:t>
            </a:r>
            <a:endParaRPr lang="en-US" sz="3600" dirty="0"/>
          </a:p>
        </p:txBody>
      </p:sp>
      <p:sp>
        <p:nvSpPr>
          <p:cNvPr id="3" name="Shape 1"/>
          <p:cNvSpPr/>
          <p:nvPr/>
        </p:nvSpPr>
        <p:spPr>
          <a:xfrm>
            <a:off x="812800" y="1625005"/>
            <a:ext cx="6604000" cy="2456656"/>
          </a:xfrm>
          <a:prstGeom prst="roundRect">
            <a:avLst>
              <a:gd name="adj" fmla="val 1034"/>
            </a:avLst>
          </a:prstGeom>
          <a:solidFill>
            <a:srgbClr val="1E293B"/>
          </a:solidFill>
          <a:ln/>
        </p:spPr>
      </p:sp>
      <p:sp>
        <p:nvSpPr>
          <p:cNvPr id="4" name="Text 2"/>
          <p:cNvSpPr/>
          <p:nvPr/>
        </p:nvSpPr>
        <p:spPr>
          <a:xfrm>
            <a:off x="1016000" y="1828205"/>
            <a:ext cx="6383528" cy="207565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Extracto de comun/structured.py</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for intento in range(1, reintentos + 2):</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 # invoke y comprobación del retorno</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errores.append(error)</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if intento &lt;= reintentos: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mensajes.append({"role": "user",</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"content": _instruccion_correctiva(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esquema, error)})</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raise ExtraccionFallida(...)</a:t>
            </a:r>
            <a:endParaRPr lang="en-US" sz="1300" dirty="0"/>
          </a:p>
        </p:txBody>
      </p:sp>
      <p:sp>
        <p:nvSpPr>
          <p:cNvPr id="5" name="Shape 3"/>
          <p:cNvSpPr/>
          <p:nvPr/>
        </p:nvSpPr>
        <p:spPr>
          <a:xfrm>
            <a:off x="7727950" y="1631355"/>
            <a:ext cx="3644900" cy="419100"/>
          </a:xfrm>
          <a:prstGeom prst="roundRect">
            <a:avLst>
              <a:gd name="adj" fmla="val 22727"/>
            </a:avLst>
          </a:prstGeom>
          <a:solidFill>
            <a:srgbClr val="FFFFFF"/>
          </a:solidFill>
          <a:ln w="12700">
            <a:solidFill>
              <a:srgbClr val="1E293B"/>
            </a:solidFill>
            <a:prstDash val="solid"/>
          </a:ln>
        </p:spPr>
      </p:sp>
      <p:sp>
        <p:nvSpPr>
          <p:cNvPr id="6" name="Text 4"/>
          <p:cNvSpPr/>
          <p:nvPr/>
        </p:nvSpPr>
        <p:spPr>
          <a:xfrm>
            <a:off x="7937500" y="1840905"/>
            <a:ext cx="3322574" cy="25400"/>
          </a:xfrm>
          <a:prstGeom prst="rect">
            <a:avLst/>
          </a:prstGeom>
          <a:noFill/>
          <a:ln/>
        </p:spPr>
        <p:txBody>
          <a:bodyPr wrap="square" lIns="0" tIns="0" rIns="0" bIns="0" rtlCol="0" anchor="t">
            <a:normAutofit/>
          </a:bodyPr>
          <a:lstStyle/>
          <a:p>
            <a:pPr algn="l" indent="0" marL="0">
              <a:lnSpc>
                <a:spcPts val="1558"/>
              </a:lnSpc>
              <a:buNone/>
            </a:pPr>
            <a:r>
              <a:rPr lang="en-US" sz="1320" dirty="0">
                <a:solidFill>
                  <a:srgbClr val="1E293B"/>
                </a:solidFill>
                <a:latin typeface="IBM Plex Sans" pitchFamily="34" charset="0"/>
                <a:ea typeface="IBM Plex Sans" pitchFamily="34" charset="-122"/>
                <a:cs typeface="IBM Plex Sans" pitchFamily="34" charset="-120"/>
              </a:rPr>
              <a:t>reintentos=1</a:t>
            </a:r>
            <a:endParaRPr lang="en-US" sz="1320" dirty="0"/>
          </a:p>
        </p:txBody>
      </p:sp>
      <p:sp>
        <p:nvSpPr>
          <p:cNvPr id="7" name="Text 5"/>
          <p:cNvSpPr/>
          <p:nvPr/>
        </p:nvSpPr>
        <p:spPr>
          <a:xfrm>
            <a:off x="7937500" y="1942505"/>
            <a:ext cx="3322574" cy="25400"/>
          </a:xfrm>
          <a:prstGeom prst="rect">
            <a:avLst/>
          </a:prstGeom>
          <a:noFill/>
          <a:ln/>
        </p:spPr>
        <p:txBody>
          <a:bodyPr wrap="square" lIns="0" tIns="0" rIns="0" bIns="0" rtlCol="0" anchor="t">
            <a:normAutofit/>
          </a:bodyPr>
          <a:lstStyle/>
          <a:p>
            <a:pPr algn="l" indent="0" marL="0">
              <a:lnSpc>
                <a:spcPts val="1016"/>
              </a:lnSpc>
              <a:buNone/>
            </a:pPr>
            <a:r>
              <a:rPr lang="en-US" sz="840" dirty="0">
                <a:solidFill>
                  <a:srgbClr val="1E293B"/>
                </a:solidFill>
                <a:latin typeface="IBM Plex Sans" pitchFamily="34" charset="0"/>
                <a:ea typeface="IBM Plex Sans" pitchFamily="34" charset="-122"/>
                <a:cs typeface="IBM Plex Sans" pitchFamily="34" charset="-120"/>
              </a:rPr>
              <a:t>Presupuesto del curso para limitar costo y latencia; es configurable.</a:t>
            </a:r>
            <a:endParaRPr lang="en-US" sz="840" dirty="0"/>
          </a:p>
        </p:txBody>
      </p:sp>
      <p:sp>
        <p:nvSpPr>
          <p:cNvPr id="8" name="Shape 6"/>
          <p:cNvSpPr/>
          <p:nvPr/>
        </p:nvSpPr>
        <p:spPr>
          <a:xfrm>
            <a:off x="7734300" y="2272705"/>
            <a:ext cx="3632200" cy="431800"/>
          </a:xfrm>
          <a:prstGeom prst="roundRect">
            <a:avLst>
              <a:gd name="adj" fmla="val 20588"/>
            </a:avLst>
          </a:prstGeom>
          <a:solidFill>
            <a:srgbClr val="FFF0EB"/>
          </a:solidFill>
          <a:ln w="25400">
            <a:solidFill>
              <a:srgbClr val="FF5733"/>
            </a:solidFill>
            <a:prstDash val="solid"/>
          </a:ln>
        </p:spPr>
      </p:sp>
      <p:sp>
        <p:nvSpPr>
          <p:cNvPr id="9" name="Text 7"/>
          <p:cNvSpPr/>
          <p:nvPr/>
        </p:nvSpPr>
        <p:spPr>
          <a:xfrm>
            <a:off x="7950200" y="2488605"/>
            <a:ext cx="3296412" cy="25400"/>
          </a:xfrm>
          <a:prstGeom prst="rect">
            <a:avLst/>
          </a:prstGeom>
          <a:noFill/>
          <a:ln/>
        </p:spPr>
        <p:txBody>
          <a:bodyPr wrap="square" lIns="0" tIns="0" rIns="0" bIns="0" rtlCol="0" anchor="t">
            <a:normAutofit/>
          </a:bodyPr>
          <a:lstStyle/>
          <a:p>
            <a:pPr algn="l" indent="0" marL="0">
              <a:lnSpc>
                <a:spcPts val="1558"/>
              </a:lnSpc>
              <a:buNone/>
            </a:pPr>
            <a:r>
              <a:rPr lang="en-US" sz="1320" dirty="0">
                <a:solidFill>
                  <a:srgbClr val="1E293B"/>
                </a:solidFill>
                <a:latin typeface="IBM Plex Sans" pitchFamily="34" charset="0"/>
                <a:ea typeface="IBM Plex Sans" pitchFamily="34" charset="-122"/>
                <a:cs typeface="IBM Plex Sans" pitchFamily="34" charset="-120"/>
              </a:rPr>
              <a:t>Dos fallos</a:t>
            </a:r>
            <a:endParaRPr lang="en-US" sz="1320" dirty="0"/>
          </a:p>
        </p:txBody>
      </p:sp>
      <p:sp>
        <p:nvSpPr>
          <p:cNvPr id="10" name="Text 8"/>
          <p:cNvSpPr/>
          <p:nvPr/>
        </p:nvSpPr>
        <p:spPr>
          <a:xfrm>
            <a:off x="7950200" y="2590205"/>
            <a:ext cx="3296412" cy="25400"/>
          </a:xfrm>
          <a:prstGeom prst="rect">
            <a:avLst/>
          </a:prstGeom>
          <a:noFill/>
          <a:ln/>
        </p:spPr>
        <p:txBody>
          <a:bodyPr wrap="square" lIns="0" tIns="0" rIns="0" bIns="0" rtlCol="0" anchor="t">
            <a:normAutofit/>
          </a:bodyPr>
          <a:lstStyle/>
          <a:p>
            <a:pPr algn="l" indent="0" marL="0">
              <a:lnSpc>
                <a:spcPts val="1016"/>
              </a:lnSpc>
              <a:buNone/>
            </a:pPr>
            <a:r>
              <a:rPr lang="en-US" sz="840" dirty="0">
                <a:solidFill>
                  <a:srgbClr val="1E293B"/>
                </a:solidFill>
                <a:latin typeface="IBM Plex Sans" pitchFamily="34" charset="0"/>
                <a:ea typeface="IBM Plex Sans" pitchFamily="34" charset="-122"/>
                <a:cs typeface="IBM Plex Sans" pitchFamily="34" charset="-120"/>
              </a:rPr>
              <a:t>Piden diagnóstico: prompt, esquema, infraestructura o proveedor.</a:t>
            </a:r>
            <a:endParaRPr lang="en-US" sz="840" dirty="0"/>
          </a:p>
        </p:txBody>
      </p:sp>
      <p:sp>
        <p:nvSpPr>
          <p:cNvPr id="11" name="Text 9"/>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18 / 25</a:t>
            </a:r>
            <a:endParaRPr lang="en-US" sz="1200" dirty="0"/>
          </a:p>
        </p:txBody>
      </p:sp>
      <p:pic>
        <p:nvPicPr>
          <p:cNvPr id="12"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F0F7"/>
        </a:solidFill>
      </p:bgPr>
    </p:bg>
    <p:spTree>
      <p:nvGrpSpPr>
        <p:cNvPr id="1" name=""/>
        <p:cNvGrpSpPr/>
        <p:nvPr/>
      </p:nvGrpSpPr>
      <p:grpSpPr>
        <a:xfrm>
          <a:off x="0" y="0"/>
          <a:ext cx="0" cy="0"/>
          <a:chOff x="0" y="0"/>
          <a:chExt cx="0" cy="0"/>
        </a:xfrm>
      </p:grpSpPr>
      <p:sp>
        <p:nvSpPr>
          <p:cNvPr id="2" name="Text 0"/>
          <p:cNvSpPr/>
          <p:nvPr/>
        </p:nvSpPr>
        <p:spPr>
          <a:xfrm>
            <a:off x="812800" y="2598738"/>
            <a:ext cx="10883392" cy="848320"/>
          </a:xfrm>
          <a:prstGeom prst="rect">
            <a:avLst/>
          </a:prstGeom>
          <a:noFill/>
          <a:ln/>
        </p:spPr>
        <p:txBody>
          <a:bodyPr wrap="square" lIns="0" tIns="0" rIns="0" bIns="0" rtlCol="0" anchor="t">
            <a:normAutofit/>
          </a:bodyPr>
          <a:lstStyle/>
          <a:p>
            <a:pPr algn="l" indent="0" marL="0">
              <a:lnSpc>
                <a:spcPts val="6480"/>
              </a:lnSpc>
              <a:buNone/>
            </a:pPr>
            <a:r>
              <a:rPr lang="en-US" sz="6000" b="1" dirty="0">
                <a:solidFill>
                  <a:srgbClr val="1E293B"/>
                </a:solidFill>
                <a:latin typeface="IBM Plex Sans" pitchFamily="34" charset="0"/>
                <a:ea typeface="IBM Plex Sans" pitchFamily="34" charset="-122"/>
                <a:cs typeface="IBM Plex Sans" pitchFamily="34" charset="-120"/>
              </a:rPr>
              <a:t>Pausa · 10 min</a:t>
            </a:r>
            <a:endParaRPr lang="en-US" sz="6000" dirty="0"/>
          </a:p>
        </p:txBody>
      </p:sp>
      <p:sp>
        <p:nvSpPr>
          <p:cNvPr id="3" name="Text 1"/>
          <p:cNvSpPr/>
          <p:nvPr/>
        </p:nvSpPr>
        <p:spPr>
          <a:xfrm>
            <a:off x="812800" y="3726458"/>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Al volver: el esquema Intencion de tu track.</a:t>
            </a:r>
            <a:endParaRPr lang="en-US" sz="2200" dirty="0"/>
          </a:p>
        </p:txBody>
      </p:sp>
      <p:sp>
        <p:nvSpPr>
          <p:cNvPr id="4" name="Text 2"/>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19 / 25</a:t>
            </a:r>
            <a:endParaRPr lang="en-US" sz="1200" dirty="0"/>
          </a:p>
        </p:txBody>
      </p:sp>
      <p:pic>
        <p:nvPicPr>
          <p:cNvPr id="5"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Práctica: el esquema Intencion</a:t>
            </a:r>
            <a:endParaRPr lang="en-US" sz="3600" dirty="0"/>
          </a:p>
        </p:txBody>
      </p:sp>
      <p:sp>
        <p:nvSpPr>
          <p:cNvPr id="3" name="Shape 1"/>
          <p:cNvSpPr/>
          <p:nvPr/>
        </p:nvSpPr>
        <p:spPr>
          <a:xfrm>
            <a:off x="812800" y="1625005"/>
            <a:ext cx="6985000" cy="2912269"/>
          </a:xfrm>
          <a:prstGeom prst="roundRect">
            <a:avLst>
              <a:gd name="adj" fmla="val 872"/>
            </a:avLst>
          </a:prstGeom>
          <a:solidFill>
            <a:srgbClr val="1E293B"/>
          </a:solidFill>
          <a:ln/>
        </p:spPr>
      </p:sp>
      <p:sp>
        <p:nvSpPr>
          <p:cNvPr id="4" name="Text 2"/>
          <p:cNvSpPr/>
          <p:nvPr/>
        </p:nvSpPr>
        <p:spPr>
          <a:xfrm>
            <a:off x="1016000" y="1828205"/>
            <a:ext cx="6775958" cy="253126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class CategoriaIntencion(str, Enum):</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CONSULTA_PLAN = "CONSULTA_PLAN"</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CONSULTA_CONSUMO = "CONSULTA_CONSUMO"</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AVERIA = "AVERIA"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RECLAMO = "RECLAMO"</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OTRO = "OTRO"</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class Intencion(BaseModel):</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categoria: CategoriaIntencion = Field(description=...)</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urgencia: Urgencia = Field(description=...)</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entidades: str | None = Field(default=None, ...)</a:t>
            </a:r>
            <a:endParaRPr lang="en-US" sz="1300" dirty="0"/>
          </a:p>
        </p:txBody>
      </p:sp>
      <p:sp>
        <p:nvSpPr>
          <p:cNvPr id="5" name="Text 3"/>
          <p:cNvSpPr/>
          <p:nvPr/>
        </p:nvSpPr>
        <p:spPr>
          <a:xfrm>
            <a:off x="8102600" y="1625005"/>
            <a:ext cx="3374898"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Checkpoint de telecomunicaciones (AndesMóvil).</a:t>
            </a:r>
            <a:endParaRPr lang="en-US" sz="1400" dirty="0"/>
          </a:p>
        </p:txBody>
      </p:sp>
      <p:sp>
        <p:nvSpPr>
          <p:cNvPr id="6" name="Text 4"/>
          <p:cNvSpPr/>
          <p:nvPr/>
        </p:nvSpPr>
        <p:spPr>
          <a:xfrm>
            <a:off x="8102600" y="2207617"/>
            <a:ext cx="337489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Tu equipo: el Enum de 5 categorías de su track, urgencia y entidades.</a:t>
            </a:r>
            <a:endParaRPr lang="en-US" sz="1600" dirty="0"/>
          </a:p>
        </p:txBody>
      </p:sp>
      <p:sp>
        <p:nvSpPr>
          <p:cNvPr id="7" name="Text 5"/>
          <p:cNvSpPr/>
          <p:nvPr/>
        </p:nvSpPr>
        <p:spPr>
          <a:xfrm>
            <a:off x="8102600" y="2920802"/>
            <a:ext cx="337489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Prueba el esquema con model_json_schema().</a:t>
            </a:r>
            <a:endParaRPr lang="en-US" sz="1600" dirty="0"/>
          </a:p>
        </p:txBody>
      </p:sp>
      <p:sp>
        <p:nvSpPr>
          <p:cNvPr id="8" name="Text 6"/>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20 / 25</a:t>
            </a:r>
            <a:endParaRPr lang="en-US" sz="1200" dirty="0"/>
          </a:p>
        </p:txBody>
      </p:sp>
      <p:pic>
        <p:nvPicPr>
          <p:cNvPr id="9"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categoría de hoy es la tool del L4</a:t>
            </a:r>
            <a:endParaRPr lang="en-US" sz="3600" dirty="0"/>
          </a:p>
        </p:txBody>
      </p:sp>
      <p:sp>
        <p:nvSpPr>
          <p:cNvPr id="3" name="Shape 1"/>
          <p:cNvSpPr/>
          <p:nvPr/>
        </p:nvSpPr>
        <p:spPr>
          <a:xfrm>
            <a:off x="812800" y="1631355"/>
            <a:ext cx="10566400" cy="0"/>
          </a:xfrm>
          <a:prstGeom prst="line">
            <a:avLst/>
          </a:prstGeom>
          <a:noFill/>
          <a:ln w="12700">
            <a:solidFill>
              <a:srgbClr val="141413">
                <a:alpha val="22000"/>
              </a:srgbClr>
            </a:solidFill>
            <a:prstDash val="solid"/>
          </a:ln>
        </p:spPr>
      </p:sp>
      <p:sp>
        <p:nvSpPr>
          <p:cNvPr id="4" name="Shape 2"/>
          <p:cNvSpPr/>
          <p:nvPr/>
        </p:nvSpPr>
        <p:spPr>
          <a:xfrm>
            <a:off x="819150" y="1625005"/>
            <a:ext cx="0" cy="2667000"/>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726605"/>
          <a:ext cx="10299700" cy="2476500"/>
        </p:xfrm>
        <a:graphic>
          <a:graphicData uri="http://schemas.openxmlformats.org/drawingml/2006/table">
            <a:tbl>
              <a:tblPr/>
              <a:tblGrid>
                <a:gridCol w="5149850"/>
                <a:gridCol w="5149850"/>
              </a:tblGrid>
              <a:tr h="412750">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Categoría (L2 · telecomunicaciones)</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Tool que la resolverá (L4 · se construye en S4)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CONSULTA_PLAN</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get_customer_plan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CONSULTA_CONSUMO</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get_data_usage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AVERIA</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run_line_diagnostics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RECLAMO</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create_complaint_ticket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OTRO</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ninguna: se responde con RAG en S5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Text 3"/>
          <p:cNvSpPr/>
          <p:nvPr/>
        </p:nvSpPr>
        <p:spPr>
          <a:xfrm>
            <a:off x="812800" y="45968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Banca, retail y seguros siguen el mismo patrón 1:1 (lab/README.md).</a:t>
            </a:r>
            <a:endParaRPr lang="en-US" sz="1400" dirty="0"/>
          </a:p>
        </p:txBody>
      </p:sp>
      <p:sp>
        <p:nvSpPr>
          <p:cNvPr id="7" name="Text 4"/>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21 / 25</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L2: cuatro archivos, un flujo</a:t>
            </a:r>
            <a:endParaRPr lang="en-US" sz="3600" dirty="0"/>
          </a:p>
        </p:txBody>
      </p:sp>
      <p:pic>
        <p:nvPicPr>
          <p:cNvPr id="3" name="Image 0" descr="Laboratorio L2: schemas.py y prompts.py alimentan clasificar.py, que llama a extraer(); medir_clasificador.py invoca clasificar con las consultas del golden set">    </p:cNvPr>
          <p:cNvPicPr>
            <a:picLocks noChangeAspect="1"/>
          </p:cNvPicPr>
          <p:nvPr/>
        </p:nvPicPr>
        <p:blipFill>
          <a:blip r:embed="rId1"/>
          <a:srcRect l="0" r="0" t="-17" b="-17"/>
          <a:stretch/>
        </p:blipFill>
        <p:spPr>
          <a:xfrm>
            <a:off x="812800" y="1625005"/>
            <a:ext cx="10566400" cy="3556000"/>
          </a:xfrm>
          <a:prstGeom prst="rect">
            <a:avLst/>
          </a:prstGeom>
        </p:spPr>
      </p:pic>
      <p:sp>
        <p:nvSpPr>
          <p:cNvPr id="4" name="Text 1"/>
          <p:cNvSpPr/>
          <p:nvPr/>
        </p:nvSpPr>
        <p:spPr>
          <a:xfrm>
            <a:off x="870077" y="1821855"/>
            <a:ext cx="217144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schemas.py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Intencion</a:t>
            </a:r>
            <a:endParaRPr lang="en-US" sz="1400" dirty="0"/>
          </a:p>
        </p:txBody>
      </p:sp>
      <p:sp>
        <p:nvSpPr>
          <p:cNvPr id="5" name="Text 2"/>
          <p:cNvSpPr/>
          <p:nvPr/>
        </p:nvSpPr>
        <p:spPr>
          <a:xfrm>
            <a:off x="870077" y="3409355"/>
            <a:ext cx="217144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prompts.py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construir_prompt()</a:t>
            </a:r>
            <a:endParaRPr lang="en-US" sz="1400" dirty="0"/>
          </a:p>
        </p:txBody>
      </p:sp>
      <p:sp>
        <p:nvSpPr>
          <p:cNvPr id="6" name="Text 3"/>
          <p:cNvSpPr/>
          <p:nvPr/>
        </p:nvSpPr>
        <p:spPr>
          <a:xfrm>
            <a:off x="4422267" y="2615605"/>
            <a:ext cx="243306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clasificar.py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clasificar()</a:t>
            </a:r>
            <a:endParaRPr lang="en-US" sz="1400" dirty="0"/>
          </a:p>
        </p:txBody>
      </p:sp>
      <p:sp>
        <p:nvSpPr>
          <p:cNvPr id="7" name="Text 4"/>
          <p:cNvSpPr/>
          <p:nvPr/>
        </p:nvSpPr>
        <p:spPr>
          <a:xfrm>
            <a:off x="4422267" y="4425355"/>
            <a:ext cx="2433066"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comun/structured.py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extraer()</a:t>
            </a:r>
            <a:endParaRPr lang="en-US" sz="1400" dirty="0"/>
          </a:p>
        </p:txBody>
      </p:sp>
      <p:sp>
        <p:nvSpPr>
          <p:cNvPr id="8" name="Text 5"/>
          <p:cNvSpPr/>
          <p:nvPr/>
        </p:nvSpPr>
        <p:spPr>
          <a:xfrm>
            <a:off x="8222361" y="2615605"/>
            <a:ext cx="3113278"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medir_clasificador.py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evaluar()</a:t>
            </a:r>
            <a:endParaRPr lang="en-US" sz="1400" dirty="0"/>
          </a:p>
        </p:txBody>
      </p:sp>
      <p:sp>
        <p:nvSpPr>
          <p:cNvPr id="9" name="Text 6"/>
          <p:cNvSpPr/>
          <p:nvPr/>
        </p:nvSpPr>
        <p:spPr>
          <a:xfrm>
            <a:off x="8222361" y="4425355"/>
            <a:ext cx="3113278"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Golden set</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consultas-&lt;track&gt;.json</a:t>
            </a:r>
            <a:endParaRPr lang="en-US" sz="1400" dirty="0"/>
          </a:p>
        </p:txBody>
      </p:sp>
      <p:sp>
        <p:nvSpPr>
          <p:cNvPr id="10" name="Text 7"/>
          <p:cNvSpPr/>
          <p:nvPr/>
        </p:nvSpPr>
        <p:spPr>
          <a:xfrm>
            <a:off x="3175000" y="172660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esquema</a:t>
            </a:r>
            <a:endParaRPr lang="en-US" sz="1400" dirty="0"/>
          </a:p>
        </p:txBody>
      </p:sp>
      <p:sp>
        <p:nvSpPr>
          <p:cNvPr id="11" name="Text 8"/>
          <p:cNvSpPr/>
          <p:nvPr/>
        </p:nvSpPr>
        <p:spPr>
          <a:xfrm>
            <a:off x="3175000" y="3707805"/>
            <a:ext cx="1066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prompt</a:t>
            </a:r>
            <a:endParaRPr lang="en-US" sz="1400" dirty="0"/>
          </a:p>
        </p:txBody>
      </p:sp>
      <p:sp>
        <p:nvSpPr>
          <p:cNvPr id="12" name="Text 9"/>
          <p:cNvSpPr/>
          <p:nvPr/>
        </p:nvSpPr>
        <p:spPr>
          <a:xfrm>
            <a:off x="5753100" y="3618905"/>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llama</a:t>
            </a:r>
            <a:endParaRPr lang="en-US" sz="1400" dirty="0"/>
          </a:p>
        </p:txBody>
      </p:sp>
      <p:sp>
        <p:nvSpPr>
          <p:cNvPr id="13" name="Text 10"/>
          <p:cNvSpPr/>
          <p:nvPr/>
        </p:nvSpPr>
        <p:spPr>
          <a:xfrm>
            <a:off x="7073900" y="2539405"/>
            <a:ext cx="10033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sp>
        <p:nvSpPr>
          <p:cNvPr id="14" name="Text 11"/>
          <p:cNvSpPr/>
          <p:nvPr/>
        </p:nvSpPr>
        <p:spPr>
          <a:xfrm>
            <a:off x="9893300" y="3618905"/>
            <a:ext cx="1447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30 consultas</a:t>
            </a:r>
            <a:endParaRPr lang="en-US" sz="1400" dirty="0"/>
          </a:p>
        </p:txBody>
      </p:sp>
      <p:sp>
        <p:nvSpPr>
          <p:cNvPr id="15" name="Text 12"/>
          <p:cNvSpPr/>
          <p:nvPr/>
        </p:nvSpPr>
        <p:spPr>
          <a:xfrm>
            <a:off x="812800" y="548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Obligatorio: extraer(). Prohibido: with_structured_output() directo.</a:t>
            </a:r>
            <a:endParaRPr lang="en-US" sz="1600" dirty="0"/>
          </a:p>
        </p:txBody>
      </p:sp>
      <p:sp>
        <p:nvSpPr>
          <p:cNvPr id="16" name="Text 13"/>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22 / 25</a:t>
            </a:r>
            <a:endParaRPr lang="en-US" sz="1200" dirty="0"/>
          </a:p>
        </p:txBody>
      </p:sp>
      <p:pic>
        <p:nvPicPr>
          <p:cNvPr id="17"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Medir, no opinar</a:t>
            </a:r>
            <a:endParaRPr lang="en-US" sz="3600" dirty="0"/>
          </a:p>
        </p:txBody>
      </p:sp>
      <p:sp>
        <p:nvSpPr>
          <p:cNvPr id="3" name="Shape 1"/>
          <p:cNvSpPr/>
          <p:nvPr/>
        </p:nvSpPr>
        <p:spPr>
          <a:xfrm>
            <a:off x="812800" y="1631355"/>
            <a:ext cx="10566400" cy="0"/>
          </a:xfrm>
          <a:prstGeom prst="line">
            <a:avLst/>
          </a:prstGeom>
          <a:noFill/>
          <a:ln w="12700">
            <a:solidFill>
              <a:srgbClr val="141413">
                <a:alpha val="22000"/>
              </a:srgbClr>
            </a:solidFill>
            <a:prstDash val="solid"/>
          </a:ln>
        </p:spPr>
      </p:sp>
      <p:sp>
        <p:nvSpPr>
          <p:cNvPr id="4" name="Shape 2"/>
          <p:cNvSpPr/>
          <p:nvPr/>
        </p:nvSpPr>
        <p:spPr>
          <a:xfrm>
            <a:off x="819150" y="1625005"/>
            <a:ext cx="0" cy="2120305"/>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726605"/>
          <a:ext cx="10299700" cy="1929805"/>
        </p:xfrm>
        <a:graphic>
          <a:graphicData uri="http://schemas.openxmlformats.org/drawingml/2006/table">
            <a:tbl>
              <a:tblPr/>
              <a:tblGrid>
                <a:gridCol w="2677922"/>
                <a:gridCol w="4325874"/>
                <a:gridCol w="3295904"/>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Métrica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muestra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Criterio del L2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Acierto global</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Categoría obtenida frente a la esperada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 90 % sobre las 30 del golden set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Matriz de confusión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Qué categorías se confunden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Reportarla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Reintentos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Extracciones que no salieron al primer intento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Reportar cuántas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Consultas propias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5 consultas del equipo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Acierto sobre las 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Text 3"/>
          <p:cNvSpPr/>
          <p:nvPr/>
        </p:nvSpPr>
        <p:spPr>
          <a:xfrm>
            <a:off x="812800" y="4050109"/>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El umbral del 90 % está sin verificar contra el endpoint real: si su equipo mide por debajo, repórtelo con el número.</a:t>
            </a:r>
            <a:endParaRPr lang="en-US" sz="1400" dirty="0"/>
          </a:p>
        </p:txBody>
      </p:sp>
      <p:sp>
        <p:nvSpPr>
          <p:cNvPr id="7" name="Text 4"/>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23 / 25</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Test 2 · 10 preguntas</a:t>
            </a:r>
            <a:endParaRPr lang="en-US" sz="3600" dirty="0"/>
          </a:p>
        </p:txBody>
      </p:sp>
      <p:sp>
        <p:nvSpPr>
          <p:cNvPr id="3" name="Shape 1"/>
          <p:cNvSpPr/>
          <p:nvPr/>
        </p:nvSpPr>
        <p:spPr>
          <a:xfrm>
            <a:off x="819150" y="1631355"/>
            <a:ext cx="3373934" cy="913606"/>
          </a:xfrm>
          <a:prstGeom prst="roundRect">
            <a:avLst>
              <a:gd name="adj" fmla="val 10426"/>
            </a:avLst>
          </a:prstGeom>
          <a:solidFill>
            <a:srgbClr val="FFFFFF"/>
          </a:solidFill>
          <a:ln w="12700">
            <a:solidFill>
              <a:srgbClr val="1E293B"/>
            </a:solidFill>
            <a:prstDash val="solid"/>
          </a:ln>
        </p:spPr>
      </p:sp>
      <p:sp>
        <p:nvSpPr>
          <p:cNvPr id="4" name="Text 2"/>
          <p:cNvSpPr/>
          <p:nvPr/>
        </p:nvSpPr>
        <p:spPr>
          <a:xfrm>
            <a:off x="1003300" y="1815505"/>
            <a:ext cx="309580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A · Preguntas 1 a 3</a:t>
            </a:r>
            <a:endParaRPr lang="en-US" sz="1600" dirty="0"/>
          </a:p>
        </p:txBody>
      </p:sp>
      <p:sp>
        <p:nvSpPr>
          <p:cNvPr id="5" name="Text 3"/>
          <p:cNvSpPr/>
          <p:nvPr/>
        </p:nvSpPr>
        <p:spPr>
          <a:xfrm>
            <a:off x="1003300" y="2145705"/>
            <a:ext cx="309580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 y memoria</a:t>
            </a:r>
            <a:endParaRPr lang="en-US" sz="1400" dirty="0"/>
          </a:p>
        </p:txBody>
      </p:sp>
      <p:sp>
        <p:nvSpPr>
          <p:cNvPr id="6" name="Shape 4"/>
          <p:cNvSpPr/>
          <p:nvPr/>
        </p:nvSpPr>
        <p:spPr>
          <a:xfrm>
            <a:off x="4408984" y="1631355"/>
            <a:ext cx="3373934" cy="913606"/>
          </a:xfrm>
          <a:prstGeom prst="roundRect">
            <a:avLst>
              <a:gd name="adj" fmla="val 10426"/>
            </a:avLst>
          </a:prstGeom>
          <a:solidFill>
            <a:srgbClr val="FFFFFF"/>
          </a:solidFill>
          <a:ln w="12700">
            <a:solidFill>
              <a:srgbClr val="1E293B"/>
            </a:solidFill>
            <a:prstDash val="solid"/>
          </a:ln>
        </p:spPr>
      </p:sp>
      <p:sp>
        <p:nvSpPr>
          <p:cNvPr id="7" name="Text 5"/>
          <p:cNvSpPr/>
          <p:nvPr/>
        </p:nvSpPr>
        <p:spPr>
          <a:xfrm>
            <a:off x="4593134" y="1815505"/>
            <a:ext cx="309580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B · Preguntas 4 y 5</a:t>
            </a:r>
            <a:endParaRPr lang="en-US" sz="1600" dirty="0"/>
          </a:p>
        </p:txBody>
      </p:sp>
      <p:sp>
        <p:nvSpPr>
          <p:cNvPr id="8" name="Text 6"/>
          <p:cNvSpPr/>
          <p:nvPr/>
        </p:nvSpPr>
        <p:spPr>
          <a:xfrm>
            <a:off x="4593134" y="2145705"/>
            <a:ext cx="309580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Rol + Contexto + Tarea + Formato</a:t>
            </a:r>
            <a:endParaRPr lang="en-US" sz="1400" dirty="0"/>
          </a:p>
        </p:txBody>
      </p:sp>
      <p:sp>
        <p:nvSpPr>
          <p:cNvPr id="9" name="Shape 7"/>
          <p:cNvSpPr/>
          <p:nvPr/>
        </p:nvSpPr>
        <p:spPr>
          <a:xfrm>
            <a:off x="7998817" y="1631355"/>
            <a:ext cx="3373934" cy="913606"/>
          </a:xfrm>
          <a:prstGeom prst="roundRect">
            <a:avLst>
              <a:gd name="adj" fmla="val 10426"/>
            </a:avLst>
          </a:prstGeom>
          <a:solidFill>
            <a:srgbClr val="FFFFFF"/>
          </a:solidFill>
          <a:ln w="12700">
            <a:solidFill>
              <a:srgbClr val="1E293B"/>
            </a:solidFill>
            <a:prstDash val="solid"/>
          </a:ln>
        </p:spPr>
      </p:sp>
      <p:sp>
        <p:nvSpPr>
          <p:cNvPr id="10" name="Text 8"/>
          <p:cNvSpPr/>
          <p:nvPr/>
        </p:nvSpPr>
        <p:spPr>
          <a:xfrm>
            <a:off x="8182967" y="1815505"/>
            <a:ext cx="309580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C · Pregunta 6</a:t>
            </a:r>
            <a:endParaRPr lang="en-US" sz="1600" dirty="0"/>
          </a:p>
        </p:txBody>
      </p:sp>
      <p:sp>
        <p:nvSpPr>
          <p:cNvPr id="11" name="Text 9"/>
          <p:cNvSpPr/>
          <p:nvPr/>
        </p:nvSpPr>
        <p:spPr>
          <a:xfrm>
            <a:off x="8182967" y="2145705"/>
            <a:ext cx="309580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Few-shot</a:t>
            </a:r>
            <a:endParaRPr lang="en-US" sz="1400" dirty="0"/>
          </a:p>
        </p:txBody>
      </p:sp>
      <p:sp>
        <p:nvSpPr>
          <p:cNvPr id="12" name="Shape 10"/>
          <p:cNvSpPr/>
          <p:nvPr/>
        </p:nvSpPr>
        <p:spPr>
          <a:xfrm>
            <a:off x="819150" y="2760861"/>
            <a:ext cx="3373934" cy="913606"/>
          </a:xfrm>
          <a:prstGeom prst="roundRect">
            <a:avLst>
              <a:gd name="adj" fmla="val 10426"/>
            </a:avLst>
          </a:prstGeom>
          <a:solidFill>
            <a:srgbClr val="FFFFFF"/>
          </a:solidFill>
          <a:ln w="12700">
            <a:solidFill>
              <a:srgbClr val="1E293B"/>
            </a:solidFill>
            <a:prstDash val="solid"/>
          </a:ln>
        </p:spPr>
      </p:sp>
      <p:sp>
        <p:nvSpPr>
          <p:cNvPr id="13" name="Text 11"/>
          <p:cNvSpPr/>
          <p:nvPr/>
        </p:nvSpPr>
        <p:spPr>
          <a:xfrm>
            <a:off x="1003300" y="2945011"/>
            <a:ext cx="309580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D · Preguntas 7 a 9</a:t>
            </a:r>
            <a:endParaRPr lang="en-US" sz="1600" dirty="0"/>
          </a:p>
        </p:txBody>
      </p:sp>
      <p:sp>
        <p:nvSpPr>
          <p:cNvPr id="14" name="Text 12"/>
          <p:cNvSpPr/>
          <p:nvPr/>
        </p:nvSpPr>
        <p:spPr>
          <a:xfrm>
            <a:off x="1003300" y="3275211"/>
            <a:ext cx="309580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Structured Output</a:t>
            </a:r>
            <a:endParaRPr lang="en-US" sz="1400" dirty="0"/>
          </a:p>
        </p:txBody>
      </p:sp>
      <p:sp>
        <p:nvSpPr>
          <p:cNvPr id="15" name="Shape 13"/>
          <p:cNvSpPr/>
          <p:nvPr/>
        </p:nvSpPr>
        <p:spPr>
          <a:xfrm>
            <a:off x="4408984" y="2760861"/>
            <a:ext cx="3373934" cy="913606"/>
          </a:xfrm>
          <a:prstGeom prst="roundRect">
            <a:avLst>
              <a:gd name="adj" fmla="val 10426"/>
            </a:avLst>
          </a:prstGeom>
          <a:solidFill>
            <a:srgbClr val="FFFFFF"/>
          </a:solidFill>
          <a:ln w="12700">
            <a:solidFill>
              <a:srgbClr val="1E293B"/>
            </a:solidFill>
            <a:prstDash val="solid"/>
          </a:ln>
        </p:spPr>
      </p:sp>
      <p:sp>
        <p:nvSpPr>
          <p:cNvPr id="16" name="Text 14"/>
          <p:cNvSpPr/>
          <p:nvPr/>
        </p:nvSpPr>
        <p:spPr>
          <a:xfrm>
            <a:off x="4593134" y="2945011"/>
            <a:ext cx="309580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E293B"/>
                </a:solidFill>
                <a:latin typeface="IBM Plex Sans" pitchFamily="34" charset="0"/>
                <a:ea typeface="IBM Plex Sans" pitchFamily="34" charset="-122"/>
                <a:cs typeface="IBM Plex Sans" pitchFamily="34" charset="-120"/>
              </a:rPr>
              <a:t>E · Pregunta 10</a:t>
            </a:r>
            <a:endParaRPr lang="en-US" sz="1600" dirty="0"/>
          </a:p>
        </p:txBody>
      </p:sp>
      <p:sp>
        <p:nvSpPr>
          <p:cNvPr id="17" name="Text 15"/>
          <p:cNvSpPr/>
          <p:nvPr/>
        </p:nvSpPr>
        <p:spPr>
          <a:xfrm>
            <a:off x="4593134" y="3275211"/>
            <a:ext cx="309580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Costo en tokens</a:t>
            </a:r>
            <a:endParaRPr lang="en-US" sz="1400" dirty="0"/>
          </a:p>
        </p:txBody>
      </p:sp>
      <p:sp>
        <p:nvSpPr>
          <p:cNvPr id="18" name="Text 16"/>
          <p:cNvSpPr/>
          <p:nvPr/>
        </p:nvSpPr>
        <p:spPr>
          <a:xfrm>
            <a:off x="812800" y="3985617"/>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15 minutos · opción múltiple · en clase, después de toda la teoría</a:t>
            </a:r>
            <a:endParaRPr lang="en-US" sz="1600" dirty="0"/>
          </a:p>
        </p:txBody>
      </p:sp>
      <p:sp>
        <p:nvSpPr>
          <p:cNvPr id="19" name="Text 17"/>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24 / 25</a:t>
            </a:r>
            <a:endParaRPr lang="en-US" sz="1200" dirty="0"/>
          </a:p>
        </p:txBody>
      </p:sp>
      <p:pic>
        <p:nvPicPr>
          <p:cNvPr id="20"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a:t>
            </a:r>
            <a:endParaRPr lang="en-US" sz="3600" dirty="0"/>
          </a:p>
        </p:txBody>
      </p:sp>
      <p:sp>
        <p:nvSpPr>
          <p:cNvPr id="3" name="Shape 1"/>
          <p:cNvSpPr/>
          <p:nvPr/>
        </p:nvSpPr>
        <p:spPr>
          <a:xfrm>
            <a:off x="812800" y="1631355"/>
            <a:ext cx="10566400" cy="0"/>
          </a:xfrm>
          <a:prstGeom prst="line">
            <a:avLst/>
          </a:prstGeom>
          <a:noFill/>
          <a:ln w="12700">
            <a:solidFill>
              <a:srgbClr val="141413">
                <a:alpha val="22000"/>
              </a:srgbClr>
            </a:solidFill>
            <a:prstDash val="solid"/>
          </a:ln>
        </p:spPr>
      </p:sp>
      <p:sp>
        <p:nvSpPr>
          <p:cNvPr id="4" name="Shape 2"/>
          <p:cNvSpPr/>
          <p:nvPr/>
        </p:nvSpPr>
        <p:spPr>
          <a:xfrm>
            <a:off x="819150" y="1625005"/>
            <a:ext cx="0" cy="3278188"/>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726605"/>
          <a:ext cx="10299700" cy="3087688"/>
        </p:xfrm>
        <a:graphic>
          <a:graphicData uri="http://schemas.openxmlformats.org/drawingml/2006/table">
            <a:tbl>
              <a:tblPr/>
              <a:tblGrid>
                <a:gridCol w="8033766"/>
                <a:gridCol w="2265934"/>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No entra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Va 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0" cap="flat" cmpd="sng" algn="ctr">
                      <a:noFill/>
                    </a:lnT>
                    <a:lnB w="12700" cap="flat" cmpd="sng" algn="ctr">
                      <a:solidFill>
                        <a:srgbClr val="B5B6B8"/>
                      </a:solidFill>
                      <a:prstDash val="solid"/>
                      <a:round/>
                      <a:headEnd type="none" w="med" len="med"/>
                      <a:tailEnd type="none" w="med" len="med"/>
                    </a:lnB>
                    <a:solidFill>
                      <a:srgbClr val="E2E4E6"/>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@tool, Tool Calling, args_schema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create_agent() y el bucle ReAct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Llamadas a APIs externas y al simulador</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RAG, embeddings, Qdrant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Memoria conversacional real (thread_id)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Guardrails y PII</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Streaming (SSE de una respuesta ya validada)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S11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Text 3"/>
          <p:cNvSpPr/>
          <p:nvPr/>
        </p:nvSpPr>
        <p:spPr>
          <a:xfrm>
            <a:off x="812800" y="5207992"/>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el modelo trabaja solo; en S3 consulta el primer dato real.</a:t>
            </a:r>
            <a:endParaRPr lang="en-US" sz="1600" dirty="0"/>
          </a:p>
        </p:txBody>
      </p:sp>
      <p:sp>
        <p:nvSpPr>
          <p:cNvPr id="7" name="Text 4"/>
          <p:cNvSpPr/>
          <p:nvPr/>
        </p:nvSpPr>
        <p:spPr>
          <a:xfrm>
            <a:off x="812800" y="6229350"/>
            <a:ext cx="26204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S02 · Ecosistema LangChain · 25 / 25</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S02 · Ecosistema LangChain: prompts, cadenas y modelos</dc:title>
  <dc:subject>PptxGenJS Presentation</dc:subject>
  <dc:creator>PptxGenJS</dc:creator>
  <cp:lastModifiedBy>PptxGenJS</cp:lastModifiedBy>
  <cp:revision>1</cp:revision>
  <dcterms:created xsi:type="dcterms:W3CDTF">2026-09-25T15:25:28Z</dcterms:created>
  <dcterms:modified xsi:type="dcterms:W3CDTF">2026-09-25T15:25:28Z</dcterms:modified>
</cp:coreProperties>
</file>