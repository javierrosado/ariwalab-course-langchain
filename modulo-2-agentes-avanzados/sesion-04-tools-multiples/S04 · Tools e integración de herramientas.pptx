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presenta la sesión en tres datos. Formato: semana 2, jueves, 6 horas (2.5 de teoría y 3.5 de práctica). Laboratorio: L4, pasar de una tool a un catálogo de cuatro y medir la selección hasta llegar a 85 % o más. Hito: Avance 1 del Proyecto M2 al cerrar la sesión. Recuerda que el alumno llega con el pre-work de MCP hecho: se conectó al servidor del simulador y vio sus 6 tools. Hoy se retoma esa experiencia al inicio, dentro del bloque 0. Anuncia el orden: bucle y MCP, selección dinámica y sus fallas, fiabilidad, idempotencia y tope, y luego el laboratorio. 2) Pregunta: ¿qué cambia para el modelo cuando pasa de tener una tool a tener cuatro? 3) Laboratorio: L4, lab/&lt;track&gt;/domain_tools.py y lab/&lt;track&gt;/agent.py.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diapositiva ordena la entrada. Los cuatro equipos sustentan el Assignment A1 de S3, uno por track, con 5 minutos cada uno: AndesMóvil (telecomunicaciones), Banco Inti (banca), MercaSur (retail) y Andina Seguros (seguros). La sustentación ocupa 20 minutos que NO caben dentro de los 180 del guion de S4: la franja se coordina con la coordinación académica y se comunica antes de clase. No anuncies que ambas actividades caben en tres horas. Califica con la rúbrica de A1 (recursos/rubricas/rubrica-a1.md). Al cerrar, conecta: la tool de lectura que cada equipo acaba de defender es la primera del catálogo de hoy. 2) Pregunta: ¿qué pregunta del cliente respondió su tool del A1 y cuál no pudo responder? 3) Laboratorio: la tool del L3 pasa tal cual a lab/&lt;track&gt;/domain_tools.py como primera de TOOLS_NUCLEO.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lee los cinco objetivos y di en qué parte de la sesión se trabaja cada uno. El 1 va en el bloque de responsabilidad única. El 2 en selección dinámica y en la diapositiva de fiabilidad. El 3 se practica en el laboratorio con docente/matriz_seleccion.py. El 4 en idempotencia y tope. El 5 se retoma al inicio, dentro del bloque 0, a partir del pre-work de MCP. Subraya los verbos observables: diseñar, explicar, medir, distinguir, conectar. El objetivo 2 no afirma que existe un número máximo universal de tools: pide explicar por qué el catálogo concreto se mide. 2) Pregunta: ¿cuál de estos cinco creen que les va a costar más en su track, y por qué? 3) Laboratorio: los criterios de aceptación del L4 (≥ 85 %, confirmación en escritura, tope de iteraciones) evidencian los objetivos 1,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(IMG-M01-S01-001, reutilizado): objetivo, separar la propuesta del modelo de la ejecución por el runtime. Mensaje clave: el modelo propone; la aplicación ejecuta. Recorre en orden: Usuario → Agente; dentro del agente, LLM → Runtime → Tool; Tool → API; el resultado vuelve al LLM; el LLM entrega la respuesta al Usuario. Aclara en voz alta que el resultado vuelve al LLM a través del runtime, como ToolMessage: la imagen lo dibuja directo desde la API. Muestra el límite de iteraciones como borde del bucle. Lo nuevo hoy: la tarjeta Tool ya no es una sola función, es una selección entre cuatro tools de negocio. El número de tools no determina las vueltas del bucle. Ejemplo: dos docstrings ambiguas pueden causar confusión aunque ambas funciones sean correctas. Industria: Andina Seguros, diferenciar consulta de póliza y apertura de expediente. Error frecuente: suponer que cuatro tools siempre superan a cinco en cualquier modelo. Conexión: S3 dejó el bucle con una tool; S5 añadirá memoria y RAG. Duración: 4 min. Esta imagen no aporta mediciones. 2) Pregunta: ¿qué evidencia usarías para cambiar una docstring? 3) Laboratorio: lab/&lt;track&gt;/agent.py, función responder(), bucle manual con MAX_ITERATIONS.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es la línea base, el agente de L3–L4. El LLM propone tool_call, el runtime ejecuta la tool escrita con @tool en domain_tools.py, la tool lee los datos del simulador y el resultado vuelve como ToolMessage. La flecha discontinua: bind_tools() envía al modelo las definiciones (nombre, descripción, esquema). Luego define MCP como lo hace el pre-work: un protocolo, no una librería; un formato estándar para que un cliente (tu agente) descubra y llame herramientas de un servidor sin saber cómo están implementadas. El mismo servidor sirve a cualquier agente compatible, y el mismo agente puede conectarse a cualquier servidor. Analogía del repositorio: comun/provider.py separa qué modelo usas de qué hace el agente con él; MCP hace lo mismo con las tools. Dónde deja de aplicar la analogía: MCP es un protocolo con servidor y transporte, no un import local. 2) Pregunta: ¿qué ganaría el equipo de fraude de Banco Inti al exponer sus tools por MCP en vez de copiarlas en tu agente? 3) Laboratorio: pre-work-mcp.md, sección 1; el catálogo base sigue en lab/&lt;track&gt;/domain_tools.py.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que la anterior; solo cambia la parte derecha. Entre el runtime y las tools aparece el conector MCP: un cliente en el proceso del agente y un servidor que expone las tools. En foco: el conector y el Servidor MCP (6 tools del simulador). Recorre: el runtime llama al cliente MCP; el cliente habla con el servidor por el protocolo; el servidor ejecuta la tool y lee sus datos. La flecha discontinua ahora es descubrimiento: get_tools() devuelve nombre, descripción y esquema de cada tool, lo mismo que el modelo veía con @tool. Qué cambia: dónde vive la tool, que se descubre en tiempo de ejecución, y el transporte. Qué no cambia: el LLM sigue proponiendo, el runtime sigue ejecutando, el bucle y su tope son los mismos, y el modelo sigue decidiendo solo con nombre, descripción y esquema. Por eso el pre-work dice que el agente no nota la diferencia. MCP no es una fuente de datos por sí solo: los datos siguen en el simulador. 2) Pregunta: si mañana el servidor MCP cambia la implementación de una tool pero no su descripción, ¿qué tiene que cambiar en tu agente? 3) Laboratorio: pre-work-mcp.md, script con MultiServerMCPClient y await cliente.get_tools().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ahora el foco está solo en el conector, rotulado con los dos transportes. stdio: tu agente lanza simulador-industria/mcp_server.py como subproceso; se usa en desarrollo local. streamable_http: el simulador ya desplegado en HF Spaces, con url SIM_BASE_URL/mcp. El resto del código (get_tools(), enlazar las tools al modelo, invocar el agente) es idéntico. Se alterna desde .env con MCP_TRANSPORT (stdio por defecto) y lo lee comun/settings.py. Relaciónalo con la regla del curso: provider.py separa qué modelo uso; MCP separa cómo hablo con el servidor de qué hace mi agente con las tools. Errores del pre-work: FileNotFoundError si se ejecuta desde simulador-industria/ y no desde la raíz; timeout con http si el Space duerme (probar GET /health y reintentar en 1-2 min); RuntimeError de event loop si se llama código async sin asyncio.run. 2) Pregunta: ¿cuál de los dos transportes usarías si tres equipos comparten el mismo servidor, y por qué? 3) Laboratorio: .env y comun/settings.py (MCP_TRANSPORT, MCP_HTTP_URL, MCP_STDIO_ARGS); pre-work-mcp.md sección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son las tools opcionales de los cuatro tracks; ninguna la escribió el alumno y aun así su agente puede usarlas. Reparto: dos de telco, una de banca, una de retail y dos de seguros. Parte de conectarse es filtrar: no se enlazan las 6. El catálogo troncal del L4 conserva cuatro tools de negocio; L5 añadirá un retriever. Si el agente elige mal con muchas tools enlazadas, la acción es seleccionar un catálogo pequeño para la tarea y volver a medir con la matriz, no sumar todas las MCP a las cuatro núcleo. No presentes un umbral universal de cantidad de tools: lo que decide es la medición de ese catálogo concreto. Las descripciones del servidor están escritas con la misma regla A2 que sus docstrings: dicen cuándo NO usar cada tool. 2) Pregunta: ¿cuál de estas 6 tiene sentido para tu track y qué pregunta del cliente respondería? 3) Laboratorio: pre-work-mcp.md (verificación de las 6 tools); reto opcional del L4: exponer 2 tools propias como servidor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composición se repite en las seis diapositivas siguientes. A la izquierda el Agente con LLM y Runtime; a la derecha las cuatro tools núcleo de telco (AndesMóvil) como ejemplo. Con la tool del L3 el modelo solo decidía si la usaba. Con cuatro, además decide cuál: esa es la decisión en foco, el tool_call que propone el LLM. El runtime ejecuta la que el modelo eligió. domain_tools.py no empieza de cero: TOOLS_NUCLEO abre exactamente con la tool que ya escribieron y probaron con prueba_tool.py en S3; se importa tal cual. Hoy se añaden tres, una de ellas de escritura. Aclara que el ejemplo es telco pero cada track tiene sus cuatro. 2) Pregunta: ¿qué información tiene el modelo para decidir entre estas cuatro? (Respuesta en tres diapositivas.) 3) Laboratorio: lab/&lt;track&gt;/domain_tools.py, lista TOOLS_NUCLEO; referencia: solucion/&lt;track&gt;/domain_tools.py.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ahora cada tool muestra la pregunta del cliente que responde. Principio de responsabilidad única aplicado a tools: una tool, una pregunta. La tool que hace dos cosas a la vez ("consulta el plan y también regístrame un reclamo") nunca se elige bien, porque el modelo no puede anticipar cuál de las dos cosas vas a necesitar solo por su nombre. En foco, get_customer_plan y get_data_usage: una hipotética manage_line mezclaría ambas preguntas. El nombre empieza con un verbo y nombra el dato que devuelve: get_data_usage, no manage_line ni handle_line_stuff. Si cuesta nombrarla con un verbo y un sustantivo, probablemente hace más de una cosa. 2) Pregunta: en su track, ¿qué tool podría estar haciendo dos cosas? ¿Cómo la dividirían? 3) Laboratorio: lab/&lt;track&gt;/domain_tools.py, nombres de las tres tools nuevas (Parte 1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aparece la flecha discontinua de contexto, en foco. bind_tools() envía al modelo las definiciones de cada tool: nombre, docstring y esquema de argumentos (el args_schema en Pydantic). Nunca envía el cuerpo de la función. Cada tarjeta muestra ahora sus argumentos; create_complaint_ticket además recibe confirmado_por_cliente, que verán en idempotencia. Consecuencia: si dos funciones son correctas pero sus docstrings son ambiguas, el modelo se confunde igual. Por eso la regla A2 de S3 (la docstring es el prompt) se vuelve crítica con cuatro tools: cada docstring dice qué hace, cuándo usarla y cuándo NO. Ejemplo real: get_data_usage dice "NO la uses para saber qué plan tiene: para eso usa get_customer_plan". Cuando la selección falla, falla de tres maneras: las siguientes tres diapositivas. 2) Pregunta: si renombras una tool pero no cambias su código, ¿puede cambiar el comportamiento del agente? 3) Laboratorio: args_schema y docstring de cada tool en lab/&lt;track&gt;/domain_tools.py (regla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en foco dos tools cuyas descripciones cubren el mismo caso. La consulta del subtítulo está en el conjunto golden de telco como caso confusable: habla de falla técnica (run_line_diagnostics) pero lo que pide es dejar constancia, un reclamo (create_complaint_ticket). Solapamiento: dos docstrings describen el mismo caso. Corrección: escribir en cada una cuándo NO usarla y la señal que la distingue. Así lo hacen las del checkpoint: run_line_diagnostics dice que no es para facturación ni consumo, y create_complaint_ticket dice que se usa solo si el cliente pide explícitamente registrar un reclamo. En la matriz, el solapamiento aparece fuera de la diagonal entre dos tools. No prometas qué elegirá el modelo en vivo: la matriz lo mide. 2) Pregunta: ¿qué palabra de la consulta debería inclinar la decisión hacia el reclamo? 3) Laboratorio: sección "Qué NO debe pasar" de lab/telecomunicaciones/enunciado.md; docstrings de lab/&lt;track&gt;/domain_tools.py.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en foco el LLM, que busca una descripción que cubra la pregunta y no la encuentra. Vacío: ninguna docstring describe la pregunta. Entonces el modelo elige la menos mala o no llama a nada. La consulta de portabilidad no la describe ninguna de las cuatro tools núcleo de telco; existe como tool del servidor MCP (check_portability_eligibility), que es opcional. Dos correcciones posibles, según el diseño: ampliar la docstring de la tool que sí debería cubrir el caso (empieza con un verbo y nombra el dato que devuelve), o decidir que esa pregunta queda fuera del catálogo y anotarla para el Avance 1. En la matriz, el vacío aparece cuando se esperaba una tool y el modelo no llamó a ninguna. 2) Pregunta: ¿qué pregunta frecuente de un cliente de su track no cubre ninguna de sus cuatro tools? 3) Laboratorio: punto 3 del Avance 1 (qué preguntas no resuelve ninguna tool); diagnóstico de docente/matriz_seleccion.py.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en foco la tool que se ejecutó sin corresponder y el recorrido activo desde el runtime. Sobre-uso: el modelo llama a una tool cuando no debía llamar a ninguna. La pregunta del subtítulo está en el golden de telco con tool esperada ninguna: es de tarifas, y get_customer_plan devuelve el plan de una línea, no el tarifario. Falta el límite: la docstring debe decir que tarifas, coberturas y políticas no se responden con esta tool. Esas preguntas se responderán con RAG en S5 (hoy solo se anuncia). Es la última pregunta de la demo 1: si el agente inventa un precio, es la prueba en vivo de por qué existirá la salvaguarda A6 en S5. En la matriz, el sobre-uso aparece en la fila (ninguna) y la columna de una tool. 2) Pregunta: ¿qué frase añadirían a la docstring de get_customer_plan para evitarlo? 3) Laboratorio: diagnóstico de docente/matriz_seleccion.py ("llamó a X cuando no debía llamar 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ejecuta desde la raíz del curso con el entorno activado; requiere HF_TOKEN. La demo usa la implementación de referencia del docente (proyecto-final/telecomunicaciones/), no el L4 del alumno. Antes de cada pregunta pide a la audiencia que anticipe la tool; luego muestra las tools llamadas y la respuesta. La última pregunta es de tarifas: no debería disparar ninguna tool, porque no hay ninguna que responda eso y todavía no hay RAG. Si el agente inventa un precio, dilo como observación de esta ejecución, no como garantía: es la demostración de por qué el system prompt llevará la salvaguarda A6 desde S5. No prometas un acierto ni un fallo en vivo. Si tarda, es la cola del inference provider; un 401 indica un token sin permiso de inferencia. 2) Pregunta: antes de ejecutar, ¿qué tool debería elegir en la tercera pregunta y con qué valor de confirmado_por_cliente? 3) Laboratorio: code/01_multi_tool.py, función run_agent(); el mismo patrón va en lab/&lt;track&gt;/agent.py.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la docstring no es la única palanca contra el solapamiento. Cuando dos tools quedan cerca en el espacio de decisión del modelo, un par de ejemplos en el system prompt suele resolver la confusión más rápido que seguir puliendo la docstring. Es el mismo mecanismo de few-shot de S2, aplicado a selección de tools en vez de clasificación. El bloque es pseudotexto del README, no código ejecutable: se agrega al system prompt del track que ya conocen de comun/prompts_industria.py. Orden correcto: primero corregir las docstrings; si la matriz sigue mostrando la confusión concentrada entre las mismas dos tools, recién entonces few-shot. Añadirlo sin corregir la docstring es tratar el síntoma, no la causa. Costo: cada ejemplo va en cada llamada del agente; recuerda code/04_tokens_y_costo.py de S2. 2) Pregunta: ¿qué evidencia de la matriz justificaría añadir un ejemplo few-shot? 3) Laboratorio: system prompt del track (comun/prompts_industria.py) y re-medición con docente/matriz_seleccion.py.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la fiabilidad puede acumularse a lo largo de una tarea. Bajo el supuesto simplificado de pasos independientes con probabilidad de éxito 0.93, todos aciertan con probabilidad 0.93 al cubo, cerca de 80 %, en tres pasos, y 0.93 a la quinta, cerca de 70 %, en cinco. Es un cálculo ilustrativo del README, no una tasa medida del agente ni una ley universal: los fallos reales pueden estar correlacionados. El curso usa cuatro tools núcleo en L4 por alcance didáctico; desde L5 se añade un retriever, cinco tools enlazadas. No hay evidencia en el curso de un umbral universal de cuatro tools: la matriz mide el catálogo concreto. Distingue tamaño del catálogo (tools enlazadas) de cantidad de iteraciones (vueltas del bucle). Error frecuente: suponer que cuatro tools siempre superan a cinco en cualquier modelo. 2) Pregunta: ¿qué haría falta medir para saber si su agente mejora o empeora al enlazar una tool MCP más? 3) Laboratorio: docente/matriz_seleccion.py con --tools lab/&lt;track&gt;/domain_tools.py, antes y después de cambiar el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nueva composición que se repite en las dos siguientes: Usuario, Agente (LLM y Runtime), una tool de lectura, una de escritura y los datos. Una operación es idempotente si ejecutarla dos veces tiene el mismo efecto que una vez. Leer es reintentable: get_customer_plan (telco) no modifica estado, aunque la respuesta puede cambiar si cambian los datos; get_account_balance (banca) igual. Escribir no: create_complaint_ticket (telco) puede duplicar reclamos; open_claim (seguros) abre dos expedientes del mismo siniestro; start_return_request (retail) crea dos solicitudes. En foco, el reintento de la escritura. Protección: confirmación explícita; en producción, además, deduplicación o idempotency key. Error frecuente: idempotente no significa que siempre devuelve el mismo texto. 2) Pregunta: ¿en qué situación normal de una conversación el agente llamaría dos veces la misma tool? 3) Laboratorio: la tool de escritura de tu track en lab/&lt;track&gt;/domain_tools.py (Parte 1, paso 3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en foco el Usuario (confirma) y la tool de escritura. Recorrido: el modelo llama primero con confirmado_por_cliente=False; la tool no registra nada y devuelve el mensaje de confirmación. El agente pregunta al cliente; solo si el cliente confirma explícitamente, el modelo vuelve a llamarla con True y el reclamo se registra con un código REC-2026-NNNNN. Regla del curso: toda tool de escritura exige confirmación explícita antes de ejecutarse, y se implementa hoy, no se pospone a S6. Límite honesto: el booleano lo propone el modelo en sus argumentos; ilustra el contrato, pero no demuestra aprobación humana autenticada ni evita por sí solo duplicados ante reintentos. Banca no tiene escritura en su núcleo: request_card_block (bloqueo irreversible) queda como opcional y su guardrail se retoma en S6; sirve como referencia de la mecánica. 2) Pregunta: ¿qué debería pasar si el cliente dice "sí" a una pregunta distinta de la confirmación? 3) Laboratorio: solucion/telecomunicaciones/domain_tools.py, create_complaint_ticket(); patrón en solucion/banca/domain_tools.py.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misma composición; en foco el borde del Agente (el bucle y su tope) y la tool de lectura que responde error 503. Sin un límite, un agente que no logra resolver la tarea (por ejemplo, ante un 503 del simulador) puede reintentar indefinidamente hasta agotar la cuota de HF. Cada llamada al agente tiene un máximo de vueltas del bucle; al alcanzarlo, avisa y deriva. El extracto es del checkpoint de telco: MAX_ITERATIONS = 4 y un mensaje de derivación a un asesor humano. Aclara la diferencia: el tope limita iteraciones, no tools; cuatro tools no implican cuatro vueltas. El tope no reemplaza la confirmación de escritura: son protecciones distintas. 2) Pregunta: si el tope es muy bajo, ¿qué consultas legítimas dejarían de resolverse? 3) Laboratorio: lab/&lt;track&gt;/agent.py, función responder() con MAX_ITERATIONS; sin tope el L4 no se acepta.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demo no usa credenciales: simula el mecanismo con un modelo terco determinista y una FlakyTool, run_line_diagnostics con fails_before_success=3. Así se enseña el tope sin depender de la latencia del simulador ni gastar cuota. Primero corre sin tope (max_iterations=None, con un techo de 1000 para no colgar la demo); luego con tope 2. Lo que deben notar: sin tope no significa que no funcione, significa que cuando falla, falla mal y gasta cuota indefinidamente. Con tope, el fallo se convierte en un mensaje claro de derivación. Lee en voz alta la cantidad de vueltas que imprime cada corrida: son las de esta ejecución. Usa el mismo patrón de run_agent de la demo 1. 2) Pregunta: ¿en qué caso preferirían tope 2 y en cuál tope 4? 3) Laboratorio: code/03_tope_iteraciones.py, función run_with_cap(); lab/&lt;track&gt;/agent.py debe implementar este tope antes de conectarse al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recorre la tabla por track. La tool 1 ya existe del L3 y se importa tal cual. Hoy se escriben tres, cada una con su args_schema en Pydantic y su docstring completa: qué hace, cuándo usarla y cuándo NO (regla A2). Los datos se leen con comun.datos; no se inventa ningún dato que no esté en recursos/datasets/&lt;track&gt;/. En telco, retail y seguros la tool 4 es de escritura y exige confirmación. Banca es la excepción honesta: sus cuatro tools núcleo son de lectura (score_transaction_risk también). La única escritura del track, request_card_block, es irreversible y queda como opcional; su guardrail vuelve en S6. Si el equipo es de banca, el criterio de confirmación no aplica hoy. Cada enunciado del track indica el dataset de cada tool. 2) Pregunta: ¿por qué el curso introduce la escritura en un reclamo o una devolución y no en un bloqueo de tarjeta? 3) Laboratorio: lab/&lt;track&gt;/enunciado.md y lab/&lt;track&gt;/domain_tools.py; referencia después de intentarlo: solucion/&lt;track&gt;/.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laboratorio tiene cuatro partes. Parte 1, 45 minutos guiados: completar el catálogo con las tres tools nuevas, docstrings A2 y confirmación en la escritura. Parte 2, guiada en vivo: escribir lab/&lt;track&gt;/agent.py, enlazar las cuatro tools con bind_tools() y armar el bucle manual Thought → Action → Observation con tope de iteraciones, el patrón de code/01_multi_tool.py y code/03_tope_iteraciones.py. Parte 3, 25 minutos: medir el catálogo propio con la matriz hasta llegar a 85 % o más. Parte 4, 10 minutos: Avance 1 del proyecto. Los checkpoints desde L4 usan bucle manual; create_agent() se vio en S3. Recuerda que proyecto-final/&lt;track&gt;/ es la referencia del docente que usan los verificadores, no el repositorio del alumno. 2) Pregunta: ¿qué parte creen que les tomará más tiempo y qué harán si no llegan a 85 % en la primera medición? 3) Laboratorio: lab/README.md (Partes 1 a 4); lab/&lt;track&gt;/domain_tools.py y lab/&lt;track&gt;/agent.py.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versión corta del instrumento completo. Toma 5 de las 30 consultas de recursos/golden/consultas-telecomunicaciones.json, elegidas para ver una de cada cosa: dos directas, una confusable y dos sin tool. Para cada consulta, el modelo con las tools enlazadas propone su primera tool_call y el script compara con la tool esperada. Lee la tabla que imprime: categoría, esperada, obtenida y si acertó. Resultado real de esta ejecución, no garantizado. Con 5 consultas un solo fallo mueve el porcentaje 20 puntos: por eso el laboratorio usa las 30 y una matriz de confusión completa. La consulta confusable es la misma de la diapositiva de solapamiento. Requiere HF_TOKEN y usa la referencia del docente. 2) Pregunta: si la consulta confusable falla, ¿en qué docstring escribirían primero y qué dirían? 3) Laboratorio: code/02_matriz_didactica.py, función load_demo_queries(); después, docente/matriz_seleccion.py sobre tu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instrumento lee las 30 consultas de recursos/golden/consultas-&lt;track&gt;.json, el mismo archivo con el que midieron el clasificador en S2; aquí usa el campo tool_esperada. Cada track cuesta 30 llamadas al modelo. El script genera la matriz de confusión y un diagnóstico que dice qué docstring corregir. Se corrige y se vuelve a medir hasta llegar a 85 % o más, el umbral por defecto. En foco, la matriz: se lee la matriz, no solo el porcentaje. Obligatorio: pasar --tools con tu archivo. Medir proyecto-final/&lt;track&gt;/app/tools/domain_tools.py mide la referencia contra sí misma y no dice nada del trabajo del equipo. Existe --simular para probar el arnés sin cuota: valida el script, no la precisión del modelo. 2) Pregunta: ¿qué dice más de su catálogo, un 87 % con los errores concentrados en dos tools o un 87 % repartido? 3) Laboratorio: Parte 3 del L4, docente/matriz_seleccion.py --track &lt;tu-track&gt; --tools lab/&lt;tu-track&gt;/domain_tools.py.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script numera las columnas y usa el mismo número en la fila, para que la diagonal se lea de un vistazo. Es un esquema sin valores; los números los pone tu ejecución. Tres celdas fuera de la diagonal corresponden a las tres fallas vistas. Solapamiento: fila de una tool, columna de otra (aquí, se esperaba create_complaint_ticket y eligió run_line_diagnostics). Vacío: se esperaba una tool y la columna es (ninguna). Sobre-uso: la fila es (ninguna) y eligió una tool (aquí, get_customer_plan ante una pregunta de tarifas). El diagnóstico del script traduce cada celda en una instrucción: en el solapamiento, escribir en una que NO sirve para el caso y en la otra la señal que la distingue; en el vacío, describir mejor el caso de uso; en el sobre-uso, añadir cuándo NO usarla. Leer también las filas con menor porcentaje. 2) Pregunta: si todos sus errores están en la fila (ninguna), ¿qué tipo de falla tienen y dónde corrigen? 3) Laboratorio: salida de docente/matriz_seleccion.py (funciones imprimir_matriz() y diagnostico()).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tres condiciones, las tres necesarias. Uno: 85 % o más de selección correcta en docente/matriz_seleccion.py sobre el catálogo propio (con --tools). Dos: la tool de escritura del track no se ejecuta sin confirmación; en banca no aplica hoy porque su núcleo es de lectura. Tres: hay tope de iteraciones y los errores de tool están redactados para que el modelo los entienda, regla A4 heredada del L3. El reto opcional no se evalúa: las 2 tools opcionales del track (docente/casos-de-uso-industrias.md) y exponer 2 tools propias como servidor MCP. Recuerda que el Proyecto M2 premia poder señalar, con la matriz, qué docstring corrigieron y por qué subió el acierto. 2) Pregunta: ¿cómo demostrarían en la revisión que la escritura no se ejecuta sin confirmación? 3) Laboratorio: lab/README.md, sección Criterio de aceptación; verificador docente/matriz_seleccion.py.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Proyecto M2 es un agente avanzado con tools, memoria y RAG, con demo y documento de diseño; se sustenta en S7 y vale el 100 % del Módulo 2. Se construye por avances: Avance 1 hoy (caso de uso y las 4 tools), Avance 2 en S5 y Avance 3 en S6. Memoria, RAG y guardrails se anuncian aquí: se construyen en S5 y S6, no están implementados hoy (por eso esos hitos tienen borde discontinuo). El documento de diseño es lo que distingue al M2 del A1: el equipo defiende sus decisiones de arquitectura, entre ellas por qué esas cuatro tools. Dato útil de la rúbrica: en diseño de tools, el nivel Sobresaliente pide señalar con la matriz qué docstring se corrigió y por qué subió el acierto. Guarden hoy la evidencia de la matriz. 2) Pregunta: ¿qué evidencia de hoy guardarían para el documento de diseño? 3) Laboratorio: repositorio del equipo; Parte 4 del L4; plantilla de diseño en sesion-07-hackathon-m2/lab/plantilla-documento-diseno.md.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diez minutos al final, media página por equipo. Punto 1: el caso de uso concreto del agente en una frase (por ejemplo, en su track y con su marca). Punto 2: las cuatro tools y por qué esas cuatro y no otras; pueden apoyarse en la matriz y en la regla de una tool, una pregunta. Punto 3: qué preguntas del cliente no resuelve ninguna tool y qué harán con ellas. La pista del enunciado es RAG, que se construye en S5: anotar el hueco hoy es lo que prepara esa sesión. El alumno descubre el hueco antes de que se lo llenen. Las consultas de categoría otro del golden (tarifas, por ejemplo) son buenos candidatos para el punto 3. 2) Pregunta: ¿cuál es la pregunta más frecuente de un cliente real de su industria que su agente todavía no puede responder? 3) Laboratorio: Parte 4 del L4 (lab/README.md); insumo del documento de diseño del Proyecto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(IMG-S00-005, reutilizado de S0): en S4 enfoca solo el panel "Las tres defensas del curso". Tools (S3–S4): el dato viene de tu sistema, es lo que construyen hoy. RAG (S5): se apoya en un documento y lo cita; se anuncia, no está implementado. Guardrails (S6): el código impide lo que está fuera de política. Ninguna defensa elimina sola la alucinación; las tres juntas la vuelven manejable. Relaciona con el punto 3 del Avance 1: las preguntas de tarifas que hoy no resuelve ninguna tool son las que irán al RAG. Mensaje clave de la imagen: un dato que cambia no puede vivir en los pesos, el conocimiento va al RAG. Recuerda que el curso no afina ningún modelo (Qwen3-32B genérico). La cifra del caso SOAT (2 UIT frente a 1 UIT) es el ejemplo ilustrativo de S0, no una medición. Error frecuente: creer que una sola defensa elimina las alucinaciones. 2) Pregunta: ¿dónde debe vivir un tarifario que cambia cada trimestre? 3) Laboratorio: punto 3 del Avance 1; se retoma en L5 (ingesta, retriever y conversación).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cierra el alcance para que nadie espere lo que no toca. RAG, embeddings y Qdrant, y la memoria conversacional, se construyen en S5. Guardrails, PII y prompt injection en S6; allí vuelve también el guardrail de banca sobre request_card_block. Construir un servidor MCP propio es reto opcional del L4, no requisito: hoy se conectan a uno ajeno. Langfuse y la observabilidad llegan en S9. Si surge una pregunta de estos temas, anótala y di en qué sesión se responde. Mencionar un concepto futuro no equivale a implementarlo. 2) Pregunta: de estos temas, ¿cuál creen que más necesita su agente después de hoy, y por qué? 3) Laboratorio: ninguno de estos elementos se exige en la aceptación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resume en tres puntos. Uno: una tool, una pregunta; el modelo decide solo con nombre, docstring y esquema. Dos: el catálogo se mide con la matriz hasta 85 % o más, y se lee por celdas, no solo el porcentaje. Tres: toda escritura exige confirmación, todo bucle tiene tope, y MCP cambia dónde viven las tools y cómo se descubren, no el bucle. Referencias: la guía de MCP de la documentación de LangChain y el repositorio de langchain-mcp-adapters (verificados el 25-09-2026); en el curso, simulador-industria/docs/GUIA-MCP.md. Puente: en S5 el agente resuelve dos carencias distintas con dos mecanismos distintos: no recuerda (memoria con thread_id) y no sabe (RAG sobre Qdrant Cloud). El Avance 1 de hoy prepara esa sesión. 2) Pregunta: ¿qué pregunta de su Avance 1 esperan resolver con RAG en S5? 3) Laboratorio: terminar el L4 y entregar el Avance 1; revisar el pre-work de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langchain.com/oss/python/langchain/mcp" TargetMode="External"/><Relationship Id="rId2" Type="http://schemas.openxmlformats.org/officeDocument/2006/relationships/hyperlink" Target="https://github.com/langchain-ai/langchain-mcp-adapters" TargetMode="External"/><Relationship Id="rId3" Type="http://schemas.openxmlformats.org/officeDocument/2006/relationships/image" Target="../media/image-32-1.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56" r="-56" t="0" b="0"/>
          <a:stretch/>
        </p:blipFill>
        <p:spPr>
          <a:xfrm>
            <a:off x="812800" y="812800"/>
            <a:ext cx="10566400" cy="711200"/>
          </a:xfrm>
          <a:prstGeom prst="rect">
            <a:avLst/>
          </a:prstGeom>
        </p:spPr>
      </p:pic>
      <p:sp>
        <p:nvSpPr>
          <p:cNvPr id="3" name="Text 0"/>
          <p:cNvSpPr/>
          <p:nvPr/>
        </p:nvSpPr>
        <p:spPr>
          <a:xfrm>
            <a:off x="812800" y="17272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S04 · Tools e integración de herramientas</a:t>
            </a:r>
            <a:endParaRPr lang="en-US" sz="3600" dirty="0"/>
          </a:p>
        </p:txBody>
      </p:sp>
      <p:sp>
        <p:nvSpPr>
          <p:cNvPr id="4" name="Text 1"/>
          <p:cNvSpPr/>
          <p:nvPr/>
        </p:nvSpPr>
        <p:spPr>
          <a:xfrm>
            <a:off x="812800" y="2437805"/>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526277"/>
                </a:solidFill>
                <a:latin typeface="IBM Plex Sans" pitchFamily="34" charset="0"/>
                <a:ea typeface="IBM Plex Sans" pitchFamily="34" charset="-122"/>
                <a:cs typeface="IBM Plex Sans" pitchFamily="34" charset="-120"/>
              </a:rPr>
              <a:t>IA Agent Building · Módulo 2 · Agentes avanzados</a:t>
            </a:r>
            <a:endParaRPr lang="en-US" sz="2200" dirty="0"/>
          </a:p>
        </p:txBody>
      </p:sp>
      <p:sp>
        <p:nvSpPr>
          <p:cNvPr id="5" name="Shape 2"/>
          <p:cNvSpPr/>
          <p:nvPr/>
        </p:nvSpPr>
        <p:spPr>
          <a:xfrm>
            <a:off x="819150" y="4552156"/>
            <a:ext cx="3373934" cy="1283494"/>
          </a:xfrm>
          <a:prstGeom prst="roundRect">
            <a:avLst>
              <a:gd name="adj" fmla="val 7421"/>
            </a:avLst>
          </a:prstGeom>
          <a:solidFill>
            <a:srgbClr val="FFFFFF"/>
          </a:solidFill>
          <a:ln w="12700">
            <a:solidFill>
              <a:srgbClr val="CED8E3"/>
            </a:solidFill>
            <a:prstDash val="solid"/>
          </a:ln>
        </p:spPr>
      </p:sp>
      <p:sp>
        <p:nvSpPr>
          <p:cNvPr id="6" name="Text 3"/>
          <p:cNvSpPr/>
          <p:nvPr/>
        </p:nvSpPr>
        <p:spPr>
          <a:xfrm>
            <a:off x="1028700" y="4761706"/>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Formato</a:t>
            </a:r>
            <a:endParaRPr lang="en-US" sz="2200" dirty="0"/>
          </a:p>
        </p:txBody>
      </p:sp>
      <p:sp>
        <p:nvSpPr>
          <p:cNvPr id="7" name="Text 4"/>
          <p:cNvSpPr/>
          <p:nvPr/>
        </p:nvSpPr>
        <p:spPr>
          <a:xfrm>
            <a:off x="1028700" y="5167511"/>
            <a:ext cx="3043479"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Semana 2 · jueves · 6 h: 2.5 h teoría y 3.5 h práctica</a:t>
            </a:r>
            <a:endParaRPr lang="en-US" sz="1400" dirty="0"/>
          </a:p>
        </p:txBody>
      </p:sp>
      <p:sp>
        <p:nvSpPr>
          <p:cNvPr id="8" name="Shape 5"/>
          <p:cNvSpPr/>
          <p:nvPr/>
        </p:nvSpPr>
        <p:spPr>
          <a:xfrm>
            <a:off x="4408984" y="4552156"/>
            <a:ext cx="3374033" cy="1283494"/>
          </a:xfrm>
          <a:prstGeom prst="roundRect">
            <a:avLst>
              <a:gd name="adj" fmla="val 7421"/>
            </a:avLst>
          </a:prstGeom>
          <a:solidFill>
            <a:srgbClr val="FFFFFF"/>
          </a:solidFill>
          <a:ln w="12700">
            <a:solidFill>
              <a:srgbClr val="CED8E3"/>
            </a:solidFill>
            <a:prstDash val="solid"/>
          </a:ln>
        </p:spPr>
      </p:sp>
      <p:sp>
        <p:nvSpPr>
          <p:cNvPr id="9" name="Text 6"/>
          <p:cNvSpPr/>
          <p:nvPr/>
        </p:nvSpPr>
        <p:spPr>
          <a:xfrm>
            <a:off x="4618534" y="4761706"/>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Laboratorio</a:t>
            </a:r>
            <a:endParaRPr lang="en-US" sz="2200" dirty="0"/>
          </a:p>
        </p:txBody>
      </p:sp>
      <p:sp>
        <p:nvSpPr>
          <p:cNvPr id="10" name="Text 7"/>
          <p:cNvSpPr/>
          <p:nvPr/>
        </p:nvSpPr>
        <p:spPr>
          <a:xfrm>
            <a:off x="4618534" y="5167511"/>
            <a:ext cx="3043581"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L4 · Catálogo de 4 tools, matriz de selección ≥ 85 %</a:t>
            </a:r>
            <a:endParaRPr lang="en-US" sz="1400" dirty="0"/>
          </a:p>
        </p:txBody>
      </p:sp>
      <p:sp>
        <p:nvSpPr>
          <p:cNvPr id="11" name="Shape 8"/>
          <p:cNvSpPr/>
          <p:nvPr/>
        </p:nvSpPr>
        <p:spPr>
          <a:xfrm>
            <a:off x="7998916" y="4552156"/>
            <a:ext cx="3373934" cy="1283494"/>
          </a:xfrm>
          <a:prstGeom prst="roundRect">
            <a:avLst>
              <a:gd name="adj" fmla="val 7421"/>
            </a:avLst>
          </a:prstGeom>
          <a:solidFill>
            <a:srgbClr val="FFFFFF"/>
          </a:solidFill>
          <a:ln w="12700">
            <a:solidFill>
              <a:srgbClr val="CED8E3"/>
            </a:solidFill>
            <a:prstDash val="solid"/>
          </a:ln>
        </p:spPr>
      </p:sp>
      <p:sp>
        <p:nvSpPr>
          <p:cNvPr id="12" name="Text 9"/>
          <p:cNvSpPr/>
          <p:nvPr/>
        </p:nvSpPr>
        <p:spPr>
          <a:xfrm>
            <a:off x="8208466" y="4761706"/>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Hito</a:t>
            </a:r>
            <a:endParaRPr lang="en-US" sz="2200" dirty="0"/>
          </a:p>
        </p:txBody>
      </p:sp>
      <p:sp>
        <p:nvSpPr>
          <p:cNvPr id="13" name="Text 10"/>
          <p:cNvSpPr/>
          <p:nvPr/>
        </p:nvSpPr>
        <p:spPr>
          <a:xfrm>
            <a:off x="8208466" y="5167511"/>
            <a:ext cx="3043479"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Avance 1 del Proyecto M2; antes, pre-work MCP de 1 h</a:t>
            </a:r>
            <a:endParaRPr lang="en-US" sz="1400" dirty="0"/>
          </a:p>
        </p:txBody>
      </p:sp>
      <p:sp>
        <p:nvSpPr>
          <p:cNvPr id="14" name="Text 11"/>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01 / 32</a:t>
            </a:r>
            <a:endParaRPr lang="en-US" sz="1200" dirty="0"/>
          </a:p>
        </p:txBody>
      </p:sp>
      <p:pic>
        <p:nvPicPr>
          <p:cNvPr id="1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Sustentación del Assignment A1</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Cuatro equipos, uno por track, 5 minutos cada uno. Franja adicional a los 180 minutos de S4.</a:t>
            </a:r>
            <a:endParaRPr lang="en-US" sz="1600" dirty="0"/>
          </a:p>
        </p:txBody>
      </p:sp>
      <p:sp>
        <p:nvSpPr>
          <p:cNvPr id="4" name="Shape 2"/>
          <p:cNvSpPr/>
          <p:nvPr/>
        </p:nvSpPr>
        <p:spPr>
          <a:xfrm>
            <a:off x="819150" y="1911747"/>
            <a:ext cx="2476500" cy="1283494"/>
          </a:xfrm>
          <a:prstGeom prst="roundRect">
            <a:avLst>
              <a:gd name="adj" fmla="val 7421"/>
            </a:avLst>
          </a:prstGeom>
          <a:solidFill>
            <a:srgbClr val="FFFFFF"/>
          </a:solidFill>
          <a:ln w="12700">
            <a:solidFill>
              <a:srgbClr val="CED8E3"/>
            </a:solidFill>
            <a:prstDash val="solid"/>
          </a:ln>
        </p:spPr>
      </p:sp>
      <p:sp>
        <p:nvSpPr>
          <p:cNvPr id="5" name="Text 3"/>
          <p:cNvSpPr/>
          <p:nvPr/>
        </p:nvSpPr>
        <p:spPr>
          <a:xfrm>
            <a:off x="1028700" y="2121297"/>
            <a:ext cx="211912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AndesMóvil</a:t>
            </a:r>
            <a:endParaRPr lang="en-US" sz="2200" dirty="0"/>
          </a:p>
        </p:txBody>
      </p:sp>
      <p:sp>
        <p:nvSpPr>
          <p:cNvPr id="6" name="Text 4"/>
          <p:cNvSpPr/>
          <p:nvPr/>
        </p:nvSpPr>
        <p:spPr>
          <a:xfrm>
            <a:off x="1028700" y="2527102"/>
            <a:ext cx="211912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Telecomunicaciones · 5 min</a:t>
            </a:r>
            <a:endParaRPr lang="en-US" sz="1400" dirty="0"/>
          </a:p>
        </p:txBody>
      </p:sp>
      <p:sp>
        <p:nvSpPr>
          <p:cNvPr id="7" name="Shape 5"/>
          <p:cNvSpPr/>
          <p:nvPr/>
        </p:nvSpPr>
        <p:spPr>
          <a:xfrm>
            <a:off x="3511550" y="1911747"/>
            <a:ext cx="2476500" cy="1283494"/>
          </a:xfrm>
          <a:prstGeom prst="roundRect">
            <a:avLst>
              <a:gd name="adj" fmla="val 7421"/>
            </a:avLst>
          </a:prstGeom>
          <a:solidFill>
            <a:srgbClr val="FFFFFF"/>
          </a:solidFill>
          <a:ln w="12700">
            <a:solidFill>
              <a:srgbClr val="CED8E3"/>
            </a:solidFill>
            <a:prstDash val="solid"/>
          </a:ln>
        </p:spPr>
      </p:sp>
      <p:sp>
        <p:nvSpPr>
          <p:cNvPr id="8" name="Text 6"/>
          <p:cNvSpPr/>
          <p:nvPr/>
        </p:nvSpPr>
        <p:spPr>
          <a:xfrm>
            <a:off x="3721100" y="2121297"/>
            <a:ext cx="211912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Banco Inti</a:t>
            </a:r>
            <a:endParaRPr lang="en-US" sz="2200" dirty="0"/>
          </a:p>
        </p:txBody>
      </p:sp>
      <p:sp>
        <p:nvSpPr>
          <p:cNvPr id="9" name="Text 7"/>
          <p:cNvSpPr/>
          <p:nvPr/>
        </p:nvSpPr>
        <p:spPr>
          <a:xfrm>
            <a:off x="3721100" y="2527102"/>
            <a:ext cx="211912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Banca · 5 min</a:t>
            </a:r>
            <a:endParaRPr lang="en-US" sz="1400" dirty="0"/>
          </a:p>
        </p:txBody>
      </p:sp>
      <p:sp>
        <p:nvSpPr>
          <p:cNvPr id="10" name="Shape 8"/>
          <p:cNvSpPr/>
          <p:nvPr/>
        </p:nvSpPr>
        <p:spPr>
          <a:xfrm>
            <a:off x="6203950" y="1911747"/>
            <a:ext cx="2476500" cy="1283494"/>
          </a:xfrm>
          <a:prstGeom prst="roundRect">
            <a:avLst>
              <a:gd name="adj" fmla="val 7421"/>
            </a:avLst>
          </a:prstGeom>
          <a:solidFill>
            <a:srgbClr val="FFFFFF"/>
          </a:solidFill>
          <a:ln w="12700">
            <a:solidFill>
              <a:srgbClr val="CED8E3"/>
            </a:solidFill>
            <a:prstDash val="solid"/>
          </a:ln>
        </p:spPr>
      </p:sp>
      <p:sp>
        <p:nvSpPr>
          <p:cNvPr id="11" name="Text 9"/>
          <p:cNvSpPr/>
          <p:nvPr/>
        </p:nvSpPr>
        <p:spPr>
          <a:xfrm>
            <a:off x="6413500" y="2121297"/>
            <a:ext cx="211912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MercaSur</a:t>
            </a:r>
            <a:endParaRPr lang="en-US" sz="2200" dirty="0"/>
          </a:p>
        </p:txBody>
      </p:sp>
      <p:sp>
        <p:nvSpPr>
          <p:cNvPr id="12" name="Text 10"/>
          <p:cNvSpPr/>
          <p:nvPr/>
        </p:nvSpPr>
        <p:spPr>
          <a:xfrm>
            <a:off x="6413500" y="2527102"/>
            <a:ext cx="211912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Retail · 5 min</a:t>
            </a:r>
            <a:endParaRPr lang="en-US" sz="1400" dirty="0"/>
          </a:p>
        </p:txBody>
      </p:sp>
      <p:sp>
        <p:nvSpPr>
          <p:cNvPr id="13" name="Shape 11"/>
          <p:cNvSpPr/>
          <p:nvPr/>
        </p:nvSpPr>
        <p:spPr>
          <a:xfrm>
            <a:off x="8896350" y="1911747"/>
            <a:ext cx="2476500" cy="1283494"/>
          </a:xfrm>
          <a:prstGeom prst="roundRect">
            <a:avLst>
              <a:gd name="adj" fmla="val 7421"/>
            </a:avLst>
          </a:prstGeom>
          <a:solidFill>
            <a:srgbClr val="FFFFFF"/>
          </a:solidFill>
          <a:ln w="12700">
            <a:solidFill>
              <a:srgbClr val="CED8E3"/>
            </a:solidFill>
            <a:prstDash val="solid"/>
          </a:ln>
        </p:spPr>
      </p:sp>
      <p:sp>
        <p:nvSpPr>
          <p:cNvPr id="14" name="Text 12"/>
          <p:cNvSpPr/>
          <p:nvPr/>
        </p:nvSpPr>
        <p:spPr>
          <a:xfrm>
            <a:off x="9105900" y="2121297"/>
            <a:ext cx="211912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Andina Seguros</a:t>
            </a:r>
            <a:endParaRPr lang="en-US" sz="2200" dirty="0"/>
          </a:p>
        </p:txBody>
      </p:sp>
      <p:sp>
        <p:nvSpPr>
          <p:cNvPr id="15" name="Text 13"/>
          <p:cNvSpPr/>
          <p:nvPr/>
        </p:nvSpPr>
        <p:spPr>
          <a:xfrm>
            <a:off x="9105900" y="2527102"/>
            <a:ext cx="211912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Seguros · 5 min</a:t>
            </a:r>
            <a:endParaRPr lang="en-US" sz="1400" dirty="0"/>
          </a:p>
        </p:txBody>
      </p:sp>
      <p:sp>
        <p:nvSpPr>
          <p:cNvPr id="16" name="Shape 14"/>
          <p:cNvSpPr/>
          <p:nvPr/>
        </p:nvSpPr>
        <p:spPr>
          <a:xfrm>
            <a:off x="819150" y="4730353"/>
            <a:ext cx="10553700" cy="1105297"/>
          </a:xfrm>
          <a:prstGeom prst="roundRect">
            <a:avLst>
              <a:gd name="adj" fmla="val 8618"/>
            </a:avLst>
          </a:prstGeom>
          <a:solidFill>
            <a:srgbClr val="FFFFFF"/>
          </a:solidFill>
          <a:ln w="12700">
            <a:solidFill>
              <a:srgbClr val="CED8E3"/>
            </a:solidFill>
            <a:prstDash val="solid"/>
          </a:ln>
        </p:spPr>
      </p:sp>
      <p:sp>
        <p:nvSpPr>
          <p:cNvPr id="17" name="Text 15"/>
          <p:cNvSpPr/>
          <p:nvPr/>
        </p:nvSpPr>
        <p:spPr>
          <a:xfrm>
            <a:off x="1028700" y="4939903"/>
            <a:ext cx="1043863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Después de la sustentación</a:t>
            </a:r>
            <a:endParaRPr lang="en-US" sz="2200" dirty="0"/>
          </a:p>
        </p:txBody>
      </p:sp>
      <p:sp>
        <p:nvSpPr>
          <p:cNvPr id="18" name="Text 16"/>
          <p:cNvSpPr/>
          <p:nvPr/>
        </p:nvSpPr>
        <p:spPr>
          <a:xfrm>
            <a:off x="1028700" y="5345708"/>
            <a:ext cx="1043863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Empieza el guion de S4: de una tool a cuatro, catálogo, selección y medición.</a:t>
            </a:r>
            <a:endParaRPr lang="en-US" sz="1600" dirty="0"/>
          </a:p>
        </p:txBody>
      </p:sp>
      <p:sp>
        <p:nvSpPr>
          <p:cNvPr id="19" name="Text 17"/>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02 / 32</a:t>
            </a:r>
            <a:endParaRPr lang="en-US" sz="1200" dirty="0"/>
          </a:p>
        </p:txBody>
      </p:sp>
      <p:pic>
        <p:nvPicPr>
          <p:cNvPr id="20"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sabrás hacer al terminar</a:t>
            </a:r>
            <a:endParaRPr lang="en-US" sz="3600" dirty="0"/>
          </a:p>
        </p:txBody>
      </p:sp>
      <p:sp>
        <p:nvSpPr>
          <p:cNvPr id="3" name="Text 1"/>
          <p:cNvSpPr/>
          <p:nvPr/>
        </p:nvSpPr>
        <p:spPr>
          <a:xfrm>
            <a:off x="1092200" y="1472605"/>
            <a:ext cx="10595610" cy="2466777"/>
          </a:xfrm>
          <a:prstGeom prst="rect">
            <a:avLst/>
          </a:prstGeom>
          <a:noFill/>
          <a:ln/>
        </p:spPr>
        <p:txBody>
          <a:bodyPr wrap="square" lIns="0" tIns="0" rIns="0" bIns="0" rtlCol="0" anchor="t">
            <a:normAutofit/>
          </a:bodyPr>
          <a:lstStyle/>
          <a:p>
            <a:pPr algn="l" marL="274320" indent="-274320">
              <a:lnSpc>
                <a:spcPts val="3204"/>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Diseñar un catálogo de tools con responsabilidad única: una tool, una pregunta.</a:t>
            </a:r>
            <a:endParaRPr lang="en-US" sz="1800" dirty="0"/>
          </a:p>
          <a:p>
            <a:pPr algn="l" marL="274320" indent="-274320">
              <a:lnSpc>
                <a:spcPts val="3204"/>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Explicar por qué el tamaño y la ambigüedad del catálogo se miden, y cómo los errores se acumulan en el bucle.</a:t>
            </a:r>
            <a:endParaRPr lang="en-US" sz="1800" dirty="0"/>
          </a:p>
          <a:p>
            <a:pPr algn="l" marL="274320" indent="-274320">
              <a:lnSpc>
                <a:spcPts val="3204"/>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Medir el acierto de selección de tu propio agente y leer una matriz de confusión.</a:t>
            </a:r>
            <a:endParaRPr lang="en-US" sz="1800" dirty="0"/>
          </a:p>
          <a:p>
            <a:pPr algn="l" marL="274320" indent="-274320">
              <a:lnSpc>
                <a:spcPts val="3204"/>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Distinguir una tool idempotente de una que no lo es, y proteger la segunda.</a:t>
            </a:r>
            <a:endParaRPr lang="en-US" sz="1800" dirty="0"/>
          </a:p>
          <a:p>
            <a:pPr algn="l" marL="274320" indent="-274320">
              <a:lnSpc>
                <a:spcPts val="3204"/>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Conectar el agente a un servidor MCP y explicar qué cambia y qué no.</a:t>
            </a:r>
            <a:endParaRPr lang="en-US" sz="1800" dirty="0"/>
          </a:p>
        </p:txBody>
      </p:sp>
      <p:sp>
        <p:nvSpPr>
          <p:cNvPr id="4" name="Text 2"/>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03 / 32</a:t>
            </a:r>
            <a:endParaRPr lang="en-US" sz="1200" dirty="0"/>
          </a:p>
        </p:txBody>
      </p:sp>
      <p:pic>
        <p:nvPicPr>
          <p:cNvPr id="5"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7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mismo bucle, ahora con cuatro tools</a:t>
            </a:r>
            <a:endParaRPr lang="en-US" sz="3600" dirty="0"/>
          </a:p>
        </p:txBody>
      </p:sp>
      <p:sp>
        <p:nvSpPr>
          <p:cNvPr id="3" name="Text 1"/>
          <p:cNvSpPr/>
          <p:nvPr/>
        </p:nvSpPr>
        <p:spPr>
          <a:xfrm>
            <a:off x="812800" y="14725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El número de tools no determina las vueltas del bucle.</a:t>
            </a:r>
            <a:endParaRPr lang="en-US" sz="1600" dirty="0"/>
          </a:p>
        </p:txBody>
      </p:sp>
      <p:pic>
        <p:nvPicPr>
          <p:cNvPr id="4" name="Image 0" descr="Agentic Loop: el modelo propone; la aplicación ejecuta">    </p:cNvPr>
          <p:cNvPicPr>
            <a:picLocks noChangeAspect="1"/>
          </p:cNvPicPr>
          <p:nvPr/>
        </p:nvPicPr>
        <p:blipFill>
          <a:blip r:embed="rId1"/>
          <a:srcRect l="-159" r="-159" t="0" b="0"/>
          <a:stretch/>
        </p:blipFill>
        <p:spPr>
          <a:xfrm>
            <a:off x="2609850" y="1917998"/>
            <a:ext cx="6972300" cy="3911600"/>
          </a:xfrm>
          <a:prstGeom prst="roundRect">
            <a:avLst>
              <a:gd name="adj" fmla="val 2273"/>
            </a:avLst>
          </a:prstGeom>
        </p:spPr>
      </p:pic>
      <p:sp>
        <p:nvSpPr>
          <p:cNvPr id="5" name="Shape 2"/>
          <p:cNvSpPr/>
          <p:nvPr/>
        </p:nvSpPr>
        <p:spPr>
          <a:xfrm>
            <a:off x="2603500" y="1911648"/>
            <a:ext cx="6985000" cy="3924300"/>
          </a:xfrm>
          <a:prstGeom prst="roundRect">
            <a:avLst>
              <a:gd name="adj" fmla="val 2427"/>
            </a:avLst>
          </a:prstGeom>
          <a:noFill/>
          <a:ln w="12700">
            <a:solidFill>
              <a:srgbClr val="CED8E3"/>
            </a:solidFill>
            <a:prstDash val="solid"/>
          </a:ln>
        </p:spPr>
      </p:sp>
      <p:sp>
        <p:nvSpPr>
          <p:cNvPr id="6" name="Text 3"/>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04 / 32</a:t>
            </a:r>
            <a:endParaRPr lang="en-US" sz="1200" dirty="0"/>
          </a:p>
        </p:txBody>
      </p:sp>
      <p:pic>
        <p:nvPicPr>
          <p:cNvPr id="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MCP: un protocolo, no una librería</a:t>
            </a:r>
            <a:endParaRPr lang="en-US" sz="3600" dirty="0"/>
          </a:p>
        </p:txBody>
      </p:sp>
      <p:pic>
        <p:nvPicPr>
          <p:cNvPr id="3" name="Image 0" descr="Agente con LLM y runtime conectado a sus tools">    </p:cNvPr>
          <p:cNvPicPr>
            <a:picLocks noChangeAspect="1"/>
          </p:cNvPicPr>
          <p:nvPr/>
        </p:nvPicPr>
        <p:blipFill>
          <a:blip r:embed="rId1"/>
          <a:srcRect l="0" r="0" t="-31" b="-31"/>
          <a:stretch/>
        </p:blipFill>
        <p:spPr>
          <a:xfrm>
            <a:off x="812800" y="1472605"/>
            <a:ext cx="10566400" cy="2540000"/>
          </a:xfrm>
          <a:prstGeom prst="rect">
            <a:avLst/>
          </a:prstGeom>
        </p:spPr>
      </p:pic>
      <p:sp>
        <p:nvSpPr>
          <p:cNvPr id="4" name="Text 1"/>
          <p:cNvSpPr/>
          <p:nvPr/>
        </p:nvSpPr>
        <p:spPr>
          <a:xfrm>
            <a:off x="914400" y="1967905"/>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5" name="Text 2"/>
          <p:cNvSpPr/>
          <p:nvPr/>
        </p:nvSpPr>
        <p:spPr>
          <a:xfrm>
            <a:off x="104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6" name="Text 3"/>
          <p:cNvSpPr/>
          <p:nvPr/>
        </p:nvSpPr>
        <p:spPr>
          <a:xfrm>
            <a:off x="104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7" name="Text 4"/>
          <p:cNvSpPr/>
          <p:nvPr/>
        </p:nvSpPr>
        <p:spPr>
          <a:xfrm>
            <a:off x="358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8" name="Text 5"/>
          <p:cNvSpPr/>
          <p:nvPr/>
        </p:nvSpPr>
        <p:spPr>
          <a:xfrm>
            <a:off x="358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9" name="Text 6"/>
          <p:cNvSpPr/>
          <p:nvPr/>
        </p:nvSpPr>
        <p:spPr>
          <a:xfrm>
            <a:off x="2565400" y="2412405"/>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0" name="Text 7"/>
          <p:cNvSpPr/>
          <p:nvPr/>
        </p:nvSpPr>
        <p:spPr>
          <a:xfrm>
            <a:off x="2540000" y="3110905"/>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1" name="Text 8"/>
          <p:cNvSpPr/>
          <p:nvPr/>
        </p:nvSpPr>
        <p:spPr>
          <a:xfrm>
            <a:off x="6121400" y="2602905"/>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2" name="Text 9"/>
          <p:cNvSpPr/>
          <p:nvPr/>
        </p:nvSpPr>
        <p:spPr>
          <a:xfrm>
            <a:off x="8204200" y="2755305"/>
            <a:ext cx="1600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Tools @tool</a:t>
            </a:r>
            <a:endParaRPr lang="en-US" sz="1400" dirty="0"/>
          </a:p>
        </p:txBody>
      </p:sp>
      <p:sp>
        <p:nvSpPr>
          <p:cNvPr id="13" name="Text 10"/>
          <p:cNvSpPr/>
          <p:nvPr/>
        </p:nvSpPr>
        <p:spPr>
          <a:xfrm>
            <a:off x="8204200" y="2990255"/>
            <a:ext cx="1600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domain_tools.py</a:t>
            </a:r>
            <a:endParaRPr lang="en-US" sz="1200" dirty="0"/>
          </a:p>
        </p:txBody>
      </p:sp>
      <p:sp>
        <p:nvSpPr>
          <p:cNvPr id="14" name="Text 11"/>
          <p:cNvSpPr/>
          <p:nvPr/>
        </p:nvSpPr>
        <p:spPr>
          <a:xfrm>
            <a:off x="10236200" y="2755305"/>
            <a:ext cx="11176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15" name="Text 12"/>
          <p:cNvSpPr/>
          <p:nvPr/>
        </p:nvSpPr>
        <p:spPr>
          <a:xfrm>
            <a:off x="10236200" y="2990255"/>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a:t>
            </a:r>
            <a:endParaRPr lang="en-US" sz="1200" dirty="0"/>
          </a:p>
        </p:txBody>
      </p:sp>
      <p:sp>
        <p:nvSpPr>
          <p:cNvPr id="16" name="Text 13"/>
          <p:cNvSpPr/>
          <p:nvPr/>
        </p:nvSpPr>
        <p:spPr>
          <a:xfrm>
            <a:off x="9829800" y="2602905"/>
            <a:ext cx="38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17" name="Text 14"/>
          <p:cNvSpPr/>
          <p:nvPr/>
        </p:nvSpPr>
        <p:spPr>
          <a:xfrm>
            <a:off x="5384800" y="1688505"/>
            <a:ext cx="27470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definiciones: bind_tools()</a:t>
            </a:r>
            <a:endParaRPr lang="en-US" sz="1200" dirty="0"/>
          </a:p>
        </p:txBody>
      </p:sp>
      <p:sp>
        <p:nvSpPr>
          <p:cNvPr id="18" name="Shape 15"/>
          <p:cNvSpPr/>
          <p:nvPr/>
        </p:nvSpPr>
        <p:spPr>
          <a:xfrm>
            <a:off x="819150" y="4171355"/>
            <a:ext cx="5168900" cy="1283494"/>
          </a:xfrm>
          <a:prstGeom prst="roundRect">
            <a:avLst>
              <a:gd name="adj" fmla="val 7421"/>
            </a:avLst>
          </a:prstGeom>
          <a:solidFill>
            <a:srgbClr val="FFFFFF"/>
          </a:solidFill>
          <a:ln w="12700">
            <a:solidFill>
              <a:srgbClr val="CED8E3"/>
            </a:solidFill>
            <a:prstDash val="solid"/>
          </a:ln>
        </p:spPr>
      </p:sp>
      <p:sp>
        <p:nvSpPr>
          <p:cNvPr id="19" name="Text 16"/>
          <p:cNvSpPr/>
          <p:nvPr/>
        </p:nvSpPr>
        <p:spPr>
          <a:xfrm>
            <a:off x="1028700" y="43809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Protocolo</a:t>
            </a:r>
            <a:endParaRPr lang="en-US" sz="2200" dirty="0"/>
          </a:p>
        </p:txBody>
      </p:sp>
      <p:sp>
        <p:nvSpPr>
          <p:cNvPr id="20" name="Text 17"/>
          <p:cNvSpPr/>
          <p:nvPr/>
        </p:nvSpPr>
        <p:spPr>
          <a:xfrm>
            <a:off x="1028700" y="4786709"/>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Formato estándar para que un cliente descubra y llame tools de un servidor, sin conocer su implementación.</a:t>
            </a:r>
            <a:endParaRPr lang="en-US" sz="1400" dirty="0"/>
          </a:p>
        </p:txBody>
      </p:sp>
      <p:sp>
        <p:nvSpPr>
          <p:cNvPr id="21" name="Shape 18"/>
          <p:cNvSpPr/>
          <p:nvPr/>
        </p:nvSpPr>
        <p:spPr>
          <a:xfrm>
            <a:off x="6203950" y="4171355"/>
            <a:ext cx="5168900" cy="1283494"/>
          </a:xfrm>
          <a:prstGeom prst="roundRect">
            <a:avLst>
              <a:gd name="adj" fmla="val 7421"/>
            </a:avLst>
          </a:prstGeom>
          <a:solidFill>
            <a:srgbClr val="FFFFFF"/>
          </a:solidFill>
          <a:ln w="12700">
            <a:solidFill>
              <a:srgbClr val="CED8E3"/>
            </a:solidFill>
            <a:prstDash val="solid"/>
          </a:ln>
        </p:spPr>
      </p:sp>
      <p:sp>
        <p:nvSpPr>
          <p:cNvPr id="22" name="Text 19"/>
          <p:cNvSpPr/>
          <p:nvPr/>
        </p:nvSpPr>
        <p:spPr>
          <a:xfrm>
            <a:off x="6413500" y="43809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Misma idea que provider.py</a:t>
            </a:r>
            <a:endParaRPr lang="en-US" sz="2200" dirty="0"/>
          </a:p>
        </p:txBody>
      </p:sp>
      <p:sp>
        <p:nvSpPr>
          <p:cNvPr id="23" name="Text 20"/>
          <p:cNvSpPr/>
          <p:nvPr/>
        </p:nvSpPr>
        <p:spPr>
          <a:xfrm>
            <a:off x="6413500" y="4786709"/>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comun/provider.py separa qué modelo usas; MCP separa dónde viven las tools.</a:t>
            </a:r>
            <a:endParaRPr lang="en-US" sz="1400" dirty="0"/>
          </a:p>
        </p:txBody>
      </p:sp>
      <p:sp>
        <p:nvSpPr>
          <p:cNvPr id="24" name="Text 21"/>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05 / 32</a:t>
            </a:r>
            <a:endParaRPr lang="en-US" sz="1200" dirty="0"/>
          </a:p>
        </p:txBody>
      </p:sp>
      <p:pic>
        <p:nvPicPr>
          <p:cNvPr id="2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cambia y qué no con MCP</a:t>
            </a:r>
            <a:endParaRPr lang="en-US" sz="3600" dirty="0"/>
          </a:p>
        </p:txBody>
      </p:sp>
      <p:pic>
        <p:nvPicPr>
          <p:cNvPr id="3" name="Image 0" descr="Agente con LLM y runtime conectado a sus tools">    </p:cNvPr>
          <p:cNvPicPr>
            <a:picLocks noChangeAspect="1"/>
          </p:cNvPicPr>
          <p:nvPr/>
        </p:nvPicPr>
        <p:blipFill>
          <a:blip r:embed="rId1"/>
          <a:srcRect l="0" r="0" t="-31" b="-31"/>
          <a:stretch/>
        </p:blipFill>
        <p:spPr>
          <a:xfrm>
            <a:off x="812800" y="1472605"/>
            <a:ext cx="10566400" cy="2540000"/>
          </a:xfrm>
          <a:prstGeom prst="rect">
            <a:avLst/>
          </a:prstGeom>
        </p:spPr>
      </p:pic>
      <p:sp>
        <p:nvSpPr>
          <p:cNvPr id="4" name="Text 1"/>
          <p:cNvSpPr/>
          <p:nvPr/>
        </p:nvSpPr>
        <p:spPr>
          <a:xfrm>
            <a:off x="914400" y="1967905"/>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5" name="Text 2"/>
          <p:cNvSpPr/>
          <p:nvPr/>
        </p:nvSpPr>
        <p:spPr>
          <a:xfrm>
            <a:off x="104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6" name="Text 3"/>
          <p:cNvSpPr/>
          <p:nvPr/>
        </p:nvSpPr>
        <p:spPr>
          <a:xfrm>
            <a:off x="104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7" name="Text 4"/>
          <p:cNvSpPr/>
          <p:nvPr/>
        </p:nvSpPr>
        <p:spPr>
          <a:xfrm>
            <a:off x="358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8" name="Text 5"/>
          <p:cNvSpPr/>
          <p:nvPr/>
        </p:nvSpPr>
        <p:spPr>
          <a:xfrm>
            <a:off x="358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9" name="Text 6"/>
          <p:cNvSpPr/>
          <p:nvPr/>
        </p:nvSpPr>
        <p:spPr>
          <a:xfrm>
            <a:off x="2565400" y="2412405"/>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0" name="Text 7"/>
          <p:cNvSpPr/>
          <p:nvPr/>
        </p:nvSpPr>
        <p:spPr>
          <a:xfrm>
            <a:off x="2540000" y="3110905"/>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1" name="Text 8"/>
          <p:cNvSpPr/>
          <p:nvPr/>
        </p:nvSpPr>
        <p:spPr>
          <a:xfrm>
            <a:off x="5308600" y="26029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llama</a:t>
            </a:r>
            <a:endParaRPr lang="en-US" sz="1200" dirty="0"/>
          </a:p>
        </p:txBody>
      </p:sp>
      <p:sp>
        <p:nvSpPr>
          <p:cNvPr id="12" name="Text 9"/>
          <p:cNvSpPr/>
          <p:nvPr/>
        </p:nvSpPr>
        <p:spPr>
          <a:xfrm>
            <a:off x="5867400" y="31236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cliente</a:t>
            </a:r>
            <a:endParaRPr lang="en-US" sz="1200" dirty="0"/>
          </a:p>
        </p:txBody>
      </p:sp>
      <p:sp>
        <p:nvSpPr>
          <p:cNvPr id="13" name="Text 10"/>
          <p:cNvSpPr/>
          <p:nvPr/>
        </p:nvSpPr>
        <p:spPr>
          <a:xfrm>
            <a:off x="7264400" y="31236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servidor</a:t>
            </a:r>
            <a:endParaRPr lang="en-US" sz="1200" dirty="0"/>
          </a:p>
        </p:txBody>
      </p:sp>
      <p:sp>
        <p:nvSpPr>
          <p:cNvPr id="14" name="Text 11"/>
          <p:cNvSpPr/>
          <p:nvPr/>
        </p:nvSpPr>
        <p:spPr>
          <a:xfrm>
            <a:off x="5858510" y="2399705"/>
            <a:ext cx="23545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protocolo MCP</a:t>
            </a:r>
            <a:endParaRPr lang="en-US" sz="1200" dirty="0"/>
          </a:p>
        </p:txBody>
      </p:sp>
      <p:sp>
        <p:nvSpPr>
          <p:cNvPr id="15" name="Text 12"/>
          <p:cNvSpPr/>
          <p:nvPr/>
        </p:nvSpPr>
        <p:spPr>
          <a:xfrm>
            <a:off x="8204200" y="2755305"/>
            <a:ext cx="1600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Servidor MCP</a:t>
            </a:r>
            <a:endParaRPr lang="en-US" sz="1400" dirty="0"/>
          </a:p>
        </p:txBody>
      </p:sp>
      <p:sp>
        <p:nvSpPr>
          <p:cNvPr id="16" name="Text 13"/>
          <p:cNvSpPr/>
          <p:nvPr/>
        </p:nvSpPr>
        <p:spPr>
          <a:xfrm>
            <a:off x="8204200" y="2990255"/>
            <a:ext cx="1600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6 tools</a:t>
            </a:r>
            <a:endParaRPr lang="en-US" sz="1200" dirty="0"/>
          </a:p>
        </p:txBody>
      </p:sp>
      <p:sp>
        <p:nvSpPr>
          <p:cNvPr id="17" name="Text 14"/>
          <p:cNvSpPr/>
          <p:nvPr/>
        </p:nvSpPr>
        <p:spPr>
          <a:xfrm>
            <a:off x="10236200" y="2755305"/>
            <a:ext cx="11176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18" name="Text 15"/>
          <p:cNvSpPr/>
          <p:nvPr/>
        </p:nvSpPr>
        <p:spPr>
          <a:xfrm>
            <a:off x="10236200" y="2990255"/>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a:t>
            </a:r>
            <a:endParaRPr lang="en-US" sz="1200" dirty="0"/>
          </a:p>
        </p:txBody>
      </p:sp>
      <p:sp>
        <p:nvSpPr>
          <p:cNvPr id="19" name="Text 16"/>
          <p:cNvSpPr/>
          <p:nvPr/>
        </p:nvSpPr>
        <p:spPr>
          <a:xfrm>
            <a:off x="9829800" y="2602905"/>
            <a:ext cx="38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20" name="Text 17"/>
          <p:cNvSpPr/>
          <p:nvPr/>
        </p:nvSpPr>
        <p:spPr>
          <a:xfrm>
            <a:off x="5384800" y="1688505"/>
            <a:ext cx="27470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descubre: get_tools()</a:t>
            </a:r>
            <a:endParaRPr lang="en-US" sz="1200" dirty="0"/>
          </a:p>
        </p:txBody>
      </p:sp>
      <p:sp>
        <p:nvSpPr>
          <p:cNvPr id="21" name="Shape 18"/>
          <p:cNvSpPr/>
          <p:nvPr/>
        </p:nvSpPr>
        <p:spPr>
          <a:xfrm>
            <a:off x="819150" y="4171355"/>
            <a:ext cx="5168900" cy="1283494"/>
          </a:xfrm>
          <a:prstGeom prst="roundRect">
            <a:avLst>
              <a:gd name="adj" fmla="val 7421"/>
            </a:avLst>
          </a:prstGeom>
          <a:solidFill>
            <a:srgbClr val="FFFFFF"/>
          </a:solidFill>
          <a:ln w="12700">
            <a:solidFill>
              <a:srgbClr val="CED8E3"/>
            </a:solidFill>
            <a:prstDash val="solid"/>
          </a:ln>
        </p:spPr>
      </p:sp>
      <p:sp>
        <p:nvSpPr>
          <p:cNvPr id="22" name="Text 19"/>
          <p:cNvSpPr/>
          <p:nvPr/>
        </p:nvSpPr>
        <p:spPr>
          <a:xfrm>
            <a:off x="1028700" y="43809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Cambia</a:t>
            </a:r>
            <a:endParaRPr lang="en-US" sz="2200" dirty="0"/>
          </a:p>
        </p:txBody>
      </p:sp>
      <p:sp>
        <p:nvSpPr>
          <p:cNvPr id="23" name="Text 20"/>
          <p:cNvSpPr/>
          <p:nvPr/>
        </p:nvSpPr>
        <p:spPr>
          <a:xfrm>
            <a:off x="1028700" y="4786709"/>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Dónde vive la tool (en el servidor), que se descubre en tiempo de ejecución y el transporte.</a:t>
            </a:r>
            <a:endParaRPr lang="en-US" sz="1400" dirty="0"/>
          </a:p>
        </p:txBody>
      </p:sp>
      <p:sp>
        <p:nvSpPr>
          <p:cNvPr id="24" name="Shape 21"/>
          <p:cNvSpPr/>
          <p:nvPr/>
        </p:nvSpPr>
        <p:spPr>
          <a:xfrm>
            <a:off x="6203950" y="4171355"/>
            <a:ext cx="5168900" cy="1283494"/>
          </a:xfrm>
          <a:prstGeom prst="roundRect">
            <a:avLst>
              <a:gd name="adj" fmla="val 7421"/>
            </a:avLst>
          </a:prstGeom>
          <a:solidFill>
            <a:srgbClr val="FFFFFF"/>
          </a:solidFill>
          <a:ln w="12700">
            <a:solidFill>
              <a:srgbClr val="CED8E3"/>
            </a:solidFill>
            <a:prstDash val="solid"/>
          </a:ln>
        </p:spPr>
      </p:sp>
      <p:sp>
        <p:nvSpPr>
          <p:cNvPr id="25" name="Text 22"/>
          <p:cNvSpPr/>
          <p:nvPr/>
        </p:nvSpPr>
        <p:spPr>
          <a:xfrm>
            <a:off x="6413500" y="43809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cambia</a:t>
            </a:r>
            <a:endParaRPr lang="en-US" sz="2200" dirty="0"/>
          </a:p>
        </p:txBody>
      </p:sp>
      <p:sp>
        <p:nvSpPr>
          <p:cNvPr id="26" name="Text 23"/>
          <p:cNvSpPr/>
          <p:nvPr/>
        </p:nvSpPr>
        <p:spPr>
          <a:xfrm>
            <a:off x="6413500" y="4786709"/>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El LLM propone, el runtime ejecuta, el bucle con tope y el contrato: nombre, descripción y esquema.</a:t>
            </a:r>
            <a:endParaRPr lang="en-US" sz="1400" dirty="0"/>
          </a:p>
        </p:txBody>
      </p:sp>
      <p:sp>
        <p:nvSpPr>
          <p:cNvPr id="27" name="Text 24"/>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06 / 32</a:t>
            </a:r>
            <a:endParaRPr lang="en-US" sz="1200" dirty="0"/>
          </a:p>
        </p:txBody>
      </p:sp>
      <p:pic>
        <p:nvPicPr>
          <p:cNvPr id="28"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Dos transportes, el mismo código</a:t>
            </a:r>
            <a:endParaRPr lang="en-US" sz="3600" dirty="0"/>
          </a:p>
        </p:txBody>
      </p:sp>
      <p:pic>
        <p:nvPicPr>
          <p:cNvPr id="3" name="Image 0" descr="Agente con LLM y runtime conectado a sus tools">    </p:cNvPr>
          <p:cNvPicPr>
            <a:picLocks noChangeAspect="1"/>
          </p:cNvPicPr>
          <p:nvPr/>
        </p:nvPicPr>
        <p:blipFill>
          <a:blip r:embed="rId1"/>
          <a:srcRect l="0" r="0" t="-31" b="-31"/>
          <a:stretch/>
        </p:blipFill>
        <p:spPr>
          <a:xfrm>
            <a:off x="812800" y="1472605"/>
            <a:ext cx="10566400" cy="2540000"/>
          </a:xfrm>
          <a:prstGeom prst="rect">
            <a:avLst/>
          </a:prstGeom>
        </p:spPr>
      </p:pic>
      <p:sp>
        <p:nvSpPr>
          <p:cNvPr id="4" name="Text 1"/>
          <p:cNvSpPr/>
          <p:nvPr/>
        </p:nvSpPr>
        <p:spPr>
          <a:xfrm>
            <a:off x="914400" y="1967905"/>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5" name="Text 2"/>
          <p:cNvSpPr/>
          <p:nvPr/>
        </p:nvSpPr>
        <p:spPr>
          <a:xfrm>
            <a:off x="104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6" name="Text 3"/>
          <p:cNvSpPr/>
          <p:nvPr/>
        </p:nvSpPr>
        <p:spPr>
          <a:xfrm>
            <a:off x="104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7" name="Text 4"/>
          <p:cNvSpPr/>
          <p:nvPr/>
        </p:nvSpPr>
        <p:spPr>
          <a:xfrm>
            <a:off x="3581400" y="2882305"/>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8" name="Text 5"/>
          <p:cNvSpPr/>
          <p:nvPr/>
        </p:nvSpPr>
        <p:spPr>
          <a:xfrm>
            <a:off x="3581400" y="311725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9" name="Text 6"/>
          <p:cNvSpPr/>
          <p:nvPr/>
        </p:nvSpPr>
        <p:spPr>
          <a:xfrm>
            <a:off x="2565400" y="2412405"/>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0" name="Text 7"/>
          <p:cNvSpPr/>
          <p:nvPr/>
        </p:nvSpPr>
        <p:spPr>
          <a:xfrm>
            <a:off x="2540000" y="3110905"/>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1" name="Text 8"/>
          <p:cNvSpPr/>
          <p:nvPr/>
        </p:nvSpPr>
        <p:spPr>
          <a:xfrm>
            <a:off x="5308600" y="26029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llama</a:t>
            </a:r>
            <a:endParaRPr lang="en-US" sz="1200" dirty="0"/>
          </a:p>
        </p:txBody>
      </p:sp>
      <p:sp>
        <p:nvSpPr>
          <p:cNvPr id="12" name="Text 9"/>
          <p:cNvSpPr/>
          <p:nvPr/>
        </p:nvSpPr>
        <p:spPr>
          <a:xfrm>
            <a:off x="5867400" y="31236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cliente</a:t>
            </a:r>
            <a:endParaRPr lang="en-US" sz="1200" dirty="0"/>
          </a:p>
        </p:txBody>
      </p:sp>
      <p:sp>
        <p:nvSpPr>
          <p:cNvPr id="13" name="Text 10"/>
          <p:cNvSpPr/>
          <p:nvPr/>
        </p:nvSpPr>
        <p:spPr>
          <a:xfrm>
            <a:off x="7264400" y="31236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servidor</a:t>
            </a:r>
            <a:endParaRPr lang="en-US" sz="1200" dirty="0"/>
          </a:p>
        </p:txBody>
      </p:sp>
      <p:sp>
        <p:nvSpPr>
          <p:cNvPr id="14" name="Text 11"/>
          <p:cNvSpPr/>
          <p:nvPr/>
        </p:nvSpPr>
        <p:spPr>
          <a:xfrm>
            <a:off x="5858510" y="2399705"/>
            <a:ext cx="235458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Mono" pitchFamily="34" charset="0"/>
                <a:ea typeface="IBM Plex Mono" pitchFamily="34" charset="-122"/>
                <a:cs typeface="IBM Plex Mono" pitchFamily="34" charset="-120"/>
              </a:rPr>
              <a:t>stdio | streamable_http</a:t>
            </a:r>
            <a:endParaRPr lang="en-US" sz="1200" dirty="0"/>
          </a:p>
        </p:txBody>
      </p:sp>
      <p:sp>
        <p:nvSpPr>
          <p:cNvPr id="15" name="Text 12"/>
          <p:cNvSpPr/>
          <p:nvPr/>
        </p:nvSpPr>
        <p:spPr>
          <a:xfrm>
            <a:off x="8204200" y="2755305"/>
            <a:ext cx="1600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Servidor MCP</a:t>
            </a:r>
            <a:endParaRPr lang="en-US" sz="1400" dirty="0"/>
          </a:p>
        </p:txBody>
      </p:sp>
      <p:sp>
        <p:nvSpPr>
          <p:cNvPr id="16" name="Text 13"/>
          <p:cNvSpPr/>
          <p:nvPr/>
        </p:nvSpPr>
        <p:spPr>
          <a:xfrm>
            <a:off x="8204200" y="2990255"/>
            <a:ext cx="1600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6 tools</a:t>
            </a:r>
            <a:endParaRPr lang="en-US" sz="1200" dirty="0"/>
          </a:p>
        </p:txBody>
      </p:sp>
      <p:sp>
        <p:nvSpPr>
          <p:cNvPr id="17" name="Text 14"/>
          <p:cNvSpPr/>
          <p:nvPr/>
        </p:nvSpPr>
        <p:spPr>
          <a:xfrm>
            <a:off x="10236200" y="2755305"/>
            <a:ext cx="11176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18" name="Text 15"/>
          <p:cNvSpPr/>
          <p:nvPr/>
        </p:nvSpPr>
        <p:spPr>
          <a:xfrm>
            <a:off x="10236200" y="2990255"/>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a:t>
            </a:r>
            <a:endParaRPr lang="en-US" sz="1200" dirty="0"/>
          </a:p>
        </p:txBody>
      </p:sp>
      <p:sp>
        <p:nvSpPr>
          <p:cNvPr id="19" name="Text 16"/>
          <p:cNvSpPr/>
          <p:nvPr/>
        </p:nvSpPr>
        <p:spPr>
          <a:xfrm>
            <a:off x="9829800" y="2602905"/>
            <a:ext cx="38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20" name="Text 17"/>
          <p:cNvSpPr/>
          <p:nvPr/>
        </p:nvSpPr>
        <p:spPr>
          <a:xfrm>
            <a:off x="5384800" y="1688505"/>
            <a:ext cx="27470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descubre: get_tools()</a:t>
            </a:r>
            <a:endParaRPr lang="en-US" sz="1200" dirty="0"/>
          </a:p>
        </p:txBody>
      </p:sp>
      <p:sp>
        <p:nvSpPr>
          <p:cNvPr id="21" name="Shape 18"/>
          <p:cNvSpPr/>
          <p:nvPr/>
        </p:nvSpPr>
        <p:spPr>
          <a:xfrm>
            <a:off x="812800" y="4171355"/>
            <a:ext cx="5177532" cy="0"/>
          </a:xfrm>
          <a:prstGeom prst="line">
            <a:avLst/>
          </a:prstGeom>
          <a:noFill/>
          <a:ln w="12700">
            <a:solidFill>
              <a:srgbClr val="141413">
                <a:alpha val="22000"/>
              </a:srgbClr>
            </a:solidFill>
            <a:prstDash val="solid"/>
          </a:ln>
        </p:spPr>
      </p:sp>
      <p:sp>
        <p:nvSpPr>
          <p:cNvPr id="22" name="Shape 19"/>
          <p:cNvSpPr/>
          <p:nvPr/>
        </p:nvSpPr>
        <p:spPr>
          <a:xfrm>
            <a:off x="819150" y="4165005"/>
            <a:ext cx="0" cy="1589484"/>
          </a:xfrm>
          <a:prstGeom prst="line">
            <a:avLst/>
          </a:prstGeom>
          <a:noFill/>
          <a:ln w="12700">
            <a:solidFill>
              <a:srgbClr val="141413">
                <a:alpha val="22000"/>
              </a:srgbClr>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927100" y="4253905"/>
          <a:ext cx="4961632" cy="1424384"/>
        </p:xfrm>
        <a:graphic>
          <a:graphicData uri="http://schemas.openxmlformats.org/drawingml/2006/table">
            <a:tbl>
              <a:tblPr/>
              <a:tblGrid>
                <a:gridCol w="1488490"/>
                <a:gridCol w="1786188"/>
                <a:gridCol w="1686955"/>
              </a:tblGrid>
              <a:tr h="332581">
                <a:tc>
                  <a:txBody>
                    <a:bodyPr/>
                    <a:lstStyle/>
                    <a:p>
                      <a:pPr indent="0" marL="0">
                        <a:lnSpc>
                          <a:spcPts val="1680"/>
                        </a:lnSpc>
                        <a:buNone/>
                      </a:pPr>
                      <a:r>
                        <a:rPr lang="en-US" sz="1200" b="1" dirty="0">
                          <a:solidFill>
                            <a:srgbClr val="1E293B"/>
                          </a:solidFill>
                          <a:latin typeface="IBM Plex Sans" pitchFamily="34" charset="0"/>
                          <a:ea typeface="IBM Plex Sans" pitchFamily="34" charset="-122"/>
                          <a:cs typeface="IBM Plex Sans" pitchFamily="34" charset="-120"/>
                        </a:rPr>
                        <a:t>Transporte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680"/>
                        </a:lnSpc>
                        <a:buNone/>
                      </a:pPr>
                      <a:r>
                        <a:rPr lang="en-US" sz="1200" b="1" dirty="0">
                          <a:solidFill>
                            <a:srgbClr val="1E293B"/>
                          </a:solidFill>
                          <a:latin typeface="IBM Plex Sans" pitchFamily="34" charset="0"/>
                          <a:ea typeface="IBM Plex Sans" pitchFamily="34" charset="-122"/>
                          <a:cs typeface="IBM Plex Sans" pitchFamily="34" charset="-120"/>
                        </a:rPr>
                        <a:t>Cuándo se usa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680"/>
                        </a:lnSpc>
                        <a:buNone/>
                      </a:pPr>
                      <a:r>
                        <a:rPr lang="en-US" sz="1200" b="1" dirty="0">
                          <a:solidFill>
                            <a:srgbClr val="1E293B"/>
                          </a:solidFill>
                          <a:latin typeface="IBM Plex Sans" pitchFamily="34" charset="0"/>
                          <a:ea typeface="IBM Plex Sans" pitchFamily="34" charset="-122"/>
                          <a:cs typeface="IBM Plex Sans" pitchFamily="34" charset="-120"/>
                        </a:rPr>
                        <a:t>Cómo se conecta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545902">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stdio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Desarrollo local: subproceso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command + args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545902">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streamable_http</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Simulador en HF Spaces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url: SIM_BASE_URL/mcp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24" name="Shape 20"/>
          <p:cNvSpPr/>
          <p:nvPr/>
        </p:nvSpPr>
        <p:spPr>
          <a:xfrm>
            <a:off x="6193532" y="4165005"/>
            <a:ext cx="5185668" cy="1589484"/>
          </a:xfrm>
          <a:prstGeom prst="roundRect">
            <a:avLst>
              <a:gd name="adj" fmla="val 1598"/>
            </a:avLst>
          </a:prstGeom>
          <a:solidFill>
            <a:srgbClr val="1E293B"/>
          </a:solidFill>
          <a:ln/>
        </p:spPr>
      </p:sp>
      <p:sp>
        <p:nvSpPr>
          <p:cNvPr id="25" name="Text 21"/>
          <p:cNvSpPr/>
          <p:nvPr/>
        </p:nvSpPr>
        <p:spPr>
          <a:xfrm>
            <a:off x="6396732" y="4317405"/>
            <a:ext cx="4922646" cy="458192"/>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MCP_TRANSPORT=stdio   # stdio | http</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MCP_STDIO_ARGS=simulador-industria/mcp_server.py</a:t>
            </a:r>
            <a:endParaRPr lang="en-US" sz="1200" dirty="0"/>
          </a:p>
        </p:txBody>
      </p:sp>
      <p:sp>
        <p:nvSpPr>
          <p:cNvPr id="26" name="Text 22"/>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07 / 32</a:t>
            </a:r>
            <a:endParaRPr lang="en-US" sz="1200" dirty="0"/>
          </a:p>
        </p:txBody>
      </p:sp>
      <p:pic>
        <p:nvPicPr>
          <p:cNvPr id="2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Conectarse también es filtrar</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El servidor expone 6 tools. Tu agente enlaza solo las pertinentes a su track y vuelve a medir.</a:t>
            </a:r>
            <a:endParaRPr lang="en-US" sz="1600" dirty="0"/>
          </a:p>
        </p:txBody>
      </p:sp>
      <p:sp>
        <p:nvSpPr>
          <p:cNvPr id="4" name="Shape 2"/>
          <p:cNvSpPr/>
          <p:nvPr/>
        </p:nvSpPr>
        <p:spPr>
          <a:xfrm>
            <a:off x="812800" y="1911747"/>
            <a:ext cx="10566400" cy="0"/>
          </a:xfrm>
          <a:prstGeom prst="line">
            <a:avLst/>
          </a:prstGeom>
          <a:noFill/>
          <a:ln w="12700">
            <a:solidFill>
              <a:srgbClr val="141413">
                <a:alpha val="22000"/>
              </a:srgbClr>
            </a:solidFill>
            <a:prstDash val="solid"/>
          </a:ln>
        </p:spPr>
      </p:sp>
      <p:sp>
        <p:nvSpPr>
          <p:cNvPr id="5" name="Shape 3"/>
          <p:cNvSpPr/>
          <p:nvPr/>
        </p:nvSpPr>
        <p:spPr>
          <a:xfrm>
            <a:off x="819150" y="1905397"/>
            <a:ext cx="0" cy="2866827"/>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994297"/>
          <a:ext cx="10350500" cy="2701727"/>
        </p:xfrm>
        <a:graphic>
          <a:graphicData uri="http://schemas.openxmlformats.org/drawingml/2006/table">
            <a:tbl>
              <a:tblPr/>
              <a:tblGrid>
                <a:gridCol w="3726180"/>
                <a:gridCol w="1656080"/>
                <a:gridCol w="496824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Herramienta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Industria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hace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check_portability_eligibility</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Telco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Evalúa si una línea puede portarse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get_coverage_by_district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Telco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Cobertura e incidencias de un distrito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get_transfer_limits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Banca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Límites de transferencia de una cuenta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estimate_delivery</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Retail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Costo y plazo de despacho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list_affiliated_clinics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Red de clínicas por distrito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get_vehicle_info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Datos del vehículo por placa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7" name="Text 4"/>
          <p:cNvSpPr/>
          <p:nvPr/>
        </p:nvSpPr>
        <p:spPr>
          <a:xfrm>
            <a:off x="812800" y="4924623"/>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Construir un servidor MCP propio con 2 tools es reto opcional del L4, no requisito.</a:t>
            </a:r>
            <a:endParaRPr lang="en-US" sz="1400" dirty="0"/>
          </a:p>
        </p:txBody>
      </p:sp>
      <p:sp>
        <p:nvSpPr>
          <p:cNvPr id="8" name="Text 5"/>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08 / 32</a:t>
            </a:r>
            <a:endParaRPr lang="en-US" sz="1200" dirty="0"/>
          </a:p>
        </p:txBody>
      </p:sp>
      <p:pic>
        <p:nvPicPr>
          <p:cNvPr id="9"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 una tool a cuatro: qué se rompe</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Con una tool el modelo decide si la usa. Con cuatro, además decide cuál.</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ya la tienes: viene del L3</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nueva en el L4</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nueva en el L4</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nueva en el L4 · escritura</a:t>
            </a:r>
            <a:endParaRPr lang="en-US" sz="1200" dirty="0"/>
          </a:p>
        </p:txBody>
      </p:sp>
      <p:sp>
        <p:nvSpPr>
          <p:cNvPr id="21" name="Text 18"/>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09 / 32</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tool, una pregunta</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Si no la nombras con un verbo y un dato, hace más de una cosa: manage_line son dos tools.</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¿Qué plan tengo contratado?</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¿Cuántos gigas he consumido?</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¿Por qué no tengo señal?</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Quiero registrar un reclamo</a:t>
            </a:r>
            <a:endParaRPr lang="en-US" sz="1200" dirty="0"/>
          </a:p>
        </p:txBody>
      </p:sp>
      <p:sp>
        <p:nvSpPr>
          <p:cNvPr id="21" name="Text 18"/>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10 / 32</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modelo no ve tu código</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Decide solo con tres cosas: nombre de la tool, docstring y esquema de argumentos.</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(numero_linea)</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(numero_linea, periodo)</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(numero_linea)</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(numero_linea, tipo, descripcion, …)</a:t>
            </a:r>
            <a:endParaRPr lang="en-US" sz="1200" dirty="0"/>
          </a:p>
        </p:txBody>
      </p:sp>
      <p:sp>
        <p:nvSpPr>
          <p:cNvPr id="21" name="Text 18"/>
          <p:cNvSpPr/>
          <p:nvPr/>
        </p:nvSpPr>
        <p:spPr>
          <a:xfrm>
            <a:off x="5359400" y="5385197"/>
            <a:ext cx="177901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definiciones de tools</a:t>
            </a:r>
            <a:endParaRPr lang="en-US" sz="1200" dirty="0"/>
          </a:p>
        </p:txBody>
      </p:sp>
      <p:sp>
        <p:nvSpPr>
          <p:cNvPr id="22" name="Text 1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11 / 32</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Falla 1: solapamiento</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«Mi internet no funciona y quiero que quede constancia por escrito.»</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plan contratado de la línea</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consumo de datos, minutos y SMS</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falla técnica del servicio</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reclamo formal pedido por el cliente</a:t>
            </a:r>
            <a:endParaRPr lang="en-US" sz="1200" dirty="0"/>
          </a:p>
        </p:txBody>
      </p:sp>
      <p:sp>
        <p:nvSpPr>
          <p:cNvPr id="21" name="Text 18"/>
          <p:cNvSpPr/>
          <p:nvPr/>
        </p:nvSpPr>
        <p:spPr>
          <a:xfrm>
            <a:off x="5359400" y="5385197"/>
            <a:ext cx="177901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definiciones de tools</a:t>
            </a:r>
            <a:endParaRPr lang="en-US" sz="1200" dirty="0"/>
          </a:p>
        </p:txBody>
      </p:sp>
      <p:sp>
        <p:nvSpPr>
          <p:cNvPr id="22" name="Text 1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12 / 32</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Falla 2: vacío</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«¿Puedo portar mi número a otro operador?»: ninguna de las cuatro lo describe.</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plan contratado de la línea</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consumo de datos, minutos y SMS</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falla técnica del servicio</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reclamo formal pedido por el cliente</a:t>
            </a:r>
            <a:endParaRPr lang="en-US" sz="1200" dirty="0"/>
          </a:p>
        </p:txBody>
      </p:sp>
      <p:sp>
        <p:nvSpPr>
          <p:cNvPr id="21" name="Text 18"/>
          <p:cNvSpPr/>
          <p:nvPr/>
        </p:nvSpPr>
        <p:spPr>
          <a:xfrm>
            <a:off x="5359400" y="5385197"/>
            <a:ext cx="177901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definiciones de tools</a:t>
            </a:r>
            <a:endParaRPr lang="en-US" sz="1200" dirty="0"/>
          </a:p>
        </p:txBody>
      </p:sp>
      <p:sp>
        <p:nvSpPr>
          <p:cNvPr id="22" name="Text 1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13 / 32</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Falla 3: sobre-uso</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«¿Cuánto cuesta el plan Max 89 al mes?»: no debía llamar a ninguna tool.</a:t>
            </a:r>
            <a:endParaRPr lang="en-US" sz="1600" dirty="0"/>
          </a:p>
        </p:txBody>
      </p:sp>
      <p:pic>
        <p:nvPicPr>
          <p:cNvPr id="4" name="Image 0" descr="Agente con LLM y runtime; el runtime ejecuta una de cuatro tools">    </p:cNvPr>
          <p:cNvPicPr>
            <a:picLocks noChangeAspect="1"/>
          </p:cNvPicPr>
          <p:nvPr/>
        </p:nvPicPr>
        <p:blipFill>
          <a:blip r:embed="rId1"/>
          <a:srcRect l="0" r="0" t="-31" b="-31"/>
          <a:stretch/>
        </p:blipFill>
        <p:spPr>
          <a:xfrm>
            <a:off x="812800" y="1905397"/>
            <a:ext cx="10566400" cy="3810000"/>
          </a:xfrm>
          <a:prstGeom prst="rect">
            <a:avLst/>
          </a:prstGeom>
        </p:spPr>
      </p:pic>
      <p:sp>
        <p:nvSpPr>
          <p:cNvPr id="5" name="Text 2"/>
          <p:cNvSpPr/>
          <p:nvPr/>
        </p:nvSpPr>
        <p:spPr>
          <a:xfrm>
            <a:off x="939800" y="2387997"/>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6" name="Text 3"/>
          <p:cNvSpPr/>
          <p:nvPr/>
        </p:nvSpPr>
        <p:spPr>
          <a:xfrm>
            <a:off x="104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104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3581400" y="3696097"/>
            <a:ext cx="1473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3581400" y="3931047"/>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2565400" y="3276997"/>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1" name="Text 8"/>
          <p:cNvSpPr/>
          <p:nvPr/>
        </p:nvSpPr>
        <p:spPr>
          <a:xfrm>
            <a:off x="2540000" y="397549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2" name="Text 9"/>
          <p:cNvSpPr/>
          <p:nvPr/>
        </p:nvSpPr>
        <p:spPr>
          <a:xfrm>
            <a:off x="5105400" y="3448447"/>
            <a:ext cx="1016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3" name="Text 10"/>
          <p:cNvSpPr/>
          <p:nvPr/>
        </p:nvSpPr>
        <p:spPr>
          <a:xfrm>
            <a:off x="7670800" y="20704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get_customer_plan</a:t>
            </a:r>
            <a:endParaRPr lang="en-US" sz="1300" dirty="0"/>
          </a:p>
        </p:txBody>
      </p:sp>
      <p:sp>
        <p:nvSpPr>
          <p:cNvPr id="14" name="Text 11"/>
          <p:cNvSpPr/>
          <p:nvPr/>
        </p:nvSpPr>
        <p:spPr>
          <a:xfrm>
            <a:off x="7670800" y="23752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plan contratado de la línea</a:t>
            </a:r>
            <a:endParaRPr lang="en-US" sz="1200" dirty="0"/>
          </a:p>
        </p:txBody>
      </p:sp>
      <p:sp>
        <p:nvSpPr>
          <p:cNvPr id="15" name="Text 12"/>
          <p:cNvSpPr/>
          <p:nvPr/>
        </p:nvSpPr>
        <p:spPr>
          <a:xfrm>
            <a:off x="7670800" y="30356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get_data_usage</a:t>
            </a:r>
            <a:endParaRPr lang="en-US" sz="1300" dirty="0"/>
          </a:p>
        </p:txBody>
      </p:sp>
      <p:sp>
        <p:nvSpPr>
          <p:cNvPr id="16" name="Text 13"/>
          <p:cNvSpPr/>
          <p:nvPr/>
        </p:nvSpPr>
        <p:spPr>
          <a:xfrm>
            <a:off x="7670800" y="33404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consumo de datos, minutos y SMS</a:t>
            </a:r>
            <a:endParaRPr lang="en-US" sz="1200" dirty="0"/>
          </a:p>
        </p:txBody>
      </p:sp>
      <p:sp>
        <p:nvSpPr>
          <p:cNvPr id="17" name="Text 14"/>
          <p:cNvSpPr/>
          <p:nvPr/>
        </p:nvSpPr>
        <p:spPr>
          <a:xfrm>
            <a:off x="7670800" y="40008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run_line_diagnostics</a:t>
            </a:r>
            <a:endParaRPr lang="en-US" sz="1300" dirty="0"/>
          </a:p>
        </p:txBody>
      </p:sp>
      <p:sp>
        <p:nvSpPr>
          <p:cNvPr id="18" name="Text 15"/>
          <p:cNvSpPr/>
          <p:nvPr/>
        </p:nvSpPr>
        <p:spPr>
          <a:xfrm>
            <a:off x="7670800" y="43056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falla técnica del servicio</a:t>
            </a:r>
            <a:endParaRPr lang="en-US" sz="1200" dirty="0"/>
          </a:p>
        </p:txBody>
      </p:sp>
      <p:sp>
        <p:nvSpPr>
          <p:cNvPr id="19" name="Text 16"/>
          <p:cNvSpPr/>
          <p:nvPr/>
        </p:nvSpPr>
        <p:spPr>
          <a:xfrm>
            <a:off x="7670800" y="4966097"/>
            <a:ext cx="3715004" cy="241598"/>
          </a:xfrm>
          <a:prstGeom prst="rect">
            <a:avLst/>
          </a:prstGeom>
          <a:noFill/>
          <a:ln/>
        </p:spPr>
        <p:txBody>
          <a:bodyPr wrap="square" lIns="0" tIns="0" rIns="0" bIns="0" rtlCol="0" anchor="t">
            <a:normAutofit/>
          </a:bodyPr>
          <a:lstStyle/>
          <a:p>
            <a:pPr algn="l" indent="0" marL="0">
              <a:lnSpc>
                <a:spcPts val="1703"/>
              </a:lnSpc>
              <a:buNone/>
            </a:pPr>
            <a:r>
              <a:rPr lang="en-US" sz="1300" dirty="0">
                <a:solidFill>
                  <a:srgbClr val="1E293B"/>
                </a:solidFill>
                <a:latin typeface="IBM Plex Mono" pitchFamily="34" charset="0"/>
                <a:ea typeface="IBM Plex Mono" pitchFamily="34" charset="-122"/>
                <a:cs typeface="IBM Plex Mono" pitchFamily="34" charset="-120"/>
              </a:rPr>
              <a:t>create_complaint_ticket</a:t>
            </a:r>
            <a:endParaRPr lang="en-US" sz="1300" dirty="0"/>
          </a:p>
        </p:txBody>
      </p:sp>
      <p:sp>
        <p:nvSpPr>
          <p:cNvPr id="20" name="Text 17"/>
          <p:cNvSpPr/>
          <p:nvPr/>
        </p:nvSpPr>
        <p:spPr>
          <a:xfrm>
            <a:off x="7670800" y="5270897"/>
            <a:ext cx="3715004"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reclamo formal pedido por el cliente</a:t>
            </a:r>
            <a:endParaRPr lang="en-US" sz="1200" dirty="0"/>
          </a:p>
        </p:txBody>
      </p:sp>
      <p:sp>
        <p:nvSpPr>
          <p:cNvPr id="21" name="Text 18"/>
          <p:cNvSpPr/>
          <p:nvPr/>
        </p:nvSpPr>
        <p:spPr>
          <a:xfrm>
            <a:off x="5359400" y="5385197"/>
            <a:ext cx="177901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definiciones de tools</a:t>
            </a:r>
            <a:endParaRPr lang="en-US" sz="1200" dirty="0"/>
          </a:p>
        </p:txBody>
      </p:sp>
      <p:sp>
        <p:nvSpPr>
          <p:cNvPr id="22" name="Text 1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14 / 32</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1 · Un agente, cuatro tools</a:t>
            </a:r>
            <a:endParaRPr lang="en-US" sz="3600" dirty="0"/>
          </a:p>
        </p:txBody>
      </p:sp>
      <p:sp>
        <p:nvSpPr>
          <p:cNvPr id="3" name="Shape 1"/>
          <p:cNvSpPr/>
          <p:nvPr/>
        </p:nvSpPr>
        <p:spPr>
          <a:xfrm>
            <a:off x="812800" y="1472605"/>
            <a:ext cx="10566400" cy="521196"/>
          </a:xfrm>
          <a:prstGeom prst="roundRect">
            <a:avLst>
              <a:gd name="adj" fmla="val 4873"/>
            </a:avLst>
          </a:prstGeom>
          <a:solidFill>
            <a:srgbClr val="1E293B"/>
          </a:solidFill>
          <a:ln/>
        </p:spPr>
      </p:sp>
      <p:sp>
        <p:nvSpPr>
          <p:cNvPr id="4" name="Text 2"/>
          <p:cNvSpPr/>
          <p:nvPr/>
        </p:nvSpPr>
        <p:spPr>
          <a:xfrm>
            <a:off x="1016000" y="1625005"/>
            <a:ext cx="10464800" cy="24179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python modulo-2-agentes-avanzados/sesion-04-tools-multiples/code/01_multi_tool.py</a:t>
            </a:r>
            <a:endParaRPr lang="en-US" sz="1200" dirty="0"/>
          </a:p>
        </p:txBody>
      </p:sp>
      <p:sp>
        <p:nvSpPr>
          <p:cNvPr id="5" name="Shape 3"/>
          <p:cNvSpPr/>
          <p:nvPr/>
        </p:nvSpPr>
        <p:spPr>
          <a:xfrm>
            <a:off x="812800" y="2152551"/>
            <a:ext cx="6111677" cy="0"/>
          </a:xfrm>
          <a:prstGeom prst="line">
            <a:avLst/>
          </a:prstGeom>
          <a:noFill/>
          <a:ln w="12700">
            <a:solidFill>
              <a:srgbClr val="141413">
                <a:alpha val="22000"/>
              </a:srgbClr>
            </a:solidFill>
            <a:prstDash val="solid"/>
          </a:ln>
        </p:spPr>
      </p:sp>
      <p:sp>
        <p:nvSpPr>
          <p:cNvPr id="6" name="Shape 4"/>
          <p:cNvSpPr/>
          <p:nvPr/>
        </p:nvSpPr>
        <p:spPr>
          <a:xfrm>
            <a:off x="819150" y="2146201"/>
            <a:ext cx="0" cy="3090267"/>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7100" y="2235101"/>
          <a:ext cx="5895777" cy="2925167"/>
        </p:xfrm>
        <a:graphic>
          <a:graphicData uri="http://schemas.openxmlformats.org/drawingml/2006/table">
            <a:tbl>
              <a:tblPr/>
              <a:tblGrid>
                <a:gridCol w="3891213"/>
                <a:gridCol w="2004564"/>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Pregunta del demo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Tool que elige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¿Cuántos gigas me quedan? Mi línea es 987654321</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tengo señal desde ayer, la línea es 912345678</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Quiero dejar un reclamo por avería, llevo tres días sin servicio, línea 987654321</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¿Cuánto cuesta el plan Max 89 al mes?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ninguna: tarifas → RAG (S5)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8" name="Shape 5"/>
          <p:cNvSpPr/>
          <p:nvPr/>
        </p:nvSpPr>
        <p:spPr>
          <a:xfrm>
            <a:off x="7134027" y="2152551"/>
            <a:ext cx="4238823" cy="3077567"/>
          </a:xfrm>
          <a:prstGeom prst="roundRect">
            <a:avLst>
              <a:gd name="adj" fmla="val 3095"/>
            </a:avLst>
          </a:prstGeom>
          <a:solidFill>
            <a:srgbClr val="FFFFFF"/>
          </a:solidFill>
          <a:ln w="12700">
            <a:solidFill>
              <a:srgbClr val="CED8E3"/>
            </a:solidFill>
            <a:prstDash val="solid"/>
          </a:ln>
        </p:spPr>
      </p:sp>
      <p:sp>
        <p:nvSpPr>
          <p:cNvPr id="9" name="Text 6"/>
          <p:cNvSpPr/>
          <p:nvPr/>
        </p:nvSpPr>
        <p:spPr>
          <a:xfrm>
            <a:off x="7343577" y="2362101"/>
            <a:ext cx="3934315"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mirar</a:t>
            </a:r>
            <a:endParaRPr lang="en-US" sz="2200" dirty="0"/>
          </a:p>
        </p:txBody>
      </p:sp>
      <p:sp>
        <p:nvSpPr>
          <p:cNvPr id="10" name="Text 7"/>
          <p:cNvSpPr/>
          <p:nvPr/>
        </p:nvSpPr>
        <p:spPr>
          <a:xfrm>
            <a:off x="7343577" y="2767905"/>
            <a:ext cx="3934315"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La misma lista de tools y el mismo bucle (MAX_ITERATIONS = 4). Solo cambia la pregunta.</a:t>
            </a:r>
            <a:endParaRPr lang="en-US" sz="1400" dirty="0"/>
          </a:p>
        </p:txBody>
      </p:sp>
      <p:sp>
        <p:nvSpPr>
          <p:cNvPr id="11" name="Text 8"/>
          <p:cNvSpPr/>
          <p:nvPr/>
        </p:nvSpPr>
        <p:spPr>
          <a:xfrm>
            <a:off x="7343577" y="3531989"/>
            <a:ext cx="3934315"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Requiere HF_TOKEN. Usa la referencia del docente, no tu L4.</a:t>
            </a:r>
            <a:endParaRPr lang="en-US" sz="1400" dirty="0"/>
          </a:p>
        </p:txBody>
      </p:sp>
      <p:sp>
        <p:nvSpPr>
          <p:cNvPr id="12" name="Text 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15 / 32</a:t>
            </a:r>
            <a:endParaRPr lang="en-US" sz="1200" dirty="0"/>
          </a:p>
        </p:txBody>
      </p:sp>
      <p:pic>
        <p:nvPicPr>
          <p:cNvPr id="13"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Few-shot para desambiguar (regla A5)</a:t>
            </a:r>
            <a:endParaRPr lang="en-US" sz="3600" dirty="0"/>
          </a:p>
        </p:txBody>
      </p:sp>
      <p:sp>
        <p:nvSpPr>
          <p:cNvPr id="3" name="Shape 1"/>
          <p:cNvSpPr/>
          <p:nvPr/>
        </p:nvSpPr>
        <p:spPr>
          <a:xfrm>
            <a:off x="812800" y="1472605"/>
            <a:ext cx="5384800" cy="1899444"/>
          </a:xfrm>
          <a:prstGeom prst="roundRect">
            <a:avLst>
              <a:gd name="adj" fmla="val 1337"/>
            </a:avLst>
          </a:prstGeom>
          <a:solidFill>
            <a:srgbClr val="1E293B"/>
          </a:solidFill>
          <a:ln/>
        </p:spPr>
      </p:sp>
      <p:sp>
        <p:nvSpPr>
          <p:cNvPr id="4" name="Text 2"/>
          <p:cNvSpPr/>
          <p:nvPr/>
        </p:nvSpPr>
        <p:spPr>
          <a:xfrm>
            <a:off x="1016000" y="1625005"/>
            <a:ext cx="5127752" cy="1620044"/>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system prompt del track</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 identidad, jerga, límites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(comun/prompts_industria.py)</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+ 2 ejemplos:</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"cuando el cliente dice X,</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la tool correcta es Y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y NO Z porque..."</a:t>
            </a:r>
            <a:endParaRPr lang="en-US" sz="1300" dirty="0"/>
          </a:p>
        </p:txBody>
      </p:sp>
      <p:sp>
        <p:nvSpPr>
          <p:cNvPr id="5" name="Shape 3"/>
          <p:cNvSpPr/>
          <p:nvPr/>
        </p:nvSpPr>
        <p:spPr>
          <a:xfrm>
            <a:off x="6407150" y="1478955"/>
            <a:ext cx="4965700" cy="886222"/>
          </a:xfrm>
          <a:prstGeom prst="roundRect">
            <a:avLst>
              <a:gd name="adj" fmla="val 10748"/>
            </a:avLst>
          </a:prstGeom>
          <a:solidFill>
            <a:srgbClr val="FFFFFF"/>
          </a:solidFill>
          <a:ln w="12700">
            <a:solidFill>
              <a:srgbClr val="CED8E3"/>
            </a:solidFill>
            <a:prstDash val="solid"/>
          </a:ln>
        </p:spPr>
      </p:sp>
      <p:sp>
        <p:nvSpPr>
          <p:cNvPr id="6" name="Text 4"/>
          <p:cNvSpPr/>
          <p:nvPr/>
        </p:nvSpPr>
        <p:spPr>
          <a:xfrm>
            <a:off x="6616700" y="1688505"/>
            <a:ext cx="4682998" cy="135434"/>
          </a:xfrm>
          <a:prstGeom prst="rect">
            <a:avLst/>
          </a:prstGeom>
          <a:noFill/>
          <a:ln/>
        </p:spPr>
        <p:txBody>
          <a:bodyPr wrap="square" lIns="0" tIns="0" rIns="0" bIns="0" rtlCol="0" anchor="t">
            <a:normAutofit/>
          </a:bodyPr>
          <a:lstStyle/>
          <a:p>
            <a:pPr algn="l" indent="0" marL="0">
              <a:lnSpc>
                <a:spcPts val="1558"/>
              </a:lnSpc>
              <a:buNone/>
            </a:pPr>
            <a:r>
              <a:rPr lang="en-US" sz="1320" dirty="0">
                <a:solidFill>
                  <a:srgbClr val="1E293B"/>
                </a:solidFill>
                <a:latin typeface="IBM Plex Sans" pitchFamily="34" charset="0"/>
                <a:ea typeface="IBM Plex Sans" pitchFamily="34" charset="-122"/>
                <a:cs typeface="IBM Plex Sans" pitchFamily="34" charset="-120"/>
              </a:rPr>
              <a:t>Cuándo usarlo</a:t>
            </a:r>
            <a:endParaRPr lang="en-US" sz="1320" dirty="0"/>
          </a:p>
        </p:txBody>
      </p:sp>
      <p:sp>
        <p:nvSpPr>
          <p:cNvPr id="7" name="Text 5"/>
          <p:cNvSpPr/>
          <p:nvPr/>
        </p:nvSpPr>
        <p:spPr>
          <a:xfrm>
            <a:off x="6616700" y="1874738"/>
            <a:ext cx="4682998" cy="306288"/>
          </a:xfrm>
          <a:prstGeom prst="rect">
            <a:avLst/>
          </a:prstGeom>
          <a:noFill/>
          <a:ln/>
        </p:spPr>
        <p:txBody>
          <a:bodyPr wrap="square" lIns="0" tIns="0" rIns="0" bIns="0" rtlCol="0" anchor="t">
            <a:normAutofit/>
          </a:bodyPr>
          <a:lstStyle/>
          <a:p>
            <a:pPr algn="l" indent="0" marL="0">
              <a:lnSpc>
                <a:spcPts val="1325"/>
              </a:lnSpc>
              <a:buNone/>
            </a:pPr>
            <a:r>
              <a:rPr lang="en-US" sz="960" dirty="0">
                <a:solidFill>
                  <a:srgbClr val="1E293B"/>
                </a:solidFill>
                <a:latin typeface="IBM Plex Sans" pitchFamily="34" charset="0"/>
                <a:ea typeface="IBM Plex Sans" pitchFamily="34" charset="-122"/>
                <a:cs typeface="IBM Plex Sans" pitchFamily="34" charset="-120"/>
              </a:rPr>
              <a:t>Solo si, después de corregir las docstrings, la matriz sigue mostrando confusión entre las mismas dos tools.</a:t>
            </a:r>
            <a:endParaRPr lang="en-US" sz="960" dirty="0"/>
          </a:p>
        </p:txBody>
      </p:sp>
      <p:sp>
        <p:nvSpPr>
          <p:cNvPr id="8" name="Shape 6"/>
          <p:cNvSpPr/>
          <p:nvPr/>
        </p:nvSpPr>
        <p:spPr>
          <a:xfrm>
            <a:off x="6407150" y="2479477"/>
            <a:ext cx="4965700" cy="886222"/>
          </a:xfrm>
          <a:prstGeom prst="roundRect">
            <a:avLst>
              <a:gd name="adj" fmla="val 10748"/>
            </a:avLst>
          </a:prstGeom>
          <a:solidFill>
            <a:srgbClr val="FFFFFF"/>
          </a:solidFill>
          <a:ln w="12700">
            <a:solidFill>
              <a:srgbClr val="CED8E3"/>
            </a:solidFill>
            <a:prstDash val="solid"/>
          </a:ln>
        </p:spPr>
      </p:sp>
      <p:sp>
        <p:nvSpPr>
          <p:cNvPr id="9" name="Text 7"/>
          <p:cNvSpPr/>
          <p:nvPr/>
        </p:nvSpPr>
        <p:spPr>
          <a:xfrm>
            <a:off x="6616700" y="2689027"/>
            <a:ext cx="4682998" cy="170061"/>
          </a:xfrm>
          <a:prstGeom prst="rect">
            <a:avLst/>
          </a:prstGeom>
          <a:noFill/>
          <a:ln/>
        </p:spPr>
        <p:txBody>
          <a:bodyPr wrap="square" lIns="0" tIns="0" rIns="0" bIns="0" rtlCol="0" anchor="t">
            <a:normAutofit/>
          </a:bodyPr>
          <a:lstStyle/>
          <a:p>
            <a:pPr algn="l" indent="0" marL="0">
              <a:lnSpc>
                <a:spcPts val="1558"/>
              </a:lnSpc>
              <a:buNone/>
            </a:pPr>
            <a:r>
              <a:rPr lang="en-US" sz="1320" dirty="0">
                <a:solidFill>
                  <a:srgbClr val="1E293B"/>
                </a:solidFill>
                <a:latin typeface="IBM Plex Sans" pitchFamily="34" charset="0"/>
                <a:ea typeface="IBM Plex Sans" pitchFamily="34" charset="-122"/>
                <a:cs typeface="IBM Plex Sans" pitchFamily="34" charset="-120"/>
              </a:rPr>
              <a:t>Qué cuesta</a:t>
            </a:r>
            <a:endParaRPr lang="en-US" sz="1320" dirty="0"/>
          </a:p>
        </p:txBody>
      </p:sp>
      <p:sp>
        <p:nvSpPr>
          <p:cNvPr id="10" name="Text 8"/>
          <p:cNvSpPr/>
          <p:nvPr/>
        </p:nvSpPr>
        <p:spPr>
          <a:xfrm>
            <a:off x="6616700" y="2909888"/>
            <a:ext cx="4682998" cy="271661"/>
          </a:xfrm>
          <a:prstGeom prst="rect">
            <a:avLst/>
          </a:prstGeom>
          <a:noFill/>
          <a:ln/>
        </p:spPr>
        <p:txBody>
          <a:bodyPr wrap="square" lIns="0" tIns="0" rIns="0" bIns="0" rtlCol="0" anchor="t">
            <a:normAutofit/>
          </a:bodyPr>
          <a:lstStyle/>
          <a:p>
            <a:pPr algn="l" indent="0" marL="0">
              <a:lnSpc>
                <a:spcPts val="1415"/>
              </a:lnSpc>
              <a:buNone/>
            </a:pPr>
            <a:r>
              <a:rPr lang="en-US" sz="1025" dirty="0">
                <a:solidFill>
                  <a:srgbClr val="1E293B"/>
                </a:solidFill>
                <a:latin typeface="IBM Plex Sans" pitchFamily="34" charset="0"/>
                <a:ea typeface="IBM Plex Sans" pitchFamily="34" charset="-122"/>
                <a:cs typeface="IBM Plex Sans" pitchFamily="34" charset="-120"/>
              </a:rPr>
              <a:t>Cada ejemplo se paga en tokens en cada llamada del agente, no solo al medir.</a:t>
            </a:r>
            <a:endParaRPr lang="en-US" sz="1025" dirty="0"/>
          </a:p>
        </p:txBody>
      </p:sp>
      <p:sp>
        <p:nvSpPr>
          <p:cNvPr id="11" name="Text 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16 / 32</a:t>
            </a:r>
            <a:endParaRPr lang="en-US" sz="1200" dirty="0"/>
          </a:p>
        </p:txBody>
      </p:sp>
      <p:pic>
        <p:nvPicPr>
          <p:cNvPr id="12"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Por qué el catálogo se mide</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Supuesto simplificado: pasos independientes, cada uno con probabilidad de éxito 0.93.</a:t>
            </a:r>
            <a:endParaRPr lang="en-US" sz="1600" dirty="0"/>
          </a:p>
        </p:txBody>
      </p:sp>
      <p:pic>
        <p:nvPicPr>
          <p:cNvPr id="4" name="Image 0" descr="0.93 elevado a 3 es aproximadamente 80 %; elevado a 5, aproximadamente 70 %">    </p:cNvPr>
          <p:cNvPicPr>
            <a:picLocks noChangeAspect="1"/>
          </p:cNvPicPr>
          <p:nvPr/>
        </p:nvPicPr>
        <p:blipFill>
          <a:blip r:embed="rId1"/>
          <a:srcRect l="0" r="0" t="-31" b="-31"/>
          <a:stretch/>
        </p:blipFill>
        <p:spPr>
          <a:xfrm>
            <a:off x="812800" y="1905397"/>
            <a:ext cx="10566400" cy="1905000"/>
          </a:xfrm>
          <a:prstGeom prst="rect">
            <a:avLst/>
          </a:prstGeom>
        </p:spPr>
      </p:pic>
      <p:sp>
        <p:nvSpPr>
          <p:cNvPr id="5" name="Text 2"/>
          <p:cNvSpPr/>
          <p:nvPr/>
        </p:nvSpPr>
        <p:spPr>
          <a:xfrm>
            <a:off x="812800" y="2286397"/>
            <a:ext cx="14478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E293B"/>
                </a:solidFill>
                <a:latin typeface="IBM Plex Sans" pitchFamily="34" charset="0"/>
                <a:ea typeface="IBM Plex Sans" pitchFamily="34" charset="-122"/>
                <a:cs typeface="IBM Plex Sans" pitchFamily="34" charset="-120"/>
              </a:rPr>
              <a:t>3 pasos</a:t>
            </a:r>
            <a:endParaRPr lang="en-US" sz="1600" dirty="0"/>
          </a:p>
        </p:txBody>
      </p:sp>
      <p:sp>
        <p:nvSpPr>
          <p:cNvPr id="6" name="Text 3"/>
          <p:cNvSpPr/>
          <p:nvPr/>
        </p:nvSpPr>
        <p:spPr>
          <a:xfrm>
            <a:off x="10109200" y="2286397"/>
            <a:ext cx="1320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0.93³ ≈ 80 %</a:t>
            </a:r>
            <a:endParaRPr lang="en-US" sz="1600" dirty="0"/>
          </a:p>
        </p:txBody>
      </p:sp>
      <p:sp>
        <p:nvSpPr>
          <p:cNvPr id="7" name="Text 4"/>
          <p:cNvSpPr/>
          <p:nvPr/>
        </p:nvSpPr>
        <p:spPr>
          <a:xfrm>
            <a:off x="812800" y="3111897"/>
            <a:ext cx="14478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E293B"/>
                </a:solidFill>
                <a:latin typeface="IBM Plex Sans" pitchFamily="34" charset="0"/>
                <a:ea typeface="IBM Plex Sans" pitchFamily="34" charset="-122"/>
                <a:cs typeface="IBM Plex Sans" pitchFamily="34" charset="-120"/>
              </a:rPr>
              <a:t>5 pasos</a:t>
            </a:r>
            <a:endParaRPr lang="en-US" sz="1600" dirty="0"/>
          </a:p>
        </p:txBody>
      </p:sp>
      <p:sp>
        <p:nvSpPr>
          <p:cNvPr id="8" name="Text 5"/>
          <p:cNvSpPr/>
          <p:nvPr/>
        </p:nvSpPr>
        <p:spPr>
          <a:xfrm>
            <a:off x="10109200" y="3111897"/>
            <a:ext cx="1320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0.93⁵ ≈ 70 %</a:t>
            </a:r>
            <a:endParaRPr lang="en-US" sz="1600" dirty="0"/>
          </a:p>
        </p:txBody>
      </p:sp>
      <p:sp>
        <p:nvSpPr>
          <p:cNvPr id="9" name="Text 6"/>
          <p:cNvSpPr/>
          <p:nvPr/>
        </p:nvSpPr>
        <p:spPr>
          <a:xfrm>
            <a:off x="2336800" y="3581797"/>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Cálculo ilustrativo: probabilidad de que todos los pasos acierten</a:t>
            </a:r>
            <a:endParaRPr lang="en-US" sz="1200" dirty="0"/>
          </a:p>
        </p:txBody>
      </p:sp>
      <p:sp>
        <p:nvSpPr>
          <p:cNvPr id="10" name="Shape 7"/>
          <p:cNvSpPr/>
          <p:nvPr/>
        </p:nvSpPr>
        <p:spPr>
          <a:xfrm>
            <a:off x="819150" y="3969147"/>
            <a:ext cx="3373934" cy="1512788"/>
          </a:xfrm>
          <a:prstGeom prst="roundRect">
            <a:avLst>
              <a:gd name="adj" fmla="val 6296"/>
            </a:avLst>
          </a:prstGeom>
          <a:solidFill>
            <a:srgbClr val="FFFFFF"/>
          </a:solidFill>
          <a:ln w="12700">
            <a:solidFill>
              <a:srgbClr val="CED8E3"/>
            </a:solidFill>
            <a:prstDash val="solid"/>
          </a:ln>
        </p:spPr>
      </p:sp>
      <p:sp>
        <p:nvSpPr>
          <p:cNvPr id="11" name="Text 8"/>
          <p:cNvSpPr/>
          <p:nvPr/>
        </p:nvSpPr>
        <p:spPr>
          <a:xfrm>
            <a:off x="1028700" y="417869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es una ley</a:t>
            </a:r>
            <a:endParaRPr lang="en-US" sz="2200" dirty="0"/>
          </a:p>
        </p:txBody>
      </p:sp>
      <p:sp>
        <p:nvSpPr>
          <p:cNvPr id="12" name="Text 9"/>
          <p:cNvSpPr/>
          <p:nvPr/>
        </p:nvSpPr>
        <p:spPr>
          <a:xfrm>
            <a:off x="1028700" y="4584502"/>
            <a:ext cx="3043479"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No es una tasa medida del agente ni un umbral universal: los fallos reales pueden estar correlacionados.</a:t>
            </a:r>
            <a:endParaRPr lang="en-US" sz="1400" dirty="0"/>
          </a:p>
        </p:txBody>
      </p:sp>
      <p:sp>
        <p:nvSpPr>
          <p:cNvPr id="13" name="Shape 10"/>
          <p:cNvSpPr/>
          <p:nvPr/>
        </p:nvSpPr>
        <p:spPr>
          <a:xfrm>
            <a:off x="4408984" y="3969147"/>
            <a:ext cx="3374033" cy="1512788"/>
          </a:xfrm>
          <a:prstGeom prst="roundRect">
            <a:avLst>
              <a:gd name="adj" fmla="val 6296"/>
            </a:avLst>
          </a:prstGeom>
          <a:solidFill>
            <a:srgbClr val="FFFFFF"/>
          </a:solidFill>
          <a:ln w="12700">
            <a:solidFill>
              <a:srgbClr val="CED8E3"/>
            </a:solidFill>
            <a:prstDash val="solid"/>
          </a:ln>
        </p:spPr>
      </p:sp>
      <p:sp>
        <p:nvSpPr>
          <p:cNvPr id="14" name="Text 11"/>
          <p:cNvSpPr/>
          <p:nvPr/>
        </p:nvSpPr>
        <p:spPr>
          <a:xfrm>
            <a:off x="4618534" y="4178697"/>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Catálogo ≠ iteraciones</a:t>
            </a:r>
            <a:endParaRPr lang="en-US" sz="2200" dirty="0"/>
          </a:p>
        </p:txBody>
      </p:sp>
      <p:sp>
        <p:nvSpPr>
          <p:cNvPr id="15" name="Text 12"/>
          <p:cNvSpPr/>
          <p:nvPr/>
        </p:nvSpPr>
        <p:spPr>
          <a:xfrm>
            <a:off x="4618534" y="4584502"/>
            <a:ext cx="3043581"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Cuántas tools enlazas y cuántas vueltas da el bucle son variables distintas.</a:t>
            </a:r>
            <a:endParaRPr lang="en-US" sz="1400" dirty="0"/>
          </a:p>
        </p:txBody>
      </p:sp>
      <p:sp>
        <p:nvSpPr>
          <p:cNvPr id="16" name="Shape 13"/>
          <p:cNvSpPr/>
          <p:nvPr/>
        </p:nvSpPr>
        <p:spPr>
          <a:xfrm>
            <a:off x="7998916" y="3969147"/>
            <a:ext cx="3373934" cy="1512788"/>
          </a:xfrm>
          <a:prstGeom prst="roundRect">
            <a:avLst>
              <a:gd name="adj" fmla="val 6296"/>
            </a:avLst>
          </a:prstGeom>
          <a:solidFill>
            <a:srgbClr val="FFFFFF"/>
          </a:solidFill>
          <a:ln w="12700">
            <a:solidFill>
              <a:srgbClr val="CED8E3"/>
            </a:solidFill>
            <a:prstDash val="solid"/>
          </a:ln>
        </p:spPr>
      </p:sp>
      <p:sp>
        <p:nvSpPr>
          <p:cNvPr id="17" name="Text 14"/>
          <p:cNvSpPr/>
          <p:nvPr/>
        </p:nvSpPr>
        <p:spPr>
          <a:xfrm>
            <a:off x="8208466" y="417869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En el curso</a:t>
            </a:r>
            <a:endParaRPr lang="en-US" sz="2200" dirty="0"/>
          </a:p>
        </p:txBody>
      </p:sp>
      <p:sp>
        <p:nvSpPr>
          <p:cNvPr id="18" name="Text 15"/>
          <p:cNvSpPr/>
          <p:nvPr/>
        </p:nvSpPr>
        <p:spPr>
          <a:xfrm>
            <a:off x="8208466" y="4584502"/>
            <a:ext cx="3043479"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L4: 4 tools núcleo por alcance didáctico. L5 añade un retriever (S5).</a:t>
            </a:r>
            <a:endParaRPr lang="en-US" sz="1400" dirty="0"/>
          </a:p>
        </p:txBody>
      </p:sp>
      <p:sp>
        <p:nvSpPr>
          <p:cNvPr id="19" name="Text 16"/>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17 / 32</a:t>
            </a:r>
            <a:endParaRPr lang="en-US" sz="1200" dirty="0"/>
          </a:p>
        </p:txBody>
      </p:sp>
      <p:pic>
        <p:nvPicPr>
          <p:cNvPr id="20"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486172"/>
          </a:xfrm>
          <a:prstGeom prst="rect">
            <a:avLst/>
          </a:prstGeom>
          <a:noFill/>
          <a:ln/>
        </p:spPr>
        <p:txBody>
          <a:bodyPr wrap="square" lIns="0" tIns="0" rIns="0" bIns="0" rtlCol="0" anchor="t">
            <a:normAutofit/>
          </a:bodyPr>
          <a:lstStyle/>
          <a:p>
            <a:pPr algn="l" indent="0" marL="0">
              <a:lnSpc>
                <a:spcPts val="3671"/>
              </a:lnSpc>
              <a:buNone/>
            </a:pPr>
            <a:r>
              <a:rPr lang="en-US" sz="3308" b="1" spc="-35" kern="0" dirty="0">
                <a:solidFill>
                  <a:srgbClr val="1E293B"/>
                </a:solidFill>
                <a:latin typeface="IBM Plex Sans" pitchFamily="34" charset="0"/>
                <a:ea typeface="IBM Plex Sans" pitchFamily="34" charset="-122"/>
                <a:cs typeface="IBM Plex Sans" pitchFamily="34" charset="-120"/>
              </a:rPr>
              <a:t>Leer es reintentable; escribir no</a:t>
            </a:r>
            <a:endParaRPr lang="en-US" sz="3308" dirty="0"/>
          </a:p>
        </p:txBody>
      </p:sp>
      <p:pic>
        <p:nvPicPr>
          <p:cNvPr id="3" name="Image 0" descr="Usuario, agente con LLM y runtime, una tool de lectura, una de escritura y datos">    </p:cNvPr>
          <p:cNvPicPr>
            <a:picLocks noChangeAspect="1"/>
          </p:cNvPicPr>
          <p:nvPr/>
        </p:nvPicPr>
        <p:blipFill>
          <a:blip r:embed="rId1"/>
          <a:srcRect l="0" r="0" t="-9" b="-9"/>
          <a:stretch/>
        </p:blipFill>
        <p:spPr>
          <a:xfrm>
            <a:off x="812800" y="1425972"/>
            <a:ext cx="10566400" cy="2286000"/>
          </a:xfrm>
          <a:prstGeom prst="rect">
            <a:avLst/>
          </a:prstGeom>
        </p:spPr>
      </p:pic>
      <p:sp>
        <p:nvSpPr>
          <p:cNvPr id="4" name="Text 1"/>
          <p:cNvSpPr/>
          <p:nvPr/>
        </p:nvSpPr>
        <p:spPr>
          <a:xfrm>
            <a:off x="2616200" y="1603772"/>
            <a:ext cx="418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5" name="Text 2"/>
          <p:cNvSpPr/>
          <p:nvPr/>
        </p:nvSpPr>
        <p:spPr>
          <a:xfrm>
            <a:off x="838200" y="2581672"/>
            <a:ext cx="965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2717800" y="2581672"/>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2717800" y="2816622"/>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5232400" y="2581672"/>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5232400" y="2816622"/>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1854200" y="2302272"/>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pide</a:t>
            </a:r>
            <a:endParaRPr lang="en-US" sz="1200" dirty="0"/>
          </a:p>
        </p:txBody>
      </p:sp>
      <p:sp>
        <p:nvSpPr>
          <p:cNvPr id="11" name="Text 8"/>
          <p:cNvSpPr/>
          <p:nvPr/>
        </p:nvSpPr>
        <p:spPr>
          <a:xfrm>
            <a:off x="4114800" y="2111772"/>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2" name="Text 9"/>
          <p:cNvSpPr/>
          <p:nvPr/>
        </p:nvSpPr>
        <p:spPr>
          <a:xfrm>
            <a:off x="4089400" y="2810272"/>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3" name="Text 10"/>
          <p:cNvSpPr/>
          <p:nvPr/>
        </p:nvSpPr>
        <p:spPr>
          <a:xfrm>
            <a:off x="6604000" y="2302272"/>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4" name="Text 11"/>
          <p:cNvSpPr/>
          <p:nvPr/>
        </p:nvSpPr>
        <p:spPr>
          <a:xfrm>
            <a:off x="8026400" y="1654572"/>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get_customer_plan</a:t>
            </a:r>
            <a:endParaRPr lang="en-US" sz="1200" dirty="0"/>
          </a:p>
        </p:txBody>
      </p:sp>
      <p:sp>
        <p:nvSpPr>
          <p:cNvPr id="15" name="Text 12"/>
          <p:cNvSpPr/>
          <p:nvPr/>
        </p:nvSpPr>
        <p:spPr>
          <a:xfrm>
            <a:off x="8026400" y="1908572"/>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idempotente</a:t>
            </a:r>
            <a:endParaRPr lang="en-US" sz="1200" dirty="0"/>
          </a:p>
        </p:txBody>
      </p:sp>
      <p:sp>
        <p:nvSpPr>
          <p:cNvPr id="16" name="Text 13"/>
          <p:cNvSpPr/>
          <p:nvPr/>
        </p:nvSpPr>
        <p:spPr>
          <a:xfrm>
            <a:off x="8026400" y="2924572"/>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create_complaint_ticket</a:t>
            </a:r>
            <a:endParaRPr lang="en-US" sz="1200" dirty="0"/>
          </a:p>
        </p:txBody>
      </p:sp>
      <p:sp>
        <p:nvSpPr>
          <p:cNvPr id="17" name="Text 14"/>
          <p:cNvSpPr/>
          <p:nvPr/>
        </p:nvSpPr>
        <p:spPr>
          <a:xfrm>
            <a:off x="8026400" y="3178572"/>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no idempotente</a:t>
            </a:r>
            <a:endParaRPr lang="en-US" sz="1200" dirty="0"/>
          </a:p>
        </p:txBody>
      </p:sp>
      <p:sp>
        <p:nvSpPr>
          <p:cNvPr id="18" name="Text 15"/>
          <p:cNvSpPr/>
          <p:nvPr/>
        </p:nvSpPr>
        <p:spPr>
          <a:xfrm>
            <a:off x="10668000" y="2581672"/>
            <a:ext cx="685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19" name="Text 16"/>
          <p:cNvSpPr/>
          <p:nvPr/>
        </p:nvSpPr>
        <p:spPr>
          <a:xfrm>
            <a:off x="10236200" y="1667272"/>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20" name="Text 17"/>
          <p:cNvSpPr/>
          <p:nvPr/>
        </p:nvSpPr>
        <p:spPr>
          <a:xfrm>
            <a:off x="10236200" y="3254772"/>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escribe</a:t>
            </a:r>
            <a:endParaRPr lang="en-US" sz="1200" dirty="0"/>
          </a:p>
        </p:txBody>
      </p:sp>
      <p:sp>
        <p:nvSpPr>
          <p:cNvPr id="21" name="Shape 18"/>
          <p:cNvSpPr/>
          <p:nvPr/>
        </p:nvSpPr>
        <p:spPr>
          <a:xfrm>
            <a:off x="812800" y="3870722"/>
            <a:ext cx="10566400" cy="0"/>
          </a:xfrm>
          <a:prstGeom prst="line">
            <a:avLst/>
          </a:prstGeom>
          <a:noFill/>
          <a:ln w="12700">
            <a:solidFill>
              <a:srgbClr val="141413">
                <a:alpha val="22000"/>
              </a:srgbClr>
            </a:solidFill>
            <a:prstDash val="solid"/>
          </a:ln>
        </p:spPr>
      </p:sp>
      <p:sp>
        <p:nvSpPr>
          <p:cNvPr id="22" name="Shape 19"/>
          <p:cNvSpPr/>
          <p:nvPr/>
        </p:nvSpPr>
        <p:spPr>
          <a:xfrm>
            <a:off x="819150" y="3864372"/>
            <a:ext cx="0" cy="1977628"/>
          </a:xfrm>
          <a:prstGeom prst="line">
            <a:avLst/>
          </a:prstGeom>
          <a:noFill/>
          <a:ln w="12700">
            <a:solidFill>
              <a:srgbClr val="141413">
                <a:alpha val="22000"/>
              </a:srgbClr>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927100" y="3953272"/>
          <a:ext cx="10350500" cy="1812528"/>
        </p:xfrm>
        <a:graphic>
          <a:graphicData uri="http://schemas.openxmlformats.org/drawingml/2006/table">
            <a:tbl>
              <a:tblPr/>
              <a:tblGrid>
                <a:gridCol w="2898140"/>
                <a:gridCol w="1242060"/>
                <a:gridCol w="3312160"/>
                <a:gridCol w="2898140"/>
              </a:tblGrid>
              <a:tr h="302022">
                <a:tc>
                  <a:txBody>
                    <a:bodyPr/>
                    <a:lstStyle/>
                    <a:p>
                      <a:pPr indent="0" marL="0">
                        <a:lnSpc>
                          <a:spcPts val="1517"/>
                        </a:lnSpc>
                        <a:buNone/>
                      </a:pPr>
                      <a:r>
                        <a:rPr lang="en-US" sz="1084" b="1" dirty="0">
                          <a:solidFill>
                            <a:srgbClr val="1E293B"/>
                          </a:solidFill>
                          <a:latin typeface="IBM Plex Sans" pitchFamily="34" charset="0"/>
                          <a:ea typeface="IBM Plex Sans" pitchFamily="34" charset="-122"/>
                          <a:cs typeface="IBM Plex Sans" pitchFamily="34" charset="-120"/>
                        </a:rPr>
                        <a:t>Tool</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517"/>
                        </a:lnSpc>
                        <a:buNone/>
                      </a:pPr>
                      <a:r>
                        <a:rPr lang="en-US" sz="1084" b="1" dirty="0">
                          <a:solidFill>
                            <a:srgbClr val="1E293B"/>
                          </a:solidFill>
                          <a:latin typeface="IBM Plex Sans" pitchFamily="34" charset="0"/>
                          <a:ea typeface="IBM Plex Sans" pitchFamily="34" charset="-122"/>
                          <a:cs typeface="IBM Plex Sans" pitchFamily="34" charset="-120"/>
                        </a:rPr>
                        <a:t>Idempotente</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517"/>
                        </a:lnSpc>
                        <a:buNone/>
                      </a:pPr>
                      <a:r>
                        <a:rPr lang="en-US" sz="1084" b="1" dirty="0">
                          <a:solidFill>
                            <a:srgbClr val="1E293B"/>
                          </a:solidFill>
                          <a:latin typeface="IBM Plex Sans" pitchFamily="34" charset="0"/>
                          <a:ea typeface="IBM Plex Sans" pitchFamily="34" charset="-122"/>
                          <a:cs typeface="IBM Plex Sans" pitchFamily="34" charset="-120"/>
                        </a:rPr>
                        <a:t>Si se reintenta</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517"/>
                        </a:lnSpc>
                        <a:buNone/>
                      </a:pPr>
                      <a:r>
                        <a:rPr lang="en-US" sz="1084" b="1" dirty="0">
                          <a:solidFill>
                            <a:srgbClr val="1E293B"/>
                          </a:solidFill>
                          <a:latin typeface="IBM Plex Sans" pitchFamily="34" charset="0"/>
                          <a:ea typeface="IBM Plex Sans" pitchFamily="34" charset="-122"/>
                          <a:cs typeface="IBM Plex Sans" pitchFamily="34" charset="-120"/>
                        </a:rPr>
                        <a:t>Protección</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02022">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get_customer_plan</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Sí</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No escribe; la respuesta puede variar</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No necesita deduplicación</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02121">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get_account_balance</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Sí</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Nada</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Ninguna</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02121">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create_complaint_ticket</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No</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Puede duplicar reclamos</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Confirmación + idempotency key</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02121">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open_claim</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No</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Dos expedientes del mismo siniestro</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Confirmación explícita</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02121">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start_return_request</a:t>
                      </a:r>
                      <a:endParaRPr lang="en-US" sz="1084" dirty="0">
                        <a:latin typeface="IBM Plex Sans" charset="0"/>
                        <a:ea typeface="IBM Plex Sans" charset="0"/>
                        <a:cs typeface="IBM Plex Sans" charset="0"/>
                      </a:endParaRPr>
                    </a:p>
                  </a:txBody>
                  <a:tcPr marL="48173" marR="48173" marT="48173" marB="48173"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No</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Dos solicitudes de devolución</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517"/>
                        </a:lnSpc>
                        <a:buNone/>
                      </a:pPr>
                      <a:r>
                        <a:rPr lang="en-US" sz="1084" dirty="0">
                          <a:solidFill>
                            <a:srgbClr val="1E293B"/>
                          </a:solidFill>
                          <a:latin typeface="IBM Plex Sans" pitchFamily="34" charset="0"/>
                          <a:ea typeface="IBM Plex Sans" pitchFamily="34" charset="-122"/>
                          <a:cs typeface="IBM Plex Sans" pitchFamily="34" charset="-120"/>
                        </a:rPr>
                        <a:t>Confirmación explícita</a:t>
                      </a:r>
                      <a:endParaRPr lang="en-US" sz="1084" dirty="0">
                        <a:latin typeface="IBM Plex Sans" charset="0"/>
                        <a:ea typeface="IBM Plex Sans" charset="0"/>
                        <a:cs typeface="IBM Plex Sans" charset="0"/>
                      </a:endParaRPr>
                    </a:p>
                  </a:txBody>
                  <a:tcPr marL="48173" marR="48173" marT="48173" marB="48173"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24" name="Text 20"/>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18 / 32</a:t>
            </a:r>
            <a:endParaRPr lang="en-US" sz="1200" dirty="0"/>
          </a:p>
        </p:txBody>
      </p:sp>
      <p:pic>
        <p:nvPicPr>
          <p:cNvPr id="2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escritura exige confirmación</a:t>
            </a:r>
            <a:endParaRPr lang="en-US" sz="3600" dirty="0"/>
          </a:p>
        </p:txBody>
      </p:sp>
      <p:pic>
        <p:nvPicPr>
          <p:cNvPr id="3" name="Image 0" descr="Usuario, agente con LLM y runtime, una tool de lectura, una de escritura y datos">    </p:cNvPr>
          <p:cNvPicPr>
            <a:picLocks noChangeAspect="1"/>
          </p:cNvPicPr>
          <p:nvPr/>
        </p:nvPicPr>
        <p:blipFill>
          <a:blip r:embed="rId1"/>
          <a:srcRect l="0" r="0" t="-9" b="-9"/>
          <a:stretch/>
        </p:blipFill>
        <p:spPr>
          <a:xfrm>
            <a:off x="812800" y="1472605"/>
            <a:ext cx="10566400" cy="2286000"/>
          </a:xfrm>
          <a:prstGeom prst="rect">
            <a:avLst/>
          </a:prstGeom>
        </p:spPr>
      </p:pic>
      <p:sp>
        <p:nvSpPr>
          <p:cNvPr id="4" name="Text 1"/>
          <p:cNvSpPr/>
          <p:nvPr/>
        </p:nvSpPr>
        <p:spPr>
          <a:xfrm>
            <a:off x="2616200" y="1650405"/>
            <a:ext cx="418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a:t>
            </a:r>
            <a:endParaRPr lang="en-US" sz="1400" dirty="0"/>
          </a:p>
        </p:txBody>
      </p:sp>
      <p:sp>
        <p:nvSpPr>
          <p:cNvPr id="5" name="Text 2"/>
          <p:cNvSpPr/>
          <p:nvPr/>
        </p:nvSpPr>
        <p:spPr>
          <a:xfrm>
            <a:off x="838200" y="2628305"/>
            <a:ext cx="965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863255"/>
            <a:ext cx="965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confirma</a:t>
            </a:r>
            <a:endParaRPr lang="en-US" sz="1200" dirty="0"/>
          </a:p>
        </p:txBody>
      </p:sp>
      <p:sp>
        <p:nvSpPr>
          <p:cNvPr id="7" name="Text 4"/>
          <p:cNvSpPr/>
          <p:nvPr/>
        </p:nvSpPr>
        <p:spPr>
          <a:xfrm>
            <a:off x="2717800" y="2628305"/>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2717800" y="2863255"/>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5232400" y="2628305"/>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5232400" y="2863255"/>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1" name="Text 8"/>
          <p:cNvSpPr/>
          <p:nvPr/>
        </p:nvSpPr>
        <p:spPr>
          <a:xfrm>
            <a:off x="1854200" y="234890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pide</a:t>
            </a:r>
            <a:endParaRPr lang="en-US" sz="1200" dirty="0"/>
          </a:p>
        </p:txBody>
      </p:sp>
      <p:sp>
        <p:nvSpPr>
          <p:cNvPr id="12" name="Text 9"/>
          <p:cNvSpPr/>
          <p:nvPr/>
        </p:nvSpPr>
        <p:spPr>
          <a:xfrm>
            <a:off x="4114800" y="2158405"/>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3" name="Text 10"/>
          <p:cNvSpPr/>
          <p:nvPr/>
        </p:nvSpPr>
        <p:spPr>
          <a:xfrm>
            <a:off x="4089400" y="2856905"/>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ToolMessage</a:t>
            </a:r>
            <a:endParaRPr lang="en-US" sz="1200" dirty="0"/>
          </a:p>
        </p:txBody>
      </p:sp>
      <p:sp>
        <p:nvSpPr>
          <p:cNvPr id="14" name="Text 11"/>
          <p:cNvSpPr/>
          <p:nvPr/>
        </p:nvSpPr>
        <p:spPr>
          <a:xfrm>
            <a:off x="6604000" y="2348905"/>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5" name="Text 12"/>
          <p:cNvSpPr/>
          <p:nvPr/>
        </p:nvSpPr>
        <p:spPr>
          <a:xfrm>
            <a:off x="8026400" y="1701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get_customer_plan</a:t>
            </a:r>
            <a:endParaRPr lang="en-US" sz="1200" dirty="0"/>
          </a:p>
        </p:txBody>
      </p:sp>
      <p:sp>
        <p:nvSpPr>
          <p:cNvPr id="16" name="Text 13"/>
          <p:cNvSpPr/>
          <p:nvPr/>
        </p:nvSpPr>
        <p:spPr>
          <a:xfrm>
            <a:off x="8026400" y="1955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idempotente</a:t>
            </a:r>
            <a:endParaRPr lang="en-US" sz="1200" dirty="0"/>
          </a:p>
        </p:txBody>
      </p:sp>
      <p:sp>
        <p:nvSpPr>
          <p:cNvPr id="17" name="Text 14"/>
          <p:cNvSpPr/>
          <p:nvPr/>
        </p:nvSpPr>
        <p:spPr>
          <a:xfrm>
            <a:off x="8026400" y="2971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create_complaint_ticket</a:t>
            </a:r>
            <a:endParaRPr lang="en-US" sz="1200" dirty="0"/>
          </a:p>
        </p:txBody>
      </p:sp>
      <p:sp>
        <p:nvSpPr>
          <p:cNvPr id="18" name="Text 15"/>
          <p:cNvSpPr/>
          <p:nvPr/>
        </p:nvSpPr>
        <p:spPr>
          <a:xfrm>
            <a:off x="8026400" y="3225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confirmado_por_cliente</a:t>
            </a:r>
            <a:endParaRPr lang="en-US" sz="1200" dirty="0"/>
          </a:p>
        </p:txBody>
      </p:sp>
      <p:sp>
        <p:nvSpPr>
          <p:cNvPr id="19" name="Text 16"/>
          <p:cNvSpPr/>
          <p:nvPr/>
        </p:nvSpPr>
        <p:spPr>
          <a:xfrm>
            <a:off x="10668000" y="2628305"/>
            <a:ext cx="685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20" name="Text 17"/>
          <p:cNvSpPr/>
          <p:nvPr/>
        </p:nvSpPr>
        <p:spPr>
          <a:xfrm>
            <a:off x="10236200" y="1713905"/>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21" name="Text 18"/>
          <p:cNvSpPr/>
          <p:nvPr/>
        </p:nvSpPr>
        <p:spPr>
          <a:xfrm>
            <a:off x="10236200" y="3301405"/>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escribe</a:t>
            </a:r>
            <a:endParaRPr lang="en-US" sz="1200" dirty="0"/>
          </a:p>
        </p:txBody>
      </p:sp>
      <p:sp>
        <p:nvSpPr>
          <p:cNvPr id="22" name="Shape 19"/>
          <p:cNvSpPr/>
          <p:nvPr/>
        </p:nvSpPr>
        <p:spPr>
          <a:xfrm>
            <a:off x="812800" y="3911005"/>
            <a:ext cx="6403578" cy="1675805"/>
          </a:xfrm>
          <a:prstGeom prst="roundRect">
            <a:avLst>
              <a:gd name="adj" fmla="val 1516"/>
            </a:avLst>
          </a:prstGeom>
          <a:solidFill>
            <a:srgbClr val="1E293B"/>
          </a:solidFill>
          <a:ln/>
        </p:spPr>
      </p:sp>
      <p:sp>
        <p:nvSpPr>
          <p:cNvPr id="23" name="Text 20"/>
          <p:cNvSpPr/>
          <p:nvPr/>
        </p:nvSpPr>
        <p:spPr>
          <a:xfrm>
            <a:off x="1016000" y="4063405"/>
            <a:ext cx="6177093" cy="1323777"/>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@tool(args_schema=ReclamoInput)  # extracto</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def create_complaint_ticket(numero_linea, tipo,</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descripcion, confirmado_por_cliente=False):</a:t>
            </a:r>
            <a:endParaRPr lang="en-US" sz="1200" dirty="0"/>
          </a:p>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    if not confirmado_por_cliente:</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return "... Pregunta al cliente si confirma ..."</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 solo con True se registra el reclamo</a:t>
            </a:r>
            <a:endParaRPr lang="en-US" sz="1200" dirty="0"/>
          </a:p>
        </p:txBody>
      </p:sp>
      <p:sp>
        <p:nvSpPr>
          <p:cNvPr id="24" name="Shape 21"/>
          <p:cNvSpPr/>
          <p:nvPr/>
        </p:nvSpPr>
        <p:spPr>
          <a:xfrm>
            <a:off x="7425928" y="3917355"/>
            <a:ext cx="3946922" cy="1663105"/>
          </a:xfrm>
          <a:prstGeom prst="roundRect">
            <a:avLst>
              <a:gd name="adj" fmla="val 5727"/>
            </a:avLst>
          </a:prstGeom>
          <a:solidFill>
            <a:srgbClr val="FFFFFF"/>
          </a:solidFill>
          <a:ln w="12700">
            <a:solidFill>
              <a:srgbClr val="CED8E3"/>
            </a:solidFill>
            <a:prstDash val="solid"/>
          </a:ln>
        </p:spPr>
      </p:sp>
      <p:sp>
        <p:nvSpPr>
          <p:cNvPr id="25" name="Text 22"/>
          <p:cNvSpPr/>
          <p:nvPr/>
        </p:nvSpPr>
        <p:spPr>
          <a:xfrm>
            <a:off x="7635478" y="4126905"/>
            <a:ext cx="3633657"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Límite</a:t>
            </a:r>
            <a:endParaRPr lang="en-US" sz="2200" dirty="0"/>
          </a:p>
        </p:txBody>
      </p:sp>
      <p:sp>
        <p:nvSpPr>
          <p:cNvPr id="26" name="Text 23"/>
          <p:cNvSpPr/>
          <p:nvPr/>
        </p:nvSpPr>
        <p:spPr>
          <a:xfrm>
            <a:off x="7635478" y="4532709"/>
            <a:ext cx="363365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Un booleano propuesto por el modelo no es aprobación humana autenticada.</a:t>
            </a:r>
            <a:endParaRPr lang="en-US" sz="1200" dirty="0"/>
          </a:p>
        </p:txBody>
      </p:sp>
      <p:sp>
        <p:nvSpPr>
          <p:cNvPr id="27" name="Text 24"/>
          <p:cNvSpPr/>
          <p:nvPr/>
        </p:nvSpPr>
        <p:spPr>
          <a:xfrm>
            <a:off x="7635478" y="4989909"/>
            <a:ext cx="363365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Banca: sin escritura en el núcleo; request_card_block es opcional.</a:t>
            </a:r>
            <a:endParaRPr lang="en-US" sz="1200" dirty="0"/>
          </a:p>
        </p:txBody>
      </p:sp>
      <p:sp>
        <p:nvSpPr>
          <p:cNvPr id="28" name="Text 25"/>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19 / 32</a:t>
            </a:r>
            <a:endParaRPr lang="en-US" sz="1200" dirty="0"/>
          </a:p>
        </p:txBody>
      </p:sp>
      <p:pic>
        <p:nvPicPr>
          <p:cNvPr id="29"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bucle que no termina</a:t>
            </a:r>
            <a:endParaRPr lang="en-US" sz="3600" dirty="0"/>
          </a:p>
        </p:txBody>
      </p:sp>
      <p:pic>
        <p:nvPicPr>
          <p:cNvPr id="3" name="Image 0" descr="Usuario, agente con LLM y runtime, una tool de lectura, una de escritura y datos">    </p:cNvPr>
          <p:cNvPicPr>
            <a:picLocks noChangeAspect="1"/>
          </p:cNvPicPr>
          <p:nvPr/>
        </p:nvPicPr>
        <p:blipFill>
          <a:blip r:embed="rId1"/>
          <a:srcRect l="0" r="0" t="-9" b="-9"/>
          <a:stretch/>
        </p:blipFill>
        <p:spPr>
          <a:xfrm>
            <a:off x="812800" y="1472605"/>
            <a:ext cx="10566400" cy="2286000"/>
          </a:xfrm>
          <a:prstGeom prst="rect">
            <a:avLst/>
          </a:prstGeom>
        </p:spPr>
      </p:pic>
      <p:sp>
        <p:nvSpPr>
          <p:cNvPr id="4" name="Text 1"/>
          <p:cNvSpPr/>
          <p:nvPr/>
        </p:nvSpPr>
        <p:spPr>
          <a:xfrm>
            <a:off x="2616200" y="1650405"/>
            <a:ext cx="418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93B"/>
                </a:solidFill>
                <a:latin typeface="IBM Plex Sans" pitchFamily="34" charset="0"/>
                <a:ea typeface="IBM Plex Sans" pitchFamily="34" charset="-122"/>
                <a:cs typeface="IBM Plex Sans" pitchFamily="34" charset="-120"/>
              </a:rPr>
              <a:t>Agente · tope: MAX_ITERATIONS</a:t>
            </a:r>
            <a:endParaRPr lang="en-US" sz="1400" dirty="0"/>
          </a:p>
        </p:txBody>
      </p:sp>
      <p:sp>
        <p:nvSpPr>
          <p:cNvPr id="5" name="Text 2"/>
          <p:cNvSpPr/>
          <p:nvPr/>
        </p:nvSpPr>
        <p:spPr>
          <a:xfrm>
            <a:off x="838200" y="2628305"/>
            <a:ext cx="965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2717800" y="2628305"/>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2717800" y="2863255"/>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8" name="Text 5"/>
          <p:cNvSpPr/>
          <p:nvPr/>
        </p:nvSpPr>
        <p:spPr>
          <a:xfrm>
            <a:off x="5232400" y="2628305"/>
            <a:ext cx="13462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5232400" y="2863255"/>
            <a:ext cx="1346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a:t>
            </a:r>
            <a:endParaRPr lang="en-US" sz="1200" dirty="0"/>
          </a:p>
        </p:txBody>
      </p:sp>
      <p:sp>
        <p:nvSpPr>
          <p:cNvPr id="10" name="Text 7"/>
          <p:cNvSpPr/>
          <p:nvPr/>
        </p:nvSpPr>
        <p:spPr>
          <a:xfrm>
            <a:off x="1854200" y="234890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pide</a:t>
            </a:r>
            <a:endParaRPr lang="en-US" sz="1200" dirty="0"/>
          </a:p>
        </p:txBody>
      </p:sp>
      <p:sp>
        <p:nvSpPr>
          <p:cNvPr id="11" name="Text 8"/>
          <p:cNvSpPr/>
          <p:nvPr/>
        </p:nvSpPr>
        <p:spPr>
          <a:xfrm>
            <a:off x="4114800" y="2158405"/>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tool_call</a:t>
            </a:r>
            <a:endParaRPr lang="en-US" sz="1200" dirty="0"/>
          </a:p>
        </p:txBody>
      </p:sp>
      <p:sp>
        <p:nvSpPr>
          <p:cNvPr id="12" name="Text 9"/>
          <p:cNvSpPr/>
          <p:nvPr/>
        </p:nvSpPr>
        <p:spPr>
          <a:xfrm>
            <a:off x="4089400" y="2856905"/>
            <a:ext cx="1117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error 503</a:t>
            </a:r>
            <a:endParaRPr lang="en-US" sz="1200" dirty="0"/>
          </a:p>
        </p:txBody>
      </p:sp>
      <p:sp>
        <p:nvSpPr>
          <p:cNvPr id="13" name="Text 10"/>
          <p:cNvSpPr/>
          <p:nvPr/>
        </p:nvSpPr>
        <p:spPr>
          <a:xfrm>
            <a:off x="6604000" y="2348905"/>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4" name="Text 11"/>
          <p:cNvSpPr/>
          <p:nvPr/>
        </p:nvSpPr>
        <p:spPr>
          <a:xfrm>
            <a:off x="8026400" y="1701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get_customer_plan</a:t>
            </a:r>
            <a:endParaRPr lang="en-US" sz="1200" dirty="0"/>
          </a:p>
        </p:txBody>
      </p:sp>
      <p:sp>
        <p:nvSpPr>
          <p:cNvPr id="15" name="Text 12"/>
          <p:cNvSpPr/>
          <p:nvPr/>
        </p:nvSpPr>
        <p:spPr>
          <a:xfrm>
            <a:off x="8026400" y="1955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responde error 503</a:t>
            </a:r>
            <a:endParaRPr lang="en-US" sz="1200" dirty="0"/>
          </a:p>
        </p:txBody>
      </p:sp>
      <p:sp>
        <p:nvSpPr>
          <p:cNvPr id="16" name="Text 13"/>
          <p:cNvSpPr/>
          <p:nvPr/>
        </p:nvSpPr>
        <p:spPr>
          <a:xfrm>
            <a:off x="8026400" y="2971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E293B"/>
                </a:solidFill>
                <a:latin typeface="IBM Plex Mono" pitchFamily="34" charset="0"/>
                <a:ea typeface="IBM Plex Mono" pitchFamily="34" charset="-122"/>
                <a:cs typeface="IBM Plex Mono" pitchFamily="34" charset="-120"/>
              </a:rPr>
              <a:t>create_complaint_ticket</a:t>
            </a:r>
            <a:endParaRPr lang="en-US" sz="1200" dirty="0"/>
          </a:p>
        </p:txBody>
      </p:sp>
      <p:sp>
        <p:nvSpPr>
          <p:cNvPr id="17" name="Text 14"/>
          <p:cNvSpPr/>
          <p:nvPr/>
        </p:nvSpPr>
        <p:spPr>
          <a:xfrm>
            <a:off x="8026400" y="3225205"/>
            <a:ext cx="2197608" cy="228005"/>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526277"/>
                </a:solidFill>
                <a:latin typeface="IBM Plex Sans" pitchFamily="34" charset="0"/>
                <a:ea typeface="IBM Plex Sans" pitchFamily="34" charset="-122"/>
                <a:cs typeface="IBM Plex Sans" pitchFamily="34" charset="-120"/>
              </a:rPr>
              <a:t>no idempotente</a:t>
            </a:r>
            <a:endParaRPr lang="en-US" sz="1200" dirty="0"/>
          </a:p>
        </p:txBody>
      </p:sp>
      <p:sp>
        <p:nvSpPr>
          <p:cNvPr id="18" name="Text 15"/>
          <p:cNvSpPr/>
          <p:nvPr/>
        </p:nvSpPr>
        <p:spPr>
          <a:xfrm>
            <a:off x="10668000" y="2628305"/>
            <a:ext cx="685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Datos</a:t>
            </a:r>
            <a:endParaRPr lang="en-US" sz="1400" dirty="0"/>
          </a:p>
        </p:txBody>
      </p:sp>
      <p:sp>
        <p:nvSpPr>
          <p:cNvPr id="19" name="Text 16"/>
          <p:cNvSpPr/>
          <p:nvPr/>
        </p:nvSpPr>
        <p:spPr>
          <a:xfrm>
            <a:off x="10236200" y="1713905"/>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lee</a:t>
            </a:r>
            <a:endParaRPr lang="en-US" sz="1200" dirty="0"/>
          </a:p>
        </p:txBody>
      </p:sp>
      <p:sp>
        <p:nvSpPr>
          <p:cNvPr id="20" name="Text 17"/>
          <p:cNvSpPr/>
          <p:nvPr/>
        </p:nvSpPr>
        <p:spPr>
          <a:xfrm>
            <a:off x="10236200" y="3301405"/>
            <a:ext cx="762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escribe</a:t>
            </a:r>
            <a:endParaRPr lang="en-US" sz="1200" dirty="0"/>
          </a:p>
        </p:txBody>
      </p:sp>
      <p:sp>
        <p:nvSpPr>
          <p:cNvPr id="21" name="Shape 18"/>
          <p:cNvSpPr/>
          <p:nvPr/>
        </p:nvSpPr>
        <p:spPr>
          <a:xfrm>
            <a:off x="812800" y="3911005"/>
            <a:ext cx="7129959" cy="1819573"/>
          </a:xfrm>
          <a:prstGeom prst="roundRect">
            <a:avLst>
              <a:gd name="adj" fmla="val 1396"/>
            </a:avLst>
          </a:prstGeom>
          <a:solidFill>
            <a:srgbClr val="1E293B"/>
          </a:solidFill>
          <a:ln/>
        </p:spPr>
      </p:sp>
      <p:sp>
        <p:nvSpPr>
          <p:cNvPr id="22" name="Text 19"/>
          <p:cNvSpPr/>
          <p:nvPr/>
        </p:nvSpPr>
        <p:spPr>
          <a:xfrm>
            <a:off x="1016000" y="4063405"/>
            <a:ext cx="6925265" cy="1540173"/>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MAX_ITERATIONS = 4</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for _ in range(MAX_ITERATIONS):</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ai_message = model.invoke(messages)</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if not ai_message.tool_calls:</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return ai_message.content</a:t>
            </a:r>
            <a:endParaRPr lang="en-US" sz="1200" dirty="0"/>
          </a:p>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  # ejecutar tools, añadir ToolMessage</a:t>
            </a:r>
            <a:endParaRPr lang="en-US" sz="1200" dirty="0"/>
          </a:p>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return "No pude resolver tu consulta... Te derivo con un asesor humano."</a:t>
            </a:r>
            <a:endParaRPr lang="en-US" sz="1200" dirty="0"/>
          </a:p>
        </p:txBody>
      </p:sp>
      <p:sp>
        <p:nvSpPr>
          <p:cNvPr id="23" name="Shape 20"/>
          <p:cNvSpPr/>
          <p:nvPr/>
        </p:nvSpPr>
        <p:spPr>
          <a:xfrm>
            <a:off x="8152309" y="3917355"/>
            <a:ext cx="3220541" cy="1806873"/>
          </a:xfrm>
          <a:prstGeom prst="roundRect">
            <a:avLst>
              <a:gd name="adj" fmla="val 5272"/>
            </a:avLst>
          </a:prstGeom>
          <a:solidFill>
            <a:srgbClr val="FFFFFF"/>
          </a:solidFill>
          <a:ln w="12700">
            <a:solidFill>
              <a:srgbClr val="CED8E3"/>
            </a:solidFill>
            <a:prstDash val="solid"/>
          </a:ln>
        </p:spPr>
      </p:sp>
      <p:sp>
        <p:nvSpPr>
          <p:cNvPr id="24" name="Text 21"/>
          <p:cNvSpPr/>
          <p:nvPr/>
        </p:nvSpPr>
        <p:spPr>
          <a:xfrm>
            <a:off x="8361859" y="4126905"/>
            <a:ext cx="2885485"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Regla A4</a:t>
            </a:r>
            <a:endParaRPr lang="en-US" sz="2200" dirty="0"/>
          </a:p>
        </p:txBody>
      </p:sp>
      <p:sp>
        <p:nvSpPr>
          <p:cNvPr id="25" name="Text 22"/>
          <p:cNvSpPr/>
          <p:nvPr/>
        </p:nvSpPr>
        <p:spPr>
          <a:xfrm>
            <a:off x="8361859" y="4532709"/>
            <a:ext cx="2885485"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Al llegar al tope: avisar y derivar. Nunca fallar en silencio ni repetir para siempre.</a:t>
            </a:r>
            <a:endParaRPr lang="en-US" sz="1400" dirty="0"/>
          </a:p>
        </p:txBody>
      </p:sp>
      <p:sp>
        <p:nvSpPr>
          <p:cNvPr id="26" name="Text 23"/>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20 / 32</a:t>
            </a:r>
            <a:endParaRPr lang="en-US" sz="1200" dirty="0"/>
          </a:p>
        </p:txBody>
      </p:sp>
      <p:pic>
        <p:nvPicPr>
          <p:cNvPr id="2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3 · Con y sin tope</a:t>
            </a:r>
            <a:endParaRPr lang="en-US" sz="3600" dirty="0"/>
          </a:p>
        </p:txBody>
      </p:sp>
      <p:sp>
        <p:nvSpPr>
          <p:cNvPr id="3" name="Shape 1"/>
          <p:cNvSpPr/>
          <p:nvPr/>
        </p:nvSpPr>
        <p:spPr>
          <a:xfrm>
            <a:off x="812800" y="1472605"/>
            <a:ext cx="10566400" cy="521196"/>
          </a:xfrm>
          <a:prstGeom prst="roundRect">
            <a:avLst>
              <a:gd name="adj" fmla="val 4873"/>
            </a:avLst>
          </a:prstGeom>
          <a:solidFill>
            <a:srgbClr val="1E293B"/>
          </a:solidFill>
          <a:ln/>
        </p:spPr>
      </p:sp>
      <p:sp>
        <p:nvSpPr>
          <p:cNvPr id="4" name="Text 2"/>
          <p:cNvSpPr/>
          <p:nvPr/>
        </p:nvSpPr>
        <p:spPr>
          <a:xfrm>
            <a:off x="1016000" y="1625005"/>
            <a:ext cx="10464800" cy="24179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python modulo-2-agentes-avanzados/sesion-04-tools-multiples/code/03_tope_iteraciones.py</a:t>
            </a:r>
            <a:endParaRPr lang="en-US" sz="1200" dirty="0"/>
          </a:p>
        </p:txBody>
      </p:sp>
      <p:sp>
        <p:nvSpPr>
          <p:cNvPr id="5" name="Text 3"/>
          <p:cNvSpPr/>
          <p:nvPr/>
        </p:nvSpPr>
        <p:spPr>
          <a:xfrm>
            <a:off x="812800" y="214620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Tool simulada: run_line_diagnostics falla 3 veces antes de responder. No llama a ningún modelo real.</a:t>
            </a:r>
            <a:endParaRPr lang="en-US" sz="1600" dirty="0"/>
          </a:p>
        </p:txBody>
      </p:sp>
      <p:sp>
        <p:nvSpPr>
          <p:cNvPr id="6" name="Shape 4"/>
          <p:cNvSpPr/>
          <p:nvPr/>
        </p:nvSpPr>
        <p:spPr>
          <a:xfrm>
            <a:off x="819150" y="2585343"/>
            <a:ext cx="5168900" cy="1385689"/>
          </a:xfrm>
          <a:prstGeom prst="roundRect">
            <a:avLst>
              <a:gd name="adj" fmla="val 6874"/>
            </a:avLst>
          </a:prstGeom>
          <a:solidFill>
            <a:srgbClr val="FFFFFF"/>
          </a:solidFill>
          <a:ln w="12700">
            <a:solidFill>
              <a:srgbClr val="CED8E3"/>
            </a:solidFill>
            <a:prstDash val="solid"/>
          </a:ln>
        </p:spPr>
      </p:sp>
      <p:sp>
        <p:nvSpPr>
          <p:cNvPr id="7" name="Text 5"/>
          <p:cNvSpPr/>
          <p:nvPr/>
        </p:nvSpPr>
        <p:spPr>
          <a:xfrm>
            <a:off x="1028700" y="2794893"/>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Sin tope</a:t>
            </a:r>
            <a:endParaRPr lang="en-US" sz="2200" dirty="0"/>
          </a:p>
        </p:txBody>
      </p:sp>
      <p:sp>
        <p:nvSpPr>
          <p:cNvPr id="8" name="Text 6"/>
          <p:cNvSpPr/>
          <p:nvPr/>
        </p:nvSpPr>
        <p:spPr>
          <a:xfrm>
            <a:off x="1028700" y="3200698"/>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max_iterations=None, con techo de seguridad de 1000 para la demo.</a:t>
            </a:r>
            <a:endParaRPr lang="en-US" sz="1600" dirty="0"/>
          </a:p>
        </p:txBody>
      </p:sp>
      <p:sp>
        <p:nvSpPr>
          <p:cNvPr id="9" name="Shape 7"/>
          <p:cNvSpPr/>
          <p:nvPr/>
        </p:nvSpPr>
        <p:spPr>
          <a:xfrm>
            <a:off x="6203950" y="2585343"/>
            <a:ext cx="5168900" cy="1385689"/>
          </a:xfrm>
          <a:prstGeom prst="roundRect">
            <a:avLst>
              <a:gd name="adj" fmla="val 6874"/>
            </a:avLst>
          </a:prstGeom>
          <a:solidFill>
            <a:srgbClr val="FFFFFF"/>
          </a:solidFill>
          <a:ln w="12700">
            <a:solidFill>
              <a:srgbClr val="CED8E3"/>
            </a:solidFill>
            <a:prstDash val="solid"/>
          </a:ln>
        </p:spPr>
      </p:sp>
      <p:sp>
        <p:nvSpPr>
          <p:cNvPr id="10" name="Text 8"/>
          <p:cNvSpPr/>
          <p:nvPr/>
        </p:nvSpPr>
        <p:spPr>
          <a:xfrm>
            <a:off x="6413500" y="2794893"/>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Con tope</a:t>
            </a:r>
            <a:endParaRPr lang="en-US" sz="2200" dirty="0"/>
          </a:p>
        </p:txBody>
      </p:sp>
      <p:sp>
        <p:nvSpPr>
          <p:cNvPr id="11" name="Text 9"/>
          <p:cNvSpPr/>
          <p:nvPr/>
        </p:nvSpPr>
        <p:spPr>
          <a:xfrm>
            <a:off x="6413500" y="3200698"/>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max_iterations=2: se detiene y responde con un mensaje claro de derivación.</a:t>
            </a:r>
            <a:endParaRPr lang="en-US" sz="1600" dirty="0"/>
          </a:p>
        </p:txBody>
      </p:sp>
      <p:sp>
        <p:nvSpPr>
          <p:cNvPr id="12" name="Text 10"/>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21 / 32</a:t>
            </a:r>
            <a:endParaRPr lang="en-US" sz="1200" dirty="0"/>
          </a:p>
        </p:txBody>
      </p:sp>
      <p:pic>
        <p:nvPicPr>
          <p:cNvPr id="13"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L4 · Las 4 tools núcleo por track</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La primera ya la tienes del L3; hoy añades tres. Tool 4 es de escritura, salvo en banca.</a:t>
            </a:r>
            <a:endParaRPr lang="en-US" sz="1600" dirty="0"/>
          </a:p>
        </p:txBody>
      </p:sp>
      <p:sp>
        <p:nvSpPr>
          <p:cNvPr id="4" name="Shape 2"/>
          <p:cNvSpPr/>
          <p:nvPr/>
        </p:nvSpPr>
        <p:spPr>
          <a:xfrm>
            <a:off x="812800" y="1911747"/>
            <a:ext cx="10566400" cy="0"/>
          </a:xfrm>
          <a:prstGeom prst="line">
            <a:avLst/>
          </a:prstGeom>
          <a:noFill/>
          <a:ln w="12700">
            <a:solidFill>
              <a:srgbClr val="141413">
                <a:alpha val="22000"/>
              </a:srgbClr>
            </a:solidFill>
            <a:prstDash val="solid"/>
          </a:ln>
        </p:spPr>
      </p:sp>
      <p:sp>
        <p:nvSpPr>
          <p:cNvPr id="5" name="Shape 3"/>
          <p:cNvSpPr/>
          <p:nvPr/>
        </p:nvSpPr>
        <p:spPr>
          <a:xfrm>
            <a:off x="819150" y="1905397"/>
            <a:ext cx="0" cy="1961455"/>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994297"/>
          <a:ext cx="10350500" cy="1796355"/>
        </p:xfrm>
        <a:graphic>
          <a:graphicData uri="http://schemas.openxmlformats.org/drawingml/2006/table">
            <a:tbl>
              <a:tblPr/>
              <a:tblGrid>
                <a:gridCol w="1138555"/>
                <a:gridCol w="2173605"/>
                <a:gridCol w="2173605"/>
                <a:gridCol w="2277110"/>
                <a:gridCol w="2587625"/>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Tool 1 · del L3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Tool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Tool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Tool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Telco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get_customer_plan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get_data_usage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run_line_diagnostics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create_complaint_ticket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Banca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get_account_balance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list_transactions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get_card_info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score_transaction_risk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Retail</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track_order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get_product_details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check_stock_by_store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start_return_request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Seguros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get_policy_by_plate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quote_soat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get_claim_status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open_claim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7" name="Text 4"/>
          <p:cNvSpPr/>
          <p:nvPr/>
        </p:nvSpPr>
        <p:spPr>
          <a:xfrm>
            <a:off x="812800" y="4019252"/>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Banca: sus cuatro tools son de lectura; request_card_block (irreversible) queda como tool opcional.</a:t>
            </a:r>
            <a:endParaRPr lang="en-US" sz="1400" dirty="0"/>
          </a:p>
        </p:txBody>
      </p:sp>
      <p:sp>
        <p:nvSpPr>
          <p:cNvPr id="8" name="Text 5"/>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22 / 32</a:t>
            </a:r>
            <a:endParaRPr lang="en-US" sz="1200" dirty="0"/>
          </a:p>
        </p:txBody>
      </p:sp>
      <p:pic>
        <p:nvPicPr>
          <p:cNvPr id="9"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L4 en cuatro partes</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Tu trabajo va en lab/&lt;track&gt;/: en tu propio repositorio, no en proyecto-final/.</a:t>
            </a:r>
            <a:endParaRPr lang="en-US" sz="1600" dirty="0"/>
          </a:p>
        </p:txBody>
      </p:sp>
      <p:pic>
        <p:nvPicPr>
          <p:cNvPr id="4" name="Image 0" descr="Cuatro partes del laboratorio L4 en orden">    </p:cNvPr>
          <p:cNvPicPr>
            <a:picLocks noChangeAspect="1"/>
          </p:cNvPicPr>
          <p:nvPr/>
        </p:nvPicPr>
        <p:blipFill>
          <a:blip r:embed="rId1"/>
          <a:srcRect l="0" r="0" t="-31" b="-31"/>
          <a:stretch/>
        </p:blipFill>
        <p:spPr>
          <a:xfrm>
            <a:off x="812800" y="1905397"/>
            <a:ext cx="10566400" cy="1905000"/>
          </a:xfrm>
          <a:prstGeom prst="rect">
            <a:avLst/>
          </a:prstGeom>
        </p:spPr>
      </p:pic>
      <p:sp>
        <p:nvSpPr>
          <p:cNvPr id="5" name="Text 2"/>
          <p:cNvSpPr/>
          <p:nvPr/>
        </p:nvSpPr>
        <p:spPr>
          <a:xfrm>
            <a:off x="886968" y="2591197"/>
            <a:ext cx="1883664" cy="46990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1 · Completa el catálogo</a:t>
            </a:r>
            <a:endParaRPr lang="en-US" sz="1400" dirty="0"/>
          </a:p>
        </p:txBody>
      </p:sp>
      <p:sp>
        <p:nvSpPr>
          <p:cNvPr id="6" name="Text 3"/>
          <p:cNvSpPr/>
          <p:nvPr/>
        </p:nvSpPr>
        <p:spPr>
          <a:xfrm>
            <a:off x="886968" y="3111897"/>
            <a:ext cx="188366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45 min guiados</a:t>
            </a:r>
            <a:endParaRPr lang="en-US" sz="1200" dirty="0"/>
          </a:p>
        </p:txBody>
      </p:sp>
      <p:sp>
        <p:nvSpPr>
          <p:cNvPr id="7" name="Text 4"/>
          <p:cNvSpPr/>
          <p:nvPr/>
        </p:nvSpPr>
        <p:spPr>
          <a:xfrm>
            <a:off x="3731768" y="2591197"/>
            <a:ext cx="1883664" cy="46990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2 · Ensambla el agente</a:t>
            </a:r>
            <a:endParaRPr lang="en-US" sz="1400" dirty="0"/>
          </a:p>
        </p:txBody>
      </p:sp>
      <p:sp>
        <p:nvSpPr>
          <p:cNvPr id="8" name="Text 5"/>
          <p:cNvSpPr/>
          <p:nvPr/>
        </p:nvSpPr>
        <p:spPr>
          <a:xfrm>
            <a:off x="3731768" y="3111897"/>
            <a:ext cx="188366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bind_tools() + tope</a:t>
            </a:r>
            <a:endParaRPr lang="en-US" sz="1200" dirty="0"/>
          </a:p>
        </p:txBody>
      </p:sp>
      <p:sp>
        <p:nvSpPr>
          <p:cNvPr id="9" name="Text 6"/>
          <p:cNvSpPr/>
          <p:nvPr/>
        </p:nvSpPr>
        <p:spPr>
          <a:xfrm>
            <a:off x="6576568" y="2591197"/>
            <a:ext cx="1883664"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3 · Mide tu catálogo</a:t>
            </a:r>
            <a:endParaRPr lang="en-US" sz="1400" dirty="0"/>
          </a:p>
        </p:txBody>
      </p:sp>
      <p:sp>
        <p:nvSpPr>
          <p:cNvPr id="10" name="Text 7"/>
          <p:cNvSpPr/>
          <p:nvPr/>
        </p:nvSpPr>
        <p:spPr>
          <a:xfrm>
            <a:off x="6576568" y="3111897"/>
            <a:ext cx="188366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 · ≥ 85 %</a:t>
            </a:r>
            <a:endParaRPr lang="en-US" sz="1200" dirty="0"/>
          </a:p>
        </p:txBody>
      </p:sp>
      <p:sp>
        <p:nvSpPr>
          <p:cNvPr id="11" name="Text 8"/>
          <p:cNvSpPr/>
          <p:nvPr/>
        </p:nvSpPr>
        <p:spPr>
          <a:xfrm>
            <a:off x="9421368" y="2591197"/>
            <a:ext cx="1883664"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4 · Avance 1</a:t>
            </a:r>
            <a:endParaRPr lang="en-US" sz="1400" dirty="0"/>
          </a:p>
        </p:txBody>
      </p:sp>
      <p:sp>
        <p:nvSpPr>
          <p:cNvPr id="12" name="Text 9"/>
          <p:cNvSpPr/>
          <p:nvPr/>
        </p:nvSpPr>
        <p:spPr>
          <a:xfrm>
            <a:off x="9421368" y="3111897"/>
            <a:ext cx="188366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10 min · media página</a:t>
            </a:r>
            <a:endParaRPr lang="en-US" sz="1200" dirty="0"/>
          </a:p>
        </p:txBody>
      </p:sp>
      <p:sp>
        <p:nvSpPr>
          <p:cNvPr id="13" name="Text 10"/>
          <p:cNvSpPr/>
          <p:nvPr/>
        </p:nvSpPr>
        <p:spPr>
          <a:xfrm>
            <a:off x="2844800" y="2591197"/>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tools</a:t>
            </a:r>
            <a:endParaRPr lang="en-US" sz="1200" dirty="0"/>
          </a:p>
        </p:txBody>
      </p:sp>
      <p:sp>
        <p:nvSpPr>
          <p:cNvPr id="14" name="Text 11"/>
          <p:cNvSpPr/>
          <p:nvPr/>
        </p:nvSpPr>
        <p:spPr>
          <a:xfrm>
            <a:off x="5689600" y="2591197"/>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agente</a:t>
            </a:r>
            <a:endParaRPr lang="en-US" sz="1200" dirty="0"/>
          </a:p>
        </p:txBody>
      </p:sp>
      <p:sp>
        <p:nvSpPr>
          <p:cNvPr id="15" name="Text 12"/>
          <p:cNvSpPr/>
          <p:nvPr/>
        </p:nvSpPr>
        <p:spPr>
          <a:xfrm>
            <a:off x="8534400" y="2591197"/>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matriz</a:t>
            </a:r>
            <a:endParaRPr lang="en-US" sz="1200" dirty="0"/>
          </a:p>
        </p:txBody>
      </p:sp>
      <p:sp>
        <p:nvSpPr>
          <p:cNvPr id="16" name="Shape 13"/>
          <p:cNvSpPr/>
          <p:nvPr/>
        </p:nvSpPr>
        <p:spPr>
          <a:xfrm>
            <a:off x="819150" y="3969147"/>
            <a:ext cx="5168900" cy="1283494"/>
          </a:xfrm>
          <a:prstGeom prst="roundRect">
            <a:avLst>
              <a:gd name="adj" fmla="val 7421"/>
            </a:avLst>
          </a:prstGeom>
          <a:solidFill>
            <a:srgbClr val="FFFFFF"/>
          </a:solidFill>
          <a:ln w="12700">
            <a:solidFill>
              <a:srgbClr val="CED8E3"/>
            </a:solidFill>
            <a:prstDash val="solid"/>
          </a:ln>
        </p:spPr>
      </p:sp>
      <p:sp>
        <p:nvSpPr>
          <p:cNvPr id="17" name="Text 14"/>
          <p:cNvSpPr/>
          <p:nvPr/>
        </p:nvSpPr>
        <p:spPr>
          <a:xfrm>
            <a:off x="1028700" y="41786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Parte 2</a:t>
            </a:r>
            <a:endParaRPr lang="en-US" sz="2200" dirty="0"/>
          </a:p>
        </p:txBody>
      </p:sp>
      <p:sp>
        <p:nvSpPr>
          <p:cNvPr id="18" name="Text 15"/>
          <p:cNvSpPr/>
          <p:nvPr/>
        </p:nvSpPr>
        <p:spPr>
          <a:xfrm>
            <a:off x="1028700" y="4584502"/>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bind_tools() con tus 4 tools y bucle manual Thought → Action → Observation con tope. Sin tope, no se acepta.</a:t>
            </a:r>
            <a:endParaRPr lang="en-US" sz="1400" dirty="0"/>
          </a:p>
        </p:txBody>
      </p:sp>
      <p:sp>
        <p:nvSpPr>
          <p:cNvPr id="19" name="Shape 16"/>
          <p:cNvSpPr/>
          <p:nvPr/>
        </p:nvSpPr>
        <p:spPr>
          <a:xfrm>
            <a:off x="6203950" y="3969147"/>
            <a:ext cx="5168900" cy="1283494"/>
          </a:xfrm>
          <a:prstGeom prst="roundRect">
            <a:avLst>
              <a:gd name="adj" fmla="val 7421"/>
            </a:avLst>
          </a:prstGeom>
          <a:solidFill>
            <a:srgbClr val="FFFFFF"/>
          </a:solidFill>
          <a:ln w="12700">
            <a:solidFill>
              <a:srgbClr val="CED8E3"/>
            </a:solidFill>
            <a:prstDash val="solid"/>
          </a:ln>
        </p:spPr>
      </p:sp>
      <p:sp>
        <p:nvSpPr>
          <p:cNvPr id="20" name="Text 17"/>
          <p:cNvSpPr/>
          <p:nvPr/>
        </p:nvSpPr>
        <p:spPr>
          <a:xfrm>
            <a:off x="6413500" y="41786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Parte 4</a:t>
            </a:r>
            <a:endParaRPr lang="en-US" sz="2200" dirty="0"/>
          </a:p>
        </p:txBody>
      </p:sp>
      <p:sp>
        <p:nvSpPr>
          <p:cNvPr id="21" name="Text 18"/>
          <p:cNvSpPr/>
          <p:nvPr/>
        </p:nvSpPr>
        <p:spPr>
          <a:xfrm>
            <a:off x="6413500" y="4584502"/>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Media página al cerrar la sesión: caso de uso, las 4 tools y los huecos.</a:t>
            </a:r>
            <a:endParaRPr lang="en-US" sz="1400" dirty="0"/>
          </a:p>
        </p:txBody>
      </p:sp>
      <p:sp>
        <p:nvSpPr>
          <p:cNvPr id="22" name="Text 19"/>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23 / 32</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2 · La matriz en 5 consultas</a:t>
            </a:r>
            <a:endParaRPr lang="en-US" sz="3600" dirty="0"/>
          </a:p>
        </p:txBody>
      </p:sp>
      <p:sp>
        <p:nvSpPr>
          <p:cNvPr id="3" name="Shape 1"/>
          <p:cNvSpPr/>
          <p:nvPr/>
        </p:nvSpPr>
        <p:spPr>
          <a:xfrm>
            <a:off x="812800" y="1472605"/>
            <a:ext cx="10566400" cy="521196"/>
          </a:xfrm>
          <a:prstGeom prst="roundRect">
            <a:avLst>
              <a:gd name="adj" fmla="val 4873"/>
            </a:avLst>
          </a:prstGeom>
          <a:solidFill>
            <a:srgbClr val="1E293B"/>
          </a:solidFill>
          <a:ln/>
        </p:spPr>
      </p:sp>
      <p:sp>
        <p:nvSpPr>
          <p:cNvPr id="4" name="Text 2"/>
          <p:cNvSpPr/>
          <p:nvPr/>
        </p:nvSpPr>
        <p:spPr>
          <a:xfrm>
            <a:off x="1016000" y="1625005"/>
            <a:ext cx="10464800" cy="24179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python modulo-2-agentes-avanzados/sesion-04-tools-multiples/code/02_matriz_didactica.py</a:t>
            </a:r>
            <a:endParaRPr lang="en-US" sz="1200" dirty="0"/>
          </a:p>
        </p:txBody>
      </p:sp>
      <p:sp>
        <p:nvSpPr>
          <p:cNvPr id="5" name="Shape 3"/>
          <p:cNvSpPr/>
          <p:nvPr/>
        </p:nvSpPr>
        <p:spPr>
          <a:xfrm>
            <a:off x="812800" y="2152551"/>
            <a:ext cx="10566400" cy="0"/>
          </a:xfrm>
          <a:prstGeom prst="line">
            <a:avLst/>
          </a:prstGeom>
          <a:noFill/>
          <a:ln w="12700">
            <a:solidFill>
              <a:srgbClr val="141413">
                <a:alpha val="22000"/>
              </a:srgbClr>
            </a:solidFill>
            <a:prstDash val="solid"/>
          </a:ln>
        </p:spPr>
      </p:sp>
      <p:sp>
        <p:nvSpPr>
          <p:cNvPr id="6" name="Shape 4"/>
          <p:cNvSpPr/>
          <p:nvPr/>
        </p:nvSpPr>
        <p:spPr>
          <a:xfrm>
            <a:off x="819150" y="2146201"/>
            <a:ext cx="0" cy="2551807"/>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7100" y="2235101"/>
          <a:ext cx="10350500" cy="2386707"/>
        </p:xfrm>
        <a:graphic>
          <a:graphicData uri="http://schemas.openxmlformats.org/drawingml/2006/table">
            <a:tbl>
              <a:tblPr/>
              <a:tblGrid>
                <a:gridCol w="5692775"/>
                <a:gridCol w="1552575"/>
                <a:gridCol w="310515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Consulta (golden de telco)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Categoría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Tool esperada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plan tengo contratado en la línea 987654321?</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directa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get_customer_plan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¿Cuántos gigas he consumido en agosto? Mi línea es 987654321</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directa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get_data_usage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59035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 internet no funciona y quiero que quede constancia por escrito. Línea 987654321</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confusable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create_complaint_ticket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¿Cuánto cuesta el plan Max 89 al mes?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otro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(ninguna)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¿Cuánto cuesta el Plan Control 39 y cuántos gigas incluye?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otro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(ninguna)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8" name="Text 5"/>
          <p:cNvSpPr/>
          <p:nvPr/>
        </p:nvSpPr>
        <p:spPr>
          <a:xfrm>
            <a:off x="812800" y="4850408"/>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Muestra de 5, no un veredicto: con tan pocas consultas, un solo fallo cambia el porcentaje 20 puntos.</a:t>
            </a:r>
            <a:endParaRPr lang="en-US" sz="1400" dirty="0"/>
          </a:p>
        </p:txBody>
      </p:sp>
      <p:sp>
        <p:nvSpPr>
          <p:cNvPr id="9" name="Text 6"/>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24 / 32</a:t>
            </a:r>
            <a:endParaRPr lang="en-US" sz="1200" dirty="0"/>
          </a:p>
        </p:txBody>
      </p:sp>
      <p:pic>
        <p:nvPicPr>
          <p:cNvPr id="10"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Mide tu catálogo, no la referencia</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Mide tu archivo con --tools. proyecto-final/ es la referencia del docente y no acredita tu trabajo.</a:t>
            </a:r>
            <a:endParaRPr lang="en-US" sz="1600" dirty="0"/>
          </a:p>
        </p:txBody>
      </p:sp>
      <p:pic>
        <p:nvPicPr>
          <p:cNvPr id="4" name="Image 0" descr="Ciclo: consultas, script, matriz, corrección y nueva medición">    </p:cNvPr>
          <p:cNvPicPr>
            <a:picLocks noChangeAspect="1"/>
          </p:cNvPicPr>
          <p:nvPr/>
        </p:nvPicPr>
        <p:blipFill>
          <a:blip r:embed="rId1"/>
          <a:srcRect l="-33" r="-33" t="0" b="0"/>
          <a:stretch/>
        </p:blipFill>
        <p:spPr>
          <a:xfrm>
            <a:off x="812800" y="1905397"/>
            <a:ext cx="10566400" cy="2413000"/>
          </a:xfrm>
          <a:prstGeom prst="rect">
            <a:avLst/>
          </a:prstGeom>
        </p:spPr>
      </p:pic>
      <p:sp>
        <p:nvSpPr>
          <p:cNvPr id="5" name="Text 2"/>
          <p:cNvSpPr/>
          <p:nvPr/>
        </p:nvSpPr>
        <p:spPr>
          <a:xfrm>
            <a:off x="836359" y="2680097"/>
            <a:ext cx="1870583"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Consultas golden</a:t>
            </a:r>
            <a:endParaRPr lang="en-US" sz="1400" dirty="0"/>
          </a:p>
        </p:txBody>
      </p:sp>
      <p:sp>
        <p:nvSpPr>
          <p:cNvPr id="6" name="Text 3"/>
          <p:cNvSpPr/>
          <p:nvPr/>
        </p:nvSpPr>
        <p:spPr>
          <a:xfrm>
            <a:off x="836359" y="2915047"/>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recursos/golden/</a:t>
            </a:r>
            <a:endParaRPr lang="en-US" sz="1200" dirty="0"/>
          </a:p>
        </p:txBody>
      </p:sp>
      <p:sp>
        <p:nvSpPr>
          <p:cNvPr id="7" name="Text 4"/>
          <p:cNvSpPr/>
          <p:nvPr/>
        </p:nvSpPr>
        <p:spPr>
          <a:xfrm>
            <a:off x="3719259" y="2680097"/>
            <a:ext cx="1870583"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matriz_seleccion.py</a:t>
            </a:r>
            <a:endParaRPr lang="en-US" sz="1400" dirty="0"/>
          </a:p>
        </p:txBody>
      </p:sp>
      <p:sp>
        <p:nvSpPr>
          <p:cNvPr id="8" name="Text 5"/>
          <p:cNvSpPr/>
          <p:nvPr/>
        </p:nvSpPr>
        <p:spPr>
          <a:xfrm>
            <a:off x="3719259" y="2915047"/>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--tools tu archivo</a:t>
            </a:r>
            <a:endParaRPr lang="en-US" sz="1200" dirty="0"/>
          </a:p>
        </p:txBody>
      </p:sp>
      <p:sp>
        <p:nvSpPr>
          <p:cNvPr id="9" name="Text 6"/>
          <p:cNvSpPr/>
          <p:nvPr/>
        </p:nvSpPr>
        <p:spPr>
          <a:xfrm>
            <a:off x="6602159" y="2680097"/>
            <a:ext cx="1870583"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Matriz de confusión</a:t>
            </a:r>
            <a:endParaRPr lang="en-US" sz="1400" dirty="0"/>
          </a:p>
        </p:txBody>
      </p:sp>
      <p:sp>
        <p:nvSpPr>
          <p:cNvPr id="10" name="Text 7"/>
          <p:cNvSpPr/>
          <p:nvPr/>
        </p:nvSpPr>
        <p:spPr>
          <a:xfrm>
            <a:off x="6602159" y="2915047"/>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solo el %</a:t>
            </a:r>
            <a:endParaRPr lang="en-US" sz="1200" dirty="0"/>
          </a:p>
        </p:txBody>
      </p:sp>
      <p:sp>
        <p:nvSpPr>
          <p:cNvPr id="11" name="Text 8"/>
          <p:cNvSpPr/>
          <p:nvPr/>
        </p:nvSpPr>
        <p:spPr>
          <a:xfrm>
            <a:off x="9485059" y="2680097"/>
            <a:ext cx="1870583"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E293B"/>
                </a:solidFill>
                <a:latin typeface="IBM Plex Sans" pitchFamily="34" charset="0"/>
                <a:ea typeface="IBM Plex Sans" pitchFamily="34" charset="-122"/>
                <a:cs typeface="IBM Plex Sans" pitchFamily="34" charset="-120"/>
              </a:rPr>
              <a:t>Corregir docstring</a:t>
            </a:r>
            <a:endParaRPr lang="en-US" sz="1400" dirty="0"/>
          </a:p>
        </p:txBody>
      </p:sp>
      <p:sp>
        <p:nvSpPr>
          <p:cNvPr id="12" name="Text 9"/>
          <p:cNvSpPr/>
          <p:nvPr/>
        </p:nvSpPr>
        <p:spPr>
          <a:xfrm>
            <a:off x="9485059" y="2915047"/>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cuándo NO usarla</a:t>
            </a:r>
            <a:endParaRPr lang="en-US" sz="1200" dirty="0"/>
          </a:p>
        </p:txBody>
      </p:sp>
      <p:sp>
        <p:nvSpPr>
          <p:cNvPr id="13" name="Text 10"/>
          <p:cNvSpPr/>
          <p:nvPr/>
        </p:nvSpPr>
        <p:spPr>
          <a:xfrm>
            <a:off x="2717800" y="2464197"/>
            <a:ext cx="990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30 consultas</a:t>
            </a:r>
            <a:endParaRPr lang="en-US" sz="1200" dirty="0"/>
          </a:p>
        </p:txBody>
      </p:sp>
      <p:sp>
        <p:nvSpPr>
          <p:cNvPr id="14" name="Text 11"/>
          <p:cNvSpPr/>
          <p:nvPr/>
        </p:nvSpPr>
        <p:spPr>
          <a:xfrm>
            <a:off x="5600700" y="2464197"/>
            <a:ext cx="990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genera</a:t>
            </a:r>
            <a:endParaRPr lang="en-US" sz="1200" dirty="0"/>
          </a:p>
        </p:txBody>
      </p:sp>
      <p:sp>
        <p:nvSpPr>
          <p:cNvPr id="15" name="Text 12"/>
          <p:cNvSpPr/>
          <p:nvPr/>
        </p:nvSpPr>
        <p:spPr>
          <a:xfrm>
            <a:off x="8483600" y="2464197"/>
            <a:ext cx="990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diagnóstico</a:t>
            </a:r>
            <a:endParaRPr lang="en-US" sz="1200" dirty="0"/>
          </a:p>
        </p:txBody>
      </p:sp>
      <p:sp>
        <p:nvSpPr>
          <p:cNvPr id="16" name="Text 13"/>
          <p:cNvSpPr/>
          <p:nvPr/>
        </p:nvSpPr>
        <p:spPr>
          <a:xfrm>
            <a:off x="5581650" y="4013597"/>
            <a:ext cx="39243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vuelve a medir hasta ≥ 85 %</a:t>
            </a:r>
            <a:endParaRPr lang="en-US" sz="1200" dirty="0"/>
          </a:p>
        </p:txBody>
      </p:sp>
      <p:sp>
        <p:nvSpPr>
          <p:cNvPr id="17" name="Shape 14"/>
          <p:cNvSpPr/>
          <p:nvPr/>
        </p:nvSpPr>
        <p:spPr>
          <a:xfrm>
            <a:off x="812800" y="4470797"/>
            <a:ext cx="10566400" cy="760413"/>
          </a:xfrm>
          <a:prstGeom prst="roundRect">
            <a:avLst>
              <a:gd name="adj" fmla="val 3340"/>
            </a:avLst>
          </a:prstGeom>
          <a:solidFill>
            <a:srgbClr val="1E293B"/>
          </a:solidFill>
          <a:ln/>
        </p:spPr>
      </p:sp>
      <p:sp>
        <p:nvSpPr>
          <p:cNvPr id="18" name="Text 15"/>
          <p:cNvSpPr/>
          <p:nvPr/>
        </p:nvSpPr>
        <p:spPr>
          <a:xfrm>
            <a:off x="1016000" y="4623197"/>
            <a:ext cx="10464800"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docente/matriz_seleccion.py --track &lt;tu-track&gt;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--tools lab/&lt;tu-track&gt;/domain_tools.py</a:t>
            </a:r>
            <a:endParaRPr lang="en-US" sz="1300" dirty="0"/>
          </a:p>
        </p:txBody>
      </p:sp>
      <p:sp>
        <p:nvSpPr>
          <p:cNvPr id="19" name="Text 16"/>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25 / 32</a:t>
            </a:r>
            <a:endParaRPr lang="en-US" sz="1200" dirty="0"/>
          </a:p>
        </p:txBody>
      </p:sp>
      <p:pic>
        <p:nvPicPr>
          <p:cNvPr id="20"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Cómo leer la matriz de confusión</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Filas: tool esperada. Columnas: tool elegida. La diagonal son los aciertos. Esquema sin cifras.</a:t>
            </a:r>
            <a:endParaRPr lang="en-US" sz="1600" dirty="0"/>
          </a:p>
        </p:txBody>
      </p:sp>
      <p:pic>
        <p:nvPicPr>
          <p:cNvPr id="4" name="Image 0" descr="Matriz esquemática: filas esperada, columnas elegida; diagonal aciertos">    </p:cNvPr>
          <p:cNvPicPr>
            <a:picLocks noChangeAspect="1"/>
          </p:cNvPicPr>
          <p:nvPr/>
        </p:nvPicPr>
        <p:blipFill>
          <a:blip r:embed="rId1"/>
          <a:srcRect l="0" r="0" t="-17" b="-17"/>
          <a:stretch/>
        </p:blipFill>
        <p:spPr>
          <a:xfrm>
            <a:off x="812800" y="1905397"/>
            <a:ext cx="10566400" cy="3556000"/>
          </a:xfrm>
          <a:prstGeom prst="rect">
            <a:avLst/>
          </a:prstGeom>
        </p:spPr>
      </p:pic>
      <p:sp>
        <p:nvSpPr>
          <p:cNvPr id="5" name="Text 2"/>
          <p:cNvSpPr/>
          <p:nvPr/>
        </p:nvSpPr>
        <p:spPr>
          <a:xfrm>
            <a:off x="812800" y="20069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526277"/>
                </a:solidFill>
                <a:latin typeface="IBM Plex Sans" pitchFamily="34" charset="0"/>
                <a:ea typeface="IBM Plex Sans" pitchFamily="34" charset="-122"/>
                <a:cs typeface="IBM Plex Sans" pitchFamily="34" charset="-120"/>
              </a:rPr>
              <a:t>esperada ↓ · elegida →</a:t>
            </a:r>
            <a:endParaRPr lang="en-US" sz="1200" dirty="0"/>
          </a:p>
        </p:txBody>
      </p:sp>
      <p:sp>
        <p:nvSpPr>
          <p:cNvPr id="6" name="Text 3"/>
          <p:cNvSpPr/>
          <p:nvPr/>
        </p:nvSpPr>
        <p:spPr>
          <a:xfrm>
            <a:off x="4216400" y="20069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[1]</a:t>
            </a:r>
            <a:endParaRPr lang="en-US" sz="1200" dirty="0"/>
          </a:p>
        </p:txBody>
      </p:sp>
      <p:sp>
        <p:nvSpPr>
          <p:cNvPr id="7" name="Text 4"/>
          <p:cNvSpPr/>
          <p:nvPr/>
        </p:nvSpPr>
        <p:spPr>
          <a:xfrm>
            <a:off x="5613400" y="20069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[2]</a:t>
            </a:r>
            <a:endParaRPr lang="en-US" sz="1200" dirty="0"/>
          </a:p>
        </p:txBody>
      </p:sp>
      <p:sp>
        <p:nvSpPr>
          <p:cNvPr id="8" name="Text 5"/>
          <p:cNvSpPr/>
          <p:nvPr/>
        </p:nvSpPr>
        <p:spPr>
          <a:xfrm>
            <a:off x="7010400" y="20069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[3]</a:t>
            </a:r>
            <a:endParaRPr lang="en-US" sz="1200" dirty="0"/>
          </a:p>
        </p:txBody>
      </p:sp>
      <p:sp>
        <p:nvSpPr>
          <p:cNvPr id="9" name="Text 6"/>
          <p:cNvSpPr/>
          <p:nvPr/>
        </p:nvSpPr>
        <p:spPr>
          <a:xfrm>
            <a:off x="8407400" y="20069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[4]</a:t>
            </a:r>
            <a:endParaRPr lang="en-US" sz="1200" dirty="0"/>
          </a:p>
        </p:txBody>
      </p:sp>
      <p:sp>
        <p:nvSpPr>
          <p:cNvPr id="10" name="Text 7"/>
          <p:cNvSpPr/>
          <p:nvPr/>
        </p:nvSpPr>
        <p:spPr>
          <a:xfrm>
            <a:off x="9804400" y="20069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[5]</a:t>
            </a:r>
            <a:endParaRPr lang="en-US" sz="1200" dirty="0"/>
          </a:p>
        </p:txBody>
      </p:sp>
      <p:sp>
        <p:nvSpPr>
          <p:cNvPr id="11" name="Text 8"/>
          <p:cNvSpPr/>
          <p:nvPr/>
        </p:nvSpPr>
        <p:spPr>
          <a:xfrm>
            <a:off x="812800" y="25022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[1] get_customer_plan</a:t>
            </a:r>
            <a:endParaRPr lang="en-US" sz="1200" dirty="0"/>
          </a:p>
        </p:txBody>
      </p:sp>
      <p:sp>
        <p:nvSpPr>
          <p:cNvPr id="12" name="Text 9"/>
          <p:cNvSpPr/>
          <p:nvPr/>
        </p:nvSpPr>
        <p:spPr>
          <a:xfrm>
            <a:off x="4216400" y="25022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acierto</a:t>
            </a:r>
            <a:endParaRPr lang="en-US" sz="1200" dirty="0"/>
          </a:p>
        </p:txBody>
      </p:sp>
      <p:sp>
        <p:nvSpPr>
          <p:cNvPr id="13" name="Text 10"/>
          <p:cNvSpPr/>
          <p:nvPr/>
        </p:nvSpPr>
        <p:spPr>
          <a:xfrm>
            <a:off x="812800" y="31118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[2] get_data_usage</a:t>
            </a:r>
            <a:endParaRPr lang="en-US" sz="1200" dirty="0"/>
          </a:p>
        </p:txBody>
      </p:sp>
      <p:sp>
        <p:nvSpPr>
          <p:cNvPr id="14" name="Text 11"/>
          <p:cNvSpPr/>
          <p:nvPr/>
        </p:nvSpPr>
        <p:spPr>
          <a:xfrm>
            <a:off x="5613400" y="31118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acierto</a:t>
            </a:r>
            <a:endParaRPr lang="en-US" sz="1200" dirty="0"/>
          </a:p>
        </p:txBody>
      </p:sp>
      <p:sp>
        <p:nvSpPr>
          <p:cNvPr id="15" name="Text 12"/>
          <p:cNvSpPr/>
          <p:nvPr/>
        </p:nvSpPr>
        <p:spPr>
          <a:xfrm>
            <a:off x="9804400" y="31118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vacío</a:t>
            </a:r>
            <a:endParaRPr lang="en-US" sz="1200" dirty="0"/>
          </a:p>
        </p:txBody>
      </p:sp>
      <p:sp>
        <p:nvSpPr>
          <p:cNvPr id="16" name="Text 13"/>
          <p:cNvSpPr/>
          <p:nvPr/>
        </p:nvSpPr>
        <p:spPr>
          <a:xfrm>
            <a:off x="812800" y="37214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[3] run_line_diagnostics</a:t>
            </a:r>
            <a:endParaRPr lang="en-US" sz="1200" dirty="0"/>
          </a:p>
        </p:txBody>
      </p:sp>
      <p:sp>
        <p:nvSpPr>
          <p:cNvPr id="17" name="Text 14"/>
          <p:cNvSpPr/>
          <p:nvPr/>
        </p:nvSpPr>
        <p:spPr>
          <a:xfrm>
            <a:off x="7010400" y="37214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acierto</a:t>
            </a:r>
            <a:endParaRPr lang="en-US" sz="1200" dirty="0"/>
          </a:p>
        </p:txBody>
      </p:sp>
      <p:sp>
        <p:nvSpPr>
          <p:cNvPr id="18" name="Text 15"/>
          <p:cNvSpPr/>
          <p:nvPr/>
        </p:nvSpPr>
        <p:spPr>
          <a:xfrm>
            <a:off x="812800" y="43310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[4] create_complaint_ticket</a:t>
            </a:r>
            <a:endParaRPr lang="en-US" sz="1200" dirty="0"/>
          </a:p>
        </p:txBody>
      </p:sp>
      <p:sp>
        <p:nvSpPr>
          <p:cNvPr id="19" name="Text 16"/>
          <p:cNvSpPr/>
          <p:nvPr/>
        </p:nvSpPr>
        <p:spPr>
          <a:xfrm>
            <a:off x="7010400" y="43310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solapamiento</a:t>
            </a:r>
            <a:endParaRPr lang="en-US" sz="1200" dirty="0"/>
          </a:p>
        </p:txBody>
      </p:sp>
      <p:sp>
        <p:nvSpPr>
          <p:cNvPr id="20" name="Text 17"/>
          <p:cNvSpPr/>
          <p:nvPr/>
        </p:nvSpPr>
        <p:spPr>
          <a:xfrm>
            <a:off x="8407400" y="43310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acierto</a:t>
            </a:r>
            <a:endParaRPr lang="en-US" sz="1200" dirty="0"/>
          </a:p>
        </p:txBody>
      </p:sp>
      <p:sp>
        <p:nvSpPr>
          <p:cNvPr id="21" name="Text 18"/>
          <p:cNvSpPr/>
          <p:nvPr/>
        </p:nvSpPr>
        <p:spPr>
          <a:xfrm>
            <a:off x="812800" y="4940697"/>
            <a:ext cx="34010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[5] (ninguna)</a:t>
            </a:r>
            <a:endParaRPr lang="en-US" sz="1200" dirty="0"/>
          </a:p>
        </p:txBody>
      </p:sp>
      <p:sp>
        <p:nvSpPr>
          <p:cNvPr id="22" name="Text 19"/>
          <p:cNvSpPr/>
          <p:nvPr/>
        </p:nvSpPr>
        <p:spPr>
          <a:xfrm>
            <a:off x="4216400" y="49406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E293B"/>
                </a:solidFill>
                <a:latin typeface="IBM Plex Sans" pitchFamily="34" charset="0"/>
                <a:ea typeface="IBM Plex Sans" pitchFamily="34" charset="-122"/>
                <a:cs typeface="IBM Plex Sans" pitchFamily="34" charset="-120"/>
              </a:rPr>
              <a:t>sobre-uso</a:t>
            </a:r>
            <a:endParaRPr lang="en-US" sz="1200" dirty="0"/>
          </a:p>
        </p:txBody>
      </p:sp>
      <p:sp>
        <p:nvSpPr>
          <p:cNvPr id="23" name="Text 20"/>
          <p:cNvSpPr/>
          <p:nvPr/>
        </p:nvSpPr>
        <p:spPr>
          <a:xfrm>
            <a:off x="9804400" y="4940697"/>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acierto</a:t>
            </a:r>
            <a:endParaRPr lang="en-US" sz="1200" dirty="0"/>
          </a:p>
        </p:txBody>
      </p:sp>
      <p:sp>
        <p:nvSpPr>
          <p:cNvPr id="24" name="Text 21"/>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26 / 32</a:t>
            </a:r>
            <a:endParaRPr lang="en-US" sz="1200" dirty="0"/>
          </a:p>
        </p:txBody>
      </p:sp>
      <p:pic>
        <p:nvPicPr>
          <p:cNvPr id="2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Criterio de aceptación del L4</a:t>
            </a:r>
            <a:endParaRPr lang="en-US" sz="3600" dirty="0"/>
          </a:p>
        </p:txBody>
      </p:sp>
      <p:sp>
        <p:nvSpPr>
          <p:cNvPr id="3" name="Shape 1"/>
          <p:cNvSpPr/>
          <p:nvPr/>
        </p:nvSpPr>
        <p:spPr>
          <a:xfrm>
            <a:off x="819150" y="1478955"/>
            <a:ext cx="3373934" cy="1613098"/>
          </a:xfrm>
          <a:prstGeom prst="roundRect">
            <a:avLst>
              <a:gd name="adj" fmla="val 5905"/>
            </a:avLst>
          </a:prstGeom>
          <a:solidFill>
            <a:srgbClr val="FFFFFF"/>
          </a:solidFill>
          <a:ln w="12700">
            <a:solidFill>
              <a:srgbClr val="CED8E3"/>
            </a:solidFill>
            <a:prstDash val="solid"/>
          </a:ln>
        </p:spPr>
      </p:sp>
      <p:sp>
        <p:nvSpPr>
          <p:cNvPr id="4" name="Text 2"/>
          <p:cNvSpPr/>
          <p:nvPr/>
        </p:nvSpPr>
        <p:spPr>
          <a:xfrm>
            <a:off x="1028700" y="16885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 85 % de selección</a:t>
            </a:r>
            <a:endParaRPr lang="en-US" sz="2200" dirty="0"/>
          </a:p>
        </p:txBody>
      </p:sp>
      <p:sp>
        <p:nvSpPr>
          <p:cNvPr id="5" name="Text 3"/>
          <p:cNvSpPr/>
          <p:nvPr/>
        </p:nvSpPr>
        <p:spPr>
          <a:xfrm>
            <a:off x="1028700" y="2094309"/>
            <a:ext cx="3043479"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En docente/matriz_seleccion.py, sobre tu propio catálogo.</a:t>
            </a:r>
            <a:endParaRPr lang="en-US" sz="1400" dirty="0"/>
          </a:p>
        </p:txBody>
      </p:sp>
      <p:sp>
        <p:nvSpPr>
          <p:cNvPr id="6" name="Shape 4"/>
          <p:cNvSpPr/>
          <p:nvPr/>
        </p:nvSpPr>
        <p:spPr>
          <a:xfrm>
            <a:off x="4408984" y="1478955"/>
            <a:ext cx="3374033" cy="1613098"/>
          </a:xfrm>
          <a:prstGeom prst="roundRect">
            <a:avLst>
              <a:gd name="adj" fmla="val 5905"/>
            </a:avLst>
          </a:prstGeom>
          <a:solidFill>
            <a:srgbClr val="FFFFFF"/>
          </a:solidFill>
          <a:ln w="12700">
            <a:solidFill>
              <a:srgbClr val="CED8E3"/>
            </a:solidFill>
            <a:prstDash val="solid"/>
          </a:ln>
        </p:spPr>
      </p:sp>
      <p:sp>
        <p:nvSpPr>
          <p:cNvPr id="7" name="Text 5"/>
          <p:cNvSpPr/>
          <p:nvPr/>
        </p:nvSpPr>
        <p:spPr>
          <a:xfrm>
            <a:off x="4618534" y="1688505"/>
            <a:ext cx="3043581"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Escritura con confirmación</a:t>
            </a:r>
            <a:endParaRPr lang="en-US" sz="2200" dirty="0"/>
          </a:p>
        </p:txBody>
      </p:sp>
      <p:sp>
        <p:nvSpPr>
          <p:cNvPr id="8" name="Text 6"/>
          <p:cNvSpPr/>
          <p:nvPr/>
        </p:nvSpPr>
        <p:spPr>
          <a:xfrm>
            <a:off x="4618534" y="2423914"/>
            <a:ext cx="3043581"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La tool de escritura de tu track no se ejecuta sin confirmación.</a:t>
            </a:r>
            <a:endParaRPr lang="en-US" sz="1400" dirty="0"/>
          </a:p>
        </p:txBody>
      </p:sp>
      <p:sp>
        <p:nvSpPr>
          <p:cNvPr id="9" name="Shape 7"/>
          <p:cNvSpPr/>
          <p:nvPr/>
        </p:nvSpPr>
        <p:spPr>
          <a:xfrm>
            <a:off x="7998916" y="1478955"/>
            <a:ext cx="3373934" cy="1613098"/>
          </a:xfrm>
          <a:prstGeom prst="roundRect">
            <a:avLst>
              <a:gd name="adj" fmla="val 5905"/>
            </a:avLst>
          </a:prstGeom>
          <a:solidFill>
            <a:srgbClr val="FFFFFF"/>
          </a:solidFill>
          <a:ln w="12700">
            <a:solidFill>
              <a:srgbClr val="CED8E3"/>
            </a:solidFill>
            <a:prstDash val="solid"/>
          </a:ln>
        </p:spPr>
      </p:sp>
      <p:sp>
        <p:nvSpPr>
          <p:cNvPr id="10" name="Text 8"/>
          <p:cNvSpPr/>
          <p:nvPr/>
        </p:nvSpPr>
        <p:spPr>
          <a:xfrm>
            <a:off x="8208466" y="16885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Tope y errores claros</a:t>
            </a:r>
            <a:endParaRPr lang="en-US" sz="2200" dirty="0"/>
          </a:p>
        </p:txBody>
      </p:sp>
      <p:sp>
        <p:nvSpPr>
          <p:cNvPr id="11" name="Text 9"/>
          <p:cNvSpPr/>
          <p:nvPr/>
        </p:nvSpPr>
        <p:spPr>
          <a:xfrm>
            <a:off x="8208466" y="2094309"/>
            <a:ext cx="3043479"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Hay tope de iteraciones y los errores de tool están redactados para el modelo (A4).</a:t>
            </a:r>
            <a:endParaRPr lang="en-US" sz="1400" dirty="0"/>
          </a:p>
        </p:txBody>
      </p:sp>
      <p:sp>
        <p:nvSpPr>
          <p:cNvPr id="12" name="Shape 10"/>
          <p:cNvSpPr/>
          <p:nvPr/>
        </p:nvSpPr>
        <p:spPr>
          <a:xfrm>
            <a:off x="819150" y="4730353"/>
            <a:ext cx="10553700" cy="1105297"/>
          </a:xfrm>
          <a:prstGeom prst="roundRect">
            <a:avLst>
              <a:gd name="adj" fmla="val 8618"/>
            </a:avLst>
          </a:prstGeom>
          <a:solidFill>
            <a:srgbClr val="F4F6F8"/>
          </a:solidFill>
          <a:ln w="12700">
            <a:solidFill>
              <a:srgbClr val="526277"/>
            </a:solidFill>
            <a:prstDash val="dash"/>
          </a:ln>
        </p:spPr>
      </p:sp>
      <p:sp>
        <p:nvSpPr>
          <p:cNvPr id="13" name="Text 11"/>
          <p:cNvSpPr/>
          <p:nvPr/>
        </p:nvSpPr>
        <p:spPr>
          <a:xfrm>
            <a:off x="1028700" y="4939903"/>
            <a:ext cx="1043863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Reto opcional · no evaluado</a:t>
            </a:r>
            <a:endParaRPr lang="en-US" sz="2200" dirty="0"/>
          </a:p>
        </p:txBody>
      </p:sp>
      <p:sp>
        <p:nvSpPr>
          <p:cNvPr id="14" name="Text 12"/>
          <p:cNvSpPr/>
          <p:nvPr/>
        </p:nvSpPr>
        <p:spPr>
          <a:xfrm>
            <a:off x="1028700" y="5345708"/>
            <a:ext cx="1043863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Las 2 tools opcionales de tu track y exponer 2 de tus tools como servidor MCP.</a:t>
            </a:r>
            <a:endParaRPr lang="en-US" sz="1600" dirty="0"/>
          </a:p>
        </p:txBody>
      </p:sp>
      <p:sp>
        <p:nvSpPr>
          <p:cNvPr id="15" name="Text 13"/>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27 / 32</a:t>
            </a:r>
            <a:endParaRPr lang="en-US" sz="1200" dirty="0"/>
          </a:p>
        </p:txBody>
      </p:sp>
      <p:pic>
        <p:nvPicPr>
          <p:cNvPr id="16"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Arranca el Proyecto M2</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Tu agente crece por avances hasta la sustentación de S7. Hoy entregas el primero.</a:t>
            </a:r>
            <a:endParaRPr lang="en-US" sz="1600" dirty="0"/>
          </a:p>
        </p:txBody>
      </p:sp>
      <p:pic>
        <p:nvPicPr>
          <p:cNvPr id="4" name="Image 0" descr="Hitos del Proyecto M2 de S4 a S7">    </p:cNvPr>
          <p:cNvPicPr>
            <a:picLocks noChangeAspect="1"/>
          </p:cNvPicPr>
          <p:nvPr/>
        </p:nvPicPr>
        <p:blipFill>
          <a:blip r:embed="rId1"/>
          <a:srcRect l="-33" r="-33" t="0" b="0"/>
          <a:stretch/>
        </p:blipFill>
        <p:spPr>
          <a:xfrm>
            <a:off x="812800" y="1905397"/>
            <a:ext cx="10566400" cy="2413000"/>
          </a:xfrm>
          <a:prstGeom prst="rect">
            <a:avLst/>
          </a:prstGeom>
        </p:spPr>
      </p:pic>
      <p:sp>
        <p:nvSpPr>
          <p:cNvPr id="5" name="Text 2"/>
          <p:cNvSpPr/>
          <p:nvPr/>
        </p:nvSpPr>
        <p:spPr>
          <a:xfrm>
            <a:off x="939800" y="2184797"/>
            <a:ext cx="19686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526277"/>
                </a:solidFill>
                <a:latin typeface="IBM Plex Sans" pitchFamily="34" charset="0"/>
                <a:ea typeface="IBM Plex Sans" pitchFamily="34" charset="-122"/>
                <a:cs typeface="IBM Plex Sans" pitchFamily="34" charset="-120"/>
              </a:rPr>
              <a:t>S4 · hoy</a:t>
            </a:r>
            <a:endParaRPr lang="en-US" sz="1200" dirty="0"/>
          </a:p>
        </p:txBody>
      </p:sp>
      <p:sp>
        <p:nvSpPr>
          <p:cNvPr id="6" name="Text 3"/>
          <p:cNvSpPr/>
          <p:nvPr/>
        </p:nvSpPr>
        <p:spPr>
          <a:xfrm>
            <a:off x="939800" y="2438797"/>
            <a:ext cx="196869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Avance 1</a:t>
            </a:r>
            <a:endParaRPr lang="en-US" sz="2200" dirty="0"/>
          </a:p>
        </p:txBody>
      </p:sp>
      <p:sp>
        <p:nvSpPr>
          <p:cNvPr id="7" name="Text 4"/>
          <p:cNvSpPr/>
          <p:nvPr/>
        </p:nvSpPr>
        <p:spPr>
          <a:xfrm>
            <a:off x="939800" y="2870597"/>
            <a:ext cx="196869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caso de uso y 4 tools</a:t>
            </a:r>
            <a:endParaRPr lang="en-US" sz="1200" dirty="0"/>
          </a:p>
        </p:txBody>
      </p:sp>
      <p:sp>
        <p:nvSpPr>
          <p:cNvPr id="8" name="Text 5"/>
          <p:cNvSpPr/>
          <p:nvPr/>
        </p:nvSpPr>
        <p:spPr>
          <a:xfrm>
            <a:off x="3740150" y="2184797"/>
            <a:ext cx="19686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526277"/>
                </a:solidFill>
                <a:latin typeface="IBM Plex Sans" pitchFamily="34" charset="0"/>
                <a:ea typeface="IBM Plex Sans" pitchFamily="34" charset="-122"/>
                <a:cs typeface="IBM Plex Sans" pitchFamily="34" charset="-120"/>
              </a:rPr>
              <a:t>S5</a:t>
            </a:r>
            <a:endParaRPr lang="en-US" sz="1200" dirty="0"/>
          </a:p>
        </p:txBody>
      </p:sp>
      <p:sp>
        <p:nvSpPr>
          <p:cNvPr id="9" name="Text 6"/>
          <p:cNvSpPr/>
          <p:nvPr/>
        </p:nvSpPr>
        <p:spPr>
          <a:xfrm>
            <a:off x="3740150" y="2438797"/>
            <a:ext cx="196869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Avance 2</a:t>
            </a:r>
            <a:endParaRPr lang="en-US" sz="2200" dirty="0"/>
          </a:p>
        </p:txBody>
      </p:sp>
      <p:sp>
        <p:nvSpPr>
          <p:cNvPr id="10" name="Text 7"/>
          <p:cNvSpPr/>
          <p:nvPr/>
        </p:nvSpPr>
        <p:spPr>
          <a:xfrm>
            <a:off x="3740150" y="2870597"/>
            <a:ext cx="196869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memoria y RAG, se construyen en S5</a:t>
            </a:r>
            <a:endParaRPr lang="en-US" sz="1200" dirty="0"/>
          </a:p>
        </p:txBody>
      </p:sp>
      <p:sp>
        <p:nvSpPr>
          <p:cNvPr id="11" name="Text 8"/>
          <p:cNvSpPr/>
          <p:nvPr/>
        </p:nvSpPr>
        <p:spPr>
          <a:xfrm>
            <a:off x="6540500" y="2184797"/>
            <a:ext cx="19686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526277"/>
                </a:solidFill>
                <a:latin typeface="IBM Plex Sans" pitchFamily="34" charset="0"/>
                <a:ea typeface="IBM Plex Sans" pitchFamily="34" charset="-122"/>
                <a:cs typeface="IBM Plex Sans" pitchFamily="34" charset="-120"/>
              </a:rPr>
              <a:t>S6</a:t>
            </a:r>
            <a:endParaRPr lang="en-US" sz="1200" dirty="0"/>
          </a:p>
        </p:txBody>
      </p:sp>
      <p:sp>
        <p:nvSpPr>
          <p:cNvPr id="12" name="Text 9"/>
          <p:cNvSpPr/>
          <p:nvPr/>
        </p:nvSpPr>
        <p:spPr>
          <a:xfrm>
            <a:off x="6540500" y="2438797"/>
            <a:ext cx="196869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Avance 3</a:t>
            </a:r>
            <a:endParaRPr lang="en-US" sz="2200" dirty="0"/>
          </a:p>
        </p:txBody>
      </p:sp>
      <p:sp>
        <p:nvSpPr>
          <p:cNvPr id="13" name="Text 10"/>
          <p:cNvSpPr/>
          <p:nvPr/>
        </p:nvSpPr>
        <p:spPr>
          <a:xfrm>
            <a:off x="6540500" y="2870597"/>
            <a:ext cx="196869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guardrails, se construyen en S6</a:t>
            </a:r>
            <a:endParaRPr lang="en-US" sz="1200" dirty="0"/>
          </a:p>
        </p:txBody>
      </p:sp>
      <p:sp>
        <p:nvSpPr>
          <p:cNvPr id="14" name="Text 11"/>
          <p:cNvSpPr/>
          <p:nvPr/>
        </p:nvSpPr>
        <p:spPr>
          <a:xfrm>
            <a:off x="9340850" y="2184797"/>
            <a:ext cx="19686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526277"/>
                </a:solidFill>
                <a:latin typeface="IBM Plex Sans" pitchFamily="34" charset="0"/>
                <a:ea typeface="IBM Plex Sans" pitchFamily="34" charset="-122"/>
                <a:cs typeface="IBM Plex Sans" pitchFamily="34" charset="-120"/>
              </a:rPr>
              <a:t>S7</a:t>
            </a:r>
            <a:endParaRPr lang="en-US" sz="1200" dirty="0"/>
          </a:p>
        </p:txBody>
      </p:sp>
      <p:sp>
        <p:nvSpPr>
          <p:cNvPr id="15" name="Text 12"/>
          <p:cNvSpPr/>
          <p:nvPr/>
        </p:nvSpPr>
        <p:spPr>
          <a:xfrm>
            <a:off x="9340850" y="2438797"/>
            <a:ext cx="196869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Proyecto M2</a:t>
            </a:r>
            <a:endParaRPr lang="en-US" sz="2200" dirty="0"/>
          </a:p>
        </p:txBody>
      </p:sp>
      <p:sp>
        <p:nvSpPr>
          <p:cNvPr id="16" name="Text 13"/>
          <p:cNvSpPr/>
          <p:nvPr/>
        </p:nvSpPr>
        <p:spPr>
          <a:xfrm>
            <a:off x="9340850" y="2870597"/>
            <a:ext cx="196869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demo + documento de diseño</a:t>
            </a:r>
            <a:endParaRPr lang="en-US" sz="1200" dirty="0"/>
          </a:p>
        </p:txBody>
      </p:sp>
      <p:sp>
        <p:nvSpPr>
          <p:cNvPr id="17" name="Text 14"/>
          <p:cNvSpPr/>
          <p:nvPr/>
        </p:nvSpPr>
        <p:spPr>
          <a:xfrm>
            <a:off x="939800" y="3962797"/>
            <a:ext cx="58864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Módulo 2 · de S4 a la sustentación en S7</a:t>
            </a:r>
            <a:endParaRPr lang="en-US" sz="1200" dirty="0"/>
          </a:p>
        </p:txBody>
      </p:sp>
      <p:sp>
        <p:nvSpPr>
          <p:cNvPr id="18" name="Text 15"/>
          <p:cNvSpPr/>
          <p:nvPr/>
        </p:nvSpPr>
        <p:spPr>
          <a:xfrm>
            <a:off x="812800" y="4470797"/>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Proyecto M2: 100 % del Módulo 2 · rúbrica en recursos/rubricas/rubrica-m2.md.</a:t>
            </a:r>
            <a:endParaRPr lang="en-US" sz="1400" dirty="0"/>
          </a:p>
        </p:txBody>
      </p:sp>
      <p:sp>
        <p:nvSpPr>
          <p:cNvPr id="19" name="Text 16"/>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28 / 32</a:t>
            </a:r>
            <a:endParaRPr lang="en-US" sz="1200" dirty="0"/>
          </a:p>
        </p:txBody>
      </p:sp>
      <p:pic>
        <p:nvPicPr>
          <p:cNvPr id="20"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1: media página</a:t>
            </a:r>
            <a:endParaRPr lang="en-US" sz="3600" dirty="0"/>
          </a:p>
        </p:txBody>
      </p:sp>
      <p:sp>
        <p:nvSpPr>
          <p:cNvPr id="3" name="Text 1"/>
          <p:cNvSpPr/>
          <p:nvPr/>
        </p:nvSpPr>
        <p:spPr>
          <a:xfrm>
            <a:off x="812800" y="147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Se entrega al cerrar la sesión, por equipo.</a:t>
            </a:r>
            <a:endParaRPr lang="en-US" sz="1600" dirty="0"/>
          </a:p>
        </p:txBody>
      </p:sp>
      <p:sp>
        <p:nvSpPr>
          <p:cNvPr id="4" name="Shape 2"/>
          <p:cNvSpPr/>
          <p:nvPr/>
        </p:nvSpPr>
        <p:spPr>
          <a:xfrm>
            <a:off x="819150" y="1911747"/>
            <a:ext cx="3373934" cy="1666081"/>
          </a:xfrm>
          <a:prstGeom prst="roundRect">
            <a:avLst>
              <a:gd name="adj" fmla="val 5717"/>
            </a:avLst>
          </a:prstGeom>
          <a:solidFill>
            <a:srgbClr val="FFFFFF"/>
          </a:solidFill>
          <a:ln w="12700">
            <a:solidFill>
              <a:srgbClr val="CED8E3"/>
            </a:solidFill>
            <a:prstDash val="solid"/>
          </a:ln>
        </p:spPr>
      </p:sp>
      <p:sp>
        <p:nvSpPr>
          <p:cNvPr id="5" name="Text 3"/>
          <p:cNvSpPr/>
          <p:nvPr/>
        </p:nvSpPr>
        <p:spPr>
          <a:xfrm>
            <a:off x="1028700" y="212129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1 · Caso de uso</a:t>
            </a:r>
            <a:endParaRPr lang="en-US" sz="2200" dirty="0"/>
          </a:p>
        </p:txBody>
      </p:sp>
      <p:sp>
        <p:nvSpPr>
          <p:cNvPr id="6" name="Text 4"/>
          <p:cNvSpPr/>
          <p:nvPr/>
        </p:nvSpPr>
        <p:spPr>
          <a:xfrm>
            <a:off x="1028700" y="2527102"/>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caso concreto que resuelve tu agente, en una frase.</a:t>
            </a:r>
            <a:endParaRPr lang="en-US" sz="1600" dirty="0"/>
          </a:p>
        </p:txBody>
      </p:sp>
      <p:sp>
        <p:nvSpPr>
          <p:cNvPr id="7" name="Shape 5"/>
          <p:cNvSpPr/>
          <p:nvPr/>
        </p:nvSpPr>
        <p:spPr>
          <a:xfrm>
            <a:off x="4408984" y="1911747"/>
            <a:ext cx="3374033" cy="1666081"/>
          </a:xfrm>
          <a:prstGeom prst="roundRect">
            <a:avLst>
              <a:gd name="adj" fmla="val 5717"/>
            </a:avLst>
          </a:prstGeom>
          <a:solidFill>
            <a:srgbClr val="FFFFFF"/>
          </a:solidFill>
          <a:ln w="12700">
            <a:solidFill>
              <a:srgbClr val="CED8E3"/>
            </a:solidFill>
            <a:prstDash val="solid"/>
          </a:ln>
        </p:spPr>
      </p:sp>
      <p:sp>
        <p:nvSpPr>
          <p:cNvPr id="8" name="Text 6"/>
          <p:cNvSpPr/>
          <p:nvPr/>
        </p:nvSpPr>
        <p:spPr>
          <a:xfrm>
            <a:off x="4618534" y="2121297"/>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2 · Las 4 tools</a:t>
            </a:r>
            <a:endParaRPr lang="en-US" sz="2200" dirty="0"/>
          </a:p>
        </p:txBody>
      </p:sp>
      <p:sp>
        <p:nvSpPr>
          <p:cNvPr id="9" name="Text 7"/>
          <p:cNvSpPr/>
          <p:nvPr/>
        </p:nvSpPr>
        <p:spPr>
          <a:xfrm>
            <a:off x="4618534" y="2527102"/>
            <a:ext cx="3043581"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Cuáles son y por qué esas cuatro y no otras.</a:t>
            </a:r>
            <a:endParaRPr lang="en-US" sz="1600" dirty="0"/>
          </a:p>
        </p:txBody>
      </p:sp>
      <p:sp>
        <p:nvSpPr>
          <p:cNvPr id="10" name="Shape 8"/>
          <p:cNvSpPr/>
          <p:nvPr/>
        </p:nvSpPr>
        <p:spPr>
          <a:xfrm>
            <a:off x="7998916" y="1911747"/>
            <a:ext cx="3373934" cy="1666081"/>
          </a:xfrm>
          <a:prstGeom prst="roundRect">
            <a:avLst>
              <a:gd name="adj" fmla="val 5717"/>
            </a:avLst>
          </a:prstGeom>
          <a:solidFill>
            <a:srgbClr val="FFFFFF"/>
          </a:solidFill>
          <a:ln w="12700">
            <a:solidFill>
              <a:srgbClr val="CED8E3"/>
            </a:solidFill>
            <a:prstDash val="solid"/>
          </a:ln>
        </p:spPr>
      </p:sp>
      <p:sp>
        <p:nvSpPr>
          <p:cNvPr id="11" name="Text 9"/>
          <p:cNvSpPr/>
          <p:nvPr/>
        </p:nvSpPr>
        <p:spPr>
          <a:xfrm>
            <a:off x="8208466" y="212129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3 · Los huecos</a:t>
            </a:r>
            <a:endParaRPr lang="en-US" sz="2200" dirty="0"/>
          </a:p>
        </p:txBody>
      </p:sp>
      <p:sp>
        <p:nvSpPr>
          <p:cNvPr id="12" name="Text 10"/>
          <p:cNvSpPr/>
          <p:nvPr/>
        </p:nvSpPr>
        <p:spPr>
          <a:xfrm>
            <a:off x="8208466" y="2527102"/>
            <a:ext cx="3043479"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Qué preguntas del cliente no resuelve ninguna tool, y qué harás con ellas.</a:t>
            </a:r>
            <a:endParaRPr lang="en-US" sz="1600" dirty="0"/>
          </a:p>
        </p:txBody>
      </p:sp>
      <p:sp>
        <p:nvSpPr>
          <p:cNvPr id="13" name="Text 11"/>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29 / 32</a:t>
            </a:r>
            <a:endParaRPr lang="en-US" sz="1200" dirty="0"/>
          </a:p>
        </p:txBody>
      </p:sp>
      <p:pic>
        <p:nvPicPr>
          <p:cNvPr id="14"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7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hueco que prepara la S5</a:t>
            </a:r>
            <a:endParaRPr lang="en-US" sz="3600" dirty="0"/>
          </a:p>
        </p:txBody>
      </p:sp>
      <p:sp>
        <p:nvSpPr>
          <p:cNvPr id="3" name="Text 1"/>
          <p:cNvSpPr/>
          <p:nvPr/>
        </p:nvSpPr>
        <p:spPr>
          <a:xfrm>
            <a:off x="812800" y="14725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Tools: el dato de tu sistema. Conocimiento que cambia: RAG, en S5.</a:t>
            </a:r>
            <a:endParaRPr lang="en-US" sz="1600" dirty="0"/>
          </a:p>
        </p:txBody>
      </p:sp>
      <p:pic>
        <p:nvPicPr>
          <p:cNvPr id="4" name="Image 0" descr="Alucinación y dónde vive el conocimiento: tres defensas del curso">    </p:cNvPr>
          <p:cNvPicPr>
            <a:picLocks noChangeAspect="1"/>
          </p:cNvPicPr>
          <p:nvPr/>
        </p:nvPicPr>
        <p:blipFill>
          <a:blip r:embed="rId1"/>
          <a:srcRect l="-159" r="-159" t="0" b="0"/>
          <a:stretch/>
        </p:blipFill>
        <p:spPr>
          <a:xfrm>
            <a:off x="2609850" y="1917998"/>
            <a:ext cx="6972300" cy="3911600"/>
          </a:xfrm>
          <a:prstGeom prst="roundRect">
            <a:avLst>
              <a:gd name="adj" fmla="val 2273"/>
            </a:avLst>
          </a:prstGeom>
        </p:spPr>
      </p:pic>
      <p:sp>
        <p:nvSpPr>
          <p:cNvPr id="5" name="Shape 2"/>
          <p:cNvSpPr/>
          <p:nvPr/>
        </p:nvSpPr>
        <p:spPr>
          <a:xfrm>
            <a:off x="2603500" y="1911648"/>
            <a:ext cx="6985000" cy="3924300"/>
          </a:xfrm>
          <a:prstGeom prst="roundRect">
            <a:avLst>
              <a:gd name="adj" fmla="val 2427"/>
            </a:avLst>
          </a:prstGeom>
          <a:noFill/>
          <a:ln w="12700">
            <a:solidFill>
              <a:srgbClr val="CED8E3"/>
            </a:solidFill>
            <a:prstDash val="solid"/>
          </a:ln>
        </p:spPr>
      </p:sp>
      <p:sp>
        <p:nvSpPr>
          <p:cNvPr id="6" name="Text 3"/>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30 / 32</a:t>
            </a:r>
            <a:endParaRPr lang="en-US" sz="1200" dirty="0"/>
          </a:p>
        </p:txBody>
      </p:sp>
      <p:pic>
        <p:nvPicPr>
          <p:cNvPr id="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812800" y="1478955"/>
            <a:ext cx="10566400" cy="0"/>
          </a:xfrm>
          <a:prstGeom prst="line">
            <a:avLst/>
          </a:prstGeom>
          <a:noFill/>
          <a:ln w="12700">
            <a:solidFill>
              <a:srgbClr val="141413">
                <a:alpha val="22000"/>
              </a:srgbClr>
            </a:solidFill>
            <a:prstDash val="solid"/>
          </a:ln>
        </p:spPr>
      </p:sp>
      <p:sp>
        <p:nvSpPr>
          <p:cNvPr id="4" name="Shape 2"/>
          <p:cNvSpPr/>
          <p:nvPr/>
        </p:nvSpPr>
        <p:spPr>
          <a:xfrm>
            <a:off x="819150" y="1472605"/>
            <a:ext cx="0" cy="2800548"/>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27100" y="1561505"/>
          <a:ext cx="10350500" cy="2635448"/>
        </p:xfrm>
        <a:graphic>
          <a:graphicData uri="http://schemas.openxmlformats.org/drawingml/2006/table">
            <a:tbl>
              <a:tblPr/>
              <a:tblGrid>
                <a:gridCol w="6210300"/>
                <a:gridCol w="4140200"/>
              </a:tblGrid>
              <a:tr h="439241">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No entra</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Va en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RAG, embeddings, Qdrant</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Sesión 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Memoria conversacional</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Sesión 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Guardrails, PII, prompt injection</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Sesión 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Construir un servidor MCP propio</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Reto opcional del L4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Langfuse</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Sesión 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31 / 32</a:t>
            </a:r>
            <a:endParaRPr lang="en-US" sz="1200" dirty="0"/>
          </a:p>
        </p:txBody>
      </p:sp>
      <p:pic>
        <p:nvPicPr>
          <p:cNvPr id="7"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Para seguir</a:t>
            </a:r>
            <a:endParaRPr lang="en-US" sz="3600" dirty="0"/>
          </a:p>
        </p:txBody>
      </p:sp>
      <p:sp>
        <p:nvSpPr>
          <p:cNvPr id="3" name="Shape 1"/>
          <p:cNvSpPr/>
          <p:nvPr/>
        </p:nvSpPr>
        <p:spPr>
          <a:xfrm>
            <a:off x="819150" y="1478955"/>
            <a:ext cx="5168900" cy="2123777"/>
          </a:xfrm>
          <a:prstGeom prst="roundRect">
            <a:avLst>
              <a:gd name="adj" fmla="val 4485"/>
            </a:avLst>
          </a:prstGeom>
          <a:solidFill>
            <a:srgbClr val="FFFFFF"/>
          </a:solidFill>
          <a:ln w="12700">
            <a:solidFill>
              <a:srgbClr val="CED8E3"/>
            </a:solidFill>
            <a:prstDash val="solid"/>
          </a:ln>
        </p:spPr>
      </p:sp>
      <p:sp>
        <p:nvSpPr>
          <p:cNvPr id="4" name="Text 2"/>
          <p:cNvSpPr/>
          <p:nvPr/>
        </p:nvSpPr>
        <p:spPr>
          <a:xfrm>
            <a:off x="1028700" y="16885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En resumen</a:t>
            </a:r>
            <a:endParaRPr lang="en-US" sz="2200" dirty="0"/>
          </a:p>
        </p:txBody>
      </p:sp>
      <p:sp>
        <p:nvSpPr>
          <p:cNvPr id="5" name="Text 3"/>
          <p:cNvSpPr/>
          <p:nvPr/>
        </p:nvSpPr>
        <p:spPr>
          <a:xfrm>
            <a:off x="1028700" y="2094309"/>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Una tool, una pregunta: el modelo decide con nombre, docstring y esquema.</a:t>
            </a:r>
            <a:endParaRPr lang="en-US" sz="1400" dirty="0"/>
          </a:p>
        </p:txBody>
      </p:sp>
      <p:sp>
        <p:nvSpPr>
          <p:cNvPr id="6" name="Text 4"/>
          <p:cNvSpPr/>
          <p:nvPr/>
        </p:nvSpPr>
        <p:spPr>
          <a:xfrm>
            <a:off x="1028700" y="2629098"/>
            <a:ext cx="4892294"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El catálogo se mide: matriz ≥ 85 %, leída por celdas.</a:t>
            </a:r>
            <a:endParaRPr lang="en-US" sz="1400" dirty="0"/>
          </a:p>
        </p:txBody>
      </p:sp>
      <p:sp>
        <p:nvSpPr>
          <p:cNvPr id="7" name="Text 5"/>
          <p:cNvSpPr/>
          <p:nvPr/>
        </p:nvSpPr>
        <p:spPr>
          <a:xfrm>
            <a:off x="1028700" y="2934593"/>
            <a:ext cx="4892294"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Escritura con confirmación; bucle con tope. MCP cambia dónde viven las tools, no el bucle.</a:t>
            </a:r>
            <a:endParaRPr lang="en-US" sz="1400" dirty="0"/>
          </a:p>
        </p:txBody>
      </p:sp>
      <p:sp>
        <p:nvSpPr>
          <p:cNvPr id="8" name="Shape 6"/>
          <p:cNvSpPr/>
          <p:nvPr/>
        </p:nvSpPr>
        <p:spPr>
          <a:xfrm>
            <a:off x="6203950" y="1478955"/>
            <a:ext cx="5168900" cy="2123777"/>
          </a:xfrm>
          <a:prstGeom prst="roundRect">
            <a:avLst>
              <a:gd name="adj" fmla="val 4485"/>
            </a:avLst>
          </a:prstGeom>
          <a:solidFill>
            <a:srgbClr val="FFFFFF"/>
          </a:solidFill>
          <a:ln w="12700">
            <a:solidFill>
              <a:srgbClr val="CED8E3"/>
            </a:solidFill>
            <a:prstDash val="solid"/>
          </a:ln>
        </p:spPr>
      </p:sp>
      <p:sp>
        <p:nvSpPr>
          <p:cNvPr id="9" name="Text 7"/>
          <p:cNvSpPr/>
          <p:nvPr/>
        </p:nvSpPr>
        <p:spPr>
          <a:xfrm>
            <a:off x="6413500" y="16885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Referencias MCP</a:t>
            </a:r>
            <a:endParaRPr lang="en-US" sz="2200" dirty="0"/>
          </a:p>
        </p:txBody>
      </p:sp>
      <p:sp>
        <p:nvSpPr>
          <p:cNvPr id="10" name="Text 8"/>
          <p:cNvSpPr/>
          <p:nvPr/>
        </p:nvSpPr>
        <p:spPr>
          <a:xfrm>
            <a:off x="6413500" y="2094309"/>
            <a:ext cx="4892294" cy="674588"/>
          </a:xfrm>
          <a:prstGeom prst="rect">
            <a:avLst/>
          </a:prstGeom>
          <a:noFill/>
          <a:ln/>
        </p:spPr>
        <p:txBody>
          <a:bodyPr wrap="square" lIns="0" tIns="0" rIns="0" bIns="0" rtlCol="0" anchor="t">
            <a:normAutofit/>
          </a:bodyPr>
          <a:lstStyle/>
          <a:p>
            <a:pPr algn="l" indent="0" marL="0">
              <a:lnSpc>
                <a:spcPts val="1704"/>
              </a:lnSpc>
              <a:buNone/>
            </a:pPr>
            <a:r>
              <a:rPr lang="en-US" sz="1200" u="sng" dirty="0">
                <a:solidFill>
                  <a:srgbClr val="1E293B"/>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docs.langchain.com/oss/python/langchain/mcp</a:t>
            </a:r>
            <a:endParaRPr lang="en-US" sz="1200" dirty="0"/>
          </a:p>
          <a:p>
            <a:pPr algn="l" indent="0" marL="0">
              <a:lnSpc>
                <a:spcPts val="1704"/>
              </a:lnSpc>
              <a:buNone/>
            </a:pPr>
            <a:r>
              <a:rPr lang="en-US" sz="1200" u="sng" dirty="0">
                <a:solidFill>
                  <a:srgbClr val="1E293B"/>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github.com/langchain-ai/langchain-mcp-adapters</a:t>
            </a:r>
            <a:endParaRPr lang="en-US" sz="1200" dirty="0"/>
          </a:p>
          <a:p>
            <a:pPr algn="l" indent="0" marL="0">
              <a:lnSpc>
                <a:spcPts val="1704"/>
              </a:lnSpc>
              <a:buNone/>
            </a:pPr>
            <a:r>
              <a:rPr lang="en-US" sz="1200" dirty="0">
                <a:solidFill>
                  <a:srgbClr val="1E293B"/>
                </a:solidFill>
                <a:latin typeface="IBM Plex Sans" pitchFamily="34" charset="0"/>
                <a:ea typeface="IBM Plex Sans" pitchFamily="34" charset="-122"/>
                <a:cs typeface="IBM Plex Sans" pitchFamily="34" charset="-120"/>
              </a:rPr>
              <a:t>simulador-industria/docs/GUIA-MCP.md</a:t>
            </a:r>
            <a:endParaRPr lang="en-US" sz="1200" dirty="0"/>
          </a:p>
        </p:txBody>
      </p:sp>
      <p:sp>
        <p:nvSpPr>
          <p:cNvPr id="11" name="Shape 9"/>
          <p:cNvSpPr/>
          <p:nvPr/>
        </p:nvSpPr>
        <p:spPr>
          <a:xfrm>
            <a:off x="819150" y="4730353"/>
            <a:ext cx="10553700" cy="1105297"/>
          </a:xfrm>
          <a:prstGeom prst="roundRect">
            <a:avLst>
              <a:gd name="adj" fmla="val 8618"/>
            </a:avLst>
          </a:prstGeom>
          <a:solidFill>
            <a:srgbClr val="E9F0F7"/>
          </a:solidFill>
          <a:ln w="12700">
            <a:solidFill>
              <a:srgbClr val="526277"/>
            </a:solidFill>
            <a:prstDash val="solid"/>
          </a:ln>
        </p:spPr>
      </p:sp>
      <p:sp>
        <p:nvSpPr>
          <p:cNvPr id="12" name="Text 10"/>
          <p:cNvSpPr/>
          <p:nvPr/>
        </p:nvSpPr>
        <p:spPr>
          <a:xfrm>
            <a:off x="1028700" y="4939903"/>
            <a:ext cx="1043863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Próxima sesión</a:t>
            </a:r>
            <a:endParaRPr lang="en-US" sz="2200" dirty="0"/>
          </a:p>
        </p:txBody>
      </p:sp>
      <p:sp>
        <p:nvSpPr>
          <p:cNvPr id="13" name="Text 11"/>
          <p:cNvSpPr/>
          <p:nvPr/>
        </p:nvSpPr>
        <p:spPr>
          <a:xfrm>
            <a:off x="1028700" y="5345708"/>
            <a:ext cx="1043863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S5 · Memoria contextual y RAG con Qdrant Cloud: el agente que no recuerda y el que no sabe.</a:t>
            </a:r>
            <a:endParaRPr lang="en-US" sz="1600" dirty="0"/>
          </a:p>
        </p:txBody>
      </p:sp>
      <p:sp>
        <p:nvSpPr>
          <p:cNvPr id="14" name="Text 12"/>
          <p:cNvSpPr/>
          <p:nvPr/>
        </p:nvSpPr>
        <p:spPr>
          <a:xfrm>
            <a:off x="812800" y="6229350"/>
            <a:ext cx="35558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S04 · Tools e integración de herramientas · 32 / 32</a:t>
            </a:r>
            <a:endParaRPr lang="en-US" sz="1200" dirty="0"/>
          </a:p>
        </p:txBody>
      </p:sp>
      <p:pic>
        <p:nvPicPr>
          <p:cNvPr id="15" name="Image 0" descr="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S04 · Tools e integración de herramientas</dc:title>
  <dc:subject>PptxGenJS Presentation</dc:subject>
  <dc:creator>PptxGenJS</dc:creator>
  <cp:lastModifiedBy>PptxGenJS</cp:lastModifiedBy>
  <cp:revision>1</cp:revision>
  <dcterms:created xsi:type="dcterms:W3CDTF">2026-09-25T18:51:56Z</dcterms:created>
  <dcterms:modified xsi:type="dcterms:W3CDTF">2026-09-25T18:51:56Z</dcterms:modified>
</cp:coreProperties>
</file>