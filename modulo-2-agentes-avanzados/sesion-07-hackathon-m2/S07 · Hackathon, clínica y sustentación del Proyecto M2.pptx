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con el hito: hoy se sustenta el Proyecto M2, que vale el 100 % del Módulo 2. Explicar en una frase qué cambia respecto de la S6: allí el adversario era un atacante deliberado; hoy es el entorno, que falla sin malicia. Anunciar desde ya que durante la clínica el docente activará CHAOS_RATE=0.1 en el simulador y que se avisará antes de hacerlo. 2) Pregunta: ¿qué falla más a menudo en producción, un atacante o un servicio que no responde? 3) Lab: el L7 (pruebas de estrés) es el Proyecto M2; el agente de trabajo es el que cada equipo construyó entre L4 y L6.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 barra de izquierda a derecha: 30 min de teoría (el bloque que empieza ahora, en foco), 10 de pausa, 45 de clínica con el caos activado, 90 de ronda de demos y 5 de cierre. Aclarar que la mayor parte de la sesión es práctica: la teoría en vivo es corta porque el pre-work de 1 h ya cubrió los conceptos. Cerrar con el reparto total: 1 h de pre-work más 30 min en vivo suman la 1.5 h de teoría; 140 min en vivo más 2 h de laboratorio suman la práctica. 2) Pregunta: ¿quién completó el pre-work de testing no determinístico? Pedir que levanten la mano; si son pocos, los 30 min de teoría sirven de nivelación. 3) Lab: la clínica y las demos son el L7; las plantillas están en lab/plantilla-informe-l7.md y lab/plantilla-documento-diseno.md.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los cuatro objetivos en orden y señalar que los dos primeros se trabajan en los 30 min de teoría, el tercero en la clínica y el cuarto en la ronda de demos. Subrayar el verbo del objetivo 3: no basta con encontrar casos borde; hay que resolverlos y documentarlos con traza real. 2) Pregunta: si tu agente responde bien pero con otras palabras cada vez, ¿cómo escribes una prueba que no falle por la redacción? 3) Lab: el objetivo 3 se evalúa con INFORME-L7.md (mínimo 10 casos, al menos 2 por familia) y la carpeta tests/ del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Contar la demo 1: la misma pregunta (¿Cuánto cuesta el plan Max 89 al mes?) se hace dos veces al agente de referencia de la S6. Los dos textos casi seguro difieren, aunque ambos mencionen el dato correcto. Recorrer el diagrama: la pregunta entra al Agent, el LLM propone, el runtime ejecuta, el agente responde con texto y el verificador compara. El foco está en el verificador: con == compara carácter por carácter, así que mide cómo el modelo decidió redactar esa vez. No prometer un resultado concreto en vivo: si coinciden, también es un dato. 2) Pregunta: ¿qué le importa al cliente, que el texto sea idéntico o que el precio sea el correcto? 3) Lab: code/01_por_que_falla_assert.py, funciones assert_exacto() y assert_invariante(); se ejecuta desde la raíz del curso y requiere HF_TOKEN.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Misma composición que la diapositiva anterior; solo cambia el verificador: ahora comprueba propiedades en vez de comparar el texto completo. Un invariante es una propiedad que debe cumplirse sin exigir un texto exacto: contiene el dato correcto, llamó a la tool correcta, cita una fuente al afirmar una tarifa, no deja un DNI sin enmascarar. Recorrer la tabla fila por fila. Aclarar las marcas: llamo_tool() y cita_fuente() son propiedades que queremos comprobar, no métodos implementados por el agente del curso; las funciones ejecutables llegan en la diapositiva 07. 2) Pregunta: ¿qué invariante comprobarías en tu track aunque la redacción cambie en cada ejecución? 3) Lab: tus pruebas en lab/tu-track/tests/ deben usar invariantes, no assert ==; es un requisito del criterio Evidencia de pruebas.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Misma composición; lo nuevo es la repetición (flecha discontinua de control) y la tasa k/5, en foco. Explicar la demo 3: la pregunta se repite 5 veces y se cuenta cuántas respuestas cumplen el invariante. Si sale 4/5, la prueba no está rota: está midiendo. Es la fiabilidad compuesta aplicada al testing. Advertir el error frecuente: 5 repeticiones no certifican la fiabilidad del agente; dan una señal barata. Por eso el checkpoint usa un umbral de 0.6: con pocas repeticiones, exigir 100 % mediría la temperatura del modelo, no el diseño. 2) Pregunta: si tu prueba sale 4/5, ¿borras el intento fallido o lo documentas? 3) Lab: code/03_repetir_y_medir.py (REPETICIONES = 5, cumple_invariante()) y solucion/telecomunicaciones/tests/test_casos_borde.py, función tasa_exito() y opción --repeticiones. El intento fallido se anota en INFORME-L7.md.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Pasar del pseudocódigo al código real. Leer el extracto de arriba abajo: el patrón del DNI, contiene_dni() (línea resaltada), menciona_alguna() y dice_no_existe(), que se construye sobre menciona_alguna(). Señalar a la derecha las cinco funciones y la propiedad que comprueba cada una. Remarcar que cada invariante comprueba una sola propiedad, no el texto completo, y que son lógica pura (regex sobre texto): la demo 2 corre sin HF_TOKEN. Límite: una regex cubre patrones concretos; un DNI escrito con espacios no lo detecta. 2) Pregunta: ¿qué invariante propio de tu track agregarías a esta lista? Por ejemplo, las palabras de escalamiento a un asesor. 3) Lab: code/02_invariantes.py muestra las funciones en aislamiento; tu copia va en lab/tu-track/tests/invariantes.py, con las palabras clave de tu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Responder la pregunta que deja abierta la clínica: si nadie ataca a nadie, ¿en qué se diferencia del L6? Cambia el adversario. Recorrer la tabla por filas, comparando columnas: amenaza, ejemplos, instrumento, criterio y quién lo provoca. No volver a explicar los guardrails de la S6; basta con recordar que el criterio 0 filtraciones debe seguir cumpliéndose hoy. Cerrar con la regla de juego: CHAOS_RATE=0.1 se activa y se anuncia; un fallo aleatorio no anunciado en la sesión que vale el 100 % del módulo sería una trampa, no una lección. 2) Pregunta: ¿cuál de los dos adversarios encontrará antes tu agente en producción? 3) Lab: la rúbrica M2 exige ambas cosas en el criterio Guardrails y manejo de errores; el nivel Sobresaliente pide explicar esta diferencia con tus palabras.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Retomar el Agentic Loop de la S1: el modelo propone; la aplicación ejecuta. Recorrer en orden: Usuario hacia el Agente; dentro, LLM, Runtime y Tool; Tool hacia la API; el resultado vuelve al LLM y el LLM entrega la respuesta. Aclarar que el resultado de la API llega al LLM a través del runtime y de la tool, aunque la flecha del dibujo sea directa. Luego ubicar las 4 familias: 1 en la entrada del usuario, 2 en la tool que no encuentra el dato, 3 en la API que no responde, 4 en la salida del LLM. Mostrar el límite de iteraciones como borde del bucle: con la tool fallando siempre, se cuentan llamadas y se verifica el tope sin depender del texto. Ejemplo MercaSur: el servicio de pedidos cae y el agente debe informar el fallo sin inventar un envío. 2) Pregunta: ¿qué invariante comprobarías aunque la redacción cambie? 3) Lab: las 4 familias son las 4 funciones de solucion/tu-track/tests/test_casos_borde.py.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los seis fallos del simulador y cómo se provocan. Dos caminos: forzarlos a propósito con el parámetro ?_fallo=nombre, o dejarlos al azar con CHAOS_RATE mayor que 0. Remarcar la columna derecha: al azar solo aparecen error503 o lento; timeout, error500, vacio y malformado solo se disparan con el parámetro explícito. Distinguir malformado (el servicio devuelve un JSON fuera de contrato, que debe manejar la tool) de la familia 4 (el modelo devuelve algo que no cumple el esquema, que maneja comun/structured.py). Recordar la lección de la S3: la tool captura el error y devuelve un texto que el agente puede leer; una excepción sin capturar rompe el bucle. 2) Pregunta: ¿cuál de estos seis fallos crees que tu agente maneja peor hoy? 3) Lab: simulador-industria/chaos.py, función aplicar(). En la clínica cada equipo fuerza los fallos que no salen al azar para completar sus casos.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Primera familia: dos intenciones en un solo turno. Leer los ejemplos de arranque de los cuatro tracks y preguntar qué debería hacer el agente: atender ambas, priorizar una y avisar, o pedir que el usuario separe la consulta. No hay una sola respuesta correcta; lo que se evalúa es que el comportamiento sea deliberado y quede documentado. Aclarar el invariante del checkpoint: es mínimo a propósito; no comprueba que se atendieran las dos intenciones, solo que no hubo respuesta vacía ni excepción. Cada equipo puede escribir uno más exigente. 2) Pregunta: con el ejemplo de tu track, ¿qué hace hoy tu agente con la segunda intención? 3) Lab: solucion/tu-track/tests/test_casos_borde.py, función familia_1_entrada_ambigua(). En INFORME-L7.md van al menos 2 casos de esta familia, con entrada y salida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Segunda familia: ya se vio en el A1 un identificador inexistente; ahora ocurre dentro de una conversación larga. Recorrer el escenario del checkpoint: tres turnos de contexto y, en el cuarto, un número de línea que no existe. En la imagen, señalar el carril Memory: el historial por thread_id se acumula en cada turno. Con más historial, el modelo tiene más contexto del que podría tomar un dato plausible e inventarlo. El invariante dice_no_existe() comprueba que el agente reconozca que el dato no existe. Aclarar que la memoria del curso es un diccionario por proceso, no un almacén durable. 2) Pregunta: si el agente responde con un plan verosímil para un número inexistente, ¿qué invariante lo detecta y cuál no? 3) Lab: familia_2_dato_ausente() en test_casos_borde.py; el historial está en memory.py de tu agente de la S5.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Tercera familia: el servicio falla sin avisar a mitad de conversación. Tres preguntas guían el caso: ¿pierde el hilo?, ¿reintenta en bucle?, ¿miente? Recorrer la tarjeta izquierda: ante un 503 sostenido, el agente termina en como máximo MAX_ITERATIONS llamadas al modelo y emite un mensaje explícito; el nivel Competente de la rúbrica exige medir esto. Luego la derecha: el checkpoint hace fallar la tool siempre, no una vez, para agotar el tope en cada intento. responder() usa un for con tope, así que por construcción no puede colgarse; lo que se verifica es el mensaje final. Error esperable: el agente pierde el hilo tras un 503 porque el error borró el historial. 2) Pregunta: cuando el servicio no responde, ¿qué debería leer exactamente tu usuario? 3) Lab: familia_3_servicio_caido() en test_casos_borde.py; opción --chaos para usar el simulador real; revisar memory.py si se pierde el hilo.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Cuarta familia: el modelo devuelve algo que no cumple el esquema; aquí se cobra comun/structured.py de la S2. Recorrer la imagen: consulta, modelo más esquema, validación Pydantic; si es válida, objeto tipado; con el primer error, un reintento; con el segundo, ExtraccionFallida. El checkpoint fuerza el caso con un esquema deliberadamente exigente y una entrada sin relación (el clima de Lima). El invariante no es que salga un objeto válido: es que nunca haya un fallo silencioso. ExtraccionFallida cuenta como éxito porque es un fallo controlado; un None que revienta después o una excepción sin capturar cuentan como fallo. Recordar el aviso de la imagen: validez no es veracidad. 2) Pregunta: ¿un objeto Pydantic válido demuestra que la respuesta es correcta? 3) Lab: familia_4_salida_fuera_de_formato() en test_casos_borde.py, con extraer(modelo, esquema, entrada, reintentos=1).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la clínica después de la pausa. Leer las tres reglas de izquierda a derecha. Primera: cada equipo prueba su propio agente; no hay ataques entre equipos. Segunda: el docente anuncia en voz alta que activa CHAOS_RATE=0.1 y lo activa; los alumnos no tocan la variable. Tercera: el prerrequisito es que el agente con las piezas de L4, L5 y L6 corra de punta a punta; si algo quedó roto, se arregla antes, porque la clínica mide robustez. Anunciar que los casos se documentan con traza real mientras ocurren, no de memoria al final. 2) Pregunta: ¿qué equipo tiene hoy alguna pieza de L4 a L6 que no corre? Mejor saberlo ahora que en la demo. 3) Lab: lab/README.md, sección Antes de la clínica; los casos van en lab/tu-track/INFORME-L7.md.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Explicar la secuencia que guiará el docente mientras rota por los equipos: una familia cada 10 minutos, en el mismo orden de la teoría, y 5 minutos finales para elegir el peor caso. Remarcar el último punto: es deliberado. En un sistema no determinístico lo valioso es saber dónde se rompe, no fingir que no se rompe. Recordar el error esperable: casi todos los casos terminan en la familia 2 porque es la más fácil de provocar; se exigen al menos 2 por familia. 2) Pregunta: de las cuatro familias, ¿cuál crees que será la más difícil de provocar con tu agente? 3) Lab: el peor caso se registra como Caso 0 en lab/plantilla-informe-l7.md, con traza antes y después del cambio.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el Proyecto M2 como un todo antes de entrar a cada pieza. Recorrer las cuatro tarjetas de izquierda a derecha: la demo en vivo, el informe con al menos 10 casos borde, la carpeta tests/ con pruebas por invariantes y el documento de diseño. Luego la tabla: dónde vive cada entregable en el repositorio del equipo. Cerrar con el plazo: todo se entrega al cerrar la S7. Las tres diapositivas siguientes repiten esta misma fila y ponen en foco una pieza cada vez. 2) Pregunta: de estos cuatro entregables, ¿cuál tiene hoy tu equipo más avanzado y cuál menos? 3) Lab: lab/README.md, sección Entregables; enunciado completo en proyecto-m2.md.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Misma fila de entregables; en foco, el informe y las pruebas, que forman la evidencia. Izquierda: el informe exige al menos 10 casos y al menos 2 por cada familia, cada uno con la traza tal cual ocurrió: entrada real, salida real, qué se cambió y salida después. Una familia sin casos es una familia que no se probó. Derecha: las pruebas usan invariantes y repetición, igual que el checkpoint, y deben correr sin que nadie intervenga. Error esperable: el informe describe los casos en lugar de mostrarlos. Sin traza real no cuenta, igual que en el A1. 2) Pregunta: ¿cómo demostrarías a un evaluador que un caso ocurrió de verdad y no es una paráfrasis? 3) Lab: lab/plantilla-informe-l7.md y, como referencia, solucion/tu-track/tests/test_casos_borde.py con sus códigos de salida 0, 1 y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Misma fila; en foco, el documento de diseño. Explicar por qué es lo que distingue al M2 del A1: allí bastaba una tool que funcionara; aquí el equipo defiende sus decisiones. Recorrer las siete secciones de la plantilla en orden. Detenerse en dos: la 3 pide justificar por qué esas cuatro tools y no otras, y qué salvaguarda tiene una tool de escritura; la 6 conecta con la clínica de hoy. Recomendar escribirlo para reutilizarlo en la S11 con ediciones, no desde cero. Son 2 a 3 páginas. 2) Pregunta: si tuvieras que explicar tu arquitectura en una frase a alguien que no vio el código, ¿cuál sería? 3) Lab: lab/plantilla-documento-diseno.md; se entrega como lab/tu-track/documento-diseno.md.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Misma fila; en foco, la demo en vivo. Explicar la dinámica: cada equipo presenta con el caos activo y abre con el peor caso que encontró y resolvió. Luego la aritmética según el tamaño del aula: con 8 equipos hay holgura; con 15 no hay margen, hay que cronometrar de verdad y el docente da la retroalimentación extensa por escrito después. Si el aula supera los 15 equipos, la ronda se parte con los primeros 20 minutos de la S8, como se hizo con el A1. Error esperable: la demo se pasa de tiempo porque no se ensayó. 2) Pregunta: con el tiempo que te toca, ¿qué dejas fuera de la demo para mostrar primero el peor caso? 3) Lab: lab/README.md, sección La demo; la defensa oral cuenta en el criterio Comunicación técnica.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los cinco criterios con su peso. Señalar que los dos más pesados (25 % cada uno) son Funcionalidad y Guardrails y manejo de errores, y que en este último el nivel Competente exige medir el tope de iteraciones en la familia servicio caído: con la tool fallando de forma sostenida, el agente termina en como máximo MAX_ITERATIONS llamadas y emite un mensaje. Evidencia de pruebas sube a Sobresaliente cuando el informe abre con el peor fallo resuelto. Nombrar los cuatro niveles y remitir a los descriptores completos. 2) Pregunta: ¿en qué criterio está hoy tu equipo más lejos de Competente? 3) Lab: descriptores completos en recursos/rubricas/rubrica-m2.md; resumen en proyecto-m2.md.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Presentar la regla del piso, heredada del A1 y adaptada a un sistema no determinístico. Leer las dos condiciones y luego el resultado, que es el único elemento en foco. Explicar por qué existe: sin ella, un CHAOS_RATE=0.1 desafortunado en el minuto exacto de la demo penalizaría la mala suerte, no el mal diseño. Conectar con la diapositiva 06: una ejecución aislada no mide nada; la evidencia repetida sí. Aclarar el alcance: protege el criterio Funcionalidad; no reemplaza a los demás criterios. 2) Pregunta: ¿por qué tiene sentido que la evidencia pese más que una sola ejecución en vivo? 3) Lab: las dos condiciones son la carpeta lab/tu-track/tests/ y lab/tu-track/INFORME-L7.md; ver la regla en proyecto-m2.md y en recursos/rubricas/rubrica-m2.md.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Cerrar en tres puntos. Primero, qué se entrega y cuándo: el informe, las pruebas y el documento de diseño, al cerrar la S7. Segundo, el docente anuncia que devuelve CHAOS_RATE a 0.0. Tercero, qué no entró hoy y en qué sesión se construye: FastAPI y despliegue en la S8, Langfuse y trazas en la S9, métricas formales y golden dataset de evaluación en la S10. Solo anunciar la S8; no adelantar su contenido. 2) Pregunta: ¿qué cambio que hiciste hoy por un caso borde conservarías cuando el agente tenga una URL pública? 3) Lab: con el M2 entregado, el agente del L7 es el punto de partida del L8; el documento de diseño se reutiliza en el Proyecto Integrador de la S11.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IA Agent Building · Módulo 2 · Sesión 7</a:t>
            </a:r>
            <a:endParaRPr lang="en-US" sz="1400" dirty="0"/>
          </a:p>
        </p:txBody>
      </p:sp>
      <p:sp>
        <p:nvSpPr>
          <p:cNvPr id="3" name="Text 1"/>
          <p:cNvSpPr/>
          <p:nvPr/>
        </p:nvSpPr>
        <p:spPr>
          <a:xfrm>
            <a:off x="812800" y="1257796"/>
            <a:ext cx="10883392" cy="1040209"/>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S07 · Hackathon, clínica y sustentación del Proyecto M2</a:t>
            </a:r>
            <a:endParaRPr lang="en-US" sz="3600" dirty="0"/>
          </a:p>
        </p:txBody>
      </p:sp>
      <p:sp>
        <p:nvSpPr>
          <p:cNvPr id="4" name="Text 2"/>
          <p:cNvSpPr/>
          <p:nvPr/>
        </p:nvSpPr>
        <p:spPr>
          <a:xfrm>
            <a:off x="812800" y="24758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4 · martes · 6 h: 1.5 h de teoría y 4.5 h de práctica</a:t>
            </a:r>
            <a:endParaRPr lang="en-US" sz="1600" dirty="0"/>
          </a:p>
        </p:txBody>
      </p:sp>
      <p:sp>
        <p:nvSpPr>
          <p:cNvPr id="5" name="Text 3"/>
          <p:cNvSpPr/>
          <p:nvPr/>
        </p:nvSpPr>
        <p:spPr>
          <a:xfrm>
            <a:off x="812800" y="285779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Hito:</a:t>
            </a:r>
            <a:r>
              <a:rPr lang="en-US" sz="1600" dirty="0">
                <a:solidFill>
                  <a:srgbClr val="1E293B"/>
                </a:solidFill>
                <a:latin typeface="IBM Plex Sans" pitchFamily="34" charset="0"/>
                <a:ea typeface="IBM Plex Sans" pitchFamily="34" charset="-122"/>
                <a:cs typeface="IBM Plex Sans" pitchFamily="34" charset="-120"/>
              </a:rPr>
              <a:t> Proyecto M2, 100 % de la nota del Módulo 2</a:t>
            </a:r>
            <a:endParaRPr lang="en-US" sz="1600" dirty="0"/>
          </a:p>
        </p:txBody>
      </p:sp>
      <p:sp>
        <p:nvSpPr>
          <p:cNvPr id="6" name="Text 4"/>
          <p:cNvSpPr/>
          <p:nvPr/>
        </p:nvSpPr>
        <p:spPr>
          <a:xfrm>
            <a:off x="812800" y="323979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b="1" dirty="0">
                <a:solidFill>
                  <a:srgbClr val="1E293B"/>
                </a:solidFill>
                <a:latin typeface="IBM Plex Sans" pitchFamily="34" charset="0"/>
                <a:ea typeface="IBM Plex Sans" pitchFamily="34" charset="-122"/>
                <a:cs typeface="IBM Plex Sans" pitchFamily="34" charset="-120"/>
              </a:rPr>
              <a:t>Adversario de hoy:</a:t>
            </a:r>
            <a:r>
              <a:rPr lang="en-US" sz="1600" dirty="0">
                <a:solidFill>
                  <a:srgbClr val="1E293B"/>
                </a:solidFill>
                <a:latin typeface="IBM Plex Sans" pitchFamily="34" charset="0"/>
                <a:ea typeface="IBM Plex Sans" pitchFamily="34" charset="-122"/>
                <a:cs typeface="IBM Plex Sans" pitchFamily="34" charset="-120"/>
              </a:rPr>
              <a:t> el mundo real sin malicia, no un atacante</a:t>
            </a:r>
            <a:endParaRPr lang="en-US" sz="1600" dirty="0"/>
          </a:p>
        </p:txBody>
      </p:sp>
      <p:sp>
        <p:nvSpPr>
          <p:cNvPr id="7" name="Text 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01 / 23</a:t>
            </a:r>
            <a:endParaRPr lang="en-US" sz="1200" dirty="0"/>
          </a:p>
        </p:txBody>
      </p:sp>
      <p:pic>
        <p:nvPicPr>
          <p:cNvPr id="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Los 180 minutos de hoy</a:t>
            </a:r>
            <a:endParaRPr lang="en-US" sz="3600" dirty="0"/>
          </a:p>
        </p:txBody>
      </p:sp>
      <p:sp>
        <p:nvSpPr>
          <p:cNvPr id="3" name="Text 1"/>
          <p:cNvSpPr/>
          <p:nvPr/>
        </p:nvSpPr>
        <p:spPr>
          <a:xfrm>
            <a:off x="812800" y="1523405"/>
            <a:ext cx="10883392" cy="235645"/>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526277"/>
                </a:solidFill>
                <a:latin typeface="IBM Plex Sans" pitchFamily="34" charset="0"/>
                <a:ea typeface="IBM Plex Sans" pitchFamily="34" charset="-122"/>
                <a:cs typeface="IBM Plex Sans" pitchFamily="34" charset="-120"/>
              </a:rPr>
              <a:t>Minutos por bloque de la sesión en vivo</a:t>
            </a:r>
            <a:endParaRPr lang="en-US" sz="1200" dirty="0"/>
          </a:p>
        </p:txBody>
      </p:sp>
      <p:sp>
        <p:nvSpPr>
          <p:cNvPr id="4" name="Shape 2"/>
          <p:cNvSpPr/>
          <p:nvPr/>
        </p:nvSpPr>
        <p:spPr>
          <a:xfrm>
            <a:off x="825500" y="1949549"/>
            <a:ext cx="1701800" cy="533400"/>
          </a:xfrm>
          <a:prstGeom prst="roundRect">
            <a:avLst>
              <a:gd name="adj" fmla="val 16667"/>
            </a:avLst>
          </a:prstGeom>
          <a:solidFill>
            <a:srgbClr val="FFF0EB"/>
          </a:solidFill>
          <a:ln w="25400">
            <a:solidFill>
              <a:srgbClr val="FF5733"/>
            </a:solidFill>
            <a:prstDash val="solid"/>
          </a:ln>
        </p:spPr>
      </p:sp>
      <p:sp>
        <p:nvSpPr>
          <p:cNvPr id="5" name="Text 3"/>
          <p:cNvSpPr/>
          <p:nvPr/>
        </p:nvSpPr>
        <p:spPr>
          <a:xfrm>
            <a:off x="1569641" y="2108696"/>
            <a:ext cx="26422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30</a:t>
            </a:r>
            <a:endParaRPr lang="en-US" sz="1400" dirty="0"/>
          </a:p>
        </p:txBody>
      </p:sp>
      <p:sp>
        <p:nvSpPr>
          <p:cNvPr id="6" name="Shape 4"/>
          <p:cNvSpPr/>
          <p:nvPr/>
        </p:nvSpPr>
        <p:spPr>
          <a:xfrm>
            <a:off x="2597150" y="1943199"/>
            <a:ext cx="558800" cy="546100"/>
          </a:xfrm>
          <a:prstGeom prst="roundRect">
            <a:avLst>
              <a:gd name="adj" fmla="val 17442"/>
            </a:avLst>
          </a:prstGeom>
          <a:solidFill>
            <a:srgbClr val="E9F0F7"/>
          </a:solidFill>
          <a:ln w="12700">
            <a:solidFill>
              <a:srgbClr val="526277"/>
            </a:solidFill>
            <a:prstDash val="solid"/>
          </a:ln>
        </p:spPr>
      </p:sp>
      <p:sp>
        <p:nvSpPr>
          <p:cNvPr id="7" name="Text 5"/>
          <p:cNvSpPr/>
          <p:nvPr/>
        </p:nvSpPr>
        <p:spPr>
          <a:xfrm>
            <a:off x="2769791" y="2108696"/>
            <a:ext cx="26422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10</a:t>
            </a:r>
            <a:endParaRPr lang="en-US" sz="1400" dirty="0"/>
          </a:p>
        </p:txBody>
      </p:sp>
      <p:sp>
        <p:nvSpPr>
          <p:cNvPr id="8" name="Shape 6"/>
          <p:cNvSpPr/>
          <p:nvPr/>
        </p:nvSpPr>
        <p:spPr>
          <a:xfrm>
            <a:off x="3219450" y="1943199"/>
            <a:ext cx="2578100" cy="546100"/>
          </a:xfrm>
          <a:prstGeom prst="roundRect">
            <a:avLst>
              <a:gd name="adj" fmla="val 17442"/>
            </a:avLst>
          </a:prstGeom>
          <a:solidFill>
            <a:srgbClr val="FFFFFF"/>
          </a:solidFill>
          <a:ln w="12700">
            <a:solidFill>
              <a:srgbClr val="1E293B"/>
            </a:solidFill>
            <a:prstDash val="solid"/>
          </a:ln>
        </p:spPr>
      </p:sp>
      <p:sp>
        <p:nvSpPr>
          <p:cNvPr id="9" name="Text 7"/>
          <p:cNvSpPr/>
          <p:nvPr/>
        </p:nvSpPr>
        <p:spPr>
          <a:xfrm>
            <a:off x="4401741" y="2108696"/>
            <a:ext cx="26422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45</a:t>
            </a:r>
            <a:endParaRPr lang="en-US" sz="1400" dirty="0"/>
          </a:p>
        </p:txBody>
      </p:sp>
      <p:sp>
        <p:nvSpPr>
          <p:cNvPr id="10" name="Shape 8"/>
          <p:cNvSpPr/>
          <p:nvPr/>
        </p:nvSpPr>
        <p:spPr>
          <a:xfrm>
            <a:off x="5861050" y="1943199"/>
            <a:ext cx="5168900" cy="546100"/>
          </a:xfrm>
          <a:prstGeom prst="roundRect">
            <a:avLst>
              <a:gd name="adj" fmla="val 17442"/>
            </a:avLst>
          </a:prstGeom>
          <a:solidFill>
            <a:srgbClr val="FFFFFF"/>
          </a:solidFill>
          <a:ln w="12700">
            <a:solidFill>
              <a:srgbClr val="1E293B"/>
            </a:solidFill>
            <a:prstDash val="solid"/>
          </a:ln>
        </p:spPr>
      </p:sp>
      <p:sp>
        <p:nvSpPr>
          <p:cNvPr id="11" name="Text 9"/>
          <p:cNvSpPr/>
          <p:nvPr/>
        </p:nvSpPr>
        <p:spPr>
          <a:xfrm>
            <a:off x="8338741" y="2108696"/>
            <a:ext cx="264220"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90</a:t>
            </a:r>
            <a:endParaRPr lang="en-US" sz="1400" dirty="0"/>
          </a:p>
        </p:txBody>
      </p:sp>
      <p:sp>
        <p:nvSpPr>
          <p:cNvPr id="12" name="Shape 10"/>
          <p:cNvSpPr/>
          <p:nvPr/>
        </p:nvSpPr>
        <p:spPr>
          <a:xfrm>
            <a:off x="11093450" y="1943199"/>
            <a:ext cx="273050" cy="546100"/>
          </a:xfrm>
          <a:prstGeom prst="roundRect">
            <a:avLst>
              <a:gd name="adj" fmla="val 34884"/>
            </a:avLst>
          </a:prstGeom>
          <a:solidFill>
            <a:srgbClr val="FFFFFF"/>
          </a:solidFill>
          <a:ln w="12700">
            <a:solidFill>
              <a:srgbClr val="1E293B"/>
            </a:solidFill>
            <a:prstDash val="solid"/>
          </a:ln>
        </p:spPr>
      </p:sp>
      <p:sp>
        <p:nvSpPr>
          <p:cNvPr id="13" name="Text 11"/>
          <p:cNvSpPr/>
          <p:nvPr/>
        </p:nvSpPr>
        <p:spPr>
          <a:xfrm>
            <a:off x="11176595" y="2108696"/>
            <a:ext cx="15755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5</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25500" y="2711549"/>
          <a:ext cx="10553700" cy="2155627"/>
        </p:xfrm>
        <a:graphic>
          <a:graphicData uri="http://schemas.openxmlformats.org/drawingml/2006/table">
            <a:tbl>
              <a:tblPr/>
              <a:tblGrid>
                <a:gridCol w="844296"/>
                <a:gridCol w="6332220"/>
                <a:gridCol w="1266444"/>
                <a:gridCol w="211074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Bloque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Min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Tipo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Cómo se prueba lo no determinístico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30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Teoría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Pausa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Clínica con el caos activado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45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Práctica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Ronda de demos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Práctica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Cierre y entrega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Práctica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15" name="Text 12"/>
          <p:cNvSpPr/>
          <p:nvPr/>
        </p:nvSpPr>
        <p:spPr>
          <a:xfrm>
            <a:off x="812800" y="5070376"/>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Antes: pre-work asíncrono de 1 h (teoría). Después: 2 h de laboratorio (práctica). Total: 1.5 h de teoría y 4.5 h de práctica.</a:t>
            </a:r>
            <a:endParaRPr lang="en-US" sz="1400" dirty="0"/>
          </a:p>
        </p:txBody>
      </p:sp>
      <p:sp>
        <p:nvSpPr>
          <p:cNvPr id="16" name="Text 1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02 / 23</a:t>
            </a:r>
            <a:endParaRPr lang="en-US" sz="1200" dirty="0"/>
          </a:p>
        </p:txBody>
      </p:sp>
      <p:pic>
        <p:nvPicPr>
          <p:cNvPr id="17"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vas a poder hacer al terminar</a:t>
            </a:r>
            <a:endParaRPr lang="en-US" sz="3600" dirty="0"/>
          </a:p>
        </p:txBody>
      </p:sp>
      <p:sp>
        <p:nvSpPr>
          <p:cNvPr id="3" name="Shape 1"/>
          <p:cNvSpPr/>
          <p:nvPr/>
        </p:nvSpPr>
        <p:spPr>
          <a:xfrm>
            <a:off x="819150" y="1529755"/>
            <a:ext cx="5168900" cy="979884"/>
          </a:xfrm>
          <a:prstGeom prst="roundRect">
            <a:avLst>
              <a:gd name="adj" fmla="val 9721"/>
            </a:avLst>
          </a:prstGeom>
          <a:solidFill>
            <a:srgbClr val="FFFFFF"/>
          </a:solidFill>
          <a:ln w="12700">
            <a:solidFill>
              <a:srgbClr val="1E293B"/>
            </a:solidFill>
            <a:prstDash val="solid"/>
          </a:ln>
        </p:spPr>
      </p:sp>
      <p:sp>
        <p:nvSpPr>
          <p:cNvPr id="4" name="Text 2"/>
          <p:cNvSpPr/>
          <p:nvPr/>
        </p:nvSpPr>
        <p:spPr>
          <a:xfrm>
            <a:off x="1028700" y="1739305"/>
            <a:ext cx="148828" cy="586184"/>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279128" y="1739305"/>
            <a:ext cx="463435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Explicar por qué no se puede probar un agente con </a:t>
            </a:r>
            <a:r>
              <a:rPr lang="en-US" sz="1600" b="1" dirty="0">
                <a:solidFill>
                  <a:srgbClr val="1E293B"/>
                </a:solidFill>
                <a:latin typeface="IBM Plex Sans" pitchFamily="34" charset="0"/>
                <a:ea typeface="IBM Plex Sans" pitchFamily="34" charset="-122"/>
                <a:cs typeface="IBM Plex Sans" pitchFamily="34" charset="-120"/>
              </a:rPr>
              <a:t>assert respuesta == "esperado"</a:t>
            </a:r>
            <a:r>
              <a:rPr lang="en-US" sz="1600" dirty="0">
                <a:solidFill>
                  <a:srgbClr val="1E293B"/>
                </a:solidFill>
                <a:latin typeface="IBM Plex Sans" pitchFamily="34" charset="0"/>
                <a:ea typeface="IBM Plex Sans" pitchFamily="34" charset="-122"/>
                <a:cs typeface="IBM Plex Sans" pitchFamily="34" charset="-120"/>
              </a:rPr>
              <a:t>.</a:t>
            </a:r>
            <a:endParaRPr lang="en-US" sz="1600" dirty="0"/>
          </a:p>
        </p:txBody>
      </p:sp>
      <p:sp>
        <p:nvSpPr>
          <p:cNvPr id="6" name="Shape 4"/>
          <p:cNvSpPr/>
          <p:nvPr/>
        </p:nvSpPr>
        <p:spPr>
          <a:xfrm>
            <a:off x="6203950" y="1529755"/>
            <a:ext cx="5168900" cy="979884"/>
          </a:xfrm>
          <a:prstGeom prst="roundRect">
            <a:avLst>
              <a:gd name="adj" fmla="val 9721"/>
            </a:avLst>
          </a:prstGeom>
          <a:solidFill>
            <a:srgbClr val="FFFFFF"/>
          </a:solidFill>
          <a:ln w="12700">
            <a:solidFill>
              <a:srgbClr val="1E293B"/>
            </a:solidFill>
            <a:prstDash val="solid"/>
          </a:ln>
        </p:spPr>
      </p:sp>
      <p:sp>
        <p:nvSpPr>
          <p:cNvPr id="7" name="Text 5"/>
          <p:cNvSpPr/>
          <p:nvPr/>
        </p:nvSpPr>
        <p:spPr>
          <a:xfrm>
            <a:off x="6413500" y="1739305"/>
            <a:ext cx="145058" cy="586184"/>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6660158" y="1739305"/>
            <a:ext cx="4638236"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Diseñar casos de prueba para un sistema no determinístico: </a:t>
            </a:r>
            <a:r>
              <a:rPr lang="en-US" sz="1600" b="1" dirty="0">
                <a:solidFill>
                  <a:srgbClr val="1E293B"/>
                </a:solidFill>
                <a:latin typeface="IBM Plex Sans" pitchFamily="34" charset="0"/>
                <a:ea typeface="IBM Plex Sans" pitchFamily="34" charset="-122"/>
                <a:cs typeface="IBM Plex Sans" pitchFamily="34" charset="-120"/>
              </a:rPr>
              <a:t>invariantes, no igualdades</a:t>
            </a:r>
            <a:r>
              <a:rPr lang="en-US" sz="1600" dirty="0">
                <a:solidFill>
                  <a:srgbClr val="1E293B"/>
                </a:solidFill>
                <a:latin typeface="IBM Plex Sans" pitchFamily="34" charset="0"/>
                <a:ea typeface="IBM Plex Sans" pitchFamily="34" charset="-122"/>
                <a:cs typeface="IBM Plex Sans" pitchFamily="34" charset="-120"/>
              </a:rPr>
              <a:t>.</a:t>
            </a:r>
            <a:endParaRPr lang="en-US" sz="1600" dirty="0"/>
          </a:p>
        </p:txBody>
      </p:sp>
      <p:sp>
        <p:nvSpPr>
          <p:cNvPr id="9" name="Shape 7"/>
          <p:cNvSpPr/>
          <p:nvPr/>
        </p:nvSpPr>
        <p:spPr>
          <a:xfrm>
            <a:off x="819150" y="2725539"/>
            <a:ext cx="5168900" cy="979884"/>
          </a:xfrm>
          <a:prstGeom prst="roundRect">
            <a:avLst>
              <a:gd name="adj" fmla="val 9721"/>
            </a:avLst>
          </a:prstGeom>
          <a:solidFill>
            <a:srgbClr val="FFFFFF"/>
          </a:solidFill>
          <a:ln w="12700">
            <a:solidFill>
              <a:srgbClr val="1E293B"/>
            </a:solidFill>
            <a:prstDash val="solid"/>
          </a:ln>
        </p:spPr>
      </p:sp>
      <p:sp>
        <p:nvSpPr>
          <p:cNvPr id="10" name="Text 8"/>
          <p:cNvSpPr/>
          <p:nvPr/>
        </p:nvSpPr>
        <p:spPr>
          <a:xfrm>
            <a:off x="1028700" y="2935089"/>
            <a:ext cx="174823" cy="586184"/>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305123" y="2935089"/>
            <a:ext cx="4607578"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Encontrar y </a:t>
            </a:r>
            <a:r>
              <a:rPr lang="en-US" sz="1600" b="1" dirty="0">
                <a:solidFill>
                  <a:srgbClr val="1E293B"/>
                </a:solidFill>
                <a:latin typeface="IBM Plex Sans" pitchFamily="34" charset="0"/>
                <a:ea typeface="IBM Plex Sans" pitchFamily="34" charset="-122"/>
                <a:cs typeface="IBM Plex Sans" pitchFamily="34" charset="-120"/>
              </a:rPr>
              <a:t>resolver</a:t>
            </a:r>
            <a:r>
              <a:rPr lang="en-US" sz="1600" dirty="0">
                <a:solidFill>
                  <a:srgbClr val="1E293B"/>
                </a:solidFill>
                <a:latin typeface="IBM Plex Sans" pitchFamily="34" charset="0"/>
                <a:ea typeface="IBM Plex Sans" pitchFamily="34" charset="-122"/>
                <a:cs typeface="IBM Plex Sans" pitchFamily="34" charset="-120"/>
              </a:rPr>
              <a:t> al menos 10 casos borde de tu propio agente.</a:t>
            </a:r>
            <a:endParaRPr lang="en-US" sz="1600" dirty="0"/>
          </a:p>
        </p:txBody>
      </p:sp>
      <p:sp>
        <p:nvSpPr>
          <p:cNvPr id="12" name="Shape 10"/>
          <p:cNvSpPr/>
          <p:nvPr/>
        </p:nvSpPr>
        <p:spPr>
          <a:xfrm>
            <a:off x="6203950" y="2725539"/>
            <a:ext cx="5168900" cy="979884"/>
          </a:xfrm>
          <a:prstGeom prst="roundRect">
            <a:avLst>
              <a:gd name="adj" fmla="val 9721"/>
            </a:avLst>
          </a:prstGeom>
          <a:solidFill>
            <a:srgbClr val="FFFFFF"/>
          </a:solidFill>
          <a:ln w="12700">
            <a:solidFill>
              <a:srgbClr val="1E293B"/>
            </a:solidFill>
            <a:prstDash val="solid"/>
          </a:ln>
        </p:spPr>
      </p:sp>
      <p:sp>
        <p:nvSpPr>
          <p:cNvPr id="13" name="Text 11"/>
          <p:cNvSpPr/>
          <p:nvPr/>
        </p:nvSpPr>
        <p:spPr>
          <a:xfrm>
            <a:off x="6413500" y="2935089"/>
            <a:ext cx="150912" cy="586184"/>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526277"/>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6666012" y="2935089"/>
            <a:ext cx="4632207"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Demostrar el agente en vivo y </a:t>
            </a:r>
            <a:r>
              <a:rPr lang="en-US" sz="1600" b="1" dirty="0">
                <a:solidFill>
                  <a:srgbClr val="1E293B"/>
                </a:solidFill>
                <a:latin typeface="IBM Plex Sans" pitchFamily="34" charset="0"/>
                <a:ea typeface="IBM Plex Sans" pitchFamily="34" charset="-122"/>
                <a:cs typeface="IBM Plex Sans" pitchFamily="34" charset="-120"/>
              </a:rPr>
              <a:t>responder preguntas técnicas</a:t>
            </a:r>
            <a:r>
              <a:rPr lang="en-US" sz="1600" dirty="0">
                <a:solidFill>
                  <a:srgbClr val="1E293B"/>
                </a:solidFill>
                <a:latin typeface="IBM Plex Sans" pitchFamily="34" charset="0"/>
                <a:ea typeface="IBM Plex Sans" pitchFamily="34" charset="-122"/>
                <a:cs typeface="IBM Plex Sans" pitchFamily="34" charset="-120"/>
              </a:rPr>
              <a:t> sobre sus decisiones.</a:t>
            </a:r>
            <a:endParaRPr lang="en-US" sz="1600" dirty="0"/>
          </a:p>
        </p:txBody>
      </p:sp>
      <p:sp>
        <p:nvSpPr>
          <p:cNvPr id="15" name="Text 1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03 / 23</a:t>
            </a:r>
            <a:endParaRPr lang="en-US" sz="1200" dirty="0"/>
          </a:p>
        </p:txBody>
      </p:sp>
      <p:pic>
        <p:nvPicPr>
          <p:cNvPr id="1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Por qué falla assert ==</a:t>
            </a:r>
            <a:endParaRPr lang="en-US" sz="3600" dirty="0"/>
          </a:p>
        </p:txBody>
      </p:sp>
      <p:sp>
        <p:nvSpPr>
          <p:cNvPr id="3" name="Shape 1"/>
          <p:cNvSpPr/>
          <p:nvPr/>
        </p:nvSpPr>
        <p:spPr>
          <a:xfrm>
            <a:off x="812800" y="1523405"/>
            <a:ext cx="6052840" cy="862013"/>
          </a:xfrm>
          <a:prstGeom prst="roundRect">
            <a:avLst>
              <a:gd name="adj" fmla="val 2947"/>
            </a:avLst>
          </a:prstGeom>
          <a:solidFill>
            <a:srgbClr val="1E293B"/>
          </a:solidFill>
          <a:ln/>
        </p:spPr>
      </p:sp>
      <p:sp>
        <p:nvSpPr>
          <p:cNvPr id="4" name="Text 2"/>
          <p:cNvSpPr/>
          <p:nvPr/>
        </p:nvSpPr>
        <p:spPr>
          <a:xfrm>
            <a:off x="1016000" y="1726605"/>
            <a:ext cx="5815833"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assert_exacto(respuesta: str, esperado: str) -&gt; bool:</a:t>
            </a:r>
            <a:endParaRPr lang="en-US" sz="1300" dirty="0"/>
          </a:p>
        </p:txBody>
      </p:sp>
      <p:sp>
        <p:nvSpPr>
          <p:cNvPr id="5" name="Text 3"/>
          <p:cNvSpPr/>
          <p:nvPr/>
        </p:nvSpPr>
        <p:spPr>
          <a:xfrm>
            <a:off x="1016000" y="1954411"/>
            <a:ext cx="5815833" cy="253206"/>
          </a:xfrm>
          <a:prstGeom prst="rect">
            <a:avLst/>
          </a:prstGeom>
          <a:noFill/>
          <a:ln/>
        </p:spPr>
        <p:txBody>
          <a:bodyPr wrap="non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return respuesta.strip() == esperado.strip()</a:t>
            </a:r>
            <a:endParaRPr lang="en-US" sz="1300" dirty="0"/>
          </a:p>
        </p:txBody>
      </p:sp>
      <p:sp>
        <p:nvSpPr>
          <p:cNvPr id="6" name="Text 4"/>
          <p:cNvSpPr/>
          <p:nvPr/>
        </p:nvSpPr>
        <p:spPr>
          <a:xfrm>
            <a:off x="7170440" y="1648619"/>
            <a:ext cx="3159777"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Compara la </a:t>
            </a:r>
            <a:r>
              <a:rPr lang="en-US" sz="1600" b="1" dirty="0">
                <a:solidFill>
                  <a:srgbClr val="1E293B"/>
                </a:solidFill>
                <a:latin typeface="IBM Plex Sans" pitchFamily="34" charset="0"/>
                <a:ea typeface="IBM Plex Sans" pitchFamily="34" charset="-122"/>
                <a:cs typeface="IBM Plex Sans" pitchFamily="34" charset="-120"/>
              </a:rPr>
              <a:t>redacción</a:t>
            </a:r>
            <a:r>
              <a:rPr lang="en-US" sz="1600" dirty="0">
                <a:solidFill>
                  <a:srgbClr val="1E293B"/>
                </a:solidFill>
                <a:latin typeface="IBM Plex Sans" pitchFamily="34" charset="0"/>
                <a:ea typeface="IBM Plex Sans" pitchFamily="34" charset="-122"/>
                <a:cs typeface="IBM Plex Sans" pitchFamily="34" charset="-120"/>
              </a:rPr>
              <a:t>, no el dato.</a:t>
            </a:r>
            <a:endParaRPr lang="en-US" sz="1600" dirty="0"/>
          </a:p>
        </p:txBody>
      </p:sp>
      <p:sp>
        <p:nvSpPr>
          <p:cNvPr id="7" name="Text 5"/>
          <p:cNvSpPr/>
          <p:nvPr/>
        </p:nvSpPr>
        <p:spPr>
          <a:xfrm>
            <a:off x="7170440" y="1979811"/>
            <a:ext cx="3159777"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Falla aunque el agente acierte.</a:t>
            </a:r>
            <a:endParaRPr lang="en-US" sz="1600" dirty="0"/>
          </a:p>
        </p:txBody>
      </p:sp>
      <p:sp>
        <p:nvSpPr>
          <p:cNvPr id="8" name="Shape 6"/>
          <p:cNvSpPr/>
          <p:nvPr/>
        </p:nvSpPr>
        <p:spPr>
          <a:xfrm>
            <a:off x="2857500" y="1631950"/>
            <a:ext cx="1765300" cy="1892300"/>
          </a:xfrm>
          <a:prstGeom prst="roundRect">
            <a:avLst>
              <a:gd name="adj" fmla="val 8273"/>
            </a:avLst>
          </a:prstGeom>
          <a:solidFill>
            <a:srgbClr val="E9F0F7"/>
          </a:solidFill>
          <a:ln w="12700">
            <a:solidFill>
              <a:srgbClr val="526277"/>
            </a:solidFill>
            <a:prstDash val="solid"/>
          </a:ln>
        </p:spPr>
      </p:sp>
      <p:sp>
        <p:nvSpPr>
          <p:cNvPr id="9" name="Text 7"/>
          <p:cNvSpPr/>
          <p:nvPr/>
        </p:nvSpPr>
        <p:spPr>
          <a:xfrm>
            <a:off x="2824480" y="1676400"/>
            <a:ext cx="1831340"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10" name="Shape 8"/>
          <p:cNvSpPr/>
          <p:nvPr/>
        </p:nvSpPr>
        <p:spPr>
          <a:xfrm>
            <a:off x="3060700" y="1987550"/>
            <a:ext cx="1358900" cy="469900"/>
          </a:xfrm>
          <a:prstGeom prst="roundRect">
            <a:avLst>
              <a:gd name="adj" fmla="val 20270"/>
            </a:avLst>
          </a:prstGeom>
          <a:solidFill>
            <a:srgbClr val="FFFFFF"/>
          </a:solidFill>
          <a:ln w="12700">
            <a:solidFill>
              <a:srgbClr val="1E293B"/>
            </a:solidFill>
            <a:prstDash val="solid"/>
          </a:ln>
        </p:spPr>
      </p:sp>
      <p:sp>
        <p:nvSpPr>
          <p:cNvPr id="11" name="Text 9"/>
          <p:cNvSpPr/>
          <p:nvPr/>
        </p:nvSpPr>
        <p:spPr>
          <a:xfrm>
            <a:off x="3551039" y="211494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12" name="Shape 10"/>
          <p:cNvSpPr/>
          <p:nvPr/>
        </p:nvSpPr>
        <p:spPr>
          <a:xfrm>
            <a:off x="3060700" y="2952750"/>
            <a:ext cx="1358900" cy="469900"/>
          </a:xfrm>
          <a:prstGeom prst="roundRect">
            <a:avLst>
              <a:gd name="adj" fmla="val 20270"/>
            </a:avLst>
          </a:prstGeom>
          <a:solidFill>
            <a:srgbClr val="FFFFFF"/>
          </a:solidFill>
          <a:ln w="12700">
            <a:solidFill>
              <a:srgbClr val="1E293B"/>
            </a:solidFill>
            <a:prstDash val="solid"/>
          </a:ln>
        </p:spPr>
      </p:sp>
      <p:sp>
        <p:nvSpPr>
          <p:cNvPr id="13" name="Text 11"/>
          <p:cNvSpPr/>
          <p:nvPr/>
        </p:nvSpPr>
        <p:spPr>
          <a:xfrm>
            <a:off x="3369568" y="308014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pic>
        <p:nvPicPr>
          <p:cNvPr id="14" name="Image 0" descr="connector">    </p:cNvPr>
          <p:cNvPicPr>
            <a:picLocks noChangeAspect="1"/>
          </p:cNvPicPr>
          <p:nvPr/>
        </p:nvPicPr>
        <p:blipFill>
          <a:blip r:embed="rId1"/>
          <a:srcRect l="0" r="0" t="0" b="0"/>
          <a:stretch/>
        </p:blipFill>
        <p:spPr>
          <a:xfrm>
            <a:off x="3314700" y="2413000"/>
            <a:ext cx="101600" cy="584200"/>
          </a:xfrm>
          <a:prstGeom prst="rect">
            <a:avLst/>
          </a:prstGeom>
        </p:spPr>
      </p:pic>
      <p:sp>
        <p:nvSpPr>
          <p:cNvPr id="15" name="Text 12"/>
          <p:cNvSpPr/>
          <p:nvPr/>
        </p:nvSpPr>
        <p:spPr>
          <a:xfrm>
            <a:off x="3467100" y="259715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16" name="Text 13"/>
          <p:cNvSpPr/>
          <p:nvPr/>
        </p:nvSpPr>
        <p:spPr>
          <a:xfrm>
            <a:off x="2824480" y="3594100"/>
            <a:ext cx="1831340" cy="209748"/>
          </a:xfrm>
          <a:prstGeom prst="rect">
            <a:avLst/>
          </a:prstGeom>
          <a:noFill/>
          <a:ln/>
        </p:spPr>
        <p:txBody>
          <a:bodyPr wrap="square" lIns="0" tIns="0" rIns="0" bIns="0" rtlCol="0" anchor="t">
            <a:normAutofit/>
          </a:bodyPr>
          <a:lstStyle/>
          <a:p>
            <a:pPr algn="ctr" indent="0" marL="0">
              <a:lnSpc>
                <a:spcPts val="1452"/>
              </a:lnSpc>
              <a:buNone/>
            </a:pPr>
            <a:r>
              <a:rPr lang="en-US" sz="1200" dirty="0">
                <a:solidFill>
                  <a:srgbClr val="526277"/>
                </a:solidFill>
                <a:latin typeface="IBM Plex Sans" pitchFamily="34" charset="0"/>
                <a:ea typeface="IBM Plex Sans" pitchFamily="34" charset="-122"/>
                <a:cs typeface="IBM Plex Sans" pitchFamily="34" charset="-120"/>
              </a:rPr>
              <a:t>Bucle con tope</a:t>
            </a:r>
            <a:endParaRPr lang="en-US" sz="1200" dirty="0"/>
          </a:p>
        </p:txBody>
      </p:sp>
      <p:sp>
        <p:nvSpPr>
          <p:cNvPr id="17" name="Shape 14"/>
          <p:cNvSpPr/>
          <p:nvPr/>
        </p:nvSpPr>
        <p:spPr>
          <a:xfrm>
            <a:off x="819150" y="1911350"/>
            <a:ext cx="1130300" cy="622300"/>
          </a:xfrm>
          <a:prstGeom prst="roundRect">
            <a:avLst>
              <a:gd name="adj" fmla="val 15306"/>
            </a:avLst>
          </a:prstGeom>
          <a:solidFill>
            <a:srgbClr val="FFFFFF"/>
          </a:solidFill>
          <a:ln w="12700">
            <a:solidFill>
              <a:srgbClr val="1E293B"/>
            </a:solidFill>
            <a:prstDash val="solid"/>
          </a:ln>
        </p:spPr>
      </p:sp>
      <p:sp>
        <p:nvSpPr>
          <p:cNvPr id="18" name="Text 15"/>
          <p:cNvSpPr/>
          <p:nvPr/>
        </p:nvSpPr>
        <p:spPr>
          <a:xfrm>
            <a:off x="989211" y="2114947"/>
            <a:ext cx="7901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pic>
        <p:nvPicPr>
          <p:cNvPr id="19" name="Image 1" descr="connector">    </p:cNvPr>
          <p:cNvPicPr>
            <a:picLocks noChangeAspect="1"/>
          </p:cNvPicPr>
          <p:nvPr/>
        </p:nvPicPr>
        <p:blipFill>
          <a:blip r:embed="rId2"/>
          <a:srcRect l="0" r="0" t="0" b="0"/>
          <a:stretch/>
        </p:blipFill>
        <p:spPr>
          <a:xfrm>
            <a:off x="1905000" y="2171700"/>
            <a:ext cx="1200150" cy="101600"/>
          </a:xfrm>
          <a:prstGeom prst="rect">
            <a:avLst/>
          </a:prstGeom>
        </p:spPr>
      </p:pic>
      <p:sp>
        <p:nvSpPr>
          <p:cNvPr id="20" name="Text 16"/>
          <p:cNvSpPr/>
          <p:nvPr/>
        </p:nvSpPr>
        <p:spPr>
          <a:xfrm>
            <a:off x="1955800" y="1943100"/>
            <a:ext cx="9207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21" name="Shape 17"/>
          <p:cNvSpPr/>
          <p:nvPr/>
        </p:nvSpPr>
        <p:spPr>
          <a:xfrm>
            <a:off x="5530850" y="1911350"/>
            <a:ext cx="1130300" cy="622300"/>
          </a:xfrm>
          <a:prstGeom prst="roundRect">
            <a:avLst>
              <a:gd name="adj" fmla="val 15306"/>
            </a:avLst>
          </a:prstGeom>
          <a:solidFill>
            <a:srgbClr val="FFFFFF"/>
          </a:solidFill>
          <a:ln w="12700">
            <a:solidFill>
              <a:srgbClr val="1E293B"/>
            </a:solidFill>
            <a:prstDash val="solid"/>
          </a:ln>
        </p:spPr>
      </p:sp>
      <p:sp>
        <p:nvSpPr>
          <p:cNvPr id="22" name="Text 18"/>
          <p:cNvSpPr/>
          <p:nvPr/>
        </p:nvSpPr>
        <p:spPr>
          <a:xfrm>
            <a:off x="5642372" y="2114947"/>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pic>
        <p:nvPicPr>
          <p:cNvPr id="23" name="Image 2" descr="connector">    </p:cNvPr>
          <p:cNvPicPr>
            <a:picLocks noChangeAspect="1"/>
          </p:cNvPicPr>
          <p:nvPr/>
        </p:nvPicPr>
        <p:blipFill>
          <a:blip r:embed="rId3"/>
          <a:srcRect l="0" r="0" t="0" b="0"/>
          <a:stretch/>
        </p:blipFill>
        <p:spPr>
          <a:xfrm>
            <a:off x="4375150" y="2171700"/>
            <a:ext cx="1200150" cy="101600"/>
          </a:xfrm>
          <a:prstGeom prst="rect">
            <a:avLst/>
          </a:prstGeom>
        </p:spPr>
      </p:pic>
      <p:sp>
        <p:nvSpPr>
          <p:cNvPr id="24" name="Text 19"/>
          <p:cNvSpPr/>
          <p:nvPr/>
        </p:nvSpPr>
        <p:spPr>
          <a:xfrm>
            <a:off x="460375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a:t>
            </a:r>
            <a:endParaRPr lang="en-US" sz="1400" dirty="0"/>
          </a:p>
        </p:txBody>
      </p:sp>
      <p:sp>
        <p:nvSpPr>
          <p:cNvPr id="25" name="Text 20"/>
          <p:cNvSpPr/>
          <p:nvPr/>
        </p:nvSpPr>
        <p:spPr>
          <a:xfrm>
            <a:off x="664210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texto</a:t>
            </a:r>
            <a:endParaRPr lang="en-US" sz="1400" dirty="0"/>
          </a:p>
        </p:txBody>
      </p:sp>
      <p:sp>
        <p:nvSpPr>
          <p:cNvPr id="26" name="Shape 21"/>
          <p:cNvSpPr/>
          <p:nvPr/>
        </p:nvSpPr>
        <p:spPr>
          <a:xfrm>
            <a:off x="7575550" y="1917700"/>
            <a:ext cx="1625600" cy="609600"/>
          </a:xfrm>
          <a:prstGeom prst="roundRect">
            <a:avLst>
              <a:gd name="adj" fmla="val 14583"/>
            </a:avLst>
          </a:prstGeom>
          <a:solidFill>
            <a:srgbClr val="FFF0EB"/>
          </a:solidFill>
          <a:ln w="25400">
            <a:solidFill>
              <a:srgbClr val="FF5733"/>
            </a:solidFill>
            <a:prstDash val="solid"/>
          </a:ln>
        </p:spPr>
      </p:sp>
      <p:sp>
        <p:nvSpPr>
          <p:cNvPr id="27" name="Text 22"/>
          <p:cNvSpPr/>
          <p:nvPr/>
        </p:nvSpPr>
        <p:spPr>
          <a:xfrm>
            <a:off x="7918946" y="2006997"/>
            <a:ext cx="9388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Verificador</a:t>
            </a:r>
            <a:endParaRPr lang="en-US" sz="1400" dirty="0"/>
          </a:p>
        </p:txBody>
      </p:sp>
      <p:sp>
        <p:nvSpPr>
          <p:cNvPr id="28" name="Text 23"/>
          <p:cNvSpPr/>
          <p:nvPr/>
        </p:nvSpPr>
        <p:spPr>
          <a:xfrm>
            <a:off x="7860010" y="2247503"/>
            <a:ext cx="105668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Mono" pitchFamily="34" charset="0"/>
                <a:ea typeface="IBM Plex Mono" pitchFamily="34" charset="-122"/>
                <a:cs typeface="IBM Plex Mono" pitchFamily="34" charset="-120"/>
              </a:rPr>
              <a:t>== esperado</a:t>
            </a:r>
            <a:endParaRPr lang="en-US" sz="1200" dirty="0"/>
          </a:p>
        </p:txBody>
      </p:sp>
      <p:pic>
        <p:nvPicPr>
          <p:cNvPr id="29" name="Image 3" descr="connector">    </p:cNvPr>
          <p:cNvPicPr>
            <a:picLocks noChangeAspect="1"/>
          </p:cNvPicPr>
          <p:nvPr/>
        </p:nvPicPr>
        <p:blipFill>
          <a:blip r:embed="rId4"/>
          <a:srcRect l="0" r="0" t="0" b="0"/>
          <a:stretch/>
        </p:blipFill>
        <p:spPr>
          <a:xfrm>
            <a:off x="6591300" y="2146300"/>
            <a:ext cx="1047750" cy="152400"/>
          </a:xfrm>
          <a:prstGeom prst="rect">
            <a:avLst/>
          </a:prstGeom>
        </p:spPr>
      </p:pic>
      <p:sp>
        <p:nvSpPr>
          <p:cNvPr id="30" name="Text 2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04 / 23</a:t>
            </a:r>
            <a:endParaRPr lang="en-US" sz="1200" dirty="0"/>
          </a:p>
        </p:txBody>
      </p:sp>
      <p:pic>
        <p:nvPicPr>
          <p:cNvPr id="31" name="Image 4" descr="Logo de AriwaLabs">    </p:cNvPr>
          <p:cNvPicPr>
            <a:picLocks noChangeAspect="1"/>
          </p:cNvPicPr>
          <p:nvPr/>
        </p:nvPicPr>
        <p:blipFill>
          <a:blip r:embed="rId5"/>
          <a:srcRect l="-9345" r="-9345" t="0" b="0"/>
          <a:stretch/>
        </p:blipFill>
        <p:spPr>
          <a:xfrm>
            <a:off x="10680700" y="61976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Invariantes en vez de igualdades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437084"/>
        </p:xfrm>
        <a:graphic>
          <a:graphicData uri="http://schemas.openxmlformats.org/drawingml/2006/table">
            <a:tbl>
              <a:tblPr/>
              <a:tblGrid>
                <a:gridCol w="4221480"/>
                <a:gridCol w="633222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No se prueba así</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Se prueba así (* pseudocódigo)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assert r == "Tu plan es Max 89"</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assert "Max 89" in 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assert r == esperado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assert agente.llamo_tool("get_customer_plan")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respuesta es correcta"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assert r.cita_fuente() * y assert not contiene_dni(r)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Shape 1"/>
          <p:cNvSpPr/>
          <p:nvPr/>
        </p:nvSpPr>
        <p:spPr>
          <a:xfrm>
            <a:off x="2857500" y="1631950"/>
            <a:ext cx="1765300" cy="1892300"/>
          </a:xfrm>
          <a:prstGeom prst="roundRect">
            <a:avLst>
              <a:gd name="adj" fmla="val 8273"/>
            </a:avLst>
          </a:prstGeom>
          <a:solidFill>
            <a:srgbClr val="E9F0F7"/>
          </a:solidFill>
          <a:ln w="12700">
            <a:solidFill>
              <a:srgbClr val="526277"/>
            </a:solidFill>
            <a:prstDash val="solid"/>
          </a:ln>
        </p:spPr>
      </p:sp>
      <p:sp>
        <p:nvSpPr>
          <p:cNvPr id="5" name="Text 2"/>
          <p:cNvSpPr/>
          <p:nvPr/>
        </p:nvSpPr>
        <p:spPr>
          <a:xfrm>
            <a:off x="2824480" y="1676400"/>
            <a:ext cx="1831340"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6" name="Shape 3"/>
          <p:cNvSpPr/>
          <p:nvPr/>
        </p:nvSpPr>
        <p:spPr>
          <a:xfrm>
            <a:off x="3060700" y="1987550"/>
            <a:ext cx="1358900" cy="469900"/>
          </a:xfrm>
          <a:prstGeom prst="roundRect">
            <a:avLst>
              <a:gd name="adj" fmla="val 20270"/>
            </a:avLst>
          </a:prstGeom>
          <a:solidFill>
            <a:srgbClr val="FFFFFF"/>
          </a:solidFill>
          <a:ln w="12700">
            <a:solidFill>
              <a:srgbClr val="1E293B"/>
            </a:solidFill>
            <a:prstDash val="solid"/>
          </a:ln>
        </p:spPr>
      </p:sp>
      <p:sp>
        <p:nvSpPr>
          <p:cNvPr id="7" name="Text 4"/>
          <p:cNvSpPr/>
          <p:nvPr/>
        </p:nvSpPr>
        <p:spPr>
          <a:xfrm>
            <a:off x="3551039" y="211494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8" name="Shape 5"/>
          <p:cNvSpPr/>
          <p:nvPr/>
        </p:nvSpPr>
        <p:spPr>
          <a:xfrm>
            <a:off x="3060700" y="2952750"/>
            <a:ext cx="1358900" cy="469900"/>
          </a:xfrm>
          <a:prstGeom prst="roundRect">
            <a:avLst>
              <a:gd name="adj" fmla="val 20270"/>
            </a:avLst>
          </a:prstGeom>
          <a:solidFill>
            <a:srgbClr val="FFFFFF"/>
          </a:solidFill>
          <a:ln w="12700">
            <a:solidFill>
              <a:srgbClr val="1E293B"/>
            </a:solidFill>
            <a:prstDash val="solid"/>
          </a:ln>
        </p:spPr>
      </p:sp>
      <p:sp>
        <p:nvSpPr>
          <p:cNvPr id="9" name="Text 6"/>
          <p:cNvSpPr/>
          <p:nvPr/>
        </p:nvSpPr>
        <p:spPr>
          <a:xfrm>
            <a:off x="3369568" y="308014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pic>
        <p:nvPicPr>
          <p:cNvPr id="10" name="Image 0" descr="connector">    </p:cNvPr>
          <p:cNvPicPr>
            <a:picLocks noChangeAspect="1"/>
          </p:cNvPicPr>
          <p:nvPr/>
        </p:nvPicPr>
        <p:blipFill>
          <a:blip r:embed="rId1"/>
          <a:srcRect l="0" r="0" t="0" b="0"/>
          <a:stretch/>
        </p:blipFill>
        <p:spPr>
          <a:xfrm>
            <a:off x="3314700" y="2413000"/>
            <a:ext cx="101600" cy="584200"/>
          </a:xfrm>
          <a:prstGeom prst="rect">
            <a:avLst/>
          </a:prstGeom>
        </p:spPr>
      </p:pic>
      <p:sp>
        <p:nvSpPr>
          <p:cNvPr id="11" name="Text 7"/>
          <p:cNvSpPr/>
          <p:nvPr/>
        </p:nvSpPr>
        <p:spPr>
          <a:xfrm>
            <a:off x="3467100" y="259715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12" name="Text 8"/>
          <p:cNvSpPr/>
          <p:nvPr/>
        </p:nvSpPr>
        <p:spPr>
          <a:xfrm>
            <a:off x="2824480" y="3594100"/>
            <a:ext cx="1831340" cy="209748"/>
          </a:xfrm>
          <a:prstGeom prst="rect">
            <a:avLst/>
          </a:prstGeom>
          <a:noFill/>
          <a:ln/>
        </p:spPr>
        <p:txBody>
          <a:bodyPr wrap="square" lIns="0" tIns="0" rIns="0" bIns="0" rtlCol="0" anchor="t">
            <a:normAutofit/>
          </a:bodyPr>
          <a:lstStyle/>
          <a:p>
            <a:pPr algn="ctr" indent="0" marL="0">
              <a:lnSpc>
                <a:spcPts val="1452"/>
              </a:lnSpc>
              <a:buNone/>
            </a:pPr>
            <a:r>
              <a:rPr lang="en-US" sz="1200" dirty="0">
                <a:solidFill>
                  <a:srgbClr val="526277"/>
                </a:solidFill>
                <a:latin typeface="IBM Plex Sans" pitchFamily="34" charset="0"/>
                <a:ea typeface="IBM Plex Sans" pitchFamily="34" charset="-122"/>
                <a:cs typeface="IBM Plex Sans" pitchFamily="34" charset="-120"/>
              </a:rPr>
              <a:t>Bucle con tope</a:t>
            </a:r>
            <a:endParaRPr lang="en-US" sz="1200" dirty="0"/>
          </a:p>
        </p:txBody>
      </p:sp>
      <p:sp>
        <p:nvSpPr>
          <p:cNvPr id="13" name="Shape 9"/>
          <p:cNvSpPr/>
          <p:nvPr/>
        </p:nvSpPr>
        <p:spPr>
          <a:xfrm>
            <a:off x="819150" y="1911350"/>
            <a:ext cx="1130300" cy="622300"/>
          </a:xfrm>
          <a:prstGeom prst="roundRect">
            <a:avLst>
              <a:gd name="adj" fmla="val 15306"/>
            </a:avLst>
          </a:prstGeom>
          <a:solidFill>
            <a:srgbClr val="FFFFFF"/>
          </a:solidFill>
          <a:ln w="12700">
            <a:solidFill>
              <a:srgbClr val="1E293B"/>
            </a:solidFill>
            <a:prstDash val="solid"/>
          </a:ln>
        </p:spPr>
      </p:sp>
      <p:sp>
        <p:nvSpPr>
          <p:cNvPr id="14" name="Text 10"/>
          <p:cNvSpPr/>
          <p:nvPr/>
        </p:nvSpPr>
        <p:spPr>
          <a:xfrm>
            <a:off x="989211" y="2114947"/>
            <a:ext cx="7901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pic>
        <p:nvPicPr>
          <p:cNvPr id="15" name="Image 1" descr="connector">    </p:cNvPr>
          <p:cNvPicPr>
            <a:picLocks noChangeAspect="1"/>
          </p:cNvPicPr>
          <p:nvPr/>
        </p:nvPicPr>
        <p:blipFill>
          <a:blip r:embed="rId2"/>
          <a:srcRect l="0" r="0" t="0" b="0"/>
          <a:stretch/>
        </p:blipFill>
        <p:spPr>
          <a:xfrm>
            <a:off x="1905000" y="2171700"/>
            <a:ext cx="1200150" cy="101600"/>
          </a:xfrm>
          <a:prstGeom prst="rect">
            <a:avLst/>
          </a:prstGeom>
        </p:spPr>
      </p:pic>
      <p:sp>
        <p:nvSpPr>
          <p:cNvPr id="16" name="Text 11"/>
          <p:cNvSpPr/>
          <p:nvPr/>
        </p:nvSpPr>
        <p:spPr>
          <a:xfrm>
            <a:off x="1955800" y="1943100"/>
            <a:ext cx="9207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17" name="Shape 12"/>
          <p:cNvSpPr/>
          <p:nvPr/>
        </p:nvSpPr>
        <p:spPr>
          <a:xfrm>
            <a:off x="5530850" y="1911350"/>
            <a:ext cx="1130300" cy="622300"/>
          </a:xfrm>
          <a:prstGeom prst="roundRect">
            <a:avLst>
              <a:gd name="adj" fmla="val 15306"/>
            </a:avLst>
          </a:prstGeom>
          <a:solidFill>
            <a:srgbClr val="FFFFFF"/>
          </a:solidFill>
          <a:ln w="12700">
            <a:solidFill>
              <a:srgbClr val="1E293B"/>
            </a:solidFill>
            <a:prstDash val="solid"/>
          </a:ln>
        </p:spPr>
      </p:sp>
      <p:sp>
        <p:nvSpPr>
          <p:cNvPr id="18" name="Text 13"/>
          <p:cNvSpPr/>
          <p:nvPr/>
        </p:nvSpPr>
        <p:spPr>
          <a:xfrm>
            <a:off x="5642372" y="2114947"/>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pic>
        <p:nvPicPr>
          <p:cNvPr id="19" name="Image 2" descr="connector">    </p:cNvPr>
          <p:cNvPicPr>
            <a:picLocks noChangeAspect="1"/>
          </p:cNvPicPr>
          <p:nvPr/>
        </p:nvPicPr>
        <p:blipFill>
          <a:blip r:embed="rId3"/>
          <a:srcRect l="0" r="0" t="0" b="0"/>
          <a:stretch/>
        </p:blipFill>
        <p:spPr>
          <a:xfrm>
            <a:off x="4375150" y="2171700"/>
            <a:ext cx="1200150" cy="101600"/>
          </a:xfrm>
          <a:prstGeom prst="rect">
            <a:avLst/>
          </a:prstGeom>
        </p:spPr>
      </p:pic>
      <p:sp>
        <p:nvSpPr>
          <p:cNvPr id="20" name="Text 14"/>
          <p:cNvSpPr/>
          <p:nvPr/>
        </p:nvSpPr>
        <p:spPr>
          <a:xfrm>
            <a:off x="460375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a:t>
            </a:r>
            <a:endParaRPr lang="en-US" sz="1400" dirty="0"/>
          </a:p>
        </p:txBody>
      </p:sp>
      <p:sp>
        <p:nvSpPr>
          <p:cNvPr id="21" name="Text 15"/>
          <p:cNvSpPr/>
          <p:nvPr/>
        </p:nvSpPr>
        <p:spPr>
          <a:xfrm>
            <a:off x="664210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texto</a:t>
            </a:r>
            <a:endParaRPr lang="en-US" sz="1400" dirty="0"/>
          </a:p>
        </p:txBody>
      </p:sp>
      <p:sp>
        <p:nvSpPr>
          <p:cNvPr id="22" name="Shape 16"/>
          <p:cNvSpPr/>
          <p:nvPr/>
        </p:nvSpPr>
        <p:spPr>
          <a:xfrm>
            <a:off x="7575550" y="1917700"/>
            <a:ext cx="1625600" cy="609600"/>
          </a:xfrm>
          <a:prstGeom prst="roundRect">
            <a:avLst>
              <a:gd name="adj" fmla="val 14583"/>
            </a:avLst>
          </a:prstGeom>
          <a:solidFill>
            <a:srgbClr val="FFF0EB"/>
          </a:solidFill>
          <a:ln w="25400">
            <a:solidFill>
              <a:srgbClr val="FF5733"/>
            </a:solidFill>
            <a:prstDash val="solid"/>
          </a:ln>
        </p:spPr>
      </p:sp>
      <p:sp>
        <p:nvSpPr>
          <p:cNvPr id="23" name="Text 17"/>
          <p:cNvSpPr/>
          <p:nvPr/>
        </p:nvSpPr>
        <p:spPr>
          <a:xfrm>
            <a:off x="7918946" y="2006997"/>
            <a:ext cx="9388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Verificador</a:t>
            </a:r>
            <a:endParaRPr lang="en-US" sz="1400" dirty="0"/>
          </a:p>
        </p:txBody>
      </p:sp>
      <p:sp>
        <p:nvSpPr>
          <p:cNvPr id="24" name="Text 18"/>
          <p:cNvSpPr/>
          <p:nvPr/>
        </p:nvSpPr>
        <p:spPr>
          <a:xfrm>
            <a:off x="7987308" y="2247503"/>
            <a:ext cx="80198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a:t>
            </a:r>
            <a:endParaRPr lang="en-US" sz="1200" dirty="0"/>
          </a:p>
        </p:txBody>
      </p:sp>
      <p:pic>
        <p:nvPicPr>
          <p:cNvPr id="25" name="Image 3" descr="connector">    </p:cNvPr>
          <p:cNvPicPr>
            <a:picLocks noChangeAspect="1"/>
          </p:cNvPicPr>
          <p:nvPr/>
        </p:nvPicPr>
        <p:blipFill>
          <a:blip r:embed="rId4"/>
          <a:srcRect l="0" r="0" t="0" b="0"/>
          <a:stretch/>
        </p:blipFill>
        <p:spPr>
          <a:xfrm>
            <a:off x="6591300" y="2146300"/>
            <a:ext cx="1047750" cy="152400"/>
          </a:xfrm>
          <a:prstGeom prst="rect">
            <a:avLst/>
          </a:prstGeom>
        </p:spPr>
      </p:pic>
      <p:sp>
        <p:nvSpPr>
          <p:cNvPr id="26"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05 / 23</a:t>
            </a:r>
            <a:endParaRPr lang="en-US" sz="1200" dirty="0"/>
          </a:p>
        </p:txBody>
      </p:sp>
      <p:pic>
        <p:nvPicPr>
          <p:cNvPr id="27" name="Image 4" descr="Logo de AriwaLabs">    </p:cNvPr>
          <p:cNvPicPr>
            <a:picLocks noChangeAspect="1"/>
          </p:cNvPicPr>
          <p:nvPr/>
        </p:nvPicPr>
        <p:blipFill>
          <a:blip r:embed="rId5"/>
          <a:srcRect l="-9345" r="-9345" t="0" b="0"/>
          <a:stretch/>
        </p:blipFill>
        <p:spPr>
          <a:xfrm>
            <a:off x="10680700" y="61976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Una prueba que pasa 4 de 5 está midiendo</a:t>
            </a:r>
            <a:endParaRPr lang="en-US" sz="3600" dirty="0"/>
          </a:p>
        </p:txBody>
      </p:sp>
      <p:sp>
        <p:nvSpPr>
          <p:cNvPr id="3" name="Text 1"/>
          <p:cNvSpPr/>
          <p:nvPr/>
        </p:nvSpPr>
        <p:spPr>
          <a:xfrm>
            <a:off x="812800" y="15234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Repetir la misma pregunta y contar cuántas veces se cumple el invariante convierte la prueba en una </a:t>
            </a:r>
            <a:r>
              <a:rPr lang="en-US" sz="1600" b="1" dirty="0">
                <a:solidFill>
                  <a:srgbClr val="1E293B"/>
                </a:solidFill>
                <a:latin typeface="IBM Plex Sans" pitchFamily="34" charset="0"/>
                <a:ea typeface="IBM Plex Sans" pitchFamily="34" charset="-122"/>
                <a:cs typeface="IBM Plex Sans" pitchFamily="34" charset="-120"/>
              </a:rPr>
              <a:t>medición</a:t>
            </a:r>
            <a:r>
              <a:rPr lang="en-US" sz="1600" dirty="0">
                <a:solidFill>
                  <a:srgbClr val="1E293B"/>
                </a:solidFill>
                <a:latin typeface="IBM Plex Sans" pitchFamily="34" charset="0"/>
                <a:ea typeface="IBM Plex Sans" pitchFamily="34" charset="-122"/>
                <a:cs typeface="IBM Plex Sans" pitchFamily="34" charset="-120"/>
              </a:rPr>
              <a:t>.</a:t>
            </a:r>
            <a:endParaRPr lang="en-US" sz="1600" dirty="0"/>
          </a:p>
        </p:txBody>
      </p:sp>
      <p:sp>
        <p:nvSpPr>
          <p:cNvPr id="4" name="Text 2"/>
          <p:cNvSpPr/>
          <p:nvPr/>
        </p:nvSpPr>
        <p:spPr>
          <a:xfrm>
            <a:off x="812800" y="2006997"/>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Checkpoint del curso: 5 repeticiones por defecto y UMBRAL = 0.6 por familia. Cinco repeticiones no certifican fiabilidad.</a:t>
            </a:r>
            <a:endParaRPr lang="en-US" sz="1400" dirty="0"/>
          </a:p>
        </p:txBody>
      </p:sp>
      <p:sp>
        <p:nvSpPr>
          <p:cNvPr id="5" name="Shape 3"/>
          <p:cNvSpPr/>
          <p:nvPr/>
        </p:nvSpPr>
        <p:spPr>
          <a:xfrm>
            <a:off x="2857500" y="1631950"/>
            <a:ext cx="1765300" cy="1892300"/>
          </a:xfrm>
          <a:prstGeom prst="roundRect">
            <a:avLst>
              <a:gd name="adj" fmla="val 8273"/>
            </a:avLst>
          </a:prstGeom>
          <a:solidFill>
            <a:srgbClr val="E9F0F7"/>
          </a:solidFill>
          <a:ln w="12700">
            <a:solidFill>
              <a:srgbClr val="526277"/>
            </a:solidFill>
            <a:prstDash val="solid"/>
          </a:ln>
        </p:spPr>
      </p:sp>
      <p:sp>
        <p:nvSpPr>
          <p:cNvPr id="6" name="Text 4"/>
          <p:cNvSpPr/>
          <p:nvPr/>
        </p:nvSpPr>
        <p:spPr>
          <a:xfrm>
            <a:off x="2824480" y="1676400"/>
            <a:ext cx="1831340"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Agent</a:t>
            </a:r>
            <a:endParaRPr lang="en-US" sz="1400" dirty="0"/>
          </a:p>
        </p:txBody>
      </p:sp>
      <p:sp>
        <p:nvSpPr>
          <p:cNvPr id="7" name="Shape 5"/>
          <p:cNvSpPr/>
          <p:nvPr/>
        </p:nvSpPr>
        <p:spPr>
          <a:xfrm>
            <a:off x="3060700" y="1987550"/>
            <a:ext cx="1358900" cy="469900"/>
          </a:xfrm>
          <a:prstGeom prst="roundRect">
            <a:avLst>
              <a:gd name="adj" fmla="val 20270"/>
            </a:avLst>
          </a:prstGeom>
          <a:solidFill>
            <a:srgbClr val="FFFFFF"/>
          </a:solidFill>
          <a:ln w="12700">
            <a:solidFill>
              <a:srgbClr val="1E293B"/>
            </a:solidFill>
            <a:prstDash val="solid"/>
          </a:ln>
        </p:spPr>
      </p:sp>
      <p:sp>
        <p:nvSpPr>
          <p:cNvPr id="8" name="Text 6"/>
          <p:cNvSpPr/>
          <p:nvPr/>
        </p:nvSpPr>
        <p:spPr>
          <a:xfrm>
            <a:off x="3551039" y="2114947"/>
            <a:ext cx="37822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a:t>
            </a:r>
            <a:endParaRPr lang="en-US" sz="1400" dirty="0"/>
          </a:p>
        </p:txBody>
      </p:sp>
      <p:sp>
        <p:nvSpPr>
          <p:cNvPr id="9" name="Shape 7"/>
          <p:cNvSpPr/>
          <p:nvPr/>
        </p:nvSpPr>
        <p:spPr>
          <a:xfrm>
            <a:off x="3060700" y="2952750"/>
            <a:ext cx="1358900" cy="469900"/>
          </a:xfrm>
          <a:prstGeom prst="roundRect">
            <a:avLst>
              <a:gd name="adj" fmla="val 20270"/>
            </a:avLst>
          </a:prstGeom>
          <a:solidFill>
            <a:srgbClr val="FFFFFF"/>
          </a:solidFill>
          <a:ln w="12700">
            <a:solidFill>
              <a:srgbClr val="1E293B"/>
            </a:solidFill>
            <a:prstDash val="solid"/>
          </a:ln>
        </p:spPr>
      </p:sp>
      <p:sp>
        <p:nvSpPr>
          <p:cNvPr id="10" name="Text 8"/>
          <p:cNvSpPr/>
          <p:nvPr/>
        </p:nvSpPr>
        <p:spPr>
          <a:xfrm>
            <a:off x="3369568" y="3080147"/>
            <a:ext cx="741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a:t>
            </a:r>
            <a:endParaRPr lang="en-US" sz="1400" dirty="0"/>
          </a:p>
        </p:txBody>
      </p:sp>
      <p:pic>
        <p:nvPicPr>
          <p:cNvPr id="11" name="Image 0" descr="connector">    </p:cNvPr>
          <p:cNvPicPr>
            <a:picLocks noChangeAspect="1"/>
          </p:cNvPicPr>
          <p:nvPr/>
        </p:nvPicPr>
        <p:blipFill>
          <a:blip r:embed="rId1"/>
          <a:srcRect l="0" r="0" t="0" b="0"/>
          <a:stretch/>
        </p:blipFill>
        <p:spPr>
          <a:xfrm>
            <a:off x="3314700" y="2413000"/>
            <a:ext cx="101600" cy="584200"/>
          </a:xfrm>
          <a:prstGeom prst="rect">
            <a:avLst/>
          </a:prstGeom>
        </p:spPr>
      </p:pic>
      <p:sp>
        <p:nvSpPr>
          <p:cNvPr id="12" name="Text 9"/>
          <p:cNvSpPr/>
          <p:nvPr/>
        </p:nvSpPr>
        <p:spPr>
          <a:xfrm>
            <a:off x="3467100" y="2597150"/>
            <a:ext cx="1003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sp>
        <p:nvSpPr>
          <p:cNvPr id="13" name="Text 10"/>
          <p:cNvSpPr/>
          <p:nvPr/>
        </p:nvSpPr>
        <p:spPr>
          <a:xfrm>
            <a:off x="2824480" y="3594100"/>
            <a:ext cx="1831340" cy="209748"/>
          </a:xfrm>
          <a:prstGeom prst="rect">
            <a:avLst/>
          </a:prstGeom>
          <a:noFill/>
          <a:ln/>
        </p:spPr>
        <p:txBody>
          <a:bodyPr wrap="square" lIns="0" tIns="0" rIns="0" bIns="0" rtlCol="0" anchor="t">
            <a:normAutofit/>
          </a:bodyPr>
          <a:lstStyle/>
          <a:p>
            <a:pPr algn="ctr" indent="0" marL="0">
              <a:lnSpc>
                <a:spcPts val="1452"/>
              </a:lnSpc>
              <a:buNone/>
            </a:pPr>
            <a:r>
              <a:rPr lang="en-US" sz="1200" dirty="0">
                <a:solidFill>
                  <a:srgbClr val="526277"/>
                </a:solidFill>
                <a:latin typeface="IBM Plex Sans" pitchFamily="34" charset="0"/>
                <a:ea typeface="IBM Plex Sans" pitchFamily="34" charset="-122"/>
                <a:cs typeface="IBM Plex Sans" pitchFamily="34" charset="-120"/>
              </a:rPr>
              <a:t>Bucle con tope</a:t>
            </a:r>
            <a:endParaRPr lang="en-US" sz="1200" dirty="0"/>
          </a:p>
        </p:txBody>
      </p:sp>
      <p:sp>
        <p:nvSpPr>
          <p:cNvPr id="14" name="Shape 11"/>
          <p:cNvSpPr/>
          <p:nvPr/>
        </p:nvSpPr>
        <p:spPr>
          <a:xfrm>
            <a:off x="819150" y="1911350"/>
            <a:ext cx="1130300" cy="622300"/>
          </a:xfrm>
          <a:prstGeom prst="roundRect">
            <a:avLst>
              <a:gd name="adj" fmla="val 15306"/>
            </a:avLst>
          </a:prstGeom>
          <a:solidFill>
            <a:srgbClr val="FFFFFF"/>
          </a:solidFill>
          <a:ln w="12700">
            <a:solidFill>
              <a:srgbClr val="1E293B"/>
            </a:solidFill>
            <a:prstDash val="solid"/>
          </a:ln>
        </p:spPr>
      </p:sp>
      <p:sp>
        <p:nvSpPr>
          <p:cNvPr id="15" name="Text 12"/>
          <p:cNvSpPr/>
          <p:nvPr/>
        </p:nvSpPr>
        <p:spPr>
          <a:xfrm>
            <a:off x="989211" y="2114947"/>
            <a:ext cx="79017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Pregunta</a:t>
            </a:r>
            <a:endParaRPr lang="en-US" sz="1400" dirty="0"/>
          </a:p>
        </p:txBody>
      </p:sp>
      <p:pic>
        <p:nvPicPr>
          <p:cNvPr id="16" name="Image 1" descr="connector">    </p:cNvPr>
          <p:cNvPicPr>
            <a:picLocks noChangeAspect="1"/>
          </p:cNvPicPr>
          <p:nvPr/>
        </p:nvPicPr>
        <p:blipFill>
          <a:blip r:embed="rId2"/>
          <a:srcRect l="0" r="0" t="0" b="0"/>
          <a:stretch/>
        </p:blipFill>
        <p:spPr>
          <a:xfrm>
            <a:off x="1905000" y="2171700"/>
            <a:ext cx="1200150" cy="101600"/>
          </a:xfrm>
          <a:prstGeom prst="rect">
            <a:avLst/>
          </a:prstGeom>
        </p:spPr>
      </p:pic>
      <p:sp>
        <p:nvSpPr>
          <p:cNvPr id="17" name="Text 13"/>
          <p:cNvSpPr/>
          <p:nvPr/>
        </p:nvSpPr>
        <p:spPr>
          <a:xfrm>
            <a:off x="1955800" y="1943100"/>
            <a:ext cx="9207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consulta</a:t>
            </a:r>
            <a:endParaRPr lang="en-US" sz="1400" dirty="0"/>
          </a:p>
        </p:txBody>
      </p:sp>
      <p:sp>
        <p:nvSpPr>
          <p:cNvPr id="18" name="Shape 14"/>
          <p:cNvSpPr/>
          <p:nvPr/>
        </p:nvSpPr>
        <p:spPr>
          <a:xfrm>
            <a:off x="5530850" y="1911350"/>
            <a:ext cx="1130300" cy="622300"/>
          </a:xfrm>
          <a:prstGeom prst="roundRect">
            <a:avLst>
              <a:gd name="adj" fmla="val 15306"/>
            </a:avLst>
          </a:prstGeom>
          <a:solidFill>
            <a:srgbClr val="FFFFFF"/>
          </a:solidFill>
          <a:ln w="12700">
            <a:solidFill>
              <a:srgbClr val="1E293B"/>
            </a:solidFill>
            <a:prstDash val="solid"/>
          </a:ln>
        </p:spPr>
      </p:sp>
      <p:sp>
        <p:nvSpPr>
          <p:cNvPr id="19" name="Text 15"/>
          <p:cNvSpPr/>
          <p:nvPr/>
        </p:nvSpPr>
        <p:spPr>
          <a:xfrm>
            <a:off x="5642372" y="2114947"/>
            <a:ext cx="90725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Respuesta</a:t>
            </a:r>
            <a:endParaRPr lang="en-US" sz="1400" dirty="0"/>
          </a:p>
        </p:txBody>
      </p:sp>
      <p:pic>
        <p:nvPicPr>
          <p:cNvPr id="20" name="Image 2" descr="connector">    </p:cNvPr>
          <p:cNvPicPr>
            <a:picLocks noChangeAspect="1"/>
          </p:cNvPicPr>
          <p:nvPr/>
        </p:nvPicPr>
        <p:blipFill>
          <a:blip r:embed="rId3"/>
          <a:srcRect l="0" r="0" t="0" b="0"/>
          <a:stretch/>
        </p:blipFill>
        <p:spPr>
          <a:xfrm>
            <a:off x="4375150" y="2171700"/>
            <a:ext cx="1200150" cy="101600"/>
          </a:xfrm>
          <a:prstGeom prst="rect">
            <a:avLst/>
          </a:prstGeom>
        </p:spPr>
      </p:pic>
      <p:sp>
        <p:nvSpPr>
          <p:cNvPr id="21" name="Text 16"/>
          <p:cNvSpPr/>
          <p:nvPr/>
        </p:nvSpPr>
        <p:spPr>
          <a:xfrm>
            <a:off x="460375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responde</a:t>
            </a:r>
            <a:endParaRPr lang="en-US" sz="1400" dirty="0"/>
          </a:p>
        </p:txBody>
      </p:sp>
      <p:sp>
        <p:nvSpPr>
          <p:cNvPr id="22" name="Text 17"/>
          <p:cNvSpPr/>
          <p:nvPr/>
        </p:nvSpPr>
        <p:spPr>
          <a:xfrm>
            <a:off x="664210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texto</a:t>
            </a:r>
            <a:endParaRPr lang="en-US" sz="1400" dirty="0"/>
          </a:p>
        </p:txBody>
      </p:sp>
      <p:sp>
        <p:nvSpPr>
          <p:cNvPr id="23" name="Shape 18"/>
          <p:cNvSpPr/>
          <p:nvPr/>
        </p:nvSpPr>
        <p:spPr>
          <a:xfrm>
            <a:off x="7569200" y="1911350"/>
            <a:ext cx="1638300" cy="622300"/>
          </a:xfrm>
          <a:prstGeom prst="roundRect">
            <a:avLst>
              <a:gd name="adj" fmla="val 15306"/>
            </a:avLst>
          </a:prstGeom>
          <a:solidFill>
            <a:srgbClr val="FFFFFF"/>
          </a:solidFill>
          <a:ln w="12700">
            <a:solidFill>
              <a:srgbClr val="1E293B"/>
            </a:solidFill>
            <a:prstDash val="solid"/>
          </a:ln>
        </p:spPr>
      </p:sp>
      <p:sp>
        <p:nvSpPr>
          <p:cNvPr id="24" name="Text 19"/>
          <p:cNvSpPr/>
          <p:nvPr/>
        </p:nvSpPr>
        <p:spPr>
          <a:xfrm>
            <a:off x="7918946" y="2006997"/>
            <a:ext cx="93880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Verificador</a:t>
            </a:r>
            <a:endParaRPr lang="en-US" sz="1400" dirty="0"/>
          </a:p>
        </p:txBody>
      </p:sp>
      <p:sp>
        <p:nvSpPr>
          <p:cNvPr id="25" name="Text 20"/>
          <p:cNvSpPr/>
          <p:nvPr/>
        </p:nvSpPr>
        <p:spPr>
          <a:xfrm>
            <a:off x="7987308" y="2247503"/>
            <a:ext cx="80198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a:t>
            </a:r>
            <a:endParaRPr lang="en-US" sz="1200" dirty="0"/>
          </a:p>
        </p:txBody>
      </p:sp>
      <p:pic>
        <p:nvPicPr>
          <p:cNvPr id="26" name="Image 3" descr="connector">    </p:cNvPr>
          <p:cNvPicPr>
            <a:picLocks noChangeAspect="1"/>
          </p:cNvPicPr>
          <p:nvPr/>
        </p:nvPicPr>
        <p:blipFill>
          <a:blip r:embed="rId4"/>
          <a:srcRect l="0" r="0" t="0" b="0"/>
          <a:stretch/>
        </p:blipFill>
        <p:spPr>
          <a:xfrm>
            <a:off x="6616700" y="2171700"/>
            <a:ext cx="996950" cy="101600"/>
          </a:xfrm>
          <a:prstGeom prst="rect">
            <a:avLst/>
          </a:prstGeom>
        </p:spPr>
      </p:pic>
      <p:sp>
        <p:nvSpPr>
          <p:cNvPr id="27" name="Shape 21"/>
          <p:cNvSpPr/>
          <p:nvPr/>
        </p:nvSpPr>
        <p:spPr>
          <a:xfrm>
            <a:off x="10121900" y="1917700"/>
            <a:ext cx="1244600" cy="609600"/>
          </a:xfrm>
          <a:prstGeom prst="roundRect">
            <a:avLst>
              <a:gd name="adj" fmla="val 14583"/>
            </a:avLst>
          </a:prstGeom>
          <a:solidFill>
            <a:srgbClr val="FFF0EB"/>
          </a:solidFill>
          <a:ln w="25400">
            <a:solidFill>
              <a:srgbClr val="FF5733"/>
            </a:solidFill>
            <a:prstDash val="solid"/>
          </a:ln>
        </p:spPr>
      </p:sp>
      <p:sp>
        <p:nvSpPr>
          <p:cNvPr id="28" name="Text 22"/>
          <p:cNvSpPr/>
          <p:nvPr/>
        </p:nvSpPr>
        <p:spPr>
          <a:xfrm>
            <a:off x="10372130" y="2114947"/>
            <a:ext cx="744141"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Tasa k/5</a:t>
            </a:r>
            <a:endParaRPr lang="en-US" sz="1400" dirty="0"/>
          </a:p>
        </p:txBody>
      </p:sp>
      <p:pic>
        <p:nvPicPr>
          <p:cNvPr id="29" name="Image 4" descr="connector">    </p:cNvPr>
          <p:cNvPicPr>
            <a:picLocks noChangeAspect="1"/>
          </p:cNvPicPr>
          <p:nvPr/>
        </p:nvPicPr>
        <p:blipFill>
          <a:blip r:embed="rId5"/>
          <a:srcRect l="0" r="0" t="0" b="0"/>
          <a:stretch/>
        </p:blipFill>
        <p:spPr>
          <a:xfrm>
            <a:off x="9137650" y="2146300"/>
            <a:ext cx="1047750" cy="152400"/>
          </a:xfrm>
          <a:prstGeom prst="rect">
            <a:avLst/>
          </a:prstGeom>
        </p:spPr>
      </p:pic>
      <p:sp>
        <p:nvSpPr>
          <p:cNvPr id="30" name="Text 23"/>
          <p:cNvSpPr/>
          <p:nvPr/>
        </p:nvSpPr>
        <p:spPr>
          <a:xfrm>
            <a:off x="9188450" y="1943100"/>
            <a:ext cx="9461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registra</a:t>
            </a:r>
            <a:endParaRPr lang="en-US" sz="1400" dirty="0"/>
          </a:p>
        </p:txBody>
      </p:sp>
      <p:pic>
        <p:nvPicPr>
          <p:cNvPr id="31" name="Image 5" descr="connector">    </p:cNvPr>
          <p:cNvPicPr>
            <a:picLocks noChangeAspect="1"/>
          </p:cNvPicPr>
          <p:nvPr/>
        </p:nvPicPr>
        <p:blipFill>
          <a:blip r:embed="rId6"/>
          <a:srcRect l="0" r="0" t="0" b="0"/>
          <a:stretch/>
        </p:blipFill>
        <p:spPr>
          <a:xfrm>
            <a:off x="10693400" y="2489200"/>
            <a:ext cx="101600" cy="1625600"/>
          </a:xfrm>
          <a:prstGeom prst="rect">
            <a:avLst/>
          </a:prstGeom>
        </p:spPr>
      </p:pic>
      <p:pic>
        <p:nvPicPr>
          <p:cNvPr id="32" name="Image 6" descr="connector">    </p:cNvPr>
          <p:cNvPicPr>
            <a:picLocks noChangeAspect="1"/>
          </p:cNvPicPr>
          <p:nvPr/>
        </p:nvPicPr>
        <p:blipFill>
          <a:blip r:embed="rId7"/>
          <a:srcRect l="0" r="0" t="0" b="0"/>
          <a:stretch/>
        </p:blipFill>
        <p:spPr>
          <a:xfrm>
            <a:off x="1333500" y="4013200"/>
            <a:ext cx="9461500" cy="101600"/>
          </a:xfrm>
          <a:prstGeom prst="rect">
            <a:avLst/>
          </a:prstGeom>
        </p:spPr>
      </p:pic>
      <p:pic>
        <p:nvPicPr>
          <p:cNvPr id="33" name="Image 7" descr="connector">    </p:cNvPr>
          <p:cNvPicPr>
            <a:picLocks noChangeAspect="1"/>
          </p:cNvPicPr>
          <p:nvPr/>
        </p:nvPicPr>
        <p:blipFill>
          <a:blip r:embed="rId8"/>
          <a:srcRect l="0" r="0" t="0" b="0"/>
          <a:stretch/>
        </p:blipFill>
        <p:spPr>
          <a:xfrm>
            <a:off x="1333500" y="2489200"/>
            <a:ext cx="101600" cy="1625600"/>
          </a:xfrm>
          <a:prstGeom prst="rect">
            <a:avLst/>
          </a:prstGeom>
        </p:spPr>
      </p:pic>
      <p:sp>
        <p:nvSpPr>
          <p:cNvPr id="34" name="Text 24"/>
          <p:cNvSpPr/>
          <p:nvPr/>
        </p:nvSpPr>
        <p:spPr>
          <a:xfrm>
            <a:off x="6696710" y="4127500"/>
            <a:ext cx="235458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repetir ×5</a:t>
            </a:r>
            <a:endParaRPr lang="en-US" sz="1400" dirty="0"/>
          </a:p>
        </p:txBody>
      </p:sp>
      <p:sp>
        <p:nvSpPr>
          <p:cNvPr id="35" name="Text 2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06 / 23</a:t>
            </a:r>
            <a:endParaRPr lang="en-US" sz="1200" dirty="0"/>
          </a:p>
        </p:txBody>
      </p:sp>
      <p:pic>
        <p:nvPicPr>
          <p:cNvPr id="36" name="Image 8" descr="Logo de AriwaLabs">    </p:cNvPr>
          <p:cNvPicPr>
            <a:picLocks noChangeAspect="1"/>
          </p:cNvPicPr>
          <p:nvPr/>
        </p:nvPicPr>
        <p:blipFill>
          <a:blip r:embed="rId9"/>
          <a:srcRect l="-9345" r="-9345" t="0" b="0"/>
          <a:stretch/>
        </p:blipFill>
        <p:spPr>
          <a:xfrm>
            <a:off x="10680700" y="61976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Invariantes que sí existen en el código</a:t>
            </a:r>
            <a:endParaRPr lang="en-US" sz="3600" dirty="0"/>
          </a:p>
        </p:txBody>
      </p:sp>
      <p:sp>
        <p:nvSpPr>
          <p:cNvPr id="3" name="Shape 1"/>
          <p:cNvSpPr/>
          <p:nvPr/>
        </p:nvSpPr>
        <p:spPr>
          <a:xfrm>
            <a:off x="812800" y="1523405"/>
            <a:ext cx="6858000" cy="3149600"/>
          </a:xfrm>
          <a:prstGeom prst="roundRect">
            <a:avLst>
              <a:gd name="adj" fmla="val 806"/>
            </a:avLst>
          </a:prstGeom>
          <a:solidFill>
            <a:srgbClr val="1E293B"/>
          </a:solidFill>
          <a:ln/>
        </p:spPr>
      </p:sp>
      <p:sp>
        <p:nvSpPr>
          <p:cNvPr id="4" name="Text 2"/>
          <p:cNvSpPr/>
          <p:nvPr/>
        </p:nvSpPr>
        <p:spPr>
          <a:xfrm>
            <a:off x="1016000" y="17266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DNI_PATTERN = r"\b\d{8}\b"</a:t>
            </a:r>
            <a:endParaRPr lang="en-US" sz="1200" dirty="0"/>
          </a:p>
        </p:txBody>
      </p:sp>
      <p:sp>
        <p:nvSpPr>
          <p:cNvPr id="5" name="Text 3"/>
          <p:cNvSpPr/>
          <p:nvPr/>
        </p:nvSpPr>
        <p:spPr>
          <a:xfrm>
            <a:off x="1016000" y="21838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def contiene_dni(texto: str) -&gt; bool:</a:t>
            </a:r>
            <a:endParaRPr lang="en-US" sz="1200" dirty="0"/>
          </a:p>
        </p:txBody>
      </p:sp>
      <p:sp>
        <p:nvSpPr>
          <p:cNvPr id="6" name="Text 4"/>
          <p:cNvSpPr/>
          <p:nvPr/>
        </p:nvSpPr>
        <p:spPr>
          <a:xfrm>
            <a:off x="1016000" y="24124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5733"/>
                </a:solidFill>
                <a:latin typeface="IBM Plex Mono" pitchFamily="34" charset="0"/>
                <a:ea typeface="IBM Plex Mono" pitchFamily="34" charset="-122"/>
                <a:cs typeface="IBM Plex Mono" pitchFamily="34" charset="-120"/>
              </a:rPr>
              <a:t>    return bool(re.search(DNI_PATTERN, texto))</a:t>
            </a:r>
            <a:endParaRPr lang="en-US" sz="1200" dirty="0"/>
          </a:p>
        </p:txBody>
      </p:sp>
      <p:sp>
        <p:nvSpPr>
          <p:cNvPr id="7" name="Text 5"/>
          <p:cNvSpPr/>
          <p:nvPr/>
        </p:nvSpPr>
        <p:spPr>
          <a:xfrm>
            <a:off x="1016000" y="28696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def menciona_alguna(texto: str, palabras: list[str]) -&gt; bool:</a:t>
            </a:r>
            <a:endParaRPr lang="en-US" sz="1200" dirty="0"/>
          </a:p>
        </p:txBody>
      </p:sp>
      <p:sp>
        <p:nvSpPr>
          <p:cNvPr id="8" name="Text 6"/>
          <p:cNvSpPr/>
          <p:nvPr/>
        </p:nvSpPr>
        <p:spPr>
          <a:xfrm>
            <a:off x="1016000" y="30982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    lowered = texto.lower()</a:t>
            </a:r>
            <a:endParaRPr lang="en-US" sz="1200" dirty="0"/>
          </a:p>
        </p:txBody>
      </p:sp>
      <p:sp>
        <p:nvSpPr>
          <p:cNvPr id="9" name="Text 7"/>
          <p:cNvSpPr/>
          <p:nvPr/>
        </p:nvSpPr>
        <p:spPr>
          <a:xfrm>
            <a:off x="1016000" y="33268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    return any(p.lower() in lowered for p in palabras)</a:t>
            </a:r>
            <a:endParaRPr lang="en-US" sz="1200" dirty="0"/>
          </a:p>
        </p:txBody>
      </p:sp>
      <p:sp>
        <p:nvSpPr>
          <p:cNvPr id="10" name="Text 8"/>
          <p:cNvSpPr/>
          <p:nvPr/>
        </p:nvSpPr>
        <p:spPr>
          <a:xfrm>
            <a:off x="1016000" y="37840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def dice_no_existe(texto: str) -&gt; bool:</a:t>
            </a:r>
            <a:endParaRPr lang="en-US" sz="1200" dirty="0"/>
          </a:p>
        </p:txBody>
      </p:sp>
      <p:sp>
        <p:nvSpPr>
          <p:cNvPr id="11" name="Text 9"/>
          <p:cNvSpPr/>
          <p:nvPr/>
        </p:nvSpPr>
        <p:spPr>
          <a:xfrm>
            <a:off x="1016000" y="40126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    return menciona_alguna(texto, ["no existe", "no está registrad",</a:t>
            </a:r>
            <a:endParaRPr lang="en-US" sz="1200" dirty="0"/>
          </a:p>
        </p:txBody>
      </p:sp>
      <p:sp>
        <p:nvSpPr>
          <p:cNvPr id="12" name="Text 10"/>
          <p:cNvSpPr/>
          <p:nvPr/>
        </p:nvSpPr>
        <p:spPr>
          <a:xfrm>
            <a:off x="1016000" y="4241205"/>
            <a:ext cx="6645148" cy="254000"/>
          </a:xfrm>
          <a:prstGeom prst="rect">
            <a:avLst/>
          </a:prstGeom>
          <a:noFill/>
          <a:ln/>
        </p:spPr>
        <p:txBody>
          <a:bodyPr wrap="none" lIns="0" tIns="0" rIns="0" bIns="0" rtlCol="0" anchor="t">
            <a:normAutofit/>
          </a:bodyPr>
          <a:lstStyle/>
          <a:p>
            <a:pPr algn="l" indent="0" marL="0">
              <a:lnSpc>
                <a:spcPts val="1800"/>
              </a:lnSpc>
              <a:buNone/>
            </a:pPr>
            <a:r>
              <a:rPr lang="en-US" sz="1200" dirty="0">
                <a:solidFill>
                  <a:srgbClr val="FFFFFF"/>
                </a:solidFill>
                <a:latin typeface="IBM Plex Mono" pitchFamily="34" charset="0"/>
                <a:ea typeface="IBM Plex Mono" pitchFamily="34" charset="-122"/>
                <a:cs typeface="IBM Plex Mono" pitchFamily="34" charset="-120"/>
              </a:rPr>
              <a:t>                                   "no se encontr", "verifica el número"])</a:t>
            </a:r>
            <a:endParaRPr lang="en-US" sz="1200" dirty="0"/>
          </a:p>
        </p:txBody>
      </p:sp>
      <p:sp>
        <p:nvSpPr>
          <p:cNvPr id="13" name="Text 11"/>
          <p:cNvSpPr/>
          <p:nvPr/>
        </p:nvSpPr>
        <p:spPr>
          <a:xfrm>
            <a:off x="7874000" y="1523405"/>
            <a:ext cx="3610356"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Qué comprueba cada una</a:t>
            </a:r>
            <a:endParaRPr lang="en-US" sz="1600" dirty="0"/>
          </a:p>
        </p:txBody>
      </p:sp>
      <p:sp>
        <p:nvSpPr>
          <p:cNvPr id="14" name="Text 12"/>
          <p:cNvSpPr/>
          <p:nvPr/>
        </p:nvSpPr>
        <p:spPr>
          <a:xfrm>
            <a:off x="7874000" y="1860649"/>
            <a:ext cx="3610356" cy="1234380"/>
          </a:xfrm>
          <a:prstGeom prst="rect">
            <a:avLst/>
          </a:prstGeom>
          <a:noFill/>
          <a:ln/>
        </p:spPr>
        <p:txBody>
          <a:bodyPr wrap="square" lIns="0" tIns="0" rIns="0" bIns="0" rtlCol="0" anchor="t">
            <a:normAutofit/>
          </a:bodyPr>
          <a:lstStyle/>
          <a:p>
            <a:pPr algn="l" marL="213360" indent="-175768">
              <a:lnSpc>
                <a:spcPts val="1904"/>
              </a:lnSpc>
              <a:buSzPct val="100000"/>
              <a:buChar char="•"/>
            </a:pPr>
            <a:r>
              <a:rPr lang="en-US" sz="1400" b="1" dirty="0">
                <a:solidFill>
                  <a:srgbClr val="1E293B"/>
                </a:solidFill>
                <a:latin typeface="IBM Plex Sans" pitchFamily="34" charset="0"/>
                <a:ea typeface="IBM Plex Sans" pitchFamily="34" charset="-122"/>
                <a:cs typeface="IBM Plex Sans" pitchFamily="34" charset="-120"/>
              </a:rPr>
              <a:t>contiene_dni</a:t>
            </a:r>
            <a:r>
              <a:rPr lang="en-US" sz="1400" dirty="0">
                <a:solidFill>
                  <a:srgbClr val="1E293B"/>
                </a:solidFill>
                <a:latin typeface="IBM Plex Sans" pitchFamily="34" charset="0"/>
                <a:ea typeface="IBM Plex Sans" pitchFamily="34" charset="-122"/>
                <a:cs typeface="IBM Plex Sans" pitchFamily="34" charset="-120"/>
              </a:rPr>
              <a:t>: 8 dígitos sin enmascarar</a:t>
            </a:r>
            <a:endParaRPr lang="en-US" sz="1400" dirty="0"/>
          </a:p>
          <a:p>
            <a:pPr algn="l" marL="213360" indent="-175768">
              <a:lnSpc>
                <a:spcPts val="1904"/>
              </a:lnSpc>
              <a:buSzPct val="100000"/>
              <a:buChar char="•"/>
            </a:pPr>
            <a:r>
              <a:rPr lang="en-US" sz="1400" b="1" dirty="0">
                <a:solidFill>
                  <a:srgbClr val="1E293B"/>
                </a:solidFill>
                <a:latin typeface="IBM Plex Sans" pitchFamily="34" charset="0"/>
                <a:ea typeface="IBM Plex Sans" pitchFamily="34" charset="-122"/>
                <a:cs typeface="IBM Plex Sans" pitchFamily="34" charset="-120"/>
              </a:rPr>
              <a:t>contiene_tarjeta_completa</a:t>
            </a:r>
            <a:r>
              <a:rPr lang="en-US" sz="1400" dirty="0">
                <a:solidFill>
                  <a:srgbClr val="1E293B"/>
                </a:solidFill>
                <a:latin typeface="IBM Plex Sans" pitchFamily="34" charset="0"/>
                <a:ea typeface="IBM Plex Sans" pitchFamily="34" charset="-122"/>
                <a:cs typeface="IBM Plex Sans" pitchFamily="34" charset="-120"/>
              </a:rPr>
              <a:t>: 16 dígitos</a:t>
            </a:r>
            <a:endParaRPr lang="en-US" sz="1400" dirty="0"/>
          </a:p>
          <a:p>
            <a:pPr algn="l" marL="213360" indent="-175768">
              <a:lnSpc>
                <a:spcPts val="1904"/>
              </a:lnSpc>
              <a:buSzPct val="100000"/>
              <a:buChar char="•"/>
            </a:pPr>
            <a:r>
              <a:rPr lang="en-US" sz="1400" b="1" dirty="0">
                <a:solidFill>
                  <a:srgbClr val="1E293B"/>
                </a:solidFill>
                <a:latin typeface="IBM Plex Sans" pitchFamily="34" charset="0"/>
                <a:ea typeface="IBM Plex Sans" pitchFamily="34" charset="-122"/>
                <a:cs typeface="IBM Plex Sans" pitchFamily="34" charset="-120"/>
              </a:rPr>
              <a:t>menciona_alguna</a:t>
            </a:r>
            <a:r>
              <a:rPr lang="en-US" sz="1400" dirty="0">
                <a:solidFill>
                  <a:srgbClr val="1E293B"/>
                </a:solidFill>
                <a:latin typeface="IBM Plex Sans" pitchFamily="34" charset="0"/>
                <a:ea typeface="IBM Plex Sans" pitchFamily="34" charset="-122"/>
                <a:cs typeface="IBM Plex Sans" pitchFamily="34" charset="-120"/>
              </a:rPr>
              <a:t>: una palabra clave</a:t>
            </a:r>
            <a:endParaRPr lang="en-US" sz="1400" dirty="0"/>
          </a:p>
          <a:p>
            <a:pPr algn="l" marL="213360" indent="-175768">
              <a:lnSpc>
                <a:spcPts val="1904"/>
              </a:lnSpc>
              <a:buSzPct val="100000"/>
              <a:buChar char="•"/>
            </a:pPr>
            <a:r>
              <a:rPr lang="en-US" sz="1400" b="1" dirty="0">
                <a:solidFill>
                  <a:srgbClr val="1E293B"/>
                </a:solidFill>
                <a:latin typeface="IBM Plex Sans" pitchFamily="34" charset="0"/>
                <a:ea typeface="IBM Plex Sans" pitchFamily="34" charset="-122"/>
                <a:cs typeface="IBM Plex Sans" pitchFamily="34" charset="-120"/>
              </a:rPr>
              <a:t>no_esta_vacia</a:t>
            </a:r>
            <a:r>
              <a:rPr lang="en-US" sz="1400" dirty="0">
                <a:solidFill>
                  <a:srgbClr val="1E293B"/>
                </a:solidFill>
                <a:latin typeface="IBM Plex Sans" pitchFamily="34" charset="0"/>
                <a:ea typeface="IBM Plex Sans" pitchFamily="34" charset="-122"/>
                <a:cs typeface="IBM Plex Sans" pitchFamily="34" charset="-120"/>
              </a:rPr>
              <a:t>: hay contenido</a:t>
            </a:r>
            <a:endParaRPr lang="en-US" sz="1400" dirty="0"/>
          </a:p>
          <a:p>
            <a:pPr algn="l" marL="213360" indent="-175768">
              <a:lnSpc>
                <a:spcPts val="1904"/>
              </a:lnSpc>
              <a:buSzPct val="100000"/>
              <a:buChar char="•"/>
            </a:pPr>
            <a:r>
              <a:rPr lang="en-US" sz="1400" b="1" dirty="0">
                <a:solidFill>
                  <a:srgbClr val="1E293B"/>
                </a:solidFill>
                <a:latin typeface="IBM Plex Sans" pitchFamily="34" charset="0"/>
                <a:ea typeface="IBM Plex Sans" pitchFamily="34" charset="-122"/>
                <a:cs typeface="IBM Plex Sans" pitchFamily="34" charset="-120"/>
              </a:rPr>
              <a:t>dice_no_existe</a:t>
            </a:r>
            <a:r>
              <a:rPr lang="en-US" sz="1400" dirty="0">
                <a:solidFill>
                  <a:srgbClr val="1E293B"/>
                </a:solidFill>
                <a:latin typeface="IBM Plex Sans" pitchFamily="34" charset="0"/>
                <a:ea typeface="IBM Plex Sans" pitchFamily="34" charset="-122"/>
                <a:cs typeface="IBM Plex Sans" pitchFamily="34" charset="-120"/>
              </a:rPr>
              <a:t>: reconoce que no existe</a:t>
            </a:r>
            <a:endParaRPr lang="en-US" sz="1400" dirty="0"/>
          </a:p>
        </p:txBody>
      </p:sp>
      <p:sp>
        <p:nvSpPr>
          <p:cNvPr id="15" name="Text 13"/>
          <p:cNvSpPr/>
          <p:nvPr/>
        </p:nvSpPr>
        <p:spPr>
          <a:xfrm>
            <a:off x="812800" y="4876205"/>
            <a:ext cx="10883392" cy="235645"/>
          </a:xfrm>
          <a:prstGeom prst="rect">
            <a:avLst/>
          </a:prstGeom>
          <a:noFill/>
          <a:ln/>
        </p:spPr>
        <p:txBody>
          <a:bodyPr wrap="square" lIns="0" tIns="0" rIns="0" bIns="0" rtlCol="0" anchor="t">
            <a:normAutofit/>
          </a:bodyPr>
          <a:lstStyle/>
          <a:p>
            <a:pPr algn="l" indent="0" marL="0">
              <a:lnSpc>
                <a:spcPts val="1656"/>
              </a:lnSpc>
              <a:buNone/>
            </a:pPr>
            <a:r>
              <a:rPr lang="en-US" sz="1200" dirty="0">
                <a:solidFill>
                  <a:srgbClr val="526277"/>
                </a:solidFill>
                <a:latin typeface="IBM Plex Sans" pitchFamily="34" charset="0"/>
                <a:ea typeface="IBM Plex Sans" pitchFamily="34" charset="-122"/>
                <a:cs typeface="IBM Plex Sans" pitchFamily="34" charset="-120"/>
              </a:rPr>
              <a:t>Extracto de solucion/telecomunicaciones/tests/invariantes.py, sin docstrings</a:t>
            </a:r>
            <a:endParaRPr lang="en-US" sz="1200" dirty="0"/>
          </a:p>
        </p:txBody>
      </p:sp>
      <p:sp>
        <p:nvSpPr>
          <p:cNvPr id="16"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07 / 23</a:t>
            </a:r>
            <a:endParaRPr lang="en-US" sz="1200" dirty="0"/>
          </a:p>
        </p:txBody>
      </p:sp>
      <p:pic>
        <p:nvPicPr>
          <p:cNvPr id="17"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L6 frente a L7: cambia el adversario</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386707"/>
        </p:xfrm>
        <a:graphic>
          <a:graphicData uri="http://schemas.openxmlformats.org/drawingml/2006/table">
            <a:tbl>
              <a:tblPr/>
              <a:tblGrid>
                <a:gridCol w="2110740"/>
                <a:gridCol w="4010406"/>
                <a:gridCol w="4432554"/>
              </a:tblGrid>
              <a:tr h="35927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L6 · Guardrails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L7 · Estrés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Amenaza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Un adversario deliberado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mundo real sin malicia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590352">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Ejemplos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Inyección, exfiltración de PII, acción prohibida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servicio cae, el dato no existe, dos preguntas a la vez, respuesta malformada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Instrumento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Batería de 15 ataques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CHAOS_RATE=0.1 en el simulador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Criterio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0 filtraciones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 10 casos borde documentados y resueltos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Quién lo provoca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alumno, a propósito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docente, de forma aleatoria y anunciada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412601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adversario de hoy es el entorno, y lo activa el docente.</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08 / 23</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Dónde se rompe el bucle</a:t>
            </a:r>
            <a:endParaRPr lang="en-US" sz="3600" dirty="0"/>
          </a:p>
        </p:txBody>
      </p:sp>
      <p:pic>
        <p:nvPicPr>
          <p:cNvPr id="3" name="Image 0" descr="Agentic Loop: Usuario, Agente con LLM, Runtime y Tool, API externa y límite de iteraciones">    </p:cNvPr>
          <p:cNvPicPr>
            <a:picLocks noChangeAspect="1"/>
          </p:cNvPicPr>
          <p:nvPr/>
        </p:nvPicPr>
        <p:blipFill>
          <a:blip r:embed="rId1"/>
          <a:srcRect l="0" r="0" t="-5" b="-5"/>
          <a:stretch/>
        </p:blipFill>
        <p:spPr>
          <a:xfrm>
            <a:off x="2711450" y="1473200"/>
            <a:ext cx="6769100" cy="3810000"/>
          </a:xfrm>
          <a:prstGeom prst="rect">
            <a:avLst/>
          </a:prstGeom>
        </p:spPr>
      </p:pic>
      <p:sp>
        <p:nvSpPr>
          <p:cNvPr id="4" name="Shape 1"/>
          <p:cNvSpPr/>
          <p:nvPr/>
        </p:nvSpPr>
        <p:spPr>
          <a:xfrm>
            <a:off x="3921125" y="3121025"/>
            <a:ext cx="336550" cy="336550"/>
          </a:xfrm>
          <a:prstGeom prst="roundRect">
            <a:avLst>
              <a:gd name="adj" fmla="val 50000"/>
            </a:avLst>
          </a:prstGeom>
          <a:solidFill>
            <a:srgbClr val="1E293B"/>
          </a:solidFill>
          <a:ln w="19050">
            <a:solidFill>
              <a:srgbClr val="FFFFFF"/>
            </a:solidFill>
            <a:prstDash val="solid"/>
          </a:ln>
        </p:spPr>
      </p:sp>
      <p:sp>
        <p:nvSpPr>
          <p:cNvPr id="5" name="Text 2"/>
          <p:cNvSpPr/>
          <p:nvPr/>
        </p:nvSpPr>
        <p:spPr>
          <a:xfrm>
            <a:off x="4036020" y="3181747"/>
            <a:ext cx="15755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FFFFFF"/>
                </a:solidFill>
                <a:latin typeface="IBM Plex Sans" pitchFamily="34" charset="0"/>
                <a:ea typeface="IBM Plex Sans" pitchFamily="34" charset="-122"/>
                <a:cs typeface="IBM Plex Sans" pitchFamily="34" charset="-120"/>
              </a:rPr>
              <a:t>1</a:t>
            </a:r>
            <a:endParaRPr lang="en-US" sz="1400" dirty="0"/>
          </a:p>
        </p:txBody>
      </p:sp>
      <p:sp>
        <p:nvSpPr>
          <p:cNvPr id="6" name="Shape 3"/>
          <p:cNvSpPr/>
          <p:nvPr/>
        </p:nvSpPr>
        <p:spPr>
          <a:xfrm>
            <a:off x="5165725" y="2771775"/>
            <a:ext cx="336550" cy="336550"/>
          </a:xfrm>
          <a:prstGeom prst="roundRect">
            <a:avLst>
              <a:gd name="adj" fmla="val 50000"/>
            </a:avLst>
          </a:prstGeom>
          <a:solidFill>
            <a:srgbClr val="1E293B"/>
          </a:solidFill>
          <a:ln w="19050">
            <a:solidFill>
              <a:srgbClr val="FFFFFF"/>
            </a:solidFill>
            <a:prstDash val="solid"/>
          </a:ln>
        </p:spPr>
      </p:sp>
      <p:sp>
        <p:nvSpPr>
          <p:cNvPr id="7" name="Text 4"/>
          <p:cNvSpPr/>
          <p:nvPr/>
        </p:nvSpPr>
        <p:spPr>
          <a:xfrm>
            <a:off x="5280620" y="2832497"/>
            <a:ext cx="15755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FFFFFF"/>
                </a:solidFill>
                <a:latin typeface="IBM Plex Sans" pitchFamily="34" charset="0"/>
                <a:ea typeface="IBM Plex Sans" pitchFamily="34" charset="-122"/>
                <a:cs typeface="IBM Plex Sans" pitchFamily="34" charset="-120"/>
              </a:rPr>
              <a:t>4</a:t>
            </a:r>
            <a:endParaRPr lang="en-US" sz="1400" dirty="0"/>
          </a:p>
        </p:txBody>
      </p:sp>
      <p:sp>
        <p:nvSpPr>
          <p:cNvPr id="8" name="Shape 5"/>
          <p:cNvSpPr/>
          <p:nvPr/>
        </p:nvSpPr>
        <p:spPr>
          <a:xfrm>
            <a:off x="7616825" y="2771775"/>
            <a:ext cx="336550" cy="336550"/>
          </a:xfrm>
          <a:prstGeom prst="roundRect">
            <a:avLst>
              <a:gd name="adj" fmla="val 50000"/>
            </a:avLst>
          </a:prstGeom>
          <a:solidFill>
            <a:srgbClr val="1E293B"/>
          </a:solidFill>
          <a:ln w="19050">
            <a:solidFill>
              <a:srgbClr val="FFFFFF"/>
            </a:solidFill>
            <a:prstDash val="solid"/>
          </a:ln>
        </p:spPr>
      </p:sp>
      <p:sp>
        <p:nvSpPr>
          <p:cNvPr id="9" name="Text 6"/>
          <p:cNvSpPr/>
          <p:nvPr/>
        </p:nvSpPr>
        <p:spPr>
          <a:xfrm>
            <a:off x="7731720" y="2832497"/>
            <a:ext cx="15755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FFFFFF"/>
                </a:solidFill>
                <a:latin typeface="IBM Plex Sans" pitchFamily="34" charset="0"/>
                <a:ea typeface="IBM Plex Sans" pitchFamily="34" charset="-122"/>
                <a:cs typeface="IBM Plex Sans" pitchFamily="34" charset="-120"/>
              </a:rPr>
              <a:t>2</a:t>
            </a:r>
            <a:endParaRPr lang="en-US" sz="1400" dirty="0"/>
          </a:p>
        </p:txBody>
      </p:sp>
      <p:sp>
        <p:nvSpPr>
          <p:cNvPr id="10" name="Shape 7"/>
          <p:cNvSpPr/>
          <p:nvPr/>
        </p:nvSpPr>
        <p:spPr>
          <a:xfrm>
            <a:off x="9134475" y="2771775"/>
            <a:ext cx="336550" cy="336550"/>
          </a:xfrm>
          <a:prstGeom prst="roundRect">
            <a:avLst>
              <a:gd name="adj" fmla="val 50000"/>
            </a:avLst>
          </a:prstGeom>
          <a:solidFill>
            <a:srgbClr val="1E293B"/>
          </a:solidFill>
          <a:ln w="19050">
            <a:solidFill>
              <a:srgbClr val="FFFFFF"/>
            </a:solidFill>
            <a:prstDash val="solid"/>
          </a:ln>
        </p:spPr>
      </p:sp>
      <p:sp>
        <p:nvSpPr>
          <p:cNvPr id="11" name="Text 8"/>
          <p:cNvSpPr/>
          <p:nvPr/>
        </p:nvSpPr>
        <p:spPr>
          <a:xfrm>
            <a:off x="9249370" y="2832497"/>
            <a:ext cx="157559" cy="240506"/>
          </a:xfrm>
          <a:prstGeom prst="rect">
            <a:avLst/>
          </a:prstGeom>
          <a:noFill/>
          <a:ln/>
        </p:spPr>
        <p:txBody>
          <a:bodyPr wrap="square" lIns="0" tIns="0" rIns="0" bIns="0" rtlCol="0" anchor="t">
            <a:normAutofit/>
          </a:bodyPr>
          <a:lstStyle/>
          <a:p>
            <a:pPr algn="l" indent="0" marL="0">
              <a:lnSpc>
                <a:spcPts val="1694"/>
              </a:lnSpc>
              <a:buNone/>
            </a:pPr>
            <a:r>
              <a:rPr lang="en-US" sz="1400" b="1" dirty="0">
                <a:solidFill>
                  <a:srgbClr val="FFFFFF"/>
                </a:solidFill>
                <a:latin typeface="IBM Plex Sans" pitchFamily="34" charset="0"/>
                <a:ea typeface="IBM Plex Sans" pitchFamily="34" charset="-122"/>
                <a:cs typeface="IBM Plex Sans" pitchFamily="34" charset="-120"/>
              </a:rPr>
              <a:t>3</a:t>
            </a:r>
            <a:endParaRPr lang="en-US" sz="1400" dirty="0"/>
          </a:p>
        </p:txBody>
      </p:sp>
      <p:sp>
        <p:nvSpPr>
          <p:cNvPr id="12" name="Shape 9"/>
          <p:cNvSpPr/>
          <p:nvPr/>
        </p:nvSpPr>
        <p:spPr>
          <a:xfrm>
            <a:off x="2176165" y="5435600"/>
            <a:ext cx="279400" cy="279400"/>
          </a:xfrm>
          <a:prstGeom prst="roundRect">
            <a:avLst>
              <a:gd name="adj" fmla="val 50000"/>
            </a:avLst>
          </a:prstGeom>
          <a:solidFill>
            <a:srgbClr val="1E293B"/>
          </a:solidFill>
          <a:ln/>
        </p:spPr>
      </p:sp>
      <p:sp>
        <p:nvSpPr>
          <p:cNvPr id="13" name="Text 10"/>
          <p:cNvSpPr/>
          <p:nvPr/>
        </p:nvSpPr>
        <p:spPr>
          <a:xfrm>
            <a:off x="2270125" y="5480050"/>
            <a:ext cx="1422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IBM Plex Sans" pitchFamily="34" charset="0"/>
                <a:ea typeface="IBM Plex Sans" pitchFamily="34" charset="-122"/>
                <a:cs typeface="IBM Plex Sans" pitchFamily="34" charset="-120"/>
              </a:rPr>
              <a:t>1</a:t>
            </a:r>
            <a:endParaRPr lang="en-US" sz="1200" dirty="0"/>
          </a:p>
        </p:txBody>
      </p:sp>
      <p:sp>
        <p:nvSpPr>
          <p:cNvPr id="14" name="Text 11"/>
          <p:cNvSpPr/>
          <p:nvPr/>
        </p:nvSpPr>
        <p:spPr>
          <a:xfrm>
            <a:off x="2531765" y="5467747"/>
            <a:ext cx="143589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Entrada ambigua</a:t>
            </a:r>
            <a:endParaRPr lang="en-US" sz="1400" dirty="0"/>
          </a:p>
        </p:txBody>
      </p:sp>
      <p:sp>
        <p:nvSpPr>
          <p:cNvPr id="15" name="Shape 12"/>
          <p:cNvSpPr/>
          <p:nvPr/>
        </p:nvSpPr>
        <p:spPr>
          <a:xfrm>
            <a:off x="4221659" y="5435600"/>
            <a:ext cx="279400" cy="279400"/>
          </a:xfrm>
          <a:prstGeom prst="roundRect">
            <a:avLst>
              <a:gd name="adj" fmla="val 50000"/>
            </a:avLst>
          </a:prstGeom>
          <a:solidFill>
            <a:srgbClr val="1E293B"/>
          </a:solidFill>
          <a:ln/>
        </p:spPr>
      </p:sp>
      <p:sp>
        <p:nvSpPr>
          <p:cNvPr id="16" name="Text 13"/>
          <p:cNvSpPr/>
          <p:nvPr/>
        </p:nvSpPr>
        <p:spPr>
          <a:xfrm>
            <a:off x="4315619" y="5480050"/>
            <a:ext cx="1422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IBM Plex Sans" pitchFamily="34" charset="0"/>
                <a:ea typeface="IBM Plex Sans" pitchFamily="34" charset="-122"/>
                <a:cs typeface="IBM Plex Sans" pitchFamily="34" charset="-120"/>
              </a:rPr>
              <a:t>2</a:t>
            </a:r>
            <a:endParaRPr lang="en-US" sz="1200" dirty="0"/>
          </a:p>
        </p:txBody>
      </p:sp>
      <p:sp>
        <p:nvSpPr>
          <p:cNvPr id="17" name="Text 14"/>
          <p:cNvSpPr/>
          <p:nvPr/>
        </p:nvSpPr>
        <p:spPr>
          <a:xfrm>
            <a:off x="4577259" y="5467747"/>
            <a:ext cx="1128613"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Dato ausente</a:t>
            </a:r>
            <a:endParaRPr lang="en-US" sz="1400" dirty="0"/>
          </a:p>
        </p:txBody>
      </p:sp>
      <p:sp>
        <p:nvSpPr>
          <p:cNvPr id="18" name="Shape 15"/>
          <p:cNvSpPr/>
          <p:nvPr/>
        </p:nvSpPr>
        <p:spPr>
          <a:xfrm>
            <a:off x="5959872" y="5435600"/>
            <a:ext cx="279400" cy="279400"/>
          </a:xfrm>
          <a:prstGeom prst="roundRect">
            <a:avLst>
              <a:gd name="adj" fmla="val 50000"/>
            </a:avLst>
          </a:prstGeom>
          <a:solidFill>
            <a:srgbClr val="1E293B"/>
          </a:solidFill>
          <a:ln/>
        </p:spPr>
      </p:sp>
      <p:sp>
        <p:nvSpPr>
          <p:cNvPr id="19" name="Text 16"/>
          <p:cNvSpPr/>
          <p:nvPr/>
        </p:nvSpPr>
        <p:spPr>
          <a:xfrm>
            <a:off x="6053832" y="5480050"/>
            <a:ext cx="1422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IBM Plex Sans" pitchFamily="34" charset="0"/>
                <a:ea typeface="IBM Plex Sans" pitchFamily="34" charset="-122"/>
                <a:cs typeface="IBM Plex Sans" pitchFamily="34" charset="-120"/>
              </a:rPr>
              <a:t>3</a:t>
            </a:r>
            <a:endParaRPr lang="en-US" sz="1200" dirty="0"/>
          </a:p>
        </p:txBody>
      </p:sp>
      <p:sp>
        <p:nvSpPr>
          <p:cNvPr id="20" name="Text 17"/>
          <p:cNvSpPr/>
          <p:nvPr/>
        </p:nvSpPr>
        <p:spPr>
          <a:xfrm>
            <a:off x="6315472" y="5467747"/>
            <a:ext cx="1183779"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Servicio caído</a:t>
            </a:r>
            <a:endParaRPr lang="en-US" sz="1400" dirty="0"/>
          </a:p>
        </p:txBody>
      </p:sp>
      <p:sp>
        <p:nvSpPr>
          <p:cNvPr id="21" name="Shape 18"/>
          <p:cNvSpPr/>
          <p:nvPr/>
        </p:nvSpPr>
        <p:spPr>
          <a:xfrm>
            <a:off x="7753251" y="5435600"/>
            <a:ext cx="279400" cy="279400"/>
          </a:xfrm>
          <a:prstGeom prst="roundRect">
            <a:avLst>
              <a:gd name="adj" fmla="val 50000"/>
            </a:avLst>
          </a:prstGeom>
          <a:solidFill>
            <a:srgbClr val="1E293B"/>
          </a:solidFill>
          <a:ln/>
        </p:spPr>
      </p:sp>
      <p:sp>
        <p:nvSpPr>
          <p:cNvPr id="22" name="Text 19"/>
          <p:cNvSpPr/>
          <p:nvPr/>
        </p:nvSpPr>
        <p:spPr>
          <a:xfrm>
            <a:off x="7847211" y="5480050"/>
            <a:ext cx="142280" cy="215900"/>
          </a:xfrm>
          <a:prstGeom prst="rect">
            <a:avLst/>
          </a:prstGeom>
          <a:noFill/>
          <a:ln/>
        </p:spPr>
        <p:txBody>
          <a:bodyPr wrap="square" lIns="0" tIns="0" rIns="0" bIns="0" rtlCol="0" anchor="t">
            <a:normAutofit/>
          </a:bodyPr>
          <a:lstStyle/>
          <a:p>
            <a:pPr algn="l" indent="0" marL="0">
              <a:lnSpc>
                <a:spcPts val="1500"/>
              </a:lnSpc>
              <a:buNone/>
            </a:pPr>
            <a:r>
              <a:rPr lang="en-US" sz="1200" b="1" dirty="0">
                <a:solidFill>
                  <a:srgbClr val="FFFFFF"/>
                </a:solidFill>
                <a:latin typeface="IBM Plex Sans" pitchFamily="34" charset="0"/>
                <a:ea typeface="IBM Plex Sans" pitchFamily="34" charset="-122"/>
                <a:cs typeface="IBM Plex Sans" pitchFamily="34" charset="-120"/>
              </a:rPr>
              <a:t>4</a:t>
            </a:r>
            <a:endParaRPr lang="en-US" sz="1200" dirty="0"/>
          </a:p>
        </p:txBody>
      </p:sp>
      <p:sp>
        <p:nvSpPr>
          <p:cNvPr id="23" name="Text 20"/>
          <p:cNvSpPr/>
          <p:nvPr/>
        </p:nvSpPr>
        <p:spPr>
          <a:xfrm>
            <a:off x="8108851" y="5467747"/>
            <a:ext cx="1964194"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Salida fuera de formato</a:t>
            </a:r>
            <a:endParaRPr lang="en-US" sz="1400" dirty="0"/>
          </a:p>
        </p:txBody>
      </p:sp>
      <p:sp>
        <p:nvSpPr>
          <p:cNvPr id="24" name="Text 2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09 / 23</a:t>
            </a:r>
            <a:endParaRPr lang="en-US" sz="1200" dirty="0"/>
          </a:p>
        </p:txBody>
      </p:sp>
      <p:pic>
        <p:nvPicPr>
          <p:cNvPr id="25"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Los 6 fallos inyectables del simulador</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514898"/>
        </p:xfrm>
        <a:graphic>
          <a:graphicData uri="http://schemas.openxmlformats.org/drawingml/2006/table">
            <a:tbl>
              <a:tblPr/>
              <a:tblGrid>
                <a:gridCol w="2110740"/>
                <a:gridCol w="5910072"/>
                <a:gridCol w="2532888"/>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Fallo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hace el simulador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Al azar con CHAOS_RATE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timeout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Tarda 30 s; el cliente debe cortar por timeout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error500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Devuelve 500 Internal Server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error503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Devuelve 503 Service Unavailable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Sí</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lento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Responde bien, pero tarda 5 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Sí</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vacio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Responde 200 con un cuerpo vacío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malformado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Responde 200 con un JSON que no cumple el contrato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4" name="Text 1"/>
          <p:cNvSpPr/>
          <p:nvPr/>
        </p:nvSpPr>
        <p:spPr>
          <a:xfrm>
            <a:off x="812800" y="4254202"/>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Forzar uno: </a:t>
            </a:r>
            <a:r>
              <a:rPr lang="en-US" sz="1400" b="1" dirty="0">
                <a:solidFill>
                  <a:srgbClr val="1E293B"/>
                </a:solidFill>
                <a:latin typeface="IBM Plex Sans" pitchFamily="34" charset="0"/>
                <a:ea typeface="IBM Plex Sans" pitchFamily="34" charset="-122"/>
                <a:cs typeface="IBM Plex Sans" pitchFamily="34" charset="-120"/>
              </a:rPr>
              <a:t>?_fallo=&lt;nombre&gt;</a:t>
            </a:r>
            <a:r>
              <a:rPr lang="en-US" sz="1400" dirty="0">
                <a:solidFill>
                  <a:srgbClr val="1E293B"/>
                </a:solidFill>
                <a:latin typeface="IBM Plex Sans" pitchFamily="34" charset="0"/>
                <a:ea typeface="IBM Plex Sans" pitchFamily="34" charset="-122"/>
                <a:cs typeface="IBM Plex Sans" pitchFamily="34" charset="-120"/>
              </a:rPr>
              <a:t> contra cualquier endpoint del simulador.</a:t>
            </a:r>
            <a:endParaRPr lang="en-US" sz="1400" dirty="0"/>
          </a:p>
        </p:txBody>
      </p:sp>
      <p:sp>
        <p:nvSpPr>
          <p:cNvPr id="5" name="Text 2"/>
          <p:cNvSpPr/>
          <p:nvPr/>
        </p:nvSpPr>
        <p:spPr>
          <a:xfrm>
            <a:off x="812800" y="4699198"/>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malformado es el JSON del servicio. La familia 4 es la salida del modelo fuera del esquema.</a:t>
            </a:r>
            <a:endParaRPr lang="en-US" sz="1400" dirty="0"/>
          </a:p>
        </p:txBody>
      </p:sp>
      <p:sp>
        <p:nvSpPr>
          <p:cNvPr id="6"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10 / 23</a:t>
            </a:r>
            <a:endParaRPr lang="en-US" sz="1200" dirty="0"/>
          </a:p>
        </p:txBody>
      </p:sp>
      <p:pic>
        <p:nvPicPr>
          <p:cNvPr id="7"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Entrada ambigua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796355"/>
        </p:xfrm>
        <a:graphic>
          <a:graphicData uri="http://schemas.openxmlformats.org/drawingml/2006/table">
            <a:tbl>
              <a:tblPr/>
              <a:tblGrid>
                <a:gridCol w="2532888"/>
                <a:gridCol w="8020812"/>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Dos intenciones en un turno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Telecomunicaciones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«Quiero saber cuánto he consumido y también reclamar porque se me cortó el internet»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Banca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«Muéstrame mis movimientos y de paso dime si el último es sospechoso»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Retail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«¿Dónde está mi pedido? Y si llegó dañado, quiero devolverlo ya»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Seguros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«¿Mi SOAT está vigente? Choqué ayer y no sé si reportarlo»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4" name="Text 1"/>
          <p:cNvSpPr/>
          <p:nvPr/>
        </p:nvSpPr>
        <p:spPr>
          <a:xfrm>
            <a:off x="812800" y="3535660"/>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Sans" pitchFamily="34" charset="0"/>
                <a:ea typeface="IBM Plex Sans" pitchFamily="34" charset="-122"/>
                <a:cs typeface="IBM Plex Sans" pitchFamily="34" charset="-120"/>
              </a:rPr>
              <a:t>Invariante del checkpoint: </a:t>
            </a:r>
            <a:r>
              <a:rPr lang="en-US" sz="1400" b="1" dirty="0">
                <a:solidFill>
                  <a:srgbClr val="1E293B"/>
                </a:solidFill>
                <a:latin typeface="IBM Plex Sans" pitchFamily="34" charset="0"/>
                <a:ea typeface="IBM Plex Sans" pitchFamily="34" charset="-122"/>
                <a:cs typeface="IBM Plex Sans" pitchFamily="34" charset="-120"/>
              </a:rPr>
              <a:t>no_esta_vacia(r)</a:t>
            </a:r>
            <a:r>
              <a:rPr lang="en-US" sz="1400" dirty="0">
                <a:solidFill>
                  <a:srgbClr val="1E293B"/>
                </a:solidFill>
                <a:latin typeface="IBM Plex Sans" pitchFamily="34" charset="0"/>
                <a:ea typeface="IBM Plex Sans" pitchFamily="34" charset="-122"/>
                <a:cs typeface="IBM Plex Sans" pitchFamily="34" charset="-120"/>
              </a:rPr>
              <a:t>. El agente responde con contenido; no se queda en blanco ni revienta.</a:t>
            </a:r>
            <a:endParaRPr lang="en-US" sz="1400" dirty="0"/>
          </a:p>
        </p:txBody>
      </p:sp>
      <p:sp>
        <p:nvSpPr>
          <p:cNvPr id="5" name="Shape 2"/>
          <p:cNvSpPr/>
          <p:nvPr/>
        </p:nvSpPr>
        <p:spPr>
          <a:xfrm>
            <a:off x="825500" y="1536700"/>
            <a:ext cx="2463800" cy="457200"/>
          </a:xfrm>
          <a:prstGeom prst="roundRect">
            <a:avLst>
              <a:gd name="adj" fmla="val 19444"/>
            </a:avLst>
          </a:prstGeom>
          <a:solidFill>
            <a:srgbClr val="FFF0EB"/>
          </a:solidFill>
          <a:ln w="25400">
            <a:solidFill>
              <a:srgbClr val="FF5733"/>
            </a:solidFill>
            <a:prstDash val="solid"/>
          </a:ln>
        </p:spPr>
      </p:sp>
      <p:sp>
        <p:nvSpPr>
          <p:cNvPr id="6" name="Text 3"/>
          <p:cNvSpPr/>
          <p:nvPr/>
        </p:nvSpPr>
        <p:spPr>
          <a:xfrm>
            <a:off x="1202630" y="1657747"/>
            <a:ext cx="1709539"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1 · Entrada ambigua</a:t>
            </a:r>
            <a:endParaRPr lang="en-US" sz="1400" dirty="0"/>
          </a:p>
        </p:txBody>
      </p:sp>
      <p:sp>
        <p:nvSpPr>
          <p:cNvPr id="7" name="Shape 4"/>
          <p:cNvSpPr/>
          <p:nvPr/>
        </p:nvSpPr>
        <p:spPr>
          <a:xfrm>
            <a:off x="3511550" y="1530350"/>
            <a:ext cx="2476500" cy="469900"/>
          </a:xfrm>
          <a:prstGeom prst="roundRect">
            <a:avLst>
              <a:gd name="adj" fmla="val 20270"/>
            </a:avLst>
          </a:prstGeom>
          <a:solidFill>
            <a:srgbClr val="FFFFFF"/>
          </a:solidFill>
          <a:ln w="12700">
            <a:solidFill>
              <a:srgbClr val="1E293B"/>
            </a:solidFill>
            <a:prstDash val="solid"/>
          </a:ln>
        </p:spPr>
      </p:sp>
      <p:sp>
        <p:nvSpPr>
          <p:cNvPr id="8" name="Text 5"/>
          <p:cNvSpPr/>
          <p:nvPr/>
        </p:nvSpPr>
        <p:spPr>
          <a:xfrm>
            <a:off x="4059932" y="1657747"/>
            <a:ext cx="137963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Dato ausente</a:t>
            </a:r>
            <a:endParaRPr lang="en-US" sz="1400" dirty="0"/>
          </a:p>
        </p:txBody>
      </p:sp>
      <p:sp>
        <p:nvSpPr>
          <p:cNvPr id="9" name="Shape 6"/>
          <p:cNvSpPr/>
          <p:nvPr/>
        </p:nvSpPr>
        <p:spPr>
          <a:xfrm>
            <a:off x="6203950" y="1530350"/>
            <a:ext cx="2476500" cy="469900"/>
          </a:xfrm>
          <a:prstGeom prst="roundRect">
            <a:avLst>
              <a:gd name="adj" fmla="val 20270"/>
            </a:avLst>
          </a:prstGeom>
          <a:solidFill>
            <a:srgbClr val="FFFFFF"/>
          </a:solidFill>
          <a:ln w="12700">
            <a:solidFill>
              <a:srgbClr val="1E293B"/>
            </a:solidFill>
            <a:prstDash val="solid"/>
          </a:ln>
        </p:spPr>
      </p:sp>
      <p:sp>
        <p:nvSpPr>
          <p:cNvPr id="10" name="Text 7"/>
          <p:cNvSpPr/>
          <p:nvPr/>
        </p:nvSpPr>
        <p:spPr>
          <a:xfrm>
            <a:off x="6724749" y="1657747"/>
            <a:ext cx="14348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Servicio caído</a:t>
            </a:r>
            <a:endParaRPr lang="en-US" sz="1400" dirty="0"/>
          </a:p>
        </p:txBody>
      </p:sp>
      <p:sp>
        <p:nvSpPr>
          <p:cNvPr id="11" name="Shape 8"/>
          <p:cNvSpPr/>
          <p:nvPr/>
        </p:nvSpPr>
        <p:spPr>
          <a:xfrm>
            <a:off x="8896350" y="1530350"/>
            <a:ext cx="2476500" cy="469900"/>
          </a:xfrm>
          <a:prstGeom prst="roundRect">
            <a:avLst>
              <a:gd name="adj" fmla="val 20270"/>
            </a:avLst>
          </a:prstGeom>
          <a:solidFill>
            <a:srgbClr val="FFFFFF"/>
          </a:solidFill>
          <a:ln w="12700">
            <a:solidFill>
              <a:srgbClr val="1E293B"/>
            </a:solidFill>
            <a:prstDash val="solid"/>
          </a:ln>
        </p:spPr>
      </p:sp>
      <p:sp>
        <p:nvSpPr>
          <p:cNvPr id="12" name="Text 9"/>
          <p:cNvSpPr/>
          <p:nvPr/>
        </p:nvSpPr>
        <p:spPr>
          <a:xfrm>
            <a:off x="9285288" y="1657747"/>
            <a:ext cx="16985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Fuera de formato</a:t>
            </a:r>
            <a:endParaRPr lang="en-US" sz="1400" dirty="0"/>
          </a:p>
        </p:txBody>
      </p:sp>
      <p:sp>
        <p:nvSpPr>
          <p:cNvPr id="13" name="Text 10"/>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11 / 23</a:t>
            </a:r>
            <a:endParaRPr lang="en-US" sz="1200" dirty="0"/>
          </a:p>
        </p:txBody>
      </p:sp>
      <p:pic>
        <p:nvPicPr>
          <p:cNvPr id="14"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Dato ausente en el turno 4</a:t>
            </a:r>
            <a:endParaRPr lang="en-US" sz="3600" dirty="0"/>
          </a:p>
        </p:txBody>
      </p:sp>
      <p:sp>
        <p:nvSpPr>
          <p:cNvPr id="3" name="Shape 1"/>
          <p:cNvSpPr/>
          <p:nvPr/>
        </p:nvSpPr>
        <p:spPr>
          <a:xfrm>
            <a:off x="819150" y="1530350"/>
            <a:ext cx="2476500" cy="469900"/>
          </a:xfrm>
          <a:prstGeom prst="roundRect">
            <a:avLst>
              <a:gd name="adj" fmla="val 20270"/>
            </a:avLst>
          </a:prstGeom>
          <a:solidFill>
            <a:srgbClr val="FFFFFF"/>
          </a:solidFill>
          <a:ln w="12700">
            <a:solidFill>
              <a:srgbClr val="1E293B"/>
            </a:solidFill>
            <a:prstDash val="solid"/>
          </a:ln>
        </p:spPr>
      </p:sp>
      <p:sp>
        <p:nvSpPr>
          <p:cNvPr id="4" name="Text 2"/>
          <p:cNvSpPr/>
          <p:nvPr/>
        </p:nvSpPr>
        <p:spPr>
          <a:xfrm>
            <a:off x="1213941" y="1657747"/>
            <a:ext cx="168691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Entrada ambigua</a:t>
            </a:r>
            <a:endParaRPr lang="en-US" sz="1400" dirty="0"/>
          </a:p>
        </p:txBody>
      </p:sp>
      <p:sp>
        <p:nvSpPr>
          <p:cNvPr id="5" name="Shape 3"/>
          <p:cNvSpPr/>
          <p:nvPr/>
        </p:nvSpPr>
        <p:spPr>
          <a:xfrm>
            <a:off x="3517900" y="1536700"/>
            <a:ext cx="2463800" cy="457200"/>
          </a:xfrm>
          <a:prstGeom prst="roundRect">
            <a:avLst>
              <a:gd name="adj" fmla="val 19444"/>
            </a:avLst>
          </a:prstGeom>
          <a:solidFill>
            <a:srgbClr val="FFF0EB"/>
          </a:solidFill>
          <a:ln w="25400">
            <a:solidFill>
              <a:srgbClr val="FF5733"/>
            </a:solidFill>
            <a:prstDash val="solid"/>
          </a:ln>
        </p:spPr>
      </p:sp>
      <p:sp>
        <p:nvSpPr>
          <p:cNvPr id="6" name="Text 4"/>
          <p:cNvSpPr/>
          <p:nvPr/>
        </p:nvSpPr>
        <p:spPr>
          <a:xfrm>
            <a:off x="4052788" y="1657747"/>
            <a:ext cx="1393924"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2 · Dato ausente</a:t>
            </a:r>
            <a:endParaRPr lang="en-US" sz="1400" dirty="0"/>
          </a:p>
        </p:txBody>
      </p:sp>
      <p:sp>
        <p:nvSpPr>
          <p:cNvPr id="7" name="Shape 5"/>
          <p:cNvSpPr/>
          <p:nvPr/>
        </p:nvSpPr>
        <p:spPr>
          <a:xfrm>
            <a:off x="6203950" y="1530350"/>
            <a:ext cx="2476500" cy="469900"/>
          </a:xfrm>
          <a:prstGeom prst="roundRect">
            <a:avLst>
              <a:gd name="adj" fmla="val 20270"/>
            </a:avLst>
          </a:prstGeom>
          <a:solidFill>
            <a:srgbClr val="FFFFFF"/>
          </a:solidFill>
          <a:ln w="12700">
            <a:solidFill>
              <a:srgbClr val="1E293B"/>
            </a:solidFill>
            <a:prstDash val="solid"/>
          </a:ln>
        </p:spPr>
      </p:sp>
      <p:sp>
        <p:nvSpPr>
          <p:cNvPr id="8" name="Text 6"/>
          <p:cNvSpPr/>
          <p:nvPr/>
        </p:nvSpPr>
        <p:spPr>
          <a:xfrm>
            <a:off x="6724749" y="1657747"/>
            <a:ext cx="14348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Servicio caído</a:t>
            </a:r>
            <a:endParaRPr lang="en-US" sz="1400" dirty="0"/>
          </a:p>
        </p:txBody>
      </p:sp>
      <p:sp>
        <p:nvSpPr>
          <p:cNvPr id="9" name="Shape 7"/>
          <p:cNvSpPr/>
          <p:nvPr/>
        </p:nvSpPr>
        <p:spPr>
          <a:xfrm>
            <a:off x="8896350" y="1530350"/>
            <a:ext cx="2476500" cy="469900"/>
          </a:xfrm>
          <a:prstGeom prst="roundRect">
            <a:avLst>
              <a:gd name="adj" fmla="val 20270"/>
            </a:avLst>
          </a:prstGeom>
          <a:solidFill>
            <a:srgbClr val="FFFFFF"/>
          </a:solidFill>
          <a:ln w="12700">
            <a:solidFill>
              <a:srgbClr val="1E293B"/>
            </a:solidFill>
            <a:prstDash val="solid"/>
          </a:ln>
        </p:spPr>
      </p:sp>
      <p:sp>
        <p:nvSpPr>
          <p:cNvPr id="10" name="Text 8"/>
          <p:cNvSpPr/>
          <p:nvPr/>
        </p:nvSpPr>
        <p:spPr>
          <a:xfrm>
            <a:off x="9285288" y="1657747"/>
            <a:ext cx="16985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Fuera de formato</a:t>
            </a:r>
            <a:endParaRPr lang="en-US" sz="1400" dirty="0"/>
          </a:p>
        </p:txBody>
      </p:sp>
      <p:sp>
        <p:nvSpPr>
          <p:cNvPr id="11" name="Text 9"/>
          <p:cNvSpPr/>
          <p:nvPr/>
        </p:nvSpPr>
        <p:spPr>
          <a:xfrm>
            <a:off x="812800" y="2260600"/>
            <a:ext cx="4447540"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Qué se prueba</a:t>
            </a:r>
            <a:endParaRPr lang="en-US" sz="1600" dirty="0"/>
          </a:p>
        </p:txBody>
      </p:sp>
      <p:sp>
        <p:nvSpPr>
          <p:cNvPr id="12" name="Text 10"/>
          <p:cNvSpPr/>
          <p:nvPr/>
        </p:nvSpPr>
        <p:spPr>
          <a:xfrm>
            <a:off x="812800" y="2648645"/>
            <a:ext cx="444754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 identificador que no existe, en el </a:t>
            </a:r>
            <a:r>
              <a:rPr lang="en-US" sz="1600" b="1" dirty="0">
                <a:solidFill>
                  <a:srgbClr val="1E293B"/>
                </a:solidFill>
                <a:latin typeface="IBM Plex Sans" pitchFamily="34" charset="0"/>
                <a:ea typeface="IBM Plex Sans" pitchFamily="34" charset="-122"/>
                <a:cs typeface="IBM Plex Sans" pitchFamily="34" charset="-120"/>
              </a:rPr>
              <a:t>turno 4</a:t>
            </a:r>
            <a:r>
              <a:rPr lang="en-US" sz="1600" dirty="0">
                <a:solidFill>
                  <a:srgbClr val="1E293B"/>
                </a:solidFill>
                <a:latin typeface="IBM Plex Sans" pitchFamily="34" charset="0"/>
                <a:ea typeface="IBM Plex Sans" pitchFamily="34" charset="-122"/>
                <a:cs typeface="IBM Plex Sans" pitchFamily="34" charset="-120"/>
              </a:rPr>
              <a:t> de una conversación.</a:t>
            </a:r>
            <a:endParaRPr lang="en-US" sz="1600" dirty="0"/>
          </a:p>
        </p:txBody>
      </p:sp>
      <p:sp>
        <p:nvSpPr>
          <p:cNvPr id="13" name="Text 11"/>
          <p:cNvSpPr/>
          <p:nvPr/>
        </p:nvSpPr>
        <p:spPr>
          <a:xfrm>
            <a:off x="812800" y="3361829"/>
            <a:ext cx="4447540"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Invariante</a:t>
            </a:r>
            <a:endParaRPr lang="en-US" sz="1600" dirty="0"/>
          </a:p>
        </p:txBody>
      </p:sp>
      <p:sp>
        <p:nvSpPr>
          <p:cNvPr id="14" name="Text 12"/>
          <p:cNvSpPr/>
          <p:nvPr/>
        </p:nvSpPr>
        <p:spPr>
          <a:xfrm>
            <a:off x="812800" y="3749873"/>
            <a:ext cx="4447540"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1E293B"/>
                </a:solidFill>
                <a:latin typeface="IBM Plex Mono" pitchFamily="34" charset="0"/>
                <a:ea typeface="IBM Plex Mono" pitchFamily="34" charset="-122"/>
                <a:cs typeface="IBM Plex Mono" pitchFamily="34" charset="-120"/>
              </a:rPr>
              <a:t>dice_no_existe(r)</a:t>
            </a:r>
            <a:endParaRPr lang="en-US" sz="1400" dirty="0"/>
          </a:p>
        </p:txBody>
      </p:sp>
      <p:sp>
        <p:nvSpPr>
          <p:cNvPr id="15" name="Text 13"/>
          <p:cNvSpPr/>
          <p:nvPr/>
        </p:nvSpPr>
        <p:spPr>
          <a:xfrm>
            <a:off x="812800" y="4144070"/>
            <a:ext cx="444754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Reconoce que el dato no existe; no lo inventa.</a:t>
            </a:r>
            <a:endParaRPr lang="en-US" sz="1600" dirty="0"/>
          </a:p>
        </p:txBody>
      </p:sp>
      <p:pic>
        <p:nvPicPr>
          <p:cNvPr id="16" name="Image 0" descr="Memory y RAG: historial por thread_id y recuperación documental hacia el LLM">    </p:cNvPr>
          <p:cNvPicPr>
            <a:picLocks noChangeAspect="1"/>
          </p:cNvPicPr>
          <p:nvPr/>
        </p:nvPicPr>
        <p:blipFill>
          <a:blip r:embed="rId1"/>
          <a:srcRect l="-27" r="-27" t="0" b="0"/>
          <a:stretch/>
        </p:blipFill>
        <p:spPr>
          <a:xfrm>
            <a:off x="5384800" y="2260600"/>
            <a:ext cx="5994400" cy="3371850"/>
          </a:xfrm>
          <a:prstGeom prst="rect">
            <a:avLst/>
          </a:prstGeom>
        </p:spPr>
      </p:pic>
      <p:sp>
        <p:nvSpPr>
          <p:cNvPr id="17"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12 / 23</a:t>
            </a:r>
            <a:endParaRPr lang="en-US" sz="1200" dirty="0"/>
          </a:p>
        </p:txBody>
      </p:sp>
      <p:pic>
        <p:nvPicPr>
          <p:cNvPr id="18"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Servicio caído a mitad de conversación</a:t>
            </a:r>
            <a:endParaRPr lang="en-US" sz="3600" dirty="0"/>
          </a:p>
        </p:txBody>
      </p:sp>
      <p:sp>
        <p:nvSpPr>
          <p:cNvPr id="3" name="Shape 1"/>
          <p:cNvSpPr/>
          <p:nvPr/>
        </p:nvSpPr>
        <p:spPr>
          <a:xfrm>
            <a:off x="819150" y="1529755"/>
            <a:ext cx="5168900" cy="1800126"/>
          </a:xfrm>
          <a:prstGeom prst="roundRect">
            <a:avLst>
              <a:gd name="adj" fmla="val 5291"/>
            </a:avLst>
          </a:prstGeom>
          <a:solidFill>
            <a:srgbClr val="FFFFFF"/>
          </a:solidFill>
          <a:ln w="12700">
            <a:solidFill>
              <a:srgbClr val="1E293B"/>
            </a:solidFill>
            <a:prstDash val="solid"/>
          </a:ln>
        </p:spPr>
      </p:sp>
      <p:sp>
        <p:nvSpPr>
          <p:cNvPr id="4" name="Text 2"/>
          <p:cNvSpPr/>
          <p:nvPr/>
        </p:nvSpPr>
        <p:spPr>
          <a:xfrm>
            <a:off x="1028700" y="1739305"/>
            <a:ext cx="4892294"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Qué debe pasar</a:t>
            </a:r>
            <a:endParaRPr lang="en-US" sz="1600" dirty="0"/>
          </a:p>
        </p:txBody>
      </p:sp>
      <p:sp>
        <p:nvSpPr>
          <p:cNvPr id="5" name="Text 3"/>
          <p:cNvSpPr/>
          <p:nvPr/>
        </p:nvSpPr>
        <p:spPr>
          <a:xfrm>
            <a:off x="1028700" y="2076549"/>
            <a:ext cx="4892294" cy="1069181"/>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Termina en ≤ </a:t>
            </a:r>
            <a:r>
              <a:rPr lang="en-US" sz="1500" b="1" dirty="0">
                <a:solidFill>
                  <a:srgbClr val="1E293B"/>
                </a:solidFill>
                <a:latin typeface="IBM Plex Sans" pitchFamily="34" charset="0"/>
                <a:ea typeface="IBM Plex Sans" pitchFamily="34" charset="-122"/>
                <a:cs typeface="IBM Plex Sans" pitchFamily="34" charset="-120"/>
              </a:rPr>
              <a:t>MAX_ITERATIONS</a:t>
            </a:r>
            <a:r>
              <a:rPr lang="en-US" sz="1500" dirty="0">
                <a:solidFill>
                  <a:srgbClr val="1E293B"/>
                </a:solidFill>
                <a:latin typeface="IBM Plex Sans" pitchFamily="34" charset="0"/>
                <a:ea typeface="IBM Plex Sans" pitchFamily="34" charset="-122"/>
                <a:cs typeface="IBM Plex Sans" pitchFamily="34" charset="-120"/>
              </a:rPr>
              <a:t> llamadas al modelo (4 en los checkpoints de S6)</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Emite un </a:t>
            </a:r>
            <a:r>
              <a:rPr lang="en-US" sz="1500" b="1" dirty="0">
                <a:solidFill>
                  <a:srgbClr val="1E293B"/>
                </a:solidFill>
                <a:latin typeface="IBM Plex Sans" pitchFamily="34" charset="0"/>
                <a:ea typeface="IBM Plex Sans" pitchFamily="34" charset="-122"/>
                <a:cs typeface="IBM Plex Sans" pitchFamily="34" charset="-120"/>
              </a:rPr>
              <a:t>mensaje explícito</a:t>
            </a:r>
            <a:r>
              <a:rPr lang="en-US" sz="1500" dirty="0">
                <a:solidFill>
                  <a:srgbClr val="1E293B"/>
                </a:solidFill>
                <a:latin typeface="IBM Plex Sans" pitchFamily="34" charset="0"/>
                <a:ea typeface="IBM Plex Sans" pitchFamily="34" charset="-122"/>
                <a:cs typeface="IBM Plex Sans" pitchFamily="34" charset="-120"/>
              </a:rPr>
              <a:t> al usuario</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El fallo de una tool </a:t>
            </a:r>
            <a:r>
              <a:rPr lang="en-US" sz="1500" b="1" dirty="0">
                <a:solidFill>
                  <a:srgbClr val="1E293B"/>
                </a:solidFill>
                <a:latin typeface="IBM Plex Sans" pitchFamily="34" charset="0"/>
                <a:ea typeface="IBM Plex Sans" pitchFamily="34" charset="-122"/>
                <a:cs typeface="IBM Plex Sans" pitchFamily="34" charset="-120"/>
              </a:rPr>
              <a:t>no borra el hilo</a:t>
            </a:r>
            <a:endParaRPr lang="en-US" sz="1500" dirty="0"/>
          </a:p>
        </p:txBody>
      </p:sp>
      <p:sp>
        <p:nvSpPr>
          <p:cNvPr id="6" name="Shape 4"/>
          <p:cNvSpPr/>
          <p:nvPr/>
        </p:nvSpPr>
        <p:spPr>
          <a:xfrm>
            <a:off x="6203950" y="1529755"/>
            <a:ext cx="5168900" cy="1800126"/>
          </a:xfrm>
          <a:prstGeom prst="roundRect">
            <a:avLst>
              <a:gd name="adj" fmla="val 5291"/>
            </a:avLst>
          </a:prstGeom>
          <a:solidFill>
            <a:srgbClr val="FFFFFF"/>
          </a:solidFill>
          <a:ln w="12700">
            <a:solidFill>
              <a:srgbClr val="1E293B"/>
            </a:solidFill>
            <a:prstDash val="solid"/>
          </a:ln>
        </p:spPr>
      </p:sp>
      <p:sp>
        <p:nvSpPr>
          <p:cNvPr id="7" name="Text 5"/>
          <p:cNvSpPr/>
          <p:nvPr/>
        </p:nvSpPr>
        <p:spPr>
          <a:xfrm>
            <a:off x="6413500" y="1739305"/>
            <a:ext cx="4892294"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Cómo se prueba</a:t>
            </a:r>
            <a:endParaRPr lang="en-US" sz="1600" dirty="0"/>
          </a:p>
        </p:txBody>
      </p:sp>
      <p:sp>
        <p:nvSpPr>
          <p:cNvPr id="8" name="Text 6"/>
          <p:cNvSpPr/>
          <p:nvPr/>
        </p:nvSpPr>
        <p:spPr>
          <a:xfrm>
            <a:off x="6413500" y="2076549"/>
            <a:ext cx="4892294" cy="1069181"/>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Sin simulador: un parche hace que </a:t>
            </a:r>
            <a:r>
              <a:rPr lang="en-US" sz="1500" b="1" dirty="0">
                <a:solidFill>
                  <a:srgbClr val="1E293B"/>
                </a:solidFill>
                <a:latin typeface="IBM Plex Sans" pitchFamily="34" charset="0"/>
                <a:ea typeface="IBM Plex Sans" pitchFamily="34" charset="-122"/>
                <a:cs typeface="IBM Plex Sans" pitchFamily="34" charset="-120"/>
              </a:rPr>
              <a:t>buscar_uno</a:t>
            </a:r>
            <a:r>
              <a:rPr lang="en-US" sz="1500" dirty="0">
                <a:solidFill>
                  <a:srgbClr val="1E293B"/>
                </a:solidFill>
                <a:latin typeface="IBM Plex Sans" pitchFamily="34" charset="0"/>
                <a:ea typeface="IBM Plex Sans" pitchFamily="34" charset="-122"/>
                <a:cs typeface="IBM Plex Sans" pitchFamily="34" charset="-120"/>
              </a:rPr>
              <a:t> lance FuenteNoDisponible siempre</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Con simulador: </a:t>
            </a:r>
            <a:r>
              <a:rPr lang="en-US" sz="1500" b="1" dirty="0">
                <a:solidFill>
                  <a:srgbClr val="1E293B"/>
                </a:solidFill>
                <a:latin typeface="IBM Plex Sans" pitchFamily="34" charset="0"/>
                <a:ea typeface="IBM Plex Sans" pitchFamily="34" charset="-122"/>
                <a:cs typeface="IBM Plex Sans" pitchFamily="34" charset="-120"/>
              </a:rPr>
              <a:t>--chaos</a:t>
            </a:r>
            <a:r>
              <a:rPr lang="en-US" sz="1500" dirty="0">
                <a:solidFill>
                  <a:srgbClr val="1E293B"/>
                </a:solidFill>
                <a:latin typeface="IBM Plex Sans" pitchFamily="34" charset="0"/>
                <a:ea typeface="IBM Plex Sans" pitchFamily="34" charset="-122"/>
                <a:cs typeface="IBM Plex Sans" pitchFamily="34" charset="-120"/>
              </a:rPr>
              <a:t> y DATA_SOURCE=api</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Invariante: </a:t>
            </a:r>
            <a:r>
              <a:rPr lang="en-US" sz="1500" b="1" dirty="0">
                <a:solidFill>
                  <a:srgbClr val="1E293B"/>
                </a:solidFill>
                <a:latin typeface="IBM Plex Sans" pitchFamily="34" charset="0"/>
                <a:ea typeface="IBM Plex Sans" pitchFamily="34" charset="-122"/>
                <a:cs typeface="IBM Plex Sans" pitchFamily="34" charset="-120"/>
              </a:rPr>
              <a:t>no_esta_vacia(r)</a:t>
            </a:r>
            <a:endParaRPr lang="en-US" sz="1500" dirty="0"/>
          </a:p>
        </p:txBody>
      </p:sp>
      <p:sp>
        <p:nvSpPr>
          <p:cNvPr id="9" name="Shape 7"/>
          <p:cNvSpPr/>
          <p:nvPr/>
        </p:nvSpPr>
        <p:spPr>
          <a:xfrm>
            <a:off x="819150" y="1530350"/>
            <a:ext cx="2476500" cy="469900"/>
          </a:xfrm>
          <a:prstGeom prst="roundRect">
            <a:avLst>
              <a:gd name="adj" fmla="val 20270"/>
            </a:avLst>
          </a:prstGeom>
          <a:solidFill>
            <a:srgbClr val="FFFFFF"/>
          </a:solidFill>
          <a:ln w="12700">
            <a:solidFill>
              <a:srgbClr val="1E293B"/>
            </a:solidFill>
            <a:prstDash val="solid"/>
          </a:ln>
        </p:spPr>
      </p:sp>
      <p:sp>
        <p:nvSpPr>
          <p:cNvPr id="10" name="Text 8"/>
          <p:cNvSpPr/>
          <p:nvPr/>
        </p:nvSpPr>
        <p:spPr>
          <a:xfrm>
            <a:off x="1213941" y="1657747"/>
            <a:ext cx="168691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Entrada ambigua</a:t>
            </a:r>
            <a:endParaRPr lang="en-US" sz="1400" dirty="0"/>
          </a:p>
        </p:txBody>
      </p:sp>
      <p:sp>
        <p:nvSpPr>
          <p:cNvPr id="11" name="Shape 9"/>
          <p:cNvSpPr/>
          <p:nvPr/>
        </p:nvSpPr>
        <p:spPr>
          <a:xfrm>
            <a:off x="3511550" y="1530350"/>
            <a:ext cx="2476500" cy="469900"/>
          </a:xfrm>
          <a:prstGeom prst="roundRect">
            <a:avLst>
              <a:gd name="adj" fmla="val 20270"/>
            </a:avLst>
          </a:prstGeom>
          <a:solidFill>
            <a:srgbClr val="FFFFFF"/>
          </a:solidFill>
          <a:ln w="12700">
            <a:solidFill>
              <a:srgbClr val="1E293B"/>
            </a:solidFill>
            <a:prstDash val="solid"/>
          </a:ln>
        </p:spPr>
      </p:sp>
      <p:sp>
        <p:nvSpPr>
          <p:cNvPr id="12" name="Text 10"/>
          <p:cNvSpPr/>
          <p:nvPr/>
        </p:nvSpPr>
        <p:spPr>
          <a:xfrm>
            <a:off x="4059932" y="1657747"/>
            <a:ext cx="137963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Dato ausente</a:t>
            </a:r>
            <a:endParaRPr lang="en-US" sz="1400" dirty="0"/>
          </a:p>
        </p:txBody>
      </p:sp>
      <p:sp>
        <p:nvSpPr>
          <p:cNvPr id="13" name="Shape 11"/>
          <p:cNvSpPr/>
          <p:nvPr/>
        </p:nvSpPr>
        <p:spPr>
          <a:xfrm>
            <a:off x="6210300" y="1536700"/>
            <a:ext cx="2463800" cy="457200"/>
          </a:xfrm>
          <a:prstGeom prst="roundRect">
            <a:avLst>
              <a:gd name="adj" fmla="val 19444"/>
            </a:avLst>
          </a:prstGeom>
          <a:solidFill>
            <a:srgbClr val="FFF0EB"/>
          </a:solidFill>
          <a:ln w="25400">
            <a:solidFill>
              <a:srgbClr val="FF5733"/>
            </a:solidFill>
            <a:prstDash val="solid"/>
          </a:ln>
        </p:spPr>
      </p:sp>
      <p:sp>
        <p:nvSpPr>
          <p:cNvPr id="14" name="Text 12"/>
          <p:cNvSpPr/>
          <p:nvPr/>
        </p:nvSpPr>
        <p:spPr>
          <a:xfrm>
            <a:off x="6715621" y="1657747"/>
            <a:ext cx="1453158"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3 · Servicio caído</a:t>
            </a:r>
            <a:endParaRPr lang="en-US" sz="1400" dirty="0"/>
          </a:p>
        </p:txBody>
      </p:sp>
      <p:sp>
        <p:nvSpPr>
          <p:cNvPr id="15" name="Shape 13"/>
          <p:cNvSpPr/>
          <p:nvPr/>
        </p:nvSpPr>
        <p:spPr>
          <a:xfrm>
            <a:off x="8896350" y="1530350"/>
            <a:ext cx="2476500" cy="469900"/>
          </a:xfrm>
          <a:prstGeom prst="roundRect">
            <a:avLst>
              <a:gd name="adj" fmla="val 20270"/>
            </a:avLst>
          </a:prstGeom>
          <a:solidFill>
            <a:srgbClr val="FFFFFF"/>
          </a:solidFill>
          <a:ln w="12700">
            <a:solidFill>
              <a:srgbClr val="1E293B"/>
            </a:solidFill>
            <a:prstDash val="solid"/>
          </a:ln>
        </p:spPr>
      </p:sp>
      <p:sp>
        <p:nvSpPr>
          <p:cNvPr id="16" name="Text 14"/>
          <p:cNvSpPr/>
          <p:nvPr/>
        </p:nvSpPr>
        <p:spPr>
          <a:xfrm>
            <a:off x="9285288" y="1657747"/>
            <a:ext cx="16985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 · Fuera de formato</a:t>
            </a:r>
            <a:endParaRPr lang="en-US" sz="1400" dirty="0"/>
          </a:p>
        </p:txBody>
      </p:sp>
      <p:sp>
        <p:nvSpPr>
          <p:cNvPr id="17"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13 / 23</a:t>
            </a:r>
            <a:endParaRPr lang="en-US" sz="1200" dirty="0"/>
          </a:p>
        </p:txBody>
      </p:sp>
      <p:pic>
        <p:nvPicPr>
          <p:cNvPr id="1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Salida fuera de formato</a:t>
            </a:r>
            <a:endParaRPr lang="en-US" sz="3600" dirty="0"/>
          </a:p>
        </p:txBody>
      </p:sp>
      <p:sp>
        <p:nvSpPr>
          <p:cNvPr id="3" name="Shape 1"/>
          <p:cNvSpPr/>
          <p:nvPr/>
        </p:nvSpPr>
        <p:spPr>
          <a:xfrm>
            <a:off x="819150" y="1530350"/>
            <a:ext cx="2476500" cy="469900"/>
          </a:xfrm>
          <a:prstGeom prst="roundRect">
            <a:avLst>
              <a:gd name="adj" fmla="val 20270"/>
            </a:avLst>
          </a:prstGeom>
          <a:solidFill>
            <a:srgbClr val="FFFFFF"/>
          </a:solidFill>
          <a:ln w="12700">
            <a:solidFill>
              <a:srgbClr val="1E293B"/>
            </a:solidFill>
            <a:prstDash val="solid"/>
          </a:ln>
        </p:spPr>
      </p:sp>
      <p:sp>
        <p:nvSpPr>
          <p:cNvPr id="4" name="Text 2"/>
          <p:cNvSpPr/>
          <p:nvPr/>
        </p:nvSpPr>
        <p:spPr>
          <a:xfrm>
            <a:off x="1213941" y="1657747"/>
            <a:ext cx="168691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1 · Entrada ambigua</a:t>
            </a:r>
            <a:endParaRPr lang="en-US" sz="1400" dirty="0"/>
          </a:p>
        </p:txBody>
      </p:sp>
      <p:sp>
        <p:nvSpPr>
          <p:cNvPr id="5" name="Shape 3"/>
          <p:cNvSpPr/>
          <p:nvPr/>
        </p:nvSpPr>
        <p:spPr>
          <a:xfrm>
            <a:off x="3511550" y="1530350"/>
            <a:ext cx="2476500" cy="469900"/>
          </a:xfrm>
          <a:prstGeom prst="roundRect">
            <a:avLst>
              <a:gd name="adj" fmla="val 20270"/>
            </a:avLst>
          </a:prstGeom>
          <a:solidFill>
            <a:srgbClr val="FFFFFF"/>
          </a:solidFill>
          <a:ln w="12700">
            <a:solidFill>
              <a:srgbClr val="1E293B"/>
            </a:solidFill>
            <a:prstDash val="solid"/>
          </a:ln>
        </p:spPr>
      </p:sp>
      <p:sp>
        <p:nvSpPr>
          <p:cNvPr id="6" name="Text 4"/>
          <p:cNvSpPr/>
          <p:nvPr/>
        </p:nvSpPr>
        <p:spPr>
          <a:xfrm>
            <a:off x="4059932" y="1657747"/>
            <a:ext cx="137963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2 · Dato ausente</a:t>
            </a:r>
            <a:endParaRPr lang="en-US" sz="1400" dirty="0"/>
          </a:p>
        </p:txBody>
      </p:sp>
      <p:sp>
        <p:nvSpPr>
          <p:cNvPr id="7" name="Shape 5"/>
          <p:cNvSpPr/>
          <p:nvPr/>
        </p:nvSpPr>
        <p:spPr>
          <a:xfrm>
            <a:off x="6203950" y="1530350"/>
            <a:ext cx="2476500" cy="469900"/>
          </a:xfrm>
          <a:prstGeom prst="roundRect">
            <a:avLst>
              <a:gd name="adj" fmla="val 20270"/>
            </a:avLst>
          </a:prstGeom>
          <a:solidFill>
            <a:srgbClr val="FFFFFF"/>
          </a:solidFill>
          <a:ln w="12700">
            <a:solidFill>
              <a:srgbClr val="1E293B"/>
            </a:solidFill>
            <a:prstDash val="solid"/>
          </a:ln>
        </p:spPr>
      </p:sp>
      <p:sp>
        <p:nvSpPr>
          <p:cNvPr id="8" name="Text 6"/>
          <p:cNvSpPr/>
          <p:nvPr/>
        </p:nvSpPr>
        <p:spPr>
          <a:xfrm>
            <a:off x="6724749" y="1657747"/>
            <a:ext cx="14348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3 · Servicio caído</a:t>
            </a:r>
            <a:endParaRPr lang="en-US" sz="1400" dirty="0"/>
          </a:p>
        </p:txBody>
      </p:sp>
      <p:sp>
        <p:nvSpPr>
          <p:cNvPr id="9" name="Shape 7"/>
          <p:cNvSpPr/>
          <p:nvPr/>
        </p:nvSpPr>
        <p:spPr>
          <a:xfrm>
            <a:off x="8902700" y="1536700"/>
            <a:ext cx="2463800" cy="457200"/>
          </a:xfrm>
          <a:prstGeom prst="roundRect">
            <a:avLst>
              <a:gd name="adj" fmla="val 19444"/>
            </a:avLst>
          </a:prstGeom>
          <a:solidFill>
            <a:srgbClr val="FFF0EB"/>
          </a:solidFill>
          <a:ln w="25400">
            <a:solidFill>
              <a:srgbClr val="FF5733"/>
            </a:solidFill>
            <a:prstDash val="solid"/>
          </a:ln>
        </p:spPr>
      </p:sp>
      <p:sp>
        <p:nvSpPr>
          <p:cNvPr id="10" name="Text 8"/>
          <p:cNvSpPr/>
          <p:nvPr/>
        </p:nvSpPr>
        <p:spPr>
          <a:xfrm>
            <a:off x="9276358" y="1657747"/>
            <a:ext cx="1716385"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4 · Fuera de formato</a:t>
            </a:r>
            <a:endParaRPr lang="en-US" sz="1400" dirty="0"/>
          </a:p>
        </p:txBody>
      </p:sp>
      <p:sp>
        <p:nvSpPr>
          <p:cNvPr id="11" name="Text 9"/>
          <p:cNvSpPr/>
          <p:nvPr/>
        </p:nvSpPr>
        <p:spPr>
          <a:xfrm>
            <a:off x="812800" y="2260600"/>
            <a:ext cx="4447540"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Qué se prueba</a:t>
            </a:r>
            <a:endParaRPr lang="en-US" sz="1600" dirty="0"/>
          </a:p>
        </p:txBody>
      </p:sp>
      <p:sp>
        <p:nvSpPr>
          <p:cNvPr id="12" name="Text 10"/>
          <p:cNvSpPr/>
          <p:nvPr/>
        </p:nvSpPr>
        <p:spPr>
          <a:xfrm>
            <a:off x="812800" y="2648645"/>
            <a:ext cx="4447540"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Una entrada que no encaja en un esquema estricto: categoría A o B y un entero entre 1 y 2.</a:t>
            </a:r>
            <a:endParaRPr lang="en-US" sz="1600" dirty="0"/>
          </a:p>
        </p:txBody>
      </p:sp>
      <p:sp>
        <p:nvSpPr>
          <p:cNvPr id="13" name="Text 11"/>
          <p:cNvSpPr/>
          <p:nvPr/>
        </p:nvSpPr>
        <p:spPr>
          <a:xfrm>
            <a:off x="812800" y="3361829"/>
            <a:ext cx="4447540"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Invariante</a:t>
            </a:r>
            <a:endParaRPr lang="en-US" sz="1600" dirty="0"/>
          </a:p>
        </p:txBody>
      </p:sp>
      <p:sp>
        <p:nvSpPr>
          <p:cNvPr id="14" name="Text 12"/>
          <p:cNvSpPr/>
          <p:nvPr/>
        </p:nvSpPr>
        <p:spPr>
          <a:xfrm>
            <a:off x="812800" y="3749873"/>
            <a:ext cx="4447540"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Nunca un fallo silencioso.</a:t>
            </a:r>
            <a:endParaRPr lang="en-US" sz="1600" dirty="0"/>
          </a:p>
        </p:txBody>
      </p:sp>
      <p:sp>
        <p:nvSpPr>
          <p:cNvPr id="15" name="Text 13"/>
          <p:cNvSpPr/>
          <p:nvPr/>
        </p:nvSpPr>
        <p:spPr>
          <a:xfrm>
            <a:off x="812800" y="4182666"/>
            <a:ext cx="4447540"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Pasa: objeto válido o ExtraccionFallida controlada. Falla: cualquier otra excepción.</a:t>
            </a:r>
            <a:endParaRPr lang="en-US" sz="1400" dirty="0"/>
          </a:p>
        </p:txBody>
      </p:sp>
      <p:pic>
        <p:nvPicPr>
          <p:cNvPr id="16" name="Image 0" descr="Structured Output: validación Pydantic, un reintento y ExtraccionFallida">    </p:cNvPr>
          <p:cNvPicPr>
            <a:picLocks noChangeAspect="1"/>
          </p:cNvPicPr>
          <p:nvPr/>
        </p:nvPicPr>
        <p:blipFill>
          <a:blip r:embed="rId1"/>
          <a:srcRect l="-27" r="-27" t="0" b="0"/>
          <a:stretch/>
        </p:blipFill>
        <p:spPr>
          <a:xfrm>
            <a:off x="5384800" y="2260600"/>
            <a:ext cx="5994400" cy="3371850"/>
          </a:xfrm>
          <a:prstGeom prst="rect">
            <a:avLst/>
          </a:prstGeom>
        </p:spPr>
      </p:pic>
      <p:sp>
        <p:nvSpPr>
          <p:cNvPr id="17"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14 / 23</a:t>
            </a:r>
            <a:endParaRPr lang="en-US" sz="1200" dirty="0"/>
          </a:p>
        </p:txBody>
      </p:sp>
      <p:pic>
        <p:nvPicPr>
          <p:cNvPr id="18" name="Image 1" descr="Logo de AriwaLabs">    </p:cNvPr>
          <p:cNvPicPr>
            <a:picLocks noChangeAspect="1"/>
          </p:cNvPicPr>
          <p:nvPr/>
        </p:nvPicPr>
        <p:blipFill>
          <a:blip r:embed="rId2"/>
          <a:srcRect l="-9345" r="-9345" t="0" b="0"/>
          <a:stretch/>
        </p:blipFill>
        <p:spPr>
          <a:xfrm>
            <a:off x="10680700" y="61976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Clínica: reglas de juego</a:t>
            </a:r>
            <a:endParaRPr lang="en-US" sz="3600" dirty="0"/>
          </a:p>
        </p:txBody>
      </p:sp>
      <p:sp>
        <p:nvSpPr>
          <p:cNvPr id="3" name="Shape 1"/>
          <p:cNvSpPr/>
          <p:nvPr/>
        </p:nvSpPr>
        <p:spPr>
          <a:xfrm>
            <a:off x="819150" y="1529755"/>
            <a:ext cx="3373934" cy="1539180"/>
          </a:xfrm>
          <a:prstGeom prst="roundRect">
            <a:avLst>
              <a:gd name="adj" fmla="val 6188"/>
            </a:avLst>
          </a:prstGeom>
          <a:solidFill>
            <a:srgbClr val="FFFFFF"/>
          </a:solidFill>
          <a:ln w="12700">
            <a:solidFill>
              <a:srgbClr val="1E293B"/>
            </a:solidFill>
            <a:prstDash val="solid"/>
          </a:ln>
        </p:spPr>
      </p:sp>
      <p:sp>
        <p:nvSpPr>
          <p:cNvPr id="4" name="Text 2"/>
          <p:cNvSpPr/>
          <p:nvPr/>
        </p:nvSpPr>
        <p:spPr>
          <a:xfrm>
            <a:off x="1028700" y="1739305"/>
            <a:ext cx="3043479" cy="496689"/>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Cada equipo prueba su propio agente</a:t>
            </a:r>
            <a:endParaRPr lang="en-US" sz="1600" dirty="0"/>
          </a:p>
        </p:txBody>
      </p:sp>
      <p:sp>
        <p:nvSpPr>
          <p:cNvPr id="5" name="Text 3"/>
          <p:cNvSpPr/>
          <p:nvPr/>
        </p:nvSpPr>
        <p:spPr>
          <a:xfrm>
            <a:off x="1028700" y="2312194"/>
            <a:ext cx="3043479" cy="547291"/>
          </a:xfrm>
          <a:prstGeom prst="rect">
            <a:avLst/>
          </a:prstGeom>
          <a:noFill/>
          <a:ln/>
        </p:spPr>
        <p:txBody>
          <a:bodyPr wrap="square" lIns="0" tIns="0" rIns="0" bIns="0" rtlCol="0" anchor="t">
            <a:normAutofit/>
          </a:bodyPr>
          <a:lstStyle/>
          <a:p>
            <a:pPr algn="l" indent="0" marL="0">
              <a:lnSpc>
                <a:spcPts val="2055"/>
              </a:lnSpc>
              <a:buNone/>
            </a:pPr>
            <a:r>
              <a:rPr lang="en-US" sz="1500" dirty="0">
                <a:solidFill>
                  <a:srgbClr val="526277"/>
                </a:solidFill>
                <a:latin typeface="IBM Plex Sans" pitchFamily="34" charset="0"/>
                <a:ea typeface="IBM Plex Sans" pitchFamily="34" charset="-122"/>
                <a:cs typeface="IBM Plex Sans" pitchFamily="34" charset="-120"/>
              </a:rPr>
              <a:t>Sin ataque cruzado: es una clínica, no un torneo.</a:t>
            </a:r>
            <a:endParaRPr lang="en-US" sz="1500" dirty="0"/>
          </a:p>
        </p:txBody>
      </p:sp>
      <p:sp>
        <p:nvSpPr>
          <p:cNvPr id="6" name="Shape 4"/>
          <p:cNvSpPr/>
          <p:nvPr/>
        </p:nvSpPr>
        <p:spPr>
          <a:xfrm>
            <a:off x="4408984" y="1529755"/>
            <a:ext cx="3374033" cy="1539180"/>
          </a:xfrm>
          <a:prstGeom prst="roundRect">
            <a:avLst>
              <a:gd name="adj" fmla="val 6188"/>
            </a:avLst>
          </a:prstGeom>
          <a:solidFill>
            <a:srgbClr val="FFFFFF"/>
          </a:solidFill>
          <a:ln w="12700">
            <a:solidFill>
              <a:srgbClr val="1E293B"/>
            </a:solidFill>
            <a:prstDash val="solid"/>
          </a:ln>
        </p:spPr>
      </p:sp>
      <p:sp>
        <p:nvSpPr>
          <p:cNvPr id="7" name="Text 5"/>
          <p:cNvSpPr/>
          <p:nvPr/>
        </p:nvSpPr>
        <p:spPr>
          <a:xfrm>
            <a:off x="4618534" y="1739305"/>
            <a:ext cx="3043581"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El docente activa el caos</a:t>
            </a:r>
            <a:endParaRPr lang="en-US" sz="1600" dirty="0"/>
          </a:p>
        </p:txBody>
      </p:sp>
      <p:sp>
        <p:nvSpPr>
          <p:cNvPr id="8" name="Text 6"/>
          <p:cNvSpPr/>
          <p:nvPr/>
        </p:nvSpPr>
        <p:spPr>
          <a:xfrm>
            <a:off x="4618534" y="2076549"/>
            <a:ext cx="3043581" cy="808236"/>
          </a:xfrm>
          <a:prstGeom prst="rect">
            <a:avLst/>
          </a:prstGeom>
          <a:noFill/>
          <a:ln/>
        </p:spPr>
        <p:txBody>
          <a:bodyPr wrap="square" lIns="0" tIns="0" rIns="0" bIns="0" rtlCol="0" anchor="t">
            <a:normAutofit/>
          </a:bodyPr>
          <a:lstStyle/>
          <a:p>
            <a:pPr algn="l" indent="0" marL="0">
              <a:lnSpc>
                <a:spcPts val="2055"/>
              </a:lnSpc>
              <a:buNone/>
            </a:pPr>
            <a:r>
              <a:rPr lang="en-US" sz="1500" dirty="0">
                <a:solidFill>
                  <a:srgbClr val="526277"/>
                </a:solidFill>
                <a:latin typeface="IBM Plex Sans" pitchFamily="34" charset="0"/>
                <a:ea typeface="IBM Plex Sans" pitchFamily="34" charset="-122"/>
                <a:cs typeface="IBM Plex Sans" pitchFamily="34" charset="-120"/>
              </a:rPr>
              <a:t>CHAOS_RATE=0.1, anunciado antes de activarlo. Tú no tocas esa variable.</a:t>
            </a:r>
            <a:endParaRPr lang="en-US" sz="1500" dirty="0"/>
          </a:p>
        </p:txBody>
      </p:sp>
      <p:sp>
        <p:nvSpPr>
          <p:cNvPr id="9" name="Shape 7"/>
          <p:cNvSpPr/>
          <p:nvPr/>
        </p:nvSpPr>
        <p:spPr>
          <a:xfrm>
            <a:off x="7998916" y="1529755"/>
            <a:ext cx="3373934" cy="1539180"/>
          </a:xfrm>
          <a:prstGeom prst="roundRect">
            <a:avLst>
              <a:gd name="adj" fmla="val 6188"/>
            </a:avLst>
          </a:prstGeom>
          <a:solidFill>
            <a:srgbClr val="FFFFFF"/>
          </a:solidFill>
          <a:ln w="12700">
            <a:solidFill>
              <a:srgbClr val="1E293B"/>
            </a:solidFill>
            <a:prstDash val="solid"/>
          </a:ln>
        </p:spPr>
      </p:sp>
      <p:sp>
        <p:nvSpPr>
          <p:cNvPr id="10" name="Text 8"/>
          <p:cNvSpPr/>
          <p:nvPr/>
        </p:nvSpPr>
        <p:spPr>
          <a:xfrm>
            <a:off x="8208466" y="1739305"/>
            <a:ext cx="3043479"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El agente corre completo</a:t>
            </a:r>
            <a:endParaRPr lang="en-US" sz="1600" dirty="0"/>
          </a:p>
        </p:txBody>
      </p:sp>
      <p:sp>
        <p:nvSpPr>
          <p:cNvPr id="11" name="Text 9"/>
          <p:cNvSpPr/>
          <p:nvPr/>
        </p:nvSpPr>
        <p:spPr>
          <a:xfrm>
            <a:off x="8208466" y="2076549"/>
            <a:ext cx="3043479" cy="808236"/>
          </a:xfrm>
          <a:prstGeom prst="rect">
            <a:avLst/>
          </a:prstGeom>
          <a:noFill/>
          <a:ln/>
        </p:spPr>
        <p:txBody>
          <a:bodyPr wrap="square" lIns="0" tIns="0" rIns="0" bIns="0" rtlCol="0" anchor="t">
            <a:normAutofit/>
          </a:bodyPr>
          <a:lstStyle/>
          <a:p>
            <a:pPr algn="l" indent="0" marL="0">
              <a:lnSpc>
                <a:spcPts val="2055"/>
              </a:lnSpc>
              <a:buNone/>
            </a:pPr>
            <a:r>
              <a:rPr lang="en-US" sz="1500" dirty="0">
                <a:solidFill>
                  <a:srgbClr val="526277"/>
                </a:solidFill>
                <a:latin typeface="IBM Plex Sans" pitchFamily="34" charset="0"/>
                <a:ea typeface="IBM Plex Sans" pitchFamily="34" charset="-122"/>
                <a:cs typeface="IBM Plex Sans" pitchFamily="34" charset="-120"/>
              </a:rPr>
              <a:t>Tools del L4, RAG y memoria del L5 y guardrails del L6, de punta a punta.</a:t>
            </a:r>
            <a:endParaRPr lang="en-US" sz="1500" dirty="0"/>
          </a:p>
        </p:txBody>
      </p:sp>
      <p:sp>
        <p:nvSpPr>
          <p:cNvPr id="12" name="Text 10"/>
          <p:cNvSpPr/>
          <p:nvPr/>
        </p:nvSpPr>
        <p:spPr>
          <a:xfrm>
            <a:off x="812800" y="327848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clínica mide robustez, no si el agente arranca.</a:t>
            </a:r>
            <a:endParaRPr lang="en-US" sz="1600" dirty="0"/>
          </a:p>
        </p:txBody>
      </p:sp>
      <p:sp>
        <p:nvSpPr>
          <p:cNvPr id="13"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15 / 23</a:t>
            </a:r>
            <a:endParaRPr lang="en-US" sz="1200" dirty="0"/>
          </a:p>
        </p:txBody>
      </p:sp>
      <p:pic>
        <p:nvPicPr>
          <p:cNvPr id="14"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45 minutos, 4 familias</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315766"/>
        </p:xfrm>
        <a:graphic>
          <a:graphicData uri="http://schemas.openxmlformats.org/drawingml/2006/table">
            <a:tbl>
              <a:tblPr/>
              <a:tblGrid>
                <a:gridCol w="1477518"/>
                <a:gridCol w="7598664"/>
                <a:gridCol w="1477518"/>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pide el docente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Familia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0–10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«Hazle dos preguntas en un solo turno»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«Pregúntale por algo que no existe, en el turno 4 de la conversación»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20–30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«Sigue conversando hasta que el caos te dé un 503»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30–40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«Fuérzale una salida estructurada con una entrada rarísima»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40–45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«Elige el peor caso que encontraste: ese va primero en tu demo»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405507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La demo abre con el fallo encontrado y resuelto, no con el camino feliz.</a:t>
            </a:r>
            <a:endParaRPr lang="en-US" sz="16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16 / 23</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Proyecto M2: qué se entrega</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1929805"/>
        </p:xfrm>
        <a:graphic>
          <a:graphicData uri="http://schemas.openxmlformats.org/drawingml/2006/table">
            <a:tbl>
              <a:tblPr/>
              <a:tblGrid>
                <a:gridCol w="3799332"/>
                <a:gridCol w="6754368"/>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Entregable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Ruta en tu repositorio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Demo en vivo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INFORME-L7.md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lab/&lt;tu-track&gt;/INFORME-L7.md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tests/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lab/&lt;tu-track&gt;/tests/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Documento de diseño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lab/&lt;tu-track&gt;/documento-diseno.md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bl>
          </a:graphicData>
        </a:graphic>
      </p:graphicFrame>
      <p:sp>
        <p:nvSpPr>
          <p:cNvPr id="4" name="Text 1"/>
          <p:cNvSpPr/>
          <p:nvPr/>
        </p:nvSpPr>
        <p:spPr>
          <a:xfrm>
            <a:off x="812800" y="3669109"/>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Todo se entrega al cerrar la S7. Vale el 100 % del Módulo 2.</a:t>
            </a:r>
            <a:endParaRPr lang="en-US" sz="1600" dirty="0"/>
          </a:p>
        </p:txBody>
      </p:sp>
      <p:sp>
        <p:nvSpPr>
          <p:cNvPr id="5" name="Shape 2"/>
          <p:cNvSpPr/>
          <p:nvPr/>
        </p:nvSpPr>
        <p:spPr>
          <a:xfrm>
            <a:off x="819150" y="1530350"/>
            <a:ext cx="2476500" cy="800100"/>
          </a:xfrm>
          <a:prstGeom prst="roundRect">
            <a:avLst>
              <a:gd name="adj" fmla="val 11905"/>
            </a:avLst>
          </a:prstGeom>
          <a:solidFill>
            <a:srgbClr val="FFFFFF"/>
          </a:solidFill>
          <a:ln w="12700">
            <a:solidFill>
              <a:srgbClr val="1E293B"/>
            </a:solidFill>
            <a:prstDash val="solid"/>
          </a:ln>
        </p:spPr>
      </p:sp>
      <p:sp>
        <p:nvSpPr>
          <p:cNvPr id="6" name="Text 3"/>
          <p:cNvSpPr/>
          <p:nvPr/>
        </p:nvSpPr>
        <p:spPr>
          <a:xfrm>
            <a:off x="1481336" y="1702197"/>
            <a:ext cx="1152128"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Demo en vivo</a:t>
            </a:r>
            <a:endParaRPr lang="en-US" sz="1400" dirty="0"/>
          </a:p>
        </p:txBody>
      </p:sp>
      <p:sp>
        <p:nvSpPr>
          <p:cNvPr id="7" name="Text 4"/>
          <p:cNvSpPr/>
          <p:nvPr/>
        </p:nvSpPr>
        <p:spPr>
          <a:xfrm>
            <a:off x="1329035" y="1968103"/>
            <a:ext cx="145673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4–8 min, caos activo</a:t>
            </a:r>
            <a:endParaRPr lang="en-US" sz="1200" dirty="0"/>
          </a:p>
        </p:txBody>
      </p:sp>
      <p:sp>
        <p:nvSpPr>
          <p:cNvPr id="8" name="Shape 5"/>
          <p:cNvSpPr/>
          <p:nvPr/>
        </p:nvSpPr>
        <p:spPr>
          <a:xfrm>
            <a:off x="3511550" y="1530350"/>
            <a:ext cx="2476500" cy="800100"/>
          </a:xfrm>
          <a:prstGeom prst="roundRect">
            <a:avLst>
              <a:gd name="adj" fmla="val 11905"/>
            </a:avLst>
          </a:prstGeom>
          <a:solidFill>
            <a:srgbClr val="FFFFFF"/>
          </a:solidFill>
          <a:ln w="12700">
            <a:solidFill>
              <a:srgbClr val="1E293B"/>
            </a:solidFill>
            <a:prstDash val="solid"/>
          </a:ln>
        </p:spPr>
      </p:sp>
      <p:sp>
        <p:nvSpPr>
          <p:cNvPr id="9" name="Text 6"/>
          <p:cNvSpPr/>
          <p:nvPr/>
        </p:nvSpPr>
        <p:spPr>
          <a:xfrm>
            <a:off x="4031258" y="1702197"/>
            <a:ext cx="1436985"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INFORME-L7.md</a:t>
            </a:r>
            <a:endParaRPr lang="en-US" sz="1400" dirty="0"/>
          </a:p>
        </p:txBody>
      </p:sp>
      <p:sp>
        <p:nvSpPr>
          <p:cNvPr id="10" name="Text 7"/>
          <p:cNvSpPr/>
          <p:nvPr/>
        </p:nvSpPr>
        <p:spPr>
          <a:xfrm>
            <a:off x="4140795" y="1968103"/>
            <a:ext cx="121791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10 casos borde</a:t>
            </a:r>
            <a:endParaRPr lang="en-US" sz="1200" dirty="0"/>
          </a:p>
        </p:txBody>
      </p:sp>
      <p:sp>
        <p:nvSpPr>
          <p:cNvPr id="11" name="Shape 8"/>
          <p:cNvSpPr/>
          <p:nvPr/>
        </p:nvSpPr>
        <p:spPr>
          <a:xfrm>
            <a:off x="6203950" y="1530350"/>
            <a:ext cx="2476500" cy="800100"/>
          </a:xfrm>
          <a:prstGeom prst="roundRect">
            <a:avLst>
              <a:gd name="adj" fmla="val 11905"/>
            </a:avLst>
          </a:prstGeom>
          <a:solidFill>
            <a:srgbClr val="FFFFFF"/>
          </a:solidFill>
          <a:ln w="12700">
            <a:solidFill>
              <a:srgbClr val="1E293B"/>
            </a:solidFill>
            <a:prstDash val="solid"/>
          </a:ln>
        </p:spPr>
      </p:sp>
      <p:sp>
        <p:nvSpPr>
          <p:cNvPr id="12" name="Text 9"/>
          <p:cNvSpPr/>
          <p:nvPr/>
        </p:nvSpPr>
        <p:spPr>
          <a:xfrm>
            <a:off x="7174111" y="1702197"/>
            <a:ext cx="536079"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tests/</a:t>
            </a:r>
            <a:endParaRPr lang="en-US" sz="1400" dirty="0"/>
          </a:p>
        </p:txBody>
      </p:sp>
      <p:sp>
        <p:nvSpPr>
          <p:cNvPr id="13" name="Text 10"/>
          <p:cNvSpPr/>
          <p:nvPr/>
        </p:nvSpPr>
        <p:spPr>
          <a:xfrm>
            <a:off x="6657677" y="1968103"/>
            <a:ext cx="15689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 repetibles</a:t>
            </a:r>
            <a:endParaRPr lang="en-US" sz="1200" dirty="0"/>
          </a:p>
        </p:txBody>
      </p:sp>
      <p:sp>
        <p:nvSpPr>
          <p:cNvPr id="14" name="Shape 11"/>
          <p:cNvSpPr/>
          <p:nvPr/>
        </p:nvSpPr>
        <p:spPr>
          <a:xfrm>
            <a:off x="8896350" y="1530350"/>
            <a:ext cx="2476500" cy="800100"/>
          </a:xfrm>
          <a:prstGeom prst="roundRect">
            <a:avLst>
              <a:gd name="adj" fmla="val 11905"/>
            </a:avLst>
          </a:prstGeom>
          <a:solidFill>
            <a:srgbClr val="FFFFFF"/>
          </a:solidFill>
          <a:ln w="12700">
            <a:solidFill>
              <a:srgbClr val="1E293B"/>
            </a:solidFill>
            <a:prstDash val="solid"/>
          </a:ln>
        </p:spPr>
      </p:sp>
      <p:sp>
        <p:nvSpPr>
          <p:cNvPr id="15" name="Text 12"/>
          <p:cNvSpPr/>
          <p:nvPr/>
        </p:nvSpPr>
        <p:spPr>
          <a:xfrm>
            <a:off x="9215864" y="1702197"/>
            <a:ext cx="1837472"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Documento de diseño</a:t>
            </a:r>
            <a:endParaRPr lang="en-US" sz="1400" dirty="0"/>
          </a:p>
        </p:txBody>
      </p:sp>
      <p:sp>
        <p:nvSpPr>
          <p:cNvPr id="16" name="Text 13"/>
          <p:cNvSpPr/>
          <p:nvPr/>
        </p:nvSpPr>
        <p:spPr>
          <a:xfrm>
            <a:off x="9689703" y="1968103"/>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2–3 páginas</a:t>
            </a:r>
            <a:endParaRPr lang="en-US" sz="1200" dirty="0"/>
          </a:p>
        </p:txBody>
      </p:sp>
      <p:sp>
        <p:nvSpPr>
          <p:cNvPr id="17"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17 / 23</a:t>
            </a:r>
            <a:endParaRPr lang="en-US" sz="1200" dirty="0"/>
          </a:p>
        </p:txBody>
      </p:sp>
      <p:pic>
        <p:nvPicPr>
          <p:cNvPr id="18"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INFORME-L7 y tests/</a:t>
            </a:r>
            <a:endParaRPr lang="en-US" sz="3600" dirty="0"/>
          </a:p>
        </p:txBody>
      </p:sp>
      <p:sp>
        <p:nvSpPr>
          <p:cNvPr id="3" name="Shape 1"/>
          <p:cNvSpPr/>
          <p:nvPr/>
        </p:nvSpPr>
        <p:spPr>
          <a:xfrm>
            <a:off x="819150" y="1529755"/>
            <a:ext cx="5168900" cy="1800126"/>
          </a:xfrm>
          <a:prstGeom prst="roundRect">
            <a:avLst>
              <a:gd name="adj" fmla="val 5291"/>
            </a:avLst>
          </a:prstGeom>
          <a:solidFill>
            <a:srgbClr val="FFFFFF"/>
          </a:solidFill>
          <a:ln w="12700">
            <a:solidFill>
              <a:srgbClr val="1E293B"/>
            </a:solidFill>
            <a:prstDash val="solid"/>
          </a:ln>
        </p:spPr>
      </p:sp>
      <p:sp>
        <p:nvSpPr>
          <p:cNvPr id="4" name="Text 2"/>
          <p:cNvSpPr/>
          <p:nvPr/>
        </p:nvSpPr>
        <p:spPr>
          <a:xfrm>
            <a:off x="1028700" y="1739305"/>
            <a:ext cx="4892294"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INFORME-L7.md</a:t>
            </a:r>
            <a:endParaRPr lang="en-US" sz="1600" dirty="0"/>
          </a:p>
        </p:txBody>
      </p:sp>
      <p:sp>
        <p:nvSpPr>
          <p:cNvPr id="5" name="Text 3"/>
          <p:cNvSpPr/>
          <p:nvPr/>
        </p:nvSpPr>
        <p:spPr>
          <a:xfrm>
            <a:off x="1028700" y="2076549"/>
            <a:ext cx="4892294" cy="1069181"/>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 10 casos, </a:t>
            </a:r>
            <a:r>
              <a:rPr lang="en-US" sz="1500" b="1" dirty="0">
                <a:solidFill>
                  <a:srgbClr val="1E293B"/>
                </a:solidFill>
                <a:latin typeface="IBM Plex Sans" pitchFamily="34" charset="0"/>
                <a:ea typeface="IBM Plex Sans" pitchFamily="34" charset="-122"/>
                <a:cs typeface="IBM Plex Sans" pitchFamily="34" charset="-120"/>
              </a:rPr>
              <a:t>al menos 2 por familia</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Traza real: entrada, salida, qué se cambió, salida después</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Caso 0: el peor que encontraron</a:t>
            </a:r>
            <a:endParaRPr lang="en-US" sz="1500" dirty="0"/>
          </a:p>
        </p:txBody>
      </p:sp>
      <p:sp>
        <p:nvSpPr>
          <p:cNvPr id="6" name="Shape 4"/>
          <p:cNvSpPr/>
          <p:nvPr/>
        </p:nvSpPr>
        <p:spPr>
          <a:xfrm>
            <a:off x="6203950" y="1529755"/>
            <a:ext cx="5168900" cy="1800126"/>
          </a:xfrm>
          <a:prstGeom prst="roundRect">
            <a:avLst>
              <a:gd name="adj" fmla="val 5291"/>
            </a:avLst>
          </a:prstGeom>
          <a:solidFill>
            <a:srgbClr val="FFFFFF"/>
          </a:solidFill>
          <a:ln w="12700">
            <a:solidFill>
              <a:srgbClr val="1E293B"/>
            </a:solidFill>
            <a:prstDash val="solid"/>
          </a:ln>
        </p:spPr>
      </p:sp>
      <p:sp>
        <p:nvSpPr>
          <p:cNvPr id="7" name="Text 5"/>
          <p:cNvSpPr/>
          <p:nvPr/>
        </p:nvSpPr>
        <p:spPr>
          <a:xfrm>
            <a:off x="6413500" y="1739305"/>
            <a:ext cx="4892294"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tests/</a:t>
            </a:r>
            <a:endParaRPr lang="en-US" sz="1600" dirty="0"/>
          </a:p>
        </p:txBody>
      </p:sp>
      <p:sp>
        <p:nvSpPr>
          <p:cNvPr id="8" name="Text 6"/>
          <p:cNvSpPr/>
          <p:nvPr/>
        </p:nvSpPr>
        <p:spPr>
          <a:xfrm>
            <a:off x="6413500" y="2076549"/>
            <a:ext cx="4892294" cy="808236"/>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Invariantes, </a:t>
            </a:r>
            <a:r>
              <a:rPr lang="en-US" sz="1500" b="1" dirty="0">
                <a:solidFill>
                  <a:srgbClr val="1E293B"/>
                </a:solidFill>
                <a:latin typeface="IBM Plex Sans" pitchFamily="34" charset="0"/>
                <a:ea typeface="IBM Plex Sans" pitchFamily="34" charset="-122"/>
                <a:cs typeface="IBM Plex Sans" pitchFamily="34" charset="-120"/>
              </a:rPr>
              <a:t>no assert ==</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Repetibles y con tasa por familia</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Corren de punta a punta sin intervención manual</a:t>
            </a:r>
            <a:endParaRPr lang="en-US" sz="1500" dirty="0"/>
          </a:p>
        </p:txBody>
      </p:sp>
      <p:sp>
        <p:nvSpPr>
          <p:cNvPr id="9" name="Text 7"/>
          <p:cNvSpPr/>
          <p:nvPr/>
        </p:nvSpPr>
        <p:spPr>
          <a:xfrm>
            <a:off x="812800" y="3539430"/>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«Probamos varios escenarios y funcionó» no cuenta como evidencia.</a:t>
            </a:r>
            <a:endParaRPr lang="en-US" sz="1400" dirty="0"/>
          </a:p>
        </p:txBody>
      </p:sp>
      <p:sp>
        <p:nvSpPr>
          <p:cNvPr id="10" name="Shape 8"/>
          <p:cNvSpPr/>
          <p:nvPr/>
        </p:nvSpPr>
        <p:spPr>
          <a:xfrm>
            <a:off x="819150" y="1530350"/>
            <a:ext cx="2476500" cy="800100"/>
          </a:xfrm>
          <a:prstGeom prst="roundRect">
            <a:avLst>
              <a:gd name="adj" fmla="val 11905"/>
            </a:avLst>
          </a:prstGeom>
          <a:solidFill>
            <a:srgbClr val="FFFFFF"/>
          </a:solidFill>
          <a:ln w="12700">
            <a:solidFill>
              <a:srgbClr val="1E293B"/>
            </a:solidFill>
            <a:prstDash val="solid"/>
          </a:ln>
        </p:spPr>
      </p:sp>
      <p:sp>
        <p:nvSpPr>
          <p:cNvPr id="11" name="Text 9"/>
          <p:cNvSpPr/>
          <p:nvPr/>
        </p:nvSpPr>
        <p:spPr>
          <a:xfrm>
            <a:off x="1481336" y="1702197"/>
            <a:ext cx="1152128"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Demo en vivo</a:t>
            </a:r>
            <a:endParaRPr lang="en-US" sz="1400" dirty="0"/>
          </a:p>
        </p:txBody>
      </p:sp>
      <p:sp>
        <p:nvSpPr>
          <p:cNvPr id="12" name="Text 10"/>
          <p:cNvSpPr/>
          <p:nvPr/>
        </p:nvSpPr>
        <p:spPr>
          <a:xfrm>
            <a:off x="1329035" y="1968103"/>
            <a:ext cx="145673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4–8 min, caos activo</a:t>
            </a:r>
            <a:endParaRPr lang="en-US" sz="1200" dirty="0"/>
          </a:p>
        </p:txBody>
      </p:sp>
      <p:sp>
        <p:nvSpPr>
          <p:cNvPr id="13" name="Shape 11"/>
          <p:cNvSpPr/>
          <p:nvPr/>
        </p:nvSpPr>
        <p:spPr>
          <a:xfrm>
            <a:off x="3517900" y="1536700"/>
            <a:ext cx="2463800" cy="787400"/>
          </a:xfrm>
          <a:prstGeom prst="roundRect">
            <a:avLst>
              <a:gd name="adj" fmla="val 11290"/>
            </a:avLst>
          </a:prstGeom>
          <a:solidFill>
            <a:srgbClr val="FFF0EB"/>
          </a:solidFill>
          <a:ln w="25400">
            <a:solidFill>
              <a:srgbClr val="FF5733"/>
            </a:solidFill>
            <a:prstDash val="solid"/>
          </a:ln>
        </p:spPr>
      </p:sp>
      <p:sp>
        <p:nvSpPr>
          <p:cNvPr id="14" name="Text 12"/>
          <p:cNvSpPr/>
          <p:nvPr/>
        </p:nvSpPr>
        <p:spPr>
          <a:xfrm>
            <a:off x="4031258" y="1702197"/>
            <a:ext cx="1436985"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INFORME-L7.md</a:t>
            </a:r>
            <a:endParaRPr lang="en-US" sz="1400" dirty="0"/>
          </a:p>
        </p:txBody>
      </p:sp>
      <p:sp>
        <p:nvSpPr>
          <p:cNvPr id="15" name="Text 13"/>
          <p:cNvSpPr/>
          <p:nvPr/>
        </p:nvSpPr>
        <p:spPr>
          <a:xfrm>
            <a:off x="4140795" y="1968103"/>
            <a:ext cx="121791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10 casos borde</a:t>
            </a:r>
            <a:endParaRPr lang="en-US" sz="1200" dirty="0"/>
          </a:p>
        </p:txBody>
      </p:sp>
      <p:sp>
        <p:nvSpPr>
          <p:cNvPr id="16" name="Shape 14"/>
          <p:cNvSpPr/>
          <p:nvPr/>
        </p:nvSpPr>
        <p:spPr>
          <a:xfrm>
            <a:off x="6210300" y="1536700"/>
            <a:ext cx="2463800" cy="787400"/>
          </a:xfrm>
          <a:prstGeom prst="roundRect">
            <a:avLst>
              <a:gd name="adj" fmla="val 11290"/>
            </a:avLst>
          </a:prstGeom>
          <a:solidFill>
            <a:srgbClr val="FFF0EB"/>
          </a:solidFill>
          <a:ln w="25400">
            <a:solidFill>
              <a:srgbClr val="FF5733"/>
            </a:solidFill>
            <a:prstDash val="solid"/>
          </a:ln>
        </p:spPr>
      </p:sp>
      <p:sp>
        <p:nvSpPr>
          <p:cNvPr id="17" name="Text 15"/>
          <p:cNvSpPr/>
          <p:nvPr/>
        </p:nvSpPr>
        <p:spPr>
          <a:xfrm>
            <a:off x="7174111" y="1702197"/>
            <a:ext cx="536079"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tests/</a:t>
            </a:r>
            <a:endParaRPr lang="en-US" sz="1400" dirty="0"/>
          </a:p>
        </p:txBody>
      </p:sp>
      <p:sp>
        <p:nvSpPr>
          <p:cNvPr id="18" name="Text 16"/>
          <p:cNvSpPr/>
          <p:nvPr/>
        </p:nvSpPr>
        <p:spPr>
          <a:xfrm>
            <a:off x="6657677" y="1968103"/>
            <a:ext cx="15689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 repetibles</a:t>
            </a:r>
            <a:endParaRPr lang="en-US" sz="1200" dirty="0"/>
          </a:p>
        </p:txBody>
      </p:sp>
      <p:sp>
        <p:nvSpPr>
          <p:cNvPr id="19" name="Shape 17"/>
          <p:cNvSpPr/>
          <p:nvPr/>
        </p:nvSpPr>
        <p:spPr>
          <a:xfrm>
            <a:off x="8896350" y="1530350"/>
            <a:ext cx="2476500" cy="800100"/>
          </a:xfrm>
          <a:prstGeom prst="roundRect">
            <a:avLst>
              <a:gd name="adj" fmla="val 11905"/>
            </a:avLst>
          </a:prstGeom>
          <a:solidFill>
            <a:srgbClr val="FFFFFF"/>
          </a:solidFill>
          <a:ln w="12700">
            <a:solidFill>
              <a:srgbClr val="1E293B"/>
            </a:solidFill>
            <a:prstDash val="solid"/>
          </a:ln>
        </p:spPr>
      </p:sp>
      <p:sp>
        <p:nvSpPr>
          <p:cNvPr id="20" name="Text 18"/>
          <p:cNvSpPr/>
          <p:nvPr/>
        </p:nvSpPr>
        <p:spPr>
          <a:xfrm>
            <a:off x="9215864" y="1702197"/>
            <a:ext cx="1837472"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Documento de diseño</a:t>
            </a:r>
            <a:endParaRPr lang="en-US" sz="1400" dirty="0"/>
          </a:p>
        </p:txBody>
      </p:sp>
      <p:sp>
        <p:nvSpPr>
          <p:cNvPr id="21" name="Text 19"/>
          <p:cNvSpPr/>
          <p:nvPr/>
        </p:nvSpPr>
        <p:spPr>
          <a:xfrm>
            <a:off x="9689703" y="1968103"/>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2–3 páginas</a:t>
            </a:r>
            <a:endParaRPr lang="en-US" sz="1200" dirty="0"/>
          </a:p>
        </p:txBody>
      </p:sp>
      <p:sp>
        <p:nvSpPr>
          <p:cNvPr id="22" name="Text 20"/>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18 / 23</a:t>
            </a:r>
            <a:endParaRPr lang="en-US" sz="1200" dirty="0"/>
          </a:p>
        </p:txBody>
      </p:sp>
      <p:pic>
        <p:nvPicPr>
          <p:cNvPr id="23"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Documento de diseño</a:t>
            </a:r>
            <a:endParaRPr lang="en-US" sz="3600" dirty="0"/>
          </a:p>
        </p:txBody>
      </p:sp>
      <p:sp>
        <p:nvSpPr>
          <p:cNvPr id="3" name="Text 1"/>
          <p:cNvSpPr/>
          <p:nvPr/>
        </p:nvSpPr>
        <p:spPr>
          <a:xfrm>
            <a:off x="812800" y="15234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A1 pedía una tool que funcionara; el M2 pide </a:t>
            </a:r>
            <a:r>
              <a:rPr lang="en-US" sz="1600" b="1" dirty="0">
                <a:solidFill>
                  <a:srgbClr val="1E293B"/>
                </a:solidFill>
                <a:latin typeface="IBM Plex Sans" pitchFamily="34" charset="0"/>
                <a:ea typeface="IBM Plex Sans" pitchFamily="34" charset="-122"/>
                <a:cs typeface="IBM Plex Sans" pitchFamily="34" charset="-120"/>
              </a:rPr>
              <a:t>defender las decisiones de arquitectura</a:t>
            </a:r>
            <a:r>
              <a:rPr lang="en-US" sz="1600" dirty="0">
                <a:solidFill>
                  <a:srgbClr val="1E293B"/>
                </a:solidFill>
                <a:latin typeface="IBM Plex Sans" pitchFamily="34" charset="0"/>
                <a:ea typeface="IBM Plex Sans" pitchFamily="34" charset="-122"/>
                <a:cs typeface="IBM Plex Sans" pitchFamily="34" charset="-120"/>
              </a:rPr>
              <a:t>. Es insumo del Proyecto Integrador (S11).</a:t>
            </a:r>
            <a:endParaRPr lang="en-US" sz="1600" dirty="0"/>
          </a:p>
        </p:txBody>
      </p:sp>
      <p:sp>
        <p:nvSpPr>
          <p:cNvPr id="4" name="Text 2"/>
          <p:cNvSpPr/>
          <p:nvPr/>
        </p:nvSpPr>
        <p:spPr>
          <a:xfrm>
            <a:off x="812800" y="2287389"/>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1</a:t>
            </a:r>
            <a:endParaRPr lang="en-US" sz="1500" dirty="0"/>
          </a:p>
        </p:txBody>
      </p:sp>
      <p:sp>
        <p:nvSpPr>
          <p:cNvPr id="5" name="Text 3"/>
          <p:cNvSpPr/>
          <p:nvPr/>
        </p:nvSpPr>
        <p:spPr>
          <a:xfrm>
            <a:off x="1028700" y="2287389"/>
            <a:ext cx="2432146"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El caso de uso, en una frase</a:t>
            </a:r>
            <a:endParaRPr lang="en-US" sz="1500" dirty="0"/>
          </a:p>
        </p:txBody>
      </p:sp>
      <p:sp>
        <p:nvSpPr>
          <p:cNvPr id="6" name="Text 4"/>
          <p:cNvSpPr/>
          <p:nvPr/>
        </p:nvSpPr>
        <p:spPr>
          <a:xfrm>
            <a:off x="6096000" y="2287389"/>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2</a:t>
            </a:r>
            <a:endParaRPr lang="en-US" sz="1500" dirty="0"/>
          </a:p>
        </p:txBody>
      </p:sp>
      <p:sp>
        <p:nvSpPr>
          <p:cNvPr id="7" name="Text 5"/>
          <p:cNvSpPr/>
          <p:nvPr/>
        </p:nvSpPr>
        <p:spPr>
          <a:xfrm>
            <a:off x="6311900" y="2287389"/>
            <a:ext cx="1120477"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Arquitectura</a:t>
            </a:r>
            <a:endParaRPr lang="en-US" sz="1500" dirty="0"/>
          </a:p>
        </p:txBody>
      </p:sp>
      <p:sp>
        <p:nvSpPr>
          <p:cNvPr id="8" name="Text 6"/>
          <p:cNvSpPr/>
          <p:nvPr/>
        </p:nvSpPr>
        <p:spPr>
          <a:xfrm>
            <a:off x="812800" y="2540695"/>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3</a:t>
            </a:r>
            <a:endParaRPr lang="en-US" sz="1500" dirty="0"/>
          </a:p>
        </p:txBody>
      </p:sp>
      <p:sp>
        <p:nvSpPr>
          <p:cNvPr id="9" name="Text 7"/>
          <p:cNvSpPr/>
          <p:nvPr/>
        </p:nvSpPr>
        <p:spPr>
          <a:xfrm>
            <a:off x="1028700" y="2540695"/>
            <a:ext cx="2899894"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Las 4 tools núcleo y por qué esas</a:t>
            </a:r>
            <a:endParaRPr lang="en-US" sz="1500" dirty="0"/>
          </a:p>
        </p:txBody>
      </p:sp>
      <p:sp>
        <p:nvSpPr>
          <p:cNvPr id="10" name="Text 8"/>
          <p:cNvSpPr/>
          <p:nvPr/>
        </p:nvSpPr>
        <p:spPr>
          <a:xfrm>
            <a:off x="6096000" y="2540695"/>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4</a:t>
            </a:r>
            <a:endParaRPr lang="en-US" sz="1500" dirty="0"/>
          </a:p>
        </p:txBody>
      </p:sp>
      <p:sp>
        <p:nvSpPr>
          <p:cNvPr id="11" name="Text 9"/>
          <p:cNvSpPr/>
          <p:nvPr/>
        </p:nvSpPr>
        <p:spPr>
          <a:xfrm>
            <a:off x="6311900" y="2540695"/>
            <a:ext cx="1657945"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Decisiones de RAG</a:t>
            </a:r>
            <a:endParaRPr lang="en-US" sz="1500" dirty="0"/>
          </a:p>
        </p:txBody>
      </p:sp>
      <p:sp>
        <p:nvSpPr>
          <p:cNvPr id="12" name="Text 10"/>
          <p:cNvSpPr/>
          <p:nvPr/>
        </p:nvSpPr>
        <p:spPr>
          <a:xfrm>
            <a:off x="812800" y="2794000"/>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5</a:t>
            </a:r>
            <a:endParaRPr lang="en-US" sz="1500" dirty="0"/>
          </a:p>
        </p:txBody>
      </p:sp>
      <p:sp>
        <p:nvSpPr>
          <p:cNvPr id="13" name="Text 11"/>
          <p:cNvSpPr/>
          <p:nvPr/>
        </p:nvSpPr>
        <p:spPr>
          <a:xfrm>
            <a:off x="1028700" y="2794000"/>
            <a:ext cx="2148248"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Decisiones de guardrails</a:t>
            </a:r>
            <a:endParaRPr lang="en-US" sz="1500" dirty="0"/>
          </a:p>
        </p:txBody>
      </p:sp>
      <p:sp>
        <p:nvSpPr>
          <p:cNvPr id="14" name="Text 12"/>
          <p:cNvSpPr/>
          <p:nvPr/>
        </p:nvSpPr>
        <p:spPr>
          <a:xfrm>
            <a:off x="6096000" y="2794000"/>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6</a:t>
            </a:r>
            <a:endParaRPr lang="en-US" sz="1500" dirty="0"/>
          </a:p>
        </p:txBody>
      </p:sp>
      <p:sp>
        <p:nvSpPr>
          <p:cNvPr id="15" name="Text 13"/>
          <p:cNvSpPr/>
          <p:nvPr/>
        </p:nvSpPr>
        <p:spPr>
          <a:xfrm>
            <a:off x="6311900" y="2794000"/>
            <a:ext cx="3528600"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Qué se rompió y cómo se endureció (L7)</a:t>
            </a:r>
            <a:endParaRPr lang="en-US" sz="1500" dirty="0"/>
          </a:p>
        </p:txBody>
      </p:sp>
      <p:sp>
        <p:nvSpPr>
          <p:cNvPr id="16" name="Text 14"/>
          <p:cNvSpPr/>
          <p:nvPr/>
        </p:nvSpPr>
        <p:spPr>
          <a:xfrm>
            <a:off x="812800" y="3047305"/>
            <a:ext cx="165100" cy="278705"/>
          </a:xfrm>
          <a:prstGeom prst="rect">
            <a:avLst/>
          </a:prstGeom>
          <a:noFill/>
          <a:ln/>
        </p:spPr>
        <p:txBody>
          <a:bodyPr wrap="square" lIns="0" tIns="0" rIns="0" bIns="0" rtlCol="0" anchor="t">
            <a:normAutofit/>
          </a:bodyPr>
          <a:lstStyle/>
          <a:p>
            <a:pPr algn="l" indent="0" marL="0">
              <a:lnSpc>
                <a:spcPts val="1995"/>
              </a:lnSpc>
              <a:buNone/>
            </a:pPr>
            <a:r>
              <a:rPr lang="en-US" sz="1500" b="1" dirty="0">
                <a:solidFill>
                  <a:srgbClr val="526277"/>
                </a:solidFill>
                <a:latin typeface="IBM Plex Sans" pitchFamily="34" charset="0"/>
                <a:ea typeface="IBM Plex Sans" pitchFamily="34" charset="-122"/>
                <a:cs typeface="IBM Plex Sans" pitchFamily="34" charset="-120"/>
              </a:rPr>
              <a:t>7</a:t>
            </a:r>
            <a:endParaRPr lang="en-US" sz="1500" dirty="0"/>
          </a:p>
        </p:txBody>
      </p:sp>
      <p:sp>
        <p:nvSpPr>
          <p:cNvPr id="17" name="Text 15"/>
          <p:cNvSpPr/>
          <p:nvPr/>
        </p:nvSpPr>
        <p:spPr>
          <a:xfrm>
            <a:off x="1028700" y="3047305"/>
            <a:ext cx="2349879"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Qué dejarían para después</a:t>
            </a:r>
            <a:endParaRPr lang="en-US" sz="1500" dirty="0"/>
          </a:p>
        </p:txBody>
      </p:sp>
      <p:sp>
        <p:nvSpPr>
          <p:cNvPr id="18" name="Shape 16"/>
          <p:cNvSpPr/>
          <p:nvPr/>
        </p:nvSpPr>
        <p:spPr>
          <a:xfrm>
            <a:off x="819150" y="1530350"/>
            <a:ext cx="2476500" cy="800100"/>
          </a:xfrm>
          <a:prstGeom prst="roundRect">
            <a:avLst>
              <a:gd name="adj" fmla="val 11905"/>
            </a:avLst>
          </a:prstGeom>
          <a:solidFill>
            <a:srgbClr val="FFFFFF"/>
          </a:solidFill>
          <a:ln w="12700">
            <a:solidFill>
              <a:srgbClr val="1E293B"/>
            </a:solidFill>
            <a:prstDash val="solid"/>
          </a:ln>
        </p:spPr>
      </p:sp>
      <p:sp>
        <p:nvSpPr>
          <p:cNvPr id="19" name="Text 17"/>
          <p:cNvSpPr/>
          <p:nvPr/>
        </p:nvSpPr>
        <p:spPr>
          <a:xfrm>
            <a:off x="1481336" y="1702197"/>
            <a:ext cx="1152128"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Demo en vivo</a:t>
            </a:r>
            <a:endParaRPr lang="en-US" sz="1400" dirty="0"/>
          </a:p>
        </p:txBody>
      </p:sp>
      <p:sp>
        <p:nvSpPr>
          <p:cNvPr id="20" name="Text 18"/>
          <p:cNvSpPr/>
          <p:nvPr/>
        </p:nvSpPr>
        <p:spPr>
          <a:xfrm>
            <a:off x="1329035" y="1968103"/>
            <a:ext cx="145673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4–8 min, caos activo</a:t>
            </a:r>
            <a:endParaRPr lang="en-US" sz="1200" dirty="0"/>
          </a:p>
        </p:txBody>
      </p:sp>
      <p:sp>
        <p:nvSpPr>
          <p:cNvPr id="21" name="Shape 19"/>
          <p:cNvSpPr/>
          <p:nvPr/>
        </p:nvSpPr>
        <p:spPr>
          <a:xfrm>
            <a:off x="3511550" y="1530350"/>
            <a:ext cx="2476500" cy="800100"/>
          </a:xfrm>
          <a:prstGeom prst="roundRect">
            <a:avLst>
              <a:gd name="adj" fmla="val 11905"/>
            </a:avLst>
          </a:prstGeom>
          <a:solidFill>
            <a:srgbClr val="FFFFFF"/>
          </a:solidFill>
          <a:ln w="12700">
            <a:solidFill>
              <a:srgbClr val="1E293B"/>
            </a:solidFill>
            <a:prstDash val="solid"/>
          </a:ln>
        </p:spPr>
      </p:sp>
      <p:sp>
        <p:nvSpPr>
          <p:cNvPr id="22" name="Text 20"/>
          <p:cNvSpPr/>
          <p:nvPr/>
        </p:nvSpPr>
        <p:spPr>
          <a:xfrm>
            <a:off x="4031258" y="1702197"/>
            <a:ext cx="1436985"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INFORME-L7.md</a:t>
            </a:r>
            <a:endParaRPr lang="en-US" sz="1400" dirty="0"/>
          </a:p>
        </p:txBody>
      </p:sp>
      <p:sp>
        <p:nvSpPr>
          <p:cNvPr id="23" name="Text 21"/>
          <p:cNvSpPr/>
          <p:nvPr/>
        </p:nvSpPr>
        <p:spPr>
          <a:xfrm>
            <a:off x="4140795" y="1968103"/>
            <a:ext cx="121791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10 casos borde</a:t>
            </a:r>
            <a:endParaRPr lang="en-US" sz="1200" dirty="0"/>
          </a:p>
        </p:txBody>
      </p:sp>
      <p:sp>
        <p:nvSpPr>
          <p:cNvPr id="24" name="Shape 22"/>
          <p:cNvSpPr/>
          <p:nvPr/>
        </p:nvSpPr>
        <p:spPr>
          <a:xfrm>
            <a:off x="6203950" y="1530350"/>
            <a:ext cx="2476500" cy="800100"/>
          </a:xfrm>
          <a:prstGeom prst="roundRect">
            <a:avLst>
              <a:gd name="adj" fmla="val 11905"/>
            </a:avLst>
          </a:prstGeom>
          <a:solidFill>
            <a:srgbClr val="FFFFFF"/>
          </a:solidFill>
          <a:ln w="12700">
            <a:solidFill>
              <a:srgbClr val="1E293B"/>
            </a:solidFill>
            <a:prstDash val="solid"/>
          </a:ln>
        </p:spPr>
      </p:sp>
      <p:sp>
        <p:nvSpPr>
          <p:cNvPr id="25" name="Text 23"/>
          <p:cNvSpPr/>
          <p:nvPr/>
        </p:nvSpPr>
        <p:spPr>
          <a:xfrm>
            <a:off x="7174111" y="1702197"/>
            <a:ext cx="536079"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tests/</a:t>
            </a:r>
            <a:endParaRPr lang="en-US" sz="1400" dirty="0"/>
          </a:p>
        </p:txBody>
      </p:sp>
      <p:sp>
        <p:nvSpPr>
          <p:cNvPr id="26" name="Text 24"/>
          <p:cNvSpPr/>
          <p:nvPr/>
        </p:nvSpPr>
        <p:spPr>
          <a:xfrm>
            <a:off x="6657677" y="1968103"/>
            <a:ext cx="15689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 repetibles</a:t>
            </a:r>
            <a:endParaRPr lang="en-US" sz="1200" dirty="0"/>
          </a:p>
        </p:txBody>
      </p:sp>
      <p:sp>
        <p:nvSpPr>
          <p:cNvPr id="27" name="Shape 25"/>
          <p:cNvSpPr/>
          <p:nvPr/>
        </p:nvSpPr>
        <p:spPr>
          <a:xfrm>
            <a:off x="8902700" y="1536700"/>
            <a:ext cx="2463800" cy="787400"/>
          </a:xfrm>
          <a:prstGeom prst="roundRect">
            <a:avLst>
              <a:gd name="adj" fmla="val 11290"/>
            </a:avLst>
          </a:prstGeom>
          <a:solidFill>
            <a:srgbClr val="FFF0EB"/>
          </a:solidFill>
          <a:ln w="25400">
            <a:solidFill>
              <a:srgbClr val="FF5733"/>
            </a:solidFill>
            <a:prstDash val="solid"/>
          </a:ln>
        </p:spPr>
      </p:sp>
      <p:sp>
        <p:nvSpPr>
          <p:cNvPr id="28" name="Text 26"/>
          <p:cNvSpPr/>
          <p:nvPr/>
        </p:nvSpPr>
        <p:spPr>
          <a:xfrm>
            <a:off x="9215864" y="1702197"/>
            <a:ext cx="1837472"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Documento de diseño</a:t>
            </a:r>
            <a:endParaRPr lang="en-US" sz="1400" dirty="0"/>
          </a:p>
        </p:txBody>
      </p:sp>
      <p:sp>
        <p:nvSpPr>
          <p:cNvPr id="29" name="Text 27"/>
          <p:cNvSpPr/>
          <p:nvPr/>
        </p:nvSpPr>
        <p:spPr>
          <a:xfrm>
            <a:off x="9689703" y="1968103"/>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2–3 páginas</a:t>
            </a:r>
            <a:endParaRPr lang="en-US" sz="1200" dirty="0"/>
          </a:p>
        </p:txBody>
      </p:sp>
      <p:sp>
        <p:nvSpPr>
          <p:cNvPr id="30" name="Text 2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19 / 23</a:t>
            </a:r>
            <a:endParaRPr lang="en-US" sz="1200" dirty="0"/>
          </a:p>
        </p:txBody>
      </p:sp>
      <p:pic>
        <p:nvPicPr>
          <p:cNvPr id="31"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ronda de demos</a:t>
            </a:r>
            <a:endParaRPr lang="en-US" sz="3600" dirty="0"/>
          </a:p>
        </p:txBody>
      </p:sp>
      <p:sp>
        <p:nvSpPr>
          <p:cNvPr id="3" name="Text 1"/>
          <p:cNvSpPr/>
          <p:nvPr/>
        </p:nvSpPr>
        <p:spPr>
          <a:xfrm>
            <a:off x="812800" y="15234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Abre con el </a:t>
            </a:r>
            <a:r>
              <a:rPr lang="en-US" sz="1600" b="1" dirty="0">
                <a:solidFill>
                  <a:srgbClr val="1E293B"/>
                </a:solidFill>
                <a:latin typeface="IBM Plex Sans" pitchFamily="34" charset="0"/>
                <a:ea typeface="IBM Plex Sans" pitchFamily="34" charset="-122"/>
                <a:cs typeface="IBM Plex Sans" pitchFamily="34" charset="-120"/>
              </a:rPr>
              <a:t>peor caso encontrado y resuelto</a:t>
            </a:r>
            <a:r>
              <a:rPr lang="en-US" sz="1600" dirty="0">
                <a:solidFill>
                  <a:srgbClr val="1E293B"/>
                </a:solidFill>
                <a:latin typeface="IBM Plex Sans" pitchFamily="34" charset="0"/>
                <a:ea typeface="IBM Plex Sans" pitchFamily="34" charset="-122"/>
                <a:cs typeface="IBM Plex Sans" pitchFamily="34" charset="-120"/>
              </a:rPr>
              <a:t>, no con el camino feliz.</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019697"/>
          <a:ext cx="10553700" cy="1543844"/>
        </p:xfrm>
        <a:graphic>
          <a:graphicData uri="http://schemas.openxmlformats.org/drawingml/2006/table">
            <a:tbl>
              <a:tblPr/>
              <a:tblGrid>
                <a:gridCol w="1899666"/>
                <a:gridCol w="4643628"/>
                <a:gridCol w="4010406"/>
              </a:tblGrid>
              <a:tr h="385961">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Equipos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Por equipo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Total en 90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 min de demo + 3 de preguntas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88 min · holgado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5 min + 2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84 min · justo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85961">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15</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 min + 2</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90 min · al límite, sin margen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5" name="Text 2"/>
          <p:cNvSpPr/>
          <p:nvPr/>
        </p:nvSpPr>
        <p:spPr>
          <a:xfrm>
            <a:off x="812800" y="3766741"/>
            <a:ext cx="10883392" cy="508992"/>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Más de 15 equipos: la ronda se parte entre la S7 y los primeros 20 min de la S8. La retroalimentación extensa llega por escrito, después.</a:t>
            </a:r>
            <a:endParaRPr lang="en-US" sz="1400" dirty="0"/>
          </a:p>
        </p:txBody>
      </p:sp>
      <p:sp>
        <p:nvSpPr>
          <p:cNvPr id="6" name="Shape 3"/>
          <p:cNvSpPr/>
          <p:nvPr/>
        </p:nvSpPr>
        <p:spPr>
          <a:xfrm>
            <a:off x="825500" y="1536700"/>
            <a:ext cx="2463800" cy="787400"/>
          </a:xfrm>
          <a:prstGeom prst="roundRect">
            <a:avLst>
              <a:gd name="adj" fmla="val 11290"/>
            </a:avLst>
          </a:prstGeom>
          <a:solidFill>
            <a:srgbClr val="FFF0EB"/>
          </a:solidFill>
          <a:ln w="25400">
            <a:solidFill>
              <a:srgbClr val="FF5733"/>
            </a:solidFill>
            <a:prstDash val="solid"/>
          </a:ln>
        </p:spPr>
      </p:sp>
      <p:sp>
        <p:nvSpPr>
          <p:cNvPr id="7" name="Text 4"/>
          <p:cNvSpPr/>
          <p:nvPr/>
        </p:nvSpPr>
        <p:spPr>
          <a:xfrm>
            <a:off x="1481336" y="1702197"/>
            <a:ext cx="1152128"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Demo en vivo</a:t>
            </a:r>
            <a:endParaRPr lang="en-US" sz="1400" dirty="0"/>
          </a:p>
        </p:txBody>
      </p:sp>
      <p:sp>
        <p:nvSpPr>
          <p:cNvPr id="8" name="Text 5"/>
          <p:cNvSpPr/>
          <p:nvPr/>
        </p:nvSpPr>
        <p:spPr>
          <a:xfrm>
            <a:off x="1329035" y="1968103"/>
            <a:ext cx="145673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4–8 min, caos activo</a:t>
            </a:r>
            <a:endParaRPr lang="en-US" sz="1200" dirty="0"/>
          </a:p>
        </p:txBody>
      </p:sp>
      <p:sp>
        <p:nvSpPr>
          <p:cNvPr id="9" name="Shape 6"/>
          <p:cNvSpPr/>
          <p:nvPr/>
        </p:nvSpPr>
        <p:spPr>
          <a:xfrm>
            <a:off x="3511550" y="1530350"/>
            <a:ext cx="2476500" cy="800100"/>
          </a:xfrm>
          <a:prstGeom prst="roundRect">
            <a:avLst>
              <a:gd name="adj" fmla="val 11905"/>
            </a:avLst>
          </a:prstGeom>
          <a:solidFill>
            <a:srgbClr val="FFFFFF"/>
          </a:solidFill>
          <a:ln w="12700">
            <a:solidFill>
              <a:srgbClr val="1E293B"/>
            </a:solidFill>
            <a:prstDash val="solid"/>
          </a:ln>
        </p:spPr>
      </p:sp>
      <p:sp>
        <p:nvSpPr>
          <p:cNvPr id="10" name="Text 7"/>
          <p:cNvSpPr/>
          <p:nvPr/>
        </p:nvSpPr>
        <p:spPr>
          <a:xfrm>
            <a:off x="4031258" y="1702197"/>
            <a:ext cx="1436985"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INFORME-L7.md</a:t>
            </a:r>
            <a:endParaRPr lang="en-US" sz="1400" dirty="0"/>
          </a:p>
        </p:txBody>
      </p:sp>
      <p:sp>
        <p:nvSpPr>
          <p:cNvPr id="11" name="Text 8"/>
          <p:cNvSpPr/>
          <p:nvPr/>
        </p:nvSpPr>
        <p:spPr>
          <a:xfrm>
            <a:off x="4140795" y="1968103"/>
            <a:ext cx="1217910"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 10 casos borde</a:t>
            </a:r>
            <a:endParaRPr lang="en-US" sz="1200" dirty="0"/>
          </a:p>
        </p:txBody>
      </p:sp>
      <p:sp>
        <p:nvSpPr>
          <p:cNvPr id="12" name="Shape 9"/>
          <p:cNvSpPr/>
          <p:nvPr/>
        </p:nvSpPr>
        <p:spPr>
          <a:xfrm>
            <a:off x="6203950" y="1530350"/>
            <a:ext cx="2476500" cy="800100"/>
          </a:xfrm>
          <a:prstGeom prst="roundRect">
            <a:avLst>
              <a:gd name="adj" fmla="val 11905"/>
            </a:avLst>
          </a:prstGeom>
          <a:solidFill>
            <a:srgbClr val="FFFFFF"/>
          </a:solidFill>
          <a:ln w="12700">
            <a:solidFill>
              <a:srgbClr val="1E293B"/>
            </a:solidFill>
            <a:prstDash val="solid"/>
          </a:ln>
        </p:spPr>
      </p:sp>
      <p:sp>
        <p:nvSpPr>
          <p:cNvPr id="13" name="Text 10"/>
          <p:cNvSpPr/>
          <p:nvPr/>
        </p:nvSpPr>
        <p:spPr>
          <a:xfrm>
            <a:off x="7174111" y="1702197"/>
            <a:ext cx="536079"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tests/</a:t>
            </a:r>
            <a:endParaRPr lang="en-US" sz="1400" dirty="0"/>
          </a:p>
        </p:txBody>
      </p:sp>
      <p:sp>
        <p:nvSpPr>
          <p:cNvPr id="14" name="Text 11"/>
          <p:cNvSpPr/>
          <p:nvPr/>
        </p:nvSpPr>
        <p:spPr>
          <a:xfrm>
            <a:off x="6657677" y="1968103"/>
            <a:ext cx="156894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invariantes, repetibles</a:t>
            </a:r>
            <a:endParaRPr lang="en-US" sz="1200" dirty="0"/>
          </a:p>
        </p:txBody>
      </p:sp>
      <p:sp>
        <p:nvSpPr>
          <p:cNvPr id="15" name="Shape 12"/>
          <p:cNvSpPr/>
          <p:nvPr/>
        </p:nvSpPr>
        <p:spPr>
          <a:xfrm>
            <a:off x="8896350" y="1530350"/>
            <a:ext cx="2476500" cy="800100"/>
          </a:xfrm>
          <a:prstGeom prst="roundRect">
            <a:avLst>
              <a:gd name="adj" fmla="val 11905"/>
            </a:avLst>
          </a:prstGeom>
          <a:solidFill>
            <a:srgbClr val="FFFFFF"/>
          </a:solidFill>
          <a:ln w="12700">
            <a:solidFill>
              <a:srgbClr val="1E293B"/>
            </a:solidFill>
            <a:prstDash val="solid"/>
          </a:ln>
        </p:spPr>
      </p:sp>
      <p:sp>
        <p:nvSpPr>
          <p:cNvPr id="16" name="Text 13"/>
          <p:cNvSpPr/>
          <p:nvPr/>
        </p:nvSpPr>
        <p:spPr>
          <a:xfrm>
            <a:off x="9215864" y="1702197"/>
            <a:ext cx="1837472" cy="240506"/>
          </a:xfrm>
          <a:prstGeom prst="rect">
            <a:avLst/>
          </a:prstGeom>
          <a:noFill/>
          <a:ln/>
        </p:spPr>
        <p:txBody>
          <a:bodyPr wrap="square" lIns="0" tIns="0" rIns="0" bIns="0" rtlCol="0" anchor="t">
            <a:normAutofit/>
          </a:bodyPr>
          <a:lstStyle/>
          <a:p>
            <a:pPr algn="ctr" indent="0" marL="0">
              <a:lnSpc>
                <a:spcPts val="1694"/>
              </a:lnSpc>
              <a:buNone/>
            </a:pPr>
            <a:r>
              <a:rPr lang="en-US" sz="1400" b="1" dirty="0">
                <a:solidFill>
                  <a:srgbClr val="1E293B"/>
                </a:solidFill>
                <a:latin typeface="IBM Plex Sans" pitchFamily="34" charset="0"/>
                <a:ea typeface="IBM Plex Sans" pitchFamily="34" charset="-122"/>
                <a:cs typeface="IBM Plex Sans" pitchFamily="34" charset="-120"/>
              </a:rPr>
              <a:t>Documento de diseño</a:t>
            </a:r>
            <a:endParaRPr lang="en-US" sz="1400" dirty="0"/>
          </a:p>
        </p:txBody>
      </p:sp>
      <p:sp>
        <p:nvSpPr>
          <p:cNvPr id="17" name="Text 14"/>
          <p:cNvSpPr/>
          <p:nvPr/>
        </p:nvSpPr>
        <p:spPr>
          <a:xfrm>
            <a:off x="9689703" y="1968103"/>
            <a:ext cx="88979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2–3 páginas</a:t>
            </a:r>
            <a:endParaRPr lang="en-US" sz="1200" dirty="0"/>
          </a:p>
        </p:txBody>
      </p:sp>
      <p:sp>
        <p:nvSpPr>
          <p:cNvPr id="18"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20 / 23</a:t>
            </a:r>
            <a:endParaRPr lang="en-US" sz="1200" dirty="0"/>
          </a:p>
        </p:txBody>
      </p:sp>
      <p:pic>
        <p:nvPicPr>
          <p:cNvPr id="19"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Rúbrica del Proyecto M2</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536105"/>
          <a:ext cx="10553700" cy="2155627"/>
        </p:xfrm>
        <a:graphic>
          <a:graphicData uri="http://schemas.openxmlformats.org/drawingml/2006/table">
            <a:tbl>
              <a:tblPr/>
              <a:tblGrid>
                <a:gridCol w="3166110"/>
                <a:gridCol w="1055370"/>
                <a:gridCol w="6332220"/>
              </a:tblGrid>
              <a:tr h="359271">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Criterio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Peso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Qué se mira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Funcionalidad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Resuelve el caso de uso con tools + RAG + memoria, con el caos activo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Diseño de tools y prompts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Las 4 tools, el retriever y el system prompt del track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Guardrails y manejo de errores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25 %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0 filtraciones se sostiene y las 4 familias de caso borde están cubiertas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Evidencia de pruebas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20 %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INFORME-L7.md con ≥ 10 casos reales; las pruebas corren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3C4C6"/>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4C6"/>
                      </a:solidFill>
                      <a:prstDash val="solid"/>
                      <a:round/>
                      <a:headEnd type="none" w="med" len="med"/>
                      <a:tailEnd type="none" w="med" len="med"/>
                    </a:lnB>
                    <a:solidFill>
                      <a:srgbClr val="F4F6F8"/>
                    </a:solidFill>
                  </a:tcPr>
                </a:tc>
              </a:tr>
              <a:tr h="359271">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Comunicación técnica</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10 %</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demo y la defensa del documento de diseño</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4" name="Text 1"/>
          <p:cNvSpPr/>
          <p:nvPr/>
        </p:nvSpPr>
        <p:spPr>
          <a:xfrm>
            <a:off x="812800" y="3894931"/>
            <a:ext cx="10883392" cy="267196"/>
          </a:xfrm>
          <a:prstGeom prst="rect">
            <a:avLst/>
          </a:prstGeom>
          <a:noFill/>
          <a:ln/>
        </p:spPr>
        <p:txBody>
          <a:bodyPr wrap="square" lIns="0" tIns="0" rIns="0" bIns="0" rtlCol="0" anchor="t">
            <a:normAutofit/>
          </a:bodyPr>
          <a:lstStyle/>
          <a:p>
            <a:pPr algn="l" indent="0" marL="0">
              <a:lnSpc>
                <a:spcPts val="1904"/>
              </a:lnSpc>
              <a:buNone/>
            </a:pPr>
            <a:r>
              <a:rPr lang="en-US" sz="1400" dirty="0">
                <a:solidFill>
                  <a:srgbClr val="526277"/>
                </a:solidFill>
                <a:latin typeface="IBM Plex Sans" pitchFamily="34" charset="0"/>
                <a:ea typeface="IBM Plex Sans" pitchFamily="34" charset="-122"/>
                <a:cs typeface="IBM Plex Sans" pitchFamily="34" charset="-120"/>
              </a:rPr>
              <a:t>4 niveles por criterio: Insuficiente · Básico · Competente · Sobresaliente</a:t>
            </a:r>
            <a:endParaRPr lang="en-US" sz="1400" dirty="0"/>
          </a:p>
        </p:txBody>
      </p:sp>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21 / 23</a:t>
            </a:r>
            <a:endParaRPr lang="en-US" sz="1200" dirty="0"/>
          </a:p>
        </p:txBody>
      </p:sp>
      <p:pic>
        <p:nvPicPr>
          <p:cNvPr id="6"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regla del piso</a:t>
            </a:r>
            <a:endParaRPr lang="en-US" sz="3600" dirty="0"/>
          </a:p>
        </p:txBody>
      </p:sp>
      <p:sp>
        <p:nvSpPr>
          <p:cNvPr id="3" name="Text 1"/>
          <p:cNvSpPr/>
          <p:nvPr/>
        </p:nvSpPr>
        <p:spPr>
          <a:xfrm>
            <a:off x="812800" y="15234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Si se cumplen las dos condiciones:</a:t>
            </a:r>
            <a:endParaRPr lang="en-US" sz="1600" dirty="0"/>
          </a:p>
        </p:txBody>
      </p:sp>
      <p:sp>
        <p:nvSpPr>
          <p:cNvPr id="4" name="Shape 2"/>
          <p:cNvSpPr/>
          <p:nvPr/>
        </p:nvSpPr>
        <p:spPr>
          <a:xfrm>
            <a:off x="819150" y="2013347"/>
            <a:ext cx="3365500" cy="1622921"/>
          </a:xfrm>
          <a:prstGeom prst="roundRect">
            <a:avLst>
              <a:gd name="adj" fmla="val 5869"/>
            </a:avLst>
          </a:prstGeom>
          <a:solidFill>
            <a:srgbClr val="FFFFFF"/>
          </a:solidFill>
          <a:ln w="12700">
            <a:solidFill>
              <a:srgbClr val="1E293B"/>
            </a:solidFill>
            <a:prstDash val="solid"/>
          </a:ln>
        </p:spPr>
      </p:sp>
      <p:sp>
        <p:nvSpPr>
          <p:cNvPr id="5" name="Text 3"/>
          <p:cNvSpPr/>
          <p:nvPr/>
        </p:nvSpPr>
        <p:spPr>
          <a:xfrm>
            <a:off x="1028700" y="2222897"/>
            <a:ext cx="3034792"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Condición 1</a:t>
            </a:r>
            <a:endParaRPr lang="en-US" sz="1600" dirty="0"/>
          </a:p>
        </p:txBody>
      </p:sp>
      <p:sp>
        <p:nvSpPr>
          <p:cNvPr id="6" name="Text 4"/>
          <p:cNvSpPr/>
          <p:nvPr/>
        </p:nvSpPr>
        <p:spPr>
          <a:xfrm>
            <a:off x="1028700" y="2560141"/>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tests/ pasa invocando el agente directamente, sin depender del caos.</a:t>
            </a:r>
            <a:endParaRPr lang="en-US" sz="1600" dirty="0"/>
          </a:p>
        </p:txBody>
      </p:sp>
      <p:sp>
        <p:nvSpPr>
          <p:cNvPr id="7" name="Shape 5"/>
          <p:cNvSpPr/>
          <p:nvPr/>
        </p:nvSpPr>
        <p:spPr>
          <a:xfrm>
            <a:off x="4400550" y="2013347"/>
            <a:ext cx="3365500" cy="1622921"/>
          </a:xfrm>
          <a:prstGeom prst="roundRect">
            <a:avLst>
              <a:gd name="adj" fmla="val 5869"/>
            </a:avLst>
          </a:prstGeom>
          <a:solidFill>
            <a:srgbClr val="FFFFFF"/>
          </a:solidFill>
          <a:ln w="12700">
            <a:solidFill>
              <a:srgbClr val="1E293B"/>
            </a:solidFill>
            <a:prstDash val="solid"/>
          </a:ln>
        </p:spPr>
      </p:sp>
      <p:sp>
        <p:nvSpPr>
          <p:cNvPr id="8" name="Text 6"/>
          <p:cNvSpPr/>
          <p:nvPr/>
        </p:nvSpPr>
        <p:spPr>
          <a:xfrm>
            <a:off x="4610100" y="2222897"/>
            <a:ext cx="3034792"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Condición 2</a:t>
            </a:r>
            <a:endParaRPr lang="en-US" sz="1600" dirty="0"/>
          </a:p>
        </p:txBody>
      </p:sp>
      <p:sp>
        <p:nvSpPr>
          <p:cNvPr id="9" name="Text 7"/>
          <p:cNvSpPr/>
          <p:nvPr/>
        </p:nvSpPr>
        <p:spPr>
          <a:xfrm>
            <a:off x="4610100" y="2560141"/>
            <a:ext cx="30347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INFORME-L7.md documenta los 10 casos con evidencia real.</a:t>
            </a:r>
            <a:endParaRPr lang="en-US" sz="1600" dirty="0"/>
          </a:p>
        </p:txBody>
      </p:sp>
      <p:sp>
        <p:nvSpPr>
          <p:cNvPr id="10" name="Shape 8"/>
          <p:cNvSpPr/>
          <p:nvPr/>
        </p:nvSpPr>
        <p:spPr>
          <a:xfrm>
            <a:off x="7988300" y="2019697"/>
            <a:ext cx="3378200" cy="1610221"/>
          </a:xfrm>
          <a:prstGeom prst="roundRect">
            <a:avLst>
              <a:gd name="adj" fmla="val 5521"/>
            </a:avLst>
          </a:prstGeom>
          <a:solidFill>
            <a:srgbClr val="FFF0EB"/>
          </a:solidFill>
          <a:ln w="25400">
            <a:solidFill>
              <a:srgbClr val="FF5733"/>
            </a:solidFill>
            <a:prstDash val="solid"/>
          </a:ln>
        </p:spPr>
      </p:sp>
      <p:sp>
        <p:nvSpPr>
          <p:cNvPr id="11" name="Text 9"/>
          <p:cNvSpPr/>
          <p:nvPr/>
        </p:nvSpPr>
        <p:spPr>
          <a:xfrm>
            <a:off x="8204200" y="2235597"/>
            <a:ext cx="3034792"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Resultado</a:t>
            </a:r>
            <a:endParaRPr lang="en-US" sz="1600" dirty="0"/>
          </a:p>
        </p:txBody>
      </p:sp>
      <p:sp>
        <p:nvSpPr>
          <p:cNvPr id="12" name="Text 10"/>
          <p:cNvSpPr/>
          <p:nvPr/>
        </p:nvSpPr>
        <p:spPr>
          <a:xfrm>
            <a:off x="8204200" y="2572841"/>
            <a:ext cx="3034792"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Funcionalidad </a:t>
            </a:r>
            <a:r>
              <a:rPr lang="en-US" sz="1600" b="1" dirty="0">
                <a:solidFill>
                  <a:srgbClr val="1E293B"/>
                </a:solidFill>
                <a:latin typeface="IBM Plex Sans" pitchFamily="34" charset="0"/>
                <a:ea typeface="IBM Plex Sans" pitchFamily="34" charset="-122"/>
                <a:cs typeface="IBM Plex Sans" pitchFamily="34" charset="-120"/>
              </a:rPr>
              <a:t>no baja de Competente</a:t>
            </a:r>
            <a:r>
              <a:rPr lang="en-US" sz="1600" dirty="0">
                <a:solidFill>
                  <a:srgbClr val="1E293B"/>
                </a:solidFill>
                <a:latin typeface="IBM Plex Sans" pitchFamily="34" charset="0"/>
                <a:ea typeface="IBM Plex Sans" pitchFamily="34" charset="-122"/>
                <a:cs typeface="IBM Plex Sans" pitchFamily="34" charset="-120"/>
              </a:rPr>
              <a:t>, aunque el caos arruine un turno en la demo.</a:t>
            </a:r>
            <a:endParaRPr lang="en-US" sz="1600" dirty="0"/>
          </a:p>
        </p:txBody>
      </p:sp>
      <p:sp>
        <p:nvSpPr>
          <p:cNvPr id="13" name="Text 11"/>
          <p:cNvSpPr/>
          <p:nvPr/>
        </p:nvSpPr>
        <p:spPr>
          <a:xfrm>
            <a:off x="812800" y="384581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Un sistema no determinístico se juzga por su diseño y su evidencia, no por una sola ejecución.</a:t>
            </a:r>
            <a:endParaRPr lang="en-US" sz="1600" dirty="0"/>
          </a:p>
        </p:txBody>
      </p:sp>
      <p:sp>
        <p:nvSpPr>
          <p:cNvPr id="14" name="Text 1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22 / 23</a:t>
            </a:r>
            <a:endParaRPr lang="en-US" sz="1200" dirty="0"/>
          </a:p>
        </p:txBody>
      </p:sp>
      <p:pic>
        <p:nvPicPr>
          <p:cNvPr id="15"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Cierre y entrega</a:t>
            </a:r>
            <a:endParaRPr lang="en-US" sz="3600" dirty="0"/>
          </a:p>
        </p:txBody>
      </p:sp>
      <p:sp>
        <p:nvSpPr>
          <p:cNvPr id="3" name="Shape 1"/>
          <p:cNvSpPr/>
          <p:nvPr/>
        </p:nvSpPr>
        <p:spPr>
          <a:xfrm>
            <a:off x="819150" y="1529755"/>
            <a:ext cx="3373934" cy="1800126"/>
          </a:xfrm>
          <a:prstGeom prst="roundRect">
            <a:avLst>
              <a:gd name="adj" fmla="val 5291"/>
            </a:avLst>
          </a:prstGeom>
          <a:solidFill>
            <a:srgbClr val="FFFFFF"/>
          </a:solidFill>
          <a:ln w="12700">
            <a:solidFill>
              <a:srgbClr val="1E293B"/>
            </a:solidFill>
            <a:prstDash val="solid"/>
          </a:ln>
        </p:spPr>
      </p:sp>
      <p:sp>
        <p:nvSpPr>
          <p:cNvPr id="4" name="Text 2"/>
          <p:cNvSpPr/>
          <p:nvPr/>
        </p:nvSpPr>
        <p:spPr>
          <a:xfrm>
            <a:off x="1028700" y="1739305"/>
            <a:ext cx="3043479"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Se entrega al cerrar la S7</a:t>
            </a:r>
            <a:endParaRPr lang="en-US" sz="1600" dirty="0"/>
          </a:p>
        </p:txBody>
      </p:sp>
      <p:sp>
        <p:nvSpPr>
          <p:cNvPr id="5" name="Text 3"/>
          <p:cNvSpPr/>
          <p:nvPr/>
        </p:nvSpPr>
        <p:spPr>
          <a:xfrm>
            <a:off x="1028700" y="2076549"/>
            <a:ext cx="3043479" cy="808236"/>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INFORME-L7.md</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tests/</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Documento de diseño</a:t>
            </a:r>
            <a:endParaRPr lang="en-US" sz="1500" dirty="0"/>
          </a:p>
        </p:txBody>
      </p:sp>
      <p:sp>
        <p:nvSpPr>
          <p:cNvPr id="6" name="Shape 4"/>
          <p:cNvSpPr/>
          <p:nvPr/>
        </p:nvSpPr>
        <p:spPr>
          <a:xfrm>
            <a:off x="4408984" y="1529755"/>
            <a:ext cx="3374033" cy="1800126"/>
          </a:xfrm>
          <a:prstGeom prst="roundRect">
            <a:avLst>
              <a:gd name="adj" fmla="val 5291"/>
            </a:avLst>
          </a:prstGeom>
          <a:solidFill>
            <a:srgbClr val="FFFFFF"/>
          </a:solidFill>
          <a:ln w="12700">
            <a:solidFill>
              <a:srgbClr val="1E293B"/>
            </a:solidFill>
            <a:prstDash val="solid"/>
          </a:ln>
        </p:spPr>
      </p:sp>
      <p:sp>
        <p:nvSpPr>
          <p:cNvPr id="7" name="Text 5"/>
          <p:cNvSpPr/>
          <p:nvPr/>
        </p:nvSpPr>
        <p:spPr>
          <a:xfrm>
            <a:off x="4618534" y="1739305"/>
            <a:ext cx="3043581"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El caos se apaga</a:t>
            </a:r>
            <a:endParaRPr lang="en-US" sz="1600" dirty="0"/>
          </a:p>
        </p:txBody>
      </p:sp>
      <p:sp>
        <p:nvSpPr>
          <p:cNvPr id="8" name="Text 6"/>
          <p:cNvSpPr/>
          <p:nvPr/>
        </p:nvSpPr>
        <p:spPr>
          <a:xfrm>
            <a:off x="4618534" y="2076549"/>
            <a:ext cx="3043581" cy="547291"/>
          </a:xfrm>
          <a:prstGeom prst="rect">
            <a:avLst/>
          </a:prstGeom>
          <a:noFill/>
          <a:ln/>
        </p:spPr>
        <p:txBody>
          <a:bodyPr wrap="square" lIns="0" tIns="0" rIns="0" bIns="0" rtlCol="0" anchor="t">
            <a:normAutofit/>
          </a:bodyPr>
          <a:lstStyle/>
          <a:p>
            <a:pPr algn="l" indent="0" marL="0">
              <a:lnSpc>
                <a:spcPts val="2055"/>
              </a:lnSpc>
              <a:buNone/>
            </a:pPr>
            <a:r>
              <a:rPr lang="en-US" sz="1500" dirty="0">
                <a:solidFill>
                  <a:srgbClr val="1E293B"/>
                </a:solidFill>
                <a:latin typeface="IBM Plex Sans" pitchFamily="34" charset="0"/>
                <a:ea typeface="IBM Plex Sans" pitchFamily="34" charset="-122"/>
                <a:cs typeface="IBM Plex Sans" pitchFamily="34" charset="-120"/>
              </a:rPr>
              <a:t>CHAOS_RATE vuelve a 0.0 al cerrar la sesión.</a:t>
            </a:r>
            <a:endParaRPr lang="en-US" sz="1500" dirty="0"/>
          </a:p>
        </p:txBody>
      </p:sp>
      <p:sp>
        <p:nvSpPr>
          <p:cNvPr id="9" name="Shape 7"/>
          <p:cNvSpPr/>
          <p:nvPr/>
        </p:nvSpPr>
        <p:spPr>
          <a:xfrm>
            <a:off x="7998916" y="1529755"/>
            <a:ext cx="3373934" cy="1800126"/>
          </a:xfrm>
          <a:prstGeom prst="roundRect">
            <a:avLst>
              <a:gd name="adj" fmla="val 5291"/>
            </a:avLst>
          </a:prstGeom>
          <a:solidFill>
            <a:srgbClr val="FFFFFF"/>
          </a:solidFill>
          <a:ln w="12700">
            <a:solidFill>
              <a:srgbClr val="1E293B"/>
            </a:solidFill>
            <a:prstDash val="solid"/>
          </a:ln>
        </p:spPr>
      </p:sp>
      <p:sp>
        <p:nvSpPr>
          <p:cNvPr id="10" name="Text 8"/>
          <p:cNvSpPr/>
          <p:nvPr/>
        </p:nvSpPr>
        <p:spPr>
          <a:xfrm>
            <a:off x="8208466" y="1739305"/>
            <a:ext cx="3043479" cy="261045"/>
          </a:xfrm>
          <a:prstGeom prst="rect">
            <a:avLst/>
          </a:prstGeom>
          <a:noFill/>
          <a:ln/>
        </p:spPr>
        <p:txBody>
          <a:bodyPr wrap="square" lIns="0" tIns="0" rIns="0" bIns="0" rtlCol="0" anchor="t">
            <a:normAutofit/>
          </a:bodyPr>
          <a:lstStyle/>
          <a:p>
            <a:pPr algn="l" indent="0" marL="0">
              <a:lnSpc>
                <a:spcPts val="1856"/>
              </a:lnSpc>
              <a:buNone/>
            </a:pPr>
            <a:r>
              <a:rPr lang="en-US" sz="1600" dirty="0">
                <a:solidFill>
                  <a:srgbClr val="1E293B"/>
                </a:solidFill>
                <a:latin typeface="IBM Plex Sans" pitchFamily="34" charset="0"/>
                <a:ea typeface="IBM Plex Sans" pitchFamily="34" charset="-122"/>
                <a:cs typeface="IBM Plex Sans" pitchFamily="34" charset="-120"/>
              </a:rPr>
              <a:t>Qué no entra hoy</a:t>
            </a:r>
            <a:endParaRPr lang="en-US" sz="1600" dirty="0"/>
          </a:p>
        </p:txBody>
      </p:sp>
      <p:sp>
        <p:nvSpPr>
          <p:cNvPr id="11" name="Text 9"/>
          <p:cNvSpPr/>
          <p:nvPr/>
        </p:nvSpPr>
        <p:spPr>
          <a:xfrm>
            <a:off x="8208466" y="2076549"/>
            <a:ext cx="3043479" cy="1069181"/>
          </a:xfrm>
          <a:prstGeom prst="rect">
            <a:avLst/>
          </a:prstGeom>
          <a:noFill/>
          <a:ln/>
        </p:spPr>
        <p:txBody>
          <a:bodyPr wrap="square" lIns="0" tIns="0" rIns="0" bIns="0" rtlCol="0" anchor="t">
            <a:normAutofit/>
          </a:bodyPr>
          <a:lstStyle/>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FastAPI y despliegue: S8</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Langfuse y trazas: S9</a:t>
            </a:r>
            <a:endParaRPr lang="en-US" sz="1500" dirty="0"/>
          </a:p>
          <a:p>
            <a:pPr algn="l" marL="228600" indent="-182880">
              <a:lnSpc>
                <a:spcPts val="2055"/>
              </a:lnSpc>
              <a:buSzPct val="100000"/>
              <a:buChar char="•"/>
            </a:pPr>
            <a:r>
              <a:rPr lang="en-US" sz="1500" dirty="0">
                <a:solidFill>
                  <a:srgbClr val="1E293B"/>
                </a:solidFill>
                <a:latin typeface="IBM Plex Sans" pitchFamily="34" charset="0"/>
                <a:ea typeface="IBM Plex Sans" pitchFamily="34" charset="-122"/>
                <a:cs typeface="IBM Plex Sans" pitchFamily="34" charset="-120"/>
              </a:rPr>
              <a:t>Métricas formales y golden dataset: S10</a:t>
            </a:r>
            <a:endParaRPr lang="en-US" sz="1500" dirty="0"/>
          </a:p>
        </p:txBody>
      </p:sp>
      <p:sp>
        <p:nvSpPr>
          <p:cNvPr id="12" name="Text 10"/>
          <p:cNvSpPr/>
          <p:nvPr/>
        </p:nvSpPr>
        <p:spPr>
          <a:xfrm>
            <a:off x="812800" y="353943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Próxima sesión: S8 · FastAPI y despliegue en HF Spaces.</a:t>
            </a:r>
            <a:endParaRPr lang="en-US" sz="1600" dirty="0"/>
          </a:p>
        </p:txBody>
      </p:sp>
      <p:sp>
        <p:nvSpPr>
          <p:cNvPr id="13"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S07 · Hackathon, clínica y sustentación del Proyecto M2 · 23 / 23</a:t>
            </a:r>
            <a:endParaRPr lang="en-US" sz="1200" dirty="0"/>
          </a:p>
        </p:txBody>
      </p:sp>
      <p:pic>
        <p:nvPicPr>
          <p:cNvPr id="14" name="Image 0" descr="Logo de AriwaLabs">    </p:cNvPr>
          <p:cNvPicPr>
            <a:picLocks noChangeAspect="1"/>
          </p:cNvPicPr>
          <p:nvPr/>
        </p:nvPicPr>
        <p:blipFill>
          <a:blip r:embed="rId1"/>
          <a:srcRect l="-9345" r="-9345" t="0" b="0"/>
          <a:stretch/>
        </p:blipFill>
        <p:spPr>
          <a:xfrm>
            <a:off x="10680700" y="61976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S07 · Hackathon, clínica y sustentación del Proyecto M2</dc:title>
  <dc:subject>PptxGenJS Presentation</dc:subject>
  <dc:creator>PptxGenJS</dc:creator>
  <cp:lastModifiedBy>PptxGenJS</cp:lastModifiedBy>
  <cp:revision>1</cp:revision>
  <dcterms:created xsi:type="dcterms:W3CDTF">2026-09-25T20:01:54Z</dcterms:created>
  <dcterms:modified xsi:type="dcterms:W3CDTF">2026-09-25T20:01:54Z</dcterms:modified>
</cp:coreProperties>
</file>