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presentar la sesión en 1 minuto. Es la sesión con más teoría del Módulo 2 y la más frágil operativamente, porque depende de Qdrant Cloud, un servicio que cada equipo aprovisionó en la semana 0 y no ha usado hasta hoy. Reparto: 1 h de pre-work, 3 h en vivo (120 min de teoría, 50 de práctica, 10 de pausa) y 2 h de laboratorio. Anunciar los dos hitos: el Avance 2 del proyecto y Qdrant operativo en todos los equipos. 2) Pregunta para la audiencia: ¿qué preguntas de su cliente quedaron sin resolver con las 4 tools del L4? (Es el punto 3 del Avance 1: hoy se resuelven con RAG). 3) Vínculo con el laboratorio: L5 · Memoria + RAG del dominio, sobre el agente del L4 de cada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el pase de entrada sigue el mismo patrón que Pydantic en la S2. Primero, el cluster de Qdrant debe figurar como Healthy en la consola de Qdrant Cloud. Después, python -m comun.check_stack debe mostrar en verde la comprobación 6 (Embeddings: check_embeddings() genera vectores con el modelo de Hugging Face) y la 7 (Qdrant Cloud: check_qdrant() indexa tres textos en una colección de prueba y recupera uno por similitud). Si alguna falla, el equipo avisa antes de la sesión. La red de seguridad es la colección de respaldo del docente, kb-&lt;track&gt;-respaldo, de solo lectura e indexada con el mismo ingest.py que usarán los alumnos. La ingesta propia se recupera después con el checkpoint. 2) Pregunta para la audiencia: ¿por qué la comprobación 7 no basta con conectarse al cluster y además indexa y recupera? 3) Vínculo con el laboratorio: L5 Parte 1, paso 3. Si la ingesta falla, se apunta QDRANT_COLLECTION del .env a kb-&lt;track&gt;-respaldo y se sigue con el resto del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leer los cinco objetivos en voz alta y marcar dos verbos. "Defender" (objetivo 2): el tamaño de chunk viene fijado por el curso, pero cada equipo debe poder justificarlo. "Explicar por qué" (objetivo 5): citar la fuente es un requisito de auditoría, no un adorno. Los objetivos 1 a 3 construyen las piezas; el 4 decide cómo se usan; el 5 es la condición de calidad. 2) Pregunta para la audiencia: ¿cuál de estos objetivos creen que es el más difícil de lograr en su track, y por qué? 3) Vínculo con el laboratorio: cada objetivo tiene su pieza en el L5. El 1 es memory.py; el 2 y el 3, knowledge/ingest.py; el 4, knowledge/retriever.py; el 5, el system prompt de get_system_prompt(track) con el bloque A6.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partir de las dos carencias del agente del L4. No recuerda: cada turno es una llamada nueva. No sabe: no tiene tarifas, coberturas ni políticas reales. Luego recorrer el diagrama por separado. Arriba, Usuario → Historial por thread_id → LLM, con la etiqueta memoria del proceso. Abajo, la ingesta (Corpus → Chunks → Embeddings → Qdrant) y la consulta (Consulta → Retriever → Qdrant → contexto y fuente → LLM). La consulta usa el mismo espacio de embeddings que los documentos. Ejemplo AndesMóvil: un turno dice «¿y ese plan?»; el historial resuelve la referencia y el RAG aporta la tarifa del tarifario. El mecanismo agéntico (el LLM propone y el runtime ejecuta el retriever) se detalla más adelante. Error frecuente: tratar el corpus recuperado como memoria de conversación o como reentrenamiento. 2) Pregunta para la audiencia: ¿qué se pierde al reiniciar el proceso y qué permanece en Qdrant? 3) Vínculo con el laboratorio: el carril superior es memory.py y el inferior es knowledge/ (ingest.py y retriever.py), ensamblados en agent.py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repaso de 1 a 2 minutos, sin volver a explicar tokens. Señalar solo tres cosas de la imagen de la S0: el subtítulo (el modelo es stateless: tu código le reenvía todo en cada llamada), el segmento Historial dentro de la ventana de contexto y la frase «Memoria» del agente = tu código reenvía la lista de mensajes. Las cifras de la imagen son un ejemplo ilustrativo, no una medición. Ejemplo AndesMóvil: «¿y el mes pasado?» tras varios turnos solo tiene sentido si el historial viaja en la llamada. 2) Pregunta para la audiencia: si el modelo no recuerda nada entre llamadas, ¿qué es entonces la memoria de un agente? 3) Vínculo con el laboratorio: la respuesta es memory.py del L5 (get_history y append_message por thread_id).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primera pieza de la secuencia de memoria. Recorrer el diagrama de izquierda a derecha: el Usuario envía un mensaje, el Runtime del agente lo recibe, el LLM propone y el Runtime ejecuta. La pieza en foco es la Memoria: un almacén de historial por thread_id, que memory.py implementa como un diccionario _HISTORIES en el proceso. La flecha discontinua indica que el historial se aporta como contexto al LLM en cada llamada; el modelo sigue siendo stateless. El thread_id identifica la conversación: sin él, cada mensaje sería una conversación nueva. Qdrant aparece en el diagrama para contrastar más adelante; hoy todavía no se explica. 2) Pregunta para la audiencia: si dos clientes escriben a la vez con el mismo thread_id, ¿qué verá cada uno? 3) Vínculo con el laboratorio: L5 Parte 3, memory.py, función get_history(thread_id), que devuelve el historial y lo crea si no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misma composición; ahora pasa a foco el detalle del historial. En el primer turno de un thread, responder() agrega el SystemMessage con get_system_prompt(track). Después, cada turno agrega el HumanMessage, el AIMessage del modelo y un ToolMessage por cada tool ejecutada. Todo se reenvía en la siguiente llamada. Ejemplo de agent.py en telco: turno 1 «¿Cuánto cuesta el plan Max 89 al mes?» y turno 2 «¿Y cuántos gigas incluye?». El turno 2 solo se entiende con el historial del turno 1. Recordar el costo visto en la S0: el historial crece en cada turno. 2) Pregunta para la audiencia: ¿qué ocurre si agent.py genera un thread_id nuevo en cada turno? 3) Vínculo con el laboratorio: L5 Partes 3 y 4, memory.py append_message(thread_id, message) y agent.py responder(mensaje, thread_id). Es el error esperable «el turno 3 no recuerda».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última pieza de la secuencia. En foco, la Memoria y Qdrant. La memoria del L5 es un diccionario por proceso: alcanza para el curso, pero si el proceso se reinicia el historial queda vacío. Qdrant Cloud está fuera del proceso: lo indexado permanece. Son dos almacenes con propósitos distintos: el historial de conversación y el corpus de conocimiento. Anunciar, sin mostrarlo como implementado, que la S8 retoma los reinicios al desplegar: desplegar no vuelve durable la memoria por sí solo. Error frecuente: tratar el corpus de Qdrant como memoria de conversación. 2) Pregunta para la audiencia: ¿qué se pierde al reiniciar el proceso y qué permanece en Qdrant? 3) Vínculo con el laboratorio: L5 Parte 3, memory.py reset(thread_id), útil para pruebas y para iniciar una conversación nueva.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repaso breve de la S0. Seguir cada frase hasta su vector; ubicar A, B y C en la proyección y leer la escala de similitud coseno. Señalar el modelo único de embeddings y el rótulo «proyección 2D simplificada»: las cifras 0.87 y 0.12 son un ejemplo ilustrativo, no una medición. Mensaje: A y B no comparten palabras y aun así están cerca; esa es la base del RAG. Ejemplo AndesMóvil: la consulta del saldo de datos. Error frecuente: leer la proyección 2D como distancias exactas. 2) Pregunta para la audiencia: ¿qué haría una búsqueda con LIKE con las frases A y B? 3) Vínculo con el laboratorio: la demo 2 de hoy (code/02_similitud.py) repite este experimento contra el corpus real del track, con la columna palabras comunes.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primera pieza del pipeline RAG. Presentar la composición completa: arriba la ingesta (Corpus → Chunks → Modelo de embeddings → Qdrant), abajo la consulta. En foco, el Modelo de embeddings: el mismo modelo convierte los chunks y la pregunta del cliente, así que ambos viven en el mismo espacio. La flecha activa es la pregunta entrando a ese modelo. Luego Qdrant devuelve los fragmentos más cercanos con su fuente. Ejecutar la demo 2 con las preguntas del track telco y mirar la columna palabras comunes: suele ser baja incluso en los mejores resultados. Los puntajes que aparezcan son los de esa ejecución, no una garantía. 2) Pregunta para la audiencia: ¿qué pasa si indexan con un modelo de embeddings y consultan con otro, aunque ambos den vectores de la misma dimensión? 3) Vínculo con el laboratorio: L5 Parte 1. ingest.py y retriever.py usan get_vector_store() de comun/vectorstore.py, que toma los embeddings de comun.provider para indexar y para consultar.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misma composición; ahora pasa a foco Chunks y la flecha activa Corpus → Chunks. Un documento completo no conviene meterlo entero en cada llamada: cuesta tokens y diluye la relevancia. Por eso se parte en fragmentos que se embeben e indexan por separado. Ejecutar la demo 1 (01_ingesta.py): el número de chunks es mayor que el de documentos, y cada chunk queda con su source en el payload. Advertir que la demo, como ingest.py, no es idempotente al indexar: ejecutarla dos veces duplica los puntos. 2) Pregunta para la audiencia: si una cláusula del condicionado de seguros queda partida entre dos chunks, ¿qué lee el modelo cuando solo recupera uno? 3) Vínculo con el laboratorio: L5 Parte 1, knowledge/ingest.py, función ingest(), con RecursiveCharacterTextSplitter(chunk_size=CHUNK_SIZE, chunk_overlap=CHUNK_OVERLAP).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comparar las tres columnas de izquierda a derecha. Chunk muy pequeño: la recuperación es precisa, pero la cláusula queda amputada y el modelo lee media condición. Chunk muy grande: nunca parte una idea, pero cada resultado arrastra ruido y ese ruido se paga en tokens en cada llamada. La columna en foco es el rango equilibrado que usa el curso (350 a 600, según el track). No hay un tamaño universalmente óptimo: se declara la unidad (caracteres del splitter) y el solapamiento, y se defiende. Enlazar con el error esperable «cita el documento equivocado»: suele deberse a chunks demasiado grandes. 2) Pregunta para la audiencia: en su track, ¿qué es más grave: perder media condición o arrastrar ruido? 3) Vínculo con el laboratorio: la constante CHUNK_SIZE, CHUNK_OVERLAP de knowledge/ingest.py, con su comentario justificando el valor.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el curso fija el tamaño y el solapamiento por track. Leer la razón de cada fila; detenerse en Seguros, el valor más grande (600/100): en un condicionado legal, una cláusula partida por la mitad pierde su sentido. Retail es el más chico (350/50) porque sus políticas y fichas son muy breves. Por qué no se experimenta hoy: re-indexar consume cuota de embeddings, y con 15 equipos dos configuraciones duplican el consumo en la semana más cargada. Quien quiera optimizar lo hace en el Proyecto M2 (S7). Son una propuesta razonada, no una medición. 2) Pregunta para la audiencia: con sus palabras, ¿qué argumento usarían para defender el valor de su track ante el docente? 3) Vínculo con el laboratorio: cada enunciado del L5 fija su valor (por ejemplo, telco: chunk_size=400, overlap=60) y la solución lo declara en knowledge/ingest.py.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vocabulario de Qdrant con una analogía de base de datos que declara su límite. La colección es el equivalente a una tabla: vectores de la misma dimensión. Un punto es el equivalente a una fila: un vector más su payload. En foco, el primer punto. El payload guarda los metadatos: en ingest.py, el texto del chunk (page_content), el nombre del documento (source) y el track. La analogía deja de aplicar en la búsqueda: no se filtra por igualdad sino por cercanía; comun/vectorstore.py crea la colección con distancia coseno. 2) Pregunta para la audiencia: ¿qué pasa si cambian el modelo de embeddings sin recrear la colección? 3) Vínculo con el laboratorio: L5 Parte 1. get_vector_store() crea la colección si no existe (ensure_collection es idempotente) y store.add_documents(chunks) crea los puntos.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misma composición; ahora pasan a foco el payload del punto recuperado y la Respuesta. El campo source del payload (aquí, tarifario_planes.md) es lo que permite que la respuesta diga de dónde salió el dato. Sin payload con el documento fuente, el agente puede recuperar el fragmento correcto y aun así no poder decir de dónde salió, que es justo lo que pide la salvaguarda A6. Cerrar con el filtro: restringir la búsqueda por metadatos del payload es el reto opcional, no evaluado. Error frecuente: guardar solo el vector y perder el documento fuente. 2) Pregunta para la audiencia: si el agente responde bien pero no puede decir de dónde salió el dato, ¿cómo lo audita un regulador? 3) Vínculo con el laboratorio: L5 Parte 2. retrieve_knowledge_base() devuelve cada fragmento precedido de [Fuente: …], armado con d.metadata.get('source').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el patrón tradicional. En foco, el Runtime, es decir, el código de la aplicación: ante cualquier pregunta busca en Qdrant (flecha activa), pega los fragmentos en el prompt y el LLM genera la respuesta. No hay decisión: siempre se busca. Ejecutar la demo 3 con sus dos preguntas: «¿Cuánto cuesta el plan Max 89 al mes?» y «Hola, buenos días». Mostrar que el saludo también dispara la búsqueda: gasta y ensucia el contexto. Ventaja: el control es total, siempre hay contexto. 2) Pregunta para la audiencia: ¿en qué caso preferirían este patrón aunque busque de más? 3) Vínculo con el laboratorio: el L5 no implementa este patrón; sirve de contraste. En la demo, la función es answer_traditional(), que llama a store.similarity_search() antes de invocar al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misma composición; ahora pasan a foco el LLM y el Retriever como tool. El LLM decide si necesita buscar y, si es así, propone una tool call a retrieve_knowledge_base. El runtime la ejecuta, consulta Qdrant y devuelve el resultado como ToolMessage. Con ese contexto, el LLM responde citando. Es el mismo principio de la S3: el modelo propone y el runtime ejecuta; nunca una flecha del LLM a Qdrant. Ejecutar la demo 4 y compararla con la 3: el saludo no dispara la búsqueda. Lo observado en la demo no se garantiza: el agente puede decidir mal. 2) Pregunta para la audiencia: si el agente decide no buscar ante una pregunta de tarifas, ¿qué lo defiende? (Respuesta: la salvaguarda A6). 3) Vínculo con el laboratorio: L5 Parte 2, knowledge/retriever.py, función retrieve_knowledge_base(query) decorada con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recorrer la tabla fila por fila. Latencia: el tradicional siempre paga la búsqueda; el agéntico solo cuando hace falta. Saludo: el tradicional busca igual. Control: el tradicional siempre aporta contexto; el agéntico puede decidir mal. Por eso la última fila: la defensa del agéntico es la salvaguarda A6, que se ve en la siguiente diapositiva. Cerrar con la decisión del curso: el L5 implementa RAG agéntico. La docstring del retriever aplica la regla A2 que ya conocen del L4: cuándo usarla y cuándo NO. 2) Pregunta para la audiencia: para el agente de su track, ¿qué pesa más: la latencia fija o el riesgo de que el agente no busque? 3) Vínculo con el laboratorio: la elección y su porqué entran en el documento de diseño del Proyecto M2, sección Decisiones de RAG (RAG tradicional vs agéntico).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la regla A6 y su razón. Ante cualquier afirmación sobre tarifas, coberturas, plazos o políticas, el agente debe recuperar y citar; si no encuentra fuente, dice que no lo sabe. El bloque recuperación obligatoria ya está en el system prompt de las 4 industrias (comun/prompts_industria.py, get_system_prompt()). La razón es auditoría, no paranoia: en telco el regulador pregunta de dónde salió esa tarifa; en seguros, de dónde salió esa cobertura. «El modelo lo dijo» no es una respuesta admisible. Aclarar el límite: A6 es una política escrita en el prompt; orienta, pero no impone. Hay que comprobar las llamadas y las fuentes. Los controles en código llegan en S6. 2) Pregunta para la audiencia: ¿en qué track es más grave una cifra sin fuente, y por qué? 3) Vínculo con el laboratorio: L5 Parte 4. El system prompt sigue siendo get_system_prompt(tu_track); no se escribe uno propio, porque ahí vive A6. Error esperable: «el agente nunca busca» por usar un prompt propio.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cerrar la teoría en una frase: hoy el agente aprendió a recordar (memoria por thread_id) y a saber (RAG agéntico con cita). Anunciar que al volver empieza la ingesta guiada de 35 minutos. Pedir que, durante la pausa, cada equipo abra su .env y confirme QDRANT_URL, QDRANT_API_KEY y HF_TOKEN. 2) Pregunta para la audiencia: ¿algún equipo tuvo en rojo la comprobación 6 o la 7? Si es así, que se acerque en la pausa para apuntar a la colección de respaldo. 3) Vínculo con el laboratorio: L5 Parte 1, knowledge/ingest.py.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el mapa del L5, que se mantiene en las siguientes cuatro diapositivas. Lo que ya existe desde el L4 queda en contexto: el LLM, el Runtime con su tope de iteraciones y las 4 tools núcleo. En foco, lo nuevo: el Retriever como una tool más y la Memoria por thread_id. Los cuatro archivos nuevos: ingest.py (carga, chunking, embeddings e indexación), retriever.py (la tool), memory.py (estado por thread_id) y agent.py v3 (ensambla todo). Con el retriever el agente enlaza cinco tools; no confundir número de tools con número de iteraciones. Duración del laboratorio: 2 h. 2) Pregunta para la audiencia: de estas piezas, ¿cuál creen que puede fallar primero en su equipo? 3) Vínculo con el laboratorio: lab/README.md del L5 y el enunciado de cada track; checkpoint de referencia en solucion/&lt;track&gt;/.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ingesta guiada. En foco, el Corpus del track (los 3 .md de recursos/datasets/&lt;track&gt;/) y Qdrant; la flecha activa es ingest.py. Paso 1: copiar solucion/&lt;track&gt;/knowledge/ingest.py a lab/&lt;track&gt;/knowledge/ingest.py y leerlo antes de ejecutarlo: load_track_documents() carga los .md con source y track en metadata; ingest() los parte con el splitter y los indexa con add_documents(). Paso 2: ejecutarlo una sola vez; dos ejecuciones duplican los puntos. Paso 3: si falla (cuota de embeddings o Qdrant caído), apuntar QDRANT_COLLECTION a la colección de respaldo y seguir. 2) Pregunta para la audiencia: ¿cuántos chunks produjo su corpus, y es un número razonable para su chunk_size? 3) Vínculo con el laboratorio: python lab/&lt;tu-track&gt;/knowledge/ingest.py, desde la raíz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en foco, el Retriever y Qdrant; la flecha activa es la búsqueda. La función se decora con @tool, busca en la colección con similarity_search(query, k=3) y devuelve los fragmentos precedidos de [Fuente: source]. Si no hay resultados, lo dice. La docstring aplica la regla A2 del L4: cuándo usarla y cuándo NO. Telco: sí para tarifas, portabilidad y el procedimiento de reclamos; no para el plan, consumo o diagnóstico de una línea (get_customer_plan, get_data_usage, run_line_diagnostics) ni para registrar un reclamo (create_complaint_ticket). 2) Pregunta para la audiencia: ¿qué pregunta de su track podría confundir al agente entre el retriever y una tool del L4? 3) Vínculo con el laboratorio: knowledge/retriever.py, retrieve_knowledge_base(). Error esperable: si el agente busca ante un saludo, falta el «cuándo NO» en la docstring.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en foco, la Memoria. memory.py es un almacén de historial por thread_id en memoria del proceso; para el curso alcanza. Tres funciones: get_history(thread_id) devuelve la lista y la crea si no existe; append_message(thread_id, message) agrega HumanMessage, AIMessage o ToolMessage; reset(thread_id) borra la conversación. La flecha discontinua recuerda que el historial se aporta como contexto al LLM en cada llamada. La regla: el mismo thread_id durante toda una conversación y uno nuevo por cada conversación distinta. 2) Pregunta para la audiencia: ¿dónde debería generarse el thread_id: en el agente o en quien inicia la conversación? 3) Vínculo con el laboratorio: memory.py. Error esperable: el turno 3 no recuerda porque falta el thread_id o se genera uno nuevo por turno.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en foco, el Runtime; la flecha activa es el bucle de tool calls. responder(mensaje, thread_id) toma el historial del thread; si está vacío, agrega el SystemMessage de get_system_prompt(TRACK). Luego invoca al modelo enlazado con ALL_TOOLS dentro del mismo tope MAX_ITERATIONS del L4, ejecuta cada tool call y agrega su ToolMessage. Si agota el tope, deriva a un asesor. Ejemplo de agent.py en telco, un mismo thread: «¿Cuánto cuesta el plan Max 89 al mes?» (va al RAG), «¿Y cuántos gigas incluye?» (depende de la memoria) y «Ahora sí, mi línea es 987654321, ¿qué plan tengo?» (va a una tool). No escribir un system prompt propio: ahí vive A6. 2) Pregunta para la audiencia: ¿cuál de los tres turnos esperan que use el retriever, y por qué? 3) Vínculo con el laboratorio: agent.py v3, funciones responder() y get_model(), constante ALL_TOOLS.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primero, de dónde salen las 10 preguntas. El golden dataset recursos/golden/consultas-&lt;track&gt;.json tiene 30 consultas por track: 20 con tool esperada, que usaron el L2 (clasificación) y el L4 (selección), y 10 de la categoría otro. Esas 10 son las que en el L2 y el L4 ninguna tool debía resolver: tarifas, coberturas y políticas. Hoy las resuelve el RAG, citando. Luego, los tres criterios: el agente decide cuándo buscar (el saludo no dispara el retriever), las 10 respuestas nombran el documento del que salieron y la memoria resuelve el turno 3. Citar no es lo mismo que demostrar que la cita sostiene la respuesta: eso es groundedness, en S10. 2) Pregunta para la audiencia: ¿cómo comprobarían que la cita es verificable y no solo que aparece un nombre de archivo? 3) Vínculo con el laboratorio: criterio de aceptación de lab/README.md del L5; consultas de recursos/golden/consultas-&lt;tu-track&gt;.json, categoría otro.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la demo clave del curso; dura 5 minutos y no se recorta. Seguir los cuatro pasos. Paso 1: el script indexa un documento de una línea (source: demo-en-vivo) con el precio original, S/ 89.00, y pregunta «¿Cuánto cuesta el plan Max 89 al mes?». Paso 2: al presionar Enter, seed_demo_document() reemplaza el mismo punto (mismo id) con S/ 99.00. Paso 3: la misma pregunta recupera el precio nuevo desde la misma fuente. La respuesta del modelo se observa en vivo; no se promete su redacción exacta. Paso 4: la pregunta al aula, en voz alta, antes de seguir. Respuesta buscada: habría que reentrenar o afinar el modelo, horas o días de ingeniería de ML, para cambiar un precio. Conclusión: el conocimiento que cambia va al RAG; el prompt y el modelo aportan tono y comportamiento. Se ejecuta después de la demo 1, que crea la colección. 2) Pregunta para la audiencia: ¿qué habría hecho falta para lograr este cambio si el precio estuviera en los pesos del modelo? 3) Vínculo con el laboratorio: es la razón de que su corpus viva en Qdrant. Con knowledge/ingest.py, actualizar una tarifa es editar un documento, no reentrenar.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el Avance 2 es media página por equipo, entregada en la sesión en vivo (15 min). Debe dejar clara la línea divisoria: qué preguntas resuelve el RAG y cuáles siguen resolviendo las tools del L4. La tabla resume lo que dice cada enunciado del L5. Conectar con el Avance 1: su punto 3 listaba las preguntas que ninguna tool resolvía; hoy esas preguntas tienen dueño. Conectar hacia adelante: el documento de diseño del Proyecto M2 (S7) tiene una sección Decisiones de RAG (entre ellas, RAG tradicional vs agéntico), y la rúbrica M2 revisa que las 4 tools y el retriever cumplan A2. 2) Pregunta para la audiencia: ¿hay alguna pregunta de su cliente que caiga justo en la línea entre RAG y tools? ¿Cómo la resolverían? 3) Vínculo con el laboratorio: L5 Parte 5 · Avance 2 del proyecto; la línea se refleja en la docstring de retrieve_knowledge_base.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anunciar, sin mostrar como implementado, lo que no entra hoy y dónde se construye. Guardrails, PII y prompt injection: S6, donde se enganchan controles en código alrededor del agente mediante un patrón manual de intercepción. Pruebas de estrés y casos borde: S7. Métricas de groundedness: S10; no intentar evaluarla hoy con herramientas que todavía no tienen. Reindexación automática y pipelines de ingesta: fuera del curso. Cierre en tres puntos: el agente recuerda por thread_id, sabe por RAG agéntico en Qdrant y cita la fuente por A6. 2) Pregunta para la audiencia: de lo construido hoy, ¿qué capacidad nueva abre un riesgo nuevo que habrá que limitar en S6? 3) Vínculo con el laboratorio: terminar el L5 (Partes 2 a 5) con el criterio de aceptación; su agent.py v3 es la base del L6.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1.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slideLayout" Target="../slideLayouts/slideLayout1.xml"/><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slideLayout" Target="../slideLayouts/slideLayout1.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slideLayout" Target="../slideLayouts/slideLayout1.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slideLayout" Target="../slideLayouts/slideLayout1.xml"/><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slideLayout" Target="../slideLayouts/slideLayout1.xml"/><Relationship Id="rId1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slideLayout" Target="../slideLayouts/slideLayout1.xml"/><Relationship Id="rId1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slideLayout" Target="../slideLayouts/slideLayout1.xml"/><Relationship Id="rId1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812800" y="0"/>
            <a:ext cx="2844800" cy="1320800"/>
          </a:xfrm>
          <a:custGeom>
            <a:avLst/>
            <a:gdLst/>
            <a:ahLst/>
            <a:cxnLst/>
            <a:rect l="l" t="t" r="r" b="b"/>
            <a:pathLst>
              <a:path w="2844800" h="1320800">
                <a:moveTo>
                  <a:pt x="0" y="0"/>
                </a:moveTo>
                <a:lnTo>
                  <a:pt x="2844800" y="0"/>
                </a:lnTo>
                <a:lnTo>
                  <a:pt x="2844800" y="1219200"/>
                </a:lnTo>
                <a:arcTo hR="101600" wR="101600" stAng="0" swAng="5400000"/>
                <a:lnTo>
                  <a:pt x="101600" y="1320800"/>
                </a:lnTo>
                <a:arcTo hR="101600" wR="101600" stAng="5400000" swAng="5400000"/>
                <a:lnTo>
                  <a:pt x="0" y="0"/>
                </a:lnTo>
                <a:close/>
              </a:path>
            </a:pathLst>
          </a:custGeom>
          <a:solidFill>
            <a:srgbClr val="CED8E3"/>
          </a:solidFill>
          <a:ln/>
        </p:spPr>
      </p:sp>
      <p:sp>
        <p:nvSpPr>
          <p:cNvPr id="3" name="Shape 1"/>
          <p:cNvSpPr/>
          <p:nvPr/>
        </p:nvSpPr>
        <p:spPr>
          <a:xfrm>
            <a:off x="3860800" y="558800"/>
            <a:ext cx="609600" cy="203200"/>
          </a:xfrm>
          <a:prstGeom prst="rect">
            <a:avLst/>
          </a:prstGeom>
          <a:solidFill>
            <a:srgbClr val="1E293B"/>
          </a:solidFill>
          <a:ln/>
        </p:spPr>
      </p:sp>
      <p:sp>
        <p:nvSpPr>
          <p:cNvPr id="4" name="Shape 2"/>
          <p:cNvSpPr/>
          <p:nvPr/>
        </p:nvSpPr>
        <p:spPr>
          <a:xfrm>
            <a:off x="4673600" y="0"/>
            <a:ext cx="4064000" cy="1524000"/>
          </a:xfrm>
          <a:custGeom>
            <a:avLst/>
            <a:gdLst/>
            <a:ahLst/>
            <a:cxnLst/>
            <a:rect l="l" t="t" r="r" b="b"/>
            <a:pathLst>
              <a:path w="4064000" h="1524000">
                <a:moveTo>
                  <a:pt x="0" y="0"/>
                </a:moveTo>
                <a:lnTo>
                  <a:pt x="4064000" y="0"/>
                </a:lnTo>
                <a:lnTo>
                  <a:pt x="4064000" y="1371600"/>
                </a:lnTo>
                <a:arcTo hR="152400" wR="152400" stAng="0" swAng="5400000"/>
                <a:lnTo>
                  <a:pt x="152400" y="1524000"/>
                </a:lnTo>
                <a:arcTo hR="152400" wR="152400" stAng="5400000" swAng="5400000"/>
                <a:lnTo>
                  <a:pt x="0" y="0"/>
                </a:lnTo>
                <a:close/>
              </a:path>
            </a:pathLst>
          </a:custGeom>
          <a:solidFill>
            <a:srgbClr val="FF5733"/>
          </a:solidFill>
          <a:ln/>
        </p:spPr>
      </p:sp>
      <p:sp>
        <p:nvSpPr>
          <p:cNvPr id="5" name="Shape 3"/>
          <p:cNvSpPr/>
          <p:nvPr/>
        </p:nvSpPr>
        <p:spPr>
          <a:xfrm>
            <a:off x="8940800" y="558800"/>
            <a:ext cx="609600" cy="203200"/>
          </a:xfrm>
          <a:prstGeom prst="rect">
            <a:avLst/>
          </a:prstGeom>
          <a:solidFill>
            <a:srgbClr val="1E293B"/>
          </a:solidFill>
          <a:ln/>
        </p:spPr>
      </p:sp>
      <p:sp>
        <p:nvSpPr>
          <p:cNvPr id="6" name="Shape 4"/>
          <p:cNvSpPr/>
          <p:nvPr/>
        </p:nvSpPr>
        <p:spPr>
          <a:xfrm>
            <a:off x="9753600" y="0"/>
            <a:ext cx="2438400" cy="1320800"/>
          </a:xfrm>
          <a:custGeom>
            <a:avLst/>
            <a:gdLst/>
            <a:ahLst/>
            <a:cxnLst/>
            <a:rect l="l" t="t" r="r" b="b"/>
            <a:pathLst>
              <a:path w="2438400" h="1320800">
                <a:moveTo>
                  <a:pt x="0" y="0"/>
                </a:moveTo>
                <a:lnTo>
                  <a:pt x="2438400" y="0"/>
                </a:lnTo>
                <a:lnTo>
                  <a:pt x="2438400" y="1320800"/>
                </a:lnTo>
                <a:lnTo>
                  <a:pt x="101600" y="1320800"/>
                </a:lnTo>
                <a:arcTo hR="101600" wR="101600" stAng="5400000" swAng="5400000"/>
                <a:lnTo>
                  <a:pt x="0" y="0"/>
                </a:lnTo>
                <a:close/>
              </a:path>
            </a:pathLst>
          </a:custGeom>
          <a:solidFill>
            <a:srgbClr val="1E293B"/>
          </a:solidFill>
          <a:ln/>
        </p:spPr>
      </p:sp>
      <p:sp>
        <p:nvSpPr>
          <p:cNvPr id="7" name="Text 5"/>
          <p:cNvSpPr/>
          <p:nvPr/>
        </p:nvSpPr>
        <p:spPr>
          <a:xfrm>
            <a:off x="812800" y="3654227"/>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IA Agent Building · Módulo 2 · Agentes avanzados</a:t>
            </a:r>
            <a:endParaRPr lang="en-US" sz="1600" dirty="0"/>
          </a:p>
        </p:txBody>
      </p:sp>
      <p:sp>
        <p:nvSpPr>
          <p:cNvPr id="8" name="Text 6"/>
          <p:cNvSpPr/>
          <p:nvPr/>
        </p:nvSpPr>
        <p:spPr>
          <a:xfrm>
            <a:off x="812800" y="4137819"/>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S05 · Memoria contextual y RAG con Qdrant Cloud</a:t>
            </a:r>
            <a:endParaRPr lang="en-US" sz="3600" dirty="0"/>
          </a:p>
        </p:txBody>
      </p:sp>
      <p:sp>
        <p:nvSpPr>
          <p:cNvPr id="9" name="Text 7"/>
          <p:cNvSpPr/>
          <p:nvPr/>
        </p:nvSpPr>
        <p:spPr>
          <a:xfrm>
            <a:off x="812800" y="4848423"/>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Semana 3 · martes · 6 h: 3.0 h de teoría y 3.0 h de práctica</a:t>
            </a:r>
            <a:endParaRPr lang="en-US" sz="1600" dirty="0"/>
          </a:p>
        </p:txBody>
      </p:sp>
      <p:sp>
        <p:nvSpPr>
          <p:cNvPr id="10" name="Text 8"/>
          <p:cNvSpPr/>
          <p:nvPr/>
        </p:nvSpPr>
        <p:spPr>
          <a:xfrm>
            <a:off x="812800" y="5205016"/>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Hitos: Avance 2 del proyecto · Qdrant operativo en todos los equipos</a:t>
            </a:r>
            <a:endParaRPr lang="en-US" sz="1600" dirty="0"/>
          </a:p>
        </p:txBody>
      </p:sp>
      <p:sp>
        <p:nvSpPr>
          <p:cNvPr id="11" name="Text 9"/>
          <p:cNvSpPr/>
          <p:nvPr/>
        </p:nvSpPr>
        <p:spPr>
          <a:xfrm>
            <a:off x="812800" y="556160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Laboratorio: L5 · Memoria + RAG del dominio</a:t>
            </a:r>
            <a:endParaRPr lang="en-US" sz="1600" dirty="0"/>
          </a:p>
        </p:txBody>
      </p:sp>
      <p:sp>
        <p:nvSpPr>
          <p:cNvPr id="12" name="Text 10"/>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01</a:t>
            </a:r>
            <a:endParaRPr lang="en-US" sz="1200" dirty="0"/>
          </a:p>
        </p:txBody>
      </p:sp>
      <p:pic>
        <p:nvPicPr>
          <p:cNvPr id="13"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Pase de entrada: Qdrant y check_stack</a:t>
            </a:r>
            <a:endParaRPr lang="en-US" sz="3600" dirty="0"/>
          </a:p>
        </p:txBody>
      </p:sp>
      <p:sp>
        <p:nvSpPr>
          <p:cNvPr id="3" name="Shape 1"/>
          <p:cNvSpPr/>
          <p:nvPr/>
        </p:nvSpPr>
        <p:spPr>
          <a:xfrm>
            <a:off x="812800" y="1523405"/>
            <a:ext cx="4826000" cy="381695"/>
          </a:xfrm>
          <a:prstGeom prst="roundRect">
            <a:avLst>
              <a:gd name="adj" fmla="val 6655"/>
            </a:avLst>
          </a:prstGeom>
          <a:solidFill>
            <a:srgbClr val="1E293B"/>
          </a:solidFill>
          <a:ln/>
        </p:spPr>
      </p:sp>
      <p:sp>
        <p:nvSpPr>
          <p:cNvPr id="4" name="Text 2"/>
          <p:cNvSpPr/>
          <p:nvPr/>
        </p:nvSpPr>
        <p:spPr>
          <a:xfrm>
            <a:off x="965200" y="1599605"/>
            <a:ext cx="4656836"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FFFFFF"/>
                </a:solidFill>
                <a:latin typeface="IBM Plex Mono" pitchFamily="34" charset="0"/>
                <a:ea typeface="IBM Plex Mono" pitchFamily="34" charset="-122"/>
                <a:cs typeface="IBM Plex Mono" pitchFamily="34" charset="-120"/>
              </a:rPr>
              <a:t>python -m comun.check_stack</a:t>
            </a:r>
            <a:endParaRPr lang="en-US" sz="1400" dirty="0"/>
          </a:p>
        </p:txBody>
      </p:sp>
      <p:sp>
        <p:nvSpPr>
          <p:cNvPr id="5" name="Shape 3"/>
          <p:cNvSpPr/>
          <p:nvPr/>
        </p:nvSpPr>
        <p:spPr>
          <a:xfrm>
            <a:off x="819150" y="2355255"/>
            <a:ext cx="1892300" cy="1066800"/>
          </a:xfrm>
          <a:prstGeom prst="roundRect">
            <a:avLst>
              <a:gd name="adj" fmla="val 8929"/>
            </a:avLst>
          </a:prstGeom>
          <a:solidFill>
            <a:srgbClr val="FFFFFF"/>
          </a:solidFill>
          <a:ln w="12700">
            <a:solidFill>
              <a:srgbClr val="1E293B"/>
            </a:solidFill>
            <a:prstDash val="solid"/>
          </a:ln>
        </p:spPr>
      </p:sp>
      <p:pic>
        <p:nvPicPr>
          <p:cNvPr id="6" name="Image 0" descr="Cloud">    </p:cNvPr>
          <p:cNvPicPr>
            <a:picLocks noChangeAspect="1"/>
          </p:cNvPicPr>
          <p:nvPr/>
        </p:nvPicPr>
        <p:blipFill>
          <a:blip r:embed="rId1"/>
          <a:srcRect l="0" r="0" t="0" b="0"/>
          <a:stretch/>
        </p:blipFill>
        <p:spPr>
          <a:xfrm>
            <a:off x="1625600" y="2495352"/>
            <a:ext cx="279400" cy="279400"/>
          </a:xfrm>
          <a:prstGeom prst="rect">
            <a:avLst/>
          </a:prstGeom>
        </p:spPr>
      </p:pic>
      <p:sp>
        <p:nvSpPr>
          <p:cNvPr id="7" name="Text 4"/>
          <p:cNvSpPr/>
          <p:nvPr/>
        </p:nvSpPr>
        <p:spPr>
          <a:xfrm>
            <a:off x="1144885" y="2825552"/>
            <a:ext cx="124073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Cluster Qdrant</a:t>
            </a:r>
            <a:endParaRPr lang="en-US" sz="1400" dirty="0"/>
          </a:p>
        </p:txBody>
      </p:sp>
      <p:sp>
        <p:nvSpPr>
          <p:cNvPr id="8" name="Text 5"/>
          <p:cNvSpPr/>
          <p:nvPr/>
        </p:nvSpPr>
        <p:spPr>
          <a:xfrm>
            <a:off x="1224955" y="3091458"/>
            <a:ext cx="108059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estado Healthy</a:t>
            </a:r>
            <a:endParaRPr lang="en-US" sz="1200" dirty="0"/>
          </a:p>
        </p:txBody>
      </p:sp>
      <p:sp>
        <p:nvSpPr>
          <p:cNvPr id="9" name="Shape 6"/>
          <p:cNvSpPr/>
          <p:nvPr/>
        </p:nvSpPr>
        <p:spPr>
          <a:xfrm>
            <a:off x="3708400" y="2361605"/>
            <a:ext cx="1879600" cy="1054100"/>
          </a:xfrm>
          <a:prstGeom prst="roundRect">
            <a:avLst>
              <a:gd name="adj" fmla="val 8434"/>
            </a:avLst>
          </a:prstGeom>
          <a:solidFill>
            <a:srgbClr val="FFF0EB"/>
          </a:solidFill>
          <a:ln w="25400">
            <a:solidFill>
              <a:srgbClr val="FF5733"/>
            </a:solidFill>
            <a:prstDash val="solid"/>
          </a:ln>
        </p:spPr>
      </p:sp>
      <p:pic>
        <p:nvPicPr>
          <p:cNvPr id="10" name="Image 1" descr="CheckCircle">    </p:cNvPr>
          <p:cNvPicPr>
            <a:picLocks noChangeAspect="1"/>
          </p:cNvPicPr>
          <p:nvPr/>
        </p:nvPicPr>
        <p:blipFill>
          <a:blip r:embed="rId2"/>
          <a:srcRect l="0" r="0" t="0" b="0"/>
          <a:stretch/>
        </p:blipFill>
        <p:spPr>
          <a:xfrm>
            <a:off x="4508500" y="2495352"/>
            <a:ext cx="279400" cy="279400"/>
          </a:xfrm>
          <a:prstGeom prst="rect">
            <a:avLst/>
          </a:prstGeom>
        </p:spPr>
      </p:pic>
      <p:sp>
        <p:nvSpPr>
          <p:cNvPr id="11" name="Text 7"/>
          <p:cNvSpPr/>
          <p:nvPr/>
        </p:nvSpPr>
        <p:spPr>
          <a:xfrm>
            <a:off x="4017566" y="2825552"/>
            <a:ext cx="126117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6. Embeddings</a:t>
            </a:r>
            <a:endParaRPr lang="en-US" sz="1400" dirty="0"/>
          </a:p>
        </p:txBody>
      </p:sp>
      <p:sp>
        <p:nvSpPr>
          <p:cNvPr id="12" name="Text 8"/>
          <p:cNvSpPr/>
          <p:nvPr/>
        </p:nvSpPr>
        <p:spPr>
          <a:xfrm>
            <a:off x="3799780" y="3091458"/>
            <a:ext cx="169674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check_embeddings()</a:t>
            </a:r>
            <a:endParaRPr lang="en-US" sz="1200" dirty="0"/>
          </a:p>
        </p:txBody>
      </p:sp>
      <p:sp>
        <p:nvSpPr>
          <p:cNvPr id="13" name="Shape 9"/>
          <p:cNvSpPr/>
          <p:nvPr/>
        </p:nvSpPr>
        <p:spPr>
          <a:xfrm>
            <a:off x="6591300" y="2361605"/>
            <a:ext cx="1879600" cy="1054100"/>
          </a:xfrm>
          <a:prstGeom prst="roundRect">
            <a:avLst>
              <a:gd name="adj" fmla="val 8434"/>
            </a:avLst>
          </a:prstGeom>
          <a:solidFill>
            <a:srgbClr val="FFF0EB"/>
          </a:solidFill>
          <a:ln w="25400">
            <a:solidFill>
              <a:srgbClr val="FF5733"/>
            </a:solidFill>
            <a:prstDash val="solid"/>
          </a:ln>
        </p:spPr>
      </p:sp>
      <p:pic>
        <p:nvPicPr>
          <p:cNvPr id="14" name="Image 2" descr="CheckCircle">    </p:cNvPr>
          <p:cNvPicPr>
            <a:picLocks noChangeAspect="1"/>
          </p:cNvPicPr>
          <p:nvPr/>
        </p:nvPicPr>
        <p:blipFill>
          <a:blip r:embed="rId3"/>
          <a:srcRect l="0" r="0" t="0" b="0"/>
          <a:stretch/>
        </p:blipFill>
        <p:spPr>
          <a:xfrm>
            <a:off x="7391400" y="2495352"/>
            <a:ext cx="279400" cy="279400"/>
          </a:xfrm>
          <a:prstGeom prst="rect">
            <a:avLst/>
          </a:prstGeom>
        </p:spPr>
      </p:pic>
      <p:sp>
        <p:nvSpPr>
          <p:cNvPr id="15" name="Text 10"/>
          <p:cNvSpPr/>
          <p:nvPr/>
        </p:nvSpPr>
        <p:spPr>
          <a:xfrm>
            <a:off x="6866930" y="2825552"/>
            <a:ext cx="1328341"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7. Qdrant Cloud</a:t>
            </a:r>
            <a:endParaRPr lang="en-US" sz="1400" dirty="0"/>
          </a:p>
        </p:txBody>
      </p:sp>
      <p:sp>
        <p:nvSpPr>
          <p:cNvPr id="16" name="Text 11"/>
          <p:cNvSpPr/>
          <p:nvPr/>
        </p:nvSpPr>
        <p:spPr>
          <a:xfrm>
            <a:off x="6865541" y="3091458"/>
            <a:ext cx="133102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check_qdrant()</a:t>
            </a:r>
            <a:endParaRPr lang="en-US" sz="1200" dirty="0"/>
          </a:p>
        </p:txBody>
      </p:sp>
      <p:sp>
        <p:nvSpPr>
          <p:cNvPr id="17" name="Shape 12"/>
          <p:cNvSpPr/>
          <p:nvPr/>
        </p:nvSpPr>
        <p:spPr>
          <a:xfrm>
            <a:off x="9480550" y="2355255"/>
            <a:ext cx="1892300" cy="1066800"/>
          </a:xfrm>
          <a:prstGeom prst="roundRect">
            <a:avLst>
              <a:gd name="adj" fmla="val 8929"/>
            </a:avLst>
          </a:prstGeom>
          <a:solidFill>
            <a:srgbClr val="FFFFFF"/>
          </a:solidFill>
          <a:ln w="12700">
            <a:solidFill>
              <a:srgbClr val="1E293B"/>
            </a:solidFill>
            <a:prstDash val="solid"/>
          </a:ln>
        </p:spPr>
      </p:sp>
      <p:pic>
        <p:nvPicPr>
          <p:cNvPr id="18" name="Image 3" descr="Book">    </p:cNvPr>
          <p:cNvPicPr>
            <a:picLocks noChangeAspect="1"/>
          </p:cNvPicPr>
          <p:nvPr/>
        </p:nvPicPr>
        <p:blipFill>
          <a:blip r:embed="rId4"/>
          <a:srcRect l="0" r="0" t="0" b="0"/>
          <a:stretch/>
        </p:blipFill>
        <p:spPr>
          <a:xfrm>
            <a:off x="10287000" y="2495352"/>
            <a:ext cx="279400" cy="279400"/>
          </a:xfrm>
          <a:prstGeom prst="rect">
            <a:avLst/>
          </a:prstGeom>
        </p:spPr>
      </p:pic>
      <p:sp>
        <p:nvSpPr>
          <p:cNvPr id="19" name="Text 13"/>
          <p:cNvSpPr/>
          <p:nvPr/>
        </p:nvSpPr>
        <p:spPr>
          <a:xfrm>
            <a:off x="9812734" y="2825552"/>
            <a:ext cx="1227931"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Laboratorio L5</a:t>
            </a:r>
            <a:endParaRPr lang="en-US" sz="1400" dirty="0"/>
          </a:p>
        </p:txBody>
      </p:sp>
      <p:sp>
        <p:nvSpPr>
          <p:cNvPr id="20" name="Text 14"/>
          <p:cNvSpPr/>
          <p:nvPr/>
        </p:nvSpPr>
        <p:spPr>
          <a:xfrm>
            <a:off x="9916914" y="3091458"/>
            <a:ext cx="101947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ingesta propia</a:t>
            </a:r>
            <a:endParaRPr lang="en-US" sz="1200" dirty="0"/>
          </a:p>
        </p:txBody>
      </p:sp>
      <p:sp>
        <p:nvSpPr>
          <p:cNvPr id="21" name="Shape 15"/>
          <p:cNvSpPr/>
          <p:nvPr/>
        </p:nvSpPr>
        <p:spPr>
          <a:xfrm>
            <a:off x="6203950" y="4069755"/>
            <a:ext cx="2654300" cy="939800"/>
          </a:xfrm>
          <a:prstGeom prst="roundRect">
            <a:avLst>
              <a:gd name="adj" fmla="val 10135"/>
            </a:avLst>
          </a:prstGeom>
          <a:solidFill>
            <a:srgbClr val="FFFFFF"/>
          </a:solidFill>
          <a:ln w="12700">
            <a:solidFill>
              <a:srgbClr val="1E293B"/>
            </a:solidFill>
            <a:prstDash val="solid"/>
          </a:ln>
        </p:spPr>
      </p:sp>
      <p:sp>
        <p:nvSpPr>
          <p:cNvPr id="22" name="Text 16"/>
          <p:cNvSpPr/>
          <p:nvPr/>
        </p:nvSpPr>
        <p:spPr>
          <a:xfrm>
            <a:off x="6607970" y="4311452"/>
            <a:ext cx="1846261"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Colección de respaldo</a:t>
            </a:r>
            <a:endParaRPr lang="en-US" sz="1400" dirty="0"/>
          </a:p>
        </p:txBody>
      </p:sp>
      <p:sp>
        <p:nvSpPr>
          <p:cNvPr id="23" name="Text 17"/>
          <p:cNvSpPr/>
          <p:nvPr/>
        </p:nvSpPr>
        <p:spPr>
          <a:xfrm>
            <a:off x="6324686" y="4577358"/>
            <a:ext cx="241272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kb-&lt;track&gt;-respaldo · solo lectura</a:t>
            </a:r>
            <a:endParaRPr lang="en-US" sz="1200" dirty="0"/>
          </a:p>
        </p:txBody>
      </p:sp>
      <p:pic>
        <p:nvPicPr>
          <p:cNvPr id="24" name="Image 4" descr="connector">    </p:cNvPr>
          <p:cNvPicPr>
            <a:picLocks noChangeAspect="1"/>
          </p:cNvPicPr>
          <p:nvPr/>
        </p:nvPicPr>
        <p:blipFill>
          <a:blip r:embed="rId5"/>
          <a:srcRect l="0" r="0" t="0" b="0"/>
          <a:stretch/>
        </p:blipFill>
        <p:spPr>
          <a:xfrm>
            <a:off x="2667000" y="2837855"/>
            <a:ext cx="1079500" cy="101600"/>
          </a:xfrm>
          <a:prstGeom prst="rect">
            <a:avLst/>
          </a:prstGeom>
        </p:spPr>
      </p:pic>
      <p:pic>
        <p:nvPicPr>
          <p:cNvPr id="25" name="Image 5" descr="connector">    </p:cNvPr>
          <p:cNvPicPr>
            <a:picLocks noChangeAspect="1"/>
          </p:cNvPicPr>
          <p:nvPr/>
        </p:nvPicPr>
        <p:blipFill>
          <a:blip r:embed="rId6"/>
          <a:srcRect l="0" r="0" t="0" b="0"/>
          <a:stretch/>
        </p:blipFill>
        <p:spPr>
          <a:xfrm>
            <a:off x="5549900" y="2837855"/>
            <a:ext cx="1079500" cy="101600"/>
          </a:xfrm>
          <a:prstGeom prst="rect">
            <a:avLst/>
          </a:prstGeom>
        </p:spPr>
      </p:pic>
      <p:pic>
        <p:nvPicPr>
          <p:cNvPr id="26" name="Image 6" descr="connector">    </p:cNvPr>
          <p:cNvPicPr>
            <a:picLocks noChangeAspect="1"/>
          </p:cNvPicPr>
          <p:nvPr/>
        </p:nvPicPr>
        <p:blipFill>
          <a:blip r:embed="rId7"/>
          <a:srcRect l="0" r="0" t="0" b="0"/>
          <a:stretch/>
        </p:blipFill>
        <p:spPr>
          <a:xfrm>
            <a:off x="8432800" y="2837855"/>
            <a:ext cx="1092200" cy="101600"/>
          </a:xfrm>
          <a:prstGeom prst="rect">
            <a:avLst/>
          </a:prstGeom>
        </p:spPr>
      </p:pic>
      <p:pic>
        <p:nvPicPr>
          <p:cNvPr id="27" name="Image 7" descr="connector">    </p:cNvPr>
          <p:cNvPicPr>
            <a:picLocks noChangeAspect="1"/>
          </p:cNvPicPr>
          <p:nvPr/>
        </p:nvPicPr>
        <p:blipFill>
          <a:blip r:embed="rId8"/>
          <a:srcRect l="0" r="0" t="0" b="0"/>
          <a:stretch/>
        </p:blipFill>
        <p:spPr>
          <a:xfrm>
            <a:off x="7480300" y="3377605"/>
            <a:ext cx="101600" cy="736600"/>
          </a:xfrm>
          <a:prstGeom prst="rect">
            <a:avLst/>
          </a:prstGeom>
        </p:spPr>
      </p:pic>
      <p:sp>
        <p:nvSpPr>
          <p:cNvPr id="28" name="Text 18"/>
          <p:cNvSpPr/>
          <p:nvPr/>
        </p:nvSpPr>
        <p:spPr>
          <a:xfrm>
            <a:off x="2768600" y="2621955"/>
            <a:ext cx="9271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verifica</a:t>
            </a:r>
            <a:endParaRPr lang="en-US" sz="1400" dirty="0"/>
          </a:p>
        </p:txBody>
      </p:sp>
      <p:sp>
        <p:nvSpPr>
          <p:cNvPr id="29" name="Text 19"/>
          <p:cNvSpPr/>
          <p:nvPr/>
        </p:nvSpPr>
        <p:spPr>
          <a:xfrm>
            <a:off x="5651500" y="2621955"/>
            <a:ext cx="9271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 verde</a:t>
            </a:r>
            <a:endParaRPr lang="en-US" sz="1400" dirty="0"/>
          </a:p>
        </p:txBody>
      </p:sp>
      <p:sp>
        <p:nvSpPr>
          <p:cNvPr id="30" name="Text 20"/>
          <p:cNvSpPr/>
          <p:nvPr/>
        </p:nvSpPr>
        <p:spPr>
          <a:xfrm>
            <a:off x="8534400" y="2621955"/>
            <a:ext cx="9271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 verde</a:t>
            </a:r>
            <a:endParaRPr lang="en-US" sz="1400" dirty="0"/>
          </a:p>
        </p:txBody>
      </p:sp>
      <p:sp>
        <p:nvSpPr>
          <p:cNvPr id="31" name="Text 21"/>
          <p:cNvSpPr/>
          <p:nvPr/>
        </p:nvSpPr>
        <p:spPr>
          <a:xfrm>
            <a:off x="7607300" y="3637955"/>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si falla</a:t>
            </a:r>
            <a:endParaRPr lang="en-US" sz="1400" dirty="0"/>
          </a:p>
        </p:txBody>
      </p:sp>
      <p:sp>
        <p:nvSpPr>
          <p:cNvPr id="32" name="Text 22"/>
          <p:cNvSpPr/>
          <p:nvPr/>
        </p:nvSpPr>
        <p:spPr>
          <a:xfrm>
            <a:off x="812800" y="528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Comprobaciones 6 y 7 en verde antes de la sesión. Si alguna falla, se avisa antes, no durante el laboratorio.</a:t>
            </a:r>
            <a:endParaRPr lang="en-US" sz="1600" dirty="0"/>
          </a:p>
        </p:txBody>
      </p:sp>
      <p:sp>
        <p:nvSpPr>
          <p:cNvPr id="33" name="Text 23"/>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02</a:t>
            </a:r>
            <a:endParaRPr lang="en-US" sz="1200" dirty="0"/>
          </a:p>
        </p:txBody>
      </p:sp>
      <p:pic>
        <p:nvPicPr>
          <p:cNvPr id="34" name="Image 8" descr="Logo de AriwaLabs">    </p:cNvPr>
          <p:cNvPicPr>
            <a:picLocks noChangeAspect="1"/>
          </p:cNvPicPr>
          <p:nvPr/>
        </p:nvPicPr>
        <p:blipFill>
          <a:blip r:embed="rId9"/>
          <a:srcRect l="-9345" r="-9345" t="0" b="0"/>
          <a:stretch/>
        </p:blipFill>
        <p:spPr>
          <a:xfrm>
            <a:off x="10680700" y="6197600"/>
            <a:ext cx="698500" cy="25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Objetivos de la sesión</a:t>
            </a:r>
            <a:endParaRPr lang="en-US" sz="3600" dirty="0"/>
          </a:p>
        </p:txBody>
      </p:sp>
      <p:sp>
        <p:nvSpPr>
          <p:cNvPr id="3" name="Shape 1"/>
          <p:cNvSpPr/>
          <p:nvPr/>
        </p:nvSpPr>
        <p:spPr>
          <a:xfrm>
            <a:off x="819150" y="1529755"/>
            <a:ext cx="393700" cy="393700"/>
          </a:xfrm>
          <a:prstGeom prst="roundRect">
            <a:avLst>
              <a:gd name="adj" fmla="val 50000"/>
            </a:avLst>
          </a:prstGeom>
          <a:solidFill>
            <a:srgbClr val="FFFFFF"/>
          </a:solidFill>
          <a:ln w="12700">
            <a:solidFill>
              <a:srgbClr val="1E293B"/>
            </a:solidFill>
            <a:prstDash val="solid"/>
          </a:ln>
        </p:spPr>
      </p:sp>
      <p:sp>
        <p:nvSpPr>
          <p:cNvPr id="4" name="Text 2"/>
          <p:cNvSpPr/>
          <p:nvPr/>
        </p:nvSpPr>
        <p:spPr>
          <a:xfrm>
            <a:off x="800100" y="1536105"/>
            <a:ext cx="431800" cy="406400"/>
          </a:xfrm>
          <a:prstGeom prst="rect">
            <a:avLst/>
          </a:prstGeom>
          <a:noFill/>
          <a:ln/>
        </p:spPr>
        <p:txBody>
          <a:bodyPr wrap="square" lIns="0" tIns="0" rIns="0" bIns="0" rtlCol="0" anchor="t">
            <a:normAutofit/>
          </a:bodyPr>
          <a:lstStyle/>
          <a:p>
            <a:pPr algn="ctr" indent="0" marL="0">
              <a:lnSpc>
                <a:spcPts val="2996"/>
              </a:lnSpc>
              <a:buNone/>
            </a:pPr>
            <a:r>
              <a:rPr lang="en-US" sz="1400" b="1" dirty="0">
                <a:solidFill>
                  <a:srgbClr val="1E293B"/>
                </a:solidFill>
                <a:latin typeface="IBM Plex Sans" pitchFamily="34" charset="0"/>
                <a:ea typeface="IBM Plex Sans" pitchFamily="34" charset="-122"/>
                <a:cs typeface="IBM Plex Sans" pitchFamily="34" charset="-120"/>
              </a:rPr>
              <a:t>1</a:t>
            </a:r>
            <a:endParaRPr lang="en-US" sz="1400" dirty="0"/>
          </a:p>
        </p:txBody>
      </p:sp>
      <p:sp>
        <p:nvSpPr>
          <p:cNvPr id="5" name="Text 3"/>
          <p:cNvSpPr/>
          <p:nvPr/>
        </p:nvSpPr>
        <p:spPr>
          <a:xfrm>
            <a:off x="1422400" y="1586409"/>
            <a:ext cx="10255504"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Explicar qué es la memoria de un agente y cómo la implementa un thread_id.</a:t>
            </a:r>
            <a:endParaRPr lang="en-US" sz="1600" dirty="0"/>
          </a:p>
        </p:txBody>
      </p:sp>
      <p:sp>
        <p:nvSpPr>
          <p:cNvPr id="6" name="Shape 4"/>
          <p:cNvSpPr/>
          <p:nvPr/>
        </p:nvSpPr>
        <p:spPr>
          <a:xfrm>
            <a:off x="819150" y="2139355"/>
            <a:ext cx="393700" cy="393700"/>
          </a:xfrm>
          <a:prstGeom prst="roundRect">
            <a:avLst>
              <a:gd name="adj" fmla="val 50000"/>
            </a:avLst>
          </a:prstGeom>
          <a:solidFill>
            <a:srgbClr val="FFFFFF"/>
          </a:solidFill>
          <a:ln w="12700">
            <a:solidFill>
              <a:srgbClr val="1E293B"/>
            </a:solidFill>
            <a:prstDash val="solid"/>
          </a:ln>
        </p:spPr>
      </p:sp>
      <p:sp>
        <p:nvSpPr>
          <p:cNvPr id="7" name="Text 5"/>
          <p:cNvSpPr/>
          <p:nvPr/>
        </p:nvSpPr>
        <p:spPr>
          <a:xfrm>
            <a:off x="800100" y="2145705"/>
            <a:ext cx="431800" cy="406400"/>
          </a:xfrm>
          <a:prstGeom prst="rect">
            <a:avLst/>
          </a:prstGeom>
          <a:noFill/>
          <a:ln/>
        </p:spPr>
        <p:txBody>
          <a:bodyPr wrap="square" lIns="0" tIns="0" rIns="0" bIns="0" rtlCol="0" anchor="t">
            <a:normAutofit/>
          </a:bodyPr>
          <a:lstStyle/>
          <a:p>
            <a:pPr algn="ctr" indent="0" marL="0">
              <a:lnSpc>
                <a:spcPts val="2996"/>
              </a:lnSpc>
              <a:buNone/>
            </a:pPr>
            <a:r>
              <a:rPr lang="en-US" sz="1400" b="1" dirty="0">
                <a:solidFill>
                  <a:srgbClr val="1E293B"/>
                </a:solidFill>
                <a:latin typeface="IBM Plex Sans" pitchFamily="34" charset="0"/>
                <a:ea typeface="IBM Plex Sans" pitchFamily="34" charset="-122"/>
                <a:cs typeface="IBM Plex Sans" pitchFamily="34" charset="-120"/>
              </a:rPr>
              <a:t>2</a:t>
            </a:r>
            <a:endParaRPr lang="en-US" sz="1400" dirty="0"/>
          </a:p>
        </p:txBody>
      </p:sp>
      <p:sp>
        <p:nvSpPr>
          <p:cNvPr id="8" name="Text 6"/>
          <p:cNvSpPr/>
          <p:nvPr/>
        </p:nvSpPr>
        <p:spPr>
          <a:xfrm>
            <a:off x="1422400" y="2196009"/>
            <a:ext cx="10255504"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Defender el tamaño de chunk de tu track: qué se gana y qué se pierde al partir un documento.</a:t>
            </a:r>
            <a:endParaRPr lang="en-US" sz="1600" dirty="0"/>
          </a:p>
        </p:txBody>
      </p:sp>
      <p:sp>
        <p:nvSpPr>
          <p:cNvPr id="9" name="Shape 7"/>
          <p:cNvSpPr/>
          <p:nvPr/>
        </p:nvSpPr>
        <p:spPr>
          <a:xfrm>
            <a:off x="819150" y="2748955"/>
            <a:ext cx="393700" cy="393700"/>
          </a:xfrm>
          <a:prstGeom prst="roundRect">
            <a:avLst>
              <a:gd name="adj" fmla="val 50000"/>
            </a:avLst>
          </a:prstGeom>
          <a:solidFill>
            <a:srgbClr val="FFFFFF"/>
          </a:solidFill>
          <a:ln w="12700">
            <a:solidFill>
              <a:srgbClr val="1E293B"/>
            </a:solidFill>
            <a:prstDash val="solid"/>
          </a:ln>
        </p:spPr>
      </p:sp>
      <p:sp>
        <p:nvSpPr>
          <p:cNvPr id="10" name="Text 8"/>
          <p:cNvSpPr/>
          <p:nvPr/>
        </p:nvSpPr>
        <p:spPr>
          <a:xfrm>
            <a:off x="800100" y="2755305"/>
            <a:ext cx="431800" cy="406400"/>
          </a:xfrm>
          <a:prstGeom prst="rect">
            <a:avLst/>
          </a:prstGeom>
          <a:noFill/>
          <a:ln/>
        </p:spPr>
        <p:txBody>
          <a:bodyPr wrap="square" lIns="0" tIns="0" rIns="0" bIns="0" rtlCol="0" anchor="t">
            <a:normAutofit/>
          </a:bodyPr>
          <a:lstStyle/>
          <a:p>
            <a:pPr algn="ctr" indent="0" marL="0">
              <a:lnSpc>
                <a:spcPts val="2996"/>
              </a:lnSpc>
              <a:buNone/>
            </a:pPr>
            <a:r>
              <a:rPr lang="en-US" sz="1400" b="1" dirty="0">
                <a:solidFill>
                  <a:srgbClr val="1E293B"/>
                </a:solidFill>
                <a:latin typeface="IBM Plex Sans" pitchFamily="34" charset="0"/>
                <a:ea typeface="IBM Plex Sans" pitchFamily="34" charset="-122"/>
                <a:cs typeface="IBM Plex Sans" pitchFamily="34" charset="-120"/>
              </a:rPr>
              <a:t>3</a:t>
            </a:r>
            <a:endParaRPr lang="en-US" sz="1400" dirty="0"/>
          </a:p>
        </p:txBody>
      </p:sp>
      <p:sp>
        <p:nvSpPr>
          <p:cNvPr id="11" name="Text 9"/>
          <p:cNvSpPr/>
          <p:nvPr/>
        </p:nvSpPr>
        <p:spPr>
          <a:xfrm>
            <a:off x="1422400" y="2805609"/>
            <a:ext cx="10255504"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Indexar un corpus en Qdrant Cloud: colección, vector y payload.</a:t>
            </a:r>
            <a:endParaRPr lang="en-US" sz="1600" dirty="0"/>
          </a:p>
        </p:txBody>
      </p:sp>
      <p:sp>
        <p:nvSpPr>
          <p:cNvPr id="12" name="Shape 10"/>
          <p:cNvSpPr/>
          <p:nvPr/>
        </p:nvSpPr>
        <p:spPr>
          <a:xfrm>
            <a:off x="819150" y="3358555"/>
            <a:ext cx="393700" cy="393700"/>
          </a:xfrm>
          <a:prstGeom prst="roundRect">
            <a:avLst>
              <a:gd name="adj" fmla="val 50000"/>
            </a:avLst>
          </a:prstGeom>
          <a:solidFill>
            <a:srgbClr val="FFFFFF"/>
          </a:solidFill>
          <a:ln w="12700">
            <a:solidFill>
              <a:srgbClr val="1E293B"/>
            </a:solidFill>
            <a:prstDash val="solid"/>
          </a:ln>
        </p:spPr>
      </p:sp>
      <p:sp>
        <p:nvSpPr>
          <p:cNvPr id="13" name="Text 11"/>
          <p:cNvSpPr/>
          <p:nvPr/>
        </p:nvSpPr>
        <p:spPr>
          <a:xfrm>
            <a:off x="800100" y="3364905"/>
            <a:ext cx="431800" cy="406400"/>
          </a:xfrm>
          <a:prstGeom prst="rect">
            <a:avLst/>
          </a:prstGeom>
          <a:noFill/>
          <a:ln/>
        </p:spPr>
        <p:txBody>
          <a:bodyPr wrap="square" lIns="0" tIns="0" rIns="0" bIns="0" rtlCol="0" anchor="t">
            <a:normAutofit/>
          </a:bodyPr>
          <a:lstStyle/>
          <a:p>
            <a:pPr algn="ctr" indent="0" marL="0">
              <a:lnSpc>
                <a:spcPts val="2996"/>
              </a:lnSpc>
              <a:buNone/>
            </a:pPr>
            <a:r>
              <a:rPr lang="en-US" sz="1400" b="1" dirty="0">
                <a:solidFill>
                  <a:srgbClr val="1E293B"/>
                </a:solidFill>
                <a:latin typeface="IBM Plex Sans" pitchFamily="34" charset="0"/>
                <a:ea typeface="IBM Plex Sans" pitchFamily="34" charset="-122"/>
                <a:cs typeface="IBM Plex Sans" pitchFamily="34" charset="-120"/>
              </a:rPr>
              <a:t>4</a:t>
            </a:r>
            <a:endParaRPr lang="en-US" sz="1400" dirty="0"/>
          </a:p>
        </p:txBody>
      </p:sp>
      <p:sp>
        <p:nvSpPr>
          <p:cNvPr id="14" name="Text 12"/>
          <p:cNvSpPr/>
          <p:nvPr/>
        </p:nvSpPr>
        <p:spPr>
          <a:xfrm>
            <a:off x="1422400" y="3415209"/>
            <a:ext cx="10255504"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Distinguir RAG tradicional de RAG agéntico y decir cuándo conviene cada uno.</a:t>
            </a:r>
            <a:endParaRPr lang="en-US" sz="1600" dirty="0"/>
          </a:p>
        </p:txBody>
      </p:sp>
      <p:sp>
        <p:nvSpPr>
          <p:cNvPr id="15" name="Shape 13"/>
          <p:cNvSpPr/>
          <p:nvPr/>
        </p:nvSpPr>
        <p:spPr>
          <a:xfrm>
            <a:off x="819150" y="3968155"/>
            <a:ext cx="393700" cy="393700"/>
          </a:xfrm>
          <a:prstGeom prst="roundRect">
            <a:avLst>
              <a:gd name="adj" fmla="val 50000"/>
            </a:avLst>
          </a:prstGeom>
          <a:solidFill>
            <a:srgbClr val="FFFFFF"/>
          </a:solidFill>
          <a:ln w="12700">
            <a:solidFill>
              <a:srgbClr val="1E293B"/>
            </a:solidFill>
            <a:prstDash val="solid"/>
          </a:ln>
        </p:spPr>
      </p:sp>
      <p:sp>
        <p:nvSpPr>
          <p:cNvPr id="16" name="Text 14"/>
          <p:cNvSpPr/>
          <p:nvPr/>
        </p:nvSpPr>
        <p:spPr>
          <a:xfrm>
            <a:off x="800100" y="3974505"/>
            <a:ext cx="431800" cy="406400"/>
          </a:xfrm>
          <a:prstGeom prst="rect">
            <a:avLst/>
          </a:prstGeom>
          <a:noFill/>
          <a:ln/>
        </p:spPr>
        <p:txBody>
          <a:bodyPr wrap="square" lIns="0" tIns="0" rIns="0" bIns="0" rtlCol="0" anchor="t">
            <a:normAutofit/>
          </a:bodyPr>
          <a:lstStyle/>
          <a:p>
            <a:pPr algn="ctr" indent="0" marL="0">
              <a:lnSpc>
                <a:spcPts val="2996"/>
              </a:lnSpc>
              <a:buNone/>
            </a:pPr>
            <a:r>
              <a:rPr lang="en-US" sz="1400" b="1" dirty="0">
                <a:solidFill>
                  <a:srgbClr val="1E293B"/>
                </a:solidFill>
                <a:latin typeface="IBM Plex Sans" pitchFamily="34" charset="0"/>
                <a:ea typeface="IBM Plex Sans" pitchFamily="34" charset="-122"/>
                <a:cs typeface="IBM Plex Sans" pitchFamily="34" charset="-120"/>
              </a:rPr>
              <a:t>5</a:t>
            </a:r>
            <a:endParaRPr lang="en-US" sz="1400" dirty="0"/>
          </a:p>
        </p:txBody>
      </p:sp>
      <p:sp>
        <p:nvSpPr>
          <p:cNvPr id="17" name="Text 15"/>
          <p:cNvSpPr/>
          <p:nvPr/>
        </p:nvSpPr>
        <p:spPr>
          <a:xfrm>
            <a:off x="1422400" y="4024809"/>
            <a:ext cx="10255504"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Hacer que el agente cite la fuente y explicar por qué es un requisito de auditoría.</a:t>
            </a:r>
            <a:endParaRPr lang="en-US" sz="1600" dirty="0"/>
          </a:p>
        </p:txBody>
      </p:sp>
      <p:sp>
        <p:nvSpPr>
          <p:cNvPr id="18" name="Text 16"/>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03</a:t>
            </a:r>
            <a:endParaRPr lang="en-US" sz="1200" dirty="0"/>
          </a:p>
        </p:txBody>
      </p:sp>
      <p:pic>
        <p:nvPicPr>
          <p:cNvPr id="19"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No recuerda y no sabe: dos problemas</a:t>
            </a:r>
            <a:endParaRPr lang="en-US" sz="3600" dirty="0"/>
          </a:p>
        </p:txBody>
      </p:sp>
      <p:sp>
        <p:nvSpPr>
          <p:cNvPr id="3" name="Shape 1"/>
          <p:cNvSpPr/>
          <p:nvPr/>
        </p:nvSpPr>
        <p:spPr>
          <a:xfrm>
            <a:off x="819150" y="1529755"/>
            <a:ext cx="7302500" cy="4216400"/>
          </a:xfrm>
          <a:prstGeom prst="roundRect">
            <a:avLst>
              <a:gd name="adj" fmla="val 2259"/>
            </a:avLst>
          </a:prstGeom>
          <a:solidFill>
            <a:srgbClr val="FFFFFF"/>
          </a:solidFill>
          <a:ln w="12700">
            <a:solidFill>
              <a:srgbClr val="CED8E3"/>
            </a:solidFill>
            <a:prstDash val="solid"/>
          </a:ln>
        </p:spPr>
      </p:sp>
      <p:pic>
        <p:nvPicPr>
          <p:cNvPr id="4" name="Image 0" descr="IMG-M02-S05-001 · Memory y RAG: el historial por thread_id y la recuperación documental llegan al LLM por carriles distintos">    </p:cNvPr>
          <p:cNvPicPr>
            <a:picLocks noChangeAspect="1"/>
          </p:cNvPicPr>
          <p:nvPr/>
        </p:nvPicPr>
        <p:blipFill>
          <a:blip r:embed="rId1"/>
          <a:srcRect l="-27" r="-27" t="0" b="0"/>
          <a:stretch/>
        </p:blipFill>
        <p:spPr>
          <a:xfrm>
            <a:off x="927100" y="1637705"/>
            <a:ext cx="7112000" cy="4000500"/>
          </a:xfrm>
          <a:prstGeom prst="rect">
            <a:avLst/>
          </a:prstGeom>
        </p:spPr>
      </p:pic>
      <p:sp>
        <p:nvSpPr>
          <p:cNvPr id="5" name="Shape 2"/>
          <p:cNvSpPr/>
          <p:nvPr/>
        </p:nvSpPr>
        <p:spPr>
          <a:xfrm>
            <a:off x="8337550" y="1529755"/>
            <a:ext cx="3035300" cy="1334889"/>
          </a:xfrm>
          <a:prstGeom prst="roundRect">
            <a:avLst>
              <a:gd name="adj" fmla="val 7135"/>
            </a:avLst>
          </a:prstGeom>
          <a:solidFill>
            <a:srgbClr val="FFFFFF"/>
          </a:solidFill>
          <a:ln w="12700">
            <a:solidFill>
              <a:srgbClr val="1E293B"/>
            </a:solidFill>
            <a:prstDash val="solid"/>
          </a:ln>
        </p:spPr>
      </p:sp>
      <p:sp>
        <p:nvSpPr>
          <p:cNvPr id="6" name="Text 3"/>
          <p:cNvSpPr/>
          <p:nvPr/>
        </p:nvSpPr>
        <p:spPr>
          <a:xfrm>
            <a:off x="8521700" y="1713905"/>
            <a:ext cx="2747010"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No recuerda</a:t>
            </a:r>
            <a:endParaRPr lang="en-US" sz="2200" dirty="0"/>
          </a:p>
        </p:txBody>
      </p:sp>
      <p:sp>
        <p:nvSpPr>
          <p:cNvPr id="7" name="Text 4"/>
          <p:cNvSpPr/>
          <p:nvPr/>
        </p:nvSpPr>
        <p:spPr>
          <a:xfrm>
            <a:off x="8521700" y="2119709"/>
            <a:ext cx="2747010"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 resuelve con memoria: el historial por thread_id.</a:t>
            </a:r>
            <a:endParaRPr lang="en-US" sz="1600" dirty="0"/>
          </a:p>
        </p:txBody>
      </p:sp>
      <p:sp>
        <p:nvSpPr>
          <p:cNvPr id="8" name="Shape 5"/>
          <p:cNvSpPr/>
          <p:nvPr/>
        </p:nvSpPr>
        <p:spPr>
          <a:xfrm>
            <a:off x="8337550" y="3029744"/>
            <a:ext cx="3035300" cy="1615281"/>
          </a:xfrm>
          <a:prstGeom prst="roundRect">
            <a:avLst>
              <a:gd name="adj" fmla="val 5897"/>
            </a:avLst>
          </a:prstGeom>
          <a:solidFill>
            <a:srgbClr val="FFFFFF"/>
          </a:solidFill>
          <a:ln w="12700">
            <a:solidFill>
              <a:srgbClr val="1E293B"/>
            </a:solidFill>
            <a:prstDash val="solid"/>
          </a:ln>
        </p:spPr>
      </p:sp>
      <p:sp>
        <p:nvSpPr>
          <p:cNvPr id="9" name="Text 6"/>
          <p:cNvSpPr/>
          <p:nvPr/>
        </p:nvSpPr>
        <p:spPr>
          <a:xfrm>
            <a:off x="8521700" y="3213894"/>
            <a:ext cx="2747010"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No sabe</a:t>
            </a:r>
            <a:endParaRPr lang="en-US" sz="2200" dirty="0"/>
          </a:p>
        </p:txBody>
      </p:sp>
      <p:sp>
        <p:nvSpPr>
          <p:cNvPr id="10" name="Text 7"/>
          <p:cNvSpPr/>
          <p:nvPr/>
        </p:nvSpPr>
        <p:spPr>
          <a:xfrm>
            <a:off x="8521700" y="3619698"/>
            <a:ext cx="2747010"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 resuelve con RAG: los documentos del track en Qdrant.</a:t>
            </a:r>
            <a:endParaRPr lang="en-US" sz="1600" dirty="0"/>
          </a:p>
        </p:txBody>
      </p:sp>
      <p:sp>
        <p:nvSpPr>
          <p:cNvPr id="11" name="Text 8"/>
          <p:cNvSpPr/>
          <p:nvPr/>
        </p:nvSpPr>
        <p:spPr>
          <a:xfrm>
            <a:off x="8331200" y="4803775"/>
            <a:ext cx="3139440"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Más historial no corrige una alucinación.</a:t>
            </a:r>
            <a:endParaRPr lang="en-US" sz="1400" dirty="0"/>
          </a:p>
        </p:txBody>
      </p:sp>
      <p:sp>
        <p:nvSpPr>
          <p:cNvPr id="12" name="Text 9"/>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04</a:t>
            </a:r>
            <a:endParaRPr lang="en-US" sz="1200" dirty="0"/>
          </a:p>
        </p:txBody>
      </p:sp>
      <p:pic>
        <p:nvPicPr>
          <p:cNvPr id="13"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Repaso S0: el modelo no recuerda</a:t>
            </a:r>
            <a:endParaRPr lang="en-US" sz="3600" dirty="0"/>
          </a:p>
        </p:txBody>
      </p:sp>
      <p:sp>
        <p:nvSpPr>
          <p:cNvPr id="3" name="Shape 1"/>
          <p:cNvSpPr/>
          <p:nvPr/>
        </p:nvSpPr>
        <p:spPr>
          <a:xfrm>
            <a:off x="819150" y="1529755"/>
            <a:ext cx="7302500" cy="4216400"/>
          </a:xfrm>
          <a:prstGeom prst="roundRect">
            <a:avLst>
              <a:gd name="adj" fmla="val 2259"/>
            </a:avLst>
          </a:prstGeom>
          <a:solidFill>
            <a:srgbClr val="FFFFFF"/>
          </a:solidFill>
          <a:ln w="12700">
            <a:solidFill>
              <a:srgbClr val="CED8E3"/>
            </a:solidFill>
            <a:prstDash val="solid"/>
          </a:ln>
        </p:spPr>
      </p:sp>
      <p:pic>
        <p:nvPicPr>
          <p:cNvPr id="4" name="Image 0" descr="IMG-S00-003 · Tokens, contexto y costo: el modelo es stateless y el código reenvía el historial">    </p:cNvPr>
          <p:cNvPicPr>
            <a:picLocks noChangeAspect="1"/>
          </p:cNvPicPr>
          <p:nvPr/>
        </p:nvPicPr>
        <p:blipFill>
          <a:blip r:embed="rId1"/>
          <a:srcRect l="-27" r="-27" t="0" b="0"/>
          <a:stretch/>
        </p:blipFill>
        <p:spPr>
          <a:xfrm>
            <a:off x="927100" y="1637705"/>
            <a:ext cx="7112000" cy="4000500"/>
          </a:xfrm>
          <a:prstGeom prst="rect">
            <a:avLst/>
          </a:prstGeom>
        </p:spPr>
      </p:pic>
      <p:sp>
        <p:nvSpPr>
          <p:cNvPr id="5" name="Shape 2"/>
          <p:cNvSpPr/>
          <p:nvPr/>
        </p:nvSpPr>
        <p:spPr>
          <a:xfrm>
            <a:off x="8337550" y="1529755"/>
            <a:ext cx="3035300" cy="254000"/>
          </a:xfrm>
          <a:prstGeom prst="roundRect">
            <a:avLst>
              <a:gd name="adj" fmla="val 47500"/>
            </a:avLst>
          </a:prstGeom>
          <a:solidFill>
            <a:srgbClr val="FFFFFF"/>
          </a:solidFill>
          <a:ln w="12700">
            <a:solidFill>
              <a:srgbClr val="526277"/>
            </a:solidFill>
            <a:prstDash val="solid"/>
          </a:ln>
        </p:spPr>
      </p:sp>
      <p:sp>
        <p:nvSpPr>
          <p:cNvPr id="6" name="Text 3"/>
          <p:cNvSpPr/>
          <p:nvPr/>
        </p:nvSpPr>
        <p:spPr>
          <a:xfrm>
            <a:off x="8445500" y="1561505"/>
            <a:ext cx="290398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Repaso · Sesión 0</a:t>
            </a:r>
            <a:endParaRPr lang="en-US" sz="1200" dirty="0"/>
          </a:p>
        </p:txBody>
      </p:sp>
      <p:sp>
        <p:nvSpPr>
          <p:cNvPr id="7" name="Text 4"/>
          <p:cNvSpPr/>
          <p:nvPr/>
        </p:nvSpPr>
        <p:spPr>
          <a:xfrm>
            <a:off x="8331200" y="1942505"/>
            <a:ext cx="3139440" cy="134381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La «memoria» es tu código reenviando el historial en cada llamada.</a:t>
            </a:r>
            <a:endParaRPr lang="en-US" sz="2200" dirty="0"/>
          </a:p>
        </p:txBody>
      </p:sp>
      <p:sp>
        <p:nvSpPr>
          <p:cNvPr id="8" name="Text 5"/>
          <p:cNvSpPr/>
          <p:nvPr/>
        </p:nvSpPr>
        <p:spPr>
          <a:xfrm>
            <a:off x="8331200" y="3413323"/>
            <a:ext cx="3139440"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Hoy: cómo lo hace memory.py con un thread_id.</a:t>
            </a:r>
            <a:endParaRPr lang="en-US" sz="1600" dirty="0"/>
          </a:p>
        </p:txBody>
      </p:sp>
      <p:sp>
        <p:nvSpPr>
          <p:cNvPr id="9" name="Text 6"/>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05</a:t>
            </a:r>
            <a:endParaRPr lang="en-US" sz="1200" dirty="0"/>
          </a:p>
        </p:txBody>
      </p:sp>
      <p:pic>
        <p:nvPicPr>
          <p:cNvPr id="10"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memoria se indexa por thread_id</a:t>
            </a:r>
            <a:endParaRPr lang="en-US" sz="3600" dirty="0"/>
          </a:p>
        </p:txBody>
      </p:sp>
      <p:sp>
        <p:nvSpPr>
          <p:cNvPr id="3" name="Shape 1"/>
          <p:cNvSpPr/>
          <p:nvPr/>
        </p:nvSpPr>
        <p:spPr>
          <a:xfrm>
            <a:off x="3105150" y="1529755"/>
            <a:ext cx="4813300" cy="3543300"/>
          </a:xfrm>
          <a:prstGeom prst="roundRect">
            <a:avLst>
              <a:gd name="adj" fmla="val 4122"/>
            </a:avLst>
          </a:prstGeom>
          <a:solidFill>
            <a:srgbClr val="E9F0F7"/>
          </a:solidFill>
          <a:ln w="12700">
            <a:solidFill>
              <a:srgbClr val="526277"/>
            </a:solidFill>
            <a:prstDash val="solid"/>
          </a:ln>
        </p:spPr>
      </p:sp>
      <p:sp>
        <p:nvSpPr>
          <p:cNvPr id="4" name="Text 2"/>
          <p:cNvSpPr/>
          <p:nvPr/>
        </p:nvSpPr>
        <p:spPr>
          <a:xfrm>
            <a:off x="3251200" y="1625005"/>
            <a:ext cx="327025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Agente · agent.py</a:t>
            </a:r>
            <a:endParaRPr lang="en-US" sz="1400" dirty="0"/>
          </a:p>
        </p:txBody>
      </p:sp>
      <p:sp>
        <p:nvSpPr>
          <p:cNvPr id="5" name="Shape 3"/>
          <p:cNvSpPr/>
          <p:nvPr/>
        </p:nvSpPr>
        <p:spPr>
          <a:xfrm>
            <a:off x="819150" y="3561755"/>
            <a:ext cx="1511300" cy="1066800"/>
          </a:xfrm>
          <a:prstGeom prst="roundRect">
            <a:avLst>
              <a:gd name="adj" fmla="val 8929"/>
            </a:avLst>
          </a:prstGeom>
          <a:solidFill>
            <a:srgbClr val="FFFFFF"/>
          </a:solidFill>
          <a:ln w="12700">
            <a:solidFill>
              <a:srgbClr val="1E293B"/>
            </a:solidFill>
            <a:prstDash val="solid"/>
          </a:ln>
        </p:spPr>
      </p:sp>
      <p:pic>
        <p:nvPicPr>
          <p:cNvPr id="6" name="Image 0" descr="preencoded.png">    </p:cNvPr>
          <p:cNvPicPr>
            <a:picLocks noChangeAspect="1"/>
          </p:cNvPicPr>
          <p:nvPr/>
        </p:nvPicPr>
        <p:blipFill>
          <a:blip r:embed="rId1"/>
          <a:srcRect l="0" r="0" t="0" b="0"/>
          <a:stretch/>
        </p:blipFill>
        <p:spPr>
          <a:xfrm>
            <a:off x="1435100" y="3701852"/>
            <a:ext cx="279400" cy="279400"/>
          </a:xfrm>
          <a:prstGeom prst="rect">
            <a:avLst/>
          </a:prstGeom>
        </p:spPr>
      </p:pic>
      <p:sp>
        <p:nvSpPr>
          <p:cNvPr id="7" name="Text 4"/>
          <p:cNvSpPr/>
          <p:nvPr/>
        </p:nvSpPr>
        <p:spPr>
          <a:xfrm>
            <a:off x="1236563" y="4032052"/>
            <a:ext cx="67637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8" name="Text 5"/>
          <p:cNvSpPr/>
          <p:nvPr/>
        </p:nvSpPr>
        <p:spPr>
          <a:xfrm>
            <a:off x="1317823" y="4297958"/>
            <a:ext cx="51385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a:t>
            </a:r>
            <a:endParaRPr lang="en-US" sz="1200" dirty="0"/>
          </a:p>
        </p:txBody>
      </p:sp>
      <p:sp>
        <p:nvSpPr>
          <p:cNvPr id="9" name="Shape 6"/>
          <p:cNvSpPr/>
          <p:nvPr/>
        </p:nvSpPr>
        <p:spPr>
          <a:xfrm>
            <a:off x="3486150" y="1974255"/>
            <a:ext cx="1511300" cy="1066800"/>
          </a:xfrm>
          <a:prstGeom prst="roundRect">
            <a:avLst>
              <a:gd name="adj" fmla="val 8929"/>
            </a:avLst>
          </a:prstGeom>
          <a:solidFill>
            <a:srgbClr val="FFFFFF"/>
          </a:solidFill>
          <a:ln w="12700">
            <a:solidFill>
              <a:srgbClr val="1E293B"/>
            </a:solidFill>
            <a:prstDash val="solid"/>
          </a:ln>
        </p:spPr>
      </p:sp>
      <p:pic>
        <p:nvPicPr>
          <p:cNvPr id="10" name="Image 1" descr="preencoded.png">    </p:cNvPr>
          <p:cNvPicPr>
            <a:picLocks noChangeAspect="1"/>
          </p:cNvPicPr>
          <p:nvPr/>
        </p:nvPicPr>
        <p:blipFill>
          <a:blip r:embed="rId2"/>
          <a:srcRect l="0" r="0" t="0" b="0"/>
          <a:stretch/>
        </p:blipFill>
        <p:spPr>
          <a:xfrm>
            <a:off x="4102100" y="2114352"/>
            <a:ext cx="279400" cy="279400"/>
          </a:xfrm>
          <a:prstGeom prst="rect">
            <a:avLst/>
          </a:prstGeom>
        </p:spPr>
      </p:pic>
      <p:sp>
        <p:nvSpPr>
          <p:cNvPr id="11" name="Text 7"/>
          <p:cNvSpPr/>
          <p:nvPr/>
        </p:nvSpPr>
        <p:spPr>
          <a:xfrm>
            <a:off x="4052689" y="2444552"/>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12" name="Text 8"/>
          <p:cNvSpPr/>
          <p:nvPr/>
        </p:nvSpPr>
        <p:spPr>
          <a:xfrm>
            <a:off x="3929955" y="2710458"/>
            <a:ext cx="62368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13" name="Shape 9"/>
          <p:cNvSpPr/>
          <p:nvPr/>
        </p:nvSpPr>
        <p:spPr>
          <a:xfrm>
            <a:off x="3486150" y="3561755"/>
            <a:ext cx="1511300" cy="1066800"/>
          </a:xfrm>
          <a:prstGeom prst="roundRect">
            <a:avLst>
              <a:gd name="adj" fmla="val 8929"/>
            </a:avLst>
          </a:prstGeom>
          <a:solidFill>
            <a:srgbClr val="FFFFFF"/>
          </a:solidFill>
          <a:ln w="12700">
            <a:solidFill>
              <a:srgbClr val="1E293B"/>
            </a:solidFill>
            <a:prstDash val="solid"/>
          </a:ln>
        </p:spPr>
      </p:sp>
      <p:pic>
        <p:nvPicPr>
          <p:cNvPr id="14" name="Image 2" descr="Settings">    </p:cNvPr>
          <p:cNvPicPr>
            <a:picLocks noChangeAspect="1"/>
          </p:cNvPicPr>
          <p:nvPr/>
        </p:nvPicPr>
        <p:blipFill>
          <a:blip r:embed="rId3"/>
          <a:srcRect l="0" r="0" t="0" b="0"/>
          <a:stretch/>
        </p:blipFill>
        <p:spPr>
          <a:xfrm>
            <a:off x="4102100" y="3701852"/>
            <a:ext cx="279400" cy="279400"/>
          </a:xfrm>
          <a:prstGeom prst="rect">
            <a:avLst/>
          </a:prstGeom>
        </p:spPr>
      </p:pic>
      <p:sp>
        <p:nvSpPr>
          <p:cNvPr id="15" name="Text 10"/>
          <p:cNvSpPr/>
          <p:nvPr/>
        </p:nvSpPr>
        <p:spPr>
          <a:xfrm>
            <a:off x="3871218" y="4032052"/>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6" name="Text 11"/>
          <p:cNvSpPr/>
          <p:nvPr/>
        </p:nvSpPr>
        <p:spPr>
          <a:xfrm>
            <a:off x="3964583" y="4297958"/>
            <a:ext cx="55433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17" name="Shape 12"/>
          <p:cNvSpPr/>
          <p:nvPr/>
        </p:nvSpPr>
        <p:spPr>
          <a:xfrm>
            <a:off x="6096000" y="1980605"/>
            <a:ext cx="1625600" cy="1054100"/>
          </a:xfrm>
          <a:prstGeom prst="roundRect">
            <a:avLst>
              <a:gd name="adj" fmla="val 8434"/>
            </a:avLst>
          </a:prstGeom>
          <a:solidFill>
            <a:srgbClr val="FFF0EB"/>
          </a:solidFill>
          <a:ln w="25400">
            <a:solidFill>
              <a:srgbClr val="FF5733"/>
            </a:solidFill>
            <a:prstDash val="solid"/>
          </a:ln>
        </p:spPr>
      </p:sp>
      <p:pic>
        <p:nvPicPr>
          <p:cNvPr id="18" name="Image 3" descr="preencoded.png">    </p:cNvPr>
          <p:cNvPicPr>
            <a:picLocks noChangeAspect="1"/>
          </p:cNvPicPr>
          <p:nvPr/>
        </p:nvPicPr>
        <p:blipFill>
          <a:blip r:embed="rId4"/>
          <a:srcRect l="0" r="0" t="0" b="0"/>
          <a:stretch/>
        </p:blipFill>
        <p:spPr>
          <a:xfrm>
            <a:off x="6769100" y="2114352"/>
            <a:ext cx="279400" cy="279400"/>
          </a:xfrm>
          <a:prstGeom prst="rect">
            <a:avLst/>
          </a:prstGeom>
        </p:spPr>
      </p:pic>
      <p:sp>
        <p:nvSpPr>
          <p:cNvPr id="19" name="Text 13"/>
          <p:cNvSpPr/>
          <p:nvPr/>
        </p:nvSpPr>
        <p:spPr>
          <a:xfrm>
            <a:off x="6526808" y="2444552"/>
            <a:ext cx="76398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Memoria</a:t>
            </a:r>
            <a:endParaRPr lang="en-US" sz="1400" dirty="0"/>
          </a:p>
        </p:txBody>
      </p:sp>
      <p:sp>
        <p:nvSpPr>
          <p:cNvPr id="20" name="Text 14"/>
          <p:cNvSpPr/>
          <p:nvPr/>
        </p:nvSpPr>
        <p:spPr>
          <a:xfrm>
            <a:off x="6471841" y="2710458"/>
            <a:ext cx="87382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memory.py</a:t>
            </a:r>
            <a:endParaRPr lang="en-US" sz="1200" dirty="0"/>
          </a:p>
        </p:txBody>
      </p:sp>
      <p:sp>
        <p:nvSpPr>
          <p:cNvPr id="21" name="Shape 15"/>
          <p:cNvSpPr/>
          <p:nvPr/>
        </p:nvSpPr>
        <p:spPr>
          <a:xfrm>
            <a:off x="9607550" y="3561755"/>
            <a:ext cx="1765300" cy="1066800"/>
          </a:xfrm>
          <a:prstGeom prst="roundRect">
            <a:avLst>
              <a:gd name="adj" fmla="val 8929"/>
            </a:avLst>
          </a:prstGeom>
          <a:solidFill>
            <a:srgbClr val="FFFFFF"/>
          </a:solidFill>
          <a:ln w="12700">
            <a:solidFill>
              <a:srgbClr val="1E293B"/>
            </a:solidFill>
            <a:prstDash val="solid"/>
          </a:ln>
        </p:spPr>
      </p:sp>
      <p:pic>
        <p:nvPicPr>
          <p:cNvPr id="22" name="Image 4" descr="preencoded.png">    </p:cNvPr>
          <p:cNvPicPr>
            <a:picLocks noChangeAspect="1"/>
          </p:cNvPicPr>
          <p:nvPr/>
        </p:nvPicPr>
        <p:blipFill>
          <a:blip r:embed="rId5"/>
          <a:srcRect l="0" r="0" t="0" b="0"/>
          <a:stretch/>
        </p:blipFill>
        <p:spPr>
          <a:xfrm>
            <a:off x="10350500" y="3701852"/>
            <a:ext cx="279400" cy="279400"/>
          </a:xfrm>
          <a:prstGeom prst="rect">
            <a:avLst/>
          </a:prstGeom>
        </p:spPr>
      </p:pic>
      <p:sp>
        <p:nvSpPr>
          <p:cNvPr id="23" name="Text 16"/>
          <p:cNvSpPr/>
          <p:nvPr/>
        </p:nvSpPr>
        <p:spPr>
          <a:xfrm>
            <a:off x="9925943" y="4032052"/>
            <a:ext cx="112841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 Cloud</a:t>
            </a:r>
            <a:endParaRPr lang="en-US" sz="1400" dirty="0"/>
          </a:p>
        </p:txBody>
      </p:sp>
      <p:sp>
        <p:nvSpPr>
          <p:cNvPr id="24" name="Text 17"/>
          <p:cNvSpPr/>
          <p:nvPr/>
        </p:nvSpPr>
        <p:spPr>
          <a:xfrm>
            <a:off x="9869884" y="4297958"/>
            <a:ext cx="124053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fuera del proceso</a:t>
            </a:r>
            <a:endParaRPr lang="en-US" sz="1200" dirty="0"/>
          </a:p>
        </p:txBody>
      </p:sp>
      <p:pic>
        <p:nvPicPr>
          <p:cNvPr id="25" name="Image 5" descr="connector">    </p:cNvPr>
          <p:cNvPicPr>
            <a:picLocks noChangeAspect="1"/>
          </p:cNvPicPr>
          <p:nvPr/>
        </p:nvPicPr>
        <p:blipFill>
          <a:blip r:embed="rId6"/>
          <a:srcRect l="0" r="0" t="0" b="0"/>
          <a:stretch/>
        </p:blipFill>
        <p:spPr>
          <a:xfrm>
            <a:off x="2286000" y="4044355"/>
            <a:ext cx="1244600" cy="101600"/>
          </a:xfrm>
          <a:prstGeom prst="rect">
            <a:avLst/>
          </a:prstGeom>
        </p:spPr>
      </p:pic>
      <p:pic>
        <p:nvPicPr>
          <p:cNvPr id="26" name="Image 6" descr="connector">    </p:cNvPr>
          <p:cNvPicPr>
            <a:picLocks noChangeAspect="1"/>
          </p:cNvPicPr>
          <p:nvPr/>
        </p:nvPicPr>
        <p:blipFill>
          <a:blip r:embed="rId7"/>
          <a:srcRect l="0" r="0" t="0" b="0"/>
          <a:stretch/>
        </p:blipFill>
        <p:spPr>
          <a:xfrm>
            <a:off x="4191000" y="2996605"/>
            <a:ext cx="101600" cy="609600"/>
          </a:xfrm>
          <a:prstGeom prst="rect">
            <a:avLst/>
          </a:prstGeom>
        </p:spPr>
      </p:pic>
      <p:pic>
        <p:nvPicPr>
          <p:cNvPr id="27" name="Image 7" descr="connector">    </p:cNvPr>
          <p:cNvPicPr>
            <a:picLocks noChangeAspect="1"/>
          </p:cNvPicPr>
          <p:nvPr/>
        </p:nvPicPr>
        <p:blipFill>
          <a:blip r:embed="rId8"/>
          <a:srcRect l="0" r="0" t="0" b="0"/>
          <a:stretch/>
        </p:blipFill>
        <p:spPr>
          <a:xfrm>
            <a:off x="4953000" y="2456855"/>
            <a:ext cx="1181100" cy="101600"/>
          </a:xfrm>
          <a:prstGeom prst="rect">
            <a:avLst/>
          </a:prstGeom>
        </p:spPr>
      </p:pic>
      <p:pic>
        <p:nvPicPr>
          <p:cNvPr id="28" name="Image 8" descr="connector">    </p:cNvPr>
          <p:cNvPicPr>
            <a:picLocks noChangeAspect="1"/>
          </p:cNvPicPr>
          <p:nvPr/>
        </p:nvPicPr>
        <p:blipFill>
          <a:blip r:embed="rId9"/>
          <a:srcRect l="0" r="0" t="0" b="0"/>
          <a:stretch/>
        </p:blipFill>
        <p:spPr>
          <a:xfrm>
            <a:off x="4953000" y="4266605"/>
            <a:ext cx="4699000" cy="101600"/>
          </a:xfrm>
          <a:prstGeom prst="rect">
            <a:avLst/>
          </a:prstGeom>
        </p:spPr>
      </p:pic>
      <p:sp>
        <p:nvSpPr>
          <p:cNvPr id="29" name="Text 18"/>
          <p:cNvSpPr/>
          <p:nvPr/>
        </p:nvSpPr>
        <p:spPr>
          <a:xfrm>
            <a:off x="2400300" y="3828455"/>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a:t>
            </a:r>
            <a:endParaRPr lang="en-US" sz="1400" dirty="0"/>
          </a:p>
        </p:txBody>
      </p:sp>
      <p:sp>
        <p:nvSpPr>
          <p:cNvPr id="30" name="Text 19"/>
          <p:cNvSpPr/>
          <p:nvPr/>
        </p:nvSpPr>
        <p:spPr>
          <a:xfrm>
            <a:off x="4318000" y="3193455"/>
            <a:ext cx="1003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mensajes</a:t>
            </a:r>
            <a:endParaRPr lang="en-US" sz="1400" dirty="0"/>
          </a:p>
        </p:txBody>
      </p:sp>
      <p:sp>
        <p:nvSpPr>
          <p:cNvPr id="31" name="Text 20"/>
          <p:cNvSpPr/>
          <p:nvPr/>
        </p:nvSpPr>
        <p:spPr>
          <a:xfrm>
            <a:off x="5054600" y="2240955"/>
            <a:ext cx="10414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historial</a:t>
            </a:r>
            <a:endParaRPr lang="en-US" sz="1400" dirty="0"/>
          </a:p>
        </p:txBody>
      </p:sp>
      <p:sp>
        <p:nvSpPr>
          <p:cNvPr id="32" name="Text 21"/>
          <p:cNvSpPr/>
          <p:nvPr/>
        </p:nvSpPr>
        <p:spPr>
          <a:xfrm>
            <a:off x="8051800" y="4050705"/>
            <a:ext cx="1447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 de RAG</a:t>
            </a:r>
            <a:endParaRPr lang="en-US" sz="1400" dirty="0"/>
          </a:p>
        </p:txBody>
      </p:sp>
      <p:sp>
        <p:nvSpPr>
          <p:cNvPr id="33" name="Text 22"/>
          <p:cNvSpPr/>
          <p:nvPr/>
        </p:nvSpPr>
        <p:spPr>
          <a:xfrm>
            <a:off x="812800" y="528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Mismo thread_id durante toda la conversación; uno nuevo por cada conversación distinta.</a:t>
            </a:r>
            <a:endParaRPr lang="en-US" sz="1600" dirty="0"/>
          </a:p>
        </p:txBody>
      </p:sp>
      <p:sp>
        <p:nvSpPr>
          <p:cNvPr id="34" name="Text 23"/>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06</a:t>
            </a:r>
            <a:endParaRPr lang="en-US" sz="1200" dirty="0"/>
          </a:p>
        </p:txBody>
      </p:sp>
      <p:pic>
        <p:nvPicPr>
          <p:cNvPr id="35" name="Image 9" descr="Logo de AriwaLabs">    </p:cNvPr>
          <p:cNvPicPr>
            <a:picLocks noChangeAspect="1"/>
          </p:cNvPicPr>
          <p:nvPr/>
        </p:nvPicPr>
        <p:blipFill>
          <a:blip r:embed="rId10"/>
          <a:srcRect l="-9345" r="-9345" t="0" b="0"/>
          <a:stretch/>
        </p:blipFill>
        <p:spPr>
          <a:xfrm>
            <a:off x="10680700" y="6197600"/>
            <a:ext cx="6985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historial acumula cada turno</a:t>
            </a:r>
            <a:endParaRPr lang="en-US" sz="3600" dirty="0"/>
          </a:p>
        </p:txBody>
      </p:sp>
      <p:sp>
        <p:nvSpPr>
          <p:cNvPr id="3" name="Shape 1"/>
          <p:cNvSpPr/>
          <p:nvPr/>
        </p:nvSpPr>
        <p:spPr>
          <a:xfrm>
            <a:off x="3105150" y="1529755"/>
            <a:ext cx="4813300" cy="3543300"/>
          </a:xfrm>
          <a:prstGeom prst="roundRect">
            <a:avLst>
              <a:gd name="adj" fmla="val 4122"/>
            </a:avLst>
          </a:prstGeom>
          <a:solidFill>
            <a:srgbClr val="E9F0F7"/>
          </a:solidFill>
          <a:ln w="12700">
            <a:solidFill>
              <a:srgbClr val="526277"/>
            </a:solidFill>
            <a:prstDash val="solid"/>
          </a:ln>
        </p:spPr>
      </p:sp>
      <p:sp>
        <p:nvSpPr>
          <p:cNvPr id="4" name="Text 2"/>
          <p:cNvSpPr/>
          <p:nvPr/>
        </p:nvSpPr>
        <p:spPr>
          <a:xfrm>
            <a:off x="3251200" y="1625005"/>
            <a:ext cx="327025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Agente · agent.py</a:t>
            </a:r>
            <a:endParaRPr lang="en-US" sz="1400" dirty="0"/>
          </a:p>
        </p:txBody>
      </p:sp>
      <p:sp>
        <p:nvSpPr>
          <p:cNvPr id="5" name="Shape 3"/>
          <p:cNvSpPr/>
          <p:nvPr/>
        </p:nvSpPr>
        <p:spPr>
          <a:xfrm>
            <a:off x="819150" y="3561755"/>
            <a:ext cx="1511300" cy="1066800"/>
          </a:xfrm>
          <a:prstGeom prst="roundRect">
            <a:avLst>
              <a:gd name="adj" fmla="val 8929"/>
            </a:avLst>
          </a:prstGeom>
          <a:solidFill>
            <a:srgbClr val="FFFFFF"/>
          </a:solidFill>
          <a:ln w="12700">
            <a:solidFill>
              <a:srgbClr val="1E293B"/>
            </a:solidFill>
            <a:prstDash val="solid"/>
          </a:ln>
        </p:spPr>
      </p:sp>
      <p:pic>
        <p:nvPicPr>
          <p:cNvPr id="6" name="Image 0" descr="preencoded.png">    </p:cNvPr>
          <p:cNvPicPr>
            <a:picLocks noChangeAspect="1"/>
          </p:cNvPicPr>
          <p:nvPr/>
        </p:nvPicPr>
        <p:blipFill>
          <a:blip r:embed="rId1"/>
          <a:srcRect l="0" r="0" t="0" b="0"/>
          <a:stretch/>
        </p:blipFill>
        <p:spPr>
          <a:xfrm>
            <a:off x="1435100" y="3701852"/>
            <a:ext cx="279400" cy="279400"/>
          </a:xfrm>
          <a:prstGeom prst="rect">
            <a:avLst/>
          </a:prstGeom>
        </p:spPr>
      </p:pic>
      <p:sp>
        <p:nvSpPr>
          <p:cNvPr id="7" name="Text 4"/>
          <p:cNvSpPr/>
          <p:nvPr/>
        </p:nvSpPr>
        <p:spPr>
          <a:xfrm>
            <a:off x="1236563" y="4032052"/>
            <a:ext cx="67637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8" name="Text 5"/>
          <p:cNvSpPr/>
          <p:nvPr/>
        </p:nvSpPr>
        <p:spPr>
          <a:xfrm>
            <a:off x="1317823" y="4297958"/>
            <a:ext cx="51385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a:t>
            </a:r>
            <a:endParaRPr lang="en-US" sz="1200" dirty="0"/>
          </a:p>
        </p:txBody>
      </p:sp>
      <p:sp>
        <p:nvSpPr>
          <p:cNvPr id="9" name="Shape 6"/>
          <p:cNvSpPr/>
          <p:nvPr/>
        </p:nvSpPr>
        <p:spPr>
          <a:xfrm>
            <a:off x="3486150" y="1974255"/>
            <a:ext cx="1511300" cy="1066800"/>
          </a:xfrm>
          <a:prstGeom prst="roundRect">
            <a:avLst>
              <a:gd name="adj" fmla="val 8929"/>
            </a:avLst>
          </a:prstGeom>
          <a:solidFill>
            <a:srgbClr val="FFFFFF"/>
          </a:solidFill>
          <a:ln w="12700">
            <a:solidFill>
              <a:srgbClr val="1E293B"/>
            </a:solidFill>
            <a:prstDash val="solid"/>
          </a:ln>
        </p:spPr>
      </p:sp>
      <p:pic>
        <p:nvPicPr>
          <p:cNvPr id="10" name="Image 1" descr="preencoded.png">    </p:cNvPr>
          <p:cNvPicPr>
            <a:picLocks noChangeAspect="1"/>
          </p:cNvPicPr>
          <p:nvPr/>
        </p:nvPicPr>
        <p:blipFill>
          <a:blip r:embed="rId2"/>
          <a:srcRect l="0" r="0" t="0" b="0"/>
          <a:stretch/>
        </p:blipFill>
        <p:spPr>
          <a:xfrm>
            <a:off x="4102100" y="2114352"/>
            <a:ext cx="279400" cy="279400"/>
          </a:xfrm>
          <a:prstGeom prst="rect">
            <a:avLst/>
          </a:prstGeom>
        </p:spPr>
      </p:pic>
      <p:sp>
        <p:nvSpPr>
          <p:cNvPr id="11" name="Text 7"/>
          <p:cNvSpPr/>
          <p:nvPr/>
        </p:nvSpPr>
        <p:spPr>
          <a:xfrm>
            <a:off x="4052689" y="2444552"/>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12" name="Text 8"/>
          <p:cNvSpPr/>
          <p:nvPr/>
        </p:nvSpPr>
        <p:spPr>
          <a:xfrm>
            <a:off x="3929955" y="2710458"/>
            <a:ext cx="62368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13" name="Shape 9"/>
          <p:cNvSpPr/>
          <p:nvPr/>
        </p:nvSpPr>
        <p:spPr>
          <a:xfrm>
            <a:off x="3486150" y="3561755"/>
            <a:ext cx="1511300" cy="1066800"/>
          </a:xfrm>
          <a:prstGeom prst="roundRect">
            <a:avLst>
              <a:gd name="adj" fmla="val 8929"/>
            </a:avLst>
          </a:prstGeom>
          <a:solidFill>
            <a:srgbClr val="FFFFFF"/>
          </a:solidFill>
          <a:ln w="12700">
            <a:solidFill>
              <a:srgbClr val="1E293B"/>
            </a:solidFill>
            <a:prstDash val="solid"/>
          </a:ln>
        </p:spPr>
      </p:sp>
      <p:pic>
        <p:nvPicPr>
          <p:cNvPr id="14" name="Image 2" descr="Settings">    </p:cNvPr>
          <p:cNvPicPr>
            <a:picLocks noChangeAspect="1"/>
          </p:cNvPicPr>
          <p:nvPr/>
        </p:nvPicPr>
        <p:blipFill>
          <a:blip r:embed="rId3"/>
          <a:srcRect l="0" r="0" t="0" b="0"/>
          <a:stretch/>
        </p:blipFill>
        <p:spPr>
          <a:xfrm>
            <a:off x="4102100" y="3701852"/>
            <a:ext cx="279400" cy="279400"/>
          </a:xfrm>
          <a:prstGeom prst="rect">
            <a:avLst/>
          </a:prstGeom>
        </p:spPr>
      </p:pic>
      <p:sp>
        <p:nvSpPr>
          <p:cNvPr id="15" name="Text 10"/>
          <p:cNvSpPr/>
          <p:nvPr/>
        </p:nvSpPr>
        <p:spPr>
          <a:xfrm>
            <a:off x="3871218" y="4032052"/>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6" name="Text 11"/>
          <p:cNvSpPr/>
          <p:nvPr/>
        </p:nvSpPr>
        <p:spPr>
          <a:xfrm>
            <a:off x="3964583" y="4297958"/>
            <a:ext cx="55433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17" name="Shape 12"/>
          <p:cNvSpPr/>
          <p:nvPr/>
        </p:nvSpPr>
        <p:spPr>
          <a:xfrm>
            <a:off x="6089650" y="1974255"/>
            <a:ext cx="1638300" cy="1066800"/>
          </a:xfrm>
          <a:prstGeom prst="roundRect">
            <a:avLst>
              <a:gd name="adj" fmla="val 8929"/>
            </a:avLst>
          </a:prstGeom>
          <a:solidFill>
            <a:srgbClr val="FFFFFF"/>
          </a:solidFill>
          <a:ln w="12700">
            <a:solidFill>
              <a:srgbClr val="1E293B"/>
            </a:solidFill>
            <a:prstDash val="solid"/>
          </a:ln>
        </p:spPr>
      </p:sp>
      <p:pic>
        <p:nvPicPr>
          <p:cNvPr id="18" name="Image 3" descr="preencoded.png">    </p:cNvPr>
          <p:cNvPicPr>
            <a:picLocks noChangeAspect="1"/>
          </p:cNvPicPr>
          <p:nvPr/>
        </p:nvPicPr>
        <p:blipFill>
          <a:blip r:embed="rId4"/>
          <a:srcRect l="0" r="0" t="0" b="0"/>
          <a:stretch/>
        </p:blipFill>
        <p:spPr>
          <a:xfrm>
            <a:off x="6769100" y="2114352"/>
            <a:ext cx="279400" cy="279400"/>
          </a:xfrm>
          <a:prstGeom prst="rect">
            <a:avLst/>
          </a:prstGeom>
        </p:spPr>
      </p:pic>
      <p:sp>
        <p:nvSpPr>
          <p:cNvPr id="19" name="Text 13"/>
          <p:cNvSpPr/>
          <p:nvPr/>
        </p:nvSpPr>
        <p:spPr>
          <a:xfrm>
            <a:off x="6526808" y="2444552"/>
            <a:ext cx="76398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Memoria</a:t>
            </a:r>
            <a:endParaRPr lang="en-US" sz="1400" dirty="0"/>
          </a:p>
        </p:txBody>
      </p:sp>
      <p:sp>
        <p:nvSpPr>
          <p:cNvPr id="20" name="Text 14"/>
          <p:cNvSpPr/>
          <p:nvPr/>
        </p:nvSpPr>
        <p:spPr>
          <a:xfrm>
            <a:off x="6471841" y="2710458"/>
            <a:ext cx="87382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memory.py</a:t>
            </a:r>
            <a:endParaRPr lang="en-US" sz="1200" dirty="0"/>
          </a:p>
        </p:txBody>
      </p:sp>
      <p:sp>
        <p:nvSpPr>
          <p:cNvPr id="21" name="Shape 15"/>
          <p:cNvSpPr/>
          <p:nvPr/>
        </p:nvSpPr>
        <p:spPr>
          <a:xfrm>
            <a:off x="9607550" y="3561755"/>
            <a:ext cx="1765300" cy="1066800"/>
          </a:xfrm>
          <a:prstGeom prst="roundRect">
            <a:avLst>
              <a:gd name="adj" fmla="val 8929"/>
            </a:avLst>
          </a:prstGeom>
          <a:solidFill>
            <a:srgbClr val="FFFFFF"/>
          </a:solidFill>
          <a:ln w="12700">
            <a:solidFill>
              <a:srgbClr val="1E293B"/>
            </a:solidFill>
            <a:prstDash val="solid"/>
          </a:ln>
        </p:spPr>
      </p:sp>
      <p:pic>
        <p:nvPicPr>
          <p:cNvPr id="22" name="Image 4" descr="preencoded.png">    </p:cNvPr>
          <p:cNvPicPr>
            <a:picLocks noChangeAspect="1"/>
          </p:cNvPicPr>
          <p:nvPr/>
        </p:nvPicPr>
        <p:blipFill>
          <a:blip r:embed="rId5"/>
          <a:srcRect l="0" r="0" t="0" b="0"/>
          <a:stretch/>
        </p:blipFill>
        <p:spPr>
          <a:xfrm>
            <a:off x="10350500" y="3701852"/>
            <a:ext cx="279400" cy="279400"/>
          </a:xfrm>
          <a:prstGeom prst="rect">
            <a:avLst/>
          </a:prstGeom>
        </p:spPr>
      </p:pic>
      <p:sp>
        <p:nvSpPr>
          <p:cNvPr id="23" name="Text 16"/>
          <p:cNvSpPr/>
          <p:nvPr/>
        </p:nvSpPr>
        <p:spPr>
          <a:xfrm>
            <a:off x="9925943" y="4032052"/>
            <a:ext cx="112841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 Cloud</a:t>
            </a:r>
            <a:endParaRPr lang="en-US" sz="1400" dirty="0"/>
          </a:p>
        </p:txBody>
      </p:sp>
      <p:sp>
        <p:nvSpPr>
          <p:cNvPr id="24" name="Text 17"/>
          <p:cNvSpPr/>
          <p:nvPr/>
        </p:nvSpPr>
        <p:spPr>
          <a:xfrm>
            <a:off x="9869884" y="4297958"/>
            <a:ext cx="124053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fuera del proceso</a:t>
            </a:r>
            <a:endParaRPr lang="en-US" sz="1200" dirty="0"/>
          </a:p>
        </p:txBody>
      </p:sp>
      <p:sp>
        <p:nvSpPr>
          <p:cNvPr id="25" name="Shape 18"/>
          <p:cNvSpPr/>
          <p:nvPr/>
        </p:nvSpPr>
        <p:spPr>
          <a:xfrm>
            <a:off x="8572500" y="1536105"/>
            <a:ext cx="2794000" cy="1625600"/>
          </a:xfrm>
          <a:prstGeom prst="roundRect">
            <a:avLst>
              <a:gd name="adj" fmla="val 5469"/>
            </a:avLst>
          </a:prstGeom>
          <a:solidFill>
            <a:srgbClr val="FFF0EB"/>
          </a:solidFill>
          <a:ln w="25400">
            <a:solidFill>
              <a:srgbClr val="FF5733"/>
            </a:solidFill>
            <a:prstDash val="solid"/>
          </a:ln>
        </p:spPr>
      </p:sp>
      <p:sp>
        <p:nvSpPr>
          <p:cNvPr id="26" name="Text 19"/>
          <p:cNvSpPr/>
          <p:nvPr/>
        </p:nvSpPr>
        <p:spPr>
          <a:xfrm>
            <a:off x="8737600" y="1675805"/>
            <a:ext cx="253771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Historial · thread_id</a:t>
            </a:r>
            <a:endParaRPr lang="en-US" sz="1400" dirty="0"/>
          </a:p>
        </p:txBody>
      </p:sp>
      <p:sp>
        <p:nvSpPr>
          <p:cNvPr id="27" name="Text 20"/>
          <p:cNvSpPr/>
          <p:nvPr/>
        </p:nvSpPr>
        <p:spPr>
          <a:xfrm>
            <a:off x="8737600" y="1941711"/>
            <a:ext cx="253771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SystemMessage</a:t>
            </a:r>
            <a:endParaRPr lang="en-US" sz="1200" dirty="0"/>
          </a:p>
        </p:txBody>
      </p:sp>
      <p:sp>
        <p:nvSpPr>
          <p:cNvPr id="28" name="Text 21"/>
          <p:cNvSpPr/>
          <p:nvPr/>
        </p:nvSpPr>
        <p:spPr>
          <a:xfrm>
            <a:off x="8737600" y="2183011"/>
            <a:ext cx="253771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HumanMessage</a:t>
            </a:r>
            <a:endParaRPr lang="en-US" sz="1200" dirty="0"/>
          </a:p>
        </p:txBody>
      </p:sp>
      <p:sp>
        <p:nvSpPr>
          <p:cNvPr id="29" name="Text 22"/>
          <p:cNvSpPr/>
          <p:nvPr/>
        </p:nvSpPr>
        <p:spPr>
          <a:xfrm>
            <a:off x="8737600" y="2424311"/>
            <a:ext cx="253771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AIMessage</a:t>
            </a:r>
            <a:endParaRPr lang="en-US" sz="1200" dirty="0"/>
          </a:p>
        </p:txBody>
      </p:sp>
      <p:sp>
        <p:nvSpPr>
          <p:cNvPr id="30" name="Text 23"/>
          <p:cNvSpPr/>
          <p:nvPr/>
        </p:nvSpPr>
        <p:spPr>
          <a:xfrm>
            <a:off x="8737600" y="2665611"/>
            <a:ext cx="253771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ToolMessage …</a:t>
            </a:r>
            <a:endParaRPr lang="en-US" sz="1200" dirty="0"/>
          </a:p>
        </p:txBody>
      </p:sp>
      <p:pic>
        <p:nvPicPr>
          <p:cNvPr id="31" name="Image 5" descr="connector">    </p:cNvPr>
          <p:cNvPicPr>
            <a:picLocks noChangeAspect="1"/>
          </p:cNvPicPr>
          <p:nvPr/>
        </p:nvPicPr>
        <p:blipFill>
          <a:blip r:embed="rId6"/>
          <a:srcRect l="0" r="0" t="0" b="0"/>
          <a:stretch/>
        </p:blipFill>
        <p:spPr>
          <a:xfrm>
            <a:off x="2286000" y="4044355"/>
            <a:ext cx="1244600" cy="101600"/>
          </a:xfrm>
          <a:prstGeom prst="rect">
            <a:avLst/>
          </a:prstGeom>
        </p:spPr>
      </p:pic>
      <p:pic>
        <p:nvPicPr>
          <p:cNvPr id="32" name="Image 6" descr="connector">    </p:cNvPr>
          <p:cNvPicPr>
            <a:picLocks noChangeAspect="1"/>
          </p:cNvPicPr>
          <p:nvPr/>
        </p:nvPicPr>
        <p:blipFill>
          <a:blip r:embed="rId7"/>
          <a:srcRect l="0" r="0" t="0" b="0"/>
          <a:stretch/>
        </p:blipFill>
        <p:spPr>
          <a:xfrm>
            <a:off x="4191000" y="2996605"/>
            <a:ext cx="101600" cy="609600"/>
          </a:xfrm>
          <a:prstGeom prst="rect">
            <a:avLst/>
          </a:prstGeom>
        </p:spPr>
      </p:pic>
      <p:pic>
        <p:nvPicPr>
          <p:cNvPr id="33" name="Image 7" descr="connector">    </p:cNvPr>
          <p:cNvPicPr>
            <a:picLocks noChangeAspect="1"/>
          </p:cNvPicPr>
          <p:nvPr/>
        </p:nvPicPr>
        <p:blipFill>
          <a:blip r:embed="rId8"/>
          <a:srcRect l="0" r="0" t="0" b="0"/>
          <a:stretch/>
        </p:blipFill>
        <p:spPr>
          <a:xfrm>
            <a:off x="4953000" y="2456855"/>
            <a:ext cx="1181100" cy="101600"/>
          </a:xfrm>
          <a:prstGeom prst="rect">
            <a:avLst/>
          </a:prstGeom>
        </p:spPr>
      </p:pic>
      <p:pic>
        <p:nvPicPr>
          <p:cNvPr id="34" name="Image 8" descr="connector">    </p:cNvPr>
          <p:cNvPicPr>
            <a:picLocks noChangeAspect="1"/>
          </p:cNvPicPr>
          <p:nvPr/>
        </p:nvPicPr>
        <p:blipFill>
          <a:blip r:embed="rId9"/>
          <a:srcRect l="0" r="0" t="0" b="0"/>
          <a:stretch/>
        </p:blipFill>
        <p:spPr>
          <a:xfrm>
            <a:off x="4953000" y="4266605"/>
            <a:ext cx="4699000" cy="101600"/>
          </a:xfrm>
          <a:prstGeom prst="rect">
            <a:avLst/>
          </a:prstGeom>
        </p:spPr>
      </p:pic>
      <p:sp>
        <p:nvSpPr>
          <p:cNvPr id="35" name="Text 24"/>
          <p:cNvSpPr/>
          <p:nvPr/>
        </p:nvSpPr>
        <p:spPr>
          <a:xfrm>
            <a:off x="2400300" y="3828455"/>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a:t>
            </a:r>
            <a:endParaRPr lang="en-US" sz="1400" dirty="0"/>
          </a:p>
        </p:txBody>
      </p:sp>
      <p:sp>
        <p:nvSpPr>
          <p:cNvPr id="36" name="Text 25"/>
          <p:cNvSpPr/>
          <p:nvPr/>
        </p:nvSpPr>
        <p:spPr>
          <a:xfrm>
            <a:off x="4318000" y="3193455"/>
            <a:ext cx="1003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mensajes</a:t>
            </a:r>
            <a:endParaRPr lang="en-US" sz="1400" dirty="0"/>
          </a:p>
        </p:txBody>
      </p:sp>
      <p:sp>
        <p:nvSpPr>
          <p:cNvPr id="37" name="Text 26"/>
          <p:cNvSpPr/>
          <p:nvPr/>
        </p:nvSpPr>
        <p:spPr>
          <a:xfrm>
            <a:off x="5054600" y="2240955"/>
            <a:ext cx="10414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historial</a:t>
            </a:r>
            <a:endParaRPr lang="en-US" sz="1400" dirty="0"/>
          </a:p>
        </p:txBody>
      </p:sp>
      <p:sp>
        <p:nvSpPr>
          <p:cNvPr id="38" name="Text 27"/>
          <p:cNvSpPr/>
          <p:nvPr/>
        </p:nvSpPr>
        <p:spPr>
          <a:xfrm>
            <a:off x="8051800" y="4050705"/>
            <a:ext cx="1447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 de RAG</a:t>
            </a:r>
            <a:endParaRPr lang="en-US" sz="1400" dirty="0"/>
          </a:p>
        </p:txBody>
      </p:sp>
      <p:pic>
        <p:nvPicPr>
          <p:cNvPr id="39" name="Image 9" descr="connector">    </p:cNvPr>
          <p:cNvPicPr>
            <a:picLocks noChangeAspect="1"/>
          </p:cNvPicPr>
          <p:nvPr/>
        </p:nvPicPr>
        <p:blipFill>
          <a:blip r:embed="rId10"/>
          <a:srcRect l="0" r="0" t="0" b="0"/>
          <a:stretch/>
        </p:blipFill>
        <p:spPr>
          <a:xfrm>
            <a:off x="7683500" y="2456855"/>
            <a:ext cx="927100" cy="101600"/>
          </a:xfrm>
          <a:prstGeom prst="rect">
            <a:avLst/>
          </a:prstGeom>
        </p:spPr>
      </p:pic>
      <p:sp>
        <p:nvSpPr>
          <p:cNvPr id="40" name="Text 28"/>
          <p:cNvSpPr/>
          <p:nvPr/>
        </p:nvSpPr>
        <p:spPr>
          <a:xfrm>
            <a:off x="7772400" y="2240955"/>
            <a:ext cx="812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detalle</a:t>
            </a:r>
            <a:endParaRPr lang="en-US" sz="1400" dirty="0"/>
          </a:p>
        </p:txBody>
      </p:sp>
      <p:sp>
        <p:nvSpPr>
          <p:cNvPr id="41" name="Text 29"/>
          <p:cNvSpPr/>
          <p:nvPr/>
        </p:nvSpPr>
        <p:spPr>
          <a:xfrm>
            <a:off x="812800" y="528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Criterio del L5: el turno 3 entiende «¿y el mes pasado?» sin que el cliente repita el identificador.</a:t>
            </a:r>
            <a:endParaRPr lang="en-US" sz="1600" dirty="0"/>
          </a:p>
        </p:txBody>
      </p:sp>
      <p:sp>
        <p:nvSpPr>
          <p:cNvPr id="42" name="Text 30"/>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07</a:t>
            </a:r>
            <a:endParaRPr lang="en-US" sz="1200" dirty="0"/>
          </a:p>
        </p:txBody>
      </p:sp>
      <p:pic>
        <p:nvPicPr>
          <p:cNvPr id="43" name="Image 10" descr="Logo de AriwaLabs">    </p:cNvPr>
          <p:cNvPicPr>
            <a:picLocks noChangeAspect="1"/>
          </p:cNvPicPr>
          <p:nvPr/>
        </p:nvPicPr>
        <p:blipFill>
          <a:blip r:embed="rId11"/>
          <a:srcRect l="-9345" r="-9345" t="0" b="0"/>
          <a:stretch/>
        </p:blipFill>
        <p:spPr>
          <a:xfrm>
            <a:off x="10680700" y="6197600"/>
            <a:ext cx="6985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110"/>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memoria vive en el proceso</a:t>
            </a:r>
            <a:endParaRPr lang="en-US" sz="3600" dirty="0"/>
          </a:p>
        </p:txBody>
      </p:sp>
      <p:sp>
        <p:nvSpPr>
          <p:cNvPr id="3" name="Shape 1"/>
          <p:cNvSpPr/>
          <p:nvPr/>
        </p:nvSpPr>
        <p:spPr>
          <a:xfrm>
            <a:off x="3105150" y="1529060"/>
            <a:ext cx="4813300" cy="3543300"/>
          </a:xfrm>
          <a:prstGeom prst="roundRect">
            <a:avLst>
              <a:gd name="adj" fmla="val 4122"/>
            </a:avLst>
          </a:prstGeom>
          <a:solidFill>
            <a:srgbClr val="E9F0F7"/>
          </a:solidFill>
          <a:ln w="12700">
            <a:solidFill>
              <a:srgbClr val="526277"/>
            </a:solidFill>
            <a:prstDash val="solid"/>
          </a:ln>
        </p:spPr>
      </p:sp>
      <p:sp>
        <p:nvSpPr>
          <p:cNvPr id="4" name="Text 2"/>
          <p:cNvSpPr/>
          <p:nvPr/>
        </p:nvSpPr>
        <p:spPr>
          <a:xfrm>
            <a:off x="3251200" y="1624310"/>
            <a:ext cx="327025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Agente · agent.py</a:t>
            </a:r>
            <a:endParaRPr lang="en-US" sz="1400" dirty="0"/>
          </a:p>
        </p:txBody>
      </p:sp>
      <p:sp>
        <p:nvSpPr>
          <p:cNvPr id="5" name="Shape 3"/>
          <p:cNvSpPr/>
          <p:nvPr/>
        </p:nvSpPr>
        <p:spPr>
          <a:xfrm>
            <a:off x="819150" y="3561060"/>
            <a:ext cx="1511300" cy="1066800"/>
          </a:xfrm>
          <a:prstGeom prst="roundRect">
            <a:avLst>
              <a:gd name="adj" fmla="val 8929"/>
            </a:avLst>
          </a:prstGeom>
          <a:solidFill>
            <a:srgbClr val="FFFFFF"/>
          </a:solidFill>
          <a:ln w="12700">
            <a:solidFill>
              <a:srgbClr val="1E293B"/>
            </a:solidFill>
            <a:prstDash val="solid"/>
          </a:ln>
        </p:spPr>
      </p:sp>
      <p:pic>
        <p:nvPicPr>
          <p:cNvPr id="6" name="Image 0" descr="preencoded.png">    </p:cNvPr>
          <p:cNvPicPr>
            <a:picLocks noChangeAspect="1"/>
          </p:cNvPicPr>
          <p:nvPr/>
        </p:nvPicPr>
        <p:blipFill>
          <a:blip r:embed="rId1"/>
          <a:srcRect l="0" r="0" t="0" b="0"/>
          <a:stretch/>
        </p:blipFill>
        <p:spPr>
          <a:xfrm>
            <a:off x="1435100" y="3701157"/>
            <a:ext cx="279400" cy="279400"/>
          </a:xfrm>
          <a:prstGeom prst="rect">
            <a:avLst/>
          </a:prstGeom>
        </p:spPr>
      </p:pic>
      <p:sp>
        <p:nvSpPr>
          <p:cNvPr id="7" name="Text 4"/>
          <p:cNvSpPr/>
          <p:nvPr/>
        </p:nvSpPr>
        <p:spPr>
          <a:xfrm>
            <a:off x="1236563" y="4031357"/>
            <a:ext cx="67637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8" name="Text 5"/>
          <p:cNvSpPr/>
          <p:nvPr/>
        </p:nvSpPr>
        <p:spPr>
          <a:xfrm>
            <a:off x="1317823" y="4297263"/>
            <a:ext cx="51385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a:t>
            </a:r>
            <a:endParaRPr lang="en-US" sz="1200" dirty="0"/>
          </a:p>
        </p:txBody>
      </p:sp>
      <p:sp>
        <p:nvSpPr>
          <p:cNvPr id="9" name="Shape 6"/>
          <p:cNvSpPr/>
          <p:nvPr/>
        </p:nvSpPr>
        <p:spPr>
          <a:xfrm>
            <a:off x="3486150" y="1973560"/>
            <a:ext cx="1511300" cy="1066800"/>
          </a:xfrm>
          <a:prstGeom prst="roundRect">
            <a:avLst>
              <a:gd name="adj" fmla="val 8929"/>
            </a:avLst>
          </a:prstGeom>
          <a:solidFill>
            <a:srgbClr val="FFFFFF"/>
          </a:solidFill>
          <a:ln w="12700">
            <a:solidFill>
              <a:srgbClr val="1E293B"/>
            </a:solidFill>
            <a:prstDash val="solid"/>
          </a:ln>
        </p:spPr>
      </p:sp>
      <p:pic>
        <p:nvPicPr>
          <p:cNvPr id="10" name="Image 1" descr="preencoded.png">    </p:cNvPr>
          <p:cNvPicPr>
            <a:picLocks noChangeAspect="1"/>
          </p:cNvPicPr>
          <p:nvPr/>
        </p:nvPicPr>
        <p:blipFill>
          <a:blip r:embed="rId2"/>
          <a:srcRect l="0" r="0" t="0" b="0"/>
          <a:stretch/>
        </p:blipFill>
        <p:spPr>
          <a:xfrm>
            <a:off x="4102100" y="2113657"/>
            <a:ext cx="279400" cy="279400"/>
          </a:xfrm>
          <a:prstGeom prst="rect">
            <a:avLst/>
          </a:prstGeom>
        </p:spPr>
      </p:pic>
      <p:sp>
        <p:nvSpPr>
          <p:cNvPr id="11" name="Text 7"/>
          <p:cNvSpPr/>
          <p:nvPr/>
        </p:nvSpPr>
        <p:spPr>
          <a:xfrm>
            <a:off x="4052689" y="2443857"/>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12" name="Text 8"/>
          <p:cNvSpPr/>
          <p:nvPr/>
        </p:nvSpPr>
        <p:spPr>
          <a:xfrm>
            <a:off x="3929955" y="2709763"/>
            <a:ext cx="62368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13" name="Shape 9"/>
          <p:cNvSpPr/>
          <p:nvPr/>
        </p:nvSpPr>
        <p:spPr>
          <a:xfrm>
            <a:off x="3486150" y="3561060"/>
            <a:ext cx="1511300" cy="1066800"/>
          </a:xfrm>
          <a:prstGeom prst="roundRect">
            <a:avLst>
              <a:gd name="adj" fmla="val 8929"/>
            </a:avLst>
          </a:prstGeom>
          <a:solidFill>
            <a:srgbClr val="FFFFFF"/>
          </a:solidFill>
          <a:ln w="12700">
            <a:solidFill>
              <a:srgbClr val="1E293B"/>
            </a:solidFill>
            <a:prstDash val="solid"/>
          </a:ln>
        </p:spPr>
      </p:sp>
      <p:pic>
        <p:nvPicPr>
          <p:cNvPr id="14" name="Image 2" descr="Settings">    </p:cNvPr>
          <p:cNvPicPr>
            <a:picLocks noChangeAspect="1"/>
          </p:cNvPicPr>
          <p:nvPr/>
        </p:nvPicPr>
        <p:blipFill>
          <a:blip r:embed="rId3"/>
          <a:srcRect l="0" r="0" t="0" b="0"/>
          <a:stretch/>
        </p:blipFill>
        <p:spPr>
          <a:xfrm>
            <a:off x="4102100" y="3701157"/>
            <a:ext cx="279400" cy="279400"/>
          </a:xfrm>
          <a:prstGeom prst="rect">
            <a:avLst/>
          </a:prstGeom>
        </p:spPr>
      </p:pic>
      <p:sp>
        <p:nvSpPr>
          <p:cNvPr id="15" name="Text 10"/>
          <p:cNvSpPr/>
          <p:nvPr/>
        </p:nvSpPr>
        <p:spPr>
          <a:xfrm>
            <a:off x="3871218" y="4031357"/>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6" name="Text 11"/>
          <p:cNvSpPr/>
          <p:nvPr/>
        </p:nvSpPr>
        <p:spPr>
          <a:xfrm>
            <a:off x="3964583" y="4297263"/>
            <a:ext cx="55433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17" name="Shape 12"/>
          <p:cNvSpPr/>
          <p:nvPr/>
        </p:nvSpPr>
        <p:spPr>
          <a:xfrm>
            <a:off x="6096000" y="1979910"/>
            <a:ext cx="1625600" cy="1054100"/>
          </a:xfrm>
          <a:prstGeom prst="roundRect">
            <a:avLst>
              <a:gd name="adj" fmla="val 8434"/>
            </a:avLst>
          </a:prstGeom>
          <a:solidFill>
            <a:srgbClr val="FFF0EB"/>
          </a:solidFill>
          <a:ln w="25400">
            <a:solidFill>
              <a:srgbClr val="FF5733"/>
            </a:solidFill>
            <a:prstDash val="solid"/>
          </a:ln>
        </p:spPr>
      </p:sp>
      <p:pic>
        <p:nvPicPr>
          <p:cNvPr id="18" name="Image 3" descr="preencoded.png">    </p:cNvPr>
          <p:cNvPicPr>
            <a:picLocks noChangeAspect="1"/>
          </p:cNvPicPr>
          <p:nvPr/>
        </p:nvPicPr>
        <p:blipFill>
          <a:blip r:embed="rId4"/>
          <a:srcRect l="0" r="0" t="0" b="0"/>
          <a:stretch/>
        </p:blipFill>
        <p:spPr>
          <a:xfrm>
            <a:off x="6769100" y="2113657"/>
            <a:ext cx="279400" cy="279400"/>
          </a:xfrm>
          <a:prstGeom prst="rect">
            <a:avLst/>
          </a:prstGeom>
        </p:spPr>
      </p:pic>
      <p:sp>
        <p:nvSpPr>
          <p:cNvPr id="19" name="Text 13"/>
          <p:cNvSpPr/>
          <p:nvPr/>
        </p:nvSpPr>
        <p:spPr>
          <a:xfrm>
            <a:off x="6526808" y="2443857"/>
            <a:ext cx="76398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Memoria</a:t>
            </a:r>
            <a:endParaRPr lang="en-US" sz="1400" dirty="0"/>
          </a:p>
        </p:txBody>
      </p:sp>
      <p:sp>
        <p:nvSpPr>
          <p:cNvPr id="20" name="Text 14"/>
          <p:cNvSpPr/>
          <p:nvPr/>
        </p:nvSpPr>
        <p:spPr>
          <a:xfrm>
            <a:off x="6471841" y="2709763"/>
            <a:ext cx="87382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memory.py</a:t>
            </a:r>
            <a:endParaRPr lang="en-US" sz="1200" dirty="0"/>
          </a:p>
        </p:txBody>
      </p:sp>
      <p:sp>
        <p:nvSpPr>
          <p:cNvPr id="21" name="Shape 15"/>
          <p:cNvSpPr/>
          <p:nvPr/>
        </p:nvSpPr>
        <p:spPr>
          <a:xfrm>
            <a:off x="9613900" y="3567410"/>
            <a:ext cx="1752600" cy="1054100"/>
          </a:xfrm>
          <a:prstGeom prst="roundRect">
            <a:avLst>
              <a:gd name="adj" fmla="val 8434"/>
            </a:avLst>
          </a:prstGeom>
          <a:solidFill>
            <a:srgbClr val="FFF0EB"/>
          </a:solidFill>
          <a:ln w="25400">
            <a:solidFill>
              <a:srgbClr val="FF5733"/>
            </a:solidFill>
            <a:prstDash val="solid"/>
          </a:ln>
        </p:spPr>
      </p:sp>
      <p:pic>
        <p:nvPicPr>
          <p:cNvPr id="22" name="Image 4" descr="preencoded.png">    </p:cNvPr>
          <p:cNvPicPr>
            <a:picLocks noChangeAspect="1"/>
          </p:cNvPicPr>
          <p:nvPr/>
        </p:nvPicPr>
        <p:blipFill>
          <a:blip r:embed="rId5"/>
          <a:srcRect l="0" r="0" t="0" b="0"/>
          <a:stretch/>
        </p:blipFill>
        <p:spPr>
          <a:xfrm>
            <a:off x="10350500" y="3701157"/>
            <a:ext cx="279400" cy="279400"/>
          </a:xfrm>
          <a:prstGeom prst="rect">
            <a:avLst/>
          </a:prstGeom>
        </p:spPr>
      </p:pic>
      <p:sp>
        <p:nvSpPr>
          <p:cNvPr id="23" name="Text 16"/>
          <p:cNvSpPr/>
          <p:nvPr/>
        </p:nvSpPr>
        <p:spPr>
          <a:xfrm>
            <a:off x="9925943" y="4031357"/>
            <a:ext cx="112841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 Cloud</a:t>
            </a:r>
            <a:endParaRPr lang="en-US" sz="1400" dirty="0"/>
          </a:p>
        </p:txBody>
      </p:sp>
      <p:sp>
        <p:nvSpPr>
          <p:cNvPr id="24" name="Text 17"/>
          <p:cNvSpPr/>
          <p:nvPr/>
        </p:nvSpPr>
        <p:spPr>
          <a:xfrm>
            <a:off x="9869884" y="4297263"/>
            <a:ext cx="124053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fuera del proceso</a:t>
            </a:r>
            <a:endParaRPr lang="en-US" sz="1200" dirty="0"/>
          </a:p>
        </p:txBody>
      </p:sp>
      <p:sp>
        <p:nvSpPr>
          <p:cNvPr id="25" name="Shape 18"/>
          <p:cNvSpPr/>
          <p:nvPr/>
        </p:nvSpPr>
        <p:spPr>
          <a:xfrm>
            <a:off x="8566150" y="1529060"/>
            <a:ext cx="2806700" cy="1638300"/>
          </a:xfrm>
          <a:prstGeom prst="roundRect">
            <a:avLst>
              <a:gd name="adj" fmla="val 5814"/>
            </a:avLst>
          </a:prstGeom>
          <a:solidFill>
            <a:srgbClr val="FFFFFF"/>
          </a:solidFill>
          <a:ln w="12700">
            <a:solidFill>
              <a:srgbClr val="1E293B"/>
            </a:solidFill>
            <a:prstDash val="solid"/>
          </a:ln>
        </p:spPr>
      </p:sp>
      <p:sp>
        <p:nvSpPr>
          <p:cNvPr id="26" name="Text 19"/>
          <p:cNvSpPr/>
          <p:nvPr/>
        </p:nvSpPr>
        <p:spPr>
          <a:xfrm>
            <a:off x="8724900" y="1662410"/>
            <a:ext cx="256387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Historial · thread_id</a:t>
            </a:r>
            <a:endParaRPr lang="en-US" sz="1400" dirty="0"/>
          </a:p>
        </p:txBody>
      </p:sp>
      <p:sp>
        <p:nvSpPr>
          <p:cNvPr id="27" name="Text 20"/>
          <p:cNvSpPr/>
          <p:nvPr/>
        </p:nvSpPr>
        <p:spPr>
          <a:xfrm>
            <a:off x="8724900" y="1928316"/>
            <a:ext cx="256387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SystemMessage</a:t>
            </a:r>
            <a:endParaRPr lang="en-US" sz="1200" dirty="0"/>
          </a:p>
        </p:txBody>
      </p:sp>
      <p:sp>
        <p:nvSpPr>
          <p:cNvPr id="28" name="Text 21"/>
          <p:cNvSpPr/>
          <p:nvPr/>
        </p:nvSpPr>
        <p:spPr>
          <a:xfrm>
            <a:off x="8724900" y="2169616"/>
            <a:ext cx="256387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HumanMessage</a:t>
            </a:r>
            <a:endParaRPr lang="en-US" sz="1200" dirty="0"/>
          </a:p>
        </p:txBody>
      </p:sp>
      <p:sp>
        <p:nvSpPr>
          <p:cNvPr id="29" name="Text 22"/>
          <p:cNvSpPr/>
          <p:nvPr/>
        </p:nvSpPr>
        <p:spPr>
          <a:xfrm>
            <a:off x="8724900" y="2410916"/>
            <a:ext cx="256387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AIMessage</a:t>
            </a:r>
            <a:endParaRPr lang="en-US" sz="1200" dirty="0"/>
          </a:p>
        </p:txBody>
      </p:sp>
      <p:sp>
        <p:nvSpPr>
          <p:cNvPr id="30" name="Text 23"/>
          <p:cNvSpPr/>
          <p:nvPr/>
        </p:nvSpPr>
        <p:spPr>
          <a:xfrm>
            <a:off x="8724900" y="2652216"/>
            <a:ext cx="256387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ToolMessage …</a:t>
            </a:r>
            <a:endParaRPr lang="en-US" sz="1200" dirty="0"/>
          </a:p>
        </p:txBody>
      </p:sp>
      <p:pic>
        <p:nvPicPr>
          <p:cNvPr id="31" name="Image 5" descr="connector">    </p:cNvPr>
          <p:cNvPicPr>
            <a:picLocks noChangeAspect="1"/>
          </p:cNvPicPr>
          <p:nvPr/>
        </p:nvPicPr>
        <p:blipFill>
          <a:blip r:embed="rId6"/>
          <a:srcRect l="0" r="0" t="0" b="0"/>
          <a:stretch/>
        </p:blipFill>
        <p:spPr>
          <a:xfrm>
            <a:off x="2286000" y="4043660"/>
            <a:ext cx="1244600" cy="101600"/>
          </a:xfrm>
          <a:prstGeom prst="rect">
            <a:avLst/>
          </a:prstGeom>
        </p:spPr>
      </p:pic>
      <p:pic>
        <p:nvPicPr>
          <p:cNvPr id="32" name="Image 6" descr="connector">    </p:cNvPr>
          <p:cNvPicPr>
            <a:picLocks noChangeAspect="1"/>
          </p:cNvPicPr>
          <p:nvPr/>
        </p:nvPicPr>
        <p:blipFill>
          <a:blip r:embed="rId7"/>
          <a:srcRect l="0" r="0" t="0" b="0"/>
          <a:stretch/>
        </p:blipFill>
        <p:spPr>
          <a:xfrm>
            <a:off x="4191000" y="2995910"/>
            <a:ext cx="101600" cy="609600"/>
          </a:xfrm>
          <a:prstGeom prst="rect">
            <a:avLst/>
          </a:prstGeom>
        </p:spPr>
      </p:pic>
      <p:pic>
        <p:nvPicPr>
          <p:cNvPr id="33" name="Image 7" descr="connector">    </p:cNvPr>
          <p:cNvPicPr>
            <a:picLocks noChangeAspect="1"/>
          </p:cNvPicPr>
          <p:nvPr/>
        </p:nvPicPr>
        <p:blipFill>
          <a:blip r:embed="rId8"/>
          <a:srcRect l="0" r="0" t="0" b="0"/>
          <a:stretch/>
        </p:blipFill>
        <p:spPr>
          <a:xfrm>
            <a:off x="4953000" y="2456160"/>
            <a:ext cx="1181100" cy="101600"/>
          </a:xfrm>
          <a:prstGeom prst="rect">
            <a:avLst/>
          </a:prstGeom>
        </p:spPr>
      </p:pic>
      <p:pic>
        <p:nvPicPr>
          <p:cNvPr id="34" name="Image 8" descr="connector">    </p:cNvPr>
          <p:cNvPicPr>
            <a:picLocks noChangeAspect="1"/>
          </p:cNvPicPr>
          <p:nvPr/>
        </p:nvPicPr>
        <p:blipFill>
          <a:blip r:embed="rId9"/>
          <a:srcRect l="0" r="0" t="0" b="0"/>
          <a:stretch/>
        </p:blipFill>
        <p:spPr>
          <a:xfrm>
            <a:off x="4953000" y="4265910"/>
            <a:ext cx="4699000" cy="101600"/>
          </a:xfrm>
          <a:prstGeom prst="rect">
            <a:avLst/>
          </a:prstGeom>
        </p:spPr>
      </p:pic>
      <p:sp>
        <p:nvSpPr>
          <p:cNvPr id="35" name="Text 24"/>
          <p:cNvSpPr/>
          <p:nvPr/>
        </p:nvSpPr>
        <p:spPr>
          <a:xfrm>
            <a:off x="2400300" y="3827760"/>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a:t>
            </a:r>
            <a:endParaRPr lang="en-US" sz="1400" dirty="0"/>
          </a:p>
        </p:txBody>
      </p:sp>
      <p:sp>
        <p:nvSpPr>
          <p:cNvPr id="36" name="Text 25"/>
          <p:cNvSpPr/>
          <p:nvPr/>
        </p:nvSpPr>
        <p:spPr>
          <a:xfrm>
            <a:off x="4318000" y="3192760"/>
            <a:ext cx="1003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mensajes</a:t>
            </a:r>
            <a:endParaRPr lang="en-US" sz="1400" dirty="0"/>
          </a:p>
        </p:txBody>
      </p:sp>
      <p:sp>
        <p:nvSpPr>
          <p:cNvPr id="37" name="Text 26"/>
          <p:cNvSpPr/>
          <p:nvPr/>
        </p:nvSpPr>
        <p:spPr>
          <a:xfrm>
            <a:off x="5054600" y="2240260"/>
            <a:ext cx="10414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historial</a:t>
            </a:r>
            <a:endParaRPr lang="en-US" sz="1400" dirty="0"/>
          </a:p>
        </p:txBody>
      </p:sp>
      <p:sp>
        <p:nvSpPr>
          <p:cNvPr id="38" name="Text 27"/>
          <p:cNvSpPr/>
          <p:nvPr/>
        </p:nvSpPr>
        <p:spPr>
          <a:xfrm>
            <a:off x="8051800" y="4050010"/>
            <a:ext cx="1447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 de RAG</a:t>
            </a:r>
            <a:endParaRPr lang="en-US" sz="1400" dirty="0"/>
          </a:p>
        </p:txBody>
      </p:sp>
      <p:pic>
        <p:nvPicPr>
          <p:cNvPr id="39" name="Image 9" descr="connector">    </p:cNvPr>
          <p:cNvPicPr>
            <a:picLocks noChangeAspect="1"/>
          </p:cNvPicPr>
          <p:nvPr/>
        </p:nvPicPr>
        <p:blipFill>
          <a:blip r:embed="rId10"/>
          <a:srcRect l="0" r="0" t="0" b="0"/>
          <a:stretch/>
        </p:blipFill>
        <p:spPr>
          <a:xfrm>
            <a:off x="7683500" y="2456160"/>
            <a:ext cx="927100" cy="101600"/>
          </a:xfrm>
          <a:prstGeom prst="rect">
            <a:avLst/>
          </a:prstGeom>
        </p:spPr>
      </p:pic>
      <p:sp>
        <p:nvSpPr>
          <p:cNvPr id="40" name="Text 28"/>
          <p:cNvSpPr/>
          <p:nvPr/>
        </p:nvSpPr>
        <p:spPr>
          <a:xfrm>
            <a:off x="7772400" y="2240260"/>
            <a:ext cx="812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detalle</a:t>
            </a:r>
            <a:endParaRPr lang="en-US" sz="1400" dirty="0"/>
          </a:p>
        </p:txBody>
      </p:sp>
      <p:sp>
        <p:nvSpPr>
          <p:cNvPr id="41" name="Shape 29"/>
          <p:cNvSpPr/>
          <p:nvPr/>
        </p:nvSpPr>
        <p:spPr>
          <a:xfrm>
            <a:off x="6089650" y="3192760"/>
            <a:ext cx="2400300" cy="304800"/>
          </a:xfrm>
          <a:prstGeom prst="roundRect">
            <a:avLst>
              <a:gd name="adj" fmla="val 14583"/>
            </a:avLst>
          </a:prstGeom>
          <a:solidFill>
            <a:srgbClr val="FFFFFF"/>
          </a:solidFill>
          <a:ln w="12700">
            <a:solidFill>
              <a:srgbClr val="526277"/>
            </a:solidFill>
            <a:prstDash val="dash"/>
          </a:ln>
        </p:spPr>
      </p:sp>
      <p:sp>
        <p:nvSpPr>
          <p:cNvPr id="42" name="Text 30"/>
          <p:cNvSpPr/>
          <p:nvPr/>
        </p:nvSpPr>
        <p:spPr>
          <a:xfrm>
            <a:off x="6197600" y="3249910"/>
            <a:ext cx="224993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reinicio → historial vacío</a:t>
            </a:r>
            <a:endParaRPr lang="en-US" sz="1200" dirty="0"/>
          </a:p>
        </p:txBody>
      </p:sp>
      <p:sp>
        <p:nvSpPr>
          <p:cNvPr id="43" name="Shape 31"/>
          <p:cNvSpPr/>
          <p:nvPr/>
        </p:nvSpPr>
        <p:spPr>
          <a:xfrm>
            <a:off x="9607550" y="3218160"/>
            <a:ext cx="1765300" cy="304800"/>
          </a:xfrm>
          <a:prstGeom prst="roundRect">
            <a:avLst>
              <a:gd name="adj" fmla="val 14583"/>
            </a:avLst>
          </a:prstGeom>
          <a:solidFill>
            <a:srgbClr val="FFFFFF"/>
          </a:solidFill>
          <a:ln w="12700">
            <a:solidFill>
              <a:srgbClr val="1E293B"/>
            </a:solidFill>
            <a:prstDash val="solid"/>
          </a:ln>
        </p:spPr>
      </p:sp>
      <p:sp>
        <p:nvSpPr>
          <p:cNvPr id="44" name="Text 32"/>
          <p:cNvSpPr/>
          <p:nvPr/>
        </p:nvSpPr>
        <p:spPr>
          <a:xfrm>
            <a:off x="9715500" y="3275310"/>
            <a:ext cx="1600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permanece indexado</a:t>
            </a:r>
            <a:endParaRPr lang="en-US" sz="1200" dirty="0"/>
          </a:p>
        </p:txBody>
      </p:sp>
      <p:sp>
        <p:nvSpPr>
          <p:cNvPr id="45" name="Text 33"/>
          <p:cNvSpPr/>
          <p:nvPr/>
        </p:nvSpPr>
        <p:spPr>
          <a:xfrm>
            <a:off x="812800" y="5281910"/>
            <a:ext cx="10883392" cy="585490"/>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Un reinicio del proceso borra el historial; lo indexado en Qdrant permanece. La memoria ante reinicios se retoma en S8.</a:t>
            </a:r>
            <a:endParaRPr lang="en-US" sz="1600" dirty="0"/>
          </a:p>
        </p:txBody>
      </p:sp>
      <p:sp>
        <p:nvSpPr>
          <p:cNvPr id="46" name="Text 34"/>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08</a:t>
            </a:r>
            <a:endParaRPr lang="en-US" sz="1200" dirty="0"/>
          </a:p>
        </p:txBody>
      </p:sp>
      <p:pic>
        <p:nvPicPr>
          <p:cNvPr id="47" name="Image 10" descr="Logo de AriwaLabs">    </p:cNvPr>
          <p:cNvPicPr>
            <a:picLocks noChangeAspect="1"/>
          </p:cNvPicPr>
          <p:nvPr/>
        </p:nvPicPr>
        <p:blipFill>
          <a:blip r:embed="rId11"/>
          <a:srcRect l="-9345" r="-9345" t="0" b="0"/>
          <a:stretch/>
        </p:blipFill>
        <p:spPr>
          <a:xfrm>
            <a:off x="10680700" y="6197600"/>
            <a:ext cx="6985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Repaso S0: buscar por significado</a:t>
            </a:r>
            <a:endParaRPr lang="en-US" sz="3600" dirty="0"/>
          </a:p>
        </p:txBody>
      </p:sp>
      <p:sp>
        <p:nvSpPr>
          <p:cNvPr id="3" name="Shape 1"/>
          <p:cNvSpPr/>
          <p:nvPr/>
        </p:nvSpPr>
        <p:spPr>
          <a:xfrm>
            <a:off x="819150" y="1529755"/>
            <a:ext cx="7302500" cy="4216400"/>
          </a:xfrm>
          <a:prstGeom prst="roundRect">
            <a:avLst>
              <a:gd name="adj" fmla="val 2259"/>
            </a:avLst>
          </a:prstGeom>
          <a:solidFill>
            <a:srgbClr val="FFFFFF"/>
          </a:solidFill>
          <a:ln w="12700">
            <a:solidFill>
              <a:srgbClr val="CED8E3"/>
            </a:solidFill>
            <a:prstDash val="solid"/>
          </a:ln>
        </p:spPr>
      </p:sp>
      <p:pic>
        <p:nvPicPr>
          <p:cNvPr id="4" name="Image 0" descr="IMG-S00-004 · Embeddings: dos frases sin palabras en común quedan cerca en el espacio de significado">    </p:cNvPr>
          <p:cNvPicPr>
            <a:picLocks noChangeAspect="1"/>
          </p:cNvPicPr>
          <p:nvPr/>
        </p:nvPicPr>
        <p:blipFill>
          <a:blip r:embed="rId1"/>
          <a:srcRect l="-27" r="-27" t="0" b="0"/>
          <a:stretch/>
        </p:blipFill>
        <p:spPr>
          <a:xfrm>
            <a:off x="927100" y="1637705"/>
            <a:ext cx="7112000" cy="4000500"/>
          </a:xfrm>
          <a:prstGeom prst="rect">
            <a:avLst/>
          </a:prstGeom>
        </p:spPr>
      </p:pic>
      <p:sp>
        <p:nvSpPr>
          <p:cNvPr id="5" name="Shape 2"/>
          <p:cNvSpPr/>
          <p:nvPr/>
        </p:nvSpPr>
        <p:spPr>
          <a:xfrm>
            <a:off x="8337550" y="1529755"/>
            <a:ext cx="3035300" cy="254000"/>
          </a:xfrm>
          <a:prstGeom prst="roundRect">
            <a:avLst>
              <a:gd name="adj" fmla="val 47500"/>
            </a:avLst>
          </a:prstGeom>
          <a:solidFill>
            <a:srgbClr val="FFFFFF"/>
          </a:solidFill>
          <a:ln w="12700">
            <a:solidFill>
              <a:srgbClr val="526277"/>
            </a:solidFill>
            <a:prstDash val="solid"/>
          </a:ln>
        </p:spPr>
      </p:sp>
      <p:sp>
        <p:nvSpPr>
          <p:cNvPr id="6" name="Text 3"/>
          <p:cNvSpPr/>
          <p:nvPr/>
        </p:nvSpPr>
        <p:spPr>
          <a:xfrm>
            <a:off x="8445500" y="1561505"/>
            <a:ext cx="290398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Repaso · Sesión 0</a:t>
            </a:r>
            <a:endParaRPr lang="en-US" sz="1200" dirty="0"/>
          </a:p>
        </p:txBody>
      </p:sp>
      <p:sp>
        <p:nvSpPr>
          <p:cNvPr id="7" name="Text 4"/>
          <p:cNvSpPr/>
          <p:nvPr/>
        </p:nvSpPr>
        <p:spPr>
          <a:xfrm>
            <a:off x="8331200" y="1942505"/>
            <a:ext cx="3139440" cy="1014214"/>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 y B no comparten palabras y aun así están cerca.</a:t>
            </a:r>
            <a:endParaRPr lang="en-US" sz="2200" dirty="0"/>
          </a:p>
        </p:txBody>
      </p:sp>
      <p:sp>
        <p:nvSpPr>
          <p:cNvPr id="8" name="Text 5"/>
          <p:cNvSpPr/>
          <p:nvPr/>
        </p:nvSpPr>
        <p:spPr>
          <a:xfrm>
            <a:off x="8331200" y="3083719"/>
            <a:ext cx="3139440"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Hoy: el mismo principio sobre el corpus de tu track.</a:t>
            </a:r>
            <a:endParaRPr lang="en-US" sz="1600" dirty="0"/>
          </a:p>
        </p:txBody>
      </p:sp>
      <p:sp>
        <p:nvSpPr>
          <p:cNvPr id="9" name="Text 6"/>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09</a:t>
            </a:r>
            <a:endParaRPr lang="en-US" sz="1200" dirty="0"/>
          </a:p>
        </p:txBody>
      </p:sp>
      <p:pic>
        <p:nvPicPr>
          <p:cNvPr id="10"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110"/>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Consulta y corpus, un mismo espacio</a:t>
            </a:r>
            <a:endParaRPr lang="en-US" sz="3600" dirty="0"/>
          </a:p>
        </p:txBody>
      </p:sp>
      <p:sp>
        <p:nvSpPr>
          <p:cNvPr id="3" name="Shape 1"/>
          <p:cNvSpPr/>
          <p:nvPr/>
        </p:nvSpPr>
        <p:spPr>
          <a:xfrm>
            <a:off x="819150" y="1783060"/>
            <a:ext cx="1765300" cy="1193800"/>
          </a:xfrm>
          <a:prstGeom prst="roundRect">
            <a:avLst>
              <a:gd name="adj" fmla="val 7979"/>
            </a:avLst>
          </a:prstGeom>
          <a:solidFill>
            <a:srgbClr val="FFFFFF"/>
          </a:solidFill>
          <a:ln w="12700">
            <a:solidFill>
              <a:srgbClr val="1E293B"/>
            </a:solidFill>
            <a:prstDash val="solid"/>
          </a:ln>
        </p:spPr>
      </p:sp>
      <p:pic>
        <p:nvPicPr>
          <p:cNvPr id="4" name="Image 0" descr="preencoded.png">    </p:cNvPr>
          <p:cNvPicPr>
            <a:picLocks noChangeAspect="1"/>
          </p:cNvPicPr>
          <p:nvPr/>
        </p:nvPicPr>
        <p:blipFill>
          <a:blip r:embed="rId1"/>
          <a:srcRect l="0" r="0" t="0" b="0"/>
          <a:stretch/>
        </p:blipFill>
        <p:spPr>
          <a:xfrm>
            <a:off x="1562100" y="1986657"/>
            <a:ext cx="279400" cy="279400"/>
          </a:xfrm>
          <a:prstGeom prst="rect">
            <a:avLst/>
          </a:prstGeom>
        </p:spPr>
      </p:pic>
      <p:sp>
        <p:nvSpPr>
          <p:cNvPr id="5" name="Text 2"/>
          <p:cNvSpPr/>
          <p:nvPr/>
        </p:nvSpPr>
        <p:spPr>
          <a:xfrm>
            <a:off x="1387872" y="2316857"/>
            <a:ext cx="6278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Corpus</a:t>
            </a:r>
            <a:endParaRPr lang="en-US" sz="1400" dirty="0"/>
          </a:p>
        </p:txBody>
      </p:sp>
      <p:sp>
        <p:nvSpPr>
          <p:cNvPr id="6" name="Text 3"/>
          <p:cNvSpPr/>
          <p:nvPr/>
        </p:nvSpPr>
        <p:spPr>
          <a:xfrm>
            <a:off x="1164927" y="2582763"/>
            <a:ext cx="107374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 .md del track</a:t>
            </a:r>
            <a:endParaRPr lang="en-US" sz="1200" dirty="0"/>
          </a:p>
        </p:txBody>
      </p:sp>
      <p:sp>
        <p:nvSpPr>
          <p:cNvPr id="7" name="Shape 4"/>
          <p:cNvSpPr/>
          <p:nvPr/>
        </p:nvSpPr>
        <p:spPr>
          <a:xfrm>
            <a:off x="3746500" y="1783060"/>
            <a:ext cx="1765300" cy="1193800"/>
          </a:xfrm>
          <a:prstGeom prst="roundRect">
            <a:avLst>
              <a:gd name="adj" fmla="val 7979"/>
            </a:avLst>
          </a:prstGeom>
          <a:solidFill>
            <a:srgbClr val="FFFFFF"/>
          </a:solidFill>
          <a:ln w="12700">
            <a:solidFill>
              <a:srgbClr val="1E293B"/>
            </a:solidFill>
            <a:prstDash val="solid"/>
          </a:ln>
        </p:spPr>
      </p:sp>
      <p:pic>
        <p:nvPicPr>
          <p:cNvPr id="8" name="Image 1" descr="preencoded.png">    </p:cNvPr>
          <p:cNvPicPr>
            <a:picLocks noChangeAspect="1"/>
          </p:cNvPicPr>
          <p:nvPr/>
        </p:nvPicPr>
        <p:blipFill>
          <a:blip r:embed="rId2"/>
          <a:srcRect l="0" r="0" t="0" b="0"/>
          <a:stretch/>
        </p:blipFill>
        <p:spPr>
          <a:xfrm>
            <a:off x="4489450" y="1891407"/>
            <a:ext cx="279400" cy="279400"/>
          </a:xfrm>
          <a:prstGeom prst="rect">
            <a:avLst/>
          </a:prstGeom>
        </p:spPr>
      </p:pic>
      <p:sp>
        <p:nvSpPr>
          <p:cNvPr id="9" name="Text 5"/>
          <p:cNvSpPr/>
          <p:nvPr/>
        </p:nvSpPr>
        <p:spPr>
          <a:xfrm>
            <a:off x="4300934" y="2221607"/>
            <a:ext cx="656431"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Chunks</a:t>
            </a:r>
            <a:endParaRPr lang="en-US" sz="1400" dirty="0"/>
          </a:p>
        </p:txBody>
      </p:sp>
      <p:sp>
        <p:nvSpPr>
          <p:cNvPr id="10" name="Text 6"/>
          <p:cNvSpPr/>
          <p:nvPr/>
        </p:nvSpPr>
        <p:spPr>
          <a:xfrm>
            <a:off x="3829050" y="2487513"/>
            <a:ext cx="1600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tamaño y solapamiento</a:t>
            </a:r>
            <a:endParaRPr lang="en-US" sz="1200" dirty="0"/>
          </a:p>
        </p:txBody>
      </p:sp>
      <p:sp>
        <p:nvSpPr>
          <p:cNvPr id="11" name="Shape 7"/>
          <p:cNvSpPr/>
          <p:nvPr/>
        </p:nvSpPr>
        <p:spPr>
          <a:xfrm>
            <a:off x="6680200" y="1789410"/>
            <a:ext cx="1752600" cy="1181100"/>
          </a:xfrm>
          <a:prstGeom prst="roundRect">
            <a:avLst>
              <a:gd name="adj" fmla="val 7527"/>
            </a:avLst>
          </a:prstGeom>
          <a:solidFill>
            <a:srgbClr val="FFF0EB"/>
          </a:solidFill>
          <a:ln w="25400">
            <a:solidFill>
              <a:srgbClr val="FF5733"/>
            </a:solidFill>
            <a:prstDash val="solid"/>
          </a:ln>
        </p:spPr>
      </p:sp>
      <p:pic>
        <p:nvPicPr>
          <p:cNvPr id="12" name="Image 2" descr="Code">    </p:cNvPr>
          <p:cNvPicPr>
            <a:picLocks noChangeAspect="1"/>
          </p:cNvPicPr>
          <p:nvPr/>
        </p:nvPicPr>
        <p:blipFill>
          <a:blip r:embed="rId3"/>
          <a:srcRect l="-488" r="-488" t="0" b="0"/>
          <a:stretch/>
        </p:blipFill>
        <p:spPr>
          <a:xfrm>
            <a:off x="7416800" y="1903710"/>
            <a:ext cx="279400" cy="264120"/>
          </a:xfrm>
          <a:prstGeom prst="rect">
            <a:avLst/>
          </a:prstGeom>
        </p:spPr>
      </p:pic>
      <p:sp>
        <p:nvSpPr>
          <p:cNvPr id="13" name="Text 8"/>
          <p:cNvSpPr/>
          <p:nvPr/>
        </p:nvSpPr>
        <p:spPr>
          <a:xfrm>
            <a:off x="6769100" y="2218630"/>
            <a:ext cx="1574800" cy="432098"/>
          </a:xfrm>
          <a:prstGeom prst="rect">
            <a:avLst/>
          </a:prstGeom>
          <a:noFill/>
          <a:ln/>
        </p:spPr>
        <p:txBody>
          <a:bodyPr wrap="square" lIns="0" tIns="0" rIns="0" bIns="0" rtlCol="0" anchor="t">
            <a:normAutofit/>
          </a:bodyPr>
          <a:lstStyle/>
          <a:p>
            <a:pPr algn="ctr" indent="0" marL="0">
              <a:lnSpc>
                <a:spcPts val="1609"/>
              </a:lnSpc>
              <a:buNone/>
            </a:pPr>
            <a:r>
              <a:rPr lang="en-US" sz="1330" dirty="0">
                <a:solidFill>
                  <a:srgbClr val="1E293B"/>
                </a:solidFill>
                <a:latin typeface="IBM Plex Sans" pitchFamily="34" charset="0"/>
                <a:ea typeface="IBM Plex Sans" pitchFamily="34" charset="-122"/>
                <a:cs typeface="IBM Plex Sans" pitchFamily="34" charset="-120"/>
              </a:rPr>
              <a:t>Modelo de embeddings</a:t>
            </a:r>
            <a:endParaRPr lang="en-US" sz="1330" dirty="0"/>
          </a:p>
        </p:txBody>
      </p:sp>
      <p:sp>
        <p:nvSpPr>
          <p:cNvPr id="14" name="Text 9"/>
          <p:cNvSpPr/>
          <p:nvPr/>
        </p:nvSpPr>
        <p:spPr>
          <a:xfrm>
            <a:off x="7095728" y="2676128"/>
            <a:ext cx="921544" cy="205482"/>
          </a:xfrm>
          <a:prstGeom prst="rect">
            <a:avLst/>
          </a:prstGeom>
          <a:noFill/>
          <a:ln/>
        </p:spPr>
        <p:txBody>
          <a:bodyPr wrap="square" lIns="0" tIns="0" rIns="0" bIns="0" rtlCol="0" anchor="t">
            <a:normAutofit/>
          </a:bodyPr>
          <a:lstStyle/>
          <a:p>
            <a:pPr algn="ctr" indent="0" marL="0">
              <a:lnSpc>
                <a:spcPts val="1425"/>
              </a:lnSpc>
              <a:buNone/>
            </a:pPr>
            <a:r>
              <a:rPr lang="en-US" sz="1140" dirty="0">
                <a:solidFill>
                  <a:srgbClr val="526277"/>
                </a:solidFill>
                <a:latin typeface="IBM Plex Sans" pitchFamily="34" charset="0"/>
                <a:ea typeface="IBM Plex Sans" pitchFamily="34" charset="-122"/>
                <a:cs typeface="IBM Plex Sans" pitchFamily="34" charset="-120"/>
              </a:rPr>
              <a:t>Hugging Face</a:t>
            </a:r>
            <a:endParaRPr lang="en-US" sz="1140" dirty="0"/>
          </a:p>
        </p:txBody>
      </p:sp>
      <p:sp>
        <p:nvSpPr>
          <p:cNvPr id="15" name="Shape 10"/>
          <p:cNvSpPr/>
          <p:nvPr/>
        </p:nvSpPr>
        <p:spPr>
          <a:xfrm>
            <a:off x="9607550" y="1783060"/>
            <a:ext cx="1765300" cy="1193800"/>
          </a:xfrm>
          <a:prstGeom prst="roundRect">
            <a:avLst>
              <a:gd name="adj" fmla="val 7979"/>
            </a:avLst>
          </a:prstGeom>
          <a:solidFill>
            <a:srgbClr val="FFFFFF"/>
          </a:solidFill>
          <a:ln w="12700">
            <a:solidFill>
              <a:srgbClr val="1E293B"/>
            </a:solidFill>
            <a:prstDash val="solid"/>
          </a:ln>
        </p:spPr>
      </p:sp>
      <p:pic>
        <p:nvPicPr>
          <p:cNvPr id="16" name="Image 3" descr="preencoded.png">    </p:cNvPr>
          <p:cNvPicPr>
            <a:picLocks noChangeAspect="1"/>
          </p:cNvPicPr>
          <p:nvPr/>
        </p:nvPicPr>
        <p:blipFill>
          <a:blip r:embed="rId4"/>
          <a:srcRect l="0" r="0" t="0" b="0"/>
          <a:stretch/>
        </p:blipFill>
        <p:spPr>
          <a:xfrm>
            <a:off x="10350500" y="1986657"/>
            <a:ext cx="279400" cy="279400"/>
          </a:xfrm>
          <a:prstGeom prst="rect">
            <a:avLst/>
          </a:prstGeom>
        </p:spPr>
      </p:pic>
      <p:sp>
        <p:nvSpPr>
          <p:cNvPr id="17" name="Text 11"/>
          <p:cNvSpPr/>
          <p:nvPr/>
        </p:nvSpPr>
        <p:spPr>
          <a:xfrm>
            <a:off x="9925943" y="2316857"/>
            <a:ext cx="112841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 Cloud</a:t>
            </a:r>
            <a:endParaRPr lang="en-US" sz="1400" dirty="0"/>
          </a:p>
        </p:txBody>
      </p:sp>
      <p:sp>
        <p:nvSpPr>
          <p:cNvPr id="18" name="Text 12"/>
          <p:cNvSpPr/>
          <p:nvPr/>
        </p:nvSpPr>
        <p:spPr>
          <a:xfrm>
            <a:off x="9741892" y="2582763"/>
            <a:ext cx="149651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colección kb-&lt;track&gt;</a:t>
            </a:r>
            <a:endParaRPr lang="en-US" sz="1200" dirty="0"/>
          </a:p>
        </p:txBody>
      </p:sp>
      <p:sp>
        <p:nvSpPr>
          <p:cNvPr id="19" name="Shape 13"/>
          <p:cNvSpPr/>
          <p:nvPr/>
        </p:nvSpPr>
        <p:spPr>
          <a:xfrm>
            <a:off x="819150" y="3815060"/>
            <a:ext cx="1765300" cy="1193800"/>
          </a:xfrm>
          <a:prstGeom prst="roundRect">
            <a:avLst>
              <a:gd name="adj" fmla="val 7979"/>
            </a:avLst>
          </a:prstGeom>
          <a:solidFill>
            <a:srgbClr val="FFFFFF"/>
          </a:solidFill>
          <a:ln w="12700">
            <a:solidFill>
              <a:srgbClr val="1E293B"/>
            </a:solidFill>
            <a:prstDash val="solid"/>
          </a:ln>
        </p:spPr>
      </p:sp>
      <p:pic>
        <p:nvPicPr>
          <p:cNvPr id="20" name="Image 4" descr="Chat">    </p:cNvPr>
          <p:cNvPicPr>
            <a:picLocks noChangeAspect="1"/>
          </p:cNvPicPr>
          <p:nvPr/>
        </p:nvPicPr>
        <p:blipFill>
          <a:blip r:embed="rId5"/>
          <a:srcRect l="0" r="0" t="0" b="0"/>
          <a:stretch/>
        </p:blipFill>
        <p:spPr>
          <a:xfrm>
            <a:off x="1562100" y="4018657"/>
            <a:ext cx="279400" cy="279400"/>
          </a:xfrm>
          <a:prstGeom prst="rect">
            <a:avLst/>
          </a:prstGeom>
        </p:spPr>
      </p:pic>
      <p:sp>
        <p:nvSpPr>
          <p:cNvPr id="21" name="Text 14"/>
          <p:cNvSpPr/>
          <p:nvPr/>
        </p:nvSpPr>
        <p:spPr>
          <a:xfrm>
            <a:off x="1316831" y="4348857"/>
            <a:ext cx="76983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Consulta</a:t>
            </a:r>
            <a:endParaRPr lang="en-US" sz="1400" dirty="0"/>
          </a:p>
        </p:txBody>
      </p:sp>
      <p:sp>
        <p:nvSpPr>
          <p:cNvPr id="22" name="Text 15"/>
          <p:cNvSpPr/>
          <p:nvPr/>
        </p:nvSpPr>
        <p:spPr>
          <a:xfrm>
            <a:off x="994569" y="4614763"/>
            <a:ext cx="141436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pregunta del cliente</a:t>
            </a:r>
            <a:endParaRPr lang="en-US" sz="1200" dirty="0"/>
          </a:p>
        </p:txBody>
      </p:sp>
      <p:sp>
        <p:nvSpPr>
          <p:cNvPr id="23" name="Shape 16"/>
          <p:cNvSpPr/>
          <p:nvPr/>
        </p:nvSpPr>
        <p:spPr>
          <a:xfrm>
            <a:off x="9607550" y="3815060"/>
            <a:ext cx="1765300" cy="1193800"/>
          </a:xfrm>
          <a:prstGeom prst="roundRect">
            <a:avLst>
              <a:gd name="adj" fmla="val 7979"/>
            </a:avLst>
          </a:prstGeom>
          <a:solidFill>
            <a:srgbClr val="FFFFFF"/>
          </a:solidFill>
          <a:ln w="12700">
            <a:solidFill>
              <a:srgbClr val="1E293B"/>
            </a:solidFill>
            <a:prstDash val="solid"/>
          </a:ln>
        </p:spPr>
      </p:sp>
      <p:pic>
        <p:nvPicPr>
          <p:cNvPr id="24" name="Image 5" descr="preencoded.png">    </p:cNvPr>
          <p:cNvPicPr>
            <a:picLocks noChangeAspect="1"/>
          </p:cNvPicPr>
          <p:nvPr/>
        </p:nvPicPr>
        <p:blipFill>
          <a:blip r:embed="rId6"/>
          <a:srcRect l="0" r="0" t="0" b="0"/>
          <a:stretch/>
        </p:blipFill>
        <p:spPr>
          <a:xfrm>
            <a:off x="10350500" y="4018657"/>
            <a:ext cx="279400" cy="279400"/>
          </a:xfrm>
          <a:prstGeom prst="rect">
            <a:avLst/>
          </a:prstGeom>
        </p:spPr>
      </p:pic>
      <p:sp>
        <p:nvSpPr>
          <p:cNvPr id="25" name="Text 17"/>
          <p:cNvSpPr/>
          <p:nvPr/>
        </p:nvSpPr>
        <p:spPr>
          <a:xfrm>
            <a:off x="9981009" y="4348857"/>
            <a:ext cx="1018381"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Fragmentos</a:t>
            </a:r>
            <a:endParaRPr lang="en-US" sz="1400" dirty="0"/>
          </a:p>
        </p:txBody>
      </p:sp>
      <p:sp>
        <p:nvSpPr>
          <p:cNvPr id="26" name="Text 18"/>
          <p:cNvSpPr/>
          <p:nvPr/>
        </p:nvSpPr>
        <p:spPr>
          <a:xfrm>
            <a:off x="9986566" y="4614763"/>
            <a:ext cx="100717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texto + fuente</a:t>
            </a:r>
            <a:endParaRPr lang="en-US" sz="1200" dirty="0"/>
          </a:p>
        </p:txBody>
      </p:sp>
      <p:pic>
        <p:nvPicPr>
          <p:cNvPr id="27" name="Image 6" descr="connector">    </p:cNvPr>
          <p:cNvPicPr>
            <a:picLocks noChangeAspect="1"/>
          </p:cNvPicPr>
          <p:nvPr/>
        </p:nvPicPr>
        <p:blipFill>
          <a:blip r:embed="rId7"/>
          <a:srcRect l="0" r="0" t="0" b="0"/>
          <a:stretch/>
        </p:blipFill>
        <p:spPr>
          <a:xfrm>
            <a:off x="2540000" y="2329160"/>
            <a:ext cx="1250950" cy="101600"/>
          </a:xfrm>
          <a:prstGeom prst="rect">
            <a:avLst/>
          </a:prstGeom>
        </p:spPr>
      </p:pic>
      <p:pic>
        <p:nvPicPr>
          <p:cNvPr id="28" name="Image 7" descr="connector">    </p:cNvPr>
          <p:cNvPicPr>
            <a:picLocks noChangeAspect="1"/>
          </p:cNvPicPr>
          <p:nvPr/>
        </p:nvPicPr>
        <p:blipFill>
          <a:blip r:embed="rId8"/>
          <a:srcRect l="0" r="0" t="0" b="0"/>
          <a:stretch/>
        </p:blipFill>
        <p:spPr>
          <a:xfrm>
            <a:off x="5467350" y="2329160"/>
            <a:ext cx="1250950" cy="101600"/>
          </a:xfrm>
          <a:prstGeom prst="rect">
            <a:avLst/>
          </a:prstGeom>
        </p:spPr>
      </p:pic>
      <p:pic>
        <p:nvPicPr>
          <p:cNvPr id="29" name="Image 8" descr="connector">    </p:cNvPr>
          <p:cNvPicPr>
            <a:picLocks noChangeAspect="1"/>
          </p:cNvPicPr>
          <p:nvPr/>
        </p:nvPicPr>
        <p:blipFill>
          <a:blip r:embed="rId9"/>
          <a:srcRect l="0" r="0" t="0" b="0"/>
          <a:stretch/>
        </p:blipFill>
        <p:spPr>
          <a:xfrm>
            <a:off x="8394700" y="2329160"/>
            <a:ext cx="1257300" cy="101600"/>
          </a:xfrm>
          <a:prstGeom prst="rect">
            <a:avLst/>
          </a:prstGeom>
        </p:spPr>
      </p:pic>
      <p:pic>
        <p:nvPicPr>
          <p:cNvPr id="30" name="Image 9" descr="connector">    </p:cNvPr>
          <p:cNvPicPr>
            <a:picLocks noChangeAspect="1"/>
          </p:cNvPicPr>
          <p:nvPr/>
        </p:nvPicPr>
        <p:blipFill>
          <a:blip r:embed="rId10"/>
          <a:srcRect l="0" r="0" t="0" b="0"/>
          <a:stretch/>
        </p:blipFill>
        <p:spPr>
          <a:xfrm>
            <a:off x="2514600" y="2907010"/>
            <a:ext cx="5118100" cy="1581150"/>
          </a:xfrm>
          <a:prstGeom prst="rect">
            <a:avLst/>
          </a:prstGeom>
        </p:spPr>
      </p:pic>
      <p:pic>
        <p:nvPicPr>
          <p:cNvPr id="31" name="Image 10" descr="connector">    </p:cNvPr>
          <p:cNvPicPr>
            <a:picLocks noChangeAspect="1"/>
          </p:cNvPicPr>
          <p:nvPr/>
        </p:nvPicPr>
        <p:blipFill>
          <a:blip r:embed="rId11"/>
          <a:srcRect l="0" r="0" t="0" b="0"/>
          <a:stretch/>
        </p:blipFill>
        <p:spPr>
          <a:xfrm>
            <a:off x="10439400" y="2932410"/>
            <a:ext cx="101600" cy="927100"/>
          </a:xfrm>
          <a:prstGeom prst="rect">
            <a:avLst/>
          </a:prstGeom>
        </p:spPr>
      </p:pic>
      <p:sp>
        <p:nvSpPr>
          <p:cNvPr id="32" name="Text 19"/>
          <p:cNvSpPr/>
          <p:nvPr/>
        </p:nvSpPr>
        <p:spPr>
          <a:xfrm>
            <a:off x="2654300" y="2113260"/>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divide</a:t>
            </a:r>
            <a:endParaRPr lang="en-US" sz="1400" dirty="0"/>
          </a:p>
        </p:txBody>
      </p:sp>
      <p:sp>
        <p:nvSpPr>
          <p:cNvPr id="33" name="Text 20"/>
          <p:cNvSpPr/>
          <p:nvPr/>
        </p:nvSpPr>
        <p:spPr>
          <a:xfrm>
            <a:off x="5581650" y="2113260"/>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chunks</a:t>
            </a:r>
            <a:endParaRPr lang="en-US" sz="1400" dirty="0"/>
          </a:p>
        </p:txBody>
      </p:sp>
      <p:sp>
        <p:nvSpPr>
          <p:cNvPr id="34" name="Text 21"/>
          <p:cNvSpPr/>
          <p:nvPr/>
        </p:nvSpPr>
        <p:spPr>
          <a:xfrm>
            <a:off x="8509000" y="2113260"/>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vectores</a:t>
            </a:r>
            <a:endParaRPr lang="en-US" sz="1400" dirty="0"/>
          </a:p>
        </p:txBody>
      </p:sp>
      <p:sp>
        <p:nvSpPr>
          <p:cNvPr id="35" name="Text 22"/>
          <p:cNvSpPr/>
          <p:nvPr/>
        </p:nvSpPr>
        <p:spPr>
          <a:xfrm>
            <a:off x="2717800" y="4145260"/>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36" name="Text 23"/>
          <p:cNvSpPr/>
          <p:nvPr/>
        </p:nvSpPr>
        <p:spPr>
          <a:xfrm>
            <a:off x="9461500" y="3186410"/>
            <a:ext cx="10033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top-k +</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fuente</a:t>
            </a:r>
            <a:endParaRPr lang="en-US" sz="1400" dirty="0"/>
          </a:p>
        </p:txBody>
      </p:sp>
      <p:sp>
        <p:nvSpPr>
          <p:cNvPr id="37" name="Text 24"/>
          <p:cNvSpPr/>
          <p:nvPr/>
        </p:nvSpPr>
        <p:spPr>
          <a:xfrm>
            <a:off x="812800" y="5281910"/>
            <a:ext cx="10883392" cy="585490"/>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«¿Cuántos gigas me quedan este mes?» encuentra el tarifario sin compartir casi ninguna palabra (demo 02_similitud.py).</a:t>
            </a:r>
            <a:endParaRPr lang="en-US" sz="1600" dirty="0"/>
          </a:p>
        </p:txBody>
      </p:sp>
      <p:sp>
        <p:nvSpPr>
          <p:cNvPr id="38" name="Text 25"/>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10</a:t>
            </a:r>
            <a:endParaRPr lang="en-US" sz="1200" dirty="0"/>
          </a:p>
        </p:txBody>
      </p:sp>
      <p:pic>
        <p:nvPicPr>
          <p:cNvPr id="39" name="Image 11" descr="Logo de AriwaLabs">    </p:cNvPr>
          <p:cNvPicPr>
            <a:picLocks noChangeAspect="1"/>
          </p:cNvPicPr>
          <p:nvPr/>
        </p:nvPicPr>
        <p:blipFill>
          <a:blip r:embed="rId12"/>
          <a:srcRect l="-9345" r="-9345" t="0" b="0"/>
          <a:stretch/>
        </p:blipFill>
        <p:spPr>
          <a:xfrm>
            <a:off x="10680700" y="6197600"/>
            <a:ext cx="6985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110"/>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corpus se parte en chunks</a:t>
            </a:r>
            <a:endParaRPr lang="en-US" sz="3600" dirty="0"/>
          </a:p>
        </p:txBody>
      </p:sp>
      <p:sp>
        <p:nvSpPr>
          <p:cNvPr id="3" name="Shape 1"/>
          <p:cNvSpPr/>
          <p:nvPr/>
        </p:nvSpPr>
        <p:spPr>
          <a:xfrm>
            <a:off x="819150" y="1783060"/>
            <a:ext cx="1765300" cy="1193800"/>
          </a:xfrm>
          <a:prstGeom prst="roundRect">
            <a:avLst>
              <a:gd name="adj" fmla="val 7979"/>
            </a:avLst>
          </a:prstGeom>
          <a:solidFill>
            <a:srgbClr val="FFFFFF"/>
          </a:solidFill>
          <a:ln w="12700">
            <a:solidFill>
              <a:srgbClr val="1E293B"/>
            </a:solidFill>
            <a:prstDash val="solid"/>
          </a:ln>
        </p:spPr>
      </p:sp>
      <p:pic>
        <p:nvPicPr>
          <p:cNvPr id="4" name="Image 0" descr="preencoded.png">    </p:cNvPr>
          <p:cNvPicPr>
            <a:picLocks noChangeAspect="1"/>
          </p:cNvPicPr>
          <p:nvPr/>
        </p:nvPicPr>
        <p:blipFill>
          <a:blip r:embed="rId1"/>
          <a:srcRect l="0" r="0" t="0" b="0"/>
          <a:stretch/>
        </p:blipFill>
        <p:spPr>
          <a:xfrm>
            <a:off x="1562100" y="1986657"/>
            <a:ext cx="279400" cy="279400"/>
          </a:xfrm>
          <a:prstGeom prst="rect">
            <a:avLst/>
          </a:prstGeom>
        </p:spPr>
      </p:pic>
      <p:sp>
        <p:nvSpPr>
          <p:cNvPr id="5" name="Text 2"/>
          <p:cNvSpPr/>
          <p:nvPr/>
        </p:nvSpPr>
        <p:spPr>
          <a:xfrm>
            <a:off x="1387872" y="2316857"/>
            <a:ext cx="6278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Corpus</a:t>
            </a:r>
            <a:endParaRPr lang="en-US" sz="1400" dirty="0"/>
          </a:p>
        </p:txBody>
      </p:sp>
      <p:sp>
        <p:nvSpPr>
          <p:cNvPr id="6" name="Text 3"/>
          <p:cNvSpPr/>
          <p:nvPr/>
        </p:nvSpPr>
        <p:spPr>
          <a:xfrm>
            <a:off x="1164927" y="2582763"/>
            <a:ext cx="107374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 .md del track</a:t>
            </a:r>
            <a:endParaRPr lang="en-US" sz="1200" dirty="0"/>
          </a:p>
        </p:txBody>
      </p:sp>
      <p:sp>
        <p:nvSpPr>
          <p:cNvPr id="7" name="Shape 4"/>
          <p:cNvSpPr/>
          <p:nvPr/>
        </p:nvSpPr>
        <p:spPr>
          <a:xfrm>
            <a:off x="3752850" y="1789410"/>
            <a:ext cx="1752600" cy="1181100"/>
          </a:xfrm>
          <a:prstGeom prst="roundRect">
            <a:avLst>
              <a:gd name="adj" fmla="val 7527"/>
            </a:avLst>
          </a:prstGeom>
          <a:solidFill>
            <a:srgbClr val="FFF0EB"/>
          </a:solidFill>
          <a:ln w="25400">
            <a:solidFill>
              <a:srgbClr val="FF5733"/>
            </a:solidFill>
            <a:prstDash val="solid"/>
          </a:ln>
        </p:spPr>
      </p:sp>
      <p:pic>
        <p:nvPicPr>
          <p:cNvPr id="8" name="Image 1" descr="preencoded.png">    </p:cNvPr>
          <p:cNvPicPr>
            <a:picLocks noChangeAspect="1"/>
          </p:cNvPicPr>
          <p:nvPr/>
        </p:nvPicPr>
        <p:blipFill>
          <a:blip r:embed="rId2"/>
          <a:srcRect l="-1443" r="-1443" t="0" b="0"/>
          <a:stretch/>
        </p:blipFill>
        <p:spPr>
          <a:xfrm>
            <a:off x="4489450" y="1903710"/>
            <a:ext cx="279400" cy="271562"/>
          </a:xfrm>
          <a:prstGeom prst="rect">
            <a:avLst/>
          </a:prstGeom>
        </p:spPr>
      </p:pic>
      <p:sp>
        <p:nvSpPr>
          <p:cNvPr id="9" name="Text 5"/>
          <p:cNvSpPr/>
          <p:nvPr/>
        </p:nvSpPr>
        <p:spPr>
          <a:xfrm>
            <a:off x="4304705" y="2226072"/>
            <a:ext cx="648891" cy="234454"/>
          </a:xfrm>
          <a:prstGeom prst="rect">
            <a:avLst/>
          </a:prstGeom>
          <a:noFill/>
          <a:ln/>
        </p:spPr>
        <p:txBody>
          <a:bodyPr wrap="square" lIns="0" tIns="0" rIns="0" bIns="0" rtlCol="0" anchor="t">
            <a:normAutofit/>
          </a:bodyPr>
          <a:lstStyle/>
          <a:p>
            <a:pPr algn="ctr" indent="0" marL="0">
              <a:lnSpc>
                <a:spcPts val="1673"/>
              </a:lnSpc>
              <a:buNone/>
            </a:pPr>
            <a:r>
              <a:rPr lang="en-US" sz="1383" dirty="0">
                <a:solidFill>
                  <a:srgbClr val="1E293B"/>
                </a:solidFill>
                <a:latin typeface="IBM Plex Sans" pitchFamily="34" charset="0"/>
                <a:ea typeface="IBM Plex Sans" pitchFamily="34" charset="-122"/>
                <a:cs typeface="IBM Plex Sans" pitchFamily="34" charset="-120"/>
              </a:rPr>
              <a:t>Chunks</a:t>
            </a:r>
            <a:endParaRPr lang="en-US" sz="1383" dirty="0"/>
          </a:p>
        </p:txBody>
      </p:sp>
      <p:sp>
        <p:nvSpPr>
          <p:cNvPr id="10" name="Text 6"/>
          <p:cNvSpPr/>
          <p:nvPr/>
        </p:nvSpPr>
        <p:spPr>
          <a:xfrm>
            <a:off x="3841750" y="2485926"/>
            <a:ext cx="1574800" cy="395684"/>
          </a:xfrm>
          <a:prstGeom prst="rect">
            <a:avLst/>
          </a:prstGeom>
          <a:noFill/>
          <a:ln/>
        </p:spPr>
        <p:txBody>
          <a:bodyPr wrap="square" lIns="0" tIns="0" rIns="0" bIns="0" rtlCol="0" anchor="t">
            <a:normAutofit/>
          </a:bodyPr>
          <a:lstStyle/>
          <a:p>
            <a:pPr algn="ctr" indent="0" marL="0">
              <a:lnSpc>
                <a:spcPts val="1458"/>
              </a:lnSpc>
              <a:buNone/>
            </a:pPr>
            <a:r>
              <a:rPr lang="en-US" sz="1166" dirty="0">
                <a:solidFill>
                  <a:srgbClr val="526277"/>
                </a:solidFill>
                <a:latin typeface="IBM Plex Sans" pitchFamily="34" charset="0"/>
                <a:ea typeface="IBM Plex Sans" pitchFamily="34" charset="-122"/>
                <a:cs typeface="IBM Plex Sans" pitchFamily="34" charset="-120"/>
              </a:rPr>
              <a:t>tamaño y solapamiento</a:t>
            </a:r>
            <a:endParaRPr lang="en-US" sz="1166" dirty="0"/>
          </a:p>
        </p:txBody>
      </p:sp>
      <p:sp>
        <p:nvSpPr>
          <p:cNvPr id="11" name="Shape 7"/>
          <p:cNvSpPr/>
          <p:nvPr/>
        </p:nvSpPr>
        <p:spPr>
          <a:xfrm>
            <a:off x="6673850" y="1783060"/>
            <a:ext cx="1765300" cy="1193800"/>
          </a:xfrm>
          <a:prstGeom prst="roundRect">
            <a:avLst>
              <a:gd name="adj" fmla="val 7979"/>
            </a:avLst>
          </a:prstGeom>
          <a:solidFill>
            <a:srgbClr val="FFFFFF"/>
          </a:solidFill>
          <a:ln w="12700">
            <a:solidFill>
              <a:srgbClr val="1E293B"/>
            </a:solidFill>
            <a:prstDash val="solid"/>
          </a:ln>
        </p:spPr>
      </p:sp>
      <p:pic>
        <p:nvPicPr>
          <p:cNvPr id="12" name="Image 2" descr="Code">    </p:cNvPr>
          <p:cNvPicPr>
            <a:picLocks noChangeAspect="1"/>
          </p:cNvPicPr>
          <p:nvPr/>
        </p:nvPicPr>
        <p:blipFill>
          <a:blip r:embed="rId3"/>
          <a:srcRect l="-182" r="-182" t="0" b="0"/>
          <a:stretch/>
        </p:blipFill>
        <p:spPr>
          <a:xfrm>
            <a:off x="7416800" y="1891010"/>
            <a:ext cx="279400" cy="272058"/>
          </a:xfrm>
          <a:prstGeom prst="rect">
            <a:avLst/>
          </a:prstGeom>
        </p:spPr>
      </p:pic>
      <p:sp>
        <p:nvSpPr>
          <p:cNvPr id="13" name="Text 8"/>
          <p:cNvSpPr/>
          <p:nvPr/>
        </p:nvSpPr>
        <p:spPr>
          <a:xfrm>
            <a:off x="6756400" y="2213868"/>
            <a:ext cx="1600200" cy="444202"/>
          </a:xfrm>
          <a:prstGeom prst="rect">
            <a:avLst/>
          </a:prstGeom>
          <a:noFill/>
          <a:ln/>
        </p:spPr>
        <p:txBody>
          <a:bodyPr wrap="square" lIns="0" tIns="0" rIns="0" bIns="0" rtlCol="0" anchor="t">
            <a:normAutofit/>
          </a:bodyPr>
          <a:lstStyle/>
          <a:p>
            <a:pPr algn="ctr" indent="0" marL="0">
              <a:lnSpc>
                <a:spcPts val="1662"/>
              </a:lnSpc>
              <a:buNone/>
            </a:pPr>
            <a:r>
              <a:rPr lang="en-US" sz="1374" dirty="0">
                <a:solidFill>
                  <a:srgbClr val="1E293B"/>
                </a:solidFill>
                <a:latin typeface="IBM Plex Sans" pitchFamily="34" charset="0"/>
                <a:ea typeface="IBM Plex Sans" pitchFamily="34" charset="-122"/>
                <a:cs typeface="IBM Plex Sans" pitchFamily="34" charset="-120"/>
              </a:rPr>
              <a:t>Modelo de embeddings</a:t>
            </a:r>
            <a:endParaRPr lang="en-US" sz="1374" dirty="0"/>
          </a:p>
        </p:txBody>
      </p:sp>
      <p:sp>
        <p:nvSpPr>
          <p:cNvPr id="14" name="Text 9"/>
          <p:cNvSpPr/>
          <p:nvPr/>
        </p:nvSpPr>
        <p:spPr>
          <a:xfrm>
            <a:off x="7081341" y="2683470"/>
            <a:ext cx="950218" cy="210840"/>
          </a:xfrm>
          <a:prstGeom prst="rect">
            <a:avLst/>
          </a:prstGeom>
          <a:noFill/>
          <a:ln/>
        </p:spPr>
        <p:txBody>
          <a:bodyPr wrap="square" lIns="0" tIns="0" rIns="0" bIns="0" rtlCol="0" anchor="t">
            <a:normAutofit/>
          </a:bodyPr>
          <a:lstStyle/>
          <a:p>
            <a:pPr algn="ctr" indent="0" marL="0">
              <a:lnSpc>
                <a:spcPts val="1472"/>
              </a:lnSpc>
              <a:buNone/>
            </a:pPr>
            <a:r>
              <a:rPr lang="en-US" sz="1177" dirty="0">
                <a:solidFill>
                  <a:srgbClr val="526277"/>
                </a:solidFill>
                <a:latin typeface="IBM Plex Sans" pitchFamily="34" charset="0"/>
                <a:ea typeface="IBM Plex Sans" pitchFamily="34" charset="-122"/>
                <a:cs typeface="IBM Plex Sans" pitchFamily="34" charset="-120"/>
              </a:rPr>
              <a:t>Hugging Face</a:t>
            </a:r>
            <a:endParaRPr lang="en-US" sz="1177" dirty="0"/>
          </a:p>
        </p:txBody>
      </p:sp>
      <p:sp>
        <p:nvSpPr>
          <p:cNvPr id="15" name="Shape 10"/>
          <p:cNvSpPr/>
          <p:nvPr/>
        </p:nvSpPr>
        <p:spPr>
          <a:xfrm>
            <a:off x="9607550" y="1783060"/>
            <a:ext cx="1765300" cy="1193800"/>
          </a:xfrm>
          <a:prstGeom prst="roundRect">
            <a:avLst>
              <a:gd name="adj" fmla="val 7979"/>
            </a:avLst>
          </a:prstGeom>
          <a:solidFill>
            <a:srgbClr val="FFFFFF"/>
          </a:solidFill>
          <a:ln w="12700">
            <a:solidFill>
              <a:srgbClr val="1E293B"/>
            </a:solidFill>
            <a:prstDash val="solid"/>
          </a:ln>
        </p:spPr>
      </p:sp>
      <p:pic>
        <p:nvPicPr>
          <p:cNvPr id="16" name="Image 3" descr="preencoded.png">    </p:cNvPr>
          <p:cNvPicPr>
            <a:picLocks noChangeAspect="1"/>
          </p:cNvPicPr>
          <p:nvPr/>
        </p:nvPicPr>
        <p:blipFill>
          <a:blip r:embed="rId4"/>
          <a:srcRect l="0" r="0" t="0" b="0"/>
          <a:stretch/>
        </p:blipFill>
        <p:spPr>
          <a:xfrm>
            <a:off x="10350500" y="1986657"/>
            <a:ext cx="279400" cy="279400"/>
          </a:xfrm>
          <a:prstGeom prst="rect">
            <a:avLst/>
          </a:prstGeom>
        </p:spPr>
      </p:pic>
      <p:sp>
        <p:nvSpPr>
          <p:cNvPr id="17" name="Text 11"/>
          <p:cNvSpPr/>
          <p:nvPr/>
        </p:nvSpPr>
        <p:spPr>
          <a:xfrm>
            <a:off x="9925943" y="2316857"/>
            <a:ext cx="112841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 Cloud</a:t>
            </a:r>
            <a:endParaRPr lang="en-US" sz="1400" dirty="0"/>
          </a:p>
        </p:txBody>
      </p:sp>
      <p:sp>
        <p:nvSpPr>
          <p:cNvPr id="18" name="Text 12"/>
          <p:cNvSpPr/>
          <p:nvPr/>
        </p:nvSpPr>
        <p:spPr>
          <a:xfrm>
            <a:off x="9741892" y="2582763"/>
            <a:ext cx="149651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colección kb-&lt;track&gt;</a:t>
            </a:r>
            <a:endParaRPr lang="en-US" sz="1200" dirty="0"/>
          </a:p>
        </p:txBody>
      </p:sp>
      <p:sp>
        <p:nvSpPr>
          <p:cNvPr id="19" name="Shape 13"/>
          <p:cNvSpPr/>
          <p:nvPr/>
        </p:nvSpPr>
        <p:spPr>
          <a:xfrm>
            <a:off x="819150" y="3815060"/>
            <a:ext cx="1765300" cy="1193800"/>
          </a:xfrm>
          <a:prstGeom prst="roundRect">
            <a:avLst>
              <a:gd name="adj" fmla="val 7979"/>
            </a:avLst>
          </a:prstGeom>
          <a:solidFill>
            <a:srgbClr val="FFFFFF"/>
          </a:solidFill>
          <a:ln w="12700">
            <a:solidFill>
              <a:srgbClr val="1E293B"/>
            </a:solidFill>
            <a:prstDash val="solid"/>
          </a:ln>
        </p:spPr>
      </p:sp>
      <p:pic>
        <p:nvPicPr>
          <p:cNvPr id="20" name="Image 4" descr="Chat">    </p:cNvPr>
          <p:cNvPicPr>
            <a:picLocks noChangeAspect="1"/>
          </p:cNvPicPr>
          <p:nvPr/>
        </p:nvPicPr>
        <p:blipFill>
          <a:blip r:embed="rId5"/>
          <a:srcRect l="0" r="0" t="0" b="0"/>
          <a:stretch/>
        </p:blipFill>
        <p:spPr>
          <a:xfrm>
            <a:off x="1562100" y="4018657"/>
            <a:ext cx="279400" cy="279400"/>
          </a:xfrm>
          <a:prstGeom prst="rect">
            <a:avLst/>
          </a:prstGeom>
        </p:spPr>
      </p:pic>
      <p:sp>
        <p:nvSpPr>
          <p:cNvPr id="21" name="Text 14"/>
          <p:cNvSpPr/>
          <p:nvPr/>
        </p:nvSpPr>
        <p:spPr>
          <a:xfrm>
            <a:off x="1316831" y="4348857"/>
            <a:ext cx="76983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Consulta</a:t>
            </a:r>
            <a:endParaRPr lang="en-US" sz="1400" dirty="0"/>
          </a:p>
        </p:txBody>
      </p:sp>
      <p:sp>
        <p:nvSpPr>
          <p:cNvPr id="22" name="Text 15"/>
          <p:cNvSpPr/>
          <p:nvPr/>
        </p:nvSpPr>
        <p:spPr>
          <a:xfrm>
            <a:off x="994569" y="4614763"/>
            <a:ext cx="141436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pregunta del cliente</a:t>
            </a:r>
            <a:endParaRPr lang="en-US" sz="1200" dirty="0"/>
          </a:p>
        </p:txBody>
      </p:sp>
      <p:sp>
        <p:nvSpPr>
          <p:cNvPr id="23" name="Shape 16"/>
          <p:cNvSpPr/>
          <p:nvPr/>
        </p:nvSpPr>
        <p:spPr>
          <a:xfrm>
            <a:off x="9607550" y="3815060"/>
            <a:ext cx="1765300" cy="1193800"/>
          </a:xfrm>
          <a:prstGeom prst="roundRect">
            <a:avLst>
              <a:gd name="adj" fmla="val 7979"/>
            </a:avLst>
          </a:prstGeom>
          <a:solidFill>
            <a:srgbClr val="FFFFFF"/>
          </a:solidFill>
          <a:ln w="12700">
            <a:solidFill>
              <a:srgbClr val="1E293B"/>
            </a:solidFill>
            <a:prstDash val="solid"/>
          </a:ln>
        </p:spPr>
      </p:sp>
      <p:pic>
        <p:nvPicPr>
          <p:cNvPr id="24" name="Image 5" descr="preencoded.png">    </p:cNvPr>
          <p:cNvPicPr>
            <a:picLocks noChangeAspect="1"/>
          </p:cNvPicPr>
          <p:nvPr/>
        </p:nvPicPr>
        <p:blipFill>
          <a:blip r:embed="rId6"/>
          <a:srcRect l="0" r="0" t="0" b="0"/>
          <a:stretch/>
        </p:blipFill>
        <p:spPr>
          <a:xfrm>
            <a:off x="10350500" y="4018657"/>
            <a:ext cx="279400" cy="279400"/>
          </a:xfrm>
          <a:prstGeom prst="rect">
            <a:avLst/>
          </a:prstGeom>
        </p:spPr>
      </p:pic>
      <p:sp>
        <p:nvSpPr>
          <p:cNvPr id="25" name="Text 17"/>
          <p:cNvSpPr/>
          <p:nvPr/>
        </p:nvSpPr>
        <p:spPr>
          <a:xfrm>
            <a:off x="9981009" y="4348857"/>
            <a:ext cx="1018381"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Fragmentos</a:t>
            </a:r>
            <a:endParaRPr lang="en-US" sz="1400" dirty="0"/>
          </a:p>
        </p:txBody>
      </p:sp>
      <p:sp>
        <p:nvSpPr>
          <p:cNvPr id="26" name="Text 18"/>
          <p:cNvSpPr/>
          <p:nvPr/>
        </p:nvSpPr>
        <p:spPr>
          <a:xfrm>
            <a:off x="9986566" y="4614763"/>
            <a:ext cx="100717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texto + fuente</a:t>
            </a:r>
            <a:endParaRPr lang="en-US" sz="1200" dirty="0"/>
          </a:p>
        </p:txBody>
      </p:sp>
      <p:pic>
        <p:nvPicPr>
          <p:cNvPr id="27" name="Image 6" descr="connector">    </p:cNvPr>
          <p:cNvPicPr>
            <a:picLocks noChangeAspect="1"/>
          </p:cNvPicPr>
          <p:nvPr/>
        </p:nvPicPr>
        <p:blipFill>
          <a:blip r:embed="rId7"/>
          <a:srcRect l="0" r="0" t="0" b="0"/>
          <a:stretch/>
        </p:blipFill>
        <p:spPr>
          <a:xfrm>
            <a:off x="2514600" y="2303760"/>
            <a:ext cx="1301750" cy="152400"/>
          </a:xfrm>
          <a:prstGeom prst="rect">
            <a:avLst/>
          </a:prstGeom>
        </p:spPr>
      </p:pic>
      <p:pic>
        <p:nvPicPr>
          <p:cNvPr id="28" name="Image 7" descr="connector">    </p:cNvPr>
          <p:cNvPicPr>
            <a:picLocks noChangeAspect="1"/>
          </p:cNvPicPr>
          <p:nvPr/>
        </p:nvPicPr>
        <p:blipFill>
          <a:blip r:embed="rId8"/>
          <a:srcRect l="0" r="0" t="0" b="0"/>
          <a:stretch/>
        </p:blipFill>
        <p:spPr>
          <a:xfrm>
            <a:off x="5467350" y="2329160"/>
            <a:ext cx="1250950" cy="101600"/>
          </a:xfrm>
          <a:prstGeom prst="rect">
            <a:avLst/>
          </a:prstGeom>
        </p:spPr>
      </p:pic>
      <p:pic>
        <p:nvPicPr>
          <p:cNvPr id="29" name="Image 8" descr="connector">    </p:cNvPr>
          <p:cNvPicPr>
            <a:picLocks noChangeAspect="1"/>
          </p:cNvPicPr>
          <p:nvPr/>
        </p:nvPicPr>
        <p:blipFill>
          <a:blip r:embed="rId9"/>
          <a:srcRect l="0" r="0" t="0" b="0"/>
          <a:stretch/>
        </p:blipFill>
        <p:spPr>
          <a:xfrm>
            <a:off x="8394700" y="2329160"/>
            <a:ext cx="1257300" cy="101600"/>
          </a:xfrm>
          <a:prstGeom prst="rect">
            <a:avLst/>
          </a:prstGeom>
        </p:spPr>
      </p:pic>
      <p:pic>
        <p:nvPicPr>
          <p:cNvPr id="30" name="Image 9" descr="connector">    </p:cNvPr>
          <p:cNvPicPr>
            <a:picLocks noChangeAspect="1"/>
          </p:cNvPicPr>
          <p:nvPr/>
        </p:nvPicPr>
        <p:blipFill>
          <a:blip r:embed="rId10"/>
          <a:srcRect l="0" r="0" t="0" b="0"/>
          <a:stretch/>
        </p:blipFill>
        <p:spPr>
          <a:xfrm>
            <a:off x="2540000" y="2932410"/>
            <a:ext cx="5067300" cy="1530350"/>
          </a:xfrm>
          <a:prstGeom prst="rect">
            <a:avLst/>
          </a:prstGeom>
        </p:spPr>
      </p:pic>
      <p:pic>
        <p:nvPicPr>
          <p:cNvPr id="31" name="Image 10" descr="connector">    </p:cNvPr>
          <p:cNvPicPr>
            <a:picLocks noChangeAspect="1"/>
          </p:cNvPicPr>
          <p:nvPr/>
        </p:nvPicPr>
        <p:blipFill>
          <a:blip r:embed="rId11"/>
          <a:srcRect l="0" r="0" t="0" b="0"/>
          <a:stretch/>
        </p:blipFill>
        <p:spPr>
          <a:xfrm>
            <a:off x="10439400" y="2932410"/>
            <a:ext cx="101600" cy="927100"/>
          </a:xfrm>
          <a:prstGeom prst="rect">
            <a:avLst/>
          </a:prstGeom>
        </p:spPr>
      </p:pic>
      <p:sp>
        <p:nvSpPr>
          <p:cNvPr id="32" name="Text 19"/>
          <p:cNvSpPr/>
          <p:nvPr/>
        </p:nvSpPr>
        <p:spPr>
          <a:xfrm>
            <a:off x="2654300" y="2113260"/>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divide</a:t>
            </a:r>
            <a:endParaRPr lang="en-US" sz="1400" dirty="0"/>
          </a:p>
        </p:txBody>
      </p:sp>
      <p:sp>
        <p:nvSpPr>
          <p:cNvPr id="33" name="Text 20"/>
          <p:cNvSpPr/>
          <p:nvPr/>
        </p:nvSpPr>
        <p:spPr>
          <a:xfrm>
            <a:off x="5581650" y="2113260"/>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chunks</a:t>
            </a:r>
            <a:endParaRPr lang="en-US" sz="1400" dirty="0"/>
          </a:p>
        </p:txBody>
      </p:sp>
      <p:sp>
        <p:nvSpPr>
          <p:cNvPr id="34" name="Text 21"/>
          <p:cNvSpPr/>
          <p:nvPr/>
        </p:nvSpPr>
        <p:spPr>
          <a:xfrm>
            <a:off x="8509000" y="2113260"/>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vectores</a:t>
            </a:r>
            <a:endParaRPr lang="en-US" sz="1400" dirty="0"/>
          </a:p>
        </p:txBody>
      </p:sp>
      <p:sp>
        <p:nvSpPr>
          <p:cNvPr id="35" name="Text 22"/>
          <p:cNvSpPr/>
          <p:nvPr/>
        </p:nvSpPr>
        <p:spPr>
          <a:xfrm>
            <a:off x="2717800" y="4145260"/>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36" name="Text 23"/>
          <p:cNvSpPr/>
          <p:nvPr/>
        </p:nvSpPr>
        <p:spPr>
          <a:xfrm>
            <a:off x="9461500" y="3186410"/>
            <a:ext cx="10033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top-k +</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fuente</a:t>
            </a:r>
            <a:endParaRPr lang="en-US" sz="1400" dirty="0"/>
          </a:p>
        </p:txBody>
      </p:sp>
      <p:sp>
        <p:nvSpPr>
          <p:cNvPr id="37" name="Text 24"/>
          <p:cNvSpPr/>
          <p:nvPr/>
        </p:nvSpPr>
        <p:spPr>
          <a:xfrm>
            <a:off x="812800" y="5281910"/>
            <a:ext cx="10883392" cy="585490"/>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Tres .md producen más chunks que documentos: cada chunk se embebe e indexa por separado (demo 01_ingesta.py).</a:t>
            </a:r>
            <a:endParaRPr lang="en-US" sz="1600" dirty="0"/>
          </a:p>
        </p:txBody>
      </p:sp>
      <p:sp>
        <p:nvSpPr>
          <p:cNvPr id="38" name="Text 25"/>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11</a:t>
            </a:r>
            <a:endParaRPr lang="en-US" sz="1200" dirty="0"/>
          </a:p>
        </p:txBody>
      </p:sp>
      <p:pic>
        <p:nvPicPr>
          <p:cNvPr id="39" name="Image 11" descr="Logo de AriwaLabs">    </p:cNvPr>
          <p:cNvPicPr>
            <a:picLocks noChangeAspect="1"/>
          </p:cNvPicPr>
          <p:nvPr/>
        </p:nvPicPr>
        <p:blipFill>
          <a:blip r:embed="rId12"/>
          <a:srcRect l="-9345" r="-9345" t="0" b="0"/>
          <a:stretch/>
        </p:blipFill>
        <p:spPr>
          <a:xfrm>
            <a:off x="10680700" y="6197600"/>
            <a:ext cx="6985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tamaño del chunk es un trade-off</a:t>
            </a:r>
            <a:endParaRPr lang="en-US" sz="3600" dirty="0"/>
          </a:p>
        </p:txBody>
      </p:sp>
      <p:sp>
        <p:nvSpPr>
          <p:cNvPr id="3" name="Shape 1"/>
          <p:cNvSpPr/>
          <p:nvPr/>
        </p:nvSpPr>
        <p:spPr>
          <a:xfrm>
            <a:off x="819150" y="1529755"/>
            <a:ext cx="3365500" cy="3927078"/>
          </a:xfrm>
          <a:prstGeom prst="roundRect">
            <a:avLst>
              <a:gd name="adj" fmla="val 2830"/>
            </a:avLst>
          </a:prstGeom>
          <a:solidFill>
            <a:srgbClr val="FFFFFF"/>
          </a:solidFill>
          <a:ln w="12700">
            <a:solidFill>
              <a:srgbClr val="1E293B"/>
            </a:solidFill>
            <a:prstDash val="solid"/>
          </a:ln>
        </p:spPr>
      </p:sp>
      <p:sp>
        <p:nvSpPr>
          <p:cNvPr id="4" name="Text 2"/>
          <p:cNvSpPr/>
          <p:nvPr/>
        </p:nvSpPr>
        <p:spPr>
          <a:xfrm>
            <a:off x="1003300" y="1713905"/>
            <a:ext cx="308711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E293B"/>
                </a:solidFill>
                <a:latin typeface="IBM Plex Sans" pitchFamily="34" charset="0"/>
                <a:ea typeface="IBM Plex Sans" pitchFamily="34" charset="-122"/>
                <a:cs typeface="IBM Plex Sans" pitchFamily="34" charset="-120"/>
              </a:rPr>
              <a:t>Muy pequeño (~150)</a:t>
            </a:r>
            <a:endParaRPr lang="en-US" sz="1600" dirty="0"/>
          </a:p>
        </p:txBody>
      </p:sp>
      <p:sp>
        <p:nvSpPr>
          <p:cNvPr id="5" name="Shape 3"/>
          <p:cNvSpPr/>
          <p:nvPr/>
        </p:nvSpPr>
        <p:spPr>
          <a:xfrm>
            <a:off x="1009650" y="2101255"/>
            <a:ext cx="2984500" cy="190500"/>
          </a:xfrm>
          <a:prstGeom prst="roundRect">
            <a:avLst>
              <a:gd name="adj" fmla="val 10000"/>
            </a:avLst>
          </a:prstGeom>
          <a:solidFill>
            <a:srgbClr val="E9F0F7"/>
          </a:solidFill>
          <a:ln w="12700">
            <a:solidFill>
              <a:srgbClr val="526277"/>
            </a:solidFill>
            <a:prstDash val="solid"/>
          </a:ln>
        </p:spPr>
      </p:sp>
      <p:sp>
        <p:nvSpPr>
          <p:cNvPr id="6" name="Shape 4"/>
          <p:cNvSpPr/>
          <p:nvPr/>
        </p:nvSpPr>
        <p:spPr>
          <a:xfrm>
            <a:off x="1009650" y="2355255"/>
            <a:ext cx="2984500" cy="190500"/>
          </a:xfrm>
          <a:prstGeom prst="roundRect">
            <a:avLst>
              <a:gd name="adj" fmla="val 10000"/>
            </a:avLst>
          </a:prstGeom>
          <a:solidFill>
            <a:srgbClr val="E9F0F7"/>
          </a:solidFill>
          <a:ln w="12700">
            <a:solidFill>
              <a:srgbClr val="526277"/>
            </a:solidFill>
            <a:prstDash val="solid"/>
          </a:ln>
        </p:spPr>
      </p:sp>
      <p:sp>
        <p:nvSpPr>
          <p:cNvPr id="7" name="Shape 5"/>
          <p:cNvSpPr/>
          <p:nvPr/>
        </p:nvSpPr>
        <p:spPr>
          <a:xfrm>
            <a:off x="1009650" y="2609255"/>
            <a:ext cx="2984500" cy="190500"/>
          </a:xfrm>
          <a:prstGeom prst="roundRect">
            <a:avLst>
              <a:gd name="adj" fmla="val 10000"/>
            </a:avLst>
          </a:prstGeom>
          <a:solidFill>
            <a:srgbClr val="E9F0F7"/>
          </a:solidFill>
          <a:ln w="12700">
            <a:solidFill>
              <a:srgbClr val="526277"/>
            </a:solidFill>
            <a:prstDash val="solid"/>
          </a:ln>
        </p:spPr>
      </p:sp>
      <p:sp>
        <p:nvSpPr>
          <p:cNvPr id="8" name="Shape 6"/>
          <p:cNvSpPr/>
          <p:nvPr/>
        </p:nvSpPr>
        <p:spPr>
          <a:xfrm>
            <a:off x="1009650" y="2863255"/>
            <a:ext cx="2984500" cy="190500"/>
          </a:xfrm>
          <a:prstGeom prst="roundRect">
            <a:avLst>
              <a:gd name="adj" fmla="val 10000"/>
            </a:avLst>
          </a:prstGeom>
          <a:solidFill>
            <a:srgbClr val="E9F0F7"/>
          </a:solidFill>
          <a:ln w="12700">
            <a:solidFill>
              <a:srgbClr val="526277"/>
            </a:solidFill>
            <a:prstDash val="solid"/>
          </a:ln>
        </p:spPr>
      </p:sp>
      <p:sp>
        <p:nvSpPr>
          <p:cNvPr id="9" name="Shape 7"/>
          <p:cNvSpPr/>
          <p:nvPr/>
        </p:nvSpPr>
        <p:spPr>
          <a:xfrm>
            <a:off x="1009650" y="3117255"/>
            <a:ext cx="2984500" cy="190500"/>
          </a:xfrm>
          <a:prstGeom prst="roundRect">
            <a:avLst>
              <a:gd name="adj" fmla="val 10000"/>
            </a:avLst>
          </a:prstGeom>
          <a:solidFill>
            <a:srgbClr val="E9F0F7"/>
          </a:solidFill>
          <a:ln w="12700">
            <a:solidFill>
              <a:srgbClr val="526277"/>
            </a:solidFill>
            <a:prstDash val="solid"/>
          </a:ln>
        </p:spPr>
      </p:sp>
      <p:sp>
        <p:nvSpPr>
          <p:cNvPr id="10" name="Shape 8"/>
          <p:cNvSpPr/>
          <p:nvPr/>
        </p:nvSpPr>
        <p:spPr>
          <a:xfrm>
            <a:off x="1009650" y="3371255"/>
            <a:ext cx="2984500" cy="190500"/>
          </a:xfrm>
          <a:prstGeom prst="roundRect">
            <a:avLst>
              <a:gd name="adj" fmla="val 10000"/>
            </a:avLst>
          </a:prstGeom>
          <a:solidFill>
            <a:srgbClr val="E9F0F7"/>
          </a:solidFill>
          <a:ln w="12700">
            <a:solidFill>
              <a:srgbClr val="526277"/>
            </a:solidFill>
            <a:prstDash val="solid"/>
          </a:ln>
        </p:spPr>
      </p:sp>
      <p:sp>
        <p:nvSpPr>
          <p:cNvPr id="11" name="Shape 9"/>
          <p:cNvSpPr/>
          <p:nvPr/>
        </p:nvSpPr>
        <p:spPr>
          <a:xfrm>
            <a:off x="1009650" y="3625255"/>
            <a:ext cx="2984500" cy="190500"/>
          </a:xfrm>
          <a:prstGeom prst="roundRect">
            <a:avLst>
              <a:gd name="adj" fmla="val 10000"/>
            </a:avLst>
          </a:prstGeom>
          <a:solidFill>
            <a:srgbClr val="E9F0F7"/>
          </a:solidFill>
          <a:ln w="12700">
            <a:solidFill>
              <a:srgbClr val="526277"/>
            </a:solidFill>
            <a:prstDash val="solid"/>
          </a:ln>
        </p:spPr>
      </p:sp>
      <p:sp>
        <p:nvSpPr>
          <p:cNvPr id="12" name="Shape 10"/>
          <p:cNvSpPr/>
          <p:nvPr/>
        </p:nvSpPr>
        <p:spPr>
          <a:xfrm>
            <a:off x="1009650" y="3879255"/>
            <a:ext cx="2984500" cy="190500"/>
          </a:xfrm>
          <a:prstGeom prst="roundRect">
            <a:avLst>
              <a:gd name="adj" fmla="val 10000"/>
            </a:avLst>
          </a:prstGeom>
          <a:solidFill>
            <a:srgbClr val="E9F0F7"/>
          </a:solidFill>
          <a:ln w="12700">
            <a:solidFill>
              <a:srgbClr val="526277"/>
            </a:solidFill>
            <a:prstDash val="solid"/>
          </a:ln>
        </p:spPr>
      </p:sp>
      <p:sp>
        <p:nvSpPr>
          <p:cNvPr id="13" name="Text 11"/>
          <p:cNvSpPr/>
          <p:nvPr/>
        </p:nvSpPr>
        <p:spPr>
          <a:xfrm>
            <a:off x="1003300" y="4203105"/>
            <a:ext cx="3087116"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Ventaja:</a:t>
            </a:r>
            <a:r>
              <a:rPr lang="en-US" sz="1400" dirty="0">
                <a:solidFill>
                  <a:srgbClr val="1E293B"/>
                </a:solidFill>
                <a:latin typeface="IBM Plex Sans" pitchFamily="34" charset="0"/>
                <a:ea typeface="IBM Plex Sans" pitchFamily="34" charset="-122"/>
                <a:cs typeface="IBM Plex Sans" pitchFamily="34" charset="-120"/>
              </a:rPr>
              <a:t> Recuperación muy precisa.</a:t>
            </a:r>
            <a:endParaRPr lang="en-US" sz="1400" dirty="0"/>
          </a:p>
        </p:txBody>
      </p:sp>
      <p:sp>
        <p:nvSpPr>
          <p:cNvPr id="14" name="Text 12"/>
          <p:cNvSpPr/>
          <p:nvPr/>
        </p:nvSpPr>
        <p:spPr>
          <a:xfrm>
            <a:off x="1003300" y="4559399"/>
            <a:ext cx="3087116" cy="713284"/>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Problema:</a:t>
            </a:r>
            <a:r>
              <a:rPr lang="en-US" sz="1400" dirty="0">
                <a:solidFill>
                  <a:srgbClr val="1E293B"/>
                </a:solidFill>
                <a:latin typeface="IBM Plex Sans" pitchFamily="34" charset="0"/>
                <a:ea typeface="IBM Plex Sans" pitchFamily="34" charset="-122"/>
                <a:cs typeface="IBM Plex Sans" pitchFamily="34" charset="-120"/>
              </a:rPr>
              <a:t> La cláusula queda amputada: el modelo lee media condición.</a:t>
            </a:r>
            <a:endParaRPr lang="en-US" sz="1400" dirty="0"/>
          </a:p>
        </p:txBody>
      </p:sp>
      <p:sp>
        <p:nvSpPr>
          <p:cNvPr id="15" name="Shape 13"/>
          <p:cNvSpPr/>
          <p:nvPr/>
        </p:nvSpPr>
        <p:spPr>
          <a:xfrm>
            <a:off x="4406900" y="1536105"/>
            <a:ext cx="3378200" cy="3914378"/>
          </a:xfrm>
          <a:prstGeom prst="roundRect">
            <a:avLst>
              <a:gd name="adj" fmla="val 2632"/>
            </a:avLst>
          </a:prstGeom>
          <a:solidFill>
            <a:srgbClr val="FFF0EB"/>
          </a:solidFill>
          <a:ln w="25400">
            <a:solidFill>
              <a:srgbClr val="FF5733"/>
            </a:solidFill>
            <a:prstDash val="solid"/>
          </a:ln>
        </p:spPr>
      </p:sp>
      <p:sp>
        <p:nvSpPr>
          <p:cNvPr id="16" name="Text 14"/>
          <p:cNvSpPr/>
          <p:nvPr/>
        </p:nvSpPr>
        <p:spPr>
          <a:xfrm>
            <a:off x="4597400" y="1726605"/>
            <a:ext cx="308711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E293B"/>
                </a:solidFill>
                <a:latin typeface="IBM Plex Sans" pitchFamily="34" charset="0"/>
                <a:ea typeface="IBM Plex Sans" pitchFamily="34" charset="-122"/>
                <a:cs typeface="IBM Plex Sans" pitchFamily="34" charset="-120"/>
              </a:rPr>
              <a:t>Equilibrado (350–600)</a:t>
            </a:r>
            <a:endParaRPr lang="en-US" sz="1600" dirty="0"/>
          </a:p>
        </p:txBody>
      </p:sp>
      <p:sp>
        <p:nvSpPr>
          <p:cNvPr id="17" name="Shape 15"/>
          <p:cNvSpPr/>
          <p:nvPr/>
        </p:nvSpPr>
        <p:spPr>
          <a:xfrm>
            <a:off x="4603750" y="2113955"/>
            <a:ext cx="2984500" cy="596900"/>
          </a:xfrm>
          <a:prstGeom prst="roundRect">
            <a:avLst>
              <a:gd name="adj" fmla="val 3191"/>
            </a:avLst>
          </a:prstGeom>
          <a:solidFill>
            <a:srgbClr val="E9F0F7"/>
          </a:solidFill>
          <a:ln w="12700">
            <a:solidFill>
              <a:srgbClr val="526277"/>
            </a:solidFill>
            <a:prstDash val="solid"/>
          </a:ln>
        </p:spPr>
      </p:sp>
      <p:sp>
        <p:nvSpPr>
          <p:cNvPr id="18" name="Shape 16"/>
          <p:cNvSpPr/>
          <p:nvPr/>
        </p:nvSpPr>
        <p:spPr>
          <a:xfrm>
            <a:off x="4603750" y="2774355"/>
            <a:ext cx="2984500" cy="596900"/>
          </a:xfrm>
          <a:prstGeom prst="roundRect">
            <a:avLst>
              <a:gd name="adj" fmla="val 3191"/>
            </a:avLst>
          </a:prstGeom>
          <a:solidFill>
            <a:srgbClr val="E9F0F7"/>
          </a:solidFill>
          <a:ln w="12700">
            <a:solidFill>
              <a:srgbClr val="526277"/>
            </a:solidFill>
            <a:prstDash val="solid"/>
          </a:ln>
        </p:spPr>
      </p:sp>
      <p:sp>
        <p:nvSpPr>
          <p:cNvPr id="19" name="Shape 17"/>
          <p:cNvSpPr/>
          <p:nvPr/>
        </p:nvSpPr>
        <p:spPr>
          <a:xfrm>
            <a:off x="4603750" y="3434755"/>
            <a:ext cx="2984500" cy="596900"/>
          </a:xfrm>
          <a:prstGeom prst="roundRect">
            <a:avLst>
              <a:gd name="adj" fmla="val 3191"/>
            </a:avLst>
          </a:prstGeom>
          <a:solidFill>
            <a:srgbClr val="E9F0F7"/>
          </a:solidFill>
          <a:ln w="12700">
            <a:solidFill>
              <a:srgbClr val="526277"/>
            </a:solidFill>
            <a:prstDash val="solid"/>
          </a:ln>
        </p:spPr>
      </p:sp>
      <p:sp>
        <p:nvSpPr>
          <p:cNvPr id="20" name="Text 18"/>
          <p:cNvSpPr/>
          <p:nvPr/>
        </p:nvSpPr>
        <p:spPr>
          <a:xfrm>
            <a:off x="4597400" y="4215805"/>
            <a:ext cx="3087116" cy="483989"/>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Ventaja:</a:t>
            </a:r>
            <a:r>
              <a:rPr lang="en-US" sz="1400" dirty="0">
                <a:solidFill>
                  <a:srgbClr val="1E293B"/>
                </a:solidFill>
                <a:latin typeface="IBM Plex Sans" pitchFamily="34" charset="0"/>
                <a:ea typeface="IBM Plex Sans" pitchFamily="34" charset="-122"/>
                <a:cs typeface="IBM Plex Sans" pitchFamily="34" charset="-120"/>
              </a:rPr>
              <a:t> El rango que fija el curso según el track.</a:t>
            </a:r>
            <a:endParaRPr lang="en-US" sz="1400" dirty="0"/>
          </a:p>
        </p:txBody>
      </p:sp>
      <p:sp>
        <p:nvSpPr>
          <p:cNvPr id="21" name="Text 19"/>
          <p:cNvSpPr/>
          <p:nvPr/>
        </p:nvSpPr>
        <p:spPr>
          <a:xfrm>
            <a:off x="4597400" y="4801394"/>
            <a:ext cx="3087116" cy="483989"/>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Problema:</a:t>
            </a:r>
            <a:r>
              <a:rPr lang="en-US" sz="1400" dirty="0">
                <a:solidFill>
                  <a:srgbClr val="1E293B"/>
                </a:solidFill>
                <a:latin typeface="IBM Plex Sans" pitchFamily="34" charset="0"/>
                <a:ea typeface="IBM Plex Sans" pitchFamily="34" charset="-122"/>
                <a:cs typeface="IBM Plex Sans" pitchFamily="34" charset="-120"/>
              </a:rPr>
              <a:t> Hay que poder defender el valor elegido.</a:t>
            </a:r>
            <a:endParaRPr lang="en-US" sz="1400" dirty="0"/>
          </a:p>
        </p:txBody>
      </p:sp>
      <p:sp>
        <p:nvSpPr>
          <p:cNvPr id="22" name="Shape 20"/>
          <p:cNvSpPr/>
          <p:nvPr/>
        </p:nvSpPr>
        <p:spPr>
          <a:xfrm>
            <a:off x="8007350" y="1529755"/>
            <a:ext cx="3365500" cy="3927078"/>
          </a:xfrm>
          <a:prstGeom prst="roundRect">
            <a:avLst>
              <a:gd name="adj" fmla="val 2830"/>
            </a:avLst>
          </a:prstGeom>
          <a:solidFill>
            <a:srgbClr val="FFFFFF"/>
          </a:solidFill>
          <a:ln w="12700">
            <a:solidFill>
              <a:srgbClr val="1E293B"/>
            </a:solidFill>
            <a:prstDash val="solid"/>
          </a:ln>
        </p:spPr>
      </p:sp>
      <p:sp>
        <p:nvSpPr>
          <p:cNvPr id="23" name="Text 21"/>
          <p:cNvSpPr/>
          <p:nvPr/>
        </p:nvSpPr>
        <p:spPr>
          <a:xfrm>
            <a:off x="8191500" y="1713905"/>
            <a:ext cx="308711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E293B"/>
                </a:solidFill>
                <a:latin typeface="IBM Plex Sans" pitchFamily="34" charset="0"/>
                <a:ea typeface="IBM Plex Sans" pitchFamily="34" charset="-122"/>
                <a:cs typeface="IBM Plex Sans" pitchFamily="34" charset="-120"/>
              </a:rPr>
              <a:t>Muy grande (~1500)</a:t>
            </a:r>
            <a:endParaRPr lang="en-US" sz="1600" dirty="0"/>
          </a:p>
        </p:txBody>
      </p:sp>
      <p:sp>
        <p:nvSpPr>
          <p:cNvPr id="24" name="Shape 22"/>
          <p:cNvSpPr/>
          <p:nvPr/>
        </p:nvSpPr>
        <p:spPr>
          <a:xfrm>
            <a:off x="8197850" y="2101255"/>
            <a:ext cx="2984500" cy="1968500"/>
          </a:xfrm>
          <a:prstGeom prst="roundRect">
            <a:avLst>
              <a:gd name="adj" fmla="val 968"/>
            </a:avLst>
          </a:prstGeom>
          <a:solidFill>
            <a:srgbClr val="E9F0F7"/>
          </a:solidFill>
          <a:ln w="12700">
            <a:solidFill>
              <a:srgbClr val="526277"/>
            </a:solidFill>
            <a:prstDash val="solid"/>
          </a:ln>
        </p:spPr>
      </p:sp>
      <p:sp>
        <p:nvSpPr>
          <p:cNvPr id="25" name="Text 23"/>
          <p:cNvSpPr/>
          <p:nvPr/>
        </p:nvSpPr>
        <p:spPr>
          <a:xfrm>
            <a:off x="8191500" y="4203105"/>
            <a:ext cx="3087116"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Ventaja:</a:t>
            </a:r>
            <a:r>
              <a:rPr lang="en-US" sz="1400" dirty="0">
                <a:solidFill>
                  <a:srgbClr val="1E293B"/>
                </a:solidFill>
                <a:latin typeface="IBM Plex Sans" pitchFamily="34" charset="0"/>
                <a:ea typeface="IBM Plex Sans" pitchFamily="34" charset="-122"/>
                <a:cs typeface="IBM Plex Sans" pitchFamily="34" charset="-120"/>
              </a:rPr>
              <a:t> Nunca parte una idea.</a:t>
            </a:r>
            <a:endParaRPr lang="en-US" sz="1400" dirty="0"/>
          </a:p>
        </p:txBody>
      </p:sp>
      <p:sp>
        <p:nvSpPr>
          <p:cNvPr id="26" name="Text 24"/>
          <p:cNvSpPr/>
          <p:nvPr/>
        </p:nvSpPr>
        <p:spPr>
          <a:xfrm>
            <a:off x="8191500" y="4559399"/>
            <a:ext cx="3087116" cy="713284"/>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Problema:</a:t>
            </a:r>
            <a:r>
              <a:rPr lang="en-US" sz="1400" dirty="0">
                <a:solidFill>
                  <a:srgbClr val="1E293B"/>
                </a:solidFill>
                <a:latin typeface="IBM Plex Sans" pitchFamily="34" charset="0"/>
                <a:ea typeface="IBM Plex Sans" pitchFamily="34" charset="-122"/>
                <a:cs typeface="IBM Plex Sans" pitchFamily="34" charset="-120"/>
              </a:rPr>
              <a:t> Cada resultado arrastra ruido y se paga en tokens en cada llamada.</a:t>
            </a:r>
            <a:endParaRPr lang="en-US" sz="1400" dirty="0"/>
          </a:p>
        </p:txBody>
      </p:sp>
      <p:sp>
        <p:nvSpPr>
          <p:cNvPr id="27" name="Text 25"/>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12</a:t>
            </a:r>
            <a:endParaRPr lang="en-US" sz="1200" dirty="0"/>
          </a:p>
        </p:txBody>
      </p:sp>
      <p:pic>
        <p:nvPicPr>
          <p:cNvPr id="28"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5463"/>
          </a:xfrm>
          <a:prstGeom prst="rect">
            <a:avLst/>
          </a:prstGeom>
          <a:noFill/>
          <a:ln/>
        </p:spPr>
        <p:txBody>
          <a:bodyPr wrap="square" lIns="0" tIns="0" rIns="0" bIns="0" rtlCol="0" anchor="t">
            <a:normAutofit/>
          </a:bodyPr>
          <a:lstStyle/>
          <a:p>
            <a:pPr algn="l" indent="0" marL="0">
              <a:lnSpc>
                <a:spcPts val="3971"/>
              </a:lnSpc>
              <a:buNone/>
            </a:pPr>
            <a:r>
              <a:rPr lang="en-US" sz="3578" b="1" spc="-35" kern="0" dirty="0">
                <a:solidFill>
                  <a:srgbClr val="1E293B"/>
                </a:solidFill>
                <a:latin typeface="IBM Plex Sans" pitchFamily="34" charset="0"/>
                <a:ea typeface="IBM Plex Sans" pitchFamily="34" charset="-122"/>
                <a:cs typeface="IBM Plex Sans" pitchFamily="34" charset="-120"/>
              </a:rPr>
              <a:t>Cada track tiene su chunk fijo</a:t>
            </a:r>
            <a:endParaRPr lang="en-US" sz="3578"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8763"/>
          <a:ext cx="10553700" cy="3557290"/>
        </p:xfrm>
        <a:graphic>
          <a:graphicData uri="http://schemas.openxmlformats.org/drawingml/2006/table">
            <a:tbl>
              <a:tblPr/>
              <a:tblGrid>
                <a:gridCol w="2321814"/>
                <a:gridCol w="1583055"/>
                <a:gridCol w="1371981"/>
                <a:gridCol w="5276850"/>
              </a:tblGrid>
              <a:tr h="599083">
                <a:tc>
                  <a:txBody>
                    <a:bodyPr/>
                    <a:lstStyle/>
                    <a:p>
                      <a:pPr indent="0" marL="0">
                        <a:lnSpc>
                          <a:spcPts val="2212"/>
                        </a:lnSpc>
                        <a:buNone/>
                      </a:pPr>
                      <a:r>
                        <a:rPr lang="en-US" sz="1580" b="1" dirty="0">
                          <a:solidFill>
                            <a:srgbClr val="1E293B"/>
                          </a:solidFill>
                          <a:latin typeface="IBM Plex Sans" pitchFamily="34" charset="0"/>
                          <a:ea typeface="IBM Plex Sans" pitchFamily="34" charset="-122"/>
                          <a:cs typeface="IBM Plex Sans" pitchFamily="34" charset="-120"/>
                        </a:rPr>
                        <a:t>Track</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2212"/>
                        </a:lnSpc>
                        <a:buNone/>
                      </a:pPr>
                      <a:r>
                        <a:rPr lang="en-US" sz="1580" b="1" dirty="0">
                          <a:solidFill>
                            <a:srgbClr val="1E293B"/>
                          </a:solidFill>
                          <a:latin typeface="IBM Plex Sans" pitchFamily="34" charset="0"/>
                          <a:ea typeface="IBM Plex Sans" pitchFamily="34" charset="-122"/>
                          <a:cs typeface="IBM Plex Sans" pitchFamily="34" charset="-120"/>
                        </a:rPr>
                        <a:t>chunk_size</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2212"/>
                        </a:lnSpc>
                        <a:buNone/>
                      </a:pPr>
                      <a:r>
                        <a:rPr lang="en-US" sz="1580" b="1" dirty="0">
                          <a:solidFill>
                            <a:srgbClr val="1E293B"/>
                          </a:solidFill>
                          <a:latin typeface="IBM Plex Sans" pitchFamily="34" charset="0"/>
                          <a:ea typeface="IBM Plex Sans" pitchFamily="34" charset="-122"/>
                          <a:cs typeface="IBM Plex Sans" pitchFamily="34" charset="-120"/>
                        </a:rPr>
                        <a:t>overlap</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2212"/>
                        </a:lnSpc>
                        <a:buNone/>
                      </a:pPr>
                      <a:r>
                        <a:rPr lang="en-US" sz="1580" b="1" dirty="0">
                          <a:solidFill>
                            <a:srgbClr val="1E293B"/>
                          </a:solidFill>
                          <a:latin typeface="IBM Plex Sans" pitchFamily="34" charset="0"/>
                          <a:ea typeface="IBM Plex Sans" pitchFamily="34" charset="-122"/>
                          <a:cs typeface="IBM Plex Sans" pitchFamily="34" charset="-120"/>
                        </a:rPr>
                        <a:t>Por qué ese valor</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599083">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Telecomunicaciones</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400</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60</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Tarifario: entradas cortas, tabulares, autocontenidas</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99182">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Banca</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400</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60</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Comisiones y límites: párrafos breves e independientes</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879971">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Retail</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350</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50</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Fichas de producto y política de devoluciones: muy breves</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879971">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Seguros</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3C4C6"/>
                      </a:solidFill>
                      <a:prstDash val="solid"/>
                      <a:round/>
                      <a:headEnd type="none" w="med" len="med"/>
                      <a:tailEnd type="none" w="med" len="med"/>
                    </a:lnL>
                    <a:lnR w="12700" cap="flat" cmpd="sng" algn="ctr">
                      <a:solidFill>
                        <a:srgbClr val="CB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B"/>
                      </a:solidFill>
                      <a:prstDash val="solid"/>
                      <a:round/>
                      <a:headEnd type="none" w="med" len="med"/>
                      <a:tailEnd type="none" w="med" len="med"/>
                    </a:lnB>
                    <a:solidFill>
                      <a:srgbClr val="FFF0EB"/>
                    </a:solidFill>
                  </a:tcPr>
                </a:tc>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600</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BC0BB"/>
                      </a:solidFill>
                      <a:prstDash val="solid"/>
                      <a:round/>
                      <a:headEnd type="none" w="med" len="med"/>
                      <a:tailEnd type="none" w="med" len="med"/>
                    </a:lnL>
                    <a:lnR w="12700" cap="flat" cmpd="sng" algn="ctr">
                      <a:solidFill>
                        <a:srgbClr val="CB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B"/>
                      </a:solidFill>
                      <a:prstDash val="solid"/>
                      <a:round/>
                      <a:headEnd type="none" w="med" len="med"/>
                      <a:tailEnd type="none" w="med" len="med"/>
                    </a:lnB>
                    <a:solidFill>
                      <a:srgbClr val="FFF0EB"/>
                    </a:solidFill>
                  </a:tcPr>
                </a:tc>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100</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BC0BB"/>
                      </a:solidFill>
                      <a:prstDash val="solid"/>
                      <a:round/>
                      <a:headEnd type="none" w="med" len="med"/>
                      <a:tailEnd type="none" w="med" len="med"/>
                    </a:lnL>
                    <a:lnR w="12700" cap="flat" cmpd="sng" algn="ctr">
                      <a:solidFill>
                        <a:srgbClr val="CB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B"/>
                      </a:solidFill>
                      <a:prstDash val="solid"/>
                      <a:round/>
                      <a:headEnd type="none" w="med" len="med"/>
                      <a:tailEnd type="none" w="med" len="med"/>
                    </a:lnB>
                    <a:solidFill>
                      <a:srgbClr val="FFF0EB"/>
                    </a:solidFill>
                  </a:tcPr>
                </a:tc>
                <a:tc>
                  <a:txBody>
                    <a:bodyPr/>
                    <a:lstStyle/>
                    <a:p>
                      <a:pPr indent="0" marL="0">
                        <a:lnSpc>
                          <a:spcPts val="2212"/>
                        </a:lnSpc>
                        <a:buNone/>
                      </a:pPr>
                      <a:r>
                        <a:rPr lang="en-US" sz="1580" dirty="0">
                          <a:solidFill>
                            <a:srgbClr val="1E293B"/>
                          </a:solidFill>
                          <a:latin typeface="IBM Plex Sans" pitchFamily="34" charset="0"/>
                          <a:ea typeface="IBM Plex Sans" pitchFamily="34" charset="-122"/>
                          <a:cs typeface="IBM Plex Sans" pitchFamily="34" charset="-120"/>
                        </a:rPr>
                        <a:t>Condicionado legal: una cláusula partida por la mitad pierde su sentido</a:t>
                      </a:r>
                      <a:endParaRPr lang="en-US" sz="1580" dirty="0">
                        <a:latin typeface="IBM Plex Sans" charset="0"/>
                        <a:ea typeface="IBM Plex Sans" charset="0"/>
                        <a:cs typeface="IBM Plex Sans" charset="0"/>
                      </a:endParaRPr>
                    </a:p>
                  </a:txBody>
                  <a:tcPr marL="152400" marR="152400" marT="127000" marB="127000" anchor="t">
                    <a:lnL w="12700" cap="flat" cmpd="sng" algn="ctr">
                      <a:solidFill>
                        <a:srgbClr val="CBC0BB"/>
                      </a:solidFill>
                      <a:prstDash val="solid"/>
                      <a:round/>
                      <a:headEnd type="none" w="med" len="med"/>
                      <a:tailEnd type="none" w="med" len="med"/>
                    </a:lnL>
                    <a:lnR w="12700" cap="flat" cmpd="sng" algn="ctr">
                      <a:solidFill>
                        <a:srgbClr val="CB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B"/>
                      </a:solidFill>
                      <a:prstDash val="solid"/>
                      <a:round/>
                      <a:headEnd type="none" w="med" len="med"/>
                      <a:tailEnd type="none" w="med" len="med"/>
                    </a:lnB>
                    <a:solidFill>
                      <a:srgbClr val="FFF0EB"/>
                    </a:solidFill>
                  </a:tcPr>
                </a:tc>
              </a:tr>
            </a:tbl>
          </a:graphicData>
        </a:graphic>
      </p:graphicFrame>
      <p:sp>
        <p:nvSpPr>
          <p:cNvPr id="4" name="Text 1"/>
          <p:cNvSpPr/>
          <p:nvPr/>
        </p:nvSpPr>
        <p:spPr>
          <a:xfrm>
            <a:off x="812800" y="5289252"/>
            <a:ext cx="10883392" cy="578148"/>
          </a:xfrm>
          <a:prstGeom prst="rect">
            <a:avLst/>
          </a:prstGeom>
          <a:noFill/>
          <a:ln/>
        </p:spPr>
        <p:txBody>
          <a:bodyPr wrap="square" lIns="0" tIns="0" rIns="0" bIns="0" rtlCol="0" anchor="t">
            <a:normAutofit/>
          </a:bodyPr>
          <a:lstStyle/>
          <a:p>
            <a:pPr algn="l" indent="0" marL="0">
              <a:lnSpc>
                <a:spcPts val="2180"/>
              </a:lnSpc>
              <a:buNone/>
            </a:pPr>
            <a:r>
              <a:rPr lang="en-US" sz="1580" dirty="0">
                <a:solidFill>
                  <a:srgbClr val="1E293B"/>
                </a:solidFill>
                <a:latin typeface="IBM Plex Sans" pitchFamily="34" charset="0"/>
                <a:ea typeface="IBM Plex Sans" pitchFamily="34" charset="-122"/>
                <a:cs typeface="IBM Plex Sans" pitchFamily="34" charset="-120"/>
              </a:rPr>
              <a:t>Hoy no se experimenta: re-indexar consume cuota de embeddings. Optimizar el chunking es opción del Proyecto M2 (S7), con tiempo de clínica.</a:t>
            </a:r>
            <a:endParaRPr lang="en-US" sz="1580" dirty="0"/>
          </a:p>
        </p:txBody>
      </p:sp>
      <p:sp>
        <p:nvSpPr>
          <p:cNvPr id="5" name="Text 2"/>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13</a:t>
            </a:r>
            <a:endParaRPr lang="en-US" sz="1200" dirty="0"/>
          </a:p>
        </p:txBody>
      </p:sp>
      <p:pic>
        <p:nvPicPr>
          <p:cNvPr id="6"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Qdrant: colección, punto y payload</a:t>
            </a:r>
            <a:endParaRPr lang="en-US" sz="3600" dirty="0"/>
          </a:p>
        </p:txBody>
      </p:sp>
      <p:sp>
        <p:nvSpPr>
          <p:cNvPr id="3" name="Shape 1"/>
          <p:cNvSpPr/>
          <p:nvPr/>
        </p:nvSpPr>
        <p:spPr>
          <a:xfrm>
            <a:off x="3232150" y="1529755"/>
            <a:ext cx="5600700" cy="3543300"/>
          </a:xfrm>
          <a:prstGeom prst="roundRect">
            <a:avLst>
              <a:gd name="adj" fmla="val 4122"/>
            </a:avLst>
          </a:prstGeom>
          <a:solidFill>
            <a:srgbClr val="E9F0F7"/>
          </a:solidFill>
          <a:ln w="12700">
            <a:solidFill>
              <a:srgbClr val="526277"/>
            </a:solidFill>
            <a:prstDash val="solid"/>
          </a:ln>
        </p:spPr>
      </p:sp>
      <p:sp>
        <p:nvSpPr>
          <p:cNvPr id="4" name="Text 2"/>
          <p:cNvSpPr/>
          <p:nvPr/>
        </p:nvSpPr>
        <p:spPr>
          <a:xfrm>
            <a:off x="3378200" y="1625005"/>
            <a:ext cx="457835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Colección · kb-&lt;track&gt;</a:t>
            </a:r>
            <a:endParaRPr lang="en-US" sz="1400" dirty="0"/>
          </a:p>
        </p:txBody>
      </p:sp>
      <p:sp>
        <p:nvSpPr>
          <p:cNvPr id="5" name="Shape 3"/>
          <p:cNvSpPr/>
          <p:nvPr/>
        </p:nvSpPr>
        <p:spPr>
          <a:xfrm>
            <a:off x="819150" y="2768005"/>
            <a:ext cx="1638300" cy="1193800"/>
          </a:xfrm>
          <a:prstGeom prst="roundRect">
            <a:avLst>
              <a:gd name="adj" fmla="val 7979"/>
            </a:avLst>
          </a:prstGeom>
          <a:solidFill>
            <a:srgbClr val="FFFFFF"/>
          </a:solidFill>
          <a:ln w="12700">
            <a:solidFill>
              <a:srgbClr val="1E293B"/>
            </a:solidFill>
            <a:prstDash val="solid"/>
          </a:ln>
        </p:spPr>
      </p:sp>
      <p:pic>
        <p:nvPicPr>
          <p:cNvPr id="6" name="Image 0" descr="Chat">    </p:cNvPr>
          <p:cNvPicPr>
            <a:picLocks noChangeAspect="1"/>
          </p:cNvPicPr>
          <p:nvPr/>
        </p:nvPicPr>
        <p:blipFill>
          <a:blip r:embed="rId1"/>
          <a:srcRect l="0" r="0" t="0" b="0"/>
          <a:stretch/>
        </p:blipFill>
        <p:spPr>
          <a:xfrm>
            <a:off x="1498600" y="2876352"/>
            <a:ext cx="279400" cy="279400"/>
          </a:xfrm>
          <a:prstGeom prst="rect">
            <a:avLst/>
          </a:prstGeom>
        </p:spPr>
      </p:pic>
      <p:sp>
        <p:nvSpPr>
          <p:cNvPr id="7" name="Text 4"/>
          <p:cNvSpPr/>
          <p:nvPr/>
        </p:nvSpPr>
        <p:spPr>
          <a:xfrm>
            <a:off x="1253331" y="3206552"/>
            <a:ext cx="76983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Consulta</a:t>
            </a:r>
            <a:endParaRPr lang="en-US" sz="1400" dirty="0"/>
          </a:p>
        </p:txBody>
      </p:sp>
      <p:sp>
        <p:nvSpPr>
          <p:cNvPr id="8" name="Text 5"/>
          <p:cNvSpPr/>
          <p:nvPr/>
        </p:nvSpPr>
        <p:spPr>
          <a:xfrm>
            <a:off x="901700" y="3472458"/>
            <a:ext cx="1473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vector de la pregunta</a:t>
            </a:r>
            <a:endParaRPr lang="en-US" sz="1200" dirty="0"/>
          </a:p>
        </p:txBody>
      </p:sp>
      <p:sp>
        <p:nvSpPr>
          <p:cNvPr id="9" name="Shape 6"/>
          <p:cNvSpPr/>
          <p:nvPr/>
        </p:nvSpPr>
        <p:spPr>
          <a:xfrm>
            <a:off x="3492500" y="1980605"/>
            <a:ext cx="1879600" cy="1054100"/>
          </a:xfrm>
          <a:prstGeom prst="roundRect">
            <a:avLst>
              <a:gd name="adj" fmla="val 8434"/>
            </a:avLst>
          </a:prstGeom>
          <a:solidFill>
            <a:srgbClr val="FFF0EB"/>
          </a:solidFill>
          <a:ln w="25400">
            <a:solidFill>
              <a:srgbClr val="FF5733"/>
            </a:solidFill>
            <a:prstDash val="solid"/>
          </a:ln>
        </p:spPr>
      </p:sp>
      <p:sp>
        <p:nvSpPr>
          <p:cNvPr id="10" name="Text 7"/>
          <p:cNvSpPr/>
          <p:nvPr/>
        </p:nvSpPr>
        <p:spPr>
          <a:xfrm>
            <a:off x="4143276" y="2279452"/>
            <a:ext cx="57804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Vector</a:t>
            </a:r>
            <a:endParaRPr lang="en-US" sz="1400" dirty="0"/>
          </a:p>
        </p:txBody>
      </p:sp>
      <p:sp>
        <p:nvSpPr>
          <p:cNvPr id="11" name="Text 8"/>
          <p:cNvSpPr/>
          <p:nvPr/>
        </p:nvSpPr>
        <p:spPr>
          <a:xfrm>
            <a:off x="3670498" y="2545358"/>
            <a:ext cx="152360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embedding del chunk</a:t>
            </a:r>
            <a:endParaRPr lang="en-US" sz="1200" dirty="0"/>
          </a:p>
        </p:txBody>
      </p:sp>
      <p:sp>
        <p:nvSpPr>
          <p:cNvPr id="12" name="Shape 9"/>
          <p:cNvSpPr/>
          <p:nvPr/>
        </p:nvSpPr>
        <p:spPr>
          <a:xfrm>
            <a:off x="5651500" y="1980605"/>
            <a:ext cx="2921000" cy="1054100"/>
          </a:xfrm>
          <a:prstGeom prst="roundRect">
            <a:avLst>
              <a:gd name="adj" fmla="val 8434"/>
            </a:avLst>
          </a:prstGeom>
          <a:solidFill>
            <a:srgbClr val="FFF0EB"/>
          </a:solidFill>
          <a:ln w="25400">
            <a:solidFill>
              <a:srgbClr val="FF5733"/>
            </a:solidFill>
            <a:prstDash val="solid"/>
          </a:ln>
        </p:spPr>
      </p:sp>
      <p:sp>
        <p:nvSpPr>
          <p:cNvPr id="13" name="Text 10"/>
          <p:cNvSpPr/>
          <p:nvPr/>
        </p:nvSpPr>
        <p:spPr>
          <a:xfrm>
            <a:off x="6761262" y="2279452"/>
            <a:ext cx="70147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Payload</a:t>
            </a:r>
            <a:endParaRPr lang="en-US" sz="1400" dirty="0"/>
          </a:p>
        </p:txBody>
      </p:sp>
      <p:sp>
        <p:nvSpPr>
          <p:cNvPr id="14" name="Text 11"/>
          <p:cNvSpPr/>
          <p:nvPr/>
        </p:nvSpPr>
        <p:spPr>
          <a:xfrm>
            <a:off x="6093421" y="2545358"/>
            <a:ext cx="203705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page_content · source · track</a:t>
            </a:r>
            <a:endParaRPr lang="en-US" sz="1200" dirty="0"/>
          </a:p>
        </p:txBody>
      </p:sp>
      <p:sp>
        <p:nvSpPr>
          <p:cNvPr id="15" name="Shape 12"/>
          <p:cNvSpPr/>
          <p:nvPr/>
        </p:nvSpPr>
        <p:spPr>
          <a:xfrm>
            <a:off x="3486150" y="3371255"/>
            <a:ext cx="1892300" cy="1066800"/>
          </a:xfrm>
          <a:prstGeom prst="roundRect">
            <a:avLst>
              <a:gd name="adj" fmla="val 8929"/>
            </a:avLst>
          </a:prstGeom>
          <a:solidFill>
            <a:srgbClr val="FFFFFF"/>
          </a:solidFill>
          <a:ln w="12700">
            <a:solidFill>
              <a:srgbClr val="1E293B"/>
            </a:solidFill>
            <a:prstDash val="solid"/>
          </a:ln>
        </p:spPr>
      </p:sp>
      <p:sp>
        <p:nvSpPr>
          <p:cNvPr id="16" name="Text 13"/>
          <p:cNvSpPr/>
          <p:nvPr/>
        </p:nvSpPr>
        <p:spPr>
          <a:xfrm>
            <a:off x="4143276" y="3676452"/>
            <a:ext cx="57804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Vector</a:t>
            </a:r>
            <a:endParaRPr lang="en-US" sz="1400" dirty="0"/>
          </a:p>
        </p:txBody>
      </p:sp>
      <p:sp>
        <p:nvSpPr>
          <p:cNvPr id="17" name="Text 14"/>
          <p:cNvSpPr/>
          <p:nvPr/>
        </p:nvSpPr>
        <p:spPr>
          <a:xfrm>
            <a:off x="3670498" y="3942358"/>
            <a:ext cx="152360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embedding del chunk</a:t>
            </a:r>
            <a:endParaRPr lang="en-US" sz="1200" dirty="0"/>
          </a:p>
        </p:txBody>
      </p:sp>
      <p:sp>
        <p:nvSpPr>
          <p:cNvPr id="18" name="Shape 15"/>
          <p:cNvSpPr/>
          <p:nvPr/>
        </p:nvSpPr>
        <p:spPr>
          <a:xfrm>
            <a:off x="5645150" y="3371255"/>
            <a:ext cx="2933700" cy="1066800"/>
          </a:xfrm>
          <a:prstGeom prst="roundRect">
            <a:avLst>
              <a:gd name="adj" fmla="val 8929"/>
            </a:avLst>
          </a:prstGeom>
          <a:solidFill>
            <a:srgbClr val="FFFFFF"/>
          </a:solidFill>
          <a:ln w="12700">
            <a:solidFill>
              <a:srgbClr val="1E293B"/>
            </a:solidFill>
            <a:prstDash val="solid"/>
          </a:ln>
        </p:spPr>
      </p:sp>
      <p:sp>
        <p:nvSpPr>
          <p:cNvPr id="19" name="Text 16"/>
          <p:cNvSpPr/>
          <p:nvPr/>
        </p:nvSpPr>
        <p:spPr>
          <a:xfrm>
            <a:off x="6761262" y="3676452"/>
            <a:ext cx="70147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Payload</a:t>
            </a:r>
            <a:endParaRPr lang="en-US" sz="1400" dirty="0"/>
          </a:p>
        </p:txBody>
      </p:sp>
      <p:sp>
        <p:nvSpPr>
          <p:cNvPr id="20" name="Text 17"/>
          <p:cNvSpPr/>
          <p:nvPr/>
        </p:nvSpPr>
        <p:spPr>
          <a:xfrm>
            <a:off x="6093421" y="3942358"/>
            <a:ext cx="203705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page_content · source · track</a:t>
            </a:r>
            <a:endParaRPr lang="en-US" sz="1200" dirty="0"/>
          </a:p>
        </p:txBody>
      </p:sp>
      <p:sp>
        <p:nvSpPr>
          <p:cNvPr id="21" name="Text 18"/>
          <p:cNvSpPr/>
          <p:nvPr/>
        </p:nvSpPr>
        <p:spPr>
          <a:xfrm>
            <a:off x="3479800" y="4634905"/>
            <a:ext cx="52324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punto = vector + payload</a:t>
            </a:r>
            <a:endParaRPr lang="en-US" sz="1400" dirty="0"/>
          </a:p>
        </p:txBody>
      </p:sp>
      <p:sp>
        <p:nvSpPr>
          <p:cNvPr id="22" name="Shape 19"/>
          <p:cNvSpPr/>
          <p:nvPr/>
        </p:nvSpPr>
        <p:spPr>
          <a:xfrm>
            <a:off x="9607550" y="2768005"/>
            <a:ext cx="1765300" cy="1193800"/>
          </a:xfrm>
          <a:prstGeom prst="roundRect">
            <a:avLst>
              <a:gd name="adj" fmla="val 7979"/>
            </a:avLst>
          </a:prstGeom>
          <a:solidFill>
            <a:srgbClr val="FFFFFF"/>
          </a:solidFill>
          <a:ln w="12700">
            <a:solidFill>
              <a:srgbClr val="1E293B"/>
            </a:solidFill>
            <a:prstDash val="solid"/>
          </a:ln>
        </p:spPr>
      </p:sp>
      <p:pic>
        <p:nvPicPr>
          <p:cNvPr id="23" name="Image 1" descr="Chat">    </p:cNvPr>
          <p:cNvPicPr>
            <a:picLocks noChangeAspect="1"/>
          </p:cNvPicPr>
          <p:nvPr/>
        </p:nvPicPr>
        <p:blipFill>
          <a:blip r:embed="rId2"/>
          <a:srcRect l="0" r="0" t="0" b="0"/>
          <a:stretch/>
        </p:blipFill>
        <p:spPr>
          <a:xfrm>
            <a:off x="10350500" y="2971602"/>
            <a:ext cx="279400" cy="279400"/>
          </a:xfrm>
          <a:prstGeom prst="rect">
            <a:avLst/>
          </a:prstGeom>
        </p:spPr>
      </p:pic>
      <p:sp>
        <p:nvSpPr>
          <p:cNvPr id="24" name="Text 20"/>
          <p:cNvSpPr/>
          <p:nvPr/>
        </p:nvSpPr>
        <p:spPr>
          <a:xfrm>
            <a:off x="10036572" y="3301802"/>
            <a:ext cx="907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sp>
        <p:nvSpPr>
          <p:cNvPr id="25" name="Text 21"/>
          <p:cNvSpPr/>
          <p:nvPr/>
        </p:nvSpPr>
        <p:spPr>
          <a:xfrm>
            <a:off x="10021193" y="3567708"/>
            <a:ext cx="93801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cita la fuente</a:t>
            </a:r>
            <a:endParaRPr lang="en-US" sz="1200" dirty="0"/>
          </a:p>
        </p:txBody>
      </p:sp>
      <p:pic>
        <p:nvPicPr>
          <p:cNvPr id="26" name="Image 2" descr="connector">    </p:cNvPr>
          <p:cNvPicPr>
            <a:picLocks noChangeAspect="1"/>
          </p:cNvPicPr>
          <p:nvPr/>
        </p:nvPicPr>
        <p:blipFill>
          <a:blip r:embed="rId3"/>
          <a:srcRect l="0" r="0" t="0" b="0"/>
          <a:stretch/>
        </p:blipFill>
        <p:spPr>
          <a:xfrm>
            <a:off x="2413000" y="3314105"/>
            <a:ext cx="863600" cy="101600"/>
          </a:xfrm>
          <a:prstGeom prst="rect">
            <a:avLst/>
          </a:prstGeom>
        </p:spPr>
      </p:pic>
      <p:pic>
        <p:nvPicPr>
          <p:cNvPr id="27" name="Image 3" descr="connector">    </p:cNvPr>
          <p:cNvPicPr>
            <a:picLocks noChangeAspect="1"/>
          </p:cNvPicPr>
          <p:nvPr/>
        </p:nvPicPr>
        <p:blipFill>
          <a:blip r:embed="rId4"/>
          <a:srcRect l="0" r="0" t="0" b="0"/>
          <a:stretch/>
        </p:blipFill>
        <p:spPr>
          <a:xfrm>
            <a:off x="8534400" y="2456855"/>
            <a:ext cx="1117600" cy="958850"/>
          </a:xfrm>
          <a:prstGeom prst="rect">
            <a:avLst/>
          </a:prstGeom>
        </p:spPr>
      </p:pic>
      <p:sp>
        <p:nvSpPr>
          <p:cNvPr id="28" name="Text 22"/>
          <p:cNvSpPr/>
          <p:nvPr/>
        </p:nvSpPr>
        <p:spPr>
          <a:xfrm>
            <a:off x="2527300" y="3098205"/>
            <a:ext cx="685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busca</a:t>
            </a:r>
            <a:endParaRPr lang="en-US" sz="1400" dirty="0"/>
          </a:p>
        </p:txBody>
      </p:sp>
      <p:sp>
        <p:nvSpPr>
          <p:cNvPr id="29" name="Text 23"/>
          <p:cNvSpPr/>
          <p:nvPr/>
        </p:nvSpPr>
        <p:spPr>
          <a:xfrm>
            <a:off x="9169400" y="2221905"/>
            <a:ext cx="2158365"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source → cita</a:t>
            </a:r>
            <a:endParaRPr lang="en-US" sz="1400" dirty="0"/>
          </a:p>
        </p:txBody>
      </p:sp>
      <p:sp>
        <p:nvSpPr>
          <p:cNvPr id="30" name="Text 24"/>
          <p:cNvSpPr/>
          <p:nvPr/>
        </p:nvSpPr>
        <p:spPr>
          <a:xfrm>
            <a:off x="812800" y="528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Colección ≈ tabla; punto ≈ fila: un vector más su payload. La búsqueda compara vectores por distancia coseno.</a:t>
            </a:r>
            <a:endParaRPr lang="en-US" sz="1600" dirty="0"/>
          </a:p>
        </p:txBody>
      </p:sp>
      <p:sp>
        <p:nvSpPr>
          <p:cNvPr id="31" name="Text 25"/>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14</a:t>
            </a:r>
            <a:endParaRPr lang="en-US" sz="1200" dirty="0"/>
          </a:p>
        </p:txBody>
      </p:sp>
      <p:pic>
        <p:nvPicPr>
          <p:cNvPr id="32" name="Image 4" descr="Logo de AriwaLabs">    </p:cNvPr>
          <p:cNvPicPr>
            <a:picLocks noChangeAspect="1"/>
          </p:cNvPicPr>
          <p:nvPr/>
        </p:nvPicPr>
        <p:blipFill>
          <a:blip r:embed="rId5"/>
          <a:srcRect l="-9345" r="-9345" t="0" b="0"/>
          <a:stretch/>
        </p:blipFill>
        <p:spPr>
          <a:xfrm>
            <a:off x="10680700" y="6197600"/>
            <a:ext cx="698500" cy="25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payload es lo que permite citar</a:t>
            </a:r>
            <a:endParaRPr lang="en-US" sz="3600" dirty="0"/>
          </a:p>
        </p:txBody>
      </p:sp>
      <p:sp>
        <p:nvSpPr>
          <p:cNvPr id="3" name="Shape 1"/>
          <p:cNvSpPr/>
          <p:nvPr/>
        </p:nvSpPr>
        <p:spPr>
          <a:xfrm>
            <a:off x="3232150" y="1529755"/>
            <a:ext cx="5600700" cy="3543300"/>
          </a:xfrm>
          <a:prstGeom prst="roundRect">
            <a:avLst>
              <a:gd name="adj" fmla="val 4122"/>
            </a:avLst>
          </a:prstGeom>
          <a:solidFill>
            <a:srgbClr val="E9F0F7"/>
          </a:solidFill>
          <a:ln w="12700">
            <a:solidFill>
              <a:srgbClr val="526277"/>
            </a:solidFill>
            <a:prstDash val="solid"/>
          </a:ln>
        </p:spPr>
      </p:sp>
      <p:sp>
        <p:nvSpPr>
          <p:cNvPr id="4" name="Text 2"/>
          <p:cNvSpPr/>
          <p:nvPr/>
        </p:nvSpPr>
        <p:spPr>
          <a:xfrm>
            <a:off x="3378200" y="1625005"/>
            <a:ext cx="457835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Colección · kb-&lt;track&gt;</a:t>
            </a:r>
            <a:endParaRPr lang="en-US" sz="1400" dirty="0"/>
          </a:p>
        </p:txBody>
      </p:sp>
      <p:sp>
        <p:nvSpPr>
          <p:cNvPr id="5" name="Shape 3"/>
          <p:cNvSpPr/>
          <p:nvPr/>
        </p:nvSpPr>
        <p:spPr>
          <a:xfrm>
            <a:off x="819150" y="2768005"/>
            <a:ext cx="1638300" cy="1193800"/>
          </a:xfrm>
          <a:prstGeom prst="roundRect">
            <a:avLst>
              <a:gd name="adj" fmla="val 7979"/>
            </a:avLst>
          </a:prstGeom>
          <a:solidFill>
            <a:srgbClr val="FFFFFF"/>
          </a:solidFill>
          <a:ln w="12700">
            <a:solidFill>
              <a:srgbClr val="1E293B"/>
            </a:solidFill>
            <a:prstDash val="solid"/>
          </a:ln>
        </p:spPr>
      </p:sp>
      <p:pic>
        <p:nvPicPr>
          <p:cNvPr id="6" name="Image 0" descr="Chat">    </p:cNvPr>
          <p:cNvPicPr>
            <a:picLocks noChangeAspect="1"/>
          </p:cNvPicPr>
          <p:nvPr/>
        </p:nvPicPr>
        <p:blipFill>
          <a:blip r:embed="rId1"/>
          <a:srcRect l="0" r="0" t="0" b="0"/>
          <a:stretch/>
        </p:blipFill>
        <p:spPr>
          <a:xfrm>
            <a:off x="1498600" y="2876352"/>
            <a:ext cx="279400" cy="279400"/>
          </a:xfrm>
          <a:prstGeom prst="rect">
            <a:avLst/>
          </a:prstGeom>
        </p:spPr>
      </p:pic>
      <p:sp>
        <p:nvSpPr>
          <p:cNvPr id="7" name="Text 4"/>
          <p:cNvSpPr/>
          <p:nvPr/>
        </p:nvSpPr>
        <p:spPr>
          <a:xfrm>
            <a:off x="1253331" y="3206552"/>
            <a:ext cx="76983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Consulta</a:t>
            </a:r>
            <a:endParaRPr lang="en-US" sz="1400" dirty="0"/>
          </a:p>
        </p:txBody>
      </p:sp>
      <p:sp>
        <p:nvSpPr>
          <p:cNvPr id="8" name="Text 5"/>
          <p:cNvSpPr/>
          <p:nvPr/>
        </p:nvSpPr>
        <p:spPr>
          <a:xfrm>
            <a:off x="901700" y="3472458"/>
            <a:ext cx="1473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vector de la pregunta</a:t>
            </a:r>
            <a:endParaRPr lang="en-US" sz="1200" dirty="0"/>
          </a:p>
        </p:txBody>
      </p:sp>
      <p:sp>
        <p:nvSpPr>
          <p:cNvPr id="9" name="Shape 6"/>
          <p:cNvSpPr/>
          <p:nvPr/>
        </p:nvSpPr>
        <p:spPr>
          <a:xfrm>
            <a:off x="3486150" y="1974255"/>
            <a:ext cx="1892300" cy="1066800"/>
          </a:xfrm>
          <a:prstGeom prst="roundRect">
            <a:avLst>
              <a:gd name="adj" fmla="val 8929"/>
            </a:avLst>
          </a:prstGeom>
          <a:solidFill>
            <a:srgbClr val="FFFFFF"/>
          </a:solidFill>
          <a:ln w="12700">
            <a:solidFill>
              <a:srgbClr val="1E293B"/>
            </a:solidFill>
            <a:prstDash val="solid"/>
          </a:ln>
        </p:spPr>
      </p:sp>
      <p:sp>
        <p:nvSpPr>
          <p:cNvPr id="10" name="Text 7"/>
          <p:cNvSpPr/>
          <p:nvPr/>
        </p:nvSpPr>
        <p:spPr>
          <a:xfrm>
            <a:off x="4143276" y="2279452"/>
            <a:ext cx="57804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Vector</a:t>
            </a:r>
            <a:endParaRPr lang="en-US" sz="1400" dirty="0"/>
          </a:p>
        </p:txBody>
      </p:sp>
      <p:sp>
        <p:nvSpPr>
          <p:cNvPr id="11" name="Text 8"/>
          <p:cNvSpPr/>
          <p:nvPr/>
        </p:nvSpPr>
        <p:spPr>
          <a:xfrm>
            <a:off x="3670498" y="2545358"/>
            <a:ext cx="152360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embedding del chunk</a:t>
            </a:r>
            <a:endParaRPr lang="en-US" sz="1200" dirty="0"/>
          </a:p>
        </p:txBody>
      </p:sp>
      <p:sp>
        <p:nvSpPr>
          <p:cNvPr id="12" name="Shape 9"/>
          <p:cNvSpPr/>
          <p:nvPr/>
        </p:nvSpPr>
        <p:spPr>
          <a:xfrm>
            <a:off x="5651500" y="1980605"/>
            <a:ext cx="2921000" cy="1054100"/>
          </a:xfrm>
          <a:prstGeom prst="roundRect">
            <a:avLst>
              <a:gd name="adj" fmla="val 8434"/>
            </a:avLst>
          </a:prstGeom>
          <a:solidFill>
            <a:srgbClr val="FFF0EB"/>
          </a:solidFill>
          <a:ln w="25400">
            <a:solidFill>
              <a:srgbClr val="FF5733"/>
            </a:solidFill>
            <a:prstDash val="solid"/>
          </a:ln>
        </p:spPr>
      </p:sp>
      <p:sp>
        <p:nvSpPr>
          <p:cNvPr id="13" name="Text 10"/>
          <p:cNvSpPr/>
          <p:nvPr/>
        </p:nvSpPr>
        <p:spPr>
          <a:xfrm>
            <a:off x="6761262" y="2279452"/>
            <a:ext cx="70147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Payload</a:t>
            </a:r>
            <a:endParaRPr lang="en-US" sz="1400" dirty="0"/>
          </a:p>
        </p:txBody>
      </p:sp>
      <p:sp>
        <p:nvSpPr>
          <p:cNvPr id="14" name="Text 11"/>
          <p:cNvSpPr/>
          <p:nvPr/>
        </p:nvSpPr>
        <p:spPr>
          <a:xfrm>
            <a:off x="5840486" y="2545358"/>
            <a:ext cx="254302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source: tarifario_planes.md</a:t>
            </a:r>
            <a:endParaRPr lang="en-US" sz="1200" dirty="0"/>
          </a:p>
        </p:txBody>
      </p:sp>
      <p:sp>
        <p:nvSpPr>
          <p:cNvPr id="15" name="Shape 12"/>
          <p:cNvSpPr/>
          <p:nvPr/>
        </p:nvSpPr>
        <p:spPr>
          <a:xfrm>
            <a:off x="3486150" y="3371255"/>
            <a:ext cx="1892300" cy="1066800"/>
          </a:xfrm>
          <a:prstGeom prst="roundRect">
            <a:avLst>
              <a:gd name="adj" fmla="val 8929"/>
            </a:avLst>
          </a:prstGeom>
          <a:solidFill>
            <a:srgbClr val="FFFFFF"/>
          </a:solidFill>
          <a:ln w="12700">
            <a:solidFill>
              <a:srgbClr val="1E293B"/>
            </a:solidFill>
            <a:prstDash val="solid"/>
          </a:ln>
        </p:spPr>
      </p:sp>
      <p:sp>
        <p:nvSpPr>
          <p:cNvPr id="16" name="Text 13"/>
          <p:cNvSpPr/>
          <p:nvPr/>
        </p:nvSpPr>
        <p:spPr>
          <a:xfrm>
            <a:off x="4143276" y="3676452"/>
            <a:ext cx="57804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Vector</a:t>
            </a:r>
            <a:endParaRPr lang="en-US" sz="1400" dirty="0"/>
          </a:p>
        </p:txBody>
      </p:sp>
      <p:sp>
        <p:nvSpPr>
          <p:cNvPr id="17" name="Text 14"/>
          <p:cNvSpPr/>
          <p:nvPr/>
        </p:nvSpPr>
        <p:spPr>
          <a:xfrm>
            <a:off x="3670498" y="3942358"/>
            <a:ext cx="152360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embedding del chunk</a:t>
            </a:r>
            <a:endParaRPr lang="en-US" sz="1200" dirty="0"/>
          </a:p>
        </p:txBody>
      </p:sp>
      <p:sp>
        <p:nvSpPr>
          <p:cNvPr id="18" name="Shape 15"/>
          <p:cNvSpPr/>
          <p:nvPr/>
        </p:nvSpPr>
        <p:spPr>
          <a:xfrm>
            <a:off x="5645150" y="3371255"/>
            <a:ext cx="2933700" cy="1066800"/>
          </a:xfrm>
          <a:prstGeom prst="roundRect">
            <a:avLst>
              <a:gd name="adj" fmla="val 8929"/>
            </a:avLst>
          </a:prstGeom>
          <a:solidFill>
            <a:srgbClr val="FFFFFF"/>
          </a:solidFill>
          <a:ln w="12700">
            <a:solidFill>
              <a:srgbClr val="1E293B"/>
            </a:solidFill>
            <a:prstDash val="solid"/>
          </a:ln>
        </p:spPr>
      </p:sp>
      <p:sp>
        <p:nvSpPr>
          <p:cNvPr id="19" name="Text 16"/>
          <p:cNvSpPr/>
          <p:nvPr/>
        </p:nvSpPr>
        <p:spPr>
          <a:xfrm>
            <a:off x="6761262" y="3676452"/>
            <a:ext cx="70147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Payload</a:t>
            </a:r>
            <a:endParaRPr lang="en-US" sz="1400" dirty="0"/>
          </a:p>
        </p:txBody>
      </p:sp>
      <p:sp>
        <p:nvSpPr>
          <p:cNvPr id="20" name="Text 17"/>
          <p:cNvSpPr/>
          <p:nvPr/>
        </p:nvSpPr>
        <p:spPr>
          <a:xfrm>
            <a:off x="6093421" y="3942358"/>
            <a:ext cx="203705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page_content · source · track</a:t>
            </a:r>
            <a:endParaRPr lang="en-US" sz="1200" dirty="0"/>
          </a:p>
        </p:txBody>
      </p:sp>
      <p:sp>
        <p:nvSpPr>
          <p:cNvPr id="21" name="Text 18"/>
          <p:cNvSpPr/>
          <p:nvPr/>
        </p:nvSpPr>
        <p:spPr>
          <a:xfrm>
            <a:off x="3479800" y="4634905"/>
            <a:ext cx="52324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punto = vector + payload</a:t>
            </a:r>
            <a:endParaRPr lang="en-US" sz="1400" dirty="0"/>
          </a:p>
        </p:txBody>
      </p:sp>
      <p:sp>
        <p:nvSpPr>
          <p:cNvPr id="22" name="Shape 19"/>
          <p:cNvSpPr/>
          <p:nvPr/>
        </p:nvSpPr>
        <p:spPr>
          <a:xfrm>
            <a:off x="9613900" y="2774355"/>
            <a:ext cx="1752600" cy="1181100"/>
          </a:xfrm>
          <a:prstGeom prst="roundRect">
            <a:avLst>
              <a:gd name="adj" fmla="val 7527"/>
            </a:avLst>
          </a:prstGeom>
          <a:solidFill>
            <a:srgbClr val="FFF0EB"/>
          </a:solidFill>
          <a:ln w="25400">
            <a:solidFill>
              <a:srgbClr val="FF5733"/>
            </a:solidFill>
            <a:prstDash val="solid"/>
          </a:ln>
        </p:spPr>
      </p:sp>
      <p:pic>
        <p:nvPicPr>
          <p:cNvPr id="23" name="Image 1" descr="Chat">    </p:cNvPr>
          <p:cNvPicPr>
            <a:picLocks noChangeAspect="1"/>
          </p:cNvPicPr>
          <p:nvPr/>
        </p:nvPicPr>
        <p:blipFill>
          <a:blip r:embed="rId2"/>
          <a:srcRect l="0" r="0" t="0" b="0"/>
          <a:stretch/>
        </p:blipFill>
        <p:spPr>
          <a:xfrm>
            <a:off x="10350500" y="2971602"/>
            <a:ext cx="279400" cy="279400"/>
          </a:xfrm>
          <a:prstGeom prst="rect">
            <a:avLst/>
          </a:prstGeom>
        </p:spPr>
      </p:pic>
      <p:sp>
        <p:nvSpPr>
          <p:cNvPr id="24" name="Text 20"/>
          <p:cNvSpPr/>
          <p:nvPr/>
        </p:nvSpPr>
        <p:spPr>
          <a:xfrm>
            <a:off x="10036572" y="3301802"/>
            <a:ext cx="907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sp>
        <p:nvSpPr>
          <p:cNvPr id="25" name="Text 21"/>
          <p:cNvSpPr/>
          <p:nvPr/>
        </p:nvSpPr>
        <p:spPr>
          <a:xfrm>
            <a:off x="10021193" y="3567708"/>
            <a:ext cx="93801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cita la fuente</a:t>
            </a:r>
            <a:endParaRPr lang="en-US" sz="1200" dirty="0"/>
          </a:p>
        </p:txBody>
      </p:sp>
      <p:pic>
        <p:nvPicPr>
          <p:cNvPr id="26" name="Image 2" descr="connector">    </p:cNvPr>
          <p:cNvPicPr>
            <a:picLocks noChangeAspect="1"/>
          </p:cNvPicPr>
          <p:nvPr/>
        </p:nvPicPr>
        <p:blipFill>
          <a:blip r:embed="rId3"/>
          <a:srcRect l="0" r="0" t="0" b="0"/>
          <a:stretch/>
        </p:blipFill>
        <p:spPr>
          <a:xfrm>
            <a:off x="2413000" y="3314105"/>
            <a:ext cx="863600" cy="101600"/>
          </a:xfrm>
          <a:prstGeom prst="rect">
            <a:avLst/>
          </a:prstGeom>
        </p:spPr>
      </p:pic>
      <p:pic>
        <p:nvPicPr>
          <p:cNvPr id="27" name="Image 3" descr="connector">    </p:cNvPr>
          <p:cNvPicPr>
            <a:picLocks noChangeAspect="1"/>
          </p:cNvPicPr>
          <p:nvPr/>
        </p:nvPicPr>
        <p:blipFill>
          <a:blip r:embed="rId4"/>
          <a:srcRect l="0" r="0" t="0" b="0"/>
          <a:stretch/>
        </p:blipFill>
        <p:spPr>
          <a:xfrm>
            <a:off x="8509000" y="2431455"/>
            <a:ext cx="1168400" cy="1009650"/>
          </a:xfrm>
          <a:prstGeom prst="rect">
            <a:avLst/>
          </a:prstGeom>
        </p:spPr>
      </p:pic>
      <p:sp>
        <p:nvSpPr>
          <p:cNvPr id="28" name="Text 22"/>
          <p:cNvSpPr/>
          <p:nvPr/>
        </p:nvSpPr>
        <p:spPr>
          <a:xfrm>
            <a:off x="2527300" y="3098205"/>
            <a:ext cx="685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busca</a:t>
            </a:r>
            <a:endParaRPr lang="en-US" sz="1400" dirty="0"/>
          </a:p>
        </p:txBody>
      </p:sp>
      <p:sp>
        <p:nvSpPr>
          <p:cNvPr id="29" name="Text 23"/>
          <p:cNvSpPr/>
          <p:nvPr/>
        </p:nvSpPr>
        <p:spPr>
          <a:xfrm>
            <a:off x="9169400" y="2221905"/>
            <a:ext cx="2158365"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source → cita</a:t>
            </a:r>
            <a:endParaRPr lang="en-US" sz="1400" dirty="0"/>
          </a:p>
        </p:txBody>
      </p:sp>
      <p:sp>
        <p:nvSpPr>
          <p:cNvPr id="30" name="Text 24"/>
          <p:cNvSpPr/>
          <p:nvPr/>
        </p:nvSpPr>
        <p:spPr>
          <a:xfrm>
            <a:off x="812800" y="528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Filtro por metadatos del payload (por ejemplo, solo el documento vigente): reto opcional del L5.</a:t>
            </a:r>
            <a:endParaRPr lang="en-US" sz="1600" dirty="0"/>
          </a:p>
        </p:txBody>
      </p:sp>
      <p:sp>
        <p:nvSpPr>
          <p:cNvPr id="31" name="Text 25"/>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15</a:t>
            </a:r>
            <a:endParaRPr lang="en-US" sz="1200" dirty="0"/>
          </a:p>
        </p:txBody>
      </p:sp>
      <p:pic>
        <p:nvPicPr>
          <p:cNvPr id="32" name="Image 4" descr="Logo de AriwaLabs">    </p:cNvPr>
          <p:cNvPicPr>
            <a:picLocks noChangeAspect="1"/>
          </p:cNvPicPr>
          <p:nvPr/>
        </p:nvPicPr>
        <p:blipFill>
          <a:blip r:embed="rId5"/>
          <a:srcRect l="-9345" r="-9345" t="0" b="0"/>
          <a:stretch/>
        </p:blipFill>
        <p:spPr>
          <a:xfrm>
            <a:off x="10680700" y="6197600"/>
            <a:ext cx="6985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RAG tradicional: siempre busca</a:t>
            </a:r>
            <a:endParaRPr lang="en-US" sz="3600" dirty="0"/>
          </a:p>
        </p:txBody>
      </p:sp>
      <p:sp>
        <p:nvSpPr>
          <p:cNvPr id="3" name="Shape 1"/>
          <p:cNvSpPr/>
          <p:nvPr/>
        </p:nvSpPr>
        <p:spPr>
          <a:xfrm>
            <a:off x="2914650" y="1529755"/>
            <a:ext cx="5575300" cy="3543300"/>
          </a:xfrm>
          <a:prstGeom prst="roundRect">
            <a:avLst>
              <a:gd name="adj" fmla="val 4122"/>
            </a:avLst>
          </a:prstGeom>
          <a:solidFill>
            <a:srgbClr val="E9F0F7"/>
          </a:solidFill>
          <a:ln w="12700">
            <a:solidFill>
              <a:srgbClr val="526277"/>
            </a:solidFill>
            <a:prstDash val="solid"/>
          </a:ln>
        </p:spPr>
      </p:sp>
      <p:sp>
        <p:nvSpPr>
          <p:cNvPr id="4" name="Text 2"/>
          <p:cNvSpPr/>
          <p:nvPr/>
        </p:nvSpPr>
        <p:spPr>
          <a:xfrm>
            <a:off x="3060700" y="1625005"/>
            <a:ext cx="3924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Aplicación · demo 3</a:t>
            </a:r>
            <a:endParaRPr lang="en-US" sz="1400" dirty="0"/>
          </a:p>
        </p:txBody>
      </p:sp>
      <p:sp>
        <p:nvSpPr>
          <p:cNvPr id="5" name="Shape 3"/>
          <p:cNvSpPr/>
          <p:nvPr/>
        </p:nvSpPr>
        <p:spPr>
          <a:xfrm>
            <a:off x="819150" y="3657005"/>
            <a:ext cx="1511300" cy="1066800"/>
          </a:xfrm>
          <a:prstGeom prst="roundRect">
            <a:avLst>
              <a:gd name="adj" fmla="val 8929"/>
            </a:avLst>
          </a:prstGeom>
          <a:solidFill>
            <a:srgbClr val="FFFFFF"/>
          </a:solidFill>
          <a:ln w="12700">
            <a:solidFill>
              <a:srgbClr val="1E293B"/>
            </a:solidFill>
            <a:prstDash val="solid"/>
          </a:ln>
        </p:spPr>
      </p:sp>
      <p:pic>
        <p:nvPicPr>
          <p:cNvPr id="6" name="Image 0" descr="preencoded.png">    </p:cNvPr>
          <p:cNvPicPr>
            <a:picLocks noChangeAspect="1"/>
          </p:cNvPicPr>
          <p:nvPr/>
        </p:nvPicPr>
        <p:blipFill>
          <a:blip r:embed="rId1"/>
          <a:srcRect l="0" r="0" t="0" b="0"/>
          <a:stretch/>
        </p:blipFill>
        <p:spPr>
          <a:xfrm>
            <a:off x="1435100" y="3797102"/>
            <a:ext cx="279400" cy="279400"/>
          </a:xfrm>
          <a:prstGeom prst="rect">
            <a:avLst/>
          </a:prstGeom>
        </p:spPr>
      </p:pic>
      <p:sp>
        <p:nvSpPr>
          <p:cNvPr id="7" name="Text 4"/>
          <p:cNvSpPr/>
          <p:nvPr/>
        </p:nvSpPr>
        <p:spPr>
          <a:xfrm>
            <a:off x="1179711" y="4127302"/>
            <a:ext cx="79017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8" name="Text 5"/>
          <p:cNvSpPr/>
          <p:nvPr/>
        </p:nvSpPr>
        <p:spPr>
          <a:xfrm>
            <a:off x="1193105" y="4393208"/>
            <a:ext cx="76329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del cliente</a:t>
            </a:r>
            <a:endParaRPr lang="en-US" sz="1200" dirty="0"/>
          </a:p>
        </p:txBody>
      </p:sp>
      <p:sp>
        <p:nvSpPr>
          <p:cNvPr id="9" name="Shape 6"/>
          <p:cNvSpPr/>
          <p:nvPr/>
        </p:nvSpPr>
        <p:spPr>
          <a:xfrm>
            <a:off x="3232150" y="1974255"/>
            <a:ext cx="1638300" cy="1066800"/>
          </a:xfrm>
          <a:prstGeom prst="roundRect">
            <a:avLst>
              <a:gd name="adj" fmla="val 8929"/>
            </a:avLst>
          </a:prstGeom>
          <a:solidFill>
            <a:srgbClr val="FFFFFF"/>
          </a:solidFill>
          <a:ln w="12700">
            <a:solidFill>
              <a:srgbClr val="1E293B"/>
            </a:solidFill>
            <a:prstDash val="solid"/>
          </a:ln>
        </p:spPr>
      </p:sp>
      <p:pic>
        <p:nvPicPr>
          <p:cNvPr id="10" name="Image 1" descr="preencoded.png">    </p:cNvPr>
          <p:cNvPicPr>
            <a:picLocks noChangeAspect="1"/>
          </p:cNvPicPr>
          <p:nvPr/>
        </p:nvPicPr>
        <p:blipFill>
          <a:blip r:embed="rId2"/>
          <a:srcRect l="0" r="0" t="0" b="0"/>
          <a:stretch/>
        </p:blipFill>
        <p:spPr>
          <a:xfrm>
            <a:off x="3911600" y="2114352"/>
            <a:ext cx="279400" cy="279400"/>
          </a:xfrm>
          <a:prstGeom prst="rect">
            <a:avLst/>
          </a:prstGeom>
        </p:spPr>
      </p:pic>
      <p:sp>
        <p:nvSpPr>
          <p:cNvPr id="11" name="Text 7"/>
          <p:cNvSpPr/>
          <p:nvPr/>
        </p:nvSpPr>
        <p:spPr>
          <a:xfrm>
            <a:off x="3862189" y="2444552"/>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12" name="Text 8"/>
          <p:cNvSpPr/>
          <p:nvPr/>
        </p:nvSpPr>
        <p:spPr>
          <a:xfrm>
            <a:off x="3790752" y="2710458"/>
            <a:ext cx="52099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genera</a:t>
            </a:r>
            <a:endParaRPr lang="en-US" sz="1200" dirty="0"/>
          </a:p>
        </p:txBody>
      </p:sp>
      <p:sp>
        <p:nvSpPr>
          <p:cNvPr id="13" name="Shape 9"/>
          <p:cNvSpPr/>
          <p:nvPr/>
        </p:nvSpPr>
        <p:spPr>
          <a:xfrm>
            <a:off x="3238500" y="3663355"/>
            <a:ext cx="1625600" cy="1054100"/>
          </a:xfrm>
          <a:prstGeom prst="roundRect">
            <a:avLst>
              <a:gd name="adj" fmla="val 8434"/>
            </a:avLst>
          </a:prstGeom>
          <a:solidFill>
            <a:srgbClr val="FFF0EB"/>
          </a:solidFill>
          <a:ln w="25400">
            <a:solidFill>
              <a:srgbClr val="FF5733"/>
            </a:solidFill>
            <a:prstDash val="solid"/>
          </a:ln>
        </p:spPr>
      </p:sp>
      <p:pic>
        <p:nvPicPr>
          <p:cNvPr id="14" name="Image 2" descr="Settings">    </p:cNvPr>
          <p:cNvPicPr>
            <a:picLocks noChangeAspect="1"/>
          </p:cNvPicPr>
          <p:nvPr/>
        </p:nvPicPr>
        <p:blipFill>
          <a:blip r:embed="rId3"/>
          <a:srcRect l="0" r="0" t="0" b="0"/>
          <a:stretch/>
        </p:blipFill>
        <p:spPr>
          <a:xfrm>
            <a:off x="3911600" y="3797102"/>
            <a:ext cx="279400" cy="279400"/>
          </a:xfrm>
          <a:prstGeom prst="rect">
            <a:avLst/>
          </a:prstGeom>
        </p:spPr>
      </p:pic>
      <p:sp>
        <p:nvSpPr>
          <p:cNvPr id="15" name="Text 10"/>
          <p:cNvSpPr/>
          <p:nvPr/>
        </p:nvSpPr>
        <p:spPr>
          <a:xfrm>
            <a:off x="3680718" y="4127302"/>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6" name="Text 11"/>
          <p:cNvSpPr/>
          <p:nvPr/>
        </p:nvSpPr>
        <p:spPr>
          <a:xfrm>
            <a:off x="3469084" y="4393208"/>
            <a:ext cx="116433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código de la app</a:t>
            </a:r>
            <a:endParaRPr lang="en-US" sz="1200" dirty="0"/>
          </a:p>
        </p:txBody>
      </p:sp>
      <p:sp>
        <p:nvSpPr>
          <p:cNvPr id="17" name="Shape 12"/>
          <p:cNvSpPr/>
          <p:nvPr/>
        </p:nvSpPr>
        <p:spPr>
          <a:xfrm>
            <a:off x="5899150" y="3657005"/>
            <a:ext cx="2336800" cy="1066800"/>
          </a:xfrm>
          <a:prstGeom prst="roundRect">
            <a:avLst>
              <a:gd name="adj" fmla="val 8929"/>
            </a:avLst>
          </a:prstGeom>
          <a:solidFill>
            <a:srgbClr val="FFFFFF"/>
          </a:solidFill>
          <a:ln w="12700">
            <a:solidFill>
              <a:srgbClr val="1E293B"/>
            </a:solidFill>
            <a:prstDash val="solid"/>
          </a:ln>
        </p:spPr>
      </p:sp>
      <p:pic>
        <p:nvPicPr>
          <p:cNvPr id="18" name="Image 3" descr="Search">    </p:cNvPr>
          <p:cNvPicPr>
            <a:picLocks noChangeAspect="1"/>
          </p:cNvPicPr>
          <p:nvPr/>
        </p:nvPicPr>
        <p:blipFill>
          <a:blip r:embed="rId4"/>
          <a:srcRect l="0" r="0" t="0" b="0"/>
          <a:stretch/>
        </p:blipFill>
        <p:spPr>
          <a:xfrm>
            <a:off x="6927850" y="3797102"/>
            <a:ext cx="279400" cy="279400"/>
          </a:xfrm>
          <a:prstGeom prst="rect">
            <a:avLst/>
          </a:prstGeom>
        </p:spPr>
      </p:pic>
      <p:sp>
        <p:nvSpPr>
          <p:cNvPr id="19" name="Text 13"/>
          <p:cNvSpPr/>
          <p:nvPr/>
        </p:nvSpPr>
        <p:spPr>
          <a:xfrm>
            <a:off x="6669088" y="4127302"/>
            <a:ext cx="79692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Retriever</a:t>
            </a:r>
            <a:endParaRPr lang="en-US" sz="1400" dirty="0"/>
          </a:p>
        </p:txBody>
      </p:sp>
      <p:sp>
        <p:nvSpPr>
          <p:cNvPr id="20" name="Text 14"/>
          <p:cNvSpPr/>
          <p:nvPr/>
        </p:nvSpPr>
        <p:spPr>
          <a:xfrm>
            <a:off x="6172729" y="4393208"/>
            <a:ext cx="178954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similarity_search()</a:t>
            </a:r>
            <a:endParaRPr lang="en-US" sz="1200" dirty="0"/>
          </a:p>
        </p:txBody>
      </p:sp>
      <p:sp>
        <p:nvSpPr>
          <p:cNvPr id="21" name="Shape 15"/>
          <p:cNvSpPr/>
          <p:nvPr/>
        </p:nvSpPr>
        <p:spPr>
          <a:xfrm>
            <a:off x="9201150" y="3657005"/>
            <a:ext cx="2171700" cy="1066800"/>
          </a:xfrm>
          <a:prstGeom prst="roundRect">
            <a:avLst>
              <a:gd name="adj" fmla="val 8929"/>
            </a:avLst>
          </a:prstGeom>
          <a:solidFill>
            <a:srgbClr val="FFFFFF"/>
          </a:solidFill>
          <a:ln w="12700">
            <a:solidFill>
              <a:srgbClr val="1E293B"/>
            </a:solidFill>
            <a:prstDash val="solid"/>
          </a:ln>
        </p:spPr>
      </p:sp>
      <p:pic>
        <p:nvPicPr>
          <p:cNvPr id="22" name="Image 4" descr="preencoded.png">    </p:cNvPr>
          <p:cNvPicPr>
            <a:picLocks noChangeAspect="1"/>
          </p:cNvPicPr>
          <p:nvPr/>
        </p:nvPicPr>
        <p:blipFill>
          <a:blip r:embed="rId5"/>
          <a:srcRect l="0" r="0" t="0" b="0"/>
          <a:stretch/>
        </p:blipFill>
        <p:spPr>
          <a:xfrm>
            <a:off x="10147300" y="3797102"/>
            <a:ext cx="279400" cy="279400"/>
          </a:xfrm>
          <a:prstGeom prst="rect">
            <a:avLst/>
          </a:prstGeom>
        </p:spPr>
      </p:pic>
      <p:sp>
        <p:nvSpPr>
          <p:cNvPr id="23" name="Text 16"/>
          <p:cNvSpPr/>
          <p:nvPr/>
        </p:nvSpPr>
        <p:spPr>
          <a:xfrm>
            <a:off x="9722743" y="4127302"/>
            <a:ext cx="112841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 Cloud</a:t>
            </a:r>
            <a:endParaRPr lang="en-US" sz="1400" dirty="0"/>
          </a:p>
        </p:txBody>
      </p:sp>
      <p:sp>
        <p:nvSpPr>
          <p:cNvPr id="24" name="Text 17"/>
          <p:cNvSpPr/>
          <p:nvPr/>
        </p:nvSpPr>
        <p:spPr>
          <a:xfrm>
            <a:off x="9540577" y="4393208"/>
            <a:ext cx="149274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colección de la demo</a:t>
            </a:r>
            <a:endParaRPr lang="en-US" sz="1200" dirty="0"/>
          </a:p>
        </p:txBody>
      </p:sp>
      <p:sp>
        <p:nvSpPr>
          <p:cNvPr id="25" name="Shape 18"/>
          <p:cNvSpPr/>
          <p:nvPr/>
        </p:nvSpPr>
        <p:spPr>
          <a:xfrm>
            <a:off x="9201150" y="1974255"/>
            <a:ext cx="2171700" cy="1066800"/>
          </a:xfrm>
          <a:prstGeom prst="roundRect">
            <a:avLst>
              <a:gd name="adj" fmla="val 8929"/>
            </a:avLst>
          </a:prstGeom>
          <a:solidFill>
            <a:srgbClr val="FFFFFF"/>
          </a:solidFill>
          <a:ln w="12700">
            <a:solidFill>
              <a:srgbClr val="1E293B"/>
            </a:solidFill>
            <a:prstDash val="solid"/>
          </a:ln>
        </p:spPr>
      </p:sp>
      <p:pic>
        <p:nvPicPr>
          <p:cNvPr id="26" name="Image 5" descr="Chat">    </p:cNvPr>
          <p:cNvPicPr>
            <a:picLocks noChangeAspect="1"/>
          </p:cNvPicPr>
          <p:nvPr/>
        </p:nvPicPr>
        <p:blipFill>
          <a:blip r:embed="rId6"/>
          <a:srcRect l="0" r="0" t="0" b="0"/>
          <a:stretch/>
        </p:blipFill>
        <p:spPr>
          <a:xfrm>
            <a:off x="10147300" y="2114352"/>
            <a:ext cx="279400" cy="279400"/>
          </a:xfrm>
          <a:prstGeom prst="rect">
            <a:avLst/>
          </a:prstGeom>
        </p:spPr>
      </p:pic>
      <p:sp>
        <p:nvSpPr>
          <p:cNvPr id="27" name="Text 19"/>
          <p:cNvSpPr/>
          <p:nvPr/>
        </p:nvSpPr>
        <p:spPr>
          <a:xfrm>
            <a:off x="9833372" y="2444552"/>
            <a:ext cx="907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sp>
        <p:nvSpPr>
          <p:cNvPr id="28" name="Text 20"/>
          <p:cNvSpPr/>
          <p:nvPr/>
        </p:nvSpPr>
        <p:spPr>
          <a:xfrm>
            <a:off x="9549209" y="2710458"/>
            <a:ext cx="147548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 contexto pegado</a:t>
            </a:r>
            <a:endParaRPr lang="en-US" sz="1200" dirty="0"/>
          </a:p>
        </p:txBody>
      </p:sp>
      <p:pic>
        <p:nvPicPr>
          <p:cNvPr id="29" name="Image 6" descr="connector">    </p:cNvPr>
          <p:cNvPicPr>
            <a:picLocks noChangeAspect="1"/>
          </p:cNvPicPr>
          <p:nvPr/>
        </p:nvPicPr>
        <p:blipFill>
          <a:blip r:embed="rId7"/>
          <a:srcRect l="0" r="0" t="0" b="0"/>
          <a:stretch/>
        </p:blipFill>
        <p:spPr>
          <a:xfrm>
            <a:off x="2286000" y="4139605"/>
            <a:ext cx="990600" cy="101600"/>
          </a:xfrm>
          <a:prstGeom prst="rect">
            <a:avLst/>
          </a:prstGeom>
        </p:spPr>
      </p:pic>
      <p:pic>
        <p:nvPicPr>
          <p:cNvPr id="30" name="Image 7" descr="connector">    </p:cNvPr>
          <p:cNvPicPr>
            <a:picLocks noChangeAspect="1"/>
          </p:cNvPicPr>
          <p:nvPr/>
        </p:nvPicPr>
        <p:blipFill>
          <a:blip r:embed="rId8"/>
          <a:srcRect l="0" r="0" t="0" b="0"/>
          <a:stretch/>
        </p:blipFill>
        <p:spPr>
          <a:xfrm>
            <a:off x="4800600" y="4114205"/>
            <a:ext cx="1168400" cy="152400"/>
          </a:xfrm>
          <a:prstGeom prst="rect">
            <a:avLst/>
          </a:prstGeom>
        </p:spPr>
      </p:pic>
      <p:pic>
        <p:nvPicPr>
          <p:cNvPr id="31" name="Image 8" descr="connector">    </p:cNvPr>
          <p:cNvPicPr>
            <a:picLocks noChangeAspect="1"/>
          </p:cNvPicPr>
          <p:nvPr/>
        </p:nvPicPr>
        <p:blipFill>
          <a:blip r:embed="rId9"/>
          <a:srcRect l="0" r="0" t="0" b="0"/>
          <a:stretch/>
        </p:blipFill>
        <p:spPr>
          <a:xfrm>
            <a:off x="8191500" y="4139605"/>
            <a:ext cx="1054100" cy="101600"/>
          </a:xfrm>
          <a:prstGeom prst="rect">
            <a:avLst/>
          </a:prstGeom>
        </p:spPr>
      </p:pic>
      <p:pic>
        <p:nvPicPr>
          <p:cNvPr id="32" name="Image 9" descr="connector">    </p:cNvPr>
          <p:cNvPicPr>
            <a:picLocks noChangeAspect="1"/>
          </p:cNvPicPr>
          <p:nvPr/>
        </p:nvPicPr>
        <p:blipFill>
          <a:blip r:embed="rId10"/>
          <a:srcRect l="0" r="0" t="0" b="0"/>
          <a:stretch/>
        </p:blipFill>
        <p:spPr>
          <a:xfrm>
            <a:off x="4826000" y="2456855"/>
            <a:ext cx="4419600" cy="101600"/>
          </a:xfrm>
          <a:prstGeom prst="rect">
            <a:avLst/>
          </a:prstGeom>
        </p:spPr>
      </p:pic>
      <p:sp>
        <p:nvSpPr>
          <p:cNvPr id="33" name="Text 21"/>
          <p:cNvSpPr/>
          <p:nvPr/>
        </p:nvSpPr>
        <p:spPr>
          <a:xfrm>
            <a:off x="2400300" y="3923705"/>
            <a:ext cx="838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a:t>
            </a:r>
            <a:endParaRPr lang="en-US" sz="1400" dirty="0"/>
          </a:p>
        </p:txBody>
      </p:sp>
      <p:sp>
        <p:nvSpPr>
          <p:cNvPr id="34" name="Text 22"/>
          <p:cNvSpPr/>
          <p:nvPr/>
        </p:nvSpPr>
        <p:spPr>
          <a:xfrm>
            <a:off x="8369300" y="3923705"/>
            <a:ext cx="749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busca</a:t>
            </a:r>
            <a:endParaRPr lang="en-US" sz="1400" dirty="0"/>
          </a:p>
        </p:txBody>
      </p:sp>
      <p:sp>
        <p:nvSpPr>
          <p:cNvPr id="35" name="Text 23"/>
          <p:cNvSpPr/>
          <p:nvPr/>
        </p:nvSpPr>
        <p:spPr>
          <a:xfrm>
            <a:off x="5257800" y="2240955"/>
            <a:ext cx="196215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responde</a:t>
            </a:r>
            <a:endParaRPr lang="en-US" sz="1400" dirty="0"/>
          </a:p>
        </p:txBody>
      </p:sp>
      <p:pic>
        <p:nvPicPr>
          <p:cNvPr id="36" name="Image 10" descr="connector">    </p:cNvPr>
          <p:cNvPicPr>
            <a:picLocks noChangeAspect="1"/>
          </p:cNvPicPr>
          <p:nvPr/>
        </p:nvPicPr>
        <p:blipFill>
          <a:blip r:embed="rId11"/>
          <a:srcRect l="0" r="0" t="0" b="0"/>
          <a:stretch/>
        </p:blipFill>
        <p:spPr>
          <a:xfrm>
            <a:off x="4000500" y="2996605"/>
            <a:ext cx="101600" cy="704850"/>
          </a:xfrm>
          <a:prstGeom prst="rect">
            <a:avLst/>
          </a:prstGeom>
        </p:spPr>
      </p:pic>
      <p:sp>
        <p:nvSpPr>
          <p:cNvPr id="37" name="Text 24"/>
          <p:cNvSpPr/>
          <p:nvPr/>
        </p:nvSpPr>
        <p:spPr>
          <a:xfrm>
            <a:off x="4127500" y="3123605"/>
            <a:ext cx="15748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pega</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fragmentos</a:t>
            </a:r>
            <a:endParaRPr lang="en-US" sz="1400" dirty="0"/>
          </a:p>
        </p:txBody>
      </p:sp>
      <p:sp>
        <p:nvSpPr>
          <p:cNvPr id="38" name="Text 25"/>
          <p:cNvSpPr/>
          <p:nvPr/>
        </p:nvSpPr>
        <p:spPr>
          <a:xfrm>
            <a:off x="4940300" y="3707805"/>
            <a:ext cx="9398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siempre</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busca</a:t>
            </a:r>
            <a:endParaRPr lang="en-US" sz="1400" dirty="0"/>
          </a:p>
        </p:txBody>
      </p:sp>
      <p:sp>
        <p:nvSpPr>
          <p:cNvPr id="39" name="Text 26"/>
          <p:cNvSpPr/>
          <p:nvPr/>
        </p:nvSpPr>
        <p:spPr>
          <a:xfrm>
            <a:off x="812800" y="528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«Hola, buenos días» también dispara la búsqueda: el patrón no decide (demo 03_rag_tradicional.py).</a:t>
            </a:r>
            <a:endParaRPr lang="en-US" sz="1600" dirty="0"/>
          </a:p>
        </p:txBody>
      </p:sp>
      <p:sp>
        <p:nvSpPr>
          <p:cNvPr id="40" name="Text 27"/>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16</a:t>
            </a:r>
            <a:endParaRPr lang="en-US" sz="1200" dirty="0"/>
          </a:p>
        </p:txBody>
      </p:sp>
      <p:pic>
        <p:nvPicPr>
          <p:cNvPr id="41" name="Image 11" descr="Logo de AriwaLabs">    </p:cNvPr>
          <p:cNvPicPr>
            <a:picLocks noChangeAspect="1"/>
          </p:cNvPicPr>
          <p:nvPr/>
        </p:nvPicPr>
        <p:blipFill>
          <a:blip r:embed="rId12"/>
          <a:srcRect l="-9345" r="-9345" t="0" b="0"/>
          <a:stretch/>
        </p:blipFill>
        <p:spPr>
          <a:xfrm>
            <a:off x="10680700" y="6197600"/>
            <a:ext cx="6985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110"/>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RAG agéntico: el retriever es una tool</a:t>
            </a:r>
            <a:endParaRPr lang="en-US" sz="3600" dirty="0"/>
          </a:p>
        </p:txBody>
      </p:sp>
      <p:sp>
        <p:nvSpPr>
          <p:cNvPr id="3" name="Shape 1"/>
          <p:cNvSpPr/>
          <p:nvPr/>
        </p:nvSpPr>
        <p:spPr>
          <a:xfrm>
            <a:off x="2914650" y="1529060"/>
            <a:ext cx="5575300" cy="3543300"/>
          </a:xfrm>
          <a:prstGeom prst="roundRect">
            <a:avLst>
              <a:gd name="adj" fmla="val 4122"/>
            </a:avLst>
          </a:prstGeom>
          <a:solidFill>
            <a:srgbClr val="E9F0F7"/>
          </a:solidFill>
          <a:ln w="12700">
            <a:solidFill>
              <a:srgbClr val="526277"/>
            </a:solidFill>
            <a:prstDash val="solid"/>
          </a:ln>
        </p:spPr>
      </p:sp>
      <p:sp>
        <p:nvSpPr>
          <p:cNvPr id="4" name="Text 2"/>
          <p:cNvSpPr/>
          <p:nvPr/>
        </p:nvSpPr>
        <p:spPr>
          <a:xfrm>
            <a:off x="3060700" y="1624310"/>
            <a:ext cx="3924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Agente · demo 4</a:t>
            </a:r>
            <a:endParaRPr lang="en-US" sz="1400" dirty="0"/>
          </a:p>
        </p:txBody>
      </p:sp>
      <p:sp>
        <p:nvSpPr>
          <p:cNvPr id="5" name="Shape 3"/>
          <p:cNvSpPr/>
          <p:nvPr/>
        </p:nvSpPr>
        <p:spPr>
          <a:xfrm>
            <a:off x="819150" y="3656310"/>
            <a:ext cx="1511300" cy="1066800"/>
          </a:xfrm>
          <a:prstGeom prst="roundRect">
            <a:avLst>
              <a:gd name="adj" fmla="val 8929"/>
            </a:avLst>
          </a:prstGeom>
          <a:solidFill>
            <a:srgbClr val="FFFFFF"/>
          </a:solidFill>
          <a:ln w="12700">
            <a:solidFill>
              <a:srgbClr val="1E293B"/>
            </a:solidFill>
            <a:prstDash val="solid"/>
          </a:ln>
        </p:spPr>
      </p:sp>
      <p:pic>
        <p:nvPicPr>
          <p:cNvPr id="6" name="Image 0" descr="preencoded.png">    </p:cNvPr>
          <p:cNvPicPr>
            <a:picLocks noChangeAspect="1"/>
          </p:cNvPicPr>
          <p:nvPr/>
        </p:nvPicPr>
        <p:blipFill>
          <a:blip r:embed="rId1"/>
          <a:srcRect l="0" r="0" t="0" b="0"/>
          <a:stretch/>
        </p:blipFill>
        <p:spPr>
          <a:xfrm>
            <a:off x="1435100" y="3796407"/>
            <a:ext cx="279400" cy="279400"/>
          </a:xfrm>
          <a:prstGeom prst="rect">
            <a:avLst/>
          </a:prstGeom>
        </p:spPr>
      </p:pic>
      <p:sp>
        <p:nvSpPr>
          <p:cNvPr id="7" name="Text 4"/>
          <p:cNvSpPr/>
          <p:nvPr/>
        </p:nvSpPr>
        <p:spPr>
          <a:xfrm>
            <a:off x="1179711" y="4126607"/>
            <a:ext cx="79017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8" name="Text 5"/>
          <p:cNvSpPr/>
          <p:nvPr/>
        </p:nvSpPr>
        <p:spPr>
          <a:xfrm>
            <a:off x="1193105" y="4392513"/>
            <a:ext cx="76329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del cliente</a:t>
            </a:r>
            <a:endParaRPr lang="en-US" sz="1200" dirty="0"/>
          </a:p>
        </p:txBody>
      </p:sp>
      <p:sp>
        <p:nvSpPr>
          <p:cNvPr id="9" name="Shape 6"/>
          <p:cNvSpPr/>
          <p:nvPr/>
        </p:nvSpPr>
        <p:spPr>
          <a:xfrm>
            <a:off x="3238500" y="1979910"/>
            <a:ext cx="1625600" cy="1054100"/>
          </a:xfrm>
          <a:prstGeom prst="roundRect">
            <a:avLst>
              <a:gd name="adj" fmla="val 8434"/>
            </a:avLst>
          </a:prstGeom>
          <a:solidFill>
            <a:srgbClr val="FFF0EB"/>
          </a:solidFill>
          <a:ln w="25400">
            <a:solidFill>
              <a:srgbClr val="FF5733"/>
            </a:solidFill>
            <a:prstDash val="solid"/>
          </a:ln>
        </p:spPr>
      </p:sp>
      <p:pic>
        <p:nvPicPr>
          <p:cNvPr id="10" name="Image 1" descr="preencoded.png">    </p:cNvPr>
          <p:cNvPicPr>
            <a:picLocks noChangeAspect="1"/>
          </p:cNvPicPr>
          <p:nvPr/>
        </p:nvPicPr>
        <p:blipFill>
          <a:blip r:embed="rId2"/>
          <a:srcRect l="0" r="0" t="0" b="0"/>
          <a:stretch/>
        </p:blipFill>
        <p:spPr>
          <a:xfrm>
            <a:off x="3911600" y="2113657"/>
            <a:ext cx="279400" cy="279400"/>
          </a:xfrm>
          <a:prstGeom prst="rect">
            <a:avLst/>
          </a:prstGeom>
        </p:spPr>
      </p:pic>
      <p:sp>
        <p:nvSpPr>
          <p:cNvPr id="11" name="Text 7"/>
          <p:cNvSpPr/>
          <p:nvPr/>
        </p:nvSpPr>
        <p:spPr>
          <a:xfrm>
            <a:off x="3862189" y="2443857"/>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12" name="Text 8"/>
          <p:cNvSpPr/>
          <p:nvPr/>
        </p:nvSpPr>
        <p:spPr>
          <a:xfrm>
            <a:off x="3739455" y="2709763"/>
            <a:ext cx="62368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13" name="Shape 9"/>
          <p:cNvSpPr/>
          <p:nvPr/>
        </p:nvSpPr>
        <p:spPr>
          <a:xfrm>
            <a:off x="3232150" y="3656310"/>
            <a:ext cx="1638300" cy="1066800"/>
          </a:xfrm>
          <a:prstGeom prst="roundRect">
            <a:avLst>
              <a:gd name="adj" fmla="val 8929"/>
            </a:avLst>
          </a:prstGeom>
          <a:solidFill>
            <a:srgbClr val="FFFFFF"/>
          </a:solidFill>
          <a:ln w="12700">
            <a:solidFill>
              <a:srgbClr val="1E293B"/>
            </a:solidFill>
            <a:prstDash val="solid"/>
          </a:ln>
        </p:spPr>
      </p:sp>
      <p:pic>
        <p:nvPicPr>
          <p:cNvPr id="14" name="Image 2" descr="Settings">    </p:cNvPr>
          <p:cNvPicPr>
            <a:picLocks noChangeAspect="1"/>
          </p:cNvPicPr>
          <p:nvPr/>
        </p:nvPicPr>
        <p:blipFill>
          <a:blip r:embed="rId3"/>
          <a:srcRect l="0" r="0" t="0" b="0"/>
          <a:stretch/>
        </p:blipFill>
        <p:spPr>
          <a:xfrm>
            <a:off x="3911600" y="3796407"/>
            <a:ext cx="279400" cy="279400"/>
          </a:xfrm>
          <a:prstGeom prst="rect">
            <a:avLst/>
          </a:prstGeom>
        </p:spPr>
      </p:pic>
      <p:sp>
        <p:nvSpPr>
          <p:cNvPr id="15" name="Text 10"/>
          <p:cNvSpPr/>
          <p:nvPr/>
        </p:nvSpPr>
        <p:spPr>
          <a:xfrm>
            <a:off x="3680718" y="4126607"/>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6" name="Text 11"/>
          <p:cNvSpPr/>
          <p:nvPr/>
        </p:nvSpPr>
        <p:spPr>
          <a:xfrm>
            <a:off x="3469084" y="4392513"/>
            <a:ext cx="116433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código de la app</a:t>
            </a:r>
            <a:endParaRPr lang="en-US" sz="1200" dirty="0"/>
          </a:p>
        </p:txBody>
      </p:sp>
      <p:sp>
        <p:nvSpPr>
          <p:cNvPr id="17" name="Shape 12"/>
          <p:cNvSpPr/>
          <p:nvPr/>
        </p:nvSpPr>
        <p:spPr>
          <a:xfrm>
            <a:off x="5905500" y="3662660"/>
            <a:ext cx="2324100" cy="1054100"/>
          </a:xfrm>
          <a:prstGeom prst="roundRect">
            <a:avLst>
              <a:gd name="adj" fmla="val 8434"/>
            </a:avLst>
          </a:prstGeom>
          <a:solidFill>
            <a:srgbClr val="FFF0EB"/>
          </a:solidFill>
          <a:ln w="25400">
            <a:solidFill>
              <a:srgbClr val="FF5733"/>
            </a:solidFill>
            <a:prstDash val="solid"/>
          </a:ln>
        </p:spPr>
      </p:sp>
      <p:pic>
        <p:nvPicPr>
          <p:cNvPr id="18" name="Image 3" descr="Wrench">    </p:cNvPr>
          <p:cNvPicPr>
            <a:picLocks noChangeAspect="1"/>
          </p:cNvPicPr>
          <p:nvPr/>
        </p:nvPicPr>
        <p:blipFill>
          <a:blip r:embed="rId4"/>
          <a:srcRect l="0" r="0" t="0" b="0"/>
          <a:stretch/>
        </p:blipFill>
        <p:spPr>
          <a:xfrm>
            <a:off x="6927850" y="3796407"/>
            <a:ext cx="279400" cy="279400"/>
          </a:xfrm>
          <a:prstGeom prst="rect">
            <a:avLst/>
          </a:prstGeom>
        </p:spPr>
      </p:pic>
      <p:sp>
        <p:nvSpPr>
          <p:cNvPr id="19" name="Text 13"/>
          <p:cNvSpPr/>
          <p:nvPr/>
        </p:nvSpPr>
        <p:spPr>
          <a:xfrm>
            <a:off x="6430963" y="4126607"/>
            <a:ext cx="1273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Retriever (tool)</a:t>
            </a:r>
            <a:endParaRPr lang="en-US" sz="1400" dirty="0"/>
          </a:p>
        </p:txBody>
      </p:sp>
      <p:sp>
        <p:nvSpPr>
          <p:cNvPr id="20" name="Text 14"/>
          <p:cNvSpPr/>
          <p:nvPr/>
        </p:nvSpPr>
        <p:spPr>
          <a:xfrm>
            <a:off x="5984483" y="4392513"/>
            <a:ext cx="216623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retrieve_knowledge_base</a:t>
            </a:r>
            <a:endParaRPr lang="en-US" sz="1200" dirty="0"/>
          </a:p>
        </p:txBody>
      </p:sp>
      <p:sp>
        <p:nvSpPr>
          <p:cNvPr id="21" name="Shape 15"/>
          <p:cNvSpPr/>
          <p:nvPr/>
        </p:nvSpPr>
        <p:spPr>
          <a:xfrm>
            <a:off x="9201150" y="3656310"/>
            <a:ext cx="2171700" cy="1066800"/>
          </a:xfrm>
          <a:prstGeom prst="roundRect">
            <a:avLst>
              <a:gd name="adj" fmla="val 8929"/>
            </a:avLst>
          </a:prstGeom>
          <a:solidFill>
            <a:srgbClr val="FFFFFF"/>
          </a:solidFill>
          <a:ln w="12700">
            <a:solidFill>
              <a:srgbClr val="1E293B"/>
            </a:solidFill>
            <a:prstDash val="solid"/>
          </a:ln>
        </p:spPr>
      </p:sp>
      <p:pic>
        <p:nvPicPr>
          <p:cNvPr id="22" name="Image 4" descr="preencoded.png">    </p:cNvPr>
          <p:cNvPicPr>
            <a:picLocks noChangeAspect="1"/>
          </p:cNvPicPr>
          <p:nvPr/>
        </p:nvPicPr>
        <p:blipFill>
          <a:blip r:embed="rId5"/>
          <a:srcRect l="0" r="0" t="0" b="0"/>
          <a:stretch/>
        </p:blipFill>
        <p:spPr>
          <a:xfrm>
            <a:off x="10147300" y="3796407"/>
            <a:ext cx="279400" cy="279400"/>
          </a:xfrm>
          <a:prstGeom prst="rect">
            <a:avLst/>
          </a:prstGeom>
        </p:spPr>
      </p:pic>
      <p:sp>
        <p:nvSpPr>
          <p:cNvPr id="23" name="Text 16"/>
          <p:cNvSpPr/>
          <p:nvPr/>
        </p:nvSpPr>
        <p:spPr>
          <a:xfrm>
            <a:off x="9722743" y="4126607"/>
            <a:ext cx="112841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 Cloud</a:t>
            </a:r>
            <a:endParaRPr lang="en-US" sz="1400" dirty="0"/>
          </a:p>
        </p:txBody>
      </p:sp>
      <p:sp>
        <p:nvSpPr>
          <p:cNvPr id="24" name="Text 17"/>
          <p:cNvSpPr/>
          <p:nvPr/>
        </p:nvSpPr>
        <p:spPr>
          <a:xfrm>
            <a:off x="9540577" y="4392513"/>
            <a:ext cx="149274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colección de la demo</a:t>
            </a:r>
            <a:endParaRPr lang="en-US" sz="1200" dirty="0"/>
          </a:p>
        </p:txBody>
      </p:sp>
      <p:sp>
        <p:nvSpPr>
          <p:cNvPr id="25" name="Shape 18"/>
          <p:cNvSpPr/>
          <p:nvPr/>
        </p:nvSpPr>
        <p:spPr>
          <a:xfrm>
            <a:off x="9201150" y="1973560"/>
            <a:ext cx="2171700" cy="1066800"/>
          </a:xfrm>
          <a:prstGeom prst="roundRect">
            <a:avLst>
              <a:gd name="adj" fmla="val 8929"/>
            </a:avLst>
          </a:prstGeom>
          <a:solidFill>
            <a:srgbClr val="FFFFFF"/>
          </a:solidFill>
          <a:ln w="12700">
            <a:solidFill>
              <a:srgbClr val="1E293B"/>
            </a:solidFill>
            <a:prstDash val="solid"/>
          </a:ln>
        </p:spPr>
      </p:sp>
      <p:pic>
        <p:nvPicPr>
          <p:cNvPr id="26" name="Image 5" descr="Chat">    </p:cNvPr>
          <p:cNvPicPr>
            <a:picLocks noChangeAspect="1"/>
          </p:cNvPicPr>
          <p:nvPr/>
        </p:nvPicPr>
        <p:blipFill>
          <a:blip r:embed="rId6"/>
          <a:srcRect l="0" r="0" t="0" b="0"/>
          <a:stretch/>
        </p:blipFill>
        <p:spPr>
          <a:xfrm>
            <a:off x="10147300" y="2113657"/>
            <a:ext cx="279400" cy="279400"/>
          </a:xfrm>
          <a:prstGeom prst="rect">
            <a:avLst/>
          </a:prstGeom>
        </p:spPr>
      </p:pic>
      <p:sp>
        <p:nvSpPr>
          <p:cNvPr id="27" name="Text 19"/>
          <p:cNvSpPr/>
          <p:nvPr/>
        </p:nvSpPr>
        <p:spPr>
          <a:xfrm>
            <a:off x="9833372" y="2443857"/>
            <a:ext cx="907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sp>
        <p:nvSpPr>
          <p:cNvPr id="28" name="Text 20"/>
          <p:cNvSpPr/>
          <p:nvPr/>
        </p:nvSpPr>
        <p:spPr>
          <a:xfrm>
            <a:off x="9687818" y="2709763"/>
            <a:ext cx="119826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citando la fuente</a:t>
            </a:r>
            <a:endParaRPr lang="en-US" sz="1200" dirty="0"/>
          </a:p>
        </p:txBody>
      </p:sp>
      <p:pic>
        <p:nvPicPr>
          <p:cNvPr id="29" name="Image 6" descr="connector">    </p:cNvPr>
          <p:cNvPicPr>
            <a:picLocks noChangeAspect="1"/>
          </p:cNvPicPr>
          <p:nvPr/>
        </p:nvPicPr>
        <p:blipFill>
          <a:blip r:embed="rId7"/>
          <a:srcRect l="0" r="0" t="0" b="0"/>
          <a:stretch/>
        </p:blipFill>
        <p:spPr>
          <a:xfrm>
            <a:off x="2286000" y="4138910"/>
            <a:ext cx="990600" cy="101600"/>
          </a:xfrm>
          <a:prstGeom prst="rect">
            <a:avLst/>
          </a:prstGeom>
        </p:spPr>
      </p:pic>
      <p:pic>
        <p:nvPicPr>
          <p:cNvPr id="30" name="Image 7" descr="connector">    </p:cNvPr>
          <p:cNvPicPr>
            <a:picLocks noChangeAspect="1"/>
          </p:cNvPicPr>
          <p:nvPr/>
        </p:nvPicPr>
        <p:blipFill>
          <a:blip r:embed="rId8"/>
          <a:srcRect l="0" r="0" t="0" b="0"/>
          <a:stretch/>
        </p:blipFill>
        <p:spPr>
          <a:xfrm>
            <a:off x="4826000" y="4138910"/>
            <a:ext cx="1117600" cy="101600"/>
          </a:xfrm>
          <a:prstGeom prst="rect">
            <a:avLst/>
          </a:prstGeom>
        </p:spPr>
      </p:pic>
      <p:pic>
        <p:nvPicPr>
          <p:cNvPr id="31" name="Image 8" descr="connector">    </p:cNvPr>
          <p:cNvPicPr>
            <a:picLocks noChangeAspect="1"/>
          </p:cNvPicPr>
          <p:nvPr/>
        </p:nvPicPr>
        <p:blipFill>
          <a:blip r:embed="rId9"/>
          <a:srcRect l="0" r="0" t="0" b="0"/>
          <a:stretch/>
        </p:blipFill>
        <p:spPr>
          <a:xfrm>
            <a:off x="8191500" y="4138910"/>
            <a:ext cx="1054100" cy="101600"/>
          </a:xfrm>
          <a:prstGeom prst="rect">
            <a:avLst/>
          </a:prstGeom>
        </p:spPr>
      </p:pic>
      <p:pic>
        <p:nvPicPr>
          <p:cNvPr id="32" name="Image 9" descr="connector">    </p:cNvPr>
          <p:cNvPicPr>
            <a:picLocks noChangeAspect="1"/>
          </p:cNvPicPr>
          <p:nvPr/>
        </p:nvPicPr>
        <p:blipFill>
          <a:blip r:embed="rId10"/>
          <a:srcRect l="0" r="0" t="0" b="0"/>
          <a:stretch/>
        </p:blipFill>
        <p:spPr>
          <a:xfrm>
            <a:off x="4826000" y="2456160"/>
            <a:ext cx="4419600" cy="101600"/>
          </a:xfrm>
          <a:prstGeom prst="rect">
            <a:avLst/>
          </a:prstGeom>
        </p:spPr>
      </p:pic>
      <p:sp>
        <p:nvSpPr>
          <p:cNvPr id="33" name="Text 21"/>
          <p:cNvSpPr/>
          <p:nvPr/>
        </p:nvSpPr>
        <p:spPr>
          <a:xfrm>
            <a:off x="2400300" y="3923010"/>
            <a:ext cx="838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a:t>
            </a:r>
            <a:endParaRPr lang="en-US" sz="1400" dirty="0"/>
          </a:p>
        </p:txBody>
      </p:sp>
      <p:sp>
        <p:nvSpPr>
          <p:cNvPr id="34" name="Text 22"/>
          <p:cNvSpPr/>
          <p:nvPr/>
        </p:nvSpPr>
        <p:spPr>
          <a:xfrm>
            <a:off x="8369300" y="3923010"/>
            <a:ext cx="749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busca</a:t>
            </a:r>
            <a:endParaRPr lang="en-US" sz="1400" dirty="0"/>
          </a:p>
        </p:txBody>
      </p:sp>
      <p:sp>
        <p:nvSpPr>
          <p:cNvPr id="35" name="Text 23"/>
          <p:cNvSpPr/>
          <p:nvPr/>
        </p:nvSpPr>
        <p:spPr>
          <a:xfrm>
            <a:off x="5257800" y="2240260"/>
            <a:ext cx="196215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responde</a:t>
            </a:r>
            <a:endParaRPr lang="en-US" sz="1400" dirty="0"/>
          </a:p>
        </p:txBody>
      </p:sp>
      <p:pic>
        <p:nvPicPr>
          <p:cNvPr id="36" name="Image 10" descr="connector">    </p:cNvPr>
          <p:cNvPicPr>
            <a:picLocks noChangeAspect="1"/>
          </p:cNvPicPr>
          <p:nvPr/>
        </p:nvPicPr>
        <p:blipFill>
          <a:blip r:embed="rId11"/>
          <a:srcRect l="0" r="0" t="0" b="0"/>
          <a:stretch/>
        </p:blipFill>
        <p:spPr>
          <a:xfrm>
            <a:off x="3975100" y="2970510"/>
            <a:ext cx="152400" cy="755650"/>
          </a:xfrm>
          <a:prstGeom prst="rect">
            <a:avLst/>
          </a:prstGeom>
        </p:spPr>
      </p:pic>
      <p:sp>
        <p:nvSpPr>
          <p:cNvPr id="37" name="Text 24"/>
          <p:cNvSpPr/>
          <p:nvPr/>
        </p:nvSpPr>
        <p:spPr>
          <a:xfrm>
            <a:off x="4127500" y="3122910"/>
            <a:ext cx="15748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 call /</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resultado</a:t>
            </a:r>
            <a:endParaRPr lang="en-US" sz="1400" dirty="0"/>
          </a:p>
        </p:txBody>
      </p:sp>
      <p:sp>
        <p:nvSpPr>
          <p:cNvPr id="38" name="Text 25"/>
          <p:cNvSpPr/>
          <p:nvPr/>
        </p:nvSpPr>
        <p:spPr>
          <a:xfrm>
            <a:off x="4940300" y="3923010"/>
            <a:ext cx="939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39" name="Text 26"/>
          <p:cNvSpPr/>
          <p:nvPr/>
        </p:nvSpPr>
        <p:spPr>
          <a:xfrm>
            <a:off x="812800" y="5281910"/>
            <a:ext cx="10883392" cy="585490"/>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LLM propone la tool call y el runtime la ejecuta. «Hola, buenos días» no dispara la búsqueda (demo 04_rag_agentico.py).</a:t>
            </a:r>
            <a:endParaRPr lang="en-US" sz="1600" dirty="0"/>
          </a:p>
        </p:txBody>
      </p:sp>
      <p:sp>
        <p:nvSpPr>
          <p:cNvPr id="40" name="Text 27"/>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17</a:t>
            </a:r>
            <a:endParaRPr lang="en-US" sz="1200" dirty="0"/>
          </a:p>
        </p:txBody>
      </p:sp>
      <p:pic>
        <p:nvPicPr>
          <p:cNvPr id="41" name="Image 11" descr="Logo de AriwaLabs">    </p:cNvPr>
          <p:cNvPicPr>
            <a:picLocks noChangeAspect="1"/>
          </p:cNvPicPr>
          <p:nvPr/>
        </p:nvPicPr>
        <p:blipFill>
          <a:blip r:embed="rId12"/>
          <a:srcRect l="-9345" r="-9345" t="0" b="0"/>
          <a:stretch/>
        </p:blipFill>
        <p:spPr>
          <a:xfrm>
            <a:off x="10680700" y="6197600"/>
            <a:ext cx="698500" cy="25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¿Cuándo conviene cada uno?</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3294261"/>
        </p:xfrm>
        <a:graphic>
          <a:graphicData uri="http://schemas.openxmlformats.org/drawingml/2006/table">
            <a:tbl>
              <a:tblPr/>
              <a:tblGrid>
                <a:gridCol w="2955036"/>
                <a:gridCol w="3799332"/>
                <a:gridCol w="3799332"/>
              </a:tblGrid>
              <a:tr h="601960">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Aspecto</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RAG tradicional</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RAG agéntico</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601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Latencia</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Fija: siempre paga la búsqueda</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Variable: no busca si no hace falta</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88642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«Hola, buenos días»</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Busca igual: gasta y ensucia el contexto</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No busca</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01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Control</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Total: siempre hay contexto</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El agente puede decidir mal</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01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Defensa cuando decide mal</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La salvaguarda A6</a:t>
                      </a:r>
                      <a:endParaRPr lang="en-US" sz="1600" dirty="0">
                        <a:latin typeface="IBM Plex Sans" charset="0"/>
                        <a:ea typeface="IBM Plex Sans" charset="0"/>
                        <a:cs typeface="IBM Plex Sans" charset="0"/>
                      </a:endParaRPr>
                    </a:p>
                  </a:txBody>
                  <a:tcPr marL="152400" marR="1524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Text 1"/>
          <p:cNvSpPr/>
          <p:nvPr/>
        </p:nvSpPr>
        <p:spPr>
          <a:xfrm>
            <a:off x="812800" y="5033566"/>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L5 implementa RAG agéntico: el retriever es una tool más, con su docstring de cuándo usarla y cuándo no.</a:t>
            </a:r>
            <a:endParaRPr lang="en-US" sz="1600" dirty="0"/>
          </a:p>
        </p:txBody>
      </p:sp>
      <p:sp>
        <p:nvSpPr>
          <p:cNvPr id="5" name="Text 2"/>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18</a:t>
            </a:r>
            <a:endParaRPr lang="en-US" sz="1200" dirty="0"/>
          </a:p>
        </p:txBody>
      </p:sp>
      <p:pic>
        <p:nvPicPr>
          <p:cNvPr id="6"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110"/>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Salvaguarda A6: recuperar y citar</a:t>
            </a:r>
            <a:endParaRPr lang="en-US" sz="3600" dirty="0"/>
          </a:p>
        </p:txBody>
      </p:sp>
      <p:sp>
        <p:nvSpPr>
          <p:cNvPr id="3" name="Shape 1"/>
          <p:cNvSpPr/>
          <p:nvPr/>
        </p:nvSpPr>
        <p:spPr>
          <a:xfrm>
            <a:off x="819150" y="2703810"/>
            <a:ext cx="2400300" cy="1193800"/>
          </a:xfrm>
          <a:prstGeom prst="roundRect">
            <a:avLst>
              <a:gd name="adj" fmla="val 7979"/>
            </a:avLst>
          </a:prstGeom>
          <a:solidFill>
            <a:srgbClr val="FFFFFF"/>
          </a:solidFill>
          <a:ln w="12700">
            <a:solidFill>
              <a:srgbClr val="1E293B"/>
            </a:solidFill>
            <a:prstDash val="solid"/>
          </a:ln>
        </p:spPr>
      </p:sp>
      <p:pic>
        <p:nvPicPr>
          <p:cNvPr id="4" name="Image 0" descr="Chat">    </p:cNvPr>
          <p:cNvPicPr>
            <a:picLocks noChangeAspect="1"/>
          </p:cNvPicPr>
          <p:nvPr/>
        </p:nvPicPr>
        <p:blipFill>
          <a:blip r:embed="rId1"/>
          <a:srcRect l="0" r="0" t="0" b="0"/>
          <a:stretch/>
        </p:blipFill>
        <p:spPr>
          <a:xfrm>
            <a:off x="1879600" y="2812157"/>
            <a:ext cx="279400" cy="279400"/>
          </a:xfrm>
          <a:prstGeom prst="rect">
            <a:avLst/>
          </a:prstGeom>
        </p:spPr>
      </p:pic>
      <p:sp>
        <p:nvSpPr>
          <p:cNvPr id="5" name="Text 2"/>
          <p:cNvSpPr/>
          <p:nvPr/>
        </p:nvSpPr>
        <p:spPr>
          <a:xfrm>
            <a:off x="1124682" y="3142357"/>
            <a:ext cx="178923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 del dominio</a:t>
            </a:r>
            <a:endParaRPr lang="en-US" sz="1400" dirty="0"/>
          </a:p>
        </p:txBody>
      </p:sp>
      <p:sp>
        <p:nvSpPr>
          <p:cNvPr id="6" name="Text 3"/>
          <p:cNvSpPr/>
          <p:nvPr/>
        </p:nvSpPr>
        <p:spPr>
          <a:xfrm>
            <a:off x="894334" y="3408263"/>
            <a:ext cx="2249932"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tarifas · coberturas · plazos · políticas</a:t>
            </a:r>
            <a:endParaRPr lang="en-US" sz="1200" dirty="0"/>
          </a:p>
        </p:txBody>
      </p:sp>
      <p:sp>
        <p:nvSpPr>
          <p:cNvPr id="7" name="Shape 4"/>
          <p:cNvSpPr/>
          <p:nvPr/>
        </p:nvSpPr>
        <p:spPr>
          <a:xfrm>
            <a:off x="4381500" y="2710160"/>
            <a:ext cx="2641600" cy="1181100"/>
          </a:xfrm>
          <a:prstGeom prst="roundRect">
            <a:avLst>
              <a:gd name="adj" fmla="val 7527"/>
            </a:avLst>
          </a:prstGeom>
          <a:solidFill>
            <a:srgbClr val="FFF0EB"/>
          </a:solidFill>
          <a:ln w="25400">
            <a:solidFill>
              <a:srgbClr val="FF5733"/>
            </a:solidFill>
            <a:prstDash val="solid"/>
          </a:ln>
        </p:spPr>
      </p:sp>
      <p:pic>
        <p:nvPicPr>
          <p:cNvPr id="8" name="Image 1" descr="Search">    </p:cNvPr>
          <p:cNvPicPr>
            <a:picLocks noChangeAspect="1"/>
          </p:cNvPicPr>
          <p:nvPr/>
        </p:nvPicPr>
        <p:blipFill>
          <a:blip r:embed="rId2"/>
          <a:srcRect l="0" r="0" t="0" b="0"/>
          <a:stretch/>
        </p:blipFill>
        <p:spPr>
          <a:xfrm>
            <a:off x="5562600" y="2907407"/>
            <a:ext cx="279400" cy="279400"/>
          </a:xfrm>
          <a:prstGeom prst="rect">
            <a:avLst/>
          </a:prstGeom>
        </p:spPr>
      </p:pic>
      <p:sp>
        <p:nvSpPr>
          <p:cNvPr id="9" name="Text 5"/>
          <p:cNvSpPr/>
          <p:nvPr/>
        </p:nvSpPr>
        <p:spPr>
          <a:xfrm>
            <a:off x="4657150" y="3237607"/>
            <a:ext cx="2090201"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¿Hay fuente recuperada?</a:t>
            </a:r>
            <a:endParaRPr lang="en-US" sz="1400" dirty="0"/>
          </a:p>
        </p:txBody>
      </p:sp>
      <p:sp>
        <p:nvSpPr>
          <p:cNvPr id="10" name="Text 6"/>
          <p:cNvSpPr/>
          <p:nvPr/>
        </p:nvSpPr>
        <p:spPr>
          <a:xfrm>
            <a:off x="4921250" y="3503513"/>
            <a:ext cx="156200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tras llamar al retriever</a:t>
            </a:r>
            <a:endParaRPr lang="en-US" sz="1200" dirty="0"/>
          </a:p>
        </p:txBody>
      </p:sp>
      <p:sp>
        <p:nvSpPr>
          <p:cNvPr id="11" name="Shape 7"/>
          <p:cNvSpPr/>
          <p:nvPr/>
        </p:nvSpPr>
        <p:spPr>
          <a:xfrm>
            <a:off x="8470900" y="1662410"/>
            <a:ext cx="2895600" cy="1054100"/>
          </a:xfrm>
          <a:prstGeom prst="roundRect">
            <a:avLst>
              <a:gd name="adj" fmla="val 8434"/>
            </a:avLst>
          </a:prstGeom>
          <a:solidFill>
            <a:srgbClr val="FFF0EB"/>
          </a:solidFill>
          <a:ln w="25400">
            <a:solidFill>
              <a:srgbClr val="FF5733"/>
            </a:solidFill>
            <a:prstDash val="solid"/>
          </a:ln>
        </p:spPr>
      </p:sp>
      <p:pic>
        <p:nvPicPr>
          <p:cNvPr id="12" name="Image 2" descr="CheckCircle">    </p:cNvPr>
          <p:cNvPicPr>
            <a:picLocks noChangeAspect="1"/>
          </p:cNvPicPr>
          <p:nvPr/>
        </p:nvPicPr>
        <p:blipFill>
          <a:blip r:embed="rId3"/>
          <a:srcRect l="0" r="0" t="0" b="0"/>
          <a:stretch/>
        </p:blipFill>
        <p:spPr>
          <a:xfrm>
            <a:off x="9779000" y="1796157"/>
            <a:ext cx="279400" cy="279400"/>
          </a:xfrm>
          <a:prstGeom prst="rect">
            <a:avLst/>
          </a:prstGeom>
        </p:spPr>
      </p:pic>
      <p:sp>
        <p:nvSpPr>
          <p:cNvPr id="13" name="Text 8"/>
          <p:cNvSpPr/>
          <p:nvPr/>
        </p:nvSpPr>
        <p:spPr>
          <a:xfrm>
            <a:off x="9161760" y="2126357"/>
            <a:ext cx="151378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Responde citando</a:t>
            </a:r>
            <a:endParaRPr lang="en-US" sz="1400" dirty="0"/>
          </a:p>
        </p:txBody>
      </p:sp>
      <p:sp>
        <p:nvSpPr>
          <p:cNvPr id="14" name="Text 9"/>
          <p:cNvSpPr/>
          <p:nvPr/>
        </p:nvSpPr>
        <p:spPr>
          <a:xfrm>
            <a:off x="9140428" y="2392263"/>
            <a:ext cx="155644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nombra el documento</a:t>
            </a:r>
            <a:endParaRPr lang="en-US" sz="1200" dirty="0"/>
          </a:p>
        </p:txBody>
      </p:sp>
      <p:sp>
        <p:nvSpPr>
          <p:cNvPr id="15" name="Shape 10"/>
          <p:cNvSpPr/>
          <p:nvPr/>
        </p:nvSpPr>
        <p:spPr>
          <a:xfrm>
            <a:off x="8464550" y="3878560"/>
            <a:ext cx="2908300" cy="1066800"/>
          </a:xfrm>
          <a:prstGeom prst="roundRect">
            <a:avLst>
              <a:gd name="adj" fmla="val 8929"/>
            </a:avLst>
          </a:prstGeom>
          <a:solidFill>
            <a:srgbClr val="FFFFFF"/>
          </a:solidFill>
          <a:ln w="12700">
            <a:solidFill>
              <a:srgbClr val="1E293B"/>
            </a:solidFill>
            <a:prstDash val="solid"/>
          </a:ln>
        </p:spPr>
      </p:sp>
      <p:pic>
        <p:nvPicPr>
          <p:cNvPr id="16" name="Image 3" descr="Warning">    </p:cNvPr>
          <p:cNvPicPr>
            <a:picLocks noChangeAspect="1"/>
          </p:cNvPicPr>
          <p:nvPr/>
        </p:nvPicPr>
        <p:blipFill>
          <a:blip r:embed="rId4"/>
          <a:srcRect l="0" r="0" t="0" b="0"/>
          <a:stretch/>
        </p:blipFill>
        <p:spPr>
          <a:xfrm>
            <a:off x="9779000" y="4018657"/>
            <a:ext cx="279400" cy="279400"/>
          </a:xfrm>
          <a:prstGeom prst="rect">
            <a:avLst/>
          </a:prstGeom>
        </p:spPr>
      </p:pic>
      <p:sp>
        <p:nvSpPr>
          <p:cNvPr id="17" name="Text 11"/>
          <p:cNvSpPr/>
          <p:nvPr/>
        </p:nvSpPr>
        <p:spPr>
          <a:xfrm>
            <a:off x="9105999" y="4348857"/>
            <a:ext cx="162530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Dice que no lo sabe</a:t>
            </a:r>
            <a:endParaRPr lang="en-US" sz="1400" dirty="0"/>
          </a:p>
        </p:txBody>
      </p:sp>
      <p:sp>
        <p:nvSpPr>
          <p:cNvPr id="18" name="Text 12"/>
          <p:cNvSpPr/>
          <p:nvPr/>
        </p:nvSpPr>
        <p:spPr>
          <a:xfrm>
            <a:off x="9285585" y="4614763"/>
            <a:ext cx="126613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no inventa el dato</a:t>
            </a:r>
            <a:endParaRPr lang="en-US" sz="1200" dirty="0"/>
          </a:p>
        </p:txBody>
      </p:sp>
      <p:sp>
        <p:nvSpPr>
          <p:cNvPr id="19" name="Shape 13"/>
          <p:cNvSpPr/>
          <p:nvPr/>
        </p:nvSpPr>
        <p:spPr>
          <a:xfrm>
            <a:off x="4375150" y="4354810"/>
            <a:ext cx="2654300" cy="685800"/>
          </a:xfrm>
          <a:prstGeom prst="roundRect">
            <a:avLst>
              <a:gd name="adj" fmla="val 13889"/>
            </a:avLst>
          </a:prstGeom>
          <a:solidFill>
            <a:srgbClr val="FFFFFF"/>
          </a:solidFill>
          <a:ln w="12700">
            <a:solidFill>
              <a:srgbClr val="1E293B"/>
            </a:solidFill>
            <a:prstDash val="solid"/>
          </a:ln>
        </p:spPr>
      </p:sp>
      <p:sp>
        <p:nvSpPr>
          <p:cNvPr id="20" name="Text 14"/>
          <p:cNvSpPr/>
          <p:nvPr/>
        </p:nvSpPr>
        <p:spPr>
          <a:xfrm>
            <a:off x="5055195" y="4469507"/>
            <a:ext cx="129411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System prompt</a:t>
            </a:r>
            <a:endParaRPr lang="en-US" sz="1400" dirty="0"/>
          </a:p>
        </p:txBody>
      </p:sp>
      <p:sp>
        <p:nvSpPr>
          <p:cNvPr id="21" name="Text 15"/>
          <p:cNvSpPr/>
          <p:nvPr/>
        </p:nvSpPr>
        <p:spPr>
          <a:xfrm>
            <a:off x="4572021" y="4735413"/>
            <a:ext cx="226045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get_system_prompt(track)</a:t>
            </a:r>
            <a:endParaRPr lang="en-US" sz="1200" dirty="0"/>
          </a:p>
        </p:txBody>
      </p:sp>
      <p:pic>
        <p:nvPicPr>
          <p:cNvPr id="22" name="Image 4" descr="connector">    </p:cNvPr>
          <p:cNvPicPr>
            <a:picLocks noChangeAspect="1"/>
          </p:cNvPicPr>
          <p:nvPr/>
        </p:nvPicPr>
        <p:blipFill>
          <a:blip r:embed="rId5"/>
          <a:srcRect l="0" r="0" t="0" b="0"/>
          <a:stretch/>
        </p:blipFill>
        <p:spPr>
          <a:xfrm>
            <a:off x="3175000" y="3249910"/>
            <a:ext cx="1244600" cy="101600"/>
          </a:xfrm>
          <a:prstGeom prst="rect">
            <a:avLst/>
          </a:prstGeom>
        </p:spPr>
      </p:pic>
      <p:pic>
        <p:nvPicPr>
          <p:cNvPr id="23" name="Image 5" descr="connector">    </p:cNvPr>
          <p:cNvPicPr>
            <a:picLocks noChangeAspect="1"/>
          </p:cNvPicPr>
          <p:nvPr/>
        </p:nvPicPr>
        <p:blipFill>
          <a:blip r:embed="rId6"/>
          <a:srcRect l="0" r="0" t="0" b="0"/>
          <a:stretch/>
        </p:blipFill>
        <p:spPr>
          <a:xfrm>
            <a:off x="6959600" y="2113260"/>
            <a:ext cx="1574800" cy="1073150"/>
          </a:xfrm>
          <a:prstGeom prst="rect">
            <a:avLst/>
          </a:prstGeom>
        </p:spPr>
      </p:pic>
      <p:pic>
        <p:nvPicPr>
          <p:cNvPr id="24" name="Image 6" descr="connector">    </p:cNvPr>
          <p:cNvPicPr>
            <a:picLocks noChangeAspect="1"/>
          </p:cNvPicPr>
          <p:nvPr/>
        </p:nvPicPr>
        <p:blipFill>
          <a:blip r:embed="rId7"/>
          <a:srcRect l="0" r="0" t="0" b="0"/>
          <a:stretch/>
        </p:blipFill>
        <p:spPr>
          <a:xfrm>
            <a:off x="6985000" y="3440410"/>
            <a:ext cx="1524000" cy="1022350"/>
          </a:xfrm>
          <a:prstGeom prst="rect">
            <a:avLst/>
          </a:prstGeom>
        </p:spPr>
      </p:pic>
      <p:pic>
        <p:nvPicPr>
          <p:cNvPr id="25" name="Image 7" descr="connector">    </p:cNvPr>
          <p:cNvPicPr>
            <a:picLocks noChangeAspect="1"/>
          </p:cNvPicPr>
          <p:nvPr/>
        </p:nvPicPr>
        <p:blipFill>
          <a:blip r:embed="rId8"/>
          <a:srcRect l="0" r="0" t="0" b="0"/>
          <a:stretch/>
        </p:blipFill>
        <p:spPr>
          <a:xfrm>
            <a:off x="5651500" y="3853160"/>
            <a:ext cx="101600" cy="546100"/>
          </a:xfrm>
          <a:prstGeom prst="rect">
            <a:avLst/>
          </a:prstGeom>
        </p:spPr>
      </p:pic>
      <p:sp>
        <p:nvSpPr>
          <p:cNvPr id="26" name="Text 16"/>
          <p:cNvSpPr/>
          <p:nvPr/>
        </p:nvSpPr>
        <p:spPr>
          <a:xfrm>
            <a:off x="3289300" y="2818110"/>
            <a:ext cx="10668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afirma</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un dato</a:t>
            </a:r>
            <a:endParaRPr lang="en-US" sz="1400" dirty="0"/>
          </a:p>
        </p:txBody>
      </p:sp>
      <p:sp>
        <p:nvSpPr>
          <p:cNvPr id="27" name="Text 17"/>
          <p:cNvSpPr/>
          <p:nvPr/>
        </p:nvSpPr>
        <p:spPr>
          <a:xfrm>
            <a:off x="7797800" y="1891010"/>
            <a:ext cx="558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sí</a:t>
            </a:r>
            <a:endParaRPr lang="en-US" sz="1400" dirty="0"/>
          </a:p>
        </p:txBody>
      </p:sp>
      <p:sp>
        <p:nvSpPr>
          <p:cNvPr id="28" name="Text 18"/>
          <p:cNvSpPr/>
          <p:nvPr/>
        </p:nvSpPr>
        <p:spPr>
          <a:xfrm>
            <a:off x="7797800" y="4481810"/>
            <a:ext cx="558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no</a:t>
            </a:r>
            <a:endParaRPr lang="en-US" sz="1400" dirty="0"/>
          </a:p>
        </p:txBody>
      </p:sp>
      <p:sp>
        <p:nvSpPr>
          <p:cNvPr id="29" name="Text 19"/>
          <p:cNvSpPr/>
          <p:nvPr/>
        </p:nvSpPr>
        <p:spPr>
          <a:xfrm>
            <a:off x="5778500" y="4018260"/>
            <a:ext cx="1130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bloque A6</a:t>
            </a:r>
            <a:endParaRPr lang="en-US" sz="1400" dirty="0"/>
          </a:p>
        </p:txBody>
      </p:sp>
      <p:sp>
        <p:nvSpPr>
          <p:cNvPr id="30" name="Text 20"/>
          <p:cNvSpPr/>
          <p:nvPr/>
        </p:nvSpPr>
        <p:spPr>
          <a:xfrm>
            <a:off x="812800" y="5281910"/>
            <a:ext cx="10883392" cy="585490"/>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A6 vive en el system prompt: orienta al modelo, no lo obliga. Una respuesta sin fuente no se puede auditar. S6 añade controles en código.</a:t>
            </a:r>
            <a:endParaRPr lang="en-US" sz="1600" dirty="0"/>
          </a:p>
        </p:txBody>
      </p:sp>
      <p:sp>
        <p:nvSpPr>
          <p:cNvPr id="31" name="Text 21"/>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19</a:t>
            </a:r>
            <a:endParaRPr lang="en-US" sz="1200" dirty="0"/>
          </a:p>
        </p:txBody>
      </p:sp>
      <p:pic>
        <p:nvPicPr>
          <p:cNvPr id="32" name="Image 8" descr="Logo de AriwaLabs">    </p:cNvPr>
          <p:cNvPicPr>
            <a:picLocks noChangeAspect="1"/>
          </p:cNvPicPr>
          <p:nvPr/>
        </p:nvPicPr>
        <p:blipFill>
          <a:blip r:embed="rId9"/>
          <a:srcRect l="-9345" r="-9345" t="0" b="0"/>
          <a:stretch/>
        </p:blipFill>
        <p:spPr>
          <a:xfrm>
            <a:off x="10680700" y="6197600"/>
            <a:ext cx="698500" cy="25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2831902"/>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Pausa · 10 min</a:t>
            </a:r>
            <a:endParaRPr lang="en-US" sz="3600" dirty="0"/>
          </a:p>
        </p:txBody>
      </p:sp>
      <p:sp>
        <p:nvSpPr>
          <p:cNvPr id="3" name="Text 1"/>
          <p:cNvSpPr/>
          <p:nvPr/>
        </p:nvSpPr>
        <p:spPr>
          <a:xfrm>
            <a:off x="812800" y="3542506"/>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Al volver: laboratorio L5, empezando por la ingesta guiada del corpus de tu track.</a:t>
            </a:r>
            <a:endParaRPr lang="en-US" sz="1600" dirty="0"/>
          </a:p>
        </p:txBody>
      </p:sp>
      <p:sp>
        <p:nvSpPr>
          <p:cNvPr id="4" name="Text 2"/>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20</a:t>
            </a:r>
            <a:endParaRPr lang="en-US" sz="1200" dirty="0"/>
          </a:p>
        </p:txBody>
      </p:sp>
      <p:pic>
        <p:nvPicPr>
          <p:cNvPr id="5"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110"/>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L5 · El incremento sobre el L4</a:t>
            </a:r>
            <a:endParaRPr lang="en-US" sz="3600" dirty="0"/>
          </a:p>
        </p:txBody>
      </p:sp>
      <p:sp>
        <p:nvSpPr>
          <p:cNvPr id="3" name="Shape 1"/>
          <p:cNvSpPr/>
          <p:nvPr/>
        </p:nvSpPr>
        <p:spPr>
          <a:xfrm>
            <a:off x="819150" y="1529060"/>
            <a:ext cx="6972300" cy="3543300"/>
          </a:xfrm>
          <a:prstGeom prst="roundRect">
            <a:avLst>
              <a:gd name="adj" fmla="val 4122"/>
            </a:avLst>
          </a:prstGeom>
          <a:solidFill>
            <a:srgbClr val="E9F0F7"/>
          </a:solidFill>
          <a:ln w="12700">
            <a:solidFill>
              <a:srgbClr val="526277"/>
            </a:solidFill>
            <a:prstDash val="solid"/>
          </a:ln>
        </p:spPr>
      </p:sp>
      <p:sp>
        <p:nvSpPr>
          <p:cNvPr id="4" name="Text 2"/>
          <p:cNvSpPr/>
          <p:nvPr/>
        </p:nvSpPr>
        <p:spPr>
          <a:xfrm>
            <a:off x="965200" y="1624310"/>
            <a:ext cx="2616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agent.py v3</a:t>
            </a:r>
            <a:endParaRPr lang="en-US" sz="1400" dirty="0"/>
          </a:p>
        </p:txBody>
      </p:sp>
      <p:sp>
        <p:nvSpPr>
          <p:cNvPr id="5" name="Shape 3"/>
          <p:cNvSpPr/>
          <p:nvPr/>
        </p:nvSpPr>
        <p:spPr>
          <a:xfrm>
            <a:off x="1073150" y="1910060"/>
            <a:ext cx="1892300" cy="1066800"/>
          </a:xfrm>
          <a:prstGeom prst="roundRect">
            <a:avLst>
              <a:gd name="adj" fmla="val 8929"/>
            </a:avLst>
          </a:prstGeom>
          <a:solidFill>
            <a:srgbClr val="FFFFFF"/>
          </a:solidFill>
          <a:ln w="12700">
            <a:solidFill>
              <a:srgbClr val="1E293B"/>
            </a:solidFill>
            <a:prstDash val="solid"/>
          </a:ln>
        </p:spPr>
      </p:sp>
      <p:pic>
        <p:nvPicPr>
          <p:cNvPr id="6" name="Image 0" descr="preencoded.png">    </p:cNvPr>
          <p:cNvPicPr>
            <a:picLocks noChangeAspect="1"/>
          </p:cNvPicPr>
          <p:nvPr/>
        </p:nvPicPr>
        <p:blipFill>
          <a:blip r:embed="rId1"/>
          <a:srcRect l="0" r="0" t="0" b="0"/>
          <a:stretch/>
        </p:blipFill>
        <p:spPr>
          <a:xfrm>
            <a:off x="1879600" y="2050157"/>
            <a:ext cx="279400" cy="279400"/>
          </a:xfrm>
          <a:prstGeom prst="rect">
            <a:avLst/>
          </a:prstGeom>
        </p:spPr>
      </p:pic>
      <p:sp>
        <p:nvSpPr>
          <p:cNvPr id="7" name="Text 4"/>
          <p:cNvSpPr/>
          <p:nvPr/>
        </p:nvSpPr>
        <p:spPr>
          <a:xfrm>
            <a:off x="1830189" y="2380357"/>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1707455" y="2646263"/>
            <a:ext cx="62368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Shape 6"/>
          <p:cNvSpPr/>
          <p:nvPr/>
        </p:nvSpPr>
        <p:spPr>
          <a:xfrm>
            <a:off x="1073150" y="3624560"/>
            <a:ext cx="1892300" cy="1066800"/>
          </a:xfrm>
          <a:prstGeom prst="roundRect">
            <a:avLst>
              <a:gd name="adj" fmla="val 8929"/>
            </a:avLst>
          </a:prstGeom>
          <a:solidFill>
            <a:srgbClr val="FFFFFF"/>
          </a:solidFill>
          <a:ln w="12700">
            <a:solidFill>
              <a:srgbClr val="1E293B"/>
            </a:solidFill>
            <a:prstDash val="solid"/>
          </a:ln>
        </p:spPr>
      </p:sp>
      <p:pic>
        <p:nvPicPr>
          <p:cNvPr id="10" name="Image 1" descr="Settings">    </p:cNvPr>
          <p:cNvPicPr>
            <a:picLocks noChangeAspect="1"/>
          </p:cNvPicPr>
          <p:nvPr/>
        </p:nvPicPr>
        <p:blipFill>
          <a:blip r:embed="rId2"/>
          <a:srcRect l="0" r="0" t="0" b="0"/>
          <a:stretch/>
        </p:blipFill>
        <p:spPr>
          <a:xfrm>
            <a:off x="1879600" y="3764657"/>
            <a:ext cx="279400" cy="279400"/>
          </a:xfrm>
          <a:prstGeom prst="rect">
            <a:avLst/>
          </a:prstGeom>
        </p:spPr>
      </p:pic>
      <p:sp>
        <p:nvSpPr>
          <p:cNvPr id="11" name="Text 7"/>
          <p:cNvSpPr/>
          <p:nvPr/>
        </p:nvSpPr>
        <p:spPr>
          <a:xfrm>
            <a:off x="1648718" y="4094857"/>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2" name="Text 8"/>
          <p:cNvSpPr/>
          <p:nvPr/>
        </p:nvSpPr>
        <p:spPr>
          <a:xfrm>
            <a:off x="1490960" y="4360763"/>
            <a:ext cx="105668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responder()</a:t>
            </a:r>
            <a:endParaRPr lang="en-US" sz="1200" dirty="0"/>
          </a:p>
        </p:txBody>
      </p:sp>
      <p:sp>
        <p:nvSpPr>
          <p:cNvPr id="13" name="Shape 9"/>
          <p:cNvSpPr/>
          <p:nvPr/>
        </p:nvSpPr>
        <p:spPr>
          <a:xfrm>
            <a:off x="4635500" y="1916410"/>
            <a:ext cx="2641600" cy="1054100"/>
          </a:xfrm>
          <a:prstGeom prst="roundRect">
            <a:avLst>
              <a:gd name="adj" fmla="val 8434"/>
            </a:avLst>
          </a:prstGeom>
          <a:solidFill>
            <a:srgbClr val="FFF0EB"/>
          </a:solidFill>
          <a:ln w="25400">
            <a:solidFill>
              <a:srgbClr val="FF5733"/>
            </a:solidFill>
            <a:prstDash val="solid"/>
          </a:ln>
        </p:spPr>
      </p:sp>
      <p:pic>
        <p:nvPicPr>
          <p:cNvPr id="14" name="Image 2" descr="preencoded.png">    </p:cNvPr>
          <p:cNvPicPr>
            <a:picLocks noChangeAspect="1"/>
          </p:cNvPicPr>
          <p:nvPr/>
        </p:nvPicPr>
        <p:blipFill>
          <a:blip r:embed="rId3"/>
          <a:srcRect l="0" r="0" t="0" b="0"/>
          <a:stretch/>
        </p:blipFill>
        <p:spPr>
          <a:xfrm>
            <a:off x="5816600" y="2050157"/>
            <a:ext cx="279400" cy="279400"/>
          </a:xfrm>
          <a:prstGeom prst="rect">
            <a:avLst/>
          </a:prstGeom>
        </p:spPr>
      </p:pic>
      <p:sp>
        <p:nvSpPr>
          <p:cNvPr id="15" name="Text 10"/>
          <p:cNvSpPr/>
          <p:nvPr/>
        </p:nvSpPr>
        <p:spPr>
          <a:xfrm>
            <a:off x="5574308" y="2380357"/>
            <a:ext cx="76398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Memoria</a:t>
            </a:r>
            <a:endParaRPr lang="en-US" sz="1400" dirty="0"/>
          </a:p>
        </p:txBody>
      </p:sp>
      <p:sp>
        <p:nvSpPr>
          <p:cNvPr id="16" name="Text 11"/>
          <p:cNvSpPr/>
          <p:nvPr/>
        </p:nvSpPr>
        <p:spPr>
          <a:xfrm>
            <a:off x="5156696" y="2646263"/>
            <a:ext cx="159910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memory.py · thread_id</a:t>
            </a:r>
            <a:endParaRPr lang="en-US" sz="1200" dirty="0"/>
          </a:p>
        </p:txBody>
      </p:sp>
      <p:sp>
        <p:nvSpPr>
          <p:cNvPr id="17" name="Shape 12"/>
          <p:cNvSpPr/>
          <p:nvPr/>
        </p:nvSpPr>
        <p:spPr>
          <a:xfrm>
            <a:off x="4438650" y="3053060"/>
            <a:ext cx="3035300" cy="1993900"/>
          </a:xfrm>
          <a:prstGeom prst="roundRect">
            <a:avLst>
              <a:gd name="adj" fmla="val 4777"/>
            </a:avLst>
          </a:prstGeom>
          <a:solidFill>
            <a:srgbClr val="FFFFFF"/>
          </a:solidFill>
          <a:ln w="12700">
            <a:solidFill>
              <a:srgbClr val="526277"/>
            </a:solidFill>
            <a:prstDash val="dash"/>
          </a:ln>
        </p:spPr>
      </p:sp>
      <p:sp>
        <p:nvSpPr>
          <p:cNvPr id="18" name="Text 13"/>
          <p:cNvSpPr/>
          <p:nvPr/>
        </p:nvSpPr>
        <p:spPr>
          <a:xfrm>
            <a:off x="4584700" y="3084810"/>
            <a:ext cx="2616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Mono" pitchFamily="34" charset="0"/>
                <a:ea typeface="IBM Plex Mono" pitchFamily="34" charset="-122"/>
                <a:cs typeface="IBM Plex Mono" pitchFamily="34" charset="-120"/>
              </a:rPr>
              <a:t>ALL_TOOLS</a:t>
            </a:r>
            <a:endParaRPr lang="en-US" sz="1400" dirty="0"/>
          </a:p>
        </p:txBody>
      </p:sp>
      <p:sp>
        <p:nvSpPr>
          <p:cNvPr id="19" name="Shape 14"/>
          <p:cNvSpPr/>
          <p:nvPr/>
        </p:nvSpPr>
        <p:spPr>
          <a:xfrm>
            <a:off x="4629150" y="3370560"/>
            <a:ext cx="2654300" cy="660400"/>
          </a:xfrm>
          <a:prstGeom prst="roundRect">
            <a:avLst>
              <a:gd name="adj" fmla="val 14423"/>
            </a:avLst>
          </a:prstGeom>
          <a:solidFill>
            <a:srgbClr val="FFFFFF"/>
          </a:solidFill>
          <a:ln w="12700">
            <a:solidFill>
              <a:srgbClr val="1E293B"/>
            </a:solidFill>
            <a:prstDash val="solid"/>
          </a:ln>
        </p:spPr>
      </p:sp>
      <p:sp>
        <p:nvSpPr>
          <p:cNvPr id="20" name="Text 15"/>
          <p:cNvSpPr/>
          <p:nvPr/>
        </p:nvSpPr>
        <p:spPr>
          <a:xfrm>
            <a:off x="5453955" y="3478510"/>
            <a:ext cx="1004590" cy="234156"/>
          </a:xfrm>
          <a:prstGeom prst="rect">
            <a:avLst/>
          </a:prstGeom>
          <a:noFill/>
          <a:ln/>
        </p:spPr>
        <p:txBody>
          <a:bodyPr wrap="square" lIns="0" tIns="0" rIns="0" bIns="0" rtlCol="0" anchor="t">
            <a:normAutofit/>
          </a:bodyPr>
          <a:lstStyle/>
          <a:p>
            <a:pPr algn="ctr" indent="0" marL="0">
              <a:lnSpc>
                <a:spcPts val="1673"/>
              </a:lnSpc>
              <a:buNone/>
            </a:pPr>
            <a:r>
              <a:rPr lang="en-US" sz="1383" dirty="0">
                <a:solidFill>
                  <a:srgbClr val="1E293B"/>
                </a:solidFill>
                <a:latin typeface="IBM Plex Sans" pitchFamily="34" charset="0"/>
                <a:ea typeface="IBM Plex Sans" pitchFamily="34" charset="-122"/>
                <a:cs typeface="IBM Plex Sans" pitchFamily="34" charset="-120"/>
              </a:rPr>
              <a:t>Tools del L4</a:t>
            </a:r>
            <a:endParaRPr lang="en-US" sz="1383" dirty="0"/>
          </a:p>
        </p:txBody>
      </p:sp>
      <p:sp>
        <p:nvSpPr>
          <p:cNvPr id="21" name="Text 16"/>
          <p:cNvSpPr/>
          <p:nvPr/>
        </p:nvSpPr>
        <p:spPr>
          <a:xfrm>
            <a:off x="5379541" y="3738066"/>
            <a:ext cx="1153418" cy="210344"/>
          </a:xfrm>
          <a:prstGeom prst="rect">
            <a:avLst/>
          </a:prstGeom>
          <a:noFill/>
          <a:ln/>
        </p:spPr>
        <p:txBody>
          <a:bodyPr wrap="square" lIns="0" tIns="0" rIns="0" bIns="0" rtlCol="0" anchor="t">
            <a:normAutofit/>
          </a:bodyPr>
          <a:lstStyle/>
          <a:p>
            <a:pPr algn="ctr" indent="0" marL="0">
              <a:lnSpc>
                <a:spcPts val="1472"/>
              </a:lnSpc>
              <a:buNone/>
            </a:pPr>
            <a:r>
              <a:rPr lang="en-US" sz="1177" dirty="0">
                <a:solidFill>
                  <a:srgbClr val="526277"/>
                </a:solidFill>
                <a:latin typeface="IBM Plex Sans" pitchFamily="34" charset="0"/>
                <a:ea typeface="IBM Plex Sans" pitchFamily="34" charset="-122"/>
                <a:cs typeface="IBM Plex Sans" pitchFamily="34" charset="-120"/>
              </a:rPr>
              <a:t>TOOLS_NUCLEO</a:t>
            </a:r>
            <a:endParaRPr lang="en-US" sz="1177" dirty="0"/>
          </a:p>
        </p:txBody>
      </p:sp>
      <p:sp>
        <p:nvSpPr>
          <p:cNvPr id="22" name="Shape 17"/>
          <p:cNvSpPr/>
          <p:nvPr/>
        </p:nvSpPr>
        <p:spPr>
          <a:xfrm>
            <a:off x="4635500" y="4265910"/>
            <a:ext cx="2641600" cy="647700"/>
          </a:xfrm>
          <a:prstGeom prst="roundRect">
            <a:avLst>
              <a:gd name="adj" fmla="val 13725"/>
            </a:avLst>
          </a:prstGeom>
          <a:solidFill>
            <a:srgbClr val="FFF0EB"/>
          </a:solidFill>
          <a:ln w="25400">
            <a:solidFill>
              <a:srgbClr val="FF5733"/>
            </a:solidFill>
            <a:prstDash val="solid"/>
          </a:ln>
        </p:spPr>
      </p:sp>
      <p:sp>
        <p:nvSpPr>
          <p:cNvPr id="23" name="Text 18"/>
          <p:cNvSpPr/>
          <p:nvPr/>
        </p:nvSpPr>
        <p:spPr>
          <a:xfrm>
            <a:off x="5363865" y="4380210"/>
            <a:ext cx="1184870" cy="220762"/>
          </a:xfrm>
          <a:prstGeom prst="rect">
            <a:avLst/>
          </a:prstGeom>
          <a:noFill/>
          <a:ln/>
        </p:spPr>
        <p:txBody>
          <a:bodyPr wrap="square" lIns="0" tIns="0" rIns="0" bIns="0" rtlCol="0" anchor="t">
            <a:normAutofit/>
          </a:bodyPr>
          <a:lstStyle/>
          <a:p>
            <a:pPr algn="ctr" indent="0" marL="0">
              <a:lnSpc>
                <a:spcPts val="1572"/>
              </a:lnSpc>
              <a:buNone/>
            </a:pPr>
            <a:r>
              <a:rPr lang="en-US" sz="1299" dirty="0">
                <a:solidFill>
                  <a:srgbClr val="1E293B"/>
                </a:solidFill>
                <a:latin typeface="IBM Plex Sans" pitchFamily="34" charset="0"/>
                <a:ea typeface="IBM Plex Sans" pitchFamily="34" charset="-122"/>
                <a:cs typeface="IBM Plex Sans" pitchFamily="34" charset="-120"/>
              </a:rPr>
              <a:t>Retriever (tool)</a:t>
            </a:r>
            <a:endParaRPr lang="en-US" sz="1299" dirty="0"/>
          </a:p>
        </p:txBody>
      </p:sp>
      <p:sp>
        <p:nvSpPr>
          <p:cNvPr id="24" name="Text 19"/>
          <p:cNvSpPr/>
          <p:nvPr/>
        </p:nvSpPr>
        <p:spPr>
          <a:xfrm>
            <a:off x="4964801" y="4626372"/>
            <a:ext cx="1982998" cy="198338"/>
          </a:xfrm>
          <a:prstGeom prst="rect">
            <a:avLst/>
          </a:prstGeom>
          <a:noFill/>
          <a:ln/>
        </p:spPr>
        <p:txBody>
          <a:bodyPr wrap="square" lIns="0" tIns="0" rIns="0" bIns="0" rtlCol="0" anchor="t">
            <a:normAutofit/>
          </a:bodyPr>
          <a:lstStyle/>
          <a:p>
            <a:pPr algn="ctr" indent="0" marL="0">
              <a:lnSpc>
                <a:spcPts val="1373"/>
              </a:lnSpc>
              <a:buNone/>
            </a:pPr>
            <a:r>
              <a:rPr lang="en-US" sz="1099" dirty="0">
                <a:solidFill>
                  <a:srgbClr val="526277"/>
                </a:solidFill>
                <a:latin typeface="IBM Plex Mono" pitchFamily="34" charset="0"/>
                <a:ea typeface="IBM Plex Mono" pitchFamily="34" charset="-122"/>
                <a:cs typeface="IBM Plex Mono" pitchFamily="34" charset="-120"/>
              </a:rPr>
              <a:t>retrieve_knowledge_base</a:t>
            </a:r>
            <a:endParaRPr lang="en-US" sz="1099" dirty="0"/>
          </a:p>
        </p:txBody>
      </p:sp>
      <p:sp>
        <p:nvSpPr>
          <p:cNvPr id="25" name="Shape 20"/>
          <p:cNvSpPr/>
          <p:nvPr/>
        </p:nvSpPr>
        <p:spPr>
          <a:xfrm>
            <a:off x="9353550" y="1783060"/>
            <a:ext cx="2019300" cy="1066800"/>
          </a:xfrm>
          <a:prstGeom prst="roundRect">
            <a:avLst>
              <a:gd name="adj" fmla="val 8929"/>
            </a:avLst>
          </a:prstGeom>
          <a:solidFill>
            <a:srgbClr val="FFFFFF"/>
          </a:solidFill>
          <a:ln w="12700">
            <a:solidFill>
              <a:srgbClr val="1E293B"/>
            </a:solidFill>
            <a:prstDash val="solid"/>
          </a:ln>
        </p:spPr>
      </p:sp>
      <p:pic>
        <p:nvPicPr>
          <p:cNvPr id="26" name="Image 3" descr="preencoded.png">    </p:cNvPr>
          <p:cNvPicPr>
            <a:picLocks noChangeAspect="1"/>
          </p:cNvPicPr>
          <p:nvPr/>
        </p:nvPicPr>
        <p:blipFill>
          <a:blip r:embed="rId4"/>
          <a:srcRect l="0" r="0" t="0" b="0"/>
          <a:stretch/>
        </p:blipFill>
        <p:spPr>
          <a:xfrm>
            <a:off x="10223500" y="1923157"/>
            <a:ext cx="279400" cy="279400"/>
          </a:xfrm>
          <a:prstGeom prst="rect">
            <a:avLst/>
          </a:prstGeom>
        </p:spPr>
      </p:pic>
      <p:sp>
        <p:nvSpPr>
          <p:cNvPr id="27" name="Text 21"/>
          <p:cNvSpPr/>
          <p:nvPr/>
        </p:nvSpPr>
        <p:spPr>
          <a:xfrm>
            <a:off x="9671447" y="2253357"/>
            <a:ext cx="138340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Corpus del track</a:t>
            </a:r>
            <a:endParaRPr lang="en-US" sz="1400" dirty="0"/>
          </a:p>
        </p:txBody>
      </p:sp>
      <p:sp>
        <p:nvSpPr>
          <p:cNvPr id="28" name="Text 22"/>
          <p:cNvSpPr/>
          <p:nvPr/>
        </p:nvSpPr>
        <p:spPr>
          <a:xfrm>
            <a:off x="10142637" y="2519263"/>
            <a:ext cx="4411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 .md</a:t>
            </a:r>
            <a:endParaRPr lang="en-US" sz="1200" dirty="0"/>
          </a:p>
        </p:txBody>
      </p:sp>
      <p:sp>
        <p:nvSpPr>
          <p:cNvPr id="29" name="Shape 23"/>
          <p:cNvSpPr/>
          <p:nvPr/>
        </p:nvSpPr>
        <p:spPr>
          <a:xfrm>
            <a:off x="9353550" y="4094460"/>
            <a:ext cx="2019300" cy="977900"/>
          </a:xfrm>
          <a:prstGeom prst="roundRect">
            <a:avLst>
              <a:gd name="adj" fmla="val 9740"/>
            </a:avLst>
          </a:prstGeom>
          <a:solidFill>
            <a:srgbClr val="FFFFFF"/>
          </a:solidFill>
          <a:ln w="12700">
            <a:solidFill>
              <a:srgbClr val="1E293B"/>
            </a:solidFill>
            <a:prstDash val="solid"/>
          </a:ln>
        </p:spPr>
      </p:sp>
      <p:pic>
        <p:nvPicPr>
          <p:cNvPr id="30" name="Image 4" descr="preencoded.png">    </p:cNvPr>
          <p:cNvPicPr>
            <a:picLocks noChangeAspect="1"/>
          </p:cNvPicPr>
          <p:nvPr/>
        </p:nvPicPr>
        <p:blipFill>
          <a:blip r:embed="rId5"/>
          <a:srcRect l="-1860" r="-1860" t="0" b="0"/>
          <a:stretch/>
        </p:blipFill>
        <p:spPr>
          <a:xfrm>
            <a:off x="10223500" y="4202410"/>
            <a:ext cx="279400" cy="269379"/>
          </a:xfrm>
          <a:prstGeom prst="rect">
            <a:avLst/>
          </a:prstGeom>
        </p:spPr>
      </p:pic>
      <p:sp>
        <p:nvSpPr>
          <p:cNvPr id="31" name="Text 24"/>
          <p:cNvSpPr/>
          <p:nvPr/>
        </p:nvSpPr>
        <p:spPr>
          <a:xfrm>
            <a:off x="9805690" y="4522589"/>
            <a:ext cx="1115020" cy="232767"/>
          </a:xfrm>
          <a:prstGeom prst="rect">
            <a:avLst/>
          </a:prstGeom>
          <a:noFill/>
          <a:ln/>
        </p:spPr>
        <p:txBody>
          <a:bodyPr wrap="square" lIns="0" tIns="0" rIns="0" bIns="0" rtlCol="0" anchor="t">
            <a:normAutofit/>
          </a:bodyPr>
          <a:lstStyle/>
          <a:p>
            <a:pPr algn="ctr" indent="0" marL="0">
              <a:lnSpc>
                <a:spcPts val="1673"/>
              </a:lnSpc>
              <a:buNone/>
            </a:pPr>
            <a:r>
              <a:rPr lang="en-US" sz="1383" dirty="0">
                <a:solidFill>
                  <a:srgbClr val="1E293B"/>
                </a:solidFill>
                <a:latin typeface="IBM Plex Sans" pitchFamily="34" charset="0"/>
                <a:ea typeface="IBM Plex Sans" pitchFamily="34" charset="-122"/>
                <a:cs typeface="IBM Plex Sans" pitchFamily="34" charset="-120"/>
              </a:rPr>
              <a:t>Qdrant Cloud</a:t>
            </a:r>
            <a:endParaRPr lang="en-US" sz="1383" dirty="0"/>
          </a:p>
        </p:txBody>
      </p:sp>
      <p:sp>
        <p:nvSpPr>
          <p:cNvPr id="32" name="Text 25"/>
          <p:cNvSpPr/>
          <p:nvPr/>
        </p:nvSpPr>
        <p:spPr>
          <a:xfrm>
            <a:off x="9964341" y="4780756"/>
            <a:ext cx="797620" cy="209054"/>
          </a:xfrm>
          <a:prstGeom prst="rect">
            <a:avLst/>
          </a:prstGeom>
          <a:noFill/>
          <a:ln/>
        </p:spPr>
        <p:txBody>
          <a:bodyPr wrap="square" lIns="0" tIns="0" rIns="0" bIns="0" rtlCol="0" anchor="t">
            <a:normAutofit/>
          </a:bodyPr>
          <a:lstStyle/>
          <a:p>
            <a:pPr algn="ctr" indent="0" marL="0">
              <a:lnSpc>
                <a:spcPts val="1472"/>
              </a:lnSpc>
              <a:buNone/>
            </a:pPr>
            <a:r>
              <a:rPr lang="en-US" sz="1177" dirty="0">
                <a:solidFill>
                  <a:srgbClr val="526277"/>
                </a:solidFill>
                <a:latin typeface="IBM Plex Sans" pitchFamily="34" charset="0"/>
                <a:ea typeface="IBM Plex Sans" pitchFamily="34" charset="-122"/>
                <a:cs typeface="IBM Plex Sans" pitchFamily="34" charset="-120"/>
              </a:rPr>
              <a:t>kb-&lt;track&gt;</a:t>
            </a:r>
            <a:endParaRPr lang="en-US" sz="1177" dirty="0"/>
          </a:p>
        </p:txBody>
      </p:sp>
      <p:pic>
        <p:nvPicPr>
          <p:cNvPr id="33" name="Image 5" descr="connector">    </p:cNvPr>
          <p:cNvPicPr>
            <a:picLocks noChangeAspect="1"/>
          </p:cNvPicPr>
          <p:nvPr/>
        </p:nvPicPr>
        <p:blipFill>
          <a:blip r:embed="rId6"/>
          <a:srcRect l="0" r="0" t="0" b="0"/>
          <a:stretch/>
        </p:blipFill>
        <p:spPr>
          <a:xfrm>
            <a:off x="1968500" y="2932410"/>
            <a:ext cx="101600" cy="736600"/>
          </a:xfrm>
          <a:prstGeom prst="rect">
            <a:avLst/>
          </a:prstGeom>
        </p:spPr>
      </p:pic>
      <p:pic>
        <p:nvPicPr>
          <p:cNvPr id="34" name="Image 6" descr="connector">    </p:cNvPr>
          <p:cNvPicPr>
            <a:picLocks noChangeAspect="1"/>
          </p:cNvPicPr>
          <p:nvPr/>
        </p:nvPicPr>
        <p:blipFill>
          <a:blip r:embed="rId7"/>
          <a:srcRect l="0" r="0" t="0" b="0"/>
          <a:stretch/>
        </p:blipFill>
        <p:spPr>
          <a:xfrm>
            <a:off x="2921000" y="2392660"/>
            <a:ext cx="1752600" cy="101600"/>
          </a:xfrm>
          <a:prstGeom prst="rect">
            <a:avLst/>
          </a:prstGeom>
        </p:spPr>
      </p:pic>
      <p:pic>
        <p:nvPicPr>
          <p:cNvPr id="35" name="Image 7" descr="connector">    </p:cNvPr>
          <p:cNvPicPr>
            <a:picLocks noChangeAspect="1"/>
          </p:cNvPicPr>
          <p:nvPr/>
        </p:nvPicPr>
        <p:blipFill>
          <a:blip r:embed="rId8"/>
          <a:srcRect l="0" r="0" t="0" b="0"/>
          <a:stretch/>
        </p:blipFill>
        <p:spPr>
          <a:xfrm>
            <a:off x="2921000" y="4107160"/>
            <a:ext cx="1562100" cy="101600"/>
          </a:xfrm>
          <a:prstGeom prst="rect">
            <a:avLst/>
          </a:prstGeom>
        </p:spPr>
      </p:pic>
      <p:pic>
        <p:nvPicPr>
          <p:cNvPr id="36" name="Image 8" descr="connector">    </p:cNvPr>
          <p:cNvPicPr>
            <a:picLocks noChangeAspect="1"/>
          </p:cNvPicPr>
          <p:nvPr/>
        </p:nvPicPr>
        <p:blipFill>
          <a:blip r:embed="rId9"/>
          <a:srcRect l="0" r="0" t="0" b="0"/>
          <a:stretch/>
        </p:blipFill>
        <p:spPr>
          <a:xfrm>
            <a:off x="7239000" y="4538960"/>
            <a:ext cx="2159000" cy="101600"/>
          </a:xfrm>
          <a:prstGeom prst="rect">
            <a:avLst/>
          </a:prstGeom>
        </p:spPr>
      </p:pic>
      <p:pic>
        <p:nvPicPr>
          <p:cNvPr id="37" name="Image 9" descr="connector">    </p:cNvPr>
          <p:cNvPicPr>
            <a:picLocks noChangeAspect="1"/>
          </p:cNvPicPr>
          <p:nvPr/>
        </p:nvPicPr>
        <p:blipFill>
          <a:blip r:embed="rId10"/>
          <a:srcRect l="0" r="0" t="0" b="0"/>
          <a:stretch/>
        </p:blipFill>
        <p:spPr>
          <a:xfrm>
            <a:off x="10312400" y="2805410"/>
            <a:ext cx="101600" cy="1333500"/>
          </a:xfrm>
          <a:prstGeom prst="rect">
            <a:avLst/>
          </a:prstGeom>
        </p:spPr>
      </p:pic>
      <p:sp>
        <p:nvSpPr>
          <p:cNvPr id="38" name="Text 26"/>
          <p:cNvSpPr/>
          <p:nvPr/>
        </p:nvSpPr>
        <p:spPr>
          <a:xfrm>
            <a:off x="2095500" y="3192760"/>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 calls</a:t>
            </a:r>
            <a:endParaRPr lang="en-US" sz="1400" dirty="0"/>
          </a:p>
        </p:txBody>
      </p:sp>
      <p:sp>
        <p:nvSpPr>
          <p:cNvPr id="39" name="Text 27"/>
          <p:cNvSpPr/>
          <p:nvPr/>
        </p:nvSpPr>
        <p:spPr>
          <a:xfrm>
            <a:off x="3225800" y="2176760"/>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historial</a:t>
            </a:r>
            <a:endParaRPr lang="en-US" sz="1400" dirty="0"/>
          </a:p>
        </p:txBody>
      </p:sp>
      <p:sp>
        <p:nvSpPr>
          <p:cNvPr id="40" name="Text 28"/>
          <p:cNvSpPr/>
          <p:nvPr/>
        </p:nvSpPr>
        <p:spPr>
          <a:xfrm>
            <a:off x="3225800" y="3891260"/>
            <a:ext cx="1003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41" name="Text 29"/>
          <p:cNvSpPr/>
          <p:nvPr/>
        </p:nvSpPr>
        <p:spPr>
          <a:xfrm>
            <a:off x="7861300" y="4323060"/>
            <a:ext cx="749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busca</a:t>
            </a:r>
            <a:endParaRPr lang="en-US" sz="1400" dirty="0"/>
          </a:p>
        </p:txBody>
      </p:sp>
      <p:sp>
        <p:nvSpPr>
          <p:cNvPr id="42" name="Text 30"/>
          <p:cNvSpPr/>
          <p:nvPr/>
        </p:nvSpPr>
        <p:spPr>
          <a:xfrm>
            <a:off x="9245600" y="3370560"/>
            <a:ext cx="1041400"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1E293B"/>
                </a:solidFill>
                <a:latin typeface="IBM Plex Mono" pitchFamily="34" charset="0"/>
                <a:ea typeface="IBM Plex Mono" pitchFamily="34" charset="-122"/>
                <a:cs typeface="IBM Plex Mono" pitchFamily="34" charset="-120"/>
              </a:rPr>
              <a:t>ingest.py</a:t>
            </a:r>
            <a:endParaRPr lang="en-US" sz="1400" dirty="0"/>
          </a:p>
        </p:txBody>
      </p:sp>
      <p:sp>
        <p:nvSpPr>
          <p:cNvPr id="43" name="Text 31"/>
          <p:cNvSpPr/>
          <p:nvPr/>
        </p:nvSpPr>
        <p:spPr>
          <a:xfrm>
            <a:off x="812800" y="5281910"/>
            <a:ext cx="10883392" cy="585490"/>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Nuevo: knowledge/ingest.py, knowledge/retriever.py, memory.py y agent.py v3 (4 tools del L4 + retriever + memoria).</a:t>
            </a:r>
            <a:endParaRPr lang="en-US" sz="1600" dirty="0"/>
          </a:p>
        </p:txBody>
      </p:sp>
      <p:sp>
        <p:nvSpPr>
          <p:cNvPr id="44" name="Text 32"/>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21</a:t>
            </a:r>
            <a:endParaRPr lang="en-US" sz="1200" dirty="0"/>
          </a:p>
        </p:txBody>
      </p:sp>
      <p:pic>
        <p:nvPicPr>
          <p:cNvPr id="45" name="Image 10" descr="Logo de AriwaLabs">    </p:cNvPr>
          <p:cNvPicPr>
            <a:picLocks noChangeAspect="1"/>
          </p:cNvPicPr>
          <p:nvPr/>
        </p:nvPicPr>
        <p:blipFill>
          <a:blip r:embed="rId11"/>
          <a:srcRect l="-9345" r="-9345" t="0" b="0"/>
          <a:stretch/>
        </p:blipFill>
        <p:spPr>
          <a:xfrm>
            <a:off x="10680700" y="6197600"/>
            <a:ext cx="698500" cy="25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L5 Parte 1 · Ingesta del corpus</a:t>
            </a:r>
            <a:endParaRPr lang="en-US" sz="3600" dirty="0"/>
          </a:p>
        </p:txBody>
      </p:sp>
      <p:sp>
        <p:nvSpPr>
          <p:cNvPr id="3" name="Shape 1"/>
          <p:cNvSpPr/>
          <p:nvPr/>
        </p:nvSpPr>
        <p:spPr>
          <a:xfrm>
            <a:off x="819150" y="1529755"/>
            <a:ext cx="6972300" cy="3543300"/>
          </a:xfrm>
          <a:prstGeom prst="roundRect">
            <a:avLst>
              <a:gd name="adj" fmla="val 4122"/>
            </a:avLst>
          </a:prstGeom>
          <a:solidFill>
            <a:srgbClr val="E9F0F7"/>
          </a:solidFill>
          <a:ln w="12700">
            <a:solidFill>
              <a:srgbClr val="526277"/>
            </a:solidFill>
            <a:prstDash val="solid"/>
          </a:ln>
        </p:spPr>
      </p:sp>
      <p:sp>
        <p:nvSpPr>
          <p:cNvPr id="4" name="Text 2"/>
          <p:cNvSpPr/>
          <p:nvPr/>
        </p:nvSpPr>
        <p:spPr>
          <a:xfrm>
            <a:off x="965200" y="1625005"/>
            <a:ext cx="2616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agent.py v3</a:t>
            </a:r>
            <a:endParaRPr lang="en-US" sz="1400" dirty="0"/>
          </a:p>
        </p:txBody>
      </p:sp>
      <p:sp>
        <p:nvSpPr>
          <p:cNvPr id="5" name="Shape 3"/>
          <p:cNvSpPr/>
          <p:nvPr/>
        </p:nvSpPr>
        <p:spPr>
          <a:xfrm>
            <a:off x="1073150" y="1910755"/>
            <a:ext cx="1892300" cy="1066800"/>
          </a:xfrm>
          <a:prstGeom prst="roundRect">
            <a:avLst>
              <a:gd name="adj" fmla="val 8929"/>
            </a:avLst>
          </a:prstGeom>
          <a:solidFill>
            <a:srgbClr val="FFFFFF"/>
          </a:solidFill>
          <a:ln w="12700">
            <a:solidFill>
              <a:srgbClr val="1E293B"/>
            </a:solidFill>
            <a:prstDash val="solid"/>
          </a:ln>
        </p:spPr>
      </p:sp>
      <p:pic>
        <p:nvPicPr>
          <p:cNvPr id="6" name="Image 0" descr="preencoded.png">    </p:cNvPr>
          <p:cNvPicPr>
            <a:picLocks noChangeAspect="1"/>
          </p:cNvPicPr>
          <p:nvPr/>
        </p:nvPicPr>
        <p:blipFill>
          <a:blip r:embed="rId1"/>
          <a:srcRect l="0" r="0" t="0" b="0"/>
          <a:stretch/>
        </p:blipFill>
        <p:spPr>
          <a:xfrm>
            <a:off x="1879600" y="2050852"/>
            <a:ext cx="279400" cy="279400"/>
          </a:xfrm>
          <a:prstGeom prst="rect">
            <a:avLst/>
          </a:prstGeom>
        </p:spPr>
      </p:pic>
      <p:sp>
        <p:nvSpPr>
          <p:cNvPr id="7" name="Text 4"/>
          <p:cNvSpPr/>
          <p:nvPr/>
        </p:nvSpPr>
        <p:spPr>
          <a:xfrm>
            <a:off x="1830189" y="2381052"/>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1707455" y="2646958"/>
            <a:ext cx="62368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Shape 6"/>
          <p:cNvSpPr/>
          <p:nvPr/>
        </p:nvSpPr>
        <p:spPr>
          <a:xfrm>
            <a:off x="1073150" y="3625255"/>
            <a:ext cx="1892300" cy="1066800"/>
          </a:xfrm>
          <a:prstGeom prst="roundRect">
            <a:avLst>
              <a:gd name="adj" fmla="val 8929"/>
            </a:avLst>
          </a:prstGeom>
          <a:solidFill>
            <a:srgbClr val="FFFFFF"/>
          </a:solidFill>
          <a:ln w="12700">
            <a:solidFill>
              <a:srgbClr val="1E293B"/>
            </a:solidFill>
            <a:prstDash val="solid"/>
          </a:ln>
        </p:spPr>
      </p:sp>
      <p:pic>
        <p:nvPicPr>
          <p:cNvPr id="10" name="Image 1" descr="Settings">    </p:cNvPr>
          <p:cNvPicPr>
            <a:picLocks noChangeAspect="1"/>
          </p:cNvPicPr>
          <p:nvPr/>
        </p:nvPicPr>
        <p:blipFill>
          <a:blip r:embed="rId2"/>
          <a:srcRect l="0" r="0" t="0" b="0"/>
          <a:stretch/>
        </p:blipFill>
        <p:spPr>
          <a:xfrm>
            <a:off x="1879600" y="3765352"/>
            <a:ext cx="279400" cy="279400"/>
          </a:xfrm>
          <a:prstGeom prst="rect">
            <a:avLst/>
          </a:prstGeom>
        </p:spPr>
      </p:pic>
      <p:sp>
        <p:nvSpPr>
          <p:cNvPr id="11" name="Text 7"/>
          <p:cNvSpPr/>
          <p:nvPr/>
        </p:nvSpPr>
        <p:spPr>
          <a:xfrm>
            <a:off x="1648718" y="4095552"/>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2" name="Text 8"/>
          <p:cNvSpPr/>
          <p:nvPr/>
        </p:nvSpPr>
        <p:spPr>
          <a:xfrm>
            <a:off x="1490960" y="4361458"/>
            <a:ext cx="105668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responder()</a:t>
            </a:r>
            <a:endParaRPr lang="en-US" sz="1200" dirty="0"/>
          </a:p>
        </p:txBody>
      </p:sp>
      <p:sp>
        <p:nvSpPr>
          <p:cNvPr id="13" name="Shape 9"/>
          <p:cNvSpPr/>
          <p:nvPr/>
        </p:nvSpPr>
        <p:spPr>
          <a:xfrm>
            <a:off x="4629150" y="1910755"/>
            <a:ext cx="2654300" cy="1066800"/>
          </a:xfrm>
          <a:prstGeom prst="roundRect">
            <a:avLst>
              <a:gd name="adj" fmla="val 8929"/>
            </a:avLst>
          </a:prstGeom>
          <a:solidFill>
            <a:srgbClr val="FFFFFF"/>
          </a:solidFill>
          <a:ln w="12700">
            <a:solidFill>
              <a:srgbClr val="1E293B"/>
            </a:solidFill>
            <a:prstDash val="solid"/>
          </a:ln>
        </p:spPr>
      </p:sp>
      <p:pic>
        <p:nvPicPr>
          <p:cNvPr id="14" name="Image 2" descr="preencoded.png">    </p:cNvPr>
          <p:cNvPicPr>
            <a:picLocks noChangeAspect="1"/>
          </p:cNvPicPr>
          <p:nvPr/>
        </p:nvPicPr>
        <p:blipFill>
          <a:blip r:embed="rId3"/>
          <a:srcRect l="0" r="0" t="0" b="0"/>
          <a:stretch/>
        </p:blipFill>
        <p:spPr>
          <a:xfrm>
            <a:off x="5816600" y="2050852"/>
            <a:ext cx="279400" cy="279400"/>
          </a:xfrm>
          <a:prstGeom prst="rect">
            <a:avLst/>
          </a:prstGeom>
        </p:spPr>
      </p:pic>
      <p:sp>
        <p:nvSpPr>
          <p:cNvPr id="15" name="Text 10"/>
          <p:cNvSpPr/>
          <p:nvPr/>
        </p:nvSpPr>
        <p:spPr>
          <a:xfrm>
            <a:off x="5574308" y="2381052"/>
            <a:ext cx="76398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Memoria</a:t>
            </a:r>
            <a:endParaRPr lang="en-US" sz="1400" dirty="0"/>
          </a:p>
        </p:txBody>
      </p:sp>
      <p:sp>
        <p:nvSpPr>
          <p:cNvPr id="16" name="Text 11"/>
          <p:cNvSpPr/>
          <p:nvPr/>
        </p:nvSpPr>
        <p:spPr>
          <a:xfrm>
            <a:off x="5156696" y="2646958"/>
            <a:ext cx="159910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memory.py · thread_id</a:t>
            </a:r>
            <a:endParaRPr lang="en-US" sz="1200" dirty="0"/>
          </a:p>
        </p:txBody>
      </p:sp>
      <p:sp>
        <p:nvSpPr>
          <p:cNvPr id="17" name="Shape 12"/>
          <p:cNvSpPr/>
          <p:nvPr/>
        </p:nvSpPr>
        <p:spPr>
          <a:xfrm>
            <a:off x="4438650" y="3053755"/>
            <a:ext cx="3035300" cy="1993900"/>
          </a:xfrm>
          <a:prstGeom prst="roundRect">
            <a:avLst>
              <a:gd name="adj" fmla="val 4777"/>
            </a:avLst>
          </a:prstGeom>
          <a:solidFill>
            <a:srgbClr val="FFFFFF"/>
          </a:solidFill>
          <a:ln w="12700">
            <a:solidFill>
              <a:srgbClr val="526277"/>
            </a:solidFill>
            <a:prstDash val="dash"/>
          </a:ln>
        </p:spPr>
      </p:sp>
      <p:sp>
        <p:nvSpPr>
          <p:cNvPr id="18" name="Text 13"/>
          <p:cNvSpPr/>
          <p:nvPr/>
        </p:nvSpPr>
        <p:spPr>
          <a:xfrm>
            <a:off x="4584700" y="3085505"/>
            <a:ext cx="2616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Mono" pitchFamily="34" charset="0"/>
                <a:ea typeface="IBM Plex Mono" pitchFamily="34" charset="-122"/>
                <a:cs typeface="IBM Plex Mono" pitchFamily="34" charset="-120"/>
              </a:rPr>
              <a:t>ALL_TOOLS</a:t>
            </a:r>
            <a:endParaRPr lang="en-US" sz="1400" dirty="0"/>
          </a:p>
        </p:txBody>
      </p:sp>
      <p:sp>
        <p:nvSpPr>
          <p:cNvPr id="19" name="Shape 14"/>
          <p:cNvSpPr/>
          <p:nvPr/>
        </p:nvSpPr>
        <p:spPr>
          <a:xfrm>
            <a:off x="4629150" y="3371255"/>
            <a:ext cx="2654300" cy="660400"/>
          </a:xfrm>
          <a:prstGeom prst="roundRect">
            <a:avLst>
              <a:gd name="adj" fmla="val 14423"/>
            </a:avLst>
          </a:prstGeom>
          <a:solidFill>
            <a:srgbClr val="FFFFFF"/>
          </a:solidFill>
          <a:ln w="12700">
            <a:solidFill>
              <a:srgbClr val="1E293B"/>
            </a:solidFill>
            <a:prstDash val="solid"/>
          </a:ln>
        </p:spPr>
      </p:sp>
      <p:sp>
        <p:nvSpPr>
          <p:cNvPr id="20" name="Text 15"/>
          <p:cNvSpPr/>
          <p:nvPr/>
        </p:nvSpPr>
        <p:spPr>
          <a:xfrm>
            <a:off x="5453955" y="3479205"/>
            <a:ext cx="1004590" cy="234156"/>
          </a:xfrm>
          <a:prstGeom prst="rect">
            <a:avLst/>
          </a:prstGeom>
          <a:noFill/>
          <a:ln/>
        </p:spPr>
        <p:txBody>
          <a:bodyPr wrap="square" lIns="0" tIns="0" rIns="0" bIns="0" rtlCol="0" anchor="t">
            <a:normAutofit/>
          </a:bodyPr>
          <a:lstStyle/>
          <a:p>
            <a:pPr algn="ctr" indent="0" marL="0">
              <a:lnSpc>
                <a:spcPts val="1673"/>
              </a:lnSpc>
              <a:buNone/>
            </a:pPr>
            <a:r>
              <a:rPr lang="en-US" sz="1383" dirty="0">
                <a:solidFill>
                  <a:srgbClr val="1E293B"/>
                </a:solidFill>
                <a:latin typeface="IBM Plex Sans" pitchFamily="34" charset="0"/>
                <a:ea typeface="IBM Plex Sans" pitchFamily="34" charset="-122"/>
                <a:cs typeface="IBM Plex Sans" pitchFamily="34" charset="-120"/>
              </a:rPr>
              <a:t>Tools del L4</a:t>
            </a:r>
            <a:endParaRPr lang="en-US" sz="1383" dirty="0"/>
          </a:p>
        </p:txBody>
      </p:sp>
      <p:sp>
        <p:nvSpPr>
          <p:cNvPr id="21" name="Text 16"/>
          <p:cNvSpPr/>
          <p:nvPr/>
        </p:nvSpPr>
        <p:spPr>
          <a:xfrm>
            <a:off x="5379541" y="3738761"/>
            <a:ext cx="1153418" cy="210344"/>
          </a:xfrm>
          <a:prstGeom prst="rect">
            <a:avLst/>
          </a:prstGeom>
          <a:noFill/>
          <a:ln/>
        </p:spPr>
        <p:txBody>
          <a:bodyPr wrap="square" lIns="0" tIns="0" rIns="0" bIns="0" rtlCol="0" anchor="t">
            <a:normAutofit/>
          </a:bodyPr>
          <a:lstStyle/>
          <a:p>
            <a:pPr algn="ctr" indent="0" marL="0">
              <a:lnSpc>
                <a:spcPts val="1472"/>
              </a:lnSpc>
              <a:buNone/>
            </a:pPr>
            <a:r>
              <a:rPr lang="en-US" sz="1177" dirty="0">
                <a:solidFill>
                  <a:srgbClr val="526277"/>
                </a:solidFill>
                <a:latin typeface="IBM Plex Sans" pitchFamily="34" charset="0"/>
                <a:ea typeface="IBM Plex Sans" pitchFamily="34" charset="-122"/>
                <a:cs typeface="IBM Plex Sans" pitchFamily="34" charset="-120"/>
              </a:rPr>
              <a:t>TOOLS_NUCLEO</a:t>
            </a:r>
            <a:endParaRPr lang="en-US" sz="1177" dirty="0"/>
          </a:p>
        </p:txBody>
      </p:sp>
      <p:sp>
        <p:nvSpPr>
          <p:cNvPr id="22" name="Shape 17"/>
          <p:cNvSpPr/>
          <p:nvPr/>
        </p:nvSpPr>
        <p:spPr>
          <a:xfrm>
            <a:off x="4629150" y="4260255"/>
            <a:ext cx="2654300" cy="660400"/>
          </a:xfrm>
          <a:prstGeom prst="roundRect">
            <a:avLst>
              <a:gd name="adj" fmla="val 14423"/>
            </a:avLst>
          </a:prstGeom>
          <a:solidFill>
            <a:srgbClr val="FFFFFF"/>
          </a:solidFill>
          <a:ln w="12700">
            <a:solidFill>
              <a:srgbClr val="1E293B"/>
            </a:solidFill>
            <a:prstDash val="solid"/>
          </a:ln>
        </p:spPr>
      </p:sp>
      <p:sp>
        <p:nvSpPr>
          <p:cNvPr id="23" name="Text 18"/>
          <p:cNvSpPr/>
          <p:nvPr/>
        </p:nvSpPr>
        <p:spPr>
          <a:xfrm>
            <a:off x="5327352" y="4368205"/>
            <a:ext cx="1257796" cy="234156"/>
          </a:xfrm>
          <a:prstGeom prst="rect">
            <a:avLst/>
          </a:prstGeom>
          <a:noFill/>
          <a:ln/>
        </p:spPr>
        <p:txBody>
          <a:bodyPr wrap="square" lIns="0" tIns="0" rIns="0" bIns="0" rtlCol="0" anchor="t">
            <a:normAutofit/>
          </a:bodyPr>
          <a:lstStyle/>
          <a:p>
            <a:pPr algn="ctr" indent="0" marL="0">
              <a:lnSpc>
                <a:spcPts val="1673"/>
              </a:lnSpc>
              <a:buNone/>
            </a:pPr>
            <a:r>
              <a:rPr lang="en-US" sz="1383" dirty="0">
                <a:solidFill>
                  <a:srgbClr val="1E293B"/>
                </a:solidFill>
                <a:latin typeface="IBM Plex Sans" pitchFamily="34" charset="0"/>
                <a:ea typeface="IBM Plex Sans" pitchFamily="34" charset="-122"/>
                <a:cs typeface="IBM Plex Sans" pitchFamily="34" charset="-120"/>
              </a:rPr>
              <a:t>Retriever (tool)</a:t>
            </a:r>
            <a:endParaRPr lang="en-US" sz="1383" dirty="0"/>
          </a:p>
        </p:txBody>
      </p:sp>
      <p:sp>
        <p:nvSpPr>
          <p:cNvPr id="24" name="Text 19"/>
          <p:cNvSpPr/>
          <p:nvPr/>
        </p:nvSpPr>
        <p:spPr>
          <a:xfrm>
            <a:off x="4893469" y="4627761"/>
            <a:ext cx="2125663" cy="210344"/>
          </a:xfrm>
          <a:prstGeom prst="rect">
            <a:avLst/>
          </a:prstGeom>
          <a:noFill/>
          <a:ln/>
        </p:spPr>
        <p:txBody>
          <a:bodyPr wrap="square" lIns="0" tIns="0" rIns="0" bIns="0" rtlCol="0" anchor="t">
            <a:normAutofit/>
          </a:bodyPr>
          <a:lstStyle/>
          <a:p>
            <a:pPr algn="ctr" indent="0" marL="0">
              <a:lnSpc>
                <a:spcPts val="1472"/>
              </a:lnSpc>
              <a:buNone/>
            </a:pPr>
            <a:r>
              <a:rPr lang="en-US" sz="1177" dirty="0">
                <a:solidFill>
                  <a:srgbClr val="526277"/>
                </a:solidFill>
                <a:latin typeface="IBM Plex Mono" pitchFamily="34" charset="0"/>
                <a:ea typeface="IBM Plex Mono" pitchFamily="34" charset="-122"/>
                <a:cs typeface="IBM Plex Mono" pitchFamily="34" charset="-120"/>
              </a:rPr>
              <a:t>retrieve_knowledge_base</a:t>
            </a:r>
            <a:endParaRPr lang="en-US" sz="1177" dirty="0"/>
          </a:p>
        </p:txBody>
      </p:sp>
      <p:sp>
        <p:nvSpPr>
          <p:cNvPr id="25" name="Shape 20"/>
          <p:cNvSpPr/>
          <p:nvPr/>
        </p:nvSpPr>
        <p:spPr>
          <a:xfrm>
            <a:off x="9359900" y="1790105"/>
            <a:ext cx="2006600" cy="1054100"/>
          </a:xfrm>
          <a:prstGeom prst="roundRect">
            <a:avLst>
              <a:gd name="adj" fmla="val 8434"/>
            </a:avLst>
          </a:prstGeom>
          <a:solidFill>
            <a:srgbClr val="FFF0EB"/>
          </a:solidFill>
          <a:ln w="25400">
            <a:solidFill>
              <a:srgbClr val="FF5733"/>
            </a:solidFill>
            <a:prstDash val="solid"/>
          </a:ln>
        </p:spPr>
      </p:sp>
      <p:pic>
        <p:nvPicPr>
          <p:cNvPr id="26" name="Image 3" descr="preencoded.png">    </p:cNvPr>
          <p:cNvPicPr>
            <a:picLocks noChangeAspect="1"/>
          </p:cNvPicPr>
          <p:nvPr/>
        </p:nvPicPr>
        <p:blipFill>
          <a:blip r:embed="rId4"/>
          <a:srcRect l="0" r="0" t="0" b="0"/>
          <a:stretch/>
        </p:blipFill>
        <p:spPr>
          <a:xfrm>
            <a:off x="10223500" y="1923852"/>
            <a:ext cx="279400" cy="279400"/>
          </a:xfrm>
          <a:prstGeom prst="rect">
            <a:avLst/>
          </a:prstGeom>
        </p:spPr>
      </p:pic>
      <p:sp>
        <p:nvSpPr>
          <p:cNvPr id="27" name="Text 21"/>
          <p:cNvSpPr/>
          <p:nvPr/>
        </p:nvSpPr>
        <p:spPr>
          <a:xfrm>
            <a:off x="9671447" y="2254052"/>
            <a:ext cx="138340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Corpus del track</a:t>
            </a:r>
            <a:endParaRPr lang="en-US" sz="1400" dirty="0"/>
          </a:p>
        </p:txBody>
      </p:sp>
      <p:sp>
        <p:nvSpPr>
          <p:cNvPr id="28" name="Text 22"/>
          <p:cNvSpPr/>
          <p:nvPr/>
        </p:nvSpPr>
        <p:spPr>
          <a:xfrm>
            <a:off x="10142637" y="2519958"/>
            <a:ext cx="4411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 .md</a:t>
            </a:r>
            <a:endParaRPr lang="en-US" sz="1200" dirty="0"/>
          </a:p>
        </p:txBody>
      </p:sp>
      <p:sp>
        <p:nvSpPr>
          <p:cNvPr id="29" name="Shape 23"/>
          <p:cNvSpPr/>
          <p:nvPr/>
        </p:nvSpPr>
        <p:spPr>
          <a:xfrm>
            <a:off x="9359900" y="4101505"/>
            <a:ext cx="2006600" cy="965200"/>
          </a:xfrm>
          <a:prstGeom prst="roundRect">
            <a:avLst>
              <a:gd name="adj" fmla="val 9211"/>
            </a:avLst>
          </a:prstGeom>
          <a:solidFill>
            <a:srgbClr val="FFF0EB"/>
          </a:solidFill>
          <a:ln w="25400">
            <a:solidFill>
              <a:srgbClr val="FF5733"/>
            </a:solidFill>
            <a:prstDash val="solid"/>
          </a:ln>
        </p:spPr>
      </p:sp>
      <p:pic>
        <p:nvPicPr>
          <p:cNvPr id="30" name="Image 4" descr="preencoded.png">    </p:cNvPr>
          <p:cNvPicPr>
            <a:picLocks noChangeAspect="1"/>
          </p:cNvPicPr>
          <p:nvPr/>
        </p:nvPicPr>
        <p:blipFill>
          <a:blip r:embed="rId5"/>
          <a:srcRect l="-3946" r="-3946" t="0" b="0"/>
          <a:stretch/>
        </p:blipFill>
        <p:spPr>
          <a:xfrm>
            <a:off x="10223500" y="4215805"/>
            <a:ext cx="279400" cy="258961"/>
          </a:xfrm>
          <a:prstGeom prst="rect">
            <a:avLst/>
          </a:prstGeom>
        </p:spPr>
      </p:pic>
      <p:sp>
        <p:nvSpPr>
          <p:cNvPr id="31" name="Text 24"/>
          <p:cNvSpPr/>
          <p:nvPr/>
        </p:nvSpPr>
        <p:spPr>
          <a:xfrm>
            <a:off x="9837837" y="4525566"/>
            <a:ext cx="1050727" cy="224830"/>
          </a:xfrm>
          <a:prstGeom prst="rect">
            <a:avLst/>
          </a:prstGeom>
          <a:noFill/>
          <a:ln/>
        </p:spPr>
        <p:txBody>
          <a:bodyPr wrap="square" lIns="0" tIns="0" rIns="0" bIns="0" rtlCol="0" anchor="t">
            <a:normAutofit/>
          </a:bodyPr>
          <a:lstStyle/>
          <a:p>
            <a:pPr algn="ctr" indent="0" marL="0">
              <a:lnSpc>
                <a:spcPts val="1572"/>
              </a:lnSpc>
              <a:buNone/>
            </a:pPr>
            <a:r>
              <a:rPr lang="en-US" sz="1299" dirty="0">
                <a:solidFill>
                  <a:srgbClr val="1E293B"/>
                </a:solidFill>
                <a:latin typeface="IBM Plex Sans" pitchFamily="34" charset="0"/>
                <a:ea typeface="IBM Plex Sans" pitchFamily="34" charset="-122"/>
                <a:cs typeface="IBM Plex Sans" pitchFamily="34" charset="-120"/>
              </a:rPr>
              <a:t>Qdrant Cloud</a:t>
            </a:r>
            <a:endParaRPr lang="en-US" sz="1299" dirty="0"/>
          </a:p>
        </p:txBody>
      </p:sp>
      <p:sp>
        <p:nvSpPr>
          <p:cNvPr id="32" name="Text 25"/>
          <p:cNvSpPr/>
          <p:nvPr/>
        </p:nvSpPr>
        <p:spPr>
          <a:xfrm>
            <a:off x="9976247" y="4775795"/>
            <a:ext cx="773906" cy="202009"/>
          </a:xfrm>
          <a:prstGeom prst="rect">
            <a:avLst/>
          </a:prstGeom>
          <a:noFill/>
          <a:ln/>
        </p:spPr>
        <p:txBody>
          <a:bodyPr wrap="square" lIns="0" tIns="0" rIns="0" bIns="0" rtlCol="0" anchor="t">
            <a:normAutofit/>
          </a:bodyPr>
          <a:lstStyle/>
          <a:p>
            <a:pPr algn="ctr" indent="0" marL="0">
              <a:lnSpc>
                <a:spcPts val="1425"/>
              </a:lnSpc>
              <a:buNone/>
            </a:pPr>
            <a:r>
              <a:rPr lang="en-US" sz="1140" dirty="0">
                <a:solidFill>
                  <a:srgbClr val="526277"/>
                </a:solidFill>
                <a:latin typeface="IBM Plex Sans" pitchFamily="34" charset="0"/>
                <a:ea typeface="IBM Plex Sans" pitchFamily="34" charset="-122"/>
                <a:cs typeface="IBM Plex Sans" pitchFamily="34" charset="-120"/>
              </a:rPr>
              <a:t>kb-&lt;track&gt;</a:t>
            </a:r>
            <a:endParaRPr lang="en-US" sz="1140" dirty="0"/>
          </a:p>
        </p:txBody>
      </p:sp>
      <p:pic>
        <p:nvPicPr>
          <p:cNvPr id="33" name="Image 5" descr="connector">    </p:cNvPr>
          <p:cNvPicPr>
            <a:picLocks noChangeAspect="1"/>
          </p:cNvPicPr>
          <p:nvPr/>
        </p:nvPicPr>
        <p:blipFill>
          <a:blip r:embed="rId6"/>
          <a:srcRect l="0" r="0" t="0" b="0"/>
          <a:stretch/>
        </p:blipFill>
        <p:spPr>
          <a:xfrm>
            <a:off x="1968500" y="2933105"/>
            <a:ext cx="101600" cy="736600"/>
          </a:xfrm>
          <a:prstGeom prst="rect">
            <a:avLst/>
          </a:prstGeom>
        </p:spPr>
      </p:pic>
      <p:pic>
        <p:nvPicPr>
          <p:cNvPr id="34" name="Image 6" descr="connector">    </p:cNvPr>
          <p:cNvPicPr>
            <a:picLocks noChangeAspect="1"/>
          </p:cNvPicPr>
          <p:nvPr/>
        </p:nvPicPr>
        <p:blipFill>
          <a:blip r:embed="rId7"/>
          <a:srcRect l="0" r="0" t="0" b="0"/>
          <a:stretch/>
        </p:blipFill>
        <p:spPr>
          <a:xfrm>
            <a:off x="2921000" y="2393355"/>
            <a:ext cx="1752600" cy="101600"/>
          </a:xfrm>
          <a:prstGeom prst="rect">
            <a:avLst/>
          </a:prstGeom>
        </p:spPr>
      </p:pic>
      <p:pic>
        <p:nvPicPr>
          <p:cNvPr id="35" name="Image 7" descr="connector">    </p:cNvPr>
          <p:cNvPicPr>
            <a:picLocks noChangeAspect="1"/>
          </p:cNvPicPr>
          <p:nvPr/>
        </p:nvPicPr>
        <p:blipFill>
          <a:blip r:embed="rId8"/>
          <a:srcRect l="0" r="0" t="0" b="0"/>
          <a:stretch/>
        </p:blipFill>
        <p:spPr>
          <a:xfrm>
            <a:off x="2921000" y="4107855"/>
            <a:ext cx="1562100" cy="101600"/>
          </a:xfrm>
          <a:prstGeom prst="rect">
            <a:avLst/>
          </a:prstGeom>
        </p:spPr>
      </p:pic>
      <p:pic>
        <p:nvPicPr>
          <p:cNvPr id="36" name="Image 8" descr="connector">    </p:cNvPr>
          <p:cNvPicPr>
            <a:picLocks noChangeAspect="1"/>
          </p:cNvPicPr>
          <p:nvPr/>
        </p:nvPicPr>
        <p:blipFill>
          <a:blip r:embed="rId9"/>
          <a:srcRect l="0" r="0" t="0" b="0"/>
          <a:stretch/>
        </p:blipFill>
        <p:spPr>
          <a:xfrm>
            <a:off x="7239000" y="4539655"/>
            <a:ext cx="2159000" cy="101600"/>
          </a:xfrm>
          <a:prstGeom prst="rect">
            <a:avLst/>
          </a:prstGeom>
        </p:spPr>
      </p:pic>
      <p:pic>
        <p:nvPicPr>
          <p:cNvPr id="37" name="Image 9" descr="connector">    </p:cNvPr>
          <p:cNvPicPr>
            <a:picLocks noChangeAspect="1"/>
          </p:cNvPicPr>
          <p:nvPr/>
        </p:nvPicPr>
        <p:blipFill>
          <a:blip r:embed="rId10"/>
          <a:srcRect l="0" r="0" t="0" b="0"/>
          <a:stretch/>
        </p:blipFill>
        <p:spPr>
          <a:xfrm>
            <a:off x="10287000" y="2780705"/>
            <a:ext cx="152400" cy="1384300"/>
          </a:xfrm>
          <a:prstGeom prst="rect">
            <a:avLst/>
          </a:prstGeom>
        </p:spPr>
      </p:pic>
      <p:sp>
        <p:nvSpPr>
          <p:cNvPr id="38" name="Text 26"/>
          <p:cNvSpPr/>
          <p:nvPr/>
        </p:nvSpPr>
        <p:spPr>
          <a:xfrm>
            <a:off x="2095500" y="31934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 calls</a:t>
            </a:r>
            <a:endParaRPr lang="en-US" sz="1400" dirty="0"/>
          </a:p>
        </p:txBody>
      </p:sp>
      <p:sp>
        <p:nvSpPr>
          <p:cNvPr id="39" name="Text 27"/>
          <p:cNvSpPr/>
          <p:nvPr/>
        </p:nvSpPr>
        <p:spPr>
          <a:xfrm>
            <a:off x="3225800" y="21774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historial</a:t>
            </a:r>
            <a:endParaRPr lang="en-US" sz="1400" dirty="0"/>
          </a:p>
        </p:txBody>
      </p:sp>
      <p:sp>
        <p:nvSpPr>
          <p:cNvPr id="40" name="Text 28"/>
          <p:cNvSpPr/>
          <p:nvPr/>
        </p:nvSpPr>
        <p:spPr>
          <a:xfrm>
            <a:off x="3225800" y="3891955"/>
            <a:ext cx="1003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41" name="Text 29"/>
          <p:cNvSpPr/>
          <p:nvPr/>
        </p:nvSpPr>
        <p:spPr>
          <a:xfrm>
            <a:off x="7861300" y="4323755"/>
            <a:ext cx="749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busca</a:t>
            </a:r>
            <a:endParaRPr lang="en-US" sz="1400" dirty="0"/>
          </a:p>
        </p:txBody>
      </p:sp>
      <p:sp>
        <p:nvSpPr>
          <p:cNvPr id="42" name="Text 30"/>
          <p:cNvSpPr/>
          <p:nvPr/>
        </p:nvSpPr>
        <p:spPr>
          <a:xfrm>
            <a:off x="9245600" y="3371255"/>
            <a:ext cx="1041400"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1E293B"/>
                </a:solidFill>
                <a:latin typeface="IBM Plex Mono" pitchFamily="34" charset="0"/>
                <a:ea typeface="IBM Plex Mono" pitchFamily="34" charset="-122"/>
                <a:cs typeface="IBM Plex Mono" pitchFamily="34" charset="-120"/>
              </a:rPr>
              <a:t>ingest.py</a:t>
            </a:r>
            <a:endParaRPr lang="en-US" sz="1400" dirty="0"/>
          </a:p>
        </p:txBody>
      </p:sp>
      <p:sp>
        <p:nvSpPr>
          <p:cNvPr id="43" name="Text 31"/>
          <p:cNvSpPr/>
          <p:nvPr/>
        </p:nvSpPr>
        <p:spPr>
          <a:xfrm>
            <a:off x="812800" y="528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35 min guiados: leer ingest.py y ejecutarlo una sola vez. Si falla, QDRANT_COLLECTION = kb-&lt;track&gt;-respaldo.</a:t>
            </a:r>
            <a:endParaRPr lang="en-US" sz="1600" dirty="0"/>
          </a:p>
        </p:txBody>
      </p:sp>
      <p:sp>
        <p:nvSpPr>
          <p:cNvPr id="44" name="Text 32"/>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22</a:t>
            </a:r>
            <a:endParaRPr lang="en-US" sz="1200" dirty="0"/>
          </a:p>
        </p:txBody>
      </p:sp>
      <p:pic>
        <p:nvPicPr>
          <p:cNvPr id="45" name="Image 10" descr="Logo de AriwaLabs">    </p:cNvPr>
          <p:cNvPicPr>
            <a:picLocks noChangeAspect="1"/>
          </p:cNvPicPr>
          <p:nvPr/>
        </p:nvPicPr>
        <p:blipFill>
          <a:blip r:embed="rId11"/>
          <a:srcRect l="-9345" r="-9345" t="0" b="0"/>
          <a:stretch/>
        </p:blipFill>
        <p:spPr>
          <a:xfrm>
            <a:off x="10680700" y="6197600"/>
            <a:ext cx="6985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L5 Parte 2 · El retriever como tool</a:t>
            </a:r>
            <a:endParaRPr lang="en-US" sz="3600" dirty="0"/>
          </a:p>
        </p:txBody>
      </p:sp>
      <p:sp>
        <p:nvSpPr>
          <p:cNvPr id="3" name="Shape 1"/>
          <p:cNvSpPr/>
          <p:nvPr/>
        </p:nvSpPr>
        <p:spPr>
          <a:xfrm>
            <a:off x="819150" y="1529755"/>
            <a:ext cx="6972300" cy="3543300"/>
          </a:xfrm>
          <a:prstGeom prst="roundRect">
            <a:avLst>
              <a:gd name="adj" fmla="val 4122"/>
            </a:avLst>
          </a:prstGeom>
          <a:solidFill>
            <a:srgbClr val="E9F0F7"/>
          </a:solidFill>
          <a:ln w="12700">
            <a:solidFill>
              <a:srgbClr val="526277"/>
            </a:solidFill>
            <a:prstDash val="solid"/>
          </a:ln>
        </p:spPr>
      </p:sp>
      <p:sp>
        <p:nvSpPr>
          <p:cNvPr id="4" name="Text 2"/>
          <p:cNvSpPr/>
          <p:nvPr/>
        </p:nvSpPr>
        <p:spPr>
          <a:xfrm>
            <a:off x="965200" y="1625005"/>
            <a:ext cx="2616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agent.py v3</a:t>
            </a:r>
            <a:endParaRPr lang="en-US" sz="1400" dirty="0"/>
          </a:p>
        </p:txBody>
      </p:sp>
      <p:sp>
        <p:nvSpPr>
          <p:cNvPr id="5" name="Shape 3"/>
          <p:cNvSpPr/>
          <p:nvPr/>
        </p:nvSpPr>
        <p:spPr>
          <a:xfrm>
            <a:off x="1073150" y="1910755"/>
            <a:ext cx="1892300" cy="1066800"/>
          </a:xfrm>
          <a:prstGeom prst="roundRect">
            <a:avLst>
              <a:gd name="adj" fmla="val 8929"/>
            </a:avLst>
          </a:prstGeom>
          <a:solidFill>
            <a:srgbClr val="FFFFFF"/>
          </a:solidFill>
          <a:ln w="12700">
            <a:solidFill>
              <a:srgbClr val="1E293B"/>
            </a:solidFill>
            <a:prstDash val="solid"/>
          </a:ln>
        </p:spPr>
      </p:sp>
      <p:pic>
        <p:nvPicPr>
          <p:cNvPr id="6" name="Image 0" descr="preencoded.png">    </p:cNvPr>
          <p:cNvPicPr>
            <a:picLocks noChangeAspect="1"/>
          </p:cNvPicPr>
          <p:nvPr/>
        </p:nvPicPr>
        <p:blipFill>
          <a:blip r:embed="rId1"/>
          <a:srcRect l="0" r="0" t="0" b="0"/>
          <a:stretch/>
        </p:blipFill>
        <p:spPr>
          <a:xfrm>
            <a:off x="1879600" y="2050852"/>
            <a:ext cx="279400" cy="279400"/>
          </a:xfrm>
          <a:prstGeom prst="rect">
            <a:avLst/>
          </a:prstGeom>
        </p:spPr>
      </p:pic>
      <p:sp>
        <p:nvSpPr>
          <p:cNvPr id="7" name="Text 4"/>
          <p:cNvSpPr/>
          <p:nvPr/>
        </p:nvSpPr>
        <p:spPr>
          <a:xfrm>
            <a:off x="1830189" y="2381052"/>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1707455" y="2646958"/>
            <a:ext cx="62368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Shape 6"/>
          <p:cNvSpPr/>
          <p:nvPr/>
        </p:nvSpPr>
        <p:spPr>
          <a:xfrm>
            <a:off x="1073150" y="3625255"/>
            <a:ext cx="1892300" cy="1066800"/>
          </a:xfrm>
          <a:prstGeom prst="roundRect">
            <a:avLst>
              <a:gd name="adj" fmla="val 8929"/>
            </a:avLst>
          </a:prstGeom>
          <a:solidFill>
            <a:srgbClr val="FFFFFF"/>
          </a:solidFill>
          <a:ln w="12700">
            <a:solidFill>
              <a:srgbClr val="1E293B"/>
            </a:solidFill>
            <a:prstDash val="solid"/>
          </a:ln>
        </p:spPr>
      </p:sp>
      <p:pic>
        <p:nvPicPr>
          <p:cNvPr id="10" name="Image 1" descr="Settings">    </p:cNvPr>
          <p:cNvPicPr>
            <a:picLocks noChangeAspect="1"/>
          </p:cNvPicPr>
          <p:nvPr/>
        </p:nvPicPr>
        <p:blipFill>
          <a:blip r:embed="rId2"/>
          <a:srcRect l="0" r="0" t="0" b="0"/>
          <a:stretch/>
        </p:blipFill>
        <p:spPr>
          <a:xfrm>
            <a:off x="1879600" y="3765352"/>
            <a:ext cx="279400" cy="279400"/>
          </a:xfrm>
          <a:prstGeom prst="rect">
            <a:avLst/>
          </a:prstGeom>
        </p:spPr>
      </p:pic>
      <p:sp>
        <p:nvSpPr>
          <p:cNvPr id="11" name="Text 7"/>
          <p:cNvSpPr/>
          <p:nvPr/>
        </p:nvSpPr>
        <p:spPr>
          <a:xfrm>
            <a:off x="1648718" y="4095552"/>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2" name="Text 8"/>
          <p:cNvSpPr/>
          <p:nvPr/>
        </p:nvSpPr>
        <p:spPr>
          <a:xfrm>
            <a:off x="1490960" y="4361458"/>
            <a:ext cx="105668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responder()</a:t>
            </a:r>
            <a:endParaRPr lang="en-US" sz="1200" dirty="0"/>
          </a:p>
        </p:txBody>
      </p:sp>
      <p:sp>
        <p:nvSpPr>
          <p:cNvPr id="13" name="Shape 9"/>
          <p:cNvSpPr/>
          <p:nvPr/>
        </p:nvSpPr>
        <p:spPr>
          <a:xfrm>
            <a:off x="4629150" y="1910755"/>
            <a:ext cx="2654300" cy="1066800"/>
          </a:xfrm>
          <a:prstGeom prst="roundRect">
            <a:avLst>
              <a:gd name="adj" fmla="val 8929"/>
            </a:avLst>
          </a:prstGeom>
          <a:solidFill>
            <a:srgbClr val="FFFFFF"/>
          </a:solidFill>
          <a:ln w="12700">
            <a:solidFill>
              <a:srgbClr val="1E293B"/>
            </a:solidFill>
            <a:prstDash val="solid"/>
          </a:ln>
        </p:spPr>
      </p:sp>
      <p:pic>
        <p:nvPicPr>
          <p:cNvPr id="14" name="Image 2" descr="preencoded.png">    </p:cNvPr>
          <p:cNvPicPr>
            <a:picLocks noChangeAspect="1"/>
          </p:cNvPicPr>
          <p:nvPr/>
        </p:nvPicPr>
        <p:blipFill>
          <a:blip r:embed="rId3"/>
          <a:srcRect l="0" r="0" t="0" b="0"/>
          <a:stretch/>
        </p:blipFill>
        <p:spPr>
          <a:xfrm>
            <a:off x="5816600" y="2050852"/>
            <a:ext cx="279400" cy="279400"/>
          </a:xfrm>
          <a:prstGeom prst="rect">
            <a:avLst/>
          </a:prstGeom>
        </p:spPr>
      </p:pic>
      <p:sp>
        <p:nvSpPr>
          <p:cNvPr id="15" name="Text 10"/>
          <p:cNvSpPr/>
          <p:nvPr/>
        </p:nvSpPr>
        <p:spPr>
          <a:xfrm>
            <a:off x="5574308" y="2381052"/>
            <a:ext cx="76398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Memoria</a:t>
            </a:r>
            <a:endParaRPr lang="en-US" sz="1400" dirty="0"/>
          </a:p>
        </p:txBody>
      </p:sp>
      <p:sp>
        <p:nvSpPr>
          <p:cNvPr id="16" name="Text 11"/>
          <p:cNvSpPr/>
          <p:nvPr/>
        </p:nvSpPr>
        <p:spPr>
          <a:xfrm>
            <a:off x="5156696" y="2646958"/>
            <a:ext cx="159910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memory.py · thread_id</a:t>
            </a:r>
            <a:endParaRPr lang="en-US" sz="1200" dirty="0"/>
          </a:p>
        </p:txBody>
      </p:sp>
      <p:sp>
        <p:nvSpPr>
          <p:cNvPr id="17" name="Shape 12"/>
          <p:cNvSpPr/>
          <p:nvPr/>
        </p:nvSpPr>
        <p:spPr>
          <a:xfrm>
            <a:off x="4438650" y="3053755"/>
            <a:ext cx="3035300" cy="1993900"/>
          </a:xfrm>
          <a:prstGeom prst="roundRect">
            <a:avLst>
              <a:gd name="adj" fmla="val 4777"/>
            </a:avLst>
          </a:prstGeom>
          <a:solidFill>
            <a:srgbClr val="FFFFFF"/>
          </a:solidFill>
          <a:ln w="12700">
            <a:solidFill>
              <a:srgbClr val="526277"/>
            </a:solidFill>
            <a:prstDash val="dash"/>
          </a:ln>
        </p:spPr>
      </p:sp>
      <p:sp>
        <p:nvSpPr>
          <p:cNvPr id="18" name="Text 13"/>
          <p:cNvSpPr/>
          <p:nvPr/>
        </p:nvSpPr>
        <p:spPr>
          <a:xfrm>
            <a:off x="4584700" y="3085505"/>
            <a:ext cx="2616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Mono" pitchFamily="34" charset="0"/>
                <a:ea typeface="IBM Plex Mono" pitchFamily="34" charset="-122"/>
                <a:cs typeface="IBM Plex Mono" pitchFamily="34" charset="-120"/>
              </a:rPr>
              <a:t>ALL_TOOLS</a:t>
            </a:r>
            <a:endParaRPr lang="en-US" sz="1400" dirty="0"/>
          </a:p>
        </p:txBody>
      </p:sp>
      <p:sp>
        <p:nvSpPr>
          <p:cNvPr id="19" name="Shape 14"/>
          <p:cNvSpPr/>
          <p:nvPr/>
        </p:nvSpPr>
        <p:spPr>
          <a:xfrm>
            <a:off x="4629150" y="3371255"/>
            <a:ext cx="2654300" cy="660400"/>
          </a:xfrm>
          <a:prstGeom prst="roundRect">
            <a:avLst>
              <a:gd name="adj" fmla="val 14423"/>
            </a:avLst>
          </a:prstGeom>
          <a:solidFill>
            <a:srgbClr val="FFFFFF"/>
          </a:solidFill>
          <a:ln w="12700">
            <a:solidFill>
              <a:srgbClr val="1E293B"/>
            </a:solidFill>
            <a:prstDash val="solid"/>
          </a:ln>
        </p:spPr>
      </p:sp>
      <p:sp>
        <p:nvSpPr>
          <p:cNvPr id="20" name="Text 15"/>
          <p:cNvSpPr/>
          <p:nvPr/>
        </p:nvSpPr>
        <p:spPr>
          <a:xfrm>
            <a:off x="5453955" y="3479205"/>
            <a:ext cx="1004590" cy="234156"/>
          </a:xfrm>
          <a:prstGeom prst="rect">
            <a:avLst/>
          </a:prstGeom>
          <a:noFill/>
          <a:ln/>
        </p:spPr>
        <p:txBody>
          <a:bodyPr wrap="square" lIns="0" tIns="0" rIns="0" bIns="0" rtlCol="0" anchor="t">
            <a:normAutofit/>
          </a:bodyPr>
          <a:lstStyle/>
          <a:p>
            <a:pPr algn="ctr" indent="0" marL="0">
              <a:lnSpc>
                <a:spcPts val="1673"/>
              </a:lnSpc>
              <a:buNone/>
            </a:pPr>
            <a:r>
              <a:rPr lang="en-US" sz="1383" dirty="0">
                <a:solidFill>
                  <a:srgbClr val="1E293B"/>
                </a:solidFill>
                <a:latin typeface="IBM Plex Sans" pitchFamily="34" charset="0"/>
                <a:ea typeface="IBM Plex Sans" pitchFamily="34" charset="-122"/>
                <a:cs typeface="IBM Plex Sans" pitchFamily="34" charset="-120"/>
              </a:rPr>
              <a:t>Tools del L4</a:t>
            </a:r>
            <a:endParaRPr lang="en-US" sz="1383" dirty="0"/>
          </a:p>
        </p:txBody>
      </p:sp>
      <p:sp>
        <p:nvSpPr>
          <p:cNvPr id="21" name="Text 16"/>
          <p:cNvSpPr/>
          <p:nvPr/>
        </p:nvSpPr>
        <p:spPr>
          <a:xfrm>
            <a:off x="5379541" y="3738761"/>
            <a:ext cx="1153418" cy="210344"/>
          </a:xfrm>
          <a:prstGeom prst="rect">
            <a:avLst/>
          </a:prstGeom>
          <a:noFill/>
          <a:ln/>
        </p:spPr>
        <p:txBody>
          <a:bodyPr wrap="square" lIns="0" tIns="0" rIns="0" bIns="0" rtlCol="0" anchor="t">
            <a:normAutofit/>
          </a:bodyPr>
          <a:lstStyle/>
          <a:p>
            <a:pPr algn="ctr" indent="0" marL="0">
              <a:lnSpc>
                <a:spcPts val="1472"/>
              </a:lnSpc>
              <a:buNone/>
            </a:pPr>
            <a:r>
              <a:rPr lang="en-US" sz="1177" dirty="0">
                <a:solidFill>
                  <a:srgbClr val="526277"/>
                </a:solidFill>
                <a:latin typeface="IBM Plex Sans" pitchFamily="34" charset="0"/>
                <a:ea typeface="IBM Plex Sans" pitchFamily="34" charset="-122"/>
                <a:cs typeface="IBM Plex Sans" pitchFamily="34" charset="-120"/>
              </a:rPr>
              <a:t>TOOLS_NUCLEO</a:t>
            </a:r>
            <a:endParaRPr lang="en-US" sz="1177" dirty="0"/>
          </a:p>
        </p:txBody>
      </p:sp>
      <p:sp>
        <p:nvSpPr>
          <p:cNvPr id="22" name="Shape 17"/>
          <p:cNvSpPr/>
          <p:nvPr/>
        </p:nvSpPr>
        <p:spPr>
          <a:xfrm>
            <a:off x="4635500" y="4266605"/>
            <a:ext cx="2641600" cy="647700"/>
          </a:xfrm>
          <a:prstGeom prst="roundRect">
            <a:avLst>
              <a:gd name="adj" fmla="val 13725"/>
            </a:avLst>
          </a:prstGeom>
          <a:solidFill>
            <a:srgbClr val="FFF0EB"/>
          </a:solidFill>
          <a:ln w="25400">
            <a:solidFill>
              <a:srgbClr val="FF5733"/>
            </a:solidFill>
            <a:prstDash val="solid"/>
          </a:ln>
        </p:spPr>
      </p:sp>
      <p:sp>
        <p:nvSpPr>
          <p:cNvPr id="23" name="Text 18"/>
          <p:cNvSpPr/>
          <p:nvPr/>
        </p:nvSpPr>
        <p:spPr>
          <a:xfrm>
            <a:off x="5363865" y="4380905"/>
            <a:ext cx="1184870" cy="220762"/>
          </a:xfrm>
          <a:prstGeom prst="rect">
            <a:avLst/>
          </a:prstGeom>
          <a:noFill/>
          <a:ln/>
        </p:spPr>
        <p:txBody>
          <a:bodyPr wrap="square" lIns="0" tIns="0" rIns="0" bIns="0" rtlCol="0" anchor="t">
            <a:normAutofit/>
          </a:bodyPr>
          <a:lstStyle/>
          <a:p>
            <a:pPr algn="ctr" indent="0" marL="0">
              <a:lnSpc>
                <a:spcPts val="1572"/>
              </a:lnSpc>
              <a:buNone/>
            </a:pPr>
            <a:r>
              <a:rPr lang="en-US" sz="1299" dirty="0">
                <a:solidFill>
                  <a:srgbClr val="1E293B"/>
                </a:solidFill>
                <a:latin typeface="IBM Plex Sans" pitchFamily="34" charset="0"/>
                <a:ea typeface="IBM Plex Sans" pitchFamily="34" charset="-122"/>
                <a:cs typeface="IBM Plex Sans" pitchFamily="34" charset="-120"/>
              </a:rPr>
              <a:t>Retriever (tool)</a:t>
            </a:r>
            <a:endParaRPr lang="en-US" sz="1299" dirty="0"/>
          </a:p>
        </p:txBody>
      </p:sp>
      <p:sp>
        <p:nvSpPr>
          <p:cNvPr id="24" name="Text 19"/>
          <p:cNvSpPr/>
          <p:nvPr/>
        </p:nvSpPr>
        <p:spPr>
          <a:xfrm>
            <a:off x="4964801" y="4627066"/>
            <a:ext cx="1982998" cy="198338"/>
          </a:xfrm>
          <a:prstGeom prst="rect">
            <a:avLst/>
          </a:prstGeom>
          <a:noFill/>
          <a:ln/>
        </p:spPr>
        <p:txBody>
          <a:bodyPr wrap="square" lIns="0" tIns="0" rIns="0" bIns="0" rtlCol="0" anchor="t">
            <a:normAutofit/>
          </a:bodyPr>
          <a:lstStyle/>
          <a:p>
            <a:pPr algn="ctr" indent="0" marL="0">
              <a:lnSpc>
                <a:spcPts val="1373"/>
              </a:lnSpc>
              <a:buNone/>
            </a:pPr>
            <a:r>
              <a:rPr lang="en-US" sz="1099" dirty="0">
                <a:solidFill>
                  <a:srgbClr val="526277"/>
                </a:solidFill>
                <a:latin typeface="IBM Plex Mono" pitchFamily="34" charset="0"/>
                <a:ea typeface="IBM Plex Mono" pitchFamily="34" charset="-122"/>
                <a:cs typeface="IBM Plex Mono" pitchFamily="34" charset="-120"/>
              </a:rPr>
              <a:t>retrieve_knowledge_base</a:t>
            </a:r>
            <a:endParaRPr lang="en-US" sz="1099" dirty="0"/>
          </a:p>
        </p:txBody>
      </p:sp>
      <p:sp>
        <p:nvSpPr>
          <p:cNvPr id="25" name="Shape 20"/>
          <p:cNvSpPr/>
          <p:nvPr/>
        </p:nvSpPr>
        <p:spPr>
          <a:xfrm>
            <a:off x="9353550" y="1783755"/>
            <a:ext cx="2019300" cy="1066800"/>
          </a:xfrm>
          <a:prstGeom prst="roundRect">
            <a:avLst>
              <a:gd name="adj" fmla="val 8929"/>
            </a:avLst>
          </a:prstGeom>
          <a:solidFill>
            <a:srgbClr val="FFFFFF"/>
          </a:solidFill>
          <a:ln w="12700">
            <a:solidFill>
              <a:srgbClr val="1E293B"/>
            </a:solidFill>
            <a:prstDash val="solid"/>
          </a:ln>
        </p:spPr>
      </p:sp>
      <p:pic>
        <p:nvPicPr>
          <p:cNvPr id="26" name="Image 3" descr="preencoded.png">    </p:cNvPr>
          <p:cNvPicPr>
            <a:picLocks noChangeAspect="1"/>
          </p:cNvPicPr>
          <p:nvPr/>
        </p:nvPicPr>
        <p:blipFill>
          <a:blip r:embed="rId4"/>
          <a:srcRect l="0" r="0" t="0" b="0"/>
          <a:stretch/>
        </p:blipFill>
        <p:spPr>
          <a:xfrm>
            <a:off x="10223500" y="1923852"/>
            <a:ext cx="279400" cy="279400"/>
          </a:xfrm>
          <a:prstGeom prst="rect">
            <a:avLst/>
          </a:prstGeom>
        </p:spPr>
      </p:pic>
      <p:sp>
        <p:nvSpPr>
          <p:cNvPr id="27" name="Text 21"/>
          <p:cNvSpPr/>
          <p:nvPr/>
        </p:nvSpPr>
        <p:spPr>
          <a:xfrm>
            <a:off x="9671447" y="2254052"/>
            <a:ext cx="138340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Corpus del track</a:t>
            </a:r>
            <a:endParaRPr lang="en-US" sz="1400" dirty="0"/>
          </a:p>
        </p:txBody>
      </p:sp>
      <p:sp>
        <p:nvSpPr>
          <p:cNvPr id="28" name="Text 22"/>
          <p:cNvSpPr/>
          <p:nvPr/>
        </p:nvSpPr>
        <p:spPr>
          <a:xfrm>
            <a:off x="10142637" y="2519958"/>
            <a:ext cx="4411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 .md</a:t>
            </a:r>
            <a:endParaRPr lang="en-US" sz="1200" dirty="0"/>
          </a:p>
        </p:txBody>
      </p:sp>
      <p:sp>
        <p:nvSpPr>
          <p:cNvPr id="29" name="Shape 23"/>
          <p:cNvSpPr/>
          <p:nvPr/>
        </p:nvSpPr>
        <p:spPr>
          <a:xfrm>
            <a:off x="9359900" y="4101505"/>
            <a:ext cx="2006600" cy="965200"/>
          </a:xfrm>
          <a:prstGeom prst="roundRect">
            <a:avLst>
              <a:gd name="adj" fmla="val 9211"/>
            </a:avLst>
          </a:prstGeom>
          <a:solidFill>
            <a:srgbClr val="FFF0EB"/>
          </a:solidFill>
          <a:ln w="25400">
            <a:solidFill>
              <a:srgbClr val="FF5733"/>
            </a:solidFill>
            <a:prstDash val="solid"/>
          </a:ln>
        </p:spPr>
      </p:sp>
      <p:pic>
        <p:nvPicPr>
          <p:cNvPr id="30" name="Image 4" descr="preencoded.png">    </p:cNvPr>
          <p:cNvPicPr>
            <a:picLocks noChangeAspect="1"/>
          </p:cNvPicPr>
          <p:nvPr/>
        </p:nvPicPr>
        <p:blipFill>
          <a:blip r:embed="rId5"/>
          <a:srcRect l="-3946" r="-3946" t="0" b="0"/>
          <a:stretch/>
        </p:blipFill>
        <p:spPr>
          <a:xfrm>
            <a:off x="10223500" y="4215805"/>
            <a:ext cx="279400" cy="258961"/>
          </a:xfrm>
          <a:prstGeom prst="rect">
            <a:avLst/>
          </a:prstGeom>
        </p:spPr>
      </p:pic>
      <p:sp>
        <p:nvSpPr>
          <p:cNvPr id="31" name="Text 24"/>
          <p:cNvSpPr/>
          <p:nvPr/>
        </p:nvSpPr>
        <p:spPr>
          <a:xfrm>
            <a:off x="9837837" y="4525566"/>
            <a:ext cx="1050727" cy="224830"/>
          </a:xfrm>
          <a:prstGeom prst="rect">
            <a:avLst/>
          </a:prstGeom>
          <a:noFill/>
          <a:ln/>
        </p:spPr>
        <p:txBody>
          <a:bodyPr wrap="square" lIns="0" tIns="0" rIns="0" bIns="0" rtlCol="0" anchor="t">
            <a:normAutofit/>
          </a:bodyPr>
          <a:lstStyle/>
          <a:p>
            <a:pPr algn="ctr" indent="0" marL="0">
              <a:lnSpc>
                <a:spcPts val="1572"/>
              </a:lnSpc>
              <a:buNone/>
            </a:pPr>
            <a:r>
              <a:rPr lang="en-US" sz="1299" dirty="0">
                <a:solidFill>
                  <a:srgbClr val="1E293B"/>
                </a:solidFill>
                <a:latin typeface="IBM Plex Sans" pitchFamily="34" charset="0"/>
                <a:ea typeface="IBM Plex Sans" pitchFamily="34" charset="-122"/>
                <a:cs typeface="IBM Plex Sans" pitchFamily="34" charset="-120"/>
              </a:rPr>
              <a:t>Qdrant Cloud</a:t>
            </a:r>
            <a:endParaRPr lang="en-US" sz="1299" dirty="0"/>
          </a:p>
        </p:txBody>
      </p:sp>
      <p:sp>
        <p:nvSpPr>
          <p:cNvPr id="32" name="Text 25"/>
          <p:cNvSpPr/>
          <p:nvPr/>
        </p:nvSpPr>
        <p:spPr>
          <a:xfrm>
            <a:off x="9976247" y="4775795"/>
            <a:ext cx="773906" cy="202009"/>
          </a:xfrm>
          <a:prstGeom prst="rect">
            <a:avLst/>
          </a:prstGeom>
          <a:noFill/>
          <a:ln/>
        </p:spPr>
        <p:txBody>
          <a:bodyPr wrap="square" lIns="0" tIns="0" rIns="0" bIns="0" rtlCol="0" anchor="t">
            <a:normAutofit/>
          </a:bodyPr>
          <a:lstStyle/>
          <a:p>
            <a:pPr algn="ctr" indent="0" marL="0">
              <a:lnSpc>
                <a:spcPts val="1425"/>
              </a:lnSpc>
              <a:buNone/>
            </a:pPr>
            <a:r>
              <a:rPr lang="en-US" sz="1140" dirty="0">
                <a:solidFill>
                  <a:srgbClr val="526277"/>
                </a:solidFill>
                <a:latin typeface="IBM Plex Sans" pitchFamily="34" charset="0"/>
                <a:ea typeface="IBM Plex Sans" pitchFamily="34" charset="-122"/>
                <a:cs typeface="IBM Plex Sans" pitchFamily="34" charset="-120"/>
              </a:rPr>
              <a:t>kb-&lt;track&gt;</a:t>
            </a:r>
            <a:endParaRPr lang="en-US" sz="1140" dirty="0"/>
          </a:p>
        </p:txBody>
      </p:sp>
      <p:pic>
        <p:nvPicPr>
          <p:cNvPr id="33" name="Image 5" descr="connector">    </p:cNvPr>
          <p:cNvPicPr>
            <a:picLocks noChangeAspect="1"/>
          </p:cNvPicPr>
          <p:nvPr/>
        </p:nvPicPr>
        <p:blipFill>
          <a:blip r:embed="rId6"/>
          <a:srcRect l="0" r="0" t="0" b="0"/>
          <a:stretch/>
        </p:blipFill>
        <p:spPr>
          <a:xfrm>
            <a:off x="1968500" y="2933105"/>
            <a:ext cx="101600" cy="736600"/>
          </a:xfrm>
          <a:prstGeom prst="rect">
            <a:avLst/>
          </a:prstGeom>
        </p:spPr>
      </p:pic>
      <p:pic>
        <p:nvPicPr>
          <p:cNvPr id="34" name="Image 6" descr="connector">    </p:cNvPr>
          <p:cNvPicPr>
            <a:picLocks noChangeAspect="1"/>
          </p:cNvPicPr>
          <p:nvPr/>
        </p:nvPicPr>
        <p:blipFill>
          <a:blip r:embed="rId7"/>
          <a:srcRect l="0" r="0" t="0" b="0"/>
          <a:stretch/>
        </p:blipFill>
        <p:spPr>
          <a:xfrm>
            <a:off x="2921000" y="2393355"/>
            <a:ext cx="1752600" cy="101600"/>
          </a:xfrm>
          <a:prstGeom prst="rect">
            <a:avLst/>
          </a:prstGeom>
        </p:spPr>
      </p:pic>
      <p:pic>
        <p:nvPicPr>
          <p:cNvPr id="35" name="Image 7" descr="connector">    </p:cNvPr>
          <p:cNvPicPr>
            <a:picLocks noChangeAspect="1"/>
          </p:cNvPicPr>
          <p:nvPr/>
        </p:nvPicPr>
        <p:blipFill>
          <a:blip r:embed="rId8"/>
          <a:srcRect l="0" r="0" t="0" b="0"/>
          <a:stretch/>
        </p:blipFill>
        <p:spPr>
          <a:xfrm>
            <a:off x="2921000" y="4107855"/>
            <a:ext cx="1562100" cy="101600"/>
          </a:xfrm>
          <a:prstGeom prst="rect">
            <a:avLst/>
          </a:prstGeom>
        </p:spPr>
      </p:pic>
      <p:pic>
        <p:nvPicPr>
          <p:cNvPr id="36" name="Image 8" descr="connector">    </p:cNvPr>
          <p:cNvPicPr>
            <a:picLocks noChangeAspect="1"/>
          </p:cNvPicPr>
          <p:nvPr/>
        </p:nvPicPr>
        <p:blipFill>
          <a:blip r:embed="rId9"/>
          <a:srcRect l="0" r="0" t="0" b="0"/>
          <a:stretch/>
        </p:blipFill>
        <p:spPr>
          <a:xfrm>
            <a:off x="7213600" y="4514255"/>
            <a:ext cx="2209800" cy="152400"/>
          </a:xfrm>
          <a:prstGeom prst="rect">
            <a:avLst/>
          </a:prstGeom>
        </p:spPr>
      </p:pic>
      <p:pic>
        <p:nvPicPr>
          <p:cNvPr id="37" name="Image 9" descr="connector">    </p:cNvPr>
          <p:cNvPicPr>
            <a:picLocks noChangeAspect="1"/>
          </p:cNvPicPr>
          <p:nvPr/>
        </p:nvPicPr>
        <p:blipFill>
          <a:blip r:embed="rId10"/>
          <a:srcRect l="0" r="0" t="0" b="0"/>
          <a:stretch/>
        </p:blipFill>
        <p:spPr>
          <a:xfrm>
            <a:off x="10312400" y="2806105"/>
            <a:ext cx="101600" cy="1333500"/>
          </a:xfrm>
          <a:prstGeom prst="rect">
            <a:avLst/>
          </a:prstGeom>
        </p:spPr>
      </p:pic>
      <p:sp>
        <p:nvSpPr>
          <p:cNvPr id="38" name="Text 26"/>
          <p:cNvSpPr/>
          <p:nvPr/>
        </p:nvSpPr>
        <p:spPr>
          <a:xfrm>
            <a:off x="2095500" y="31934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 calls</a:t>
            </a:r>
            <a:endParaRPr lang="en-US" sz="1400" dirty="0"/>
          </a:p>
        </p:txBody>
      </p:sp>
      <p:sp>
        <p:nvSpPr>
          <p:cNvPr id="39" name="Text 27"/>
          <p:cNvSpPr/>
          <p:nvPr/>
        </p:nvSpPr>
        <p:spPr>
          <a:xfrm>
            <a:off x="3225800" y="21774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historial</a:t>
            </a:r>
            <a:endParaRPr lang="en-US" sz="1400" dirty="0"/>
          </a:p>
        </p:txBody>
      </p:sp>
      <p:sp>
        <p:nvSpPr>
          <p:cNvPr id="40" name="Text 28"/>
          <p:cNvSpPr/>
          <p:nvPr/>
        </p:nvSpPr>
        <p:spPr>
          <a:xfrm>
            <a:off x="3225800" y="3891955"/>
            <a:ext cx="1003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41" name="Text 29"/>
          <p:cNvSpPr/>
          <p:nvPr/>
        </p:nvSpPr>
        <p:spPr>
          <a:xfrm>
            <a:off x="7861300" y="4323755"/>
            <a:ext cx="749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busca</a:t>
            </a:r>
            <a:endParaRPr lang="en-US" sz="1400" dirty="0"/>
          </a:p>
        </p:txBody>
      </p:sp>
      <p:sp>
        <p:nvSpPr>
          <p:cNvPr id="42" name="Text 30"/>
          <p:cNvSpPr/>
          <p:nvPr/>
        </p:nvSpPr>
        <p:spPr>
          <a:xfrm>
            <a:off x="9245600" y="3371255"/>
            <a:ext cx="1041400"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1E293B"/>
                </a:solidFill>
                <a:latin typeface="IBM Plex Mono" pitchFamily="34" charset="0"/>
                <a:ea typeface="IBM Plex Mono" pitchFamily="34" charset="-122"/>
                <a:cs typeface="IBM Plex Mono" pitchFamily="34" charset="-120"/>
              </a:rPr>
              <a:t>ingest.py</a:t>
            </a:r>
            <a:endParaRPr lang="en-US" sz="1400" dirty="0"/>
          </a:p>
        </p:txBody>
      </p:sp>
      <p:sp>
        <p:nvSpPr>
          <p:cNvPr id="43" name="Text 31"/>
          <p:cNvSpPr/>
          <p:nvPr/>
        </p:nvSpPr>
        <p:spPr>
          <a:xfrm>
            <a:off x="812800" y="528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@tool retrieve_knowledge_base(query): similarity_search(query, k=3) y cada fragmento con su [Fuente: …].</a:t>
            </a:r>
            <a:endParaRPr lang="en-US" sz="1600" dirty="0"/>
          </a:p>
        </p:txBody>
      </p:sp>
      <p:sp>
        <p:nvSpPr>
          <p:cNvPr id="44" name="Text 32"/>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23</a:t>
            </a:r>
            <a:endParaRPr lang="en-US" sz="1200" dirty="0"/>
          </a:p>
        </p:txBody>
      </p:sp>
      <p:pic>
        <p:nvPicPr>
          <p:cNvPr id="45" name="Image 10" descr="Logo de AriwaLabs">    </p:cNvPr>
          <p:cNvPicPr>
            <a:picLocks noChangeAspect="1"/>
          </p:cNvPicPr>
          <p:nvPr/>
        </p:nvPicPr>
        <p:blipFill>
          <a:blip r:embed="rId11"/>
          <a:srcRect l="-9345" r="-9345" t="0" b="0"/>
          <a:stretch/>
        </p:blipFill>
        <p:spPr>
          <a:xfrm>
            <a:off x="10680700" y="6197600"/>
            <a:ext cx="698500" cy="254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L5 Parte 3 · Memoria por thread_id</a:t>
            </a:r>
            <a:endParaRPr lang="en-US" sz="3600" dirty="0"/>
          </a:p>
        </p:txBody>
      </p:sp>
      <p:sp>
        <p:nvSpPr>
          <p:cNvPr id="3" name="Shape 1"/>
          <p:cNvSpPr/>
          <p:nvPr/>
        </p:nvSpPr>
        <p:spPr>
          <a:xfrm>
            <a:off x="819150" y="1529755"/>
            <a:ext cx="6972300" cy="3543300"/>
          </a:xfrm>
          <a:prstGeom prst="roundRect">
            <a:avLst>
              <a:gd name="adj" fmla="val 4122"/>
            </a:avLst>
          </a:prstGeom>
          <a:solidFill>
            <a:srgbClr val="E9F0F7"/>
          </a:solidFill>
          <a:ln w="12700">
            <a:solidFill>
              <a:srgbClr val="526277"/>
            </a:solidFill>
            <a:prstDash val="solid"/>
          </a:ln>
        </p:spPr>
      </p:sp>
      <p:sp>
        <p:nvSpPr>
          <p:cNvPr id="4" name="Text 2"/>
          <p:cNvSpPr/>
          <p:nvPr/>
        </p:nvSpPr>
        <p:spPr>
          <a:xfrm>
            <a:off x="965200" y="1625005"/>
            <a:ext cx="2616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agent.py v3</a:t>
            </a:r>
            <a:endParaRPr lang="en-US" sz="1400" dirty="0"/>
          </a:p>
        </p:txBody>
      </p:sp>
      <p:sp>
        <p:nvSpPr>
          <p:cNvPr id="5" name="Shape 3"/>
          <p:cNvSpPr/>
          <p:nvPr/>
        </p:nvSpPr>
        <p:spPr>
          <a:xfrm>
            <a:off x="1073150" y="1910755"/>
            <a:ext cx="1892300" cy="1066800"/>
          </a:xfrm>
          <a:prstGeom prst="roundRect">
            <a:avLst>
              <a:gd name="adj" fmla="val 8929"/>
            </a:avLst>
          </a:prstGeom>
          <a:solidFill>
            <a:srgbClr val="FFFFFF"/>
          </a:solidFill>
          <a:ln w="12700">
            <a:solidFill>
              <a:srgbClr val="1E293B"/>
            </a:solidFill>
            <a:prstDash val="solid"/>
          </a:ln>
        </p:spPr>
      </p:sp>
      <p:pic>
        <p:nvPicPr>
          <p:cNvPr id="6" name="Image 0" descr="preencoded.png">    </p:cNvPr>
          <p:cNvPicPr>
            <a:picLocks noChangeAspect="1"/>
          </p:cNvPicPr>
          <p:nvPr/>
        </p:nvPicPr>
        <p:blipFill>
          <a:blip r:embed="rId1"/>
          <a:srcRect l="0" r="0" t="0" b="0"/>
          <a:stretch/>
        </p:blipFill>
        <p:spPr>
          <a:xfrm>
            <a:off x="1879600" y="2050852"/>
            <a:ext cx="279400" cy="279400"/>
          </a:xfrm>
          <a:prstGeom prst="rect">
            <a:avLst/>
          </a:prstGeom>
        </p:spPr>
      </p:pic>
      <p:sp>
        <p:nvSpPr>
          <p:cNvPr id="7" name="Text 4"/>
          <p:cNvSpPr/>
          <p:nvPr/>
        </p:nvSpPr>
        <p:spPr>
          <a:xfrm>
            <a:off x="1830189" y="2381052"/>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1707455" y="2646958"/>
            <a:ext cx="62368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Shape 6"/>
          <p:cNvSpPr/>
          <p:nvPr/>
        </p:nvSpPr>
        <p:spPr>
          <a:xfrm>
            <a:off x="1073150" y="3625255"/>
            <a:ext cx="1892300" cy="1066800"/>
          </a:xfrm>
          <a:prstGeom prst="roundRect">
            <a:avLst>
              <a:gd name="adj" fmla="val 8929"/>
            </a:avLst>
          </a:prstGeom>
          <a:solidFill>
            <a:srgbClr val="FFFFFF"/>
          </a:solidFill>
          <a:ln w="12700">
            <a:solidFill>
              <a:srgbClr val="1E293B"/>
            </a:solidFill>
            <a:prstDash val="solid"/>
          </a:ln>
        </p:spPr>
      </p:sp>
      <p:pic>
        <p:nvPicPr>
          <p:cNvPr id="10" name="Image 1" descr="Settings">    </p:cNvPr>
          <p:cNvPicPr>
            <a:picLocks noChangeAspect="1"/>
          </p:cNvPicPr>
          <p:nvPr/>
        </p:nvPicPr>
        <p:blipFill>
          <a:blip r:embed="rId2"/>
          <a:srcRect l="0" r="0" t="0" b="0"/>
          <a:stretch/>
        </p:blipFill>
        <p:spPr>
          <a:xfrm>
            <a:off x="1879600" y="3765352"/>
            <a:ext cx="279400" cy="279400"/>
          </a:xfrm>
          <a:prstGeom prst="rect">
            <a:avLst/>
          </a:prstGeom>
        </p:spPr>
      </p:pic>
      <p:sp>
        <p:nvSpPr>
          <p:cNvPr id="11" name="Text 7"/>
          <p:cNvSpPr/>
          <p:nvPr/>
        </p:nvSpPr>
        <p:spPr>
          <a:xfrm>
            <a:off x="1648718" y="4095552"/>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2" name="Text 8"/>
          <p:cNvSpPr/>
          <p:nvPr/>
        </p:nvSpPr>
        <p:spPr>
          <a:xfrm>
            <a:off x="1490960" y="4361458"/>
            <a:ext cx="105668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responder()</a:t>
            </a:r>
            <a:endParaRPr lang="en-US" sz="1200" dirty="0"/>
          </a:p>
        </p:txBody>
      </p:sp>
      <p:sp>
        <p:nvSpPr>
          <p:cNvPr id="13" name="Shape 9"/>
          <p:cNvSpPr/>
          <p:nvPr/>
        </p:nvSpPr>
        <p:spPr>
          <a:xfrm>
            <a:off x="4635500" y="1917105"/>
            <a:ext cx="2641600" cy="1054100"/>
          </a:xfrm>
          <a:prstGeom prst="roundRect">
            <a:avLst>
              <a:gd name="adj" fmla="val 8434"/>
            </a:avLst>
          </a:prstGeom>
          <a:solidFill>
            <a:srgbClr val="FFF0EB"/>
          </a:solidFill>
          <a:ln w="25400">
            <a:solidFill>
              <a:srgbClr val="FF5733"/>
            </a:solidFill>
            <a:prstDash val="solid"/>
          </a:ln>
        </p:spPr>
      </p:sp>
      <p:pic>
        <p:nvPicPr>
          <p:cNvPr id="14" name="Image 2" descr="preencoded.png">    </p:cNvPr>
          <p:cNvPicPr>
            <a:picLocks noChangeAspect="1"/>
          </p:cNvPicPr>
          <p:nvPr/>
        </p:nvPicPr>
        <p:blipFill>
          <a:blip r:embed="rId3"/>
          <a:srcRect l="0" r="0" t="0" b="0"/>
          <a:stretch/>
        </p:blipFill>
        <p:spPr>
          <a:xfrm>
            <a:off x="5816600" y="2050852"/>
            <a:ext cx="279400" cy="279400"/>
          </a:xfrm>
          <a:prstGeom prst="rect">
            <a:avLst/>
          </a:prstGeom>
        </p:spPr>
      </p:pic>
      <p:sp>
        <p:nvSpPr>
          <p:cNvPr id="15" name="Text 10"/>
          <p:cNvSpPr/>
          <p:nvPr/>
        </p:nvSpPr>
        <p:spPr>
          <a:xfrm>
            <a:off x="5574308" y="2381052"/>
            <a:ext cx="76398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Memoria</a:t>
            </a:r>
            <a:endParaRPr lang="en-US" sz="1400" dirty="0"/>
          </a:p>
        </p:txBody>
      </p:sp>
      <p:sp>
        <p:nvSpPr>
          <p:cNvPr id="16" name="Text 11"/>
          <p:cNvSpPr/>
          <p:nvPr/>
        </p:nvSpPr>
        <p:spPr>
          <a:xfrm>
            <a:off x="5156696" y="2646958"/>
            <a:ext cx="159910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memory.py · thread_id</a:t>
            </a:r>
            <a:endParaRPr lang="en-US" sz="1200" dirty="0"/>
          </a:p>
        </p:txBody>
      </p:sp>
      <p:sp>
        <p:nvSpPr>
          <p:cNvPr id="17" name="Shape 12"/>
          <p:cNvSpPr/>
          <p:nvPr/>
        </p:nvSpPr>
        <p:spPr>
          <a:xfrm>
            <a:off x="4438650" y="3053755"/>
            <a:ext cx="3035300" cy="1993900"/>
          </a:xfrm>
          <a:prstGeom prst="roundRect">
            <a:avLst>
              <a:gd name="adj" fmla="val 4777"/>
            </a:avLst>
          </a:prstGeom>
          <a:solidFill>
            <a:srgbClr val="FFFFFF"/>
          </a:solidFill>
          <a:ln w="12700">
            <a:solidFill>
              <a:srgbClr val="526277"/>
            </a:solidFill>
            <a:prstDash val="dash"/>
          </a:ln>
        </p:spPr>
      </p:sp>
      <p:sp>
        <p:nvSpPr>
          <p:cNvPr id="18" name="Text 13"/>
          <p:cNvSpPr/>
          <p:nvPr/>
        </p:nvSpPr>
        <p:spPr>
          <a:xfrm>
            <a:off x="4584700" y="3085505"/>
            <a:ext cx="2616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Mono" pitchFamily="34" charset="0"/>
                <a:ea typeface="IBM Plex Mono" pitchFamily="34" charset="-122"/>
                <a:cs typeface="IBM Plex Mono" pitchFamily="34" charset="-120"/>
              </a:rPr>
              <a:t>ALL_TOOLS</a:t>
            </a:r>
            <a:endParaRPr lang="en-US" sz="1400" dirty="0"/>
          </a:p>
        </p:txBody>
      </p:sp>
      <p:sp>
        <p:nvSpPr>
          <p:cNvPr id="19" name="Shape 14"/>
          <p:cNvSpPr/>
          <p:nvPr/>
        </p:nvSpPr>
        <p:spPr>
          <a:xfrm>
            <a:off x="4629150" y="3371255"/>
            <a:ext cx="2654300" cy="660400"/>
          </a:xfrm>
          <a:prstGeom prst="roundRect">
            <a:avLst>
              <a:gd name="adj" fmla="val 14423"/>
            </a:avLst>
          </a:prstGeom>
          <a:solidFill>
            <a:srgbClr val="FFFFFF"/>
          </a:solidFill>
          <a:ln w="12700">
            <a:solidFill>
              <a:srgbClr val="1E293B"/>
            </a:solidFill>
            <a:prstDash val="solid"/>
          </a:ln>
        </p:spPr>
      </p:sp>
      <p:sp>
        <p:nvSpPr>
          <p:cNvPr id="20" name="Text 15"/>
          <p:cNvSpPr/>
          <p:nvPr/>
        </p:nvSpPr>
        <p:spPr>
          <a:xfrm>
            <a:off x="5453955" y="3479205"/>
            <a:ext cx="1004590" cy="234156"/>
          </a:xfrm>
          <a:prstGeom prst="rect">
            <a:avLst/>
          </a:prstGeom>
          <a:noFill/>
          <a:ln/>
        </p:spPr>
        <p:txBody>
          <a:bodyPr wrap="square" lIns="0" tIns="0" rIns="0" bIns="0" rtlCol="0" anchor="t">
            <a:normAutofit/>
          </a:bodyPr>
          <a:lstStyle/>
          <a:p>
            <a:pPr algn="ctr" indent="0" marL="0">
              <a:lnSpc>
                <a:spcPts val="1673"/>
              </a:lnSpc>
              <a:buNone/>
            </a:pPr>
            <a:r>
              <a:rPr lang="en-US" sz="1383" dirty="0">
                <a:solidFill>
                  <a:srgbClr val="1E293B"/>
                </a:solidFill>
                <a:latin typeface="IBM Plex Sans" pitchFamily="34" charset="0"/>
                <a:ea typeface="IBM Plex Sans" pitchFamily="34" charset="-122"/>
                <a:cs typeface="IBM Plex Sans" pitchFamily="34" charset="-120"/>
              </a:rPr>
              <a:t>Tools del L4</a:t>
            </a:r>
            <a:endParaRPr lang="en-US" sz="1383" dirty="0"/>
          </a:p>
        </p:txBody>
      </p:sp>
      <p:sp>
        <p:nvSpPr>
          <p:cNvPr id="21" name="Text 16"/>
          <p:cNvSpPr/>
          <p:nvPr/>
        </p:nvSpPr>
        <p:spPr>
          <a:xfrm>
            <a:off x="5379541" y="3738761"/>
            <a:ext cx="1153418" cy="210344"/>
          </a:xfrm>
          <a:prstGeom prst="rect">
            <a:avLst/>
          </a:prstGeom>
          <a:noFill/>
          <a:ln/>
        </p:spPr>
        <p:txBody>
          <a:bodyPr wrap="square" lIns="0" tIns="0" rIns="0" bIns="0" rtlCol="0" anchor="t">
            <a:normAutofit/>
          </a:bodyPr>
          <a:lstStyle/>
          <a:p>
            <a:pPr algn="ctr" indent="0" marL="0">
              <a:lnSpc>
                <a:spcPts val="1472"/>
              </a:lnSpc>
              <a:buNone/>
            </a:pPr>
            <a:r>
              <a:rPr lang="en-US" sz="1177" dirty="0">
                <a:solidFill>
                  <a:srgbClr val="526277"/>
                </a:solidFill>
                <a:latin typeface="IBM Plex Sans" pitchFamily="34" charset="0"/>
                <a:ea typeface="IBM Plex Sans" pitchFamily="34" charset="-122"/>
                <a:cs typeface="IBM Plex Sans" pitchFamily="34" charset="-120"/>
              </a:rPr>
              <a:t>TOOLS_NUCLEO</a:t>
            </a:r>
            <a:endParaRPr lang="en-US" sz="1177" dirty="0"/>
          </a:p>
        </p:txBody>
      </p:sp>
      <p:sp>
        <p:nvSpPr>
          <p:cNvPr id="22" name="Shape 17"/>
          <p:cNvSpPr/>
          <p:nvPr/>
        </p:nvSpPr>
        <p:spPr>
          <a:xfrm>
            <a:off x="4629150" y="4260255"/>
            <a:ext cx="2654300" cy="660400"/>
          </a:xfrm>
          <a:prstGeom prst="roundRect">
            <a:avLst>
              <a:gd name="adj" fmla="val 14423"/>
            </a:avLst>
          </a:prstGeom>
          <a:solidFill>
            <a:srgbClr val="FFFFFF"/>
          </a:solidFill>
          <a:ln w="12700">
            <a:solidFill>
              <a:srgbClr val="1E293B"/>
            </a:solidFill>
            <a:prstDash val="solid"/>
          </a:ln>
        </p:spPr>
      </p:sp>
      <p:sp>
        <p:nvSpPr>
          <p:cNvPr id="23" name="Text 18"/>
          <p:cNvSpPr/>
          <p:nvPr/>
        </p:nvSpPr>
        <p:spPr>
          <a:xfrm>
            <a:off x="5327352" y="4368205"/>
            <a:ext cx="1257796" cy="234156"/>
          </a:xfrm>
          <a:prstGeom prst="rect">
            <a:avLst/>
          </a:prstGeom>
          <a:noFill/>
          <a:ln/>
        </p:spPr>
        <p:txBody>
          <a:bodyPr wrap="square" lIns="0" tIns="0" rIns="0" bIns="0" rtlCol="0" anchor="t">
            <a:normAutofit/>
          </a:bodyPr>
          <a:lstStyle/>
          <a:p>
            <a:pPr algn="ctr" indent="0" marL="0">
              <a:lnSpc>
                <a:spcPts val="1673"/>
              </a:lnSpc>
              <a:buNone/>
            </a:pPr>
            <a:r>
              <a:rPr lang="en-US" sz="1383" dirty="0">
                <a:solidFill>
                  <a:srgbClr val="1E293B"/>
                </a:solidFill>
                <a:latin typeface="IBM Plex Sans" pitchFamily="34" charset="0"/>
                <a:ea typeface="IBM Plex Sans" pitchFamily="34" charset="-122"/>
                <a:cs typeface="IBM Plex Sans" pitchFamily="34" charset="-120"/>
              </a:rPr>
              <a:t>Retriever (tool)</a:t>
            </a:r>
            <a:endParaRPr lang="en-US" sz="1383" dirty="0"/>
          </a:p>
        </p:txBody>
      </p:sp>
      <p:sp>
        <p:nvSpPr>
          <p:cNvPr id="24" name="Text 19"/>
          <p:cNvSpPr/>
          <p:nvPr/>
        </p:nvSpPr>
        <p:spPr>
          <a:xfrm>
            <a:off x="4893469" y="4627761"/>
            <a:ext cx="2125663" cy="210344"/>
          </a:xfrm>
          <a:prstGeom prst="rect">
            <a:avLst/>
          </a:prstGeom>
          <a:noFill/>
          <a:ln/>
        </p:spPr>
        <p:txBody>
          <a:bodyPr wrap="square" lIns="0" tIns="0" rIns="0" bIns="0" rtlCol="0" anchor="t">
            <a:normAutofit/>
          </a:bodyPr>
          <a:lstStyle/>
          <a:p>
            <a:pPr algn="ctr" indent="0" marL="0">
              <a:lnSpc>
                <a:spcPts val="1472"/>
              </a:lnSpc>
              <a:buNone/>
            </a:pPr>
            <a:r>
              <a:rPr lang="en-US" sz="1177" dirty="0">
                <a:solidFill>
                  <a:srgbClr val="526277"/>
                </a:solidFill>
                <a:latin typeface="IBM Plex Mono" pitchFamily="34" charset="0"/>
                <a:ea typeface="IBM Plex Mono" pitchFamily="34" charset="-122"/>
                <a:cs typeface="IBM Plex Mono" pitchFamily="34" charset="-120"/>
              </a:rPr>
              <a:t>retrieve_knowledge_base</a:t>
            </a:r>
            <a:endParaRPr lang="en-US" sz="1177" dirty="0"/>
          </a:p>
        </p:txBody>
      </p:sp>
      <p:sp>
        <p:nvSpPr>
          <p:cNvPr id="25" name="Shape 20"/>
          <p:cNvSpPr/>
          <p:nvPr/>
        </p:nvSpPr>
        <p:spPr>
          <a:xfrm>
            <a:off x="9353550" y="1783755"/>
            <a:ext cx="2019300" cy="1066800"/>
          </a:xfrm>
          <a:prstGeom prst="roundRect">
            <a:avLst>
              <a:gd name="adj" fmla="val 8929"/>
            </a:avLst>
          </a:prstGeom>
          <a:solidFill>
            <a:srgbClr val="FFFFFF"/>
          </a:solidFill>
          <a:ln w="12700">
            <a:solidFill>
              <a:srgbClr val="1E293B"/>
            </a:solidFill>
            <a:prstDash val="solid"/>
          </a:ln>
        </p:spPr>
      </p:sp>
      <p:pic>
        <p:nvPicPr>
          <p:cNvPr id="26" name="Image 3" descr="preencoded.png">    </p:cNvPr>
          <p:cNvPicPr>
            <a:picLocks noChangeAspect="1"/>
          </p:cNvPicPr>
          <p:nvPr/>
        </p:nvPicPr>
        <p:blipFill>
          <a:blip r:embed="rId4"/>
          <a:srcRect l="0" r="0" t="0" b="0"/>
          <a:stretch/>
        </p:blipFill>
        <p:spPr>
          <a:xfrm>
            <a:off x="10223500" y="1923852"/>
            <a:ext cx="279400" cy="279400"/>
          </a:xfrm>
          <a:prstGeom prst="rect">
            <a:avLst/>
          </a:prstGeom>
        </p:spPr>
      </p:pic>
      <p:sp>
        <p:nvSpPr>
          <p:cNvPr id="27" name="Text 21"/>
          <p:cNvSpPr/>
          <p:nvPr/>
        </p:nvSpPr>
        <p:spPr>
          <a:xfrm>
            <a:off x="9671447" y="2254052"/>
            <a:ext cx="138340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Corpus del track</a:t>
            </a:r>
            <a:endParaRPr lang="en-US" sz="1400" dirty="0"/>
          </a:p>
        </p:txBody>
      </p:sp>
      <p:sp>
        <p:nvSpPr>
          <p:cNvPr id="28" name="Text 22"/>
          <p:cNvSpPr/>
          <p:nvPr/>
        </p:nvSpPr>
        <p:spPr>
          <a:xfrm>
            <a:off x="10142637" y="2519958"/>
            <a:ext cx="4411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 .md</a:t>
            </a:r>
            <a:endParaRPr lang="en-US" sz="1200" dirty="0"/>
          </a:p>
        </p:txBody>
      </p:sp>
      <p:sp>
        <p:nvSpPr>
          <p:cNvPr id="29" name="Shape 23"/>
          <p:cNvSpPr/>
          <p:nvPr/>
        </p:nvSpPr>
        <p:spPr>
          <a:xfrm>
            <a:off x="9353550" y="4095155"/>
            <a:ext cx="2019300" cy="977900"/>
          </a:xfrm>
          <a:prstGeom prst="roundRect">
            <a:avLst>
              <a:gd name="adj" fmla="val 9740"/>
            </a:avLst>
          </a:prstGeom>
          <a:solidFill>
            <a:srgbClr val="FFFFFF"/>
          </a:solidFill>
          <a:ln w="12700">
            <a:solidFill>
              <a:srgbClr val="1E293B"/>
            </a:solidFill>
            <a:prstDash val="solid"/>
          </a:ln>
        </p:spPr>
      </p:sp>
      <p:pic>
        <p:nvPicPr>
          <p:cNvPr id="30" name="Image 4" descr="preencoded.png">    </p:cNvPr>
          <p:cNvPicPr>
            <a:picLocks noChangeAspect="1"/>
          </p:cNvPicPr>
          <p:nvPr/>
        </p:nvPicPr>
        <p:blipFill>
          <a:blip r:embed="rId5"/>
          <a:srcRect l="-1860" r="-1860" t="0" b="0"/>
          <a:stretch/>
        </p:blipFill>
        <p:spPr>
          <a:xfrm>
            <a:off x="10223500" y="4203105"/>
            <a:ext cx="279400" cy="269379"/>
          </a:xfrm>
          <a:prstGeom prst="rect">
            <a:avLst/>
          </a:prstGeom>
        </p:spPr>
      </p:pic>
      <p:sp>
        <p:nvSpPr>
          <p:cNvPr id="31" name="Text 24"/>
          <p:cNvSpPr/>
          <p:nvPr/>
        </p:nvSpPr>
        <p:spPr>
          <a:xfrm>
            <a:off x="9805690" y="4523284"/>
            <a:ext cx="1115020" cy="232767"/>
          </a:xfrm>
          <a:prstGeom prst="rect">
            <a:avLst/>
          </a:prstGeom>
          <a:noFill/>
          <a:ln/>
        </p:spPr>
        <p:txBody>
          <a:bodyPr wrap="square" lIns="0" tIns="0" rIns="0" bIns="0" rtlCol="0" anchor="t">
            <a:normAutofit/>
          </a:bodyPr>
          <a:lstStyle/>
          <a:p>
            <a:pPr algn="ctr" indent="0" marL="0">
              <a:lnSpc>
                <a:spcPts val="1673"/>
              </a:lnSpc>
              <a:buNone/>
            </a:pPr>
            <a:r>
              <a:rPr lang="en-US" sz="1383" dirty="0">
                <a:solidFill>
                  <a:srgbClr val="1E293B"/>
                </a:solidFill>
                <a:latin typeface="IBM Plex Sans" pitchFamily="34" charset="0"/>
                <a:ea typeface="IBM Plex Sans" pitchFamily="34" charset="-122"/>
                <a:cs typeface="IBM Plex Sans" pitchFamily="34" charset="-120"/>
              </a:rPr>
              <a:t>Qdrant Cloud</a:t>
            </a:r>
            <a:endParaRPr lang="en-US" sz="1383" dirty="0"/>
          </a:p>
        </p:txBody>
      </p:sp>
      <p:sp>
        <p:nvSpPr>
          <p:cNvPr id="32" name="Text 25"/>
          <p:cNvSpPr/>
          <p:nvPr/>
        </p:nvSpPr>
        <p:spPr>
          <a:xfrm>
            <a:off x="9964341" y="4781451"/>
            <a:ext cx="797620" cy="209054"/>
          </a:xfrm>
          <a:prstGeom prst="rect">
            <a:avLst/>
          </a:prstGeom>
          <a:noFill/>
          <a:ln/>
        </p:spPr>
        <p:txBody>
          <a:bodyPr wrap="square" lIns="0" tIns="0" rIns="0" bIns="0" rtlCol="0" anchor="t">
            <a:normAutofit/>
          </a:bodyPr>
          <a:lstStyle/>
          <a:p>
            <a:pPr algn="ctr" indent="0" marL="0">
              <a:lnSpc>
                <a:spcPts val="1472"/>
              </a:lnSpc>
              <a:buNone/>
            </a:pPr>
            <a:r>
              <a:rPr lang="en-US" sz="1177" dirty="0">
                <a:solidFill>
                  <a:srgbClr val="526277"/>
                </a:solidFill>
                <a:latin typeface="IBM Plex Sans" pitchFamily="34" charset="0"/>
                <a:ea typeface="IBM Plex Sans" pitchFamily="34" charset="-122"/>
                <a:cs typeface="IBM Plex Sans" pitchFamily="34" charset="-120"/>
              </a:rPr>
              <a:t>kb-&lt;track&gt;</a:t>
            </a:r>
            <a:endParaRPr lang="en-US" sz="1177" dirty="0"/>
          </a:p>
        </p:txBody>
      </p:sp>
      <p:pic>
        <p:nvPicPr>
          <p:cNvPr id="33" name="Image 5" descr="connector">    </p:cNvPr>
          <p:cNvPicPr>
            <a:picLocks noChangeAspect="1"/>
          </p:cNvPicPr>
          <p:nvPr/>
        </p:nvPicPr>
        <p:blipFill>
          <a:blip r:embed="rId6"/>
          <a:srcRect l="0" r="0" t="0" b="0"/>
          <a:stretch/>
        </p:blipFill>
        <p:spPr>
          <a:xfrm>
            <a:off x="1968500" y="2933105"/>
            <a:ext cx="101600" cy="736600"/>
          </a:xfrm>
          <a:prstGeom prst="rect">
            <a:avLst/>
          </a:prstGeom>
        </p:spPr>
      </p:pic>
      <p:pic>
        <p:nvPicPr>
          <p:cNvPr id="34" name="Image 6" descr="connector">    </p:cNvPr>
          <p:cNvPicPr>
            <a:picLocks noChangeAspect="1"/>
          </p:cNvPicPr>
          <p:nvPr/>
        </p:nvPicPr>
        <p:blipFill>
          <a:blip r:embed="rId7"/>
          <a:srcRect l="0" r="0" t="0" b="0"/>
          <a:stretch/>
        </p:blipFill>
        <p:spPr>
          <a:xfrm>
            <a:off x="2921000" y="2393355"/>
            <a:ext cx="1752600" cy="101600"/>
          </a:xfrm>
          <a:prstGeom prst="rect">
            <a:avLst/>
          </a:prstGeom>
        </p:spPr>
      </p:pic>
      <p:pic>
        <p:nvPicPr>
          <p:cNvPr id="35" name="Image 7" descr="connector">    </p:cNvPr>
          <p:cNvPicPr>
            <a:picLocks noChangeAspect="1"/>
          </p:cNvPicPr>
          <p:nvPr/>
        </p:nvPicPr>
        <p:blipFill>
          <a:blip r:embed="rId8"/>
          <a:srcRect l="0" r="0" t="0" b="0"/>
          <a:stretch/>
        </p:blipFill>
        <p:spPr>
          <a:xfrm>
            <a:off x="2921000" y="4107855"/>
            <a:ext cx="1562100" cy="101600"/>
          </a:xfrm>
          <a:prstGeom prst="rect">
            <a:avLst/>
          </a:prstGeom>
        </p:spPr>
      </p:pic>
      <p:pic>
        <p:nvPicPr>
          <p:cNvPr id="36" name="Image 8" descr="connector">    </p:cNvPr>
          <p:cNvPicPr>
            <a:picLocks noChangeAspect="1"/>
          </p:cNvPicPr>
          <p:nvPr/>
        </p:nvPicPr>
        <p:blipFill>
          <a:blip r:embed="rId9"/>
          <a:srcRect l="0" r="0" t="0" b="0"/>
          <a:stretch/>
        </p:blipFill>
        <p:spPr>
          <a:xfrm>
            <a:off x="7239000" y="4539655"/>
            <a:ext cx="2159000" cy="101600"/>
          </a:xfrm>
          <a:prstGeom prst="rect">
            <a:avLst/>
          </a:prstGeom>
        </p:spPr>
      </p:pic>
      <p:pic>
        <p:nvPicPr>
          <p:cNvPr id="37" name="Image 9" descr="connector">    </p:cNvPr>
          <p:cNvPicPr>
            <a:picLocks noChangeAspect="1"/>
          </p:cNvPicPr>
          <p:nvPr/>
        </p:nvPicPr>
        <p:blipFill>
          <a:blip r:embed="rId10"/>
          <a:srcRect l="0" r="0" t="0" b="0"/>
          <a:stretch/>
        </p:blipFill>
        <p:spPr>
          <a:xfrm>
            <a:off x="10312400" y="2806105"/>
            <a:ext cx="101600" cy="1333500"/>
          </a:xfrm>
          <a:prstGeom prst="rect">
            <a:avLst/>
          </a:prstGeom>
        </p:spPr>
      </p:pic>
      <p:sp>
        <p:nvSpPr>
          <p:cNvPr id="38" name="Text 26"/>
          <p:cNvSpPr/>
          <p:nvPr/>
        </p:nvSpPr>
        <p:spPr>
          <a:xfrm>
            <a:off x="2095500" y="31934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 calls</a:t>
            </a:r>
            <a:endParaRPr lang="en-US" sz="1400" dirty="0"/>
          </a:p>
        </p:txBody>
      </p:sp>
      <p:sp>
        <p:nvSpPr>
          <p:cNvPr id="39" name="Text 27"/>
          <p:cNvSpPr/>
          <p:nvPr/>
        </p:nvSpPr>
        <p:spPr>
          <a:xfrm>
            <a:off x="3225800" y="21774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historial</a:t>
            </a:r>
            <a:endParaRPr lang="en-US" sz="1400" dirty="0"/>
          </a:p>
        </p:txBody>
      </p:sp>
      <p:sp>
        <p:nvSpPr>
          <p:cNvPr id="40" name="Text 28"/>
          <p:cNvSpPr/>
          <p:nvPr/>
        </p:nvSpPr>
        <p:spPr>
          <a:xfrm>
            <a:off x="3225800" y="3891955"/>
            <a:ext cx="1003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41" name="Text 29"/>
          <p:cNvSpPr/>
          <p:nvPr/>
        </p:nvSpPr>
        <p:spPr>
          <a:xfrm>
            <a:off x="7861300" y="4323755"/>
            <a:ext cx="749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busca</a:t>
            </a:r>
            <a:endParaRPr lang="en-US" sz="1400" dirty="0"/>
          </a:p>
        </p:txBody>
      </p:sp>
      <p:sp>
        <p:nvSpPr>
          <p:cNvPr id="42" name="Text 30"/>
          <p:cNvSpPr/>
          <p:nvPr/>
        </p:nvSpPr>
        <p:spPr>
          <a:xfrm>
            <a:off x="9245600" y="3371255"/>
            <a:ext cx="1041400"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1E293B"/>
                </a:solidFill>
                <a:latin typeface="IBM Plex Mono" pitchFamily="34" charset="0"/>
                <a:ea typeface="IBM Plex Mono" pitchFamily="34" charset="-122"/>
                <a:cs typeface="IBM Plex Mono" pitchFamily="34" charset="-120"/>
              </a:rPr>
              <a:t>ingest.py</a:t>
            </a:r>
            <a:endParaRPr lang="en-US" sz="1400" dirty="0"/>
          </a:p>
        </p:txBody>
      </p:sp>
      <p:sp>
        <p:nvSpPr>
          <p:cNvPr id="43" name="Text 31"/>
          <p:cNvSpPr/>
          <p:nvPr/>
        </p:nvSpPr>
        <p:spPr>
          <a:xfrm>
            <a:off x="812800" y="528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memory.py: get_history(), append_message() y reset(). Mismo thread_id durante toda la conversación.</a:t>
            </a:r>
            <a:endParaRPr lang="en-US" sz="1600" dirty="0"/>
          </a:p>
        </p:txBody>
      </p:sp>
      <p:sp>
        <p:nvSpPr>
          <p:cNvPr id="44" name="Text 32"/>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24</a:t>
            </a:r>
            <a:endParaRPr lang="en-US" sz="1200" dirty="0"/>
          </a:p>
        </p:txBody>
      </p:sp>
      <p:pic>
        <p:nvPicPr>
          <p:cNvPr id="45" name="Image 10" descr="Logo de AriwaLabs">    </p:cNvPr>
          <p:cNvPicPr>
            <a:picLocks noChangeAspect="1"/>
          </p:cNvPicPr>
          <p:nvPr/>
        </p:nvPicPr>
        <p:blipFill>
          <a:blip r:embed="rId11"/>
          <a:srcRect l="-9345" r="-9345" t="0" b="0"/>
          <a:stretch/>
        </p:blipFill>
        <p:spPr>
          <a:xfrm>
            <a:off x="10680700" y="6197600"/>
            <a:ext cx="698500" cy="25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110"/>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L5 Parte 4 · Ensamblar agent.py v3</a:t>
            </a:r>
            <a:endParaRPr lang="en-US" sz="3600" dirty="0"/>
          </a:p>
        </p:txBody>
      </p:sp>
      <p:sp>
        <p:nvSpPr>
          <p:cNvPr id="3" name="Shape 1"/>
          <p:cNvSpPr/>
          <p:nvPr/>
        </p:nvSpPr>
        <p:spPr>
          <a:xfrm>
            <a:off x="819150" y="1529060"/>
            <a:ext cx="6972300" cy="3543300"/>
          </a:xfrm>
          <a:prstGeom prst="roundRect">
            <a:avLst>
              <a:gd name="adj" fmla="val 4122"/>
            </a:avLst>
          </a:prstGeom>
          <a:solidFill>
            <a:srgbClr val="E9F0F7"/>
          </a:solidFill>
          <a:ln w="12700">
            <a:solidFill>
              <a:srgbClr val="526277"/>
            </a:solidFill>
            <a:prstDash val="solid"/>
          </a:ln>
        </p:spPr>
      </p:sp>
      <p:sp>
        <p:nvSpPr>
          <p:cNvPr id="4" name="Text 2"/>
          <p:cNvSpPr/>
          <p:nvPr/>
        </p:nvSpPr>
        <p:spPr>
          <a:xfrm>
            <a:off x="965200" y="1624310"/>
            <a:ext cx="2616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agent.py v3</a:t>
            </a:r>
            <a:endParaRPr lang="en-US" sz="1400" dirty="0"/>
          </a:p>
        </p:txBody>
      </p:sp>
      <p:sp>
        <p:nvSpPr>
          <p:cNvPr id="5" name="Shape 3"/>
          <p:cNvSpPr/>
          <p:nvPr/>
        </p:nvSpPr>
        <p:spPr>
          <a:xfrm>
            <a:off x="1073150" y="1910060"/>
            <a:ext cx="1892300" cy="1066800"/>
          </a:xfrm>
          <a:prstGeom prst="roundRect">
            <a:avLst>
              <a:gd name="adj" fmla="val 8929"/>
            </a:avLst>
          </a:prstGeom>
          <a:solidFill>
            <a:srgbClr val="FFFFFF"/>
          </a:solidFill>
          <a:ln w="12700">
            <a:solidFill>
              <a:srgbClr val="1E293B"/>
            </a:solidFill>
            <a:prstDash val="solid"/>
          </a:ln>
        </p:spPr>
      </p:sp>
      <p:pic>
        <p:nvPicPr>
          <p:cNvPr id="6" name="Image 0" descr="preencoded.png">    </p:cNvPr>
          <p:cNvPicPr>
            <a:picLocks noChangeAspect="1"/>
          </p:cNvPicPr>
          <p:nvPr/>
        </p:nvPicPr>
        <p:blipFill>
          <a:blip r:embed="rId1"/>
          <a:srcRect l="0" r="0" t="0" b="0"/>
          <a:stretch/>
        </p:blipFill>
        <p:spPr>
          <a:xfrm>
            <a:off x="1879600" y="2050157"/>
            <a:ext cx="279400" cy="279400"/>
          </a:xfrm>
          <a:prstGeom prst="rect">
            <a:avLst/>
          </a:prstGeom>
        </p:spPr>
      </p:pic>
      <p:sp>
        <p:nvSpPr>
          <p:cNvPr id="7" name="Text 4"/>
          <p:cNvSpPr/>
          <p:nvPr/>
        </p:nvSpPr>
        <p:spPr>
          <a:xfrm>
            <a:off x="1830189" y="2380357"/>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1707455" y="2646263"/>
            <a:ext cx="62368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Shape 6"/>
          <p:cNvSpPr/>
          <p:nvPr/>
        </p:nvSpPr>
        <p:spPr>
          <a:xfrm>
            <a:off x="1079500" y="3630910"/>
            <a:ext cx="1879600" cy="1054100"/>
          </a:xfrm>
          <a:prstGeom prst="roundRect">
            <a:avLst>
              <a:gd name="adj" fmla="val 8434"/>
            </a:avLst>
          </a:prstGeom>
          <a:solidFill>
            <a:srgbClr val="FFF0EB"/>
          </a:solidFill>
          <a:ln w="25400">
            <a:solidFill>
              <a:srgbClr val="FF5733"/>
            </a:solidFill>
            <a:prstDash val="solid"/>
          </a:ln>
        </p:spPr>
      </p:sp>
      <p:pic>
        <p:nvPicPr>
          <p:cNvPr id="10" name="Image 1" descr="Settings">    </p:cNvPr>
          <p:cNvPicPr>
            <a:picLocks noChangeAspect="1"/>
          </p:cNvPicPr>
          <p:nvPr/>
        </p:nvPicPr>
        <p:blipFill>
          <a:blip r:embed="rId2"/>
          <a:srcRect l="0" r="0" t="0" b="0"/>
          <a:stretch/>
        </p:blipFill>
        <p:spPr>
          <a:xfrm>
            <a:off x="1879600" y="3764657"/>
            <a:ext cx="279400" cy="279400"/>
          </a:xfrm>
          <a:prstGeom prst="rect">
            <a:avLst/>
          </a:prstGeom>
        </p:spPr>
      </p:pic>
      <p:sp>
        <p:nvSpPr>
          <p:cNvPr id="11" name="Text 7"/>
          <p:cNvSpPr/>
          <p:nvPr/>
        </p:nvSpPr>
        <p:spPr>
          <a:xfrm>
            <a:off x="1648718" y="4094857"/>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2" name="Text 8"/>
          <p:cNvSpPr/>
          <p:nvPr/>
        </p:nvSpPr>
        <p:spPr>
          <a:xfrm>
            <a:off x="1490960" y="4360763"/>
            <a:ext cx="105668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responder()</a:t>
            </a:r>
            <a:endParaRPr lang="en-US" sz="1200" dirty="0"/>
          </a:p>
        </p:txBody>
      </p:sp>
      <p:sp>
        <p:nvSpPr>
          <p:cNvPr id="13" name="Shape 9"/>
          <p:cNvSpPr/>
          <p:nvPr/>
        </p:nvSpPr>
        <p:spPr>
          <a:xfrm>
            <a:off x="4629150" y="1910060"/>
            <a:ext cx="2654300" cy="1066800"/>
          </a:xfrm>
          <a:prstGeom prst="roundRect">
            <a:avLst>
              <a:gd name="adj" fmla="val 8929"/>
            </a:avLst>
          </a:prstGeom>
          <a:solidFill>
            <a:srgbClr val="FFFFFF"/>
          </a:solidFill>
          <a:ln w="12700">
            <a:solidFill>
              <a:srgbClr val="1E293B"/>
            </a:solidFill>
            <a:prstDash val="solid"/>
          </a:ln>
        </p:spPr>
      </p:sp>
      <p:pic>
        <p:nvPicPr>
          <p:cNvPr id="14" name="Image 2" descr="preencoded.png">    </p:cNvPr>
          <p:cNvPicPr>
            <a:picLocks noChangeAspect="1"/>
          </p:cNvPicPr>
          <p:nvPr/>
        </p:nvPicPr>
        <p:blipFill>
          <a:blip r:embed="rId3"/>
          <a:srcRect l="0" r="0" t="0" b="0"/>
          <a:stretch/>
        </p:blipFill>
        <p:spPr>
          <a:xfrm>
            <a:off x="5816600" y="2050157"/>
            <a:ext cx="279400" cy="279400"/>
          </a:xfrm>
          <a:prstGeom prst="rect">
            <a:avLst/>
          </a:prstGeom>
        </p:spPr>
      </p:pic>
      <p:sp>
        <p:nvSpPr>
          <p:cNvPr id="15" name="Text 10"/>
          <p:cNvSpPr/>
          <p:nvPr/>
        </p:nvSpPr>
        <p:spPr>
          <a:xfrm>
            <a:off x="5574308" y="2380357"/>
            <a:ext cx="76398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Memoria</a:t>
            </a:r>
            <a:endParaRPr lang="en-US" sz="1400" dirty="0"/>
          </a:p>
        </p:txBody>
      </p:sp>
      <p:sp>
        <p:nvSpPr>
          <p:cNvPr id="16" name="Text 11"/>
          <p:cNvSpPr/>
          <p:nvPr/>
        </p:nvSpPr>
        <p:spPr>
          <a:xfrm>
            <a:off x="5156696" y="2646263"/>
            <a:ext cx="159910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memory.py · thread_id</a:t>
            </a:r>
            <a:endParaRPr lang="en-US" sz="1200" dirty="0"/>
          </a:p>
        </p:txBody>
      </p:sp>
      <p:sp>
        <p:nvSpPr>
          <p:cNvPr id="17" name="Shape 12"/>
          <p:cNvSpPr/>
          <p:nvPr/>
        </p:nvSpPr>
        <p:spPr>
          <a:xfrm>
            <a:off x="4438650" y="3053060"/>
            <a:ext cx="3035300" cy="1993900"/>
          </a:xfrm>
          <a:prstGeom prst="roundRect">
            <a:avLst>
              <a:gd name="adj" fmla="val 4777"/>
            </a:avLst>
          </a:prstGeom>
          <a:solidFill>
            <a:srgbClr val="FFFFFF"/>
          </a:solidFill>
          <a:ln w="12700">
            <a:solidFill>
              <a:srgbClr val="526277"/>
            </a:solidFill>
            <a:prstDash val="dash"/>
          </a:ln>
        </p:spPr>
      </p:sp>
      <p:sp>
        <p:nvSpPr>
          <p:cNvPr id="18" name="Text 13"/>
          <p:cNvSpPr/>
          <p:nvPr/>
        </p:nvSpPr>
        <p:spPr>
          <a:xfrm>
            <a:off x="4584700" y="3084810"/>
            <a:ext cx="2616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Mono" pitchFamily="34" charset="0"/>
                <a:ea typeface="IBM Plex Mono" pitchFamily="34" charset="-122"/>
                <a:cs typeface="IBM Plex Mono" pitchFamily="34" charset="-120"/>
              </a:rPr>
              <a:t>ALL_TOOLS</a:t>
            </a:r>
            <a:endParaRPr lang="en-US" sz="1400" dirty="0"/>
          </a:p>
        </p:txBody>
      </p:sp>
      <p:sp>
        <p:nvSpPr>
          <p:cNvPr id="19" name="Shape 14"/>
          <p:cNvSpPr/>
          <p:nvPr/>
        </p:nvSpPr>
        <p:spPr>
          <a:xfrm>
            <a:off x="4629150" y="3370560"/>
            <a:ext cx="2654300" cy="660400"/>
          </a:xfrm>
          <a:prstGeom prst="roundRect">
            <a:avLst>
              <a:gd name="adj" fmla="val 14423"/>
            </a:avLst>
          </a:prstGeom>
          <a:solidFill>
            <a:srgbClr val="FFFFFF"/>
          </a:solidFill>
          <a:ln w="12700">
            <a:solidFill>
              <a:srgbClr val="1E293B"/>
            </a:solidFill>
            <a:prstDash val="solid"/>
          </a:ln>
        </p:spPr>
      </p:sp>
      <p:sp>
        <p:nvSpPr>
          <p:cNvPr id="20" name="Text 15"/>
          <p:cNvSpPr/>
          <p:nvPr/>
        </p:nvSpPr>
        <p:spPr>
          <a:xfrm>
            <a:off x="5453955" y="3478510"/>
            <a:ext cx="1004590" cy="234156"/>
          </a:xfrm>
          <a:prstGeom prst="rect">
            <a:avLst/>
          </a:prstGeom>
          <a:noFill/>
          <a:ln/>
        </p:spPr>
        <p:txBody>
          <a:bodyPr wrap="square" lIns="0" tIns="0" rIns="0" bIns="0" rtlCol="0" anchor="t">
            <a:normAutofit/>
          </a:bodyPr>
          <a:lstStyle/>
          <a:p>
            <a:pPr algn="ctr" indent="0" marL="0">
              <a:lnSpc>
                <a:spcPts val="1673"/>
              </a:lnSpc>
              <a:buNone/>
            </a:pPr>
            <a:r>
              <a:rPr lang="en-US" sz="1383" dirty="0">
                <a:solidFill>
                  <a:srgbClr val="1E293B"/>
                </a:solidFill>
                <a:latin typeface="IBM Plex Sans" pitchFamily="34" charset="0"/>
                <a:ea typeface="IBM Plex Sans" pitchFamily="34" charset="-122"/>
                <a:cs typeface="IBM Plex Sans" pitchFamily="34" charset="-120"/>
              </a:rPr>
              <a:t>Tools del L4</a:t>
            </a:r>
            <a:endParaRPr lang="en-US" sz="1383" dirty="0"/>
          </a:p>
        </p:txBody>
      </p:sp>
      <p:sp>
        <p:nvSpPr>
          <p:cNvPr id="21" name="Text 16"/>
          <p:cNvSpPr/>
          <p:nvPr/>
        </p:nvSpPr>
        <p:spPr>
          <a:xfrm>
            <a:off x="5379541" y="3738066"/>
            <a:ext cx="1153418" cy="210344"/>
          </a:xfrm>
          <a:prstGeom prst="rect">
            <a:avLst/>
          </a:prstGeom>
          <a:noFill/>
          <a:ln/>
        </p:spPr>
        <p:txBody>
          <a:bodyPr wrap="square" lIns="0" tIns="0" rIns="0" bIns="0" rtlCol="0" anchor="t">
            <a:normAutofit/>
          </a:bodyPr>
          <a:lstStyle/>
          <a:p>
            <a:pPr algn="ctr" indent="0" marL="0">
              <a:lnSpc>
                <a:spcPts val="1472"/>
              </a:lnSpc>
              <a:buNone/>
            </a:pPr>
            <a:r>
              <a:rPr lang="en-US" sz="1177" dirty="0">
                <a:solidFill>
                  <a:srgbClr val="526277"/>
                </a:solidFill>
                <a:latin typeface="IBM Plex Sans" pitchFamily="34" charset="0"/>
                <a:ea typeface="IBM Plex Sans" pitchFamily="34" charset="-122"/>
                <a:cs typeface="IBM Plex Sans" pitchFamily="34" charset="-120"/>
              </a:rPr>
              <a:t>TOOLS_NUCLEO</a:t>
            </a:r>
            <a:endParaRPr lang="en-US" sz="1177" dirty="0"/>
          </a:p>
        </p:txBody>
      </p:sp>
      <p:sp>
        <p:nvSpPr>
          <p:cNvPr id="22" name="Shape 17"/>
          <p:cNvSpPr/>
          <p:nvPr/>
        </p:nvSpPr>
        <p:spPr>
          <a:xfrm>
            <a:off x="4629150" y="4259560"/>
            <a:ext cx="2654300" cy="660400"/>
          </a:xfrm>
          <a:prstGeom prst="roundRect">
            <a:avLst>
              <a:gd name="adj" fmla="val 14423"/>
            </a:avLst>
          </a:prstGeom>
          <a:solidFill>
            <a:srgbClr val="FFFFFF"/>
          </a:solidFill>
          <a:ln w="12700">
            <a:solidFill>
              <a:srgbClr val="1E293B"/>
            </a:solidFill>
            <a:prstDash val="solid"/>
          </a:ln>
        </p:spPr>
      </p:sp>
      <p:sp>
        <p:nvSpPr>
          <p:cNvPr id="23" name="Text 18"/>
          <p:cNvSpPr/>
          <p:nvPr/>
        </p:nvSpPr>
        <p:spPr>
          <a:xfrm>
            <a:off x="5327352" y="4367510"/>
            <a:ext cx="1257796" cy="234156"/>
          </a:xfrm>
          <a:prstGeom prst="rect">
            <a:avLst/>
          </a:prstGeom>
          <a:noFill/>
          <a:ln/>
        </p:spPr>
        <p:txBody>
          <a:bodyPr wrap="square" lIns="0" tIns="0" rIns="0" bIns="0" rtlCol="0" anchor="t">
            <a:normAutofit/>
          </a:bodyPr>
          <a:lstStyle/>
          <a:p>
            <a:pPr algn="ctr" indent="0" marL="0">
              <a:lnSpc>
                <a:spcPts val="1673"/>
              </a:lnSpc>
              <a:buNone/>
            </a:pPr>
            <a:r>
              <a:rPr lang="en-US" sz="1383" dirty="0">
                <a:solidFill>
                  <a:srgbClr val="1E293B"/>
                </a:solidFill>
                <a:latin typeface="IBM Plex Sans" pitchFamily="34" charset="0"/>
                <a:ea typeface="IBM Plex Sans" pitchFamily="34" charset="-122"/>
                <a:cs typeface="IBM Plex Sans" pitchFamily="34" charset="-120"/>
              </a:rPr>
              <a:t>Retriever (tool)</a:t>
            </a:r>
            <a:endParaRPr lang="en-US" sz="1383" dirty="0"/>
          </a:p>
        </p:txBody>
      </p:sp>
      <p:sp>
        <p:nvSpPr>
          <p:cNvPr id="24" name="Text 19"/>
          <p:cNvSpPr/>
          <p:nvPr/>
        </p:nvSpPr>
        <p:spPr>
          <a:xfrm>
            <a:off x="4893469" y="4627066"/>
            <a:ext cx="2125663" cy="210344"/>
          </a:xfrm>
          <a:prstGeom prst="rect">
            <a:avLst/>
          </a:prstGeom>
          <a:noFill/>
          <a:ln/>
        </p:spPr>
        <p:txBody>
          <a:bodyPr wrap="square" lIns="0" tIns="0" rIns="0" bIns="0" rtlCol="0" anchor="t">
            <a:normAutofit/>
          </a:bodyPr>
          <a:lstStyle/>
          <a:p>
            <a:pPr algn="ctr" indent="0" marL="0">
              <a:lnSpc>
                <a:spcPts val="1472"/>
              </a:lnSpc>
              <a:buNone/>
            </a:pPr>
            <a:r>
              <a:rPr lang="en-US" sz="1177" dirty="0">
                <a:solidFill>
                  <a:srgbClr val="526277"/>
                </a:solidFill>
                <a:latin typeface="IBM Plex Mono" pitchFamily="34" charset="0"/>
                <a:ea typeface="IBM Plex Mono" pitchFamily="34" charset="-122"/>
                <a:cs typeface="IBM Plex Mono" pitchFamily="34" charset="-120"/>
              </a:rPr>
              <a:t>retrieve_knowledge_base</a:t>
            </a:r>
            <a:endParaRPr lang="en-US" sz="1177" dirty="0"/>
          </a:p>
        </p:txBody>
      </p:sp>
      <p:sp>
        <p:nvSpPr>
          <p:cNvPr id="25" name="Shape 20"/>
          <p:cNvSpPr/>
          <p:nvPr/>
        </p:nvSpPr>
        <p:spPr>
          <a:xfrm>
            <a:off x="9353550" y="1783060"/>
            <a:ext cx="2019300" cy="1066800"/>
          </a:xfrm>
          <a:prstGeom prst="roundRect">
            <a:avLst>
              <a:gd name="adj" fmla="val 8929"/>
            </a:avLst>
          </a:prstGeom>
          <a:solidFill>
            <a:srgbClr val="FFFFFF"/>
          </a:solidFill>
          <a:ln w="12700">
            <a:solidFill>
              <a:srgbClr val="1E293B"/>
            </a:solidFill>
            <a:prstDash val="solid"/>
          </a:ln>
        </p:spPr>
      </p:sp>
      <p:pic>
        <p:nvPicPr>
          <p:cNvPr id="26" name="Image 3" descr="preencoded.png">    </p:cNvPr>
          <p:cNvPicPr>
            <a:picLocks noChangeAspect="1"/>
          </p:cNvPicPr>
          <p:nvPr/>
        </p:nvPicPr>
        <p:blipFill>
          <a:blip r:embed="rId4"/>
          <a:srcRect l="0" r="0" t="0" b="0"/>
          <a:stretch/>
        </p:blipFill>
        <p:spPr>
          <a:xfrm>
            <a:off x="10223500" y="1923157"/>
            <a:ext cx="279400" cy="279400"/>
          </a:xfrm>
          <a:prstGeom prst="rect">
            <a:avLst/>
          </a:prstGeom>
        </p:spPr>
      </p:pic>
      <p:sp>
        <p:nvSpPr>
          <p:cNvPr id="27" name="Text 21"/>
          <p:cNvSpPr/>
          <p:nvPr/>
        </p:nvSpPr>
        <p:spPr>
          <a:xfrm>
            <a:off x="9671447" y="2253357"/>
            <a:ext cx="138340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Corpus del track</a:t>
            </a:r>
            <a:endParaRPr lang="en-US" sz="1400" dirty="0"/>
          </a:p>
        </p:txBody>
      </p:sp>
      <p:sp>
        <p:nvSpPr>
          <p:cNvPr id="28" name="Text 22"/>
          <p:cNvSpPr/>
          <p:nvPr/>
        </p:nvSpPr>
        <p:spPr>
          <a:xfrm>
            <a:off x="10142637" y="2519263"/>
            <a:ext cx="4411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 .md</a:t>
            </a:r>
            <a:endParaRPr lang="en-US" sz="1200" dirty="0"/>
          </a:p>
        </p:txBody>
      </p:sp>
      <p:sp>
        <p:nvSpPr>
          <p:cNvPr id="29" name="Shape 23"/>
          <p:cNvSpPr/>
          <p:nvPr/>
        </p:nvSpPr>
        <p:spPr>
          <a:xfrm>
            <a:off x="9353550" y="4094460"/>
            <a:ext cx="2019300" cy="977900"/>
          </a:xfrm>
          <a:prstGeom prst="roundRect">
            <a:avLst>
              <a:gd name="adj" fmla="val 9740"/>
            </a:avLst>
          </a:prstGeom>
          <a:solidFill>
            <a:srgbClr val="FFFFFF"/>
          </a:solidFill>
          <a:ln w="12700">
            <a:solidFill>
              <a:srgbClr val="1E293B"/>
            </a:solidFill>
            <a:prstDash val="solid"/>
          </a:ln>
        </p:spPr>
      </p:sp>
      <p:pic>
        <p:nvPicPr>
          <p:cNvPr id="30" name="Image 4" descr="preencoded.png">    </p:cNvPr>
          <p:cNvPicPr>
            <a:picLocks noChangeAspect="1"/>
          </p:cNvPicPr>
          <p:nvPr/>
        </p:nvPicPr>
        <p:blipFill>
          <a:blip r:embed="rId5"/>
          <a:srcRect l="-1860" r="-1860" t="0" b="0"/>
          <a:stretch/>
        </p:blipFill>
        <p:spPr>
          <a:xfrm>
            <a:off x="10223500" y="4202410"/>
            <a:ext cx="279400" cy="269379"/>
          </a:xfrm>
          <a:prstGeom prst="rect">
            <a:avLst/>
          </a:prstGeom>
        </p:spPr>
      </p:pic>
      <p:sp>
        <p:nvSpPr>
          <p:cNvPr id="31" name="Text 24"/>
          <p:cNvSpPr/>
          <p:nvPr/>
        </p:nvSpPr>
        <p:spPr>
          <a:xfrm>
            <a:off x="9805690" y="4522589"/>
            <a:ext cx="1115020" cy="232767"/>
          </a:xfrm>
          <a:prstGeom prst="rect">
            <a:avLst/>
          </a:prstGeom>
          <a:noFill/>
          <a:ln/>
        </p:spPr>
        <p:txBody>
          <a:bodyPr wrap="square" lIns="0" tIns="0" rIns="0" bIns="0" rtlCol="0" anchor="t">
            <a:normAutofit/>
          </a:bodyPr>
          <a:lstStyle/>
          <a:p>
            <a:pPr algn="ctr" indent="0" marL="0">
              <a:lnSpc>
                <a:spcPts val="1673"/>
              </a:lnSpc>
              <a:buNone/>
            </a:pPr>
            <a:r>
              <a:rPr lang="en-US" sz="1383" dirty="0">
                <a:solidFill>
                  <a:srgbClr val="1E293B"/>
                </a:solidFill>
                <a:latin typeface="IBM Plex Sans" pitchFamily="34" charset="0"/>
                <a:ea typeface="IBM Plex Sans" pitchFamily="34" charset="-122"/>
                <a:cs typeface="IBM Plex Sans" pitchFamily="34" charset="-120"/>
              </a:rPr>
              <a:t>Qdrant Cloud</a:t>
            </a:r>
            <a:endParaRPr lang="en-US" sz="1383" dirty="0"/>
          </a:p>
        </p:txBody>
      </p:sp>
      <p:sp>
        <p:nvSpPr>
          <p:cNvPr id="32" name="Text 25"/>
          <p:cNvSpPr/>
          <p:nvPr/>
        </p:nvSpPr>
        <p:spPr>
          <a:xfrm>
            <a:off x="9964341" y="4780756"/>
            <a:ext cx="797620" cy="209054"/>
          </a:xfrm>
          <a:prstGeom prst="rect">
            <a:avLst/>
          </a:prstGeom>
          <a:noFill/>
          <a:ln/>
        </p:spPr>
        <p:txBody>
          <a:bodyPr wrap="square" lIns="0" tIns="0" rIns="0" bIns="0" rtlCol="0" anchor="t">
            <a:normAutofit/>
          </a:bodyPr>
          <a:lstStyle/>
          <a:p>
            <a:pPr algn="ctr" indent="0" marL="0">
              <a:lnSpc>
                <a:spcPts val="1472"/>
              </a:lnSpc>
              <a:buNone/>
            </a:pPr>
            <a:r>
              <a:rPr lang="en-US" sz="1177" dirty="0">
                <a:solidFill>
                  <a:srgbClr val="526277"/>
                </a:solidFill>
                <a:latin typeface="IBM Plex Sans" pitchFamily="34" charset="0"/>
                <a:ea typeface="IBM Plex Sans" pitchFamily="34" charset="-122"/>
                <a:cs typeface="IBM Plex Sans" pitchFamily="34" charset="-120"/>
              </a:rPr>
              <a:t>kb-&lt;track&gt;</a:t>
            </a:r>
            <a:endParaRPr lang="en-US" sz="1177" dirty="0"/>
          </a:p>
        </p:txBody>
      </p:sp>
      <p:pic>
        <p:nvPicPr>
          <p:cNvPr id="33" name="Image 5" descr="connector">    </p:cNvPr>
          <p:cNvPicPr>
            <a:picLocks noChangeAspect="1"/>
          </p:cNvPicPr>
          <p:nvPr/>
        </p:nvPicPr>
        <p:blipFill>
          <a:blip r:embed="rId6"/>
          <a:srcRect l="0" r="0" t="0" b="0"/>
          <a:stretch/>
        </p:blipFill>
        <p:spPr>
          <a:xfrm>
            <a:off x="1943100" y="2907010"/>
            <a:ext cx="152400" cy="787400"/>
          </a:xfrm>
          <a:prstGeom prst="rect">
            <a:avLst/>
          </a:prstGeom>
        </p:spPr>
      </p:pic>
      <p:pic>
        <p:nvPicPr>
          <p:cNvPr id="34" name="Image 6" descr="connector">    </p:cNvPr>
          <p:cNvPicPr>
            <a:picLocks noChangeAspect="1"/>
          </p:cNvPicPr>
          <p:nvPr/>
        </p:nvPicPr>
        <p:blipFill>
          <a:blip r:embed="rId7"/>
          <a:srcRect l="0" r="0" t="0" b="0"/>
          <a:stretch/>
        </p:blipFill>
        <p:spPr>
          <a:xfrm>
            <a:off x="2921000" y="2392660"/>
            <a:ext cx="1752600" cy="101600"/>
          </a:xfrm>
          <a:prstGeom prst="rect">
            <a:avLst/>
          </a:prstGeom>
        </p:spPr>
      </p:pic>
      <p:pic>
        <p:nvPicPr>
          <p:cNvPr id="35" name="Image 7" descr="connector">    </p:cNvPr>
          <p:cNvPicPr>
            <a:picLocks noChangeAspect="1"/>
          </p:cNvPicPr>
          <p:nvPr/>
        </p:nvPicPr>
        <p:blipFill>
          <a:blip r:embed="rId8"/>
          <a:srcRect l="0" r="0" t="0" b="0"/>
          <a:stretch/>
        </p:blipFill>
        <p:spPr>
          <a:xfrm>
            <a:off x="2921000" y="4107160"/>
            <a:ext cx="1562100" cy="101600"/>
          </a:xfrm>
          <a:prstGeom prst="rect">
            <a:avLst/>
          </a:prstGeom>
        </p:spPr>
      </p:pic>
      <p:pic>
        <p:nvPicPr>
          <p:cNvPr id="36" name="Image 8" descr="connector">    </p:cNvPr>
          <p:cNvPicPr>
            <a:picLocks noChangeAspect="1"/>
          </p:cNvPicPr>
          <p:nvPr/>
        </p:nvPicPr>
        <p:blipFill>
          <a:blip r:embed="rId9"/>
          <a:srcRect l="0" r="0" t="0" b="0"/>
          <a:stretch/>
        </p:blipFill>
        <p:spPr>
          <a:xfrm>
            <a:off x="7239000" y="4538960"/>
            <a:ext cx="2159000" cy="101600"/>
          </a:xfrm>
          <a:prstGeom prst="rect">
            <a:avLst/>
          </a:prstGeom>
        </p:spPr>
      </p:pic>
      <p:pic>
        <p:nvPicPr>
          <p:cNvPr id="37" name="Image 9" descr="connector">    </p:cNvPr>
          <p:cNvPicPr>
            <a:picLocks noChangeAspect="1"/>
          </p:cNvPicPr>
          <p:nvPr/>
        </p:nvPicPr>
        <p:blipFill>
          <a:blip r:embed="rId10"/>
          <a:srcRect l="0" r="0" t="0" b="0"/>
          <a:stretch/>
        </p:blipFill>
        <p:spPr>
          <a:xfrm>
            <a:off x="10312400" y="2805410"/>
            <a:ext cx="101600" cy="1333500"/>
          </a:xfrm>
          <a:prstGeom prst="rect">
            <a:avLst/>
          </a:prstGeom>
        </p:spPr>
      </p:pic>
      <p:sp>
        <p:nvSpPr>
          <p:cNvPr id="38" name="Text 26"/>
          <p:cNvSpPr/>
          <p:nvPr/>
        </p:nvSpPr>
        <p:spPr>
          <a:xfrm>
            <a:off x="2095500" y="3192760"/>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 calls</a:t>
            </a:r>
            <a:endParaRPr lang="en-US" sz="1400" dirty="0"/>
          </a:p>
        </p:txBody>
      </p:sp>
      <p:sp>
        <p:nvSpPr>
          <p:cNvPr id="39" name="Text 27"/>
          <p:cNvSpPr/>
          <p:nvPr/>
        </p:nvSpPr>
        <p:spPr>
          <a:xfrm>
            <a:off x="3225800" y="2176760"/>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historial</a:t>
            </a:r>
            <a:endParaRPr lang="en-US" sz="1400" dirty="0"/>
          </a:p>
        </p:txBody>
      </p:sp>
      <p:sp>
        <p:nvSpPr>
          <p:cNvPr id="40" name="Text 28"/>
          <p:cNvSpPr/>
          <p:nvPr/>
        </p:nvSpPr>
        <p:spPr>
          <a:xfrm>
            <a:off x="3225800" y="3891260"/>
            <a:ext cx="1003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41" name="Text 29"/>
          <p:cNvSpPr/>
          <p:nvPr/>
        </p:nvSpPr>
        <p:spPr>
          <a:xfrm>
            <a:off x="7861300" y="4323060"/>
            <a:ext cx="749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busca</a:t>
            </a:r>
            <a:endParaRPr lang="en-US" sz="1400" dirty="0"/>
          </a:p>
        </p:txBody>
      </p:sp>
      <p:sp>
        <p:nvSpPr>
          <p:cNvPr id="42" name="Text 30"/>
          <p:cNvSpPr/>
          <p:nvPr/>
        </p:nvSpPr>
        <p:spPr>
          <a:xfrm>
            <a:off x="9245600" y="3370560"/>
            <a:ext cx="1041400"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1E293B"/>
                </a:solidFill>
                <a:latin typeface="IBM Plex Mono" pitchFamily="34" charset="0"/>
                <a:ea typeface="IBM Plex Mono" pitchFamily="34" charset="-122"/>
                <a:cs typeface="IBM Plex Mono" pitchFamily="34" charset="-120"/>
              </a:rPr>
              <a:t>ingest.py</a:t>
            </a:r>
            <a:endParaRPr lang="en-US" sz="1400" dirty="0"/>
          </a:p>
        </p:txBody>
      </p:sp>
      <p:sp>
        <p:nvSpPr>
          <p:cNvPr id="43" name="Text 31"/>
          <p:cNvSpPr/>
          <p:nvPr/>
        </p:nvSpPr>
        <p:spPr>
          <a:xfrm>
            <a:off x="812800" y="5281910"/>
            <a:ext cx="10883392" cy="585490"/>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ALL_TOOLS = TOOLS_NUCLEO + [retrieve_knowledge_base], el mismo tope de iteraciones y get_system_prompt(track).</a:t>
            </a:r>
            <a:endParaRPr lang="en-US" sz="1600" dirty="0"/>
          </a:p>
        </p:txBody>
      </p:sp>
      <p:sp>
        <p:nvSpPr>
          <p:cNvPr id="44" name="Text 32"/>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25</a:t>
            </a:r>
            <a:endParaRPr lang="en-US" sz="1200" dirty="0"/>
          </a:p>
        </p:txBody>
      </p:sp>
      <p:pic>
        <p:nvPicPr>
          <p:cNvPr id="45" name="Image 10" descr="Logo de AriwaLabs">    </p:cNvPr>
          <p:cNvPicPr>
            <a:picLocks noChangeAspect="1"/>
          </p:cNvPicPr>
          <p:nvPr/>
        </p:nvPicPr>
        <p:blipFill>
          <a:blip r:embed="rId11"/>
          <a:srcRect l="-9345" r="-9345" t="0" b="0"/>
          <a:stretch/>
        </p:blipFill>
        <p:spPr>
          <a:xfrm>
            <a:off x="10680700" y="6197600"/>
            <a:ext cx="698500" cy="254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Criterios de aceptación del L5</a:t>
            </a:r>
            <a:endParaRPr lang="en-US" sz="3600" dirty="0"/>
          </a:p>
        </p:txBody>
      </p:sp>
      <p:sp>
        <p:nvSpPr>
          <p:cNvPr id="3" name="Shape 1"/>
          <p:cNvSpPr/>
          <p:nvPr/>
        </p:nvSpPr>
        <p:spPr>
          <a:xfrm>
            <a:off x="819150" y="1910755"/>
            <a:ext cx="2273300" cy="2781300"/>
          </a:xfrm>
          <a:prstGeom prst="roundRect">
            <a:avLst>
              <a:gd name="adj" fmla="val 4190"/>
            </a:avLst>
          </a:prstGeom>
          <a:solidFill>
            <a:srgbClr val="FFFFFF"/>
          </a:solidFill>
          <a:ln w="12700">
            <a:solidFill>
              <a:srgbClr val="1E293B"/>
            </a:solidFill>
            <a:prstDash val="solid"/>
          </a:ln>
        </p:spPr>
      </p:sp>
      <p:pic>
        <p:nvPicPr>
          <p:cNvPr id="4" name="Image 0" descr="preencoded.png">    </p:cNvPr>
          <p:cNvPicPr>
            <a:picLocks noChangeAspect="1"/>
          </p:cNvPicPr>
          <p:nvPr/>
        </p:nvPicPr>
        <p:blipFill>
          <a:blip r:embed="rId1"/>
          <a:srcRect l="0" r="0" t="0" b="0"/>
          <a:stretch/>
        </p:blipFill>
        <p:spPr>
          <a:xfrm>
            <a:off x="1816100" y="2908102"/>
            <a:ext cx="279400" cy="279400"/>
          </a:xfrm>
          <a:prstGeom prst="rect">
            <a:avLst/>
          </a:prstGeom>
        </p:spPr>
      </p:pic>
      <p:sp>
        <p:nvSpPr>
          <p:cNvPr id="5" name="Text 2"/>
          <p:cNvSpPr/>
          <p:nvPr/>
        </p:nvSpPr>
        <p:spPr>
          <a:xfrm>
            <a:off x="1309688" y="3238302"/>
            <a:ext cx="129212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Golden dataset</a:t>
            </a:r>
            <a:endParaRPr lang="en-US" sz="1400" dirty="0"/>
          </a:p>
        </p:txBody>
      </p:sp>
      <p:sp>
        <p:nvSpPr>
          <p:cNvPr id="6" name="Text 3"/>
          <p:cNvSpPr/>
          <p:nvPr/>
        </p:nvSpPr>
        <p:spPr>
          <a:xfrm>
            <a:off x="919744" y="3504208"/>
            <a:ext cx="207211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consultas-&lt;track&gt;.json</a:t>
            </a:r>
            <a:endParaRPr lang="en-US" sz="1200" dirty="0"/>
          </a:p>
        </p:txBody>
      </p:sp>
      <p:sp>
        <p:nvSpPr>
          <p:cNvPr id="7" name="Shape 4"/>
          <p:cNvSpPr/>
          <p:nvPr/>
        </p:nvSpPr>
        <p:spPr>
          <a:xfrm>
            <a:off x="4121150" y="1910755"/>
            <a:ext cx="2146300" cy="1003300"/>
          </a:xfrm>
          <a:prstGeom prst="roundRect">
            <a:avLst>
              <a:gd name="adj" fmla="val 9494"/>
            </a:avLst>
          </a:prstGeom>
          <a:solidFill>
            <a:srgbClr val="FFFFFF"/>
          </a:solidFill>
          <a:ln w="12700">
            <a:solidFill>
              <a:srgbClr val="1E293B"/>
            </a:solidFill>
            <a:prstDash val="solid"/>
          </a:ln>
        </p:spPr>
      </p:sp>
      <p:sp>
        <p:nvSpPr>
          <p:cNvPr id="8" name="Text 5"/>
          <p:cNvSpPr/>
          <p:nvPr/>
        </p:nvSpPr>
        <p:spPr>
          <a:xfrm>
            <a:off x="4433590" y="2184202"/>
            <a:ext cx="1521321"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Categorías de tool</a:t>
            </a:r>
            <a:endParaRPr lang="en-US" sz="1400" dirty="0"/>
          </a:p>
        </p:txBody>
      </p:sp>
      <p:sp>
        <p:nvSpPr>
          <p:cNvPr id="9" name="Text 6"/>
          <p:cNvSpPr/>
          <p:nvPr/>
        </p:nvSpPr>
        <p:spPr>
          <a:xfrm>
            <a:off x="4260952" y="2450108"/>
            <a:ext cx="186659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L2 clasifica · L4 selecciona</a:t>
            </a:r>
            <a:endParaRPr lang="en-US" sz="1200" dirty="0"/>
          </a:p>
        </p:txBody>
      </p:sp>
      <p:sp>
        <p:nvSpPr>
          <p:cNvPr id="10" name="Shape 7"/>
          <p:cNvSpPr/>
          <p:nvPr/>
        </p:nvSpPr>
        <p:spPr>
          <a:xfrm>
            <a:off x="4127500" y="3695105"/>
            <a:ext cx="2133600" cy="990600"/>
          </a:xfrm>
          <a:prstGeom prst="roundRect">
            <a:avLst>
              <a:gd name="adj" fmla="val 8974"/>
            </a:avLst>
          </a:prstGeom>
          <a:solidFill>
            <a:srgbClr val="FFF0EB"/>
          </a:solidFill>
          <a:ln w="25400">
            <a:solidFill>
              <a:srgbClr val="FF5733"/>
            </a:solidFill>
            <a:prstDash val="solid"/>
          </a:ln>
        </p:spPr>
      </p:sp>
      <p:sp>
        <p:nvSpPr>
          <p:cNvPr id="11" name="Text 8"/>
          <p:cNvSpPr/>
          <p:nvPr/>
        </p:nvSpPr>
        <p:spPr>
          <a:xfrm>
            <a:off x="4592042" y="3962202"/>
            <a:ext cx="12044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Categoría otro</a:t>
            </a:r>
            <a:endParaRPr lang="en-US" sz="1400" dirty="0"/>
          </a:p>
        </p:txBody>
      </p:sp>
      <p:sp>
        <p:nvSpPr>
          <p:cNvPr id="12" name="Text 9"/>
          <p:cNvSpPr/>
          <p:nvPr/>
        </p:nvSpPr>
        <p:spPr>
          <a:xfrm>
            <a:off x="4562773" y="4228108"/>
            <a:ext cx="126305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L5 recupera y cita</a:t>
            </a:r>
            <a:endParaRPr lang="en-US" sz="1200" dirty="0"/>
          </a:p>
        </p:txBody>
      </p:sp>
      <p:pic>
        <p:nvPicPr>
          <p:cNvPr id="13" name="Image 1" descr="connector">    </p:cNvPr>
          <p:cNvPicPr>
            <a:picLocks noChangeAspect="1"/>
          </p:cNvPicPr>
          <p:nvPr/>
        </p:nvPicPr>
        <p:blipFill>
          <a:blip r:embed="rId2"/>
          <a:srcRect l="0" r="0" t="0" b="0"/>
          <a:stretch/>
        </p:blipFill>
        <p:spPr>
          <a:xfrm>
            <a:off x="3048000" y="2361605"/>
            <a:ext cx="1117600" cy="101600"/>
          </a:xfrm>
          <a:prstGeom prst="rect">
            <a:avLst/>
          </a:prstGeom>
        </p:spPr>
      </p:pic>
      <p:pic>
        <p:nvPicPr>
          <p:cNvPr id="14" name="Image 2" descr="connector">    </p:cNvPr>
          <p:cNvPicPr>
            <a:picLocks noChangeAspect="1"/>
          </p:cNvPicPr>
          <p:nvPr/>
        </p:nvPicPr>
        <p:blipFill>
          <a:blip r:embed="rId3"/>
          <a:srcRect l="0" r="0" t="0" b="0"/>
          <a:stretch/>
        </p:blipFill>
        <p:spPr>
          <a:xfrm>
            <a:off x="3022600" y="4114205"/>
            <a:ext cx="1168400" cy="152400"/>
          </a:xfrm>
          <a:prstGeom prst="rect">
            <a:avLst/>
          </a:prstGeom>
        </p:spPr>
      </p:pic>
      <p:sp>
        <p:nvSpPr>
          <p:cNvPr id="15" name="Text 10"/>
          <p:cNvSpPr/>
          <p:nvPr/>
        </p:nvSpPr>
        <p:spPr>
          <a:xfrm>
            <a:off x="3149600" y="2145705"/>
            <a:ext cx="965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20 casos</a:t>
            </a:r>
            <a:endParaRPr lang="en-US" sz="1400" dirty="0"/>
          </a:p>
        </p:txBody>
      </p:sp>
      <p:sp>
        <p:nvSpPr>
          <p:cNvPr id="16" name="Text 11"/>
          <p:cNvSpPr/>
          <p:nvPr/>
        </p:nvSpPr>
        <p:spPr>
          <a:xfrm>
            <a:off x="3149600" y="3923705"/>
            <a:ext cx="965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10 casos</a:t>
            </a:r>
            <a:endParaRPr lang="en-US" sz="1400" dirty="0"/>
          </a:p>
        </p:txBody>
      </p:sp>
      <p:sp>
        <p:nvSpPr>
          <p:cNvPr id="17" name="Shape 12"/>
          <p:cNvSpPr/>
          <p:nvPr/>
        </p:nvSpPr>
        <p:spPr>
          <a:xfrm>
            <a:off x="6686550" y="1529755"/>
            <a:ext cx="4686300" cy="1054497"/>
          </a:xfrm>
          <a:prstGeom prst="roundRect">
            <a:avLst>
              <a:gd name="adj" fmla="val 9033"/>
            </a:avLst>
          </a:prstGeom>
          <a:solidFill>
            <a:srgbClr val="FFFFFF"/>
          </a:solidFill>
          <a:ln w="12700">
            <a:solidFill>
              <a:srgbClr val="1E293B"/>
            </a:solidFill>
            <a:prstDash val="solid"/>
          </a:ln>
        </p:spPr>
      </p:sp>
      <p:sp>
        <p:nvSpPr>
          <p:cNvPr id="18" name="Text 13"/>
          <p:cNvSpPr/>
          <p:nvPr/>
        </p:nvSpPr>
        <p:spPr>
          <a:xfrm>
            <a:off x="6870700" y="1713905"/>
            <a:ext cx="4447540"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Decide cuándo buscar</a:t>
            </a:r>
            <a:endParaRPr lang="en-US" sz="2200" dirty="0"/>
          </a:p>
        </p:txBody>
      </p:sp>
      <p:sp>
        <p:nvSpPr>
          <p:cNvPr id="19" name="Text 14"/>
          <p:cNvSpPr/>
          <p:nvPr/>
        </p:nvSpPr>
        <p:spPr>
          <a:xfrm>
            <a:off x="6870700" y="2119709"/>
            <a:ext cx="4447540"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Una pregunta de saludo no dispara el retriever.</a:t>
            </a:r>
            <a:endParaRPr lang="en-US" sz="1600" dirty="0"/>
          </a:p>
        </p:txBody>
      </p:sp>
      <p:sp>
        <p:nvSpPr>
          <p:cNvPr id="20" name="Shape 15"/>
          <p:cNvSpPr/>
          <p:nvPr/>
        </p:nvSpPr>
        <p:spPr>
          <a:xfrm>
            <a:off x="6686550" y="2749352"/>
            <a:ext cx="4686300" cy="1054497"/>
          </a:xfrm>
          <a:prstGeom prst="roundRect">
            <a:avLst>
              <a:gd name="adj" fmla="val 9033"/>
            </a:avLst>
          </a:prstGeom>
          <a:solidFill>
            <a:srgbClr val="FFFFFF"/>
          </a:solidFill>
          <a:ln w="12700">
            <a:solidFill>
              <a:srgbClr val="1E293B"/>
            </a:solidFill>
            <a:prstDash val="solid"/>
          </a:ln>
        </p:spPr>
      </p:sp>
      <p:sp>
        <p:nvSpPr>
          <p:cNvPr id="21" name="Text 16"/>
          <p:cNvSpPr/>
          <p:nvPr/>
        </p:nvSpPr>
        <p:spPr>
          <a:xfrm>
            <a:off x="6870700" y="2933502"/>
            <a:ext cx="4447540"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10 respuestas con cita</a:t>
            </a:r>
            <a:endParaRPr lang="en-US" sz="2200" dirty="0"/>
          </a:p>
        </p:txBody>
      </p:sp>
      <p:sp>
        <p:nvSpPr>
          <p:cNvPr id="22" name="Text 17"/>
          <p:cNvSpPr/>
          <p:nvPr/>
        </p:nvSpPr>
        <p:spPr>
          <a:xfrm>
            <a:off x="6870700" y="3339306"/>
            <a:ext cx="4447540"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Cada una nombra el documento del que salió.</a:t>
            </a:r>
            <a:endParaRPr lang="en-US" sz="1600" dirty="0"/>
          </a:p>
        </p:txBody>
      </p:sp>
      <p:sp>
        <p:nvSpPr>
          <p:cNvPr id="23" name="Shape 18"/>
          <p:cNvSpPr/>
          <p:nvPr/>
        </p:nvSpPr>
        <p:spPr>
          <a:xfrm>
            <a:off x="6686550" y="3968948"/>
            <a:ext cx="4686300" cy="1334889"/>
          </a:xfrm>
          <a:prstGeom prst="roundRect">
            <a:avLst>
              <a:gd name="adj" fmla="val 7135"/>
            </a:avLst>
          </a:prstGeom>
          <a:solidFill>
            <a:srgbClr val="FFFFFF"/>
          </a:solidFill>
          <a:ln w="12700">
            <a:solidFill>
              <a:srgbClr val="1E293B"/>
            </a:solidFill>
            <a:prstDash val="solid"/>
          </a:ln>
        </p:spPr>
      </p:sp>
      <p:sp>
        <p:nvSpPr>
          <p:cNvPr id="24" name="Text 19"/>
          <p:cNvSpPr/>
          <p:nvPr/>
        </p:nvSpPr>
        <p:spPr>
          <a:xfrm>
            <a:off x="6870700" y="4153098"/>
            <a:ext cx="4447540"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La memoria funciona</a:t>
            </a:r>
            <a:endParaRPr lang="en-US" sz="2200" dirty="0"/>
          </a:p>
        </p:txBody>
      </p:sp>
      <p:sp>
        <p:nvSpPr>
          <p:cNvPr id="25" name="Text 20"/>
          <p:cNvSpPr/>
          <p:nvPr/>
        </p:nvSpPr>
        <p:spPr>
          <a:xfrm>
            <a:off x="6870700" y="4558903"/>
            <a:ext cx="4447540"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turno 3 entiende «¿y el mes pasado?» sin repetir el identificador.</a:t>
            </a:r>
            <a:endParaRPr lang="en-US" sz="1600" dirty="0"/>
          </a:p>
        </p:txBody>
      </p:sp>
      <p:sp>
        <p:nvSpPr>
          <p:cNvPr id="26" name="Text 21"/>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26</a:t>
            </a:r>
            <a:endParaRPr lang="en-US" sz="1200" dirty="0"/>
          </a:p>
        </p:txBody>
      </p:sp>
      <p:pic>
        <p:nvPicPr>
          <p:cNvPr id="27" name="Image 3" descr="Logo de AriwaLabs">    </p:cNvPr>
          <p:cNvPicPr>
            <a:picLocks noChangeAspect="1"/>
          </p:cNvPicPr>
          <p:nvPr/>
        </p:nvPicPr>
        <p:blipFill>
          <a:blip r:embed="rId4"/>
          <a:srcRect l="-9345" r="-9345" t="0" b="0"/>
          <a:stretch/>
        </p:blipFill>
        <p:spPr>
          <a:xfrm>
            <a:off x="10680700" y="6197600"/>
            <a:ext cx="698500" cy="254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110"/>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clave: paramétrico vs recuperable</a:t>
            </a:r>
            <a:endParaRPr lang="en-US" sz="3600" dirty="0"/>
          </a:p>
        </p:txBody>
      </p:sp>
      <p:sp>
        <p:nvSpPr>
          <p:cNvPr id="3" name="Shape 1"/>
          <p:cNvSpPr/>
          <p:nvPr/>
        </p:nvSpPr>
        <p:spPr>
          <a:xfrm>
            <a:off x="819150" y="1529060"/>
            <a:ext cx="3543300" cy="1257300"/>
          </a:xfrm>
          <a:prstGeom prst="roundRect">
            <a:avLst>
              <a:gd name="adj" fmla="val 7576"/>
            </a:avLst>
          </a:prstGeom>
          <a:solidFill>
            <a:srgbClr val="FFFFFF"/>
          </a:solidFill>
          <a:ln w="12700">
            <a:solidFill>
              <a:srgbClr val="1E293B"/>
            </a:solidFill>
            <a:prstDash val="solid"/>
          </a:ln>
        </p:spPr>
      </p:sp>
      <p:sp>
        <p:nvSpPr>
          <p:cNvPr id="4" name="Text 2"/>
          <p:cNvSpPr/>
          <p:nvPr/>
        </p:nvSpPr>
        <p:spPr>
          <a:xfrm>
            <a:off x="2070199" y="1808857"/>
            <a:ext cx="104120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 · Pregunta</a:t>
            </a:r>
            <a:endParaRPr lang="en-US" sz="1400" dirty="0"/>
          </a:p>
        </p:txBody>
      </p:sp>
      <p:sp>
        <p:nvSpPr>
          <p:cNvPr id="5" name="Text 3"/>
          <p:cNvSpPr/>
          <p:nvPr/>
        </p:nvSpPr>
        <p:spPr>
          <a:xfrm>
            <a:off x="1233546" y="2074763"/>
            <a:ext cx="271441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¿Cuánto cuesta el plan Max 89 al mes?</a:t>
            </a:r>
            <a:endParaRPr lang="en-US" sz="1200" dirty="0"/>
          </a:p>
        </p:txBody>
      </p:sp>
      <p:sp>
        <p:nvSpPr>
          <p:cNvPr id="6" name="Text 4"/>
          <p:cNvSpPr/>
          <p:nvPr/>
        </p:nvSpPr>
        <p:spPr>
          <a:xfrm>
            <a:off x="1383362" y="2316063"/>
            <a:ext cx="241487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contexto: S/ 89.00 · demo-en-vivo</a:t>
            </a:r>
            <a:endParaRPr lang="en-US" sz="1200" dirty="0"/>
          </a:p>
        </p:txBody>
      </p:sp>
      <p:sp>
        <p:nvSpPr>
          <p:cNvPr id="7" name="Shape 5"/>
          <p:cNvSpPr/>
          <p:nvPr/>
        </p:nvSpPr>
        <p:spPr>
          <a:xfrm>
            <a:off x="7835900" y="1535410"/>
            <a:ext cx="3530600" cy="1244600"/>
          </a:xfrm>
          <a:prstGeom prst="roundRect">
            <a:avLst>
              <a:gd name="adj" fmla="val 7143"/>
            </a:avLst>
          </a:prstGeom>
          <a:solidFill>
            <a:srgbClr val="FFF0EB"/>
          </a:solidFill>
          <a:ln w="25400">
            <a:solidFill>
              <a:srgbClr val="FF5733"/>
            </a:solidFill>
            <a:prstDash val="solid"/>
          </a:ln>
        </p:spPr>
      </p:sp>
      <p:sp>
        <p:nvSpPr>
          <p:cNvPr id="8" name="Text 6"/>
          <p:cNvSpPr/>
          <p:nvPr/>
        </p:nvSpPr>
        <p:spPr>
          <a:xfrm>
            <a:off x="8816082" y="1929507"/>
            <a:ext cx="157013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 · Edita en Qdrant</a:t>
            </a:r>
            <a:endParaRPr lang="en-US" sz="1400" dirty="0"/>
          </a:p>
        </p:txBody>
      </p:sp>
      <p:sp>
        <p:nvSpPr>
          <p:cNvPr id="9" name="Text 7"/>
          <p:cNvSpPr/>
          <p:nvPr/>
        </p:nvSpPr>
        <p:spPr>
          <a:xfrm>
            <a:off x="8494220" y="2195413"/>
            <a:ext cx="221395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mismo punto (upsert): S/ 99.00</a:t>
            </a:r>
            <a:endParaRPr lang="en-US" sz="1200" dirty="0"/>
          </a:p>
        </p:txBody>
      </p:sp>
      <p:sp>
        <p:nvSpPr>
          <p:cNvPr id="10" name="Shape 8"/>
          <p:cNvSpPr/>
          <p:nvPr/>
        </p:nvSpPr>
        <p:spPr>
          <a:xfrm>
            <a:off x="7835900" y="3694410"/>
            <a:ext cx="3530600" cy="1244600"/>
          </a:xfrm>
          <a:prstGeom prst="roundRect">
            <a:avLst>
              <a:gd name="adj" fmla="val 7143"/>
            </a:avLst>
          </a:prstGeom>
          <a:solidFill>
            <a:srgbClr val="FFF0EB"/>
          </a:solidFill>
          <a:ln w="25400">
            <a:solidFill>
              <a:srgbClr val="FF5733"/>
            </a:solidFill>
            <a:prstDash val="solid"/>
          </a:ln>
        </p:spPr>
      </p:sp>
      <p:sp>
        <p:nvSpPr>
          <p:cNvPr id="11" name="Text 9"/>
          <p:cNvSpPr/>
          <p:nvPr/>
        </p:nvSpPr>
        <p:spPr>
          <a:xfrm>
            <a:off x="8794651" y="4088507"/>
            <a:ext cx="161299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 · Misma pregunta</a:t>
            </a:r>
            <a:endParaRPr lang="en-US" sz="1400" dirty="0"/>
          </a:p>
        </p:txBody>
      </p:sp>
      <p:sp>
        <p:nvSpPr>
          <p:cNvPr id="12" name="Text 10"/>
          <p:cNvSpPr/>
          <p:nvPr/>
        </p:nvSpPr>
        <p:spPr>
          <a:xfrm>
            <a:off x="8393762" y="4354413"/>
            <a:ext cx="241487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contexto: S/ 99.00 · demo-en-vivo</a:t>
            </a:r>
            <a:endParaRPr lang="en-US" sz="1200" dirty="0"/>
          </a:p>
        </p:txBody>
      </p:sp>
      <p:sp>
        <p:nvSpPr>
          <p:cNvPr id="13" name="Shape 11"/>
          <p:cNvSpPr/>
          <p:nvPr/>
        </p:nvSpPr>
        <p:spPr>
          <a:xfrm>
            <a:off x="819150" y="3688060"/>
            <a:ext cx="3543300" cy="1257300"/>
          </a:xfrm>
          <a:prstGeom prst="roundRect">
            <a:avLst>
              <a:gd name="adj" fmla="val 7576"/>
            </a:avLst>
          </a:prstGeom>
          <a:solidFill>
            <a:srgbClr val="FFFFFF"/>
          </a:solidFill>
          <a:ln w="12700">
            <a:solidFill>
              <a:srgbClr val="1E293B"/>
            </a:solidFill>
            <a:prstDash val="solid"/>
          </a:ln>
        </p:spPr>
      </p:sp>
      <p:sp>
        <p:nvSpPr>
          <p:cNvPr id="14" name="Text 12"/>
          <p:cNvSpPr/>
          <p:nvPr/>
        </p:nvSpPr>
        <p:spPr>
          <a:xfrm>
            <a:off x="1779588" y="3993257"/>
            <a:ext cx="162242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 · Pregunta al aula</a:t>
            </a:r>
            <a:endParaRPr lang="en-US" sz="1400" dirty="0"/>
          </a:p>
        </p:txBody>
      </p:sp>
      <p:sp>
        <p:nvSpPr>
          <p:cNvPr id="15" name="Text 13"/>
          <p:cNvSpPr/>
          <p:nvPr/>
        </p:nvSpPr>
        <p:spPr>
          <a:xfrm>
            <a:off x="877189" y="4259163"/>
            <a:ext cx="3427222"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¿Qué haría falta si el precio estuviera en los pesos del modelo?</a:t>
            </a:r>
            <a:endParaRPr lang="en-US" sz="1200" dirty="0"/>
          </a:p>
        </p:txBody>
      </p:sp>
      <p:pic>
        <p:nvPicPr>
          <p:cNvPr id="16" name="Image 0" descr="connector">    </p:cNvPr>
          <p:cNvPicPr>
            <a:picLocks noChangeAspect="1"/>
          </p:cNvPicPr>
          <p:nvPr/>
        </p:nvPicPr>
        <p:blipFill>
          <a:blip r:embed="rId1"/>
          <a:srcRect l="0" r="0" t="0" b="0"/>
          <a:stretch/>
        </p:blipFill>
        <p:spPr>
          <a:xfrm>
            <a:off x="4318000" y="2106910"/>
            <a:ext cx="3556000" cy="101600"/>
          </a:xfrm>
          <a:prstGeom prst="rect">
            <a:avLst/>
          </a:prstGeom>
        </p:spPr>
      </p:pic>
      <p:pic>
        <p:nvPicPr>
          <p:cNvPr id="17" name="Image 1" descr="connector">    </p:cNvPr>
          <p:cNvPicPr>
            <a:picLocks noChangeAspect="1"/>
          </p:cNvPicPr>
          <p:nvPr/>
        </p:nvPicPr>
        <p:blipFill>
          <a:blip r:embed="rId2"/>
          <a:srcRect l="0" r="0" t="0" b="0"/>
          <a:stretch/>
        </p:blipFill>
        <p:spPr>
          <a:xfrm>
            <a:off x="9525000" y="2716510"/>
            <a:ext cx="152400" cy="1041400"/>
          </a:xfrm>
          <a:prstGeom prst="rect">
            <a:avLst/>
          </a:prstGeom>
        </p:spPr>
      </p:pic>
      <p:pic>
        <p:nvPicPr>
          <p:cNvPr id="18" name="Image 2" descr="connector">    </p:cNvPr>
          <p:cNvPicPr>
            <a:picLocks noChangeAspect="1"/>
          </p:cNvPicPr>
          <p:nvPr/>
        </p:nvPicPr>
        <p:blipFill>
          <a:blip r:embed="rId3"/>
          <a:srcRect l="0" r="0" t="0" b="0"/>
          <a:stretch/>
        </p:blipFill>
        <p:spPr>
          <a:xfrm>
            <a:off x="4318000" y="4265910"/>
            <a:ext cx="3556000" cy="101600"/>
          </a:xfrm>
          <a:prstGeom prst="rect">
            <a:avLst/>
          </a:prstGeom>
        </p:spPr>
      </p:pic>
      <p:sp>
        <p:nvSpPr>
          <p:cNvPr id="19" name="Text 14"/>
          <p:cNvSpPr/>
          <p:nvPr/>
        </p:nvSpPr>
        <p:spPr>
          <a:xfrm>
            <a:off x="4876800" y="1891010"/>
            <a:ext cx="274701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edita el documento</a:t>
            </a:r>
            <a:endParaRPr lang="en-US" sz="1400" dirty="0"/>
          </a:p>
        </p:txBody>
      </p:sp>
      <p:sp>
        <p:nvSpPr>
          <p:cNvPr id="20" name="Text 15"/>
          <p:cNvSpPr/>
          <p:nvPr/>
        </p:nvSpPr>
        <p:spPr>
          <a:xfrm>
            <a:off x="9677400" y="3021310"/>
            <a:ext cx="16383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vuelve a</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preguntar</a:t>
            </a:r>
            <a:endParaRPr lang="en-US" sz="1400" dirty="0"/>
          </a:p>
        </p:txBody>
      </p:sp>
      <p:sp>
        <p:nvSpPr>
          <p:cNvPr id="21" name="Text 16"/>
          <p:cNvSpPr/>
          <p:nvPr/>
        </p:nvSpPr>
        <p:spPr>
          <a:xfrm>
            <a:off x="4876800" y="4050010"/>
            <a:ext cx="274701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sin reentrenar</a:t>
            </a:r>
            <a:endParaRPr lang="en-US" sz="1400" dirty="0"/>
          </a:p>
        </p:txBody>
      </p:sp>
      <p:sp>
        <p:nvSpPr>
          <p:cNvPr id="22" name="Text 17"/>
          <p:cNvSpPr/>
          <p:nvPr/>
        </p:nvSpPr>
        <p:spPr>
          <a:xfrm>
            <a:off x="812800" y="5281910"/>
            <a:ext cx="10883392" cy="585490"/>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Cambió un documento, no el modelo. Script del docente: demo-parametrico-vs-recuperable.py, sobre la colección kb-telecomunicaciones-demo.</a:t>
            </a:r>
            <a:endParaRPr lang="en-US" sz="1600" dirty="0"/>
          </a:p>
        </p:txBody>
      </p:sp>
      <p:sp>
        <p:nvSpPr>
          <p:cNvPr id="23" name="Text 18"/>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27</a:t>
            </a:r>
            <a:endParaRPr lang="en-US" sz="1200" dirty="0"/>
          </a:p>
        </p:txBody>
      </p:sp>
      <p:pic>
        <p:nvPicPr>
          <p:cNvPr id="24" name="Image 3" descr="Logo de AriwaLabs">    </p:cNvPr>
          <p:cNvPicPr>
            <a:picLocks noChangeAspect="1"/>
          </p:cNvPicPr>
          <p:nvPr/>
        </p:nvPicPr>
        <p:blipFill>
          <a:blip r:embed="rId4"/>
          <a:srcRect l="-9345" r="-9345" t="0" b="0"/>
          <a:stretch/>
        </p:blipFill>
        <p:spPr>
          <a:xfrm>
            <a:off x="10680700" y="6197600"/>
            <a:ext cx="698500" cy="254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Avance 2: la línea entre RAG y tools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3446066"/>
        </p:xfrm>
        <a:graphic>
          <a:graphicData uri="http://schemas.openxmlformats.org/drawingml/2006/table">
            <a:tbl>
              <a:tblPr/>
              <a:tblGrid>
                <a:gridCol w="2110740"/>
                <a:gridCol w="4010406"/>
                <a:gridCol w="4432554"/>
              </a:tblGrid>
              <a:tr h="49014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Track</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Lo resuelve el RAG</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Lo resuelven las tools del L4</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73898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Telecomunicaciones</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Tarifas, portabilidad y procedimiento de reclamos</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Plan, consumo y diagnóstico de una línea; registrar un reclamo</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3898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Banca</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Comisiones, política de fraude y contrato de tarjeta</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Saldo, movimientos, datos de tarjeta y score de riesgo</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3898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Retail</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Devoluciones, garantía y despacho</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Estado de pedido, ficha de producto, stock y devolución ya iniciada</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3898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Seguros</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Coberturas, exclusiones y procedimiento de siniestro</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Vigencia, cotización, estado de un expediente y apertura de siniestro</a:t>
                      </a:r>
                      <a:endParaRPr lang="en-US" sz="1400" dirty="0">
                        <a:latin typeface="IBM Plex Sans" charset="0"/>
                        <a:ea typeface="IBM Plex Sans" charset="0"/>
                        <a:cs typeface="IBM Plex Sans"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Text 1"/>
          <p:cNvSpPr/>
          <p:nvPr/>
        </p:nvSpPr>
        <p:spPr>
          <a:xfrm>
            <a:off x="812800" y="5185370"/>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Parte 5 · 15 min en vivo · media página. Alimenta la sección Decisiones de RAG del documento de diseño del Proyecto M2 (S7).</a:t>
            </a:r>
            <a:endParaRPr lang="en-US" sz="1600" dirty="0"/>
          </a:p>
        </p:txBody>
      </p:sp>
      <p:sp>
        <p:nvSpPr>
          <p:cNvPr id="5" name="Text 2"/>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28</a:t>
            </a:r>
            <a:endParaRPr lang="en-US" sz="1200" dirty="0"/>
          </a:p>
        </p:txBody>
      </p:sp>
      <p:pic>
        <p:nvPicPr>
          <p:cNvPr id="6"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no entra hoy y qué sigue</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3263801"/>
        </p:xfrm>
        <a:graphic>
          <a:graphicData uri="http://schemas.openxmlformats.org/drawingml/2006/table">
            <a:tbl>
              <a:tblPr/>
              <a:tblGrid>
                <a:gridCol w="5804535"/>
                <a:gridCol w="4749165"/>
              </a:tblGrid>
              <a:tr h="652760">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Concepto</a:t>
                      </a:r>
                      <a:endParaRPr lang="en-US" sz="1600" dirty="0">
                        <a:latin typeface="IBM Plex Sans" charset="0"/>
                        <a:ea typeface="IBM Plex Sans" charset="0"/>
                        <a:cs typeface="IBM Plex Sans" charset="0"/>
                      </a:endParaRPr>
                    </a:p>
                  </a:txBody>
                  <a:tcPr marL="152400" marR="152400" marT="177800" marB="17780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Dónde se construye</a:t>
                      </a:r>
                      <a:endParaRPr lang="en-US" sz="1600" dirty="0">
                        <a:latin typeface="IBM Plex Sans" charset="0"/>
                        <a:ea typeface="IBM Plex Sans" charset="0"/>
                        <a:cs typeface="IBM Plex Sans" charset="0"/>
                      </a:endParaRPr>
                    </a:p>
                  </a:txBody>
                  <a:tcPr marL="152400" marR="152400" marT="177800" marB="1778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6527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Guardrails, PII y prompt injection</a:t>
                      </a:r>
                      <a:endParaRPr lang="en-US" sz="1600" dirty="0">
                        <a:latin typeface="IBM Plex Sans" charset="0"/>
                        <a:ea typeface="IBM Plex Sans" charset="0"/>
                        <a:cs typeface="IBM Plex Sans" charset="0"/>
                      </a:endParaRPr>
                    </a:p>
                  </a:txBody>
                  <a:tcPr marL="152400" marR="152400" marT="177800" marB="1778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S6 · Automatización, asistentes y guardrails</a:t>
                      </a:r>
                      <a:endParaRPr lang="en-US" sz="1600" dirty="0">
                        <a:latin typeface="IBM Plex Sans" charset="0"/>
                        <a:ea typeface="IBM Plex Sans" charset="0"/>
                        <a:cs typeface="IBM Plex Sans" charset="0"/>
                      </a:endParaRPr>
                    </a:p>
                  </a:txBody>
                  <a:tcPr marL="152400" marR="152400" marT="177800" marB="177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527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Pruebas de estrés y casos borde</a:t>
                      </a:r>
                      <a:endParaRPr lang="en-US" sz="1600" dirty="0">
                        <a:latin typeface="IBM Plex Sans" charset="0"/>
                        <a:ea typeface="IBM Plex Sans" charset="0"/>
                        <a:cs typeface="IBM Plex Sans" charset="0"/>
                      </a:endParaRPr>
                    </a:p>
                  </a:txBody>
                  <a:tcPr marL="152400" marR="152400" marT="177800" marB="1778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S7 · Clínica y Proyecto M2</a:t>
                      </a:r>
                      <a:endParaRPr lang="en-US" sz="1600" dirty="0">
                        <a:latin typeface="IBM Plex Sans" charset="0"/>
                        <a:ea typeface="IBM Plex Sans" charset="0"/>
                        <a:cs typeface="IBM Plex Sans" charset="0"/>
                      </a:endParaRPr>
                    </a:p>
                  </a:txBody>
                  <a:tcPr marL="152400" marR="152400" marT="177800" marB="177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527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Métricas de groundedness</a:t>
                      </a:r>
                      <a:endParaRPr lang="en-US" sz="1600" dirty="0">
                        <a:latin typeface="IBM Plex Sans" charset="0"/>
                        <a:ea typeface="IBM Plex Sans" charset="0"/>
                        <a:cs typeface="IBM Plex Sans" charset="0"/>
                      </a:endParaRPr>
                    </a:p>
                  </a:txBody>
                  <a:tcPr marL="152400" marR="152400" marT="177800" marB="1778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S10 · Evaluación y optimización</a:t>
                      </a:r>
                      <a:endParaRPr lang="en-US" sz="1600" dirty="0">
                        <a:latin typeface="IBM Plex Sans" charset="0"/>
                        <a:ea typeface="IBM Plex Sans" charset="0"/>
                        <a:cs typeface="IBM Plex Sans" charset="0"/>
                      </a:endParaRPr>
                    </a:p>
                  </a:txBody>
                  <a:tcPr marL="152400" marR="152400" marT="177800" marB="177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527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Reindexación automática y pipelines de ingesta</a:t>
                      </a:r>
                      <a:endParaRPr lang="en-US" sz="1600" dirty="0">
                        <a:latin typeface="IBM Plex Sans" charset="0"/>
                        <a:ea typeface="IBM Plex Sans" charset="0"/>
                        <a:cs typeface="IBM Plex Sans" charset="0"/>
                      </a:endParaRPr>
                    </a:p>
                  </a:txBody>
                  <a:tcPr marL="152400" marR="152400" marT="177800" marB="1778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Fuera del curso</a:t>
                      </a:r>
                      <a:endParaRPr lang="en-US" sz="1600" dirty="0">
                        <a:latin typeface="IBM Plex Sans" charset="0"/>
                        <a:ea typeface="IBM Plex Sans" charset="0"/>
                        <a:cs typeface="IBM Plex Sans" charset="0"/>
                      </a:endParaRPr>
                    </a:p>
                  </a:txBody>
                  <a:tcPr marL="152400" marR="152400" marT="177800" marB="177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Text 1"/>
          <p:cNvSpPr/>
          <p:nvPr/>
        </p:nvSpPr>
        <p:spPr>
          <a:xfrm>
            <a:off x="812800" y="5003105"/>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Hoy el agente cita. Medir si la cita sostiene la respuesta es S10. En S6 se ponen límites en código a las capacidades construidas hasta hoy.</a:t>
            </a:r>
            <a:endParaRPr lang="en-US" sz="1600" dirty="0"/>
          </a:p>
        </p:txBody>
      </p:sp>
      <p:sp>
        <p:nvSpPr>
          <p:cNvPr id="5" name="Text 2"/>
          <p:cNvSpPr/>
          <p:nvPr/>
        </p:nvSpPr>
        <p:spPr>
          <a:xfrm>
            <a:off x="812800" y="6229350"/>
            <a:ext cx="38410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S05 · Memoria contextual y RAG con Qdrant Cloud · 29</a:t>
            </a:r>
            <a:endParaRPr lang="en-US" sz="1200" dirty="0"/>
          </a:p>
        </p:txBody>
      </p:sp>
      <p:pic>
        <p:nvPicPr>
          <p:cNvPr id="6"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S05 · Memoria contextual y RAG con Qdrant Cloud</dc:title>
  <dc:subject>PptxGenJS Presentation</dc:subject>
  <dc:creator>PptxGenJS</dc:creator>
  <cp:lastModifiedBy>PptxGenJS</cp:lastModifiedBy>
  <cp:revision>1</cp:revision>
  <dcterms:created xsi:type="dcterms:W3CDTF">2026-09-25T18:58:23Z</dcterms:created>
  <dcterms:modified xsi:type="dcterms:W3CDTF">2026-09-25T18:58:23Z</dcterms:modified>
</cp:coreProperties>
</file>