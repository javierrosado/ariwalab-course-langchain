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6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438" autoAdjust="0"/>
  </p:normalViewPr>
  <p:slideViewPr>
    <p:cSldViewPr snapToGrid="0">
      <p:cViewPr varScale="1">
        <p:scale>
          <a:sx n="70" d="100"/>
          <a:sy n="70" d="100"/>
        </p:scale>
        <p:origin x="12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FF57D-91DD-4A67-B852-D7FC2EB1E56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26811-353C-423B-ADFB-EF89CC59CDC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841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“Al terminar, cada equipo habrá construido un prototipo de agente accesible mediante una aplicación web y una API.</a:t>
            </a:r>
          </a:p>
          <a:p>
            <a:r>
              <a:rPr lang="es-PE" dirty="0"/>
              <a:t>Por ejemplo, un usuario podrá preguntar qué plan tiene contratado y cuál es su tarifa. La aplicación consultará los datos del cliente mediante una herramienta y recuperará la información del servicio desde documentos.</a:t>
            </a:r>
          </a:p>
          <a:p>
            <a:r>
              <a:rPr lang="es-PE" dirty="0"/>
              <a:t>Además de ver la respuesta, podremos investigar qué ocurrió: qué herramientas se ejecutaron, cuánto tardaron las llamadas y qué resultados obtuvimos al evaluar distintos casos.</a:t>
            </a:r>
          </a:p>
          <a:p>
            <a:r>
              <a:rPr lang="es-PE" dirty="0"/>
              <a:t>Ese será el producto final: una aplicación que funciona y cuyo comportamiento podemos explicar y medir. También documentaremos sus límites. El despliegue de un prototipo no equivale por sí solo a tener un sistema preparado para operar con clientes reales.”</a:t>
            </a:r>
          </a:p>
          <a:p>
            <a:r>
              <a:rPr lang="es-PE" dirty="0"/>
              <a:t>Si dispones de una demo verificada, muéstrala aquí siguiendo una sola consulta de principio a fin.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90255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“El curso cubre las piezas necesarias para desarrollar y evaluar este prototipo.</a:t>
            </a:r>
          </a:p>
          <a:p>
            <a:r>
              <a:rPr lang="es-PE" dirty="0"/>
              <a:t>Aprenderemos a exponer funciones como herramientas, conservar contexto conversacional y recuperar información desde documentos mediante RAG. Incorporaremos controles de entrada, de ejecución y de salida, y comprobaremos qué situaciones cubren.</a:t>
            </a:r>
          </a:p>
          <a:p>
            <a:r>
              <a:rPr lang="es-PE" dirty="0"/>
              <a:t>Después publicaremos una API, conectaremos una interfaz web e instrumentaremos el agente para observar y evaluar sus respuestas.</a:t>
            </a:r>
          </a:p>
          <a:p>
            <a:r>
              <a:rPr lang="es-PE" dirty="0"/>
              <a:t>La personalización por industria se realizará mediante instrucciones, herramientas y documentos. No entrenaremos los pesos de un modelo.</a:t>
            </a:r>
          </a:p>
          <a:p>
            <a:r>
              <a:rPr lang="es-PE" dirty="0"/>
              <a:t>Fine-</a:t>
            </a:r>
            <a:r>
              <a:rPr lang="es-PE" dirty="0" err="1"/>
              <a:t>tuning</a:t>
            </a:r>
            <a:r>
              <a:rPr lang="es-PE" dirty="0"/>
              <a:t>, coordinación de múltiples agentes y diseño avanzado de grafos quedan fuera del alcance práctico. </a:t>
            </a:r>
            <a:r>
              <a:rPr lang="es-PE" dirty="0" err="1"/>
              <a:t>Foundry</a:t>
            </a:r>
            <a:r>
              <a:rPr lang="es-PE" dirty="0"/>
              <a:t> aparecerá en un bloque adicional y opcional. Esta delimitación permite dedicar tiempo a implementar, probar y comprender las capacidades principales.”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97162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El aprendizaje será acumulativo: cada laboratorio añadirá una capacidad al proyecto del equipo.</a:t>
            </a:r>
          </a:p>
          <a:p>
            <a:r>
              <a:rPr lang="es-PE" dirty="0"/>
              <a:t>En el primer módulo comprenderemos cómo interactuar con un modelo, estructurar sus respuestas y conectarlo con una herramienta. Cerraremos con un primer agente y evidencia de su funcionamiento.</a:t>
            </a:r>
          </a:p>
          <a:p>
            <a:r>
              <a:rPr lang="es-PE" dirty="0"/>
              <a:t>En el segundo módulo ampliaremos el catálogo de herramientas, incorporaremos memoria y recuperación documental, y trabajaremos los controles y las pruebas ante errores.</a:t>
            </a:r>
          </a:p>
          <a:p>
            <a:r>
              <a:rPr lang="es-PE" dirty="0"/>
              <a:t>En el tercero desplegaremos la aplicación, observaremos sus ejecuciones y compararemos resultados para mejorarla. El cierre será una sustentación del proyecto.</a:t>
            </a:r>
          </a:p>
          <a:p>
            <a:r>
              <a:rPr lang="es-PE" dirty="0"/>
              <a:t>El seminario nos permitirá contrastar nuestras soluciones con casos de industria. El bonus de </a:t>
            </a:r>
            <a:r>
              <a:rPr lang="es-PE" dirty="0" err="1"/>
              <a:t>Foundry</a:t>
            </a:r>
            <a:r>
              <a:rPr lang="es-PE" dirty="0"/>
              <a:t> permitirá explorar otro entorno, revisando qué componentes pueden reutilizarse y cuáles necesitan adaptación.”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1683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“Trabajaremos con cuatro contextos de aplicación: telecomunicaciones, banca, </a:t>
            </a:r>
            <a:r>
              <a:rPr lang="es-PE" dirty="0" err="1"/>
              <a:t>retail</a:t>
            </a:r>
            <a:r>
              <a:rPr lang="es-PE" dirty="0"/>
              <a:t> y seguros.</a:t>
            </a:r>
          </a:p>
          <a:p>
            <a:r>
              <a:rPr lang="es-PE" dirty="0"/>
              <a:t>En telecomunicaciones atenderemos consultas de planes, consumo y reclamos. En banca consultaremos cuentas y operaciones sospechosas. En </a:t>
            </a:r>
            <a:r>
              <a:rPr lang="es-PE" dirty="0" err="1"/>
              <a:t>retail</a:t>
            </a:r>
            <a:r>
              <a:rPr lang="es-PE" dirty="0"/>
              <a:t> trabajaremos con pedidos, productos y solicitudes de devolución. En seguros consultaremos pólizas y registraremos reportes de siniestros.</a:t>
            </a:r>
          </a:p>
          <a:p>
            <a:r>
              <a:rPr lang="es-PE" dirty="0"/>
              <a:t>Todos comparten la misma base técnica; cambian los datos, las herramientas, el vocabulario y los límites de actuación.</a:t>
            </a:r>
          </a:p>
          <a:p>
            <a:r>
              <a:rPr lang="es-PE" dirty="0"/>
              <a:t>Formaremos equipos de dos personas. Cada equipo propondrá un </a:t>
            </a:r>
            <a:r>
              <a:rPr lang="es-PE" dirty="0" err="1"/>
              <a:t>track</a:t>
            </a:r>
            <a:r>
              <a:rPr lang="es-PE" dirty="0"/>
              <a:t> y coordinaremos la distribución para representar las cuatro industrias.</a:t>
            </a:r>
          </a:p>
          <a:p>
            <a:r>
              <a:rPr lang="es-PE" dirty="0"/>
              <a:t>Las empresas son ficticias y los datos sintéticos. Cada equipo construirá su proyecto en su propio repositorio, avanzando laboratorio a laboratorio.”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11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curso ocupa seis semanas de calendario. Durante las primeras cinco tendremos dos encuentros en vivo por semana; en la sexta tendremos uno para cerrar con la sustentación final. </a:t>
            </a:r>
          </a:p>
          <a:p>
            <a:r>
              <a:rPr lang="es-P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dedicación es de doce horas por semana en semanas 1–5 y seis horas en semana 6.</a:t>
            </a:r>
          </a:p>
          <a:p>
            <a:r>
              <a:rPr lang="es-P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sesión comprende una hora de preparación, tres horas en vivo con explicación, demos y práctica guiada, y dos horas posteriores de laboratorio. El total es de 66 horas: 33 en vivo y 33 asíncronas. Los laboratorios son incrementales y trabajaremos en parejas. La preparación S0 y el bonus de </a:t>
            </a:r>
            <a:r>
              <a:rPr lang="es-P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es-P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 adicionales y no forman parte de esas 66 horas.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5466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“La evaluación estará organizada en tres hitos.</a:t>
            </a:r>
          </a:p>
          <a:p>
            <a:r>
              <a:rPr lang="es-PE" dirty="0"/>
              <a:t>En A1 presentarán un primer agente conectado con una API y mostrarán evidencia de tres escenarios. En el proyecto del segundo módulo demostrarán la integración de herramientas, memoria, RAG y controles. En el proyecto integrador presentarán la aplicación desplegada, sus trazas y los resultados de evaluación.</a:t>
            </a:r>
          </a:p>
          <a:p>
            <a:r>
              <a:rPr lang="es-PE" dirty="0"/>
              <a:t>Cada hito representa el cien por ciento de la nota de su módulo; esos porcentajes no son pesos sobre una única nota global.</a:t>
            </a:r>
          </a:p>
          <a:p>
            <a:r>
              <a:rPr lang="es-PE" dirty="0"/>
              <a:t>Las rúbricas correspondientes consideran funcionamiento, diseño, controles, evidencia y comunicación técnica, de acuerdo con lo enseñado en cada etapa.</a:t>
            </a:r>
          </a:p>
          <a:p>
            <a:r>
              <a:rPr lang="es-PE" dirty="0"/>
              <a:t>Tendrán que mostrar qué funciona, qué falla y cómo lo comprobaron. Las autoevaluaciones previas habilitan la participación; el bonus no forma parte de la evaluación ponderada.”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0111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“Con el alcance y la dinámica claros, el siguiente paso es completar la preparación S0 antes de la primera sesión en vivo.</a:t>
            </a:r>
          </a:p>
          <a:p>
            <a:r>
              <a:rPr lang="es-PE" dirty="0"/>
              <a:t>Reserven entre cuatro y cinco horas, que pueden distribuir en varios días. Primero revisarán los fundamentos de modelos de lenguaje y consultarán el glosario. Después prepararán Python, configurarán el entorno y activarán las cuentas necesarias.</a:t>
            </a:r>
          </a:p>
          <a:p>
            <a:r>
              <a:rPr lang="es-PE" dirty="0"/>
              <a:t>Ejecutarán cuatro demos para observar tokens, variación de respuestas, </a:t>
            </a:r>
            <a:r>
              <a:rPr lang="es-PE" dirty="0" err="1"/>
              <a:t>embeddings</a:t>
            </a:r>
            <a:r>
              <a:rPr lang="es-PE" dirty="0"/>
              <a:t> y costo. Finalmente resolverán la autoevaluación, con un mínimo de ochenta por ciento para ingresar a la primera sesión.</a:t>
            </a:r>
          </a:p>
          <a:p>
            <a:r>
              <a:rPr lang="es-PE" dirty="0"/>
              <a:t>Esta preparación es obligatoria y está fuera de las 72 horas lectivas. Si aparece un problema de acceso o configuración, comuníquenlo con anticipación para resolverlo antes de comenzar los laboratorios.”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26811-353C-423B-ADFB-EF89CC59CDC9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385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3DF8F-3035-40EE-B3F6-90DD6AA85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CACD4E-A068-B877-FFC8-714E6EBCC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0B700-D431-6512-3722-358CF744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3BA792-F2AA-3F16-C2AE-8F59045E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B563A6-D10F-722D-1D79-CFEDBBDB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1992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36456-0733-F2FD-315D-D4253EA2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EF6BF9-8D19-681D-1036-6909D467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9854D5-468A-9A48-4C0F-8F987D17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6F1F03-1772-E28D-8CE3-BFB21EFA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D48B8-0C20-08E5-A235-4A60D84E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213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F36B4-1D71-E633-285F-6AC951B9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83BA5C-C3D2-116E-F2FF-3365D36E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5E965A-9E87-160C-958C-010D81AC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689653-08D0-B57F-DD77-E62BCC85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FF92E2-932E-36B1-073D-00B8C374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829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1A60-B017-962A-97D0-A5D654E9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1DD380-CDBD-2E53-9161-E542083D9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512BD7-AA9D-C089-552C-70C385E56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71023B-2895-C00F-1E99-9526CE75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F334E2-EBD8-D95B-66A2-B3E4C7F6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BE3248-BDA5-3CF2-EA09-5E091ABC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45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67D7F-735C-E894-68B3-2121A080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8A2CF7-2C29-984E-2A1F-A07D91501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DD7AE-34AA-0C24-367C-0849994E2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E3ED07-EC7E-1F03-69D6-861768791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5FEC70-725A-A523-84BB-DDB056C4C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72B93C-FC36-BE59-7825-2F029847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A705E5-77B9-1074-B1F5-DDFD267C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70E92A-4CD8-7D44-8614-B2F58FDC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043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FFCC1-8AF7-8BFB-9786-E5D81332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17BE73-4673-D525-3B26-087A517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09C1C5-5637-6BA6-479D-D17802EE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C137F3-BF2A-4F5C-96D2-996B9BC6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013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1BE4BC-E71C-6FDF-7DB1-69DDFECA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91A0D-771F-F229-CE80-80187EDC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027861-B08A-E22A-731D-600D277F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827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5BF68-D9D4-A37C-3E4E-88B3216E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5CC05E-93E7-24EA-2DC8-C12253AC2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999FC1-4B73-84C3-9779-E15896283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2031DA-EBB9-833A-275B-4425FA35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4E142-ABF2-F8E4-D2F0-E42B17FF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0FDDA3-3E03-08F3-E2F2-6D5F2ACC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940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4AB54-385C-A5D1-201B-133DDA63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5F830A-4799-25ED-9E20-CC69611B27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3F8E7E-39AB-3799-A42F-D6307C278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39CC5F-CAC0-CE67-795D-3FB82FE4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9F23E7-A791-3800-3510-3F32BE89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F74C23-9DE1-B8AC-6B9B-3D03953C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991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E351A-01B1-7F6B-03F9-0D12E92B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89AE3A-1FCF-DB52-ABDA-1F308C721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3A79B5-6C13-0AC4-73BC-74838814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36EBFD-F306-9F16-0F05-2EFA6BC9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0AA339-F49B-C68B-920C-A041475D3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194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89B451-4C74-3E4F-6CAB-59D0ED70F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224A29-96DB-AF83-40DC-CE593AB00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4AA7CA-717B-AE4A-D0DD-027D0BBD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C437EE-9E32-B8EE-3BCD-E018A5BA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BC5060-5168-B191-1795-D62F3A72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986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BC1634-F124-7BAB-0548-BE69C6669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F2C215-E8DC-D07F-3AB7-B4CC5CF33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393E6-13AE-2EF6-F7E6-7D731478E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2DA3D-B275-4BEC-BBF9-E7DAFE3B579D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4D9AD-9E80-C460-5AEB-A15F2380A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230D3-C25B-7AE3-2266-174E5D61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D22CF-0571-4434-873F-C7564C49F6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909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F9DEE5-1255-DE78-38CC-1F2B559F0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6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1279EB-2208-EC42-6CDC-FA253D06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99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83C03B-0DB6-099D-395E-8DC358509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0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DB3174-CD65-88E5-4318-7D8B66F7F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0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95E2E-9221-07B2-E359-B42503F2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3177F40-667A-C638-3FBB-B8E5F20FC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4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8C2F-AB20-9B2C-6581-1E72B860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F26132-E156-1736-E893-354550739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9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2371-A09E-0BFD-5F27-5C2453EB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ADC61F-FD6B-674E-4A9A-5D0FC154B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7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928</Words>
  <Application>Microsoft Office PowerPoint</Application>
  <PresentationFormat>Panorámica</PresentationFormat>
  <Paragraphs>39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Rosado Carrizo</dc:creator>
  <cp:lastModifiedBy>Javier Rosado Carrizo</cp:lastModifiedBy>
  <cp:revision>11</cp:revision>
  <dcterms:created xsi:type="dcterms:W3CDTF">2026-09-24T22:14:08Z</dcterms:created>
  <dcterms:modified xsi:type="dcterms:W3CDTF">2026-09-25T00:36:37Z</dcterms:modified>
</cp:coreProperties>
</file>