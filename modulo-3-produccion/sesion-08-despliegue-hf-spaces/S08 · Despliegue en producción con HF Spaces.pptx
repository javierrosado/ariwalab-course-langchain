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Lst>
  <p:notesMasterIdLst>
    <p:notesMasterId r:id="rId31"/>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notesMaster" Target="notesMasters/notesMaster1.xml"/><Relationship Id="rId32" Type="http://schemas.openxmlformats.org/officeDocument/2006/relationships/presProps" Target="presProps.xml"/><Relationship Id="rId33" Type="http://schemas.openxmlformats.org/officeDocument/2006/relationships/viewProps" Target="viewProps.xml"/><Relationship Id="rId34" Type="http://schemas.openxmlformats.org/officeDocument/2006/relationships/theme" Target="theme/theme1.xml"/><Relationship Id="rId35"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Abrir con el cambio de hoy: del L1 al L7 el agente vivió en la terminal de cada equipo, con su .env y su supervisión; hoy recibe una URL pública. Presentar el reparto: 1 h de pre-work, 3 h en vivo (90 min de teoría, 80 de práctica guiada, 10 de pausa) y 2 h de laboratorio. El hito es el Avance 1 del Módulo 3: el diagrama de arquitectura de despliegue. Si la ronda de demos de la S7 se extendió porque el aula superó los 15 equipos, usar los primeros 20 min para cerrarla y comprimir los bloques 0 y 1. 2) Pregunta: ¿qué cambia en tu agente cuando lo llama alguien que nunca vio tu código? 3) Laboratorio: L8 · Contenedor y despliegue en HF Spaces (modulo-3-produccion/sesion-08-despliegue-hf-spaces/lab/README.md).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La sesión en vivo asume el pre-work leído: seis conceptos de conceptos-previos.md, en ese orden. No se repasan uno por uno; se retoman en cada bloque. Luego, la verificación de entrada: una cuenta de Hugging Face con un Space vacío creado con SDK Docker y el remote visible con git remote -v. Pedir que cada equipo lo ejecute ahora y levante la mano si no aparece su remote. 2) Pregunta: ¿por qué el remote del Space no es el mismo que el de GitHub? 3) Laboratorio: L8 Parte 3, paso 1 (crear el Space si no se hizo en el pre-work). Quien no lo tenga, lo crea en la pausa.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Leer los seis objetivos como el contrato de la sesión: cada uno tiene una diapositiva y una evidencia en el L8. El 1 se trabaja en la diapositiva de producción; el 2, en el Dockerfile; el 3, en el contrato HTTP; el 4, en secretos; el 5, en la protección de la cuota; el 6, en el cold start. Aclarar el principio P2 del curso: nada corre en local; el Dockerfile se escribe y lo construye la plataforma. 2) Pregunta: ¿cuál de los seis te parece más lejano a lo que ya hiciste del L1 al L7? 3) Laboratorio: el criterio de aceptación del L8 cubre los objetivos 3 a 6 (lab/README.md, sección Criterio de aceptación).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Izquierda: del L1 al L7 el agente vivió en tu terminal, con tu .env, tus credenciales y tu supervisión. Derecha, en foco: hoy le das una URL pública y desde ahí puede llamarlo cualquiera que tenga la key, incluido un evaluador que nunca vio tu código. Producción no es que el script corra: es que otro lo invoque sin ti delante. De ahí salen los temas de hoy: config por entorno, contenedor, contrato HTTP, secretos y cold start. Aclarar que la analogía de “producción” termina aquí: no hablamos de alta disponibilidad ni de escalado, que quedan fuera del curso. 2) Pregunta: ¿qué supuestos de tu agente dependían de que tú estuvieras mirando? 3) Laboratorio: criterio de aceptación del L8, “el agente responde por HTTP desde fuera de tu máquina, con tu API key”.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Señalar el límite HF Spaces: contiene FastAPI y el Agente. GET /health es público y comprueba la disponibilidad del proceso según el contrato del curso; POST /chat exige X-API-Key. El Agente se conecta por flechas separadas al Modelo remoto, al Simulador API y a Qdrant. La flecha discontinua marcada S9 (Enmascarador → Langfuse) se muestra solo como contexto: la trazabilidad se implementa en la S9, no hoy. Ejemplo: Andina Seguros; el endpoint envuelve las tools de pólizas (get_policy_by_plate, quote_soat, get_claim_status, open_claim) y la recuperación de documentos. Error frecuente: creer que publicar FastAPI vuelve persistente la memoria o autentica a cada cliente final. Conexión: la S7 cerró el agente; la S9 lo vuelve observable. 2) Pregunta: ¿qué servicios pueden fallar aunque /health responda? 3) Laboratorio: vista general del L8; es la base del Avance 1 (lab/&lt;track&gt;/avance-1-m3.md).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Secuencia progresiva 1/2. 1) Recorrer de izquierda a derecha: el .env de tu laptop, que está en .gitignore, lo carga python-dotenv en el entorno del proceso; comun/settings.py lee cada variable con os.getenv, y tu código solo importa settings. Así funciona desde el L1. Ese es el principio 12-Factor: la configuración (credenciales, URLs, nombres de recursos) vive en el entorno, no en el código fuente. Hoy entienden por qué se diseñó así: permite que el mismo código corra en la laptop y en el Space. 2) Pregunta: si mañana cambia el token, ¿qué archivo de código tendrías que editar? (Ninguno.) 3) Laboratorio: code/03_secretos.py, función leer_como_si_fuera_local(); ejecútalo desde la raíz del curso.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Secuencia progresiva 2/2: misma composición; lo nuevo es Space secrets. 1) En el Space no hay .env: la plataforma inyecta cada secreto como variable de entorno del contenedor en tiempo de ejecución. comun/settings.py y tu código no cambian: hoy no se escribe una sola línea de config nueva en el agente, solo cambia dónde vive. Por eso no hace falta una rama “if estoy en producción”. 2) Pregunta: ¿qué pasa si olvidas cargar un secreto en el Space? (El código lee un valor vacío; por ejemplo, api.py responde 500 si falta AGENT_API_KEY.) 3) Laboratorio: code/03_secretos.py, función leer_como_si_fuera_el_space(); en el L8 Parte 3 cargas todos los secretos de tu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Leer las siete instrucciones de arriba abajo con la tabla del pre-work: FROM, WORKDIR, COPY, RUN, EXPOSE y CMD. Detenerse en dos: EXPOSE 7860 documenta el puerto que HF Spaces espera por defecto, y CMD usa --host 0.0.0.0 porque 127.0.0.1 solo aceptaría conexiones desde dentro del contenedor y el proxy de la plataforma llega desde fuera. La línea resaltada es la que cada equipo ajusta: el módulo de uvicorn debe apuntar a su propio app/api.py (en la solución de referencia es api:app). Es el mismo Dockerfile de solucion/&lt;track&gt;/Dockerfile. 2) Pregunta: si movieras este Dockerfile a otra plataforma, ¿qué línea cambiarías? (En principio ninguna: cambian el puerto si la plataforma exige otro y la forma de inyectar secretos.) 3) Laboratorio: code/02_dockerfile_comentado.md (Demo 2) y L8 Parte 2: copiar el Dockerfile y ajustar CMD.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Docker construye la imagen por capas y reutiliza las que no cambiaron. Por eso COPY requirements.txt va antes que COPY . .: si solo cambia una línea de agent.py, se reconstruyen COPY . . y las capas siguientes, mientras que la instalación de dependencias sigue en caché. Copiar todo de una vez invalidaría el caché en cada commit. Es una decisión de caché, no una preferencia estética. Mencionar también --no-cache-dir: no guarda la caché de pip dentro de la imagen, que así pesa menos. 2) Pregunta: ¿qué pasaría con el tiempo de build de cada git push si COPY . . fuera antes del pip install? 3) Laboratorio: code/02_dockerfile_comentado.md, pasos 3 a 5 (Demo 2); L8 Parte 2.</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Recorrer las tres filas. La primera es la más importante: ninguna credencial dentro del Dockerfile ni de la imagen; las credenciales se cargan como Space secrets y la plataforma las inyecta al correr. La segunda declara un límite honesto: no crear un usuario no-root es una omisión consciente de esta sesión, no algo que ya esté asegurado. La tercera explica por qué no hace falta un HEALTHCHECK: la disponibilidad se verifica desde fuera con el verificador del curso, que llama a /health sin credencial. 2) Pregunta: ¿qué riesgo tendría escribir ENV HF_TOKEN=... en el Dockerfile aunque el repositorio fuera privado? 3) Laboratorio: L8 Parte 2 y criterio de aceptación “cero credenciales en el Dockerfile”.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Secuencia progresiva 1/4: esta composición se repite en las próximas tres diapositivas. 1) Presentar las piezas: el cliente HTTP; el contenedor del Space; FastAPI; y, dentro, el Agente del L6, donde el LLM propone y el runtime ejecuta tools, retriever y guardrails; fuera, el simulador y Qdrant. Lo único nuevo es FastAPI (en foco): app/api.py define ChatRequest y ChatResponse con Pydantic, igual que comun/structured.py, y llama a responder(). No reescribe la lógica del agente: la envuelve. 2) Pregunta: ¿qué parte de tu agente tuviste que cambiar para exponerlo por HTTP? (Ninguna.) 3) Laboratorio: code/01_api_local.py (funciones health() y chat()) levanta el mismo contrato en local con uvicorn; en el L8 Parte 1 escribes tu app/api.py.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Secuencia progresiva 2/4: misma composición; en foco, la ruta /health. 1) /health responde {"status": "ok"} sin credencial. El verificador del curso (docente/verificar_despliegue.py) lo usa para comprobar que el proceso está disponible. Solo dice eso: no llama al modelo, ni al simulador, ni a Qdrant. Un /health en verde no demuestra que los servicios externos estén sanos. Recordar que el simulador de la S3 ya tenía este patrón: /health abierto y todo lo demás con X-API-Key. 2) Pregunta: ¿qué servicios pueden fallar aunque /health responda? 3) Laboratorio: función health() de app/api.py; es la comprobación 1 de verificar_despliegue.py (GET /health responde 200 sin credencial).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Secuencia progresiva 3/4: aparece el rechazo 401. 1) /chat exige la cabecera X-API-Key. Si no coincide con AGENT_API_KEY, FastAPI responde 401 antes de llamar a responder(): una key mala nunca gasta cuota de HF Inference. Es la misma asimetría que consumiste como cliente en la S3: el simulador expone /health abierto y todo lo demás con X-API-Key. En la S3 fuiste cliente de ese patrón; hoy lo publicas. La Demo 4 lo muestra con tres casos: key correcta, sin key y key incorrecta; solo el primero llega al modelo. 2) Pregunta: ¿por qué el if de la key va antes de responder() y no después? 3) Laboratorio: función chat() de app/api.py; code/04_llamar_desde_fuera.py; comprobaciones 2 a 4 del verificador.</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Secuencia progresiva 4/4: en foco, la llamada al modelo. 1) Qué se protege: la cuota, no un secreto de negocio. Los datos son sintéticos y las marcas ficticias; lo valioso es el token de HF Inference del equipo. Cada mensaje del runtime al LLM gasta cuota, y un /chat abierto que alguien descubra la agota en horas en un free tier que todavía no está medido. Decisión del curso: /health público; /chat con X-API-Key; la key vive como AGENT_API_KEY en Space secrets, nunca en el repo; para evaluar, el equipo entrega la key junto con la URL. 2) Pregunta: si nada es confidencial, ¿por qué protegemos /chat? 3) Laboratorio: DESPLIEGUE.md, sección URL y credencial (la key va solo en la copia privada, nunca en el repo público).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Recorrer la cadena: alguien hace commit del .env antes de añadirlo al .gitignore; el push lo deja en el historial; un scraper automatizado puede indexarlo. Un token de HF Inference filtrado se explota en minutos, no en días. La única reacción válida está en foco: revocar el token y generar uno nuevo. Borrar el commit no basta, porque el historial de git es recuperable. La verificación no es a ojo: git log -p | grep -i "hf_\|sk-lf\|api_key" sobre el repo del equipo. Si aparece algo, se revoca y se regenera; esa es la lección completa sobre secretos, aprendida donde no cuesta nada. 2) Pregunta: ¿por qué borrar el commit no deja el token a salvo? 3) Laboratorio: criterio de aceptación del L8, “cero credenciales en el repositorio”, y la casilla de higiene de DESPLIEGUE.md.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Señalar en la imagen los componentes marcados para la S8: Spaces (Docker) y Repositorios git. Luego, el panel inferior derecho, Sesión 8 · despliegue: git push de tu repo, Space con Docker y API pública del agente. HF Spaces se despliega con git push a un remote propio del Space, no a GitHub; ambos remotes conviven en el mismo repositorio local. El push dispara la construcción de la imagen con tu Dockerfile. El panel nombra HF_TOKEN y AGENT_API_KEY como ejemplo; tu track necesita más secretos (se ven en la Parte 3). 2) Pregunta: ¿qué hace el Space justo después de recibir tu push? 3) Laboratorio: L8 Parte 3, git push space main (o el nombre que diste al remote); si el build falla, el error está en los logs de build del Space.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Leer la línea de tiempo: tras un periodo sin tráfico, el Space está dormido porque la plataforma no mantiene encendidos contenedores ociosos. El primer request (en foco) incluye despertar el Space y responder; el segundo, inmediato, solo responde. El ancho de cada caja no es una medida: el tiempo real lo mide cada equipo. verificar_despliegue.py compara el primer request con el segundo y lo marca si la diferencia es grande. La plantilla DESPLIEGUE.md pide el primero tras 15 min o más sin tráfico y el segundo inmediato, y una o dos frases sobre si esa latencia es aceptable para su caso de uso. 2) Pregunta: ¿qué latencia sería aceptable para un cliente de tu industria? 3) Laboratorio: L8 Parte 4 y DESPLIEGUE.md, sección Cold start.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Tres malentendidos frecuentes al ver el agente con URL pública. Primero: la memoria del L5 sigue siendo un diccionario en el proceso; publicarla con FastAPI no la vuelve persistente, y si el Space se reinicia la conversación se pierde. Segundo: X-API-Key es una única key del equipo para proteger la cuota; no sabe quién es cada cliente final. Tercero: /health solo demuestra que el proceso responde. 2) Pregunta: ¿qué pierde un usuario si el Space se reinicia a mitad de su conversación? 3) Laboratorio: al probar desde fuera en la Parte 4, anota en DESPLIEGUE.md lo que observes; no hay que resolverlo hoy.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Ejecutar en orden, desde la raíz del curso y con el entorno virtual activado. Demo 1: python modulo-3-produccion/sesion-08-despliegue-hf-spaces/code/01_api_local.py; usa el agente de referencia de la S6 (demo del docente, no el L8) y se prueba con curl contra 127.0.0.1:8000. Demo 2: lectura del Dockerfile. Demo 3: el mismo código leyendo la key de dos orígenes. Demo 4: 04_llamar_desde_fuera.py --url &lt;space-docente&gt; --key &lt;key&gt;, o sin argumentos en modo --simular. Si la Demo 1 da 401 con curl, la key no coincide con la que imprime la consola. Después de las demos: pausa de 10 min y luego la práctica. 2) Pregunta: en la Demo 4, ¿cuántas de las tres llamadas gastan cuota? 3) Laboratorio: code/README.md; la Demo 1 es literalmente el contrato del L8 Parte 1.</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El L8 sale del entorno de desarrollo y le da una URL pública al agente. Punto de partida: el agent.py v4 del L6, que ya trae memoria y RAG del L5 y los guardrails del L6; si en el L7 resolviste casos borde dentro de agent.py, despliegas esa versión. El checkpoint del L7 solo añade pruebas. Recorrer las cuatro partes con sus minutos; ninguna agrega una capacidad nueva al agente. 2) Pregunta: ¿qué parte crees que te tomará más de lo previsto? 3) Laboratorio: modulo-3-produccion/sesion-08-despliegue-hf-spaces/lab/README.md y el enunciado de tu track.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Parte 1: escribe app/api.py con /chat, /health y el guardia de X-API-Key. El punto de partida es code/01_api_local.py: es el mismo contrato, con tu propio agent.py. Las líneas resaltadas son el guardia: si la key no coincide, 401 antes de llamar al agente. La solución de referencia agrega dos detalles: thread_id opcional en ChatRequest para la memoria, y un 500 si AGENT_API_KEY no está configurada en el servidor. Parte 2: copia el Dockerfile (Demo 2 o solucion/&lt;tu-track&gt;/Dockerfile), ajusta CMD a tu módulo y verifica que requirements.txt, en la raíz de tu repo, incluya fastapi y uvicorn[standard]. 2) Pregunta: ¿qué devuelve tu API si el evaluador olvida la cabecera? 3) Laboratorio: app/api.py (health(), chat()) y Dockerfile en la raíz del repo del equipo.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Cuatro pasos. El más fácil de olvidar es el 2: cargar todas las variables que el agente necesita, no solo HF_TOKEN. En telecomunicaciones son ocho: HF_TOKEN, QDRANT_URL, QDRANT_API_KEY, AGENT_API_KEY, COURSE_TRACK=telecomunicaciones, DATA_SOURCE=api, SIM_BASE_URL y SIM_API_KEY. Los otros tracks cambian COURSE_TRACK; cada uno revisa su enunciado. Luego git push al remote del Space y esperar a que termine de construir; si falla, el error está en los logs de build, casi siempre una dependencia que falta en requirements.txt. 2) Pregunta: si el Space construye bien pero /chat responde 401 desde fuera, ¿qué revisas primero? (Que AGENT_API_KEY esté cargada como Space secret.) 3) Laboratorio: L8 Parte 3; DESPLIEGUE.md, sección Secretos cargados (nombres, nunca valores).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Desde fuera de tu máquina, ejecuta el verificador del curso con la URL del Space y tu key. Debe pasar las cuatro comprobaciones: /health 200 sin credencial, /chat 200 con la key correcta y 401 sin key y con key incorrecta. De paso mide el primer request contra el segundo y marca el cold start si la diferencia es grande. Telco: create_complaint_ticket exige confirmado_por_cliente=true; es fácil que el guardia se rompa si el cliente HTTP no propaga bien los argumentos. En seguros, además, comprueba que el guardrail de salida siga derivando la pregunta sobre la culpa en un accidente. 2) Pregunta: ¿por qué conviene probar desde otra máquina y no solo desde la tuya? 3) Laboratorio: docente/verificar_despliegue.py; pega su salida completa en DESPLIEGUE.md.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Cuatro entregables y cuatro criterios. Las plantillas de DESPLIEGUE.md y avance-1-m3.md están en solucion/telecomunicaciones/, vacías de datos reales a propósito: son la estructura que cada equipo llena con la evidencia de su propio Space. La key para el evaluador va solo en la copia privada, nunca en el repositorio público. La higiene de credenciales no se revisa a ojo: se ejecuta el grep sobre el historial completo. Si aparece algo, se revoca el token y se genera uno nuevo. 2) Pregunta: ¿cuál de los cuatro criterios crees que más equipos incumplen sin darse cuenta? 3) Laboratorio: lab/&lt;tu-track&gt;/DESPLIEGUE.md y lab/&lt;tu-track&gt;/avance-1-m3.md.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Es el hito de hoy para el proyecto: el diagrama de arquitectura de despliegue que trae la plantilla avance-1-m3.md. El evaluador llama por HTTPS con X-API-Key al Space, que es un contenedor Docker con uvicorn; desde ahí salen las llamadas a HF Inference (modelo Qwen3), Qdrant Cloud (colección RAG) y el simulador de industria (datos del track). Cada equipo escribe una frase por pieza explicando por qué está ahí, y reemplaza el diagrama solo si su arquitectura real difiere, por ejemplo si agregó una caché o un componente propio. La sección “Qué falta para el siguiente avance” anuncia la trazabilidad de la S9 y la evaluación de la S10. 2) Pregunta: ¿qué pieza de este diagrama es la más frágil en tu caso? 3) Laboratorio: lab/&lt;tu-track&gt;/avance-1-m3.md.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El Proyecto Integrador Final vale el 100 % del Módulo 3 y se sustenta en la S11. No hay nada nuevo que inventar: se cierra el proyecto acumulado desde el L1. La fila de hoy está resaltada: el agente desplegado con URL pública y API key. Las demás filas se anuncian con su sesión; no se construyen hoy. La entrega anticipada, 24 h antes, incluye la URL, la key y la salida del verificador en verde; la captura de traza llega con el L9. Regla de contingencia: si el Space duerme o falla el día de la demo, se sustenta en local sin penalización; sin esa entrega anticipada, la caída sí penaliza. 2) Pregunta: ¿qué harías hoy para no depender del free tier el día de la sustentación? 3) Laboratorio: DESPLIEGUE.md es la evidencia que reutiliza la entrega anticipada (proyecto-integrador.md; rubrica-final.md).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Recorrer la tabla como guía de diagnóstico para el laboratorio: cada síntoma remite a un bloque de la sesión. Build error: el error vive en el log de build del Space. El Space que arranca y muere suele tener el puerto o el módulo de CMD mal configurado (bloque del Dockerfile). 401 desde fuera: los secretos no se leen del repo. Cold start: se documenta, no se corrige. Token en el historial: revocar y regenerar. Para las demos, un ModuleNotFoundError: comun indica que se ejecutó desde otra carpeta: siempre desde la raíz del curso. 2) Pregunta: ¿cuál de estos síntomas te daría más miedo ver el día de la sustentación y cómo lo prevendrías? 3) Laboratorio: L8 Partes 3 y 4.</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Cerrar el alcance: hoy el agente queda desplegado, no observado ni evaluado. La trazabilidad con Langfuse se implementa en la S9; la evaluación con datasets, en la S10; el cliente web con streaming, en la S11; Foundry es el bonus asíncrono. Docker en local, Kubernetes y CI/CD quedan fuera de alcance por el principio P2: nada corre en local y el curso usa servicios en línea con costo mínimo o nulo. 2) Pregunta: ¿qué te gustaría saber de tu agente desplegado que hoy todavía no puedes ver? (Es el puente a la S9.) 3) Laboratorio: ninguna de estas piezas se exige en el L8.</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1) Resumen en tres puntos. Hoy: el agente responde en una URL pública, protegido con X-API-Key. Requisito para la S9 (en foco): el Space del L8 debe estar desplegado y respondiendo antes de esa sesión. En la S9 el agente deja de ser una caja negra: cada ejecución quedará registrada como una traza en Langfuse, con el mismo enmascarador de PII del L6 aplicado antes de exportar. Se anuncia hoy; se implementa allí. 2) Pregunta: si mañana un usuario dice que tu agente “tardó mucho”, ¿cómo lo investigarías hoy? 3) Laboratorio: L8 completo (lab/README.md); entregables en lab/&lt;tu-track&gt;/DESPLIEGUE.md y avance-1-m3.md.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slideLayout" Target="../slideLayouts/slideLayout1.xml"/><Relationship Id="rId3"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png"/><Relationship Id="rId2" Type="http://schemas.openxmlformats.org/officeDocument/2006/relationships/slideLayout" Target="../slideLayouts/slideLayout1.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1.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png"/><Relationship Id="rId2" Type="http://schemas.openxmlformats.org/officeDocument/2006/relationships/image" Target="../media/image-5-2.png"/><Relationship Id="rId3" Type="http://schemas.openxmlformats.org/officeDocument/2006/relationships/slideLayout" Target="../slideLayouts/slideLayout1.xml"/><Relationship Id="rId4"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image" Target="../media/image-6-3.png"/><Relationship Id="rId4" Type="http://schemas.openxmlformats.org/officeDocument/2006/relationships/image" Target="../media/image-6-4.png"/><Relationship Id="rId5" Type="http://schemas.openxmlformats.org/officeDocument/2006/relationships/slideLayout" Target="../slideLayouts/slideLayout1.xml"/><Relationship Id="rId6"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1.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slideLayout" Target="../slideLayouts/slideLayout1.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png"/><Relationship Id="rId2" Type="http://schemas.openxmlformats.org/officeDocument/2006/relationships/image" Target="../media/image-9-2.png"/><Relationship Id="rId3" Type="http://schemas.openxmlformats.org/officeDocument/2006/relationships/slideLayout" Target="../slideLayouts/slideLayout1.xml"/><Relationship Id="rId4"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slideLayout" Target="../slideLayouts/slideLayout1.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image" Target="../media/image-11-7.png"/><Relationship Id="rId8" Type="http://schemas.openxmlformats.org/officeDocument/2006/relationships/image" Target="../media/image-11-8.png"/><Relationship Id="rId9" Type="http://schemas.openxmlformats.org/officeDocument/2006/relationships/slideLayout" Target="../slideLayouts/slideLayout1.xml"/><Relationship Id="rId10"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image" Target="../media/image-12-1.png"/><Relationship Id="rId2" Type="http://schemas.openxmlformats.org/officeDocument/2006/relationships/image" Target="../media/image-12-2.png"/><Relationship Id="rId3" Type="http://schemas.openxmlformats.org/officeDocument/2006/relationships/image" Target="../media/image-12-3.png"/><Relationship Id="rId4" Type="http://schemas.openxmlformats.org/officeDocument/2006/relationships/image" Target="../media/image-12-4.png"/><Relationship Id="rId5" Type="http://schemas.openxmlformats.org/officeDocument/2006/relationships/image" Target="../media/image-12-5.png"/><Relationship Id="rId6" Type="http://schemas.openxmlformats.org/officeDocument/2006/relationships/image" Target="../media/image-12-6.png"/><Relationship Id="rId7" Type="http://schemas.openxmlformats.org/officeDocument/2006/relationships/image" Target="../media/image-12-7.png"/><Relationship Id="rId8" Type="http://schemas.openxmlformats.org/officeDocument/2006/relationships/image" Target="../media/image-12-8.png"/><Relationship Id="rId9" Type="http://schemas.openxmlformats.org/officeDocument/2006/relationships/slideLayout" Target="../slideLayouts/slideLayout1.xml"/><Relationship Id="rId10"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image" Target="../media/image-13-1.png"/><Relationship Id="rId2" Type="http://schemas.openxmlformats.org/officeDocument/2006/relationships/image" Target="../media/image-13-2.png"/><Relationship Id="rId3" Type="http://schemas.openxmlformats.org/officeDocument/2006/relationships/image" Target="../media/image-13-3.png"/><Relationship Id="rId4" Type="http://schemas.openxmlformats.org/officeDocument/2006/relationships/image" Target="../media/image-13-4.png"/><Relationship Id="rId5" Type="http://schemas.openxmlformats.org/officeDocument/2006/relationships/image" Target="../media/image-13-5.png"/><Relationship Id="rId6" Type="http://schemas.openxmlformats.org/officeDocument/2006/relationships/image" Target="../media/image-13-6.png"/><Relationship Id="rId7" Type="http://schemas.openxmlformats.org/officeDocument/2006/relationships/image" Target="../media/image-13-7.png"/><Relationship Id="rId8" Type="http://schemas.openxmlformats.org/officeDocument/2006/relationships/image" Target="../media/image-13-8.png"/><Relationship Id="rId9" Type="http://schemas.openxmlformats.org/officeDocument/2006/relationships/image" Target="../media/image-13-9.png"/><Relationship Id="rId10" Type="http://schemas.openxmlformats.org/officeDocument/2006/relationships/slideLayout" Target="../slideLayouts/slideLayout1.xml"/><Relationship Id="rId11"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image" Target="../media/image-14-1.png"/><Relationship Id="rId2" Type="http://schemas.openxmlformats.org/officeDocument/2006/relationships/image" Target="../media/image-14-2.png"/><Relationship Id="rId3" Type="http://schemas.openxmlformats.org/officeDocument/2006/relationships/image" Target="../media/image-14-3.png"/><Relationship Id="rId4" Type="http://schemas.openxmlformats.org/officeDocument/2006/relationships/image" Target="../media/image-14-4.png"/><Relationship Id="rId5" Type="http://schemas.openxmlformats.org/officeDocument/2006/relationships/image" Target="../media/image-14-5.png"/><Relationship Id="rId6" Type="http://schemas.openxmlformats.org/officeDocument/2006/relationships/image" Target="../media/image-14-6.png"/><Relationship Id="rId7" Type="http://schemas.openxmlformats.org/officeDocument/2006/relationships/image" Target="../media/image-14-7.png"/><Relationship Id="rId8" Type="http://schemas.openxmlformats.org/officeDocument/2006/relationships/image" Target="../media/image-14-8.png"/><Relationship Id="rId9" Type="http://schemas.openxmlformats.org/officeDocument/2006/relationships/image" Target="../media/image-14-9.png"/><Relationship Id="rId10" Type="http://schemas.openxmlformats.org/officeDocument/2006/relationships/slideLayout" Target="../slideLayouts/slideLayout1.xml"/><Relationship Id="rId11"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image" Target="../media/image-15-2.png"/><Relationship Id="rId3" Type="http://schemas.openxmlformats.org/officeDocument/2006/relationships/image" Target="../media/image-15-3.png"/><Relationship Id="rId4" Type="http://schemas.openxmlformats.org/officeDocument/2006/relationships/image" Target="../media/image-15-4.png"/><Relationship Id="rId5" Type="http://schemas.openxmlformats.org/officeDocument/2006/relationships/slideLayout" Target="../slideLayouts/slideLayout1.xml"/><Relationship Id="rId6"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image" Target="../media/image-16-2.png"/><Relationship Id="rId3" Type="http://schemas.openxmlformats.org/officeDocument/2006/relationships/slideLayout" Target="../slideLayouts/slideLayout1.xml"/><Relationship Id="rId4"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image" Target="../media/image-17-2.png"/><Relationship Id="rId3" Type="http://schemas.openxmlformats.org/officeDocument/2006/relationships/slideLayout" Target="../slideLayouts/slideLayout1.xml"/><Relationship Id="rId4"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1.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slideLayout" Target="../slideLayouts/slideLayout1.xml"/><Relationship Id="rId3"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slideLayout" Target="../slideLayouts/slideLayout1.xml"/><Relationship Id="rId3"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png"/><Relationship Id="rId2" Type="http://schemas.openxmlformats.org/officeDocument/2006/relationships/slideLayout" Target="../slideLayouts/slideLayout1.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image" Target="../media/image-22-1.png"/><Relationship Id="rId2" Type="http://schemas.openxmlformats.org/officeDocument/2006/relationships/slideLayout" Target="../slideLayouts/slideLayout1.xml"/><Relationship Id="rId3"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1.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1.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image" Target="../media/image-25-1.png"/><Relationship Id="rId2" Type="http://schemas.openxmlformats.org/officeDocument/2006/relationships/image" Target="../media/image-25-2.png"/><Relationship Id="rId3" Type="http://schemas.openxmlformats.org/officeDocument/2006/relationships/image" Target="../media/image-25-3.png"/><Relationship Id="rId4" Type="http://schemas.openxmlformats.org/officeDocument/2006/relationships/image" Target="../media/image-25-4.png"/><Relationship Id="rId5" Type="http://schemas.openxmlformats.org/officeDocument/2006/relationships/image" Target="../media/image-25-5.png"/><Relationship Id="rId6" Type="http://schemas.openxmlformats.org/officeDocument/2006/relationships/slideLayout" Target="../slideLayouts/slideLayout1.xml"/><Relationship Id="rId7"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slideLayout" Target="../slideLayouts/slideLayout1.xml"/><Relationship Id="rId3"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png"/><Relationship Id="rId2" Type="http://schemas.openxmlformats.org/officeDocument/2006/relationships/slideLayout" Target="../slideLayouts/slideLayout1.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slideLayout" Target="../slideLayouts/slideLayout1.xml"/><Relationship Id="rId3"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image" Target="../media/image-29-1.png"/><Relationship Id="rId2" Type="http://schemas.openxmlformats.org/officeDocument/2006/relationships/slideLayout" Target="../slideLayouts/slideLayout1.xml"/><Relationship Id="rId3" Type="http://schemas.openxmlformats.org/officeDocument/2006/relationships/notesSlide" Target="../notesSlides/notesSlide29.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526277"/>
                </a:solidFill>
                <a:latin typeface="IBM Plex Sans" pitchFamily="34" charset="0"/>
                <a:ea typeface="IBM Plex Sans" pitchFamily="34" charset="-122"/>
                <a:cs typeface="IBM Plex Sans" pitchFamily="34" charset="-120"/>
              </a:rPr>
              <a:t>IA Agent Building · Módulo 3 · Implementación y monitoreo</a:t>
            </a:r>
            <a:endParaRPr lang="en-US" sz="1600" dirty="0"/>
          </a:p>
        </p:txBody>
      </p:sp>
      <p:sp>
        <p:nvSpPr>
          <p:cNvPr id="3" name="Text 1"/>
          <p:cNvSpPr/>
          <p:nvPr/>
        </p:nvSpPr>
        <p:spPr>
          <a:xfrm>
            <a:off x="812800" y="1296392"/>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S08 · Despliegue en producción con HF Spaces</a:t>
            </a:r>
            <a:endParaRPr lang="en-US" sz="3600" dirty="0"/>
          </a:p>
        </p:txBody>
      </p:sp>
      <p:sp>
        <p:nvSpPr>
          <p:cNvPr id="4" name="Shape 2"/>
          <p:cNvSpPr/>
          <p:nvPr/>
        </p:nvSpPr>
        <p:spPr>
          <a:xfrm>
            <a:off x="812800" y="2006997"/>
            <a:ext cx="1016000" cy="50800"/>
          </a:xfrm>
          <a:prstGeom prst="roundRect">
            <a:avLst>
              <a:gd name="adj" fmla="val 50000"/>
            </a:avLst>
          </a:prstGeom>
          <a:solidFill>
            <a:srgbClr val="FF5733"/>
          </a:solidFill>
          <a:ln/>
        </p:spPr>
      </p:sp>
      <p:sp>
        <p:nvSpPr>
          <p:cNvPr id="5" name="Shape 3"/>
          <p:cNvSpPr/>
          <p:nvPr/>
        </p:nvSpPr>
        <p:spPr>
          <a:xfrm>
            <a:off x="819150" y="4066381"/>
            <a:ext cx="3373934" cy="1769269"/>
          </a:xfrm>
          <a:prstGeom prst="roundRect">
            <a:avLst>
              <a:gd name="adj" fmla="val 5384"/>
            </a:avLst>
          </a:prstGeom>
          <a:solidFill>
            <a:srgbClr val="FFFFFF"/>
          </a:solidFill>
          <a:ln w="12700">
            <a:solidFill>
              <a:srgbClr val="CED8E3"/>
            </a:solidFill>
            <a:prstDash val="solid"/>
          </a:ln>
        </p:spPr>
      </p:sp>
      <p:sp>
        <p:nvSpPr>
          <p:cNvPr id="6" name="Text 4"/>
          <p:cNvSpPr/>
          <p:nvPr/>
        </p:nvSpPr>
        <p:spPr>
          <a:xfrm>
            <a:off x="1079500" y="4301331"/>
            <a:ext cx="2938831"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Hoy</a:t>
            </a:r>
            <a:endParaRPr lang="en-US" sz="1600" dirty="0"/>
          </a:p>
        </p:txBody>
      </p:sp>
      <p:sp>
        <p:nvSpPr>
          <p:cNvPr id="7" name="Text 5"/>
          <p:cNvSpPr/>
          <p:nvPr/>
        </p:nvSpPr>
        <p:spPr>
          <a:xfrm>
            <a:off x="1079500" y="4759523"/>
            <a:ext cx="2938831" cy="866577"/>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agente deja de vivir en tu terminal y recibe una URL pública.</a:t>
            </a:r>
            <a:endParaRPr lang="en-US" sz="1600" dirty="0"/>
          </a:p>
        </p:txBody>
      </p:sp>
      <p:sp>
        <p:nvSpPr>
          <p:cNvPr id="8" name="Shape 6"/>
          <p:cNvSpPr/>
          <p:nvPr/>
        </p:nvSpPr>
        <p:spPr>
          <a:xfrm>
            <a:off x="4408984" y="4066381"/>
            <a:ext cx="3374033" cy="1769269"/>
          </a:xfrm>
          <a:prstGeom prst="roundRect">
            <a:avLst>
              <a:gd name="adj" fmla="val 5384"/>
            </a:avLst>
          </a:prstGeom>
          <a:solidFill>
            <a:srgbClr val="FFFFFF"/>
          </a:solidFill>
          <a:ln w="12700">
            <a:solidFill>
              <a:srgbClr val="CED8E3"/>
            </a:solidFill>
            <a:prstDash val="solid"/>
          </a:ln>
        </p:spPr>
      </p:sp>
      <p:sp>
        <p:nvSpPr>
          <p:cNvPr id="9" name="Text 7"/>
          <p:cNvSpPr/>
          <p:nvPr/>
        </p:nvSpPr>
        <p:spPr>
          <a:xfrm>
            <a:off x="4669334" y="4301331"/>
            <a:ext cx="2938933"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Duración</a:t>
            </a:r>
            <a:endParaRPr lang="en-US" sz="1600" dirty="0"/>
          </a:p>
        </p:txBody>
      </p:sp>
      <p:sp>
        <p:nvSpPr>
          <p:cNvPr id="10" name="Text 8"/>
          <p:cNvSpPr/>
          <p:nvPr/>
        </p:nvSpPr>
        <p:spPr>
          <a:xfrm>
            <a:off x="4669334" y="4759523"/>
            <a:ext cx="2938933"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Semana 4 · jueves · 6 h</a:t>
            </a:r>
            <a:endParaRPr lang="en-US" sz="1600" dirty="0"/>
          </a:p>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2.5 h teoría · 3.5 h práctica</a:t>
            </a:r>
            <a:endParaRPr lang="en-US" sz="1600" dirty="0"/>
          </a:p>
        </p:txBody>
      </p:sp>
      <p:sp>
        <p:nvSpPr>
          <p:cNvPr id="11" name="Shape 9"/>
          <p:cNvSpPr/>
          <p:nvPr/>
        </p:nvSpPr>
        <p:spPr>
          <a:xfrm>
            <a:off x="7998916" y="4066381"/>
            <a:ext cx="3373934" cy="1769269"/>
          </a:xfrm>
          <a:prstGeom prst="roundRect">
            <a:avLst>
              <a:gd name="adj" fmla="val 5384"/>
            </a:avLst>
          </a:prstGeom>
          <a:solidFill>
            <a:srgbClr val="FFFFFF"/>
          </a:solidFill>
          <a:ln w="12700">
            <a:solidFill>
              <a:srgbClr val="CED8E3"/>
            </a:solidFill>
            <a:prstDash val="solid"/>
          </a:ln>
        </p:spPr>
      </p:sp>
      <p:sp>
        <p:nvSpPr>
          <p:cNvPr id="12" name="Text 10"/>
          <p:cNvSpPr/>
          <p:nvPr/>
        </p:nvSpPr>
        <p:spPr>
          <a:xfrm>
            <a:off x="8259266" y="4301331"/>
            <a:ext cx="2938831"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Hito</a:t>
            </a:r>
            <a:endParaRPr lang="en-US" sz="1600" dirty="0"/>
          </a:p>
        </p:txBody>
      </p:sp>
      <p:sp>
        <p:nvSpPr>
          <p:cNvPr id="13" name="Text 11"/>
          <p:cNvSpPr/>
          <p:nvPr/>
        </p:nvSpPr>
        <p:spPr>
          <a:xfrm>
            <a:off x="8259266" y="4759523"/>
            <a:ext cx="2938831"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Avance 1 del M3: arquitectura de despliegue</a:t>
            </a:r>
            <a:endParaRPr lang="en-US" sz="1600" dirty="0"/>
          </a:p>
        </p:txBody>
      </p:sp>
      <p:sp>
        <p:nvSpPr>
          <p:cNvPr id="14" name="Text 1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01/29</a:t>
            </a:r>
            <a:endParaRPr lang="en-US" sz="1200" dirty="0"/>
          </a:p>
        </p:txBody>
      </p:sp>
      <p:pic>
        <p:nvPicPr>
          <p:cNvPr id="15"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Pase de entrada: llegas con el Space creado</a:t>
            </a:r>
            <a:endParaRPr lang="en-US" sz="3600" dirty="0"/>
          </a:p>
        </p:txBody>
      </p:sp>
      <p:sp>
        <p:nvSpPr>
          <p:cNvPr id="3" name="Shape 1"/>
          <p:cNvSpPr/>
          <p:nvPr/>
        </p:nvSpPr>
        <p:spPr>
          <a:xfrm>
            <a:off x="819150" y="1580555"/>
            <a:ext cx="5130800" cy="3134816"/>
          </a:xfrm>
          <a:prstGeom prst="roundRect">
            <a:avLst>
              <a:gd name="adj" fmla="val 3038"/>
            </a:avLst>
          </a:prstGeom>
          <a:solidFill>
            <a:srgbClr val="FFFFFF"/>
          </a:solidFill>
          <a:ln w="12700">
            <a:solidFill>
              <a:srgbClr val="CED8E3"/>
            </a:solidFill>
            <a:prstDash val="solid"/>
          </a:ln>
        </p:spPr>
      </p:sp>
      <p:sp>
        <p:nvSpPr>
          <p:cNvPr id="4" name="Text 2"/>
          <p:cNvSpPr/>
          <p:nvPr/>
        </p:nvSpPr>
        <p:spPr>
          <a:xfrm>
            <a:off x="1079500" y="1815505"/>
            <a:ext cx="4748403"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Pre-work · 1 h</a:t>
            </a:r>
            <a:endParaRPr lang="en-US" sz="2200" dirty="0"/>
          </a:p>
        </p:txBody>
      </p:sp>
      <p:sp>
        <p:nvSpPr>
          <p:cNvPr id="5" name="Text 3"/>
          <p:cNvSpPr/>
          <p:nvPr/>
        </p:nvSpPr>
        <p:spPr>
          <a:xfrm>
            <a:off x="1079500" y="2272109"/>
            <a:ext cx="4748403"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conceptos-previos.md, resuelto antes de clase</a:t>
            </a:r>
            <a:endParaRPr lang="en-US" sz="1400" dirty="0"/>
          </a:p>
        </p:txBody>
      </p:sp>
      <p:sp>
        <p:nvSpPr>
          <p:cNvPr id="6" name="Text 4"/>
          <p:cNvSpPr/>
          <p:nvPr/>
        </p:nvSpPr>
        <p:spPr>
          <a:xfrm>
            <a:off x="1079500" y="2628404"/>
            <a:ext cx="4748403" cy="1625600"/>
          </a:xfrm>
          <a:prstGeom prst="rect">
            <a:avLst/>
          </a:prstGeom>
          <a:noFill/>
          <a:ln/>
        </p:spPr>
        <p:txBody>
          <a:bodyPr wrap="square" lIns="0" tIns="0" rIns="0" bIns="0" rtlCol="0" anchor="t">
            <a:normAutofit/>
          </a:bodyPr>
          <a:lstStyle/>
          <a:p>
            <a:pPr algn="l" marL="228600" indent="-182880">
              <a:lnSpc>
                <a:spcPts val="2100"/>
              </a:lnSpc>
              <a:buSzPct val="100000"/>
              <a:buChar char="•"/>
            </a:pPr>
            <a:r>
              <a:rPr lang="en-US" sz="1500" dirty="0">
                <a:solidFill>
                  <a:srgbClr val="1E293B"/>
                </a:solidFill>
                <a:latin typeface="IBM Plex Sans" pitchFamily="34" charset="0"/>
                <a:ea typeface="IBM Plex Sans" pitchFamily="34" charset="-122"/>
                <a:cs typeface="IBM Plex Sans" pitchFamily="34" charset="-120"/>
              </a:rPr>
              <a:t>12-Factor: config por entorno</a:t>
            </a:r>
            <a:endParaRPr lang="en-US" sz="1500" dirty="0"/>
          </a:p>
          <a:p>
            <a:pPr algn="l" marL="228600" indent="-182880">
              <a:lnSpc>
                <a:spcPts val="2100"/>
              </a:lnSpc>
              <a:buSzPct val="100000"/>
              <a:buChar char="•"/>
            </a:pPr>
            <a:r>
              <a:rPr lang="en-US" sz="1500" dirty="0">
                <a:solidFill>
                  <a:srgbClr val="1E293B"/>
                </a:solidFill>
                <a:latin typeface="IBM Plex Sans" pitchFamily="34" charset="0"/>
                <a:ea typeface="IBM Plex Sans" pitchFamily="34" charset="-122"/>
                <a:cs typeface="IBM Plex Sans" pitchFamily="34" charset="-120"/>
              </a:rPr>
              <a:t>Contenedores: imagen, capa, Dockerfile</a:t>
            </a:r>
            <a:endParaRPr lang="en-US" sz="1500" dirty="0"/>
          </a:p>
          <a:p>
            <a:pPr algn="l" marL="228600" indent="-182880">
              <a:lnSpc>
                <a:spcPts val="2100"/>
              </a:lnSpc>
              <a:buSzPct val="100000"/>
              <a:buChar char="•"/>
            </a:pPr>
            <a:r>
              <a:rPr lang="en-US" sz="1500" dirty="0">
                <a:solidFill>
                  <a:srgbClr val="1E293B"/>
                </a:solidFill>
                <a:latin typeface="IBM Plex Sans" pitchFamily="34" charset="0"/>
                <a:ea typeface="IBM Plex Sans" pitchFamily="34" charset="-122"/>
                <a:cs typeface="IBM Plex Sans" pitchFamily="34" charset="-120"/>
              </a:rPr>
              <a:t>FastAPI: rutas, Pydantic, ASGI</a:t>
            </a:r>
            <a:endParaRPr lang="en-US" sz="1500" dirty="0"/>
          </a:p>
          <a:p>
            <a:pPr algn="l" marL="228600" indent="-182880">
              <a:lnSpc>
                <a:spcPts val="2100"/>
              </a:lnSpc>
              <a:buSzPct val="100000"/>
              <a:buChar char="•"/>
            </a:pPr>
            <a:r>
              <a:rPr lang="en-US" sz="1500" dirty="0">
                <a:solidFill>
                  <a:srgbClr val="1E293B"/>
                </a:solidFill>
                <a:latin typeface="IBM Plex Sans" pitchFamily="34" charset="0"/>
                <a:ea typeface="IBM Plex Sans" pitchFamily="34" charset="-122"/>
                <a:cs typeface="IBM Plex Sans" pitchFamily="34" charset="-120"/>
              </a:rPr>
              <a:t>Health check: para qué sirve</a:t>
            </a:r>
            <a:endParaRPr lang="en-US" sz="1500" dirty="0"/>
          </a:p>
          <a:p>
            <a:pPr algn="l" marL="228600" indent="-182880">
              <a:lnSpc>
                <a:spcPts val="2100"/>
              </a:lnSpc>
              <a:buSzPct val="100000"/>
              <a:buChar char="•"/>
            </a:pPr>
            <a:r>
              <a:rPr lang="en-US" sz="1500" dirty="0">
                <a:solidFill>
                  <a:srgbClr val="1E293B"/>
                </a:solidFill>
                <a:latin typeface="IBM Plex Sans" pitchFamily="34" charset="0"/>
                <a:ea typeface="IBM Plex Sans" pitchFamily="34" charset="-122"/>
                <a:cs typeface="IBM Plex Sans" pitchFamily="34" charset="-120"/>
              </a:rPr>
              <a:t>Space secrets frente a .env local</a:t>
            </a:r>
            <a:endParaRPr lang="en-US" sz="1500" dirty="0"/>
          </a:p>
          <a:p>
            <a:pPr algn="l" marL="228600" indent="-182880">
              <a:lnSpc>
                <a:spcPts val="2100"/>
              </a:lnSpc>
              <a:buSzPct val="100000"/>
              <a:buChar char="•"/>
            </a:pPr>
            <a:r>
              <a:rPr lang="en-US" sz="1500" dirty="0">
                <a:solidFill>
                  <a:srgbClr val="1E293B"/>
                </a:solidFill>
                <a:latin typeface="IBM Plex Sans" pitchFamily="34" charset="0"/>
                <a:ea typeface="IBM Plex Sans" pitchFamily="34" charset="-122"/>
                <a:cs typeface="IBM Plex Sans" pitchFamily="34" charset="-120"/>
              </a:rPr>
              <a:t>git push a un remote que no es GitHub</a:t>
            </a:r>
            <a:endParaRPr lang="en-US" sz="1500" dirty="0"/>
          </a:p>
        </p:txBody>
      </p:sp>
      <p:sp>
        <p:nvSpPr>
          <p:cNvPr id="7" name="Shape 5"/>
          <p:cNvSpPr/>
          <p:nvPr/>
        </p:nvSpPr>
        <p:spPr>
          <a:xfrm>
            <a:off x="6223000" y="1586905"/>
            <a:ext cx="5143500" cy="3122116"/>
          </a:xfrm>
          <a:prstGeom prst="roundRect">
            <a:avLst>
              <a:gd name="adj" fmla="val 2847"/>
            </a:avLst>
          </a:prstGeom>
          <a:solidFill>
            <a:srgbClr val="FFF0EB"/>
          </a:solidFill>
          <a:ln w="25400">
            <a:solidFill>
              <a:srgbClr val="FF5733"/>
            </a:solidFill>
            <a:prstDash val="solid"/>
          </a:ln>
        </p:spPr>
      </p:sp>
      <p:sp>
        <p:nvSpPr>
          <p:cNvPr id="8" name="Text 6"/>
          <p:cNvSpPr/>
          <p:nvPr/>
        </p:nvSpPr>
        <p:spPr>
          <a:xfrm>
            <a:off x="6489700" y="1828205"/>
            <a:ext cx="4748403"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Verificación de entrada</a:t>
            </a:r>
            <a:endParaRPr lang="en-US" sz="2200" dirty="0"/>
          </a:p>
        </p:txBody>
      </p:sp>
      <p:sp>
        <p:nvSpPr>
          <p:cNvPr id="9" name="Text 7"/>
          <p:cNvSpPr/>
          <p:nvPr/>
        </p:nvSpPr>
        <p:spPr>
          <a:xfrm>
            <a:off x="6489700" y="2284809"/>
            <a:ext cx="4748403" cy="532011"/>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Cuenta de Hugging Face con un Space </a:t>
            </a:r>
            <a:r>
              <a:rPr lang="en-US" sz="1500" b="1" dirty="0">
                <a:solidFill>
                  <a:srgbClr val="1E293B"/>
                </a:solidFill>
                <a:latin typeface="IBM Plex Sans" pitchFamily="34" charset="0"/>
                <a:ea typeface="IBM Plex Sans" pitchFamily="34" charset="-122"/>
                <a:cs typeface="IBM Plex Sans" pitchFamily="34" charset="-120"/>
              </a:rPr>
              <a:t>vacío</a:t>
            </a:r>
            <a:r>
              <a:rPr lang="en-US" sz="1500" dirty="0">
                <a:solidFill>
                  <a:srgbClr val="1E293B"/>
                </a:solidFill>
                <a:latin typeface="IBM Plex Sans" pitchFamily="34" charset="0"/>
                <a:ea typeface="IBM Plex Sans" pitchFamily="34" charset="-122"/>
                <a:cs typeface="IBM Plex Sans" pitchFamily="34" charset="-120"/>
              </a:rPr>
              <a:t> (SDK: Docker)</a:t>
            </a:r>
            <a:endParaRPr lang="en-US" sz="1500" dirty="0"/>
          </a:p>
        </p:txBody>
      </p:sp>
      <p:sp>
        <p:nvSpPr>
          <p:cNvPr id="10" name="Shape 8"/>
          <p:cNvSpPr/>
          <p:nvPr/>
        </p:nvSpPr>
        <p:spPr>
          <a:xfrm>
            <a:off x="6489700" y="2918420"/>
            <a:ext cx="4610100" cy="583406"/>
          </a:xfrm>
          <a:prstGeom prst="roundRect">
            <a:avLst>
              <a:gd name="adj" fmla="val 4354"/>
            </a:avLst>
          </a:prstGeom>
          <a:solidFill>
            <a:srgbClr val="1E293B"/>
          </a:solidFill>
          <a:ln/>
        </p:spPr>
      </p:sp>
      <p:sp>
        <p:nvSpPr>
          <p:cNvPr id="11" name="Text 9"/>
          <p:cNvSpPr/>
          <p:nvPr/>
        </p:nvSpPr>
        <p:spPr>
          <a:xfrm>
            <a:off x="6718300" y="3096220"/>
            <a:ext cx="4277487"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git remote -v</a:t>
            </a:r>
            <a:endParaRPr lang="en-US" sz="1300" dirty="0"/>
          </a:p>
        </p:txBody>
      </p:sp>
      <p:sp>
        <p:nvSpPr>
          <p:cNvPr id="12" name="Text 10"/>
          <p:cNvSpPr/>
          <p:nvPr/>
        </p:nvSpPr>
        <p:spPr>
          <a:xfrm>
            <a:off x="6489700" y="3628827"/>
            <a:ext cx="4748403" cy="278705"/>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Debe listar tu remote del Space (por ejemplo, space).</a:t>
            </a:r>
            <a:endParaRPr lang="en-US" sz="1500" dirty="0"/>
          </a:p>
        </p:txBody>
      </p:sp>
      <p:sp>
        <p:nvSpPr>
          <p:cNvPr id="13" name="Text 11"/>
          <p:cNvSpPr/>
          <p:nvPr/>
        </p:nvSpPr>
        <p:spPr>
          <a:xfrm>
            <a:off x="6489700" y="4009132"/>
            <a:ext cx="4748403"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¿Aún no lo tienes? Créalo en huggingface.co/new-space antes de empezar.</a:t>
            </a:r>
            <a:endParaRPr lang="en-US" sz="1400" dirty="0"/>
          </a:p>
        </p:txBody>
      </p:sp>
      <p:sp>
        <p:nvSpPr>
          <p:cNvPr id="14" name="Text 1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02/29</a:t>
            </a:r>
            <a:endParaRPr lang="en-US" sz="1200" dirty="0"/>
          </a:p>
        </p:txBody>
      </p:sp>
      <p:pic>
        <p:nvPicPr>
          <p:cNvPr id="15"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vas a poder hacer al terminar</a:t>
            </a:r>
            <a:endParaRPr lang="en-US" sz="3600" dirty="0"/>
          </a:p>
        </p:txBody>
      </p:sp>
      <p:sp>
        <p:nvSpPr>
          <p:cNvPr id="3" name="Shape 1"/>
          <p:cNvSpPr/>
          <p:nvPr/>
        </p:nvSpPr>
        <p:spPr>
          <a:xfrm>
            <a:off x="819150" y="1580555"/>
            <a:ext cx="5181600" cy="874911"/>
          </a:xfrm>
          <a:prstGeom prst="roundRect">
            <a:avLst>
              <a:gd name="adj" fmla="val 10887"/>
            </a:avLst>
          </a:prstGeom>
          <a:solidFill>
            <a:srgbClr val="FFFFFF"/>
          </a:solidFill>
          <a:ln w="12700">
            <a:solidFill>
              <a:srgbClr val="CED8E3"/>
            </a:solidFill>
            <a:prstDash val="solid"/>
          </a:ln>
        </p:spPr>
      </p:sp>
      <p:sp>
        <p:nvSpPr>
          <p:cNvPr id="4" name="Text 2"/>
          <p:cNvSpPr/>
          <p:nvPr/>
        </p:nvSpPr>
        <p:spPr>
          <a:xfrm>
            <a:off x="1028700" y="1764705"/>
            <a:ext cx="149622"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1</a:t>
            </a:r>
            <a:endParaRPr lang="en-US" sz="2200" dirty="0"/>
          </a:p>
        </p:txBody>
      </p:sp>
      <p:sp>
        <p:nvSpPr>
          <p:cNvPr id="5" name="Text 3"/>
          <p:cNvSpPr/>
          <p:nvPr/>
        </p:nvSpPr>
        <p:spPr>
          <a:xfrm>
            <a:off x="1279922" y="1764705"/>
            <a:ext cx="4646616" cy="532011"/>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Explicar qué es “producción” para un agente y en qué se diferencia de un script que corre.</a:t>
            </a:r>
            <a:endParaRPr lang="en-US" sz="1500" dirty="0"/>
          </a:p>
        </p:txBody>
      </p:sp>
      <p:sp>
        <p:nvSpPr>
          <p:cNvPr id="6" name="Shape 4"/>
          <p:cNvSpPr/>
          <p:nvPr/>
        </p:nvSpPr>
        <p:spPr>
          <a:xfrm>
            <a:off x="6191250" y="1580555"/>
            <a:ext cx="5181600" cy="874911"/>
          </a:xfrm>
          <a:prstGeom prst="roundRect">
            <a:avLst>
              <a:gd name="adj" fmla="val 10887"/>
            </a:avLst>
          </a:prstGeom>
          <a:solidFill>
            <a:srgbClr val="FFFFFF"/>
          </a:solidFill>
          <a:ln w="12700">
            <a:solidFill>
              <a:srgbClr val="CED8E3"/>
            </a:solidFill>
            <a:prstDash val="solid"/>
          </a:ln>
        </p:spPr>
      </p:sp>
      <p:sp>
        <p:nvSpPr>
          <p:cNvPr id="7" name="Text 5"/>
          <p:cNvSpPr/>
          <p:nvPr/>
        </p:nvSpPr>
        <p:spPr>
          <a:xfrm>
            <a:off x="6400800" y="1764705"/>
            <a:ext cx="167680"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2</a:t>
            </a:r>
            <a:endParaRPr lang="en-US" sz="2200" dirty="0"/>
          </a:p>
        </p:txBody>
      </p:sp>
      <p:sp>
        <p:nvSpPr>
          <p:cNvPr id="8" name="Text 6"/>
          <p:cNvSpPr/>
          <p:nvPr/>
        </p:nvSpPr>
        <p:spPr>
          <a:xfrm>
            <a:off x="6670080" y="1764705"/>
            <a:ext cx="4628017" cy="532011"/>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Escribir un Dockerfile sin ejecutar Docker en local (P2) y explicar cada línea.</a:t>
            </a:r>
            <a:endParaRPr lang="en-US" sz="1500" dirty="0"/>
          </a:p>
        </p:txBody>
      </p:sp>
      <p:sp>
        <p:nvSpPr>
          <p:cNvPr id="9" name="Shape 7"/>
          <p:cNvSpPr/>
          <p:nvPr/>
        </p:nvSpPr>
        <p:spPr>
          <a:xfrm>
            <a:off x="819150" y="2645966"/>
            <a:ext cx="5181600" cy="1128216"/>
          </a:xfrm>
          <a:prstGeom prst="roundRect">
            <a:avLst>
              <a:gd name="adj" fmla="val 8443"/>
            </a:avLst>
          </a:prstGeom>
          <a:solidFill>
            <a:srgbClr val="FFFFFF"/>
          </a:solidFill>
          <a:ln w="12700">
            <a:solidFill>
              <a:srgbClr val="CED8E3"/>
            </a:solidFill>
            <a:prstDash val="solid"/>
          </a:ln>
        </p:spPr>
      </p:sp>
      <p:sp>
        <p:nvSpPr>
          <p:cNvPr id="10" name="Text 8"/>
          <p:cNvSpPr/>
          <p:nvPr/>
        </p:nvSpPr>
        <p:spPr>
          <a:xfrm>
            <a:off x="1028700" y="2830116"/>
            <a:ext cx="129977"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3</a:t>
            </a:r>
            <a:endParaRPr lang="en-US" sz="2200" dirty="0"/>
          </a:p>
        </p:txBody>
      </p:sp>
      <p:sp>
        <p:nvSpPr>
          <p:cNvPr id="11" name="Text 9"/>
          <p:cNvSpPr/>
          <p:nvPr/>
        </p:nvSpPr>
        <p:spPr>
          <a:xfrm>
            <a:off x="1260277" y="2830116"/>
            <a:ext cx="4666851" cy="785316"/>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Exponer el agente con FastAPI (/chat y /health) y explicar cómo el curso usa /health para verificar disponibilidad.</a:t>
            </a:r>
            <a:endParaRPr lang="en-US" sz="1500" dirty="0"/>
          </a:p>
        </p:txBody>
      </p:sp>
      <p:sp>
        <p:nvSpPr>
          <p:cNvPr id="12" name="Shape 10"/>
          <p:cNvSpPr/>
          <p:nvPr/>
        </p:nvSpPr>
        <p:spPr>
          <a:xfrm>
            <a:off x="6191250" y="2645966"/>
            <a:ext cx="5181600" cy="1128216"/>
          </a:xfrm>
          <a:prstGeom prst="roundRect">
            <a:avLst>
              <a:gd name="adj" fmla="val 8443"/>
            </a:avLst>
          </a:prstGeom>
          <a:solidFill>
            <a:srgbClr val="FFFFFF"/>
          </a:solidFill>
          <a:ln w="12700">
            <a:solidFill>
              <a:srgbClr val="CED8E3"/>
            </a:solidFill>
            <a:prstDash val="solid"/>
          </a:ln>
        </p:spPr>
      </p:sp>
      <p:sp>
        <p:nvSpPr>
          <p:cNvPr id="13" name="Text 11"/>
          <p:cNvSpPr/>
          <p:nvPr/>
        </p:nvSpPr>
        <p:spPr>
          <a:xfrm>
            <a:off x="6400800" y="2830116"/>
            <a:ext cx="205184"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4</a:t>
            </a:r>
            <a:endParaRPr lang="en-US" sz="2200" dirty="0"/>
          </a:p>
        </p:txBody>
      </p:sp>
      <p:sp>
        <p:nvSpPr>
          <p:cNvPr id="14" name="Text 12"/>
          <p:cNvSpPr/>
          <p:nvPr/>
        </p:nvSpPr>
        <p:spPr>
          <a:xfrm>
            <a:off x="6707584" y="2830116"/>
            <a:ext cx="4589387" cy="532011"/>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Gestionar secretos en la plataforma, no en el repositorio.</a:t>
            </a:r>
            <a:endParaRPr lang="en-US" sz="1500" dirty="0"/>
          </a:p>
        </p:txBody>
      </p:sp>
      <p:sp>
        <p:nvSpPr>
          <p:cNvPr id="15" name="Shape 13"/>
          <p:cNvSpPr/>
          <p:nvPr/>
        </p:nvSpPr>
        <p:spPr>
          <a:xfrm>
            <a:off x="819150" y="3964682"/>
            <a:ext cx="5181600" cy="874911"/>
          </a:xfrm>
          <a:prstGeom prst="roundRect">
            <a:avLst>
              <a:gd name="adj" fmla="val 10887"/>
            </a:avLst>
          </a:prstGeom>
          <a:solidFill>
            <a:srgbClr val="FFFFFF"/>
          </a:solidFill>
          <a:ln w="12700">
            <a:solidFill>
              <a:srgbClr val="CED8E3"/>
            </a:solidFill>
            <a:prstDash val="solid"/>
          </a:ln>
        </p:spPr>
      </p:sp>
      <p:sp>
        <p:nvSpPr>
          <p:cNvPr id="16" name="Text 14"/>
          <p:cNvSpPr/>
          <p:nvPr/>
        </p:nvSpPr>
        <p:spPr>
          <a:xfrm>
            <a:off x="1028700" y="4148832"/>
            <a:ext cx="187523"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5</a:t>
            </a:r>
            <a:endParaRPr lang="en-US" sz="2200" dirty="0"/>
          </a:p>
        </p:txBody>
      </p:sp>
      <p:sp>
        <p:nvSpPr>
          <p:cNvPr id="17" name="Text 15"/>
          <p:cNvSpPr/>
          <p:nvPr/>
        </p:nvSpPr>
        <p:spPr>
          <a:xfrm>
            <a:off x="1317823" y="4148832"/>
            <a:ext cx="4607578" cy="532011"/>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Proteger un endpoint público y explicar qué se protege: la cuota.</a:t>
            </a:r>
            <a:endParaRPr lang="en-US" sz="1500" dirty="0"/>
          </a:p>
        </p:txBody>
      </p:sp>
      <p:sp>
        <p:nvSpPr>
          <p:cNvPr id="18" name="Shape 16"/>
          <p:cNvSpPr/>
          <p:nvPr/>
        </p:nvSpPr>
        <p:spPr>
          <a:xfrm>
            <a:off x="6191250" y="3964682"/>
            <a:ext cx="5181600" cy="874911"/>
          </a:xfrm>
          <a:prstGeom prst="roundRect">
            <a:avLst>
              <a:gd name="adj" fmla="val 10887"/>
            </a:avLst>
          </a:prstGeom>
          <a:solidFill>
            <a:srgbClr val="FFFFFF"/>
          </a:solidFill>
          <a:ln w="12700">
            <a:solidFill>
              <a:srgbClr val="CED8E3"/>
            </a:solidFill>
            <a:prstDash val="solid"/>
          </a:ln>
        </p:spPr>
      </p:sp>
      <p:sp>
        <p:nvSpPr>
          <p:cNvPr id="19" name="Text 17"/>
          <p:cNvSpPr/>
          <p:nvPr/>
        </p:nvSpPr>
        <p:spPr>
          <a:xfrm>
            <a:off x="6400800" y="4148832"/>
            <a:ext cx="176312" cy="355005"/>
          </a:xfrm>
          <a:prstGeom prst="rect">
            <a:avLst/>
          </a:prstGeom>
          <a:noFill/>
          <a:ln/>
        </p:spPr>
        <p:txBody>
          <a:bodyPr wrap="square" lIns="0" tIns="0" rIns="0" bIns="0" rtlCol="0" anchor="t">
            <a:normAutofit/>
          </a:bodyPr>
          <a:lstStyle/>
          <a:p>
            <a:pPr algn="l" indent="0" marL="0">
              <a:lnSpc>
                <a:spcPts val="2596"/>
              </a:lnSpc>
              <a:buNone/>
            </a:pPr>
            <a:r>
              <a:rPr lang="en-US" sz="2200" b="1" dirty="0">
                <a:solidFill>
                  <a:srgbClr val="1E293B"/>
                </a:solidFill>
                <a:latin typeface="IBM Plex Sans" pitchFamily="34" charset="0"/>
                <a:ea typeface="IBM Plex Sans" pitchFamily="34" charset="-122"/>
                <a:cs typeface="IBM Plex Sans" pitchFamily="34" charset="-120"/>
              </a:rPr>
              <a:t>6</a:t>
            </a:r>
            <a:endParaRPr lang="en-US" sz="2200" dirty="0"/>
          </a:p>
        </p:txBody>
      </p:sp>
      <p:sp>
        <p:nvSpPr>
          <p:cNvPr id="20" name="Text 18"/>
          <p:cNvSpPr/>
          <p:nvPr/>
        </p:nvSpPr>
        <p:spPr>
          <a:xfrm>
            <a:off x="6678712" y="4148832"/>
            <a:ext cx="4619126" cy="532011"/>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Explicar el cold start y por qué tarda el primer request del tier gratuito.</a:t>
            </a:r>
            <a:endParaRPr lang="en-US" sz="1500" dirty="0"/>
          </a:p>
        </p:txBody>
      </p:sp>
      <p:sp>
        <p:nvSpPr>
          <p:cNvPr id="21" name="Text 19"/>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03/29</a:t>
            </a:r>
            <a:endParaRPr lang="en-US" sz="1200" dirty="0"/>
          </a:p>
        </p:txBody>
      </p:sp>
      <p:pic>
        <p:nvPicPr>
          <p:cNvPr id="22"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Producción es que otro lo invoque</a:t>
            </a:r>
            <a:endParaRPr lang="en-US" sz="3600" dirty="0"/>
          </a:p>
        </p:txBody>
      </p:sp>
      <p:sp>
        <p:nvSpPr>
          <p:cNvPr id="3" name="Shape 1"/>
          <p:cNvSpPr/>
          <p:nvPr/>
        </p:nvSpPr>
        <p:spPr>
          <a:xfrm>
            <a:off x="819150" y="1580555"/>
            <a:ext cx="5067300" cy="2677517"/>
          </a:xfrm>
          <a:prstGeom prst="roundRect">
            <a:avLst>
              <a:gd name="adj" fmla="val 3557"/>
            </a:avLst>
          </a:prstGeom>
          <a:solidFill>
            <a:srgbClr val="FFFFFF"/>
          </a:solidFill>
          <a:ln w="12700">
            <a:solidFill>
              <a:srgbClr val="CED8E3"/>
            </a:solidFill>
            <a:prstDash val="solid"/>
          </a:ln>
        </p:spPr>
      </p:sp>
      <p:sp>
        <p:nvSpPr>
          <p:cNvPr id="4" name="Text 2"/>
          <p:cNvSpPr/>
          <p:nvPr/>
        </p:nvSpPr>
        <p:spPr>
          <a:xfrm>
            <a:off x="2613720" y="1840905"/>
            <a:ext cx="1528862"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Del L1 al L7</a:t>
            </a:r>
            <a:endParaRPr lang="en-US" sz="2200" dirty="0"/>
          </a:p>
        </p:txBody>
      </p:sp>
      <p:sp>
        <p:nvSpPr>
          <p:cNvPr id="5" name="Shape 3"/>
          <p:cNvSpPr/>
          <p:nvPr/>
        </p:nvSpPr>
        <p:spPr>
          <a:xfrm>
            <a:off x="1581150" y="2329259"/>
            <a:ext cx="3543300" cy="481806"/>
          </a:xfrm>
          <a:prstGeom prst="roundRect">
            <a:avLst>
              <a:gd name="adj" fmla="val 19769"/>
            </a:avLst>
          </a:prstGeom>
          <a:solidFill>
            <a:srgbClr val="FFFFFF"/>
          </a:solidFill>
          <a:ln w="12700">
            <a:solidFill>
              <a:srgbClr val="1E293B"/>
            </a:solidFill>
            <a:prstDash val="solid"/>
          </a:ln>
        </p:spPr>
      </p:sp>
      <p:sp>
        <p:nvSpPr>
          <p:cNvPr id="6" name="Text 4"/>
          <p:cNvSpPr/>
          <p:nvPr/>
        </p:nvSpPr>
        <p:spPr>
          <a:xfrm>
            <a:off x="1717675" y="2462609"/>
            <a:ext cx="32702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Tú, en tu terminal</a:t>
            </a:r>
            <a:endParaRPr lang="en-US" sz="1400" dirty="0"/>
          </a:p>
        </p:txBody>
      </p:sp>
      <p:pic>
        <p:nvPicPr>
          <p:cNvPr id="7" name="Image 0" descr="arrow-down">    </p:cNvPr>
          <p:cNvPicPr>
            <a:picLocks noChangeAspect="1"/>
          </p:cNvPicPr>
          <p:nvPr/>
        </p:nvPicPr>
        <p:blipFill>
          <a:blip r:embed="rId1"/>
          <a:srcRect l="0" r="0" t="0" b="0"/>
          <a:stretch/>
        </p:blipFill>
        <p:spPr>
          <a:xfrm>
            <a:off x="2222500" y="2969816"/>
            <a:ext cx="228600" cy="355600"/>
          </a:xfrm>
          <a:prstGeom prst="rect">
            <a:avLst/>
          </a:prstGeom>
        </p:spPr>
      </p:pic>
      <p:sp>
        <p:nvSpPr>
          <p:cNvPr id="8" name="Text 5"/>
          <p:cNvSpPr/>
          <p:nvPr/>
        </p:nvSpPr>
        <p:spPr>
          <a:xfrm>
            <a:off x="2578100" y="3040063"/>
            <a:ext cx="196215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ejecutas</a:t>
            </a:r>
            <a:endParaRPr lang="en-US" sz="1400" dirty="0"/>
          </a:p>
        </p:txBody>
      </p:sp>
      <p:sp>
        <p:nvSpPr>
          <p:cNvPr id="9" name="Shape 6"/>
          <p:cNvSpPr/>
          <p:nvPr/>
        </p:nvSpPr>
        <p:spPr>
          <a:xfrm>
            <a:off x="1581150" y="3484166"/>
            <a:ext cx="3543300" cy="481806"/>
          </a:xfrm>
          <a:prstGeom prst="roundRect">
            <a:avLst>
              <a:gd name="adj" fmla="val 19769"/>
            </a:avLst>
          </a:prstGeom>
          <a:solidFill>
            <a:srgbClr val="FFFFFF"/>
          </a:solidFill>
          <a:ln w="12700">
            <a:solidFill>
              <a:srgbClr val="1E293B"/>
            </a:solidFill>
            <a:prstDash val="solid"/>
          </a:ln>
        </p:spPr>
      </p:sp>
      <p:sp>
        <p:nvSpPr>
          <p:cNvPr id="10" name="Text 7"/>
          <p:cNvSpPr/>
          <p:nvPr/>
        </p:nvSpPr>
        <p:spPr>
          <a:xfrm>
            <a:off x="1717675" y="3617516"/>
            <a:ext cx="32702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agent.py con tu .env</a:t>
            </a:r>
            <a:endParaRPr lang="en-US" sz="1400" dirty="0"/>
          </a:p>
        </p:txBody>
      </p:sp>
      <p:sp>
        <p:nvSpPr>
          <p:cNvPr id="11" name="Shape 8"/>
          <p:cNvSpPr/>
          <p:nvPr/>
        </p:nvSpPr>
        <p:spPr>
          <a:xfrm>
            <a:off x="6305550" y="1580555"/>
            <a:ext cx="5067300" cy="2677517"/>
          </a:xfrm>
          <a:prstGeom prst="roundRect">
            <a:avLst>
              <a:gd name="adj" fmla="val 3557"/>
            </a:avLst>
          </a:prstGeom>
          <a:solidFill>
            <a:srgbClr val="FFFFFF"/>
          </a:solidFill>
          <a:ln w="12700">
            <a:solidFill>
              <a:srgbClr val="CED8E3"/>
            </a:solidFill>
            <a:prstDash val="solid"/>
          </a:ln>
        </p:spPr>
      </p:sp>
      <p:sp>
        <p:nvSpPr>
          <p:cNvPr id="12" name="Text 9"/>
          <p:cNvSpPr/>
          <p:nvPr/>
        </p:nvSpPr>
        <p:spPr>
          <a:xfrm>
            <a:off x="7904857" y="1840905"/>
            <a:ext cx="1924747" cy="355005"/>
          </a:xfrm>
          <a:prstGeom prst="rect">
            <a:avLst/>
          </a:prstGeom>
          <a:noFill/>
          <a:ln/>
        </p:spPr>
        <p:txBody>
          <a:bodyPr wrap="square" lIns="0" tIns="0" rIns="0" bIns="0" rtlCol="0" anchor="t">
            <a:normAutofit/>
          </a:bodyPr>
          <a:lstStyle/>
          <a:p>
            <a:pPr algn="l" indent="0" marL="0">
              <a:lnSpc>
                <a:spcPts val="2596"/>
              </a:lnSpc>
              <a:buNone/>
            </a:pPr>
            <a:r>
              <a:rPr lang="en-US" sz="2200" dirty="0">
                <a:solidFill>
                  <a:srgbClr val="1E293B"/>
                </a:solidFill>
                <a:latin typeface="IBM Plex Sans" pitchFamily="34" charset="0"/>
                <a:ea typeface="IBM Plex Sans" pitchFamily="34" charset="-122"/>
                <a:cs typeface="IBM Plex Sans" pitchFamily="34" charset="-120"/>
              </a:rPr>
              <a:t>Desde hoy · L8</a:t>
            </a:r>
            <a:endParaRPr lang="en-US" sz="2200" dirty="0"/>
          </a:p>
        </p:txBody>
      </p:sp>
      <p:sp>
        <p:nvSpPr>
          <p:cNvPr id="13" name="Shape 10"/>
          <p:cNvSpPr/>
          <p:nvPr/>
        </p:nvSpPr>
        <p:spPr>
          <a:xfrm>
            <a:off x="7067550" y="2329259"/>
            <a:ext cx="3543300" cy="481806"/>
          </a:xfrm>
          <a:prstGeom prst="roundRect">
            <a:avLst>
              <a:gd name="adj" fmla="val 19769"/>
            </a:avLst>
          </a:prstGeom>
          <a:solidFill>
            <a:srgbClr val="FFFFFF"/>
          </a:solidFill>
          <a:ln w="12700">
            <a:solidFill>
              <a:srgbClr val="1E293B"/>
            </a:solidFill>
            <a:prstDash val="solid"/>
          </a:ln>
        </p:spPr>
      </p:sp>
      <p:sp>
        <p:nvSpPr>
          <p:cNvPr id="14" name="Text 11"/>
          <p:cNvSpPr/>
          <p:nvPr/>
        </p:nvSpPr>
        <p:spPr>
          <a:xfrm>
            <a:off x="7204075" y="2462609"/>
            <a:ext cx="32702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Evaluador con la key</a:t>
            </a:r>
            <a:endParaRPr lang="en-US" sz="1400" dirty="0"/>
          </a:p>
        </p:txBody>
      </p:sp>
      <p:pic>
        <p:nvPicPr>
          <p:cNvPr id="15" name="Image 1" descr="arrow-down">    </p:cNvPr>
          <p:cNvPicPr>
            <a:picLocks noChangeAspect="1"/>
          </p:cNvPicPr>
          <p:nvPr/>
        </p:nvPicPr>
        <p:blipFill>
          <a:blip r:embed="rId2"/>
          <a:srcRect l="0" r="0" t="0" b="0"/>
          <a:stretch/>
        </p:blipFill>
        <p:spPr>
          <a:xfrm>
            <a:off x="7708900" y="2969816"/>
            <a:ext cx="228600" cy="355600"/>
          </a:xfrm>
          <a:prstGeom prst="rect">
            <a:avLst/>
          </a:prstGeom>
        </p:spPr>
      </p:pic>
      <p:sp>
        <p:nvSpPr>
          <p:cNvPr id="16" name="Text 12"/>
          <p:cNvSpPr/>
          <p:nvPr/>
        </p:nvSpPr>
        <p:spPr>
          <a:xfrm>
            <a:off x="8064500" y="3040063"/>
            <a:ext cx="196215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invoca por HTTPS</a:t>
            </a:r>
            <a:endParaRPr lang="en-US" sz="1400" dirty="0"/>
          </a:p>
        </p:txBody>
      </p:sp>
      <p:sp>
        <p:nvSpPr>
          <p:cNvPr id="17" name="Shape 13"/>
          <p:cNvSpPr/>
          <p:nvPr/>
        </p:nvSpPr>
        <p:spPr>
          <a:xfrm>
            <a:off x="7073900" y="3490516"/>
            <a:ext cx="3530600" cy="494506"/>
          </a:xfrm>
          <a:prstGeom prst="roundRect">
            <a:avLst>
              <a:gd name="adj" fmla="val 17978"/>
            </a:avLst>
          </a:prstGeom>
          <a:solidFill>
            <a:srgbClr val="FFF0EB"/>
          </a:solidFill>
          <a:ln w="25400">
            <a:solidFill>
              <a:srgbClr val="FF5733"/>
            </a:solidFill>
            <a:prstDash val="solid"/>
          </a:ln>
        </p:spPr>
      </p:sp>
      <p:sp>
        <p:nvSpPr>
          <p:cNvPr id="18" name="Text 14"/>
          <p:cNvSpPr/>
          <p:nvPr/>
        </p:nvSpPr>
        <p:spPr>
          <a:xfrm>
            <a:off x="7217156" y="3630216"/>
            <a:ext cx="32440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URL pública del Space</a:t>
            </a:r>
            <a:endParaRPr lang="en-US" sz="1400" dirty="0"/>
          </a:p>
        </p:txBody>
      </p:sp>
      <p:sp>
        <p:nvSpPr>
          <p:cNvPr id="19" name="Text 15"/>
          <p:cNvSpPr/>
          <p:nvPr/>
        </p:nvSpPr>
        <p:spPr>
          <a:xfrm>
            <a:off x="812800" y="4518422"/>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No basta con que corra: otro lo invoca sin ti delante, incluido un evaluador que nunca vio tu código.</a:t>
            </a:r>
            <a:endParaRPr lang="en-US" sz="1600" dirty="0"/>
          </a:p>
        </p:txBody>
      </p:sp>
      <p:sp>
        <p:nvSpPr>
          <p:cNvPr id="20" name="Text 16"/>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04/29</a:t>
            </a:r>
            <a:endParaRPr lang="en-US" sz="1200" dirty="0"/>
          </a:p>
        </p:txBody>
      </p:sp>
      <p:pic>
        <p:nvPicPr>
          <p:cNvPr id="21" name="Image 2" descr="AriwaLabs">    </p:cNvPr>
          <p:cNvPicPr>
            <a:picLocks noChangeAspect="1"/>
          </p:cNvPicPr>
          <p:nvPr/>
        </p:nvPicPr>
        <p:blipFill>
          <a:blip r:embed="rId3"/>
          <a:srcRect l="-9345" r="-9345" t="0" b="0"/>
          <a:stretch/>
        </p:blipFill>
        <p:spPr>
          <a:xfrm>
            <a:off x="10680700" y="6223000"/>
            <a:ext cx="698500" cy="254000"/>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agente, detrás de una URL pública</a:t>
            </a:r>
            <a:endParaRPr lang="en-US" sz="3600" dirty="0"/>
          </a:p>
        </p:txBody>
      </p:sp>
      <p:sp>
        <p:nvSpPr>
          <p:cNvPr id="3" name="Shape 1"/>
          <p:cNvSpPr/>
          <p:nvPr/>
        </p:nvSpPr>
        <p:spPr>
          <a:xfrm>
            <a:off x="2425700" y="1580555"/>
            <a:ext cx="7340600" cy="4203700"/>
          </a:xfrm>
          <a:prstGeom prst="roundRect">
            <a:avLst>
              <a:gd name="adj" fmla="val 2266"/>
            </a:avLst>
          </a:prstGeom>
          <a:solidFill>
            <a:srgbClr val="FFFFFF"/>
          </a:solidFill>
          <a:ln w="12700">
            <a:solidFill>
              <a:srgbClr val="CED8E3"/>
            </a:solidFill>
            <a:prstDash val="solid"/>
          </a:ln>
        </p:spPr>
      </p:sp>
      <p:pic>
        <p:nvPicPr>
          <p:cNvPr id="4" name="Image 0" descr="IMG-M03-S08-001. Cliente con GET /health público y POST /chat con X-API-Key hacia FastAPI dentro de HF Spaces; FastAPI invoca al Agente, que usa Modelo remoto, Simulador API y Qdrant. Una flecha discontinua marcada S9 pasa por el Enmascarador hacia Langfuse.">    </p:cNvPr>
          <p:cNvPicPr>
            <a:picLocks noChangeAspect="1"/>
          </p:cNvPicPr>
          <p:nvPr/>
        </p:nvPicPr>
        <p:blipFill>
          <a:blip r:embed="rId1"/>
          <a:srcRect l="0" r="0" t="-3" b="-3"/>
          <a:stretch/>
        </p:blipFill>
        <p:spPr>
          <a:xfrm>
            <a:off x="2508250" y="1663105"/>
            <a:ext cx="7175500" cy="4038600"/>
          </a:xfrm>
          <a:prstGeom prst="rect">
            <a:avLst/>
          </a:prstGeom>
        </p:spPr>
      </p:pic>
      <p:sp>
        <p:nvSpPr>
          <p:cNvPr id="5" name="Text 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05/29</a:t>
            </a:r>
            <a:endParaRPr lang="en-US" sz="1200" dirty="0"/>
          </a:p>
        </p:txBody>
      </p:sp>
      <p:pic>
        <p:nvPicPr>
          <p:cNvPr id="6"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Config por entorno: tu laptop</a:t>
            </a:r>
            <a:endParaRPr lang="en-US" sz="3600" dirty="0"/>
          </a:p>
        </p:txBody>
      </p:sp>
      <p:sp>
        <p:nvSpPr>
          <p:cNvPr id="3" name="Shape 1"/>
          <p:cNvSpPr/>
          <p:nvPr/>
        </p:nvSpPr>
        <p:spPr>
          <a:xfrm>
            <a:off x="825500" y="2108200"/>
            <a:ext cx="2260600" cy="927100"/>
          </a:xfrm>
          <a:prstGeom prst="roundRect">
            <a:avLst>
              <a:gd name="adj" fmla="val 9589"/>
            </a:avLst>
          </a:prstGeom>
          <a:solidFill>
            <a:srgbClr val="FFF0EB"/>
          </a:solidFill>
          <a:ln w="25400">
            <a:solidFill>
              <a:srgbClr val="FF5733"/>
            </a:solidFill>
            <a:prstDash val="solid"/>
          </a:ln>
        </p:spPr>
      </p:sp>
      <p:sp>
        <p:nvSpPr>
          <p:cNvPr id="4" name="Text 2"/>
          <p:cNvSpPr/>
          <p:nvPr/>
        </p:nvSpPr>
        <p:spPr>
          <a:xfrm>
            <a:off x="1760141" y="2356247"/>
            <a:ext cx="39131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a:t>
            </a:r>
            <a:endParaRPr lang="en-US" sz="1400" dirty="0"/>
          </a:p>
        </p:txBody>
      </p:sp>
      <p:sp>
        <p:nvSpPr>
          <p:cNvPr id="5" name="Text 3"/>
          <p:cNvSpPr/>
          <p:nvPr/>
        </p:nvSpPr>
        <p:spPr>
          <a:xfrm>
            <a:off x="1138932" y="2596753"/>
            <a:ext cx="163363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laptop · en .gitignore</a:t>
            </a:r>
            <a:endParaRPr lang="en-US" sz="1200" dirty="0"/>
          </a:p>
        </p:txBody>
      </p:sp>
      <p:sp>
        <p:nvSpPr>
          <p:cNvPr id="6" name="Shape 4"/>
          <p:cNvSpPr/>
          <p:nvPr/>
        </p:nvSpPr>
        <p:spPr>
          <a:xfrm>
            <a:off x="4375150" y="3117850"/>
            <a:ext cx="2019300" cy="939800"/>
          </a:xfrm>
          <a:prstGeom prst="roundRect">
            <a:avLst>
              <a:gd name="adj" fmla="val 10135"/>
            </a:avLst>
          </a:prstGeom>
          <a:solidFill>
            <a:srgbClr val="FFFFFF"/>
          </a:solidFill>
          <a:ln w="12700">
            <a:solidFill>
              <a:srgbClr val="1E293B"/>
            </a:solidFill>
            <a:prstDash val="solid"/>
          </a:ln>
        </p:spPr>
      </p:sp>
      <p:sp>
        <p:nvSpPr>
          <p:cNvPr id="7" name="Text 5"/>
          <p:cNvSpPr/>
          <p:nvPr/>
        </p:nvSpPr>
        <p:spPr>
          <a:xfrm>
            <a:off x="4544020" y="3372247"/>
            <a:ext cx="16815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Entorno del proceso</a:t>
            </a:r>
            <a:endParaRPr lang="en-US" sz="1400" dirty="0"/>
          </a:p>
        </p:txBody>
      </p:sp>
      <p:sp>
        <p:nvSpPr>
          <p:cNvPr id="8" name="Text 6"/>
          <p:cNvSpPr/>
          <p:nvPr/>
        </p:nvSpPr>
        <p:spPr>
          <a:xfrm>
            <a:off x="5005388" y="3612753"/>
            <a:ext cx="75872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os.environ</a:t>
            </a:r>
            <a:endParaRPr lang="en-US" sz="1200" dirty="0"/>
          </a:p>
        </p:txBody>
      </p:sp>
      <p:sp>
        <p:nvSpPr>
          <p:cNvPr id="9" name="Shape 7"/>
          <p:cNvSpPr/>
          <p:nvPr/>
        </p:nvSpPr>
        <p:spPr>
          <a:xfrm>
            <a:off x="7042150" y="3117850"/>
            <a:ext cx="2146300" cy="939800"/>
          </a:xfrm>
          <a:prstGeom prst="roundRect">
            <a:avLst>
              <a:gd name="adj" fmla="val 10135"/>
            </a:avLst>
          </a:prstGeom>
          <a:solidFill>
            <a:srgbClr val="FFFFFF"/>
          </a:solidFill>
          <a:ln w="12700">
            <a:solidFill>
              <a:srgbClr val="1E293B"/>
            </a:solidFill>
            <a:prstDash val="solid"/>
          </a:ln>
        </p:spPr>
      </p:sp>
      <p:sp>
        <p:nvSpPr>
          <p:cNvPr id="10" name="Text 8"/>
          <p:cNvSpPr/>
          <p:nvPr/>
        </p:nvSpPr>
        <p:spPr>
          <a:xfrm>
            <a:off x="7329488" y="3372247"/>
            <a:ext cx="15715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comun/settings.py</a:t>
            </a:r>
            <a:endParaRPr lang="en-US" sz="1400" dirty="0"/>
          </a:p>
        </p:txBody>
      </p:sp>
      <p:sp>
        <p:nvSpPr>
          <p:cNvPr id="11" name="Text 9"/>
          <p:cNvSpPr/>
          <p:nvPr/>
        </p:nvSpPr>
        <p:spPr>
          <a:xfrm>
            <a:off x="7495877" y="3612753"/>
            <a:ext cx="123884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lee con os.getenv</a:t>
            </a:r>
            <a:endParaRPr lang="en-US" sz="1200" dirty="0"/>
          </a:p>
        </p:txBody>
      </p:sp>
      <p:sp>
        <p:nvSpPr>
          <p:cNvPr id="12" name="Shape 10"/>
          <p:cNvSpPr/>
          <p:nvPr/>
        </p:nvSpPr>
        <p:spPr>
          <a:xfrm>
            <a:off x="9963150" y="3117850"/>
            <a:ext cx="1409700" cy="939800"/>
          </a:xfrm>
          <a:prstGeom prst="roundRect">
            <a:avLst>
              <a:gd name="adj" fmla="val 10135"/>
            </a:avLst>
          </a:prstGeom>
          <a:solidFill>
            <a:srgbClr val="FFFFFF"/>
          </a:solidFill>
          <a:ln w="12700">
            <a:solidFill>
              <a:srgbClr val="1E293B"/>
            </a:solidFill>
            <a:prstDash val="solid"/>
          </a:ln>
        </p:spPr>
      </p:sp>
      <p:sp>
        <p:nvSpPr>
          <p:cNvPr id="13" name="Text 11"/>
          <p:cNvSpPr/>
          <p:nvPr/>
        </p:nvSpPr>
        <p:spPr>
          <a:xfrm>
            <a:off x="10254853" y="3372247"/>
            <a:ext cx="82629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Tu código</a:t>
            </a:r>
            <a:endParaRPr lang="en-US" sz="1400" dirty="0"/>
          </a:p>
        </p:txBody>
      </p:sp>
      <p:sp>
        <p:nvSpPr>
          <p:cNvPr id="14" name="Text 12"/>
          <p:cNvSpPr/>
          <p:nvPr/>
        </p:nvSpPr>
        <p:spPr>
          <a:xfrm>
            <a:off x="10236597" y="3612753"/>
            <a:ext cx="86280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sin cambios</a:t>
            </a:r>
            <a:endParaRPr lang="en-US" sz="1200" dirty="0"/>
          </a:p>
        </p:txBody>
      </p:sp>
      <p:pic>
        <p:nvPicPr>
          <p:cNvPr id="15" name="Image 0" descr="connector">    </p:cNvPr>
          <p:cNvPicPr>
            <a:picLocks noChangeAspect="1"/>
          </p:cNvPicPr>
          <p:nvPr/>
        </p:nvPicPr>
        <p:blipFill>
          <a:blip r:embed="rId1"/>
          <a:srcRect l="0" r="0" t="0" b="0"/>
          <a:stretch/>
        </p:blipFill>
        <p:spPr>
          <a:xfrm>
            <a:off x="3022600" y="2495550"/>
            <a:ext cx="1422400" cy="1009650"/>
          </a:xfrm>
          <a:prstGeom prst="rect">
            <a:avLst/>
          </a:prstGeom>
        </p:spPr>
      </p:pic>
      <p:sp>
        <p:nvSpPr>
          <p:cNvPr id="16" name="Text 13"/>
          <p:cNvSpPr/>
          <p:nvPr/>
        </p:nvSpPr>
        <p:spPr>
          <a:xfrm>
            <a:off x="3136900" y="2273300"/>
            <a:ext cx="5969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carga</a:t>
            </a:r>
            <a:endParaRPr lang="en-US" sz="1400" dirty="0"/>
          </a:p>
        </p:txBody>
      </p:sp>
      <p:pic>
        <p:nvPicPr>
          <p:cNvPr id="17" name="Image 1" descr="connector">    </p:cNvPr>
          <p:cNvPicPr>
            <a:picLocks noChangeAspect="1"/>
          </p:cNvPicPr>
          <p:nvPr/>
        </p:nvPicPr>
        <p:blipFill>
          <a:blip r:embed="rId2"/>
          <a:srcRect l="0" r="0" t="0" b="0"/>
          <a:stretch/>
        </p:blipFill>
        <p:spPr>
          <a:xfrm>
            <a:off x="6350000" y="3536950"/>
            <a:ext cx="736600" cy="101600"/>
          </a:xfrm>
          <a:prstGeom prst="rect">
            <a:avLst/>
          </a:prstGeom>
        </p:spPr>
      </p:pic>
      <p:sp>
        <p:nvSpPr>
          <p:cNvPr id="18" name="Text 14"/>
          <p:cNvSpPr/>
          <p:nvPr/>
        </p:nvSpPr>
        <p:spPr>
          <a:xfrm>
            <a:off x="6451600" y="3251200"/>
            <a:ext cx="584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lee</a:t>
            </a:r>
            <a:endParaRPr lang="en-US" sz="1400" dirty="0"/>
          </a:p>
        </p:txBody>
      </p:sp>
      <p:pic>
        <p:nvPicPr>
          <p:cNvPr id="19" name="Image 2" descr="connector">    </p:cNvPr>
          <p:cNvPicPr>
            <a:picLocks noChangeAspect="1"/>
          </p:cNvPicPr>
          <p:nvPr/>
        </p:nvPicPr>
        <p:blipFill>
          <a:blip r:embed="rId3"/>
          <a:srcRect l="0" r="0" t="0" b="0"/>
          <a:stretch/>
        </p:blipFill>
        <p:spPr>
          <a:xfrm>
            <a:off x="9144000" y="3536950"/>
            <a:ext cx="863600" cy="101600"/>
          </a:xfrm>
          <a:prstGeom prst="rect">
            <a:avLst/>
          </a:prstGeom>
        </p:spPr>
      </p:pic>
      <p:sp>
        <p:nvSpPr>
          <p:cNvPr id="20" name="Text 15"/>
          <p:cNvSpPr/>
          <p:nvPr/>
        </p:nvSpPr>
        <p:spPr>
          <a:xfrm>
            <a:off x="9245600" y="3251200"/>
            <a:ext cx="711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config</a:t>
            </a:r>
            <a:endParaRPr lang="en-US" sz="1400" dirty="0"/>
          </a:p>
        </p:txBody>
      </p:sp>
      <p:sp>
        <p:nvSpPr>
          <p:cNvPr id="21" name="Text 16"/>
          <p:cNvSpPr/>
          <p:nvPr/>
        </p:nvSpPr>
        <p:spPr>
          <a:xfrm>
            <a:off x="812800" y="53975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El .env nunca va al repositorio: python-dotenv lo carga en tu máquina.</a:t>
            </a:r>
            <a:endParaRPr lang="en-US" sz="1600" dirty="0"/>
          </a:p>
        </p:txBody>
      </p:sp>
      <p:sp>
        <p:nvSpPr>
          <p:cNvPr id="22" name="Text 1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06/29</a:t>
            </a:r>
            <a:endParaRPr lang="en-US" sz="1200" dirty="0"/>
          </a:p>
        </p:txBody>
      </p:sp>
      <p:pic>
        <p:nvPicPr>
          <p:cNvPr id="23" name="Image 3" descr="AriwaLabs">    </p:cNvPr>
          <p:cNvPicPr>
            <a:picLocks noChangeAspect="1"/>
          </p:cNvPicPr>
          <p:nvPr/>
        </p:nvPicPr>
        <p:blipFill>
          <a:blip r:embed="rId4"/>
          <a:srcRect l="-9345" r="-9345" t="0" b="0"/>
          <a:stretch/>
        </p:blipFill>
        <p:spPr>
          <a:xfrm>
            <a:off x="10680700" y="6223000"/>
            <a:ext cx="698500" cy="254000"/>
          </a:xfrm>
          <a:prstGeom prst="rect">
            <a:avLst/>
          </a:prstGeom>
        </p:spPr>
      </p:pic>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Config por entorno: el Space</a:t>
            </a:r>
            <a:endParaRPr lang="en-US" sz="3600" dirty="0"/>
          </a:p>
        </p:txBody>
      </p:sp>
      <p:sp>
        <p:nvSpPr>
          <p:cNvPr id="3" name="Shape 1"/>
          <p:cNvSpPr/>
          <p:nvPr/>
        </p:nvSpPr>
        <p:spPr>
          <a:xfrm>
            <a:off x="819150" y="2101850"/>
            <a:ext cx="2273300" cy="939800"/>
          </a:xfrm>
          <a:prstGeom prst="roundRect">
            <a:avLst>
              <a:gd name="adj" fmla="val 10135"/>
            </a:avLst>
          </a:prstGeom>
          <a:solidFill>
            <a:srgbClr val="FFFFFF"/>
          </a:solidFill>
          <a:ln w="12700">
            <a:solidFill>
              <a:srgbClr val="1E293B"/>
            </a:solidFill>
            <a:prstDash val="solid"/>
          </a:ln>
        </p:spPr>
      </p:sp>
      <p:sp>
        <p:nvSpPr>
          <p:cNvPr id="4" name="Text 2"/>
          <p:cNvSpPr/>
          <p:nvPr/>
        </p:nvSpPr>
        <p:spPr>
          <a:xfrm>
            <a:off x="1760141" y="2356247"/>
            <a:ext cx="39131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.env</a:t>
            </a:r>
            <a:endParaRPr lang="en-US" sz="1400" dirty="0"/>
          </a:p>
        </p:txBody>
      </p:sp>
      <p:sp>
        <p:nvSpPr>
          <p:cNvPr id="5" name="Text 3"/>
          <p:cNvSpPr/>
          <p:nvPr/>
        </p:nvSpPr>
        <p:spPr>
          <a:xfrm>
            <a:off x="1138932" y="2596753"/>
            <a:ext cx="163363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tu laptop · en .gitignore</a:t>
            </a:r>
            <a:endParaRPr lang="en-US" sz="1200" dirty="0"/>
          </a:p>
        </p:txBody>
      </p:sp>
      <p:sp>
        <p:nvSpPr>
          <p:cNvPr id="6" name="Shape 4"/>
          <p:cNvSpPr/>
          <p:nvPr/>
        </p:nvSpPr>
        <p:spPr>
          <a:xfrm>
            <a:off x="825500" y="4140200"/>
            <a:ext cx="2260600" cy="927100"/>
          </a:xfrm>
          <a:prstGeom prst="roundRect">
            <a:avLst>
              <a:gd name="adj" fmla="val 9589"/>
            </a:avLst>
          </a:prstGeom>
          <a:solidFill>
            <a:srgbClr val="FFF0EB"/>
          </a:solidFill>
          <a:ln w="25400">
            <a:solidFill>
              <a:srgbClr val="FF5733"/>
            </a:solidFill>
            <a:prstDash val="solid"/>
          </a:ln>
        </p:spPr>
      </p:sp>
      <p:sp>
        <p:nvSpPr>
          <p:cNvPr id="7" name="Text 5"/>
          <p:cNvSpPr/>
          <p:nvPr/>
        </p:nvSpPr>
        <p:spPr>
          <a:xfrm>
            <a:off x="1362770" y="4388247"/>
            <a:ext cx="118596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Space secrets</a:t>
            </a:r>
            <a:endParaRPr lang="en-US" sz="1400" dirty="0"/>
          </a:p>
        </p:txBody>
      </p:sp>
      <p:sp>
        <p:nvSpPr>
          <p:cNvPr id="8" name="Text 6"/>
          <p:cNvSpPr/>
          <p:nvPr/>
        </p:nvSpPr>
        <p:spPr>
          <a:xfrm>
            <a:off x="1300163" y="4628753"/>
            <a:ext cx="131117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Settings del Space</a:t>
            </a:r>
            <a:endParaRPr lang="en-US" sz="1200" dirty="0"/>
          </a:p>
        </p:txBody>
      </p:sp>
      <p:sp>
        <p:nvSpPr>
          <p:cNvPr id="9" name="Shape 7"/>
          <p:cNvSpPr/>
          <p:nvPr/>
        </p:nvSpPr>
        <p:spPr>
          <a:xfrm>
            <a:off x="4375150" y="3117850"/>
            <a:ext cx="2019300" cy="939800"/>
          </a:xfrm>
          <a:prstGeom prst="roundRect">
            <a:avLst>
              <a:gd name="adj" fmla="val 10135"/>
            </a:avLst>
          </a:prstGeom>
          <a:solidFill>
            <a:srgbClr val="FFFFFF"/>
          </a:solidFill>
          <a:ln w="12700">
            <a:solidFill>
              <a:srgbClr val="1E293B"/>
            </a:solidFill>
            <a:prstDash val="solid"/>
          </a:ln>
        </p:spPr>
      </p:sp>
      <p:sp>
        <p:nvSpPr>
          <p:cNvPr id="10" name="Text 8"/>
          <p:cNvSpPr/>
          <p:nvPr/>
        </p:nvSpPr>
        <p:spPr>
          <a:xfrm>
            <a:off x="4544020" y="3372247"/>
            <a:ext cx="16815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Entorno del proceso</a:t>
            </a:r>
            <a:endParaRPr lang="en-US" sz="1400" dirty="0"/>
          </a:p>
        </p:txBody>
      </p:sp>
      <p:sp>
        <p:nvSpPr>
          <p:cNvPr id="11" name="Text 9"/>
          <p:cNvSpPr/>
          <p:nvPr/>
        </p:nvSpPr>
        <p:spPr>
          <a:xfrm>
            <a:off x="5005388" y="3612753"/>
            <a:ext cx="75872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os.environ</a:t>
            </a:r>
            <a:endParaRPr lang="en-US" sz="1200" dirty="0"/>
          </a:p>
        </p:txBody>
      </p:sp>
      <p:sp>
        <p:nvSpPr>
          <p:cNvPr id="12" name="Shape 10"/>
          <p:cNvSpPr/>
          <p:nvPr/>
        </p:nvSpPr>
        <p:spPr>
          <a:xfrm>
            <a:off x="7042150" y="3117850"/>
            <a:ext cx="2146300" cy="939800"/>
          </a:xfrm>
          <a:prstGeom prst="roundRect">
            <a:avLst>
              <a:gd name="adj" fmla="val 10135"/>
            </a:avLst>
          </a:prstGeom>
          <a:solidFill>
            <a:srgbClr val="FFFFFF"/>
          </a:solidFill>
          <a:ln w="12700">
            <a:solidFill>
              <a:srgbClr val="1E293B"/>
            </a:solidFill>
            <a:prstDash val="solid"/>
          </a:ln>
        </p:spPr>
      </p:sp>
      <p:sp>
        <p:nvSpPr>
          <p:cNvPr id="13" name="Text 11"/>
          <p:cNvSpPr/>
          <p:nvPr/>
        </p:nvSpPr>
        <p:spPr>
          <a:xfrm>
            <a:off x="7329488" y="3372247"/>
            <a:ext cx="1571526"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comun/settings.py</a:t>
            </a:r>
            <a:endParaRPr lang="en-US" sz="1400" dirty="0"/>
          </a:p>
        </p:txBody>
      </p:sp>
      <p:sp>
        <p:nvSpPr>
          <p:cNvPr id="14" name="Text 12"/>
          <p:cNvSpPr/>
          <p:nvPr/>
        </p:nvSpPr>
        <p:spPr>
          <a:xfrm>
            <a:off x="7495877" y="3612753"/>
            <a:ext cx="123884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lee con os.getenv</a:t>
            </a:r>
            <a:endParaRPr lang="en-US" sz="1200" dirty="0"/>
          </a:p>
        </p:txBody>
      </p:sp>
      <p:sp>
        <p:nvSpPr>
          <p:cNvPr id="15" name="Shape 13"/>
          <p:cNvSpPr/>
          <p:nvPr/>
        </p:nvSpPr>
        <p:spPr>
          <a:xfrm>
            <a:off x="9963150" y="3117850"/>
            <a:ext cx="1409700" cy="939800"/>
          </a:xfrm>
          <a:prstGeom prst="roundRect">
            <a:avLst>
              <a:gd name="adj" fmla="val 10135"/>
            </a:avLst>
          </a:prstGeom>
          <a:solidFill>
            <a:srgbClr val="FFFFFF"/>
          </a:solidFill>
          <a:ln w="12700">
            <a:solidFill>
              <a:srgbClr val="1E293B"/>
            </a:solidFill>
            <a:prstDash val="solid"/>
          </a:ln>
        </p:spPr>
      </p:sp>
      <p:sp>
        <p:nvSpPr>
          <p:cNvPr id="16" name="Text 14"/>
          <p:cNvSpPr/>
          <p:nvPr/>
        </p:nvSpPr>
        <p:spPr>
          <a:xfrm>
            <a:off x="10254853" y="3372247"/>
            <a:ext cx="82629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Tu código</a:t>
            </a:r>
            <a:endParaRPr lang="en-US" sz="1400" dirty="0"/>
          </a:p>
        </p:txBody>
      </p:sp>
      <p:sp>
        <p:nvSpPr>
          <p:cNvPr id="17" name="Text 15"/>
          <p:cNvSpPr/>
          <p:nvPr/>
        </p:nvSpPr>
        <p:spPr>
          <a:xfrm>
            <a:off x="10236597" y="3612753"/>
            <a:ext cx="86280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sin cambios</a:t>
            </a:r>
            <a:endParaRPr lang="en-US" sz="1200" dirty="0"/>
          </a:p>
        </p:txBody>
      </p:sp>
      <p:pic>
        <p:nvPicPr>
          <p:cNvPr id="18" name="Image 0" descr="connector">    </p:cNvPr>
          <p:cNvPicPr>
            <a:picLocks noChangeAspect="1"/>
          </p:cNvPicPr>
          <p:nvPr/>
        </p:nvPicPr>
        <p:blipFill>
          <a:blip r:embed="rId1"/>
          <a:srcRect l="0" r="0" t="0" b="0"/>
          <a:stretch/>
        </p:blipFill>
        <p:spPr>
          <a:xfrm>
            <a:off x="3048000" y="2520950"/>
            <a:ext cx="1371600" cy="958850"/>
          </a:xfrm>
          <a:prstGeom prst="rect">
            <a:avLst/>
          </a:prstGeom>
        </p:spPr>
      </p:pic>
      <p:sp>
        <p:nvSpPr>
          <p:cNvPr id="19" name="Text 16"/>
          <p:cNvSpPr/>
          <p:nvPr/>
        </p:nvSpPr>
        <p:spPr>
          <a:xfrm>
            <a:off x="3136900" y="2273300"/>
            <a:ext cx="5969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carga</a:t>
            </a:r>
            <a:endParaRPr lang="en-US" sz="1400" dirty="0"/>
          </a:p>
        </p:txBody>
      </p:sp>
      <p:pic>
        <p:nvPicPr>
          <p:cNvPr id="20" name="Image 1" descr="connector">    </p:cNvPr>
          <p:cNvPicPr>
            <a:picLocks noChangeAspect="1"/>
          </p:cNvPicPr>
          <p:nvPr/>
        </p:nvPicPr>
        <p:blipFill>
          <a:blip r:embed="rId2"/>
          <a:srcRect l="0" r="0" t="0" b="0"/>
          <a:stretch/>
        </p:blipFill>
        <p:spPr>
          <a:xfrm>
            <a:off x="3022600" y="3670300"/>
            <a:ext cx="1422400" cy="1009650"/>
          </a:xfrm>
          <a:prstGeom prst="rect">
            <a:avLst/>
          </a:prstGeom>
        </p:spPr>
      </p:pic>
      <p:sp>
        <p:nvSpPr>
          <p:cNvPr id="21" name="Text 17"/>
          <p:cNvSpPr/>
          <p:nvPr/>
        </p:nvSpPr>
        <p:spPr>
          <a:xfrm>
            <a:off x="3149600" y="4673600"/>
            <a:ext cx="812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inyecta</a:t>
            </a:r>
            <a:endParaRPr lang="en-US" sz="1400" dirty="0"/>
          </a:p>
        </p:txBody>
      </p:sp>
      <p:pic>
        <p:nvPicPr>
          <p:cNvPr id="22" name="Image 2" descr="connector">    </p:cNvPr>
          <p:cNvPicPr>
            <a:picLocks noChangeAspect="1"/>
          </p:cNvPicPr>
          <p:nvPr/>
        </p:nvPicPr>
        <p:blipFill>
          <a:blip r:embed="rId3"/>
          <a:srcRect l="0" r="0" t="0" b="0"/>
          <a:stretch/>
        </p:blipFill>
        <p:spPr>
          <a:xfrm>
            <a:off x="6350000" y="3536950"/>
            <a:ext cx="736600" cy="101600"/>
          </a:xfrm>
          <a:prstGeom prst="rect">
            <a:avLst/>
          </a:prstGeom>
        </p:spPr>
      </p:pic>
      <p:sp>
        <p:nvSpPr>
          <p:cNvPr id="23" name="Text 18"/>
          <p:cNvSpPr/>
          <p:nvPr/>
        </p:nvSpPr>
        <p:spPr>
          <a:xfrm>
            <a:off x="6451600" y="3251200"/>
            <a:ext cx="584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lee</a:t>
            </a:r>
            <a:endParaRPr lang="en-US" sz="1400" dirty="0"/>
          </a:p>
        </p:txBody>
      </p:sp>
      <p:pic>
        <p:nvPicPr>
          <p:cNvPr id="24" name="Image 3" descr="connector">    </p:cNvPr>
          <p:cNvPicPr>
            <a:picLocks noChangeAspect="1"/>
          </p:cNvPicPr>
          <p:nvPr/>
        </p:nvPicPr>
        <p:blipFill>
          <a:blip r:embed="rId4"/>
          <a:srcRect l="0" r="0" t="0" b="0"/>
          <a:stretch/>
        </p:blipFill>
        <p:spPr>
          <a:xfrm>
            <a:off x="9144000" y="3536950"/>
            <a:ext cx="863600" cy="101600"/>
          </a:xfrm>
          <a:prstGeom prst="rect">
            <a:avLst/>
          </a:prstGeom>
        </p:spPr>
      </p:pic>
      <p:sp>
        <p:nvSpPr>
          <p:cNvPr id="25" name="Text 19"/>
          <p:cNvSpPr/>
          <p:nvPr/>
        </p:nvSpPr>
        <p:spPr>
          <a:xfrm>
            <a:off x="9245600" y="3251200"/>
            <a:ext cx="7112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config</a:t>
            </a:r>
            <a:endParaRPr lang="en-US" sz="1400" dirty="0"/>
          </a:p>
        </p:txBody>
      </p:sp>
      <p:sp>
        <p:nvSpPr>
          <p:cNvPr id="26" name="Text 20"/>
          <p:cNvSpPr/>
          <p:nvPr/>
        </p:nvSpPr>
        <p:spPr>
          <a:xfrm>
            <a:off x="812800" y="53975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Mismo código, distinto origen: tu agente no sabe si el valor vino de .env o de un Space secret.</a:t>
            </a:r>
            <a:endParaRPr lang="en-US" sz="1600" dirty="0"/>
          </a:p>
        </p:txBody>
      </p:sp>
      <p:sp>
        <p:nvSpPr>
          <p:cNvPr id="27" name="Text 2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07/29</a:t>
            </a:r>
            <a:endParaRPr lang="en-US" sz="1200" dirty="0"/>
          </a:p>
        </p:txBody>
      </p:sp>
      <p:pic>
        <p:nvPicPr>
          <p:cNvPr id="28" name="Image 4" descr="AriwaLabs">    </p:cNvPr>
          <p:cNvPicPr>
            <a:picLocks noChangeAspect="1"/>
          </p:cNvPicPr>
          <p:nvPr/>
        </p:nvPicPr>
        <p:blipFill>
          <a:blip r:embed="rId5"/>
          <a:srcRect l="-9345" r="-9345" t="0" b="0"/>
          <a:stretch/>
        </p:blipFill>
        <p:spPr>
          <a:xfrm>
            <a:off x="10680700" y="6223000"/>
            <a:ext cx="698500" cy="254000"/>
          </a:xfrm>
          <a:prstGeom prst="rect">
            <a:avLst/>
          </a:prstGeom>
        </p:spPr>
      </p:pic>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Dockerfile, línea por línea</a:t>
            </a:r>
            <a:endParaRPr lang="en-US" sz="3600" dirty="0"/>
          </a:p>
        </p:txBody>
      </p:sp>
      <p:sp>
        <p:nvSpPr>
          <p:cNvPr id="3" name="Shape 1"/>
          <p:cNvSpPr/>
          <p:nvPr/>
        </p:nvSpPr>
        <p:spPr>
          <a:xfrm>
            <a:off x="812800" y="1574205"/>
            <a:ext cx="10566400" cy="2001044"/>
          </a:xfrm>
          <a:prstGeom prst="roundRect">
            <a:avLst>
              <a:gd name="adj" fmla="val 1269"/>
            </a:avLst>
          </a:prstGeom>
          <a:solidFill>
            <a:srgbClr val="1E293B"/>
          </a:solidFill>
          <a:ln/>
        </p:spPr>
      </p:sp>
      <p:sp>
        <p:nvSpPr>
          <p:cNvPr id="4" name="Text 2"/>
          <p:cNvSpPr/>
          <p:nvPr/>
        </p:nvSpPr>
        <p:spPr>
          <a:xfrm>
            <a:off x="1066800" y="1777405"/>
            <a:ext cx="706374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FROM python:3.11-slim</a:t>
            </a:r>
            <a:endParaRPr lang="en-US" sz="1300" dirty="0"/>
          </a:p>
        </p:txBody>
      </p:sp>
      <p:sp>
        <p:nvSpPr>
          <p:cNvPr id="5" name="Text 3"/>
          <p:cNvSpPr/>
          <p:nvPr/>
        </p:nvSpPr>
        <p:spPr>
          <a:xfrm>
            <a:off x="7924800" y="1777405"/>
            <a:ext cx="329641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Sans" pitchFamily="34" charset="0"/>
                <a:ea typeface="IBM Plex Sans" pitchFamily="34" charset="-122"/>
                <a:cs typeface="IBM Plex Sans" pitchFamily="34" charset="-120"/>
              </a:rPr>
              <a:t>imagen base ligera</a:t>
            </a:r>
            <a:endParaRPr lang="en-US" sz="1300" dirty="0"/>
          </a:p>
        </p:txBody>
      </p:sp>
      <p:sp>
        <p:nvSpPr>
          <p:cNvPr id="6" name="Text 4"/>
          <p:cNvSpPr/>
          <p:nvPr/>
        </p:nvSpPr>
        <p:spPr>
          <a:xfrm>
            <a:off x="1066800" y="2005211"/>
            <a:ext cx="706374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WORKDIR /app</a:t>
            </a:r>
            <a:endParaRPr lang="en-US" sz="1300" dirty="0"/>
          </a:p>
        </p:txBody>
      </p:sp>
      <p:sp>
        <p:nvSpPr>
          <p:cNvPr id="7" name="Text 5"/>
          <p:cNvSpPr/>
          <p:nvPr/>
        </p:nvSpPr>
        <p:spPr>
          <a:xfrm>
            <a:off x="7924800" y="2005211"/>
            <a:ext cx="329641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Sans" pitchFamily="34" charset="0"/>
                <a:ea typeface="IBM Plex Sans" pitchFamily="34" charset="-122"/>
                <a:cs typeface="IBM Plex Sans" pitchFamily="34" charset="-120"/>
              </a:rPr>
              <a:t>carpeta de trabajo</a:t>
            </a:r>
            <a:endParaRPr lang="en-US" sz="1300" dirty="0"/>
          </a:p>
        </p:txBody>
      </p:sp>
      <p:sp>
        <p:nvSpPr>
          <p:cNvPr id="8" name="Text 6"/>
          <p:cNvSpPr/>
          <p:nvPr/>
        </p:nvSpPr>
        <p:spPr>
          <a:xfrm>
            <a:off x="1066800" y="2233017"/>
            <a:ext cx="706374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COPY requirements.txt .</a:t>
            </a:r>
            <a:endParaRPr lang="en-US" sz="1300" dirty="0"/>
          </a:p>
        </p:txBody>
      </p:sp>
      <p:sp>
        <p:nvSpPr>
          <p:cNvPr id="9" name="Text 7"/>
          <p:cNvSpPr/>
          <p:nvPr/>
        </p:nvSpPr>
        <p:spPr>
          <a:xfrm>
            <a:off x="7924800" y="2233017"/>
            <a:ext cx="329641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Sans" pitchFamily="34" charset="0"/>
                <a:ea typeface="IBM Plex Sans" pitchFamily="34" charset="-122"/>
                <a:cs typeface="IBM Plex Sans" pitchFamily="34" charset="-120"/>
              </a:rPr>
              <a:t>primero, solo las dependencias</a:t>
            </a:r>
            <a:endParaRPr lang="en-US" sz="1300" dirty="0"/>
          </a:p>
        </p:txBody>
      </p:sp>
      <p:sp>
        <p:nvSpPr>
          <p:cNvPr id="10" name="Text 8"/>
          <p:cNvSpPr/>
          <p:nvPr/>
        </p:nvSpPr>
        <p:spPr>
          <a:xfrm>
            <a:off x="1066800" y="2460823"/>
            <a:ext cx="706374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RUN pip install --no-cache-dir -r requirements.txt</a:t>
            </a:r>
            <a:endParaRPr lang="en-US" sz="1300" dirty="0"/>
          </a:p>
        </p:txBody>
      </p:sp>
      <p:sp>
        <p:nvSpPr>
          <p:cNvPr id="11" name="Text 9"/>
          <p:cNvSpPr/>
          <p:nvPr/>
        </p:nvSpPr>
        <p:spPr>
          <a:xfrm>
            <a:off x="7924800" y="2460823"/>
            <a:ext cx="329641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Sans" pitchFamily="34" charset="0"/>
                <a:ea typeface="IBM Plex Sans" pitchFamily="34" charset="-122"/>
                <a:cs typeface="IBM Plex Sans" pitchFamily="34" charset="-120"/>
              </a:rPr>
              <a:t>se ejecuta al construir</a:t>
            </a:r>
            <a:endParaRPr lang="en-US" sz="1300" dirty="0"/>
          </a:p>
        </p:txBody>
      </p:sp>
      <p:sp>
        <p:nvSpPr>
          <p:cNvPr id="12" name="Text 10"/>
          <p:cNvSpPr/>
          <p:nvPr/>
        </p:nvSpPr>
        <p:spPr>
          <a:xfrm>
            <a:off x="1066800" y="2688630"/>
            <a:ext cx="706374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COPY . .</a:t>
            </a:r>
            <a:endParaRPr lang="en-US" sz="1300" dirty="0"/>
          </a:p>
        </p:txBody>
      </p:sp>
      <p:sp>
        <p:nvSpPr>
          <p:cNvPr id="13" name="Text 11"/>
          <p:cNvSpPr/>
          <p:nvPr/>
        </p:nvSpPr>
        <p:spPr>
          <a:xfrm>
            <a:off x="7924800" y="2688630"/>
            <a:ext cx="329641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Sans" pitchFamily="34" charset="0"/>
                <a:ea typeface="IBM Plex Sans" pitchFamily="34" charset="-122"/>
                <a:cs typeface="IBM Plex Sans" pitchFamily="34" charset="-120"/>
              </a:rPr>
              <a:t>después, el resto del código</a:t>
            </a:r>
            <a:endParaRPr lang="en-US" sz="1300" dirty="0"/>
          </a:p>
        </p:txBody>
      </p:sp>
      <p:sp>
        <p:nvSpPr>
          <p:cNvPr id="14" name="Text 12"/>
          <p:cNvSpPr/>
          <p:nvPr/>
        </p:nvSpPr>
        <p:spPr>
          <a:xfrm>
            <a:off x="1066800" y="2916436"/>
            <a:ext cx="706374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EXPOSE 7860</a:t>
            </a:r>
            <a:endParaRPr lang="en-US" sz="1300" dirty="0"/>
          </a:p>
        </p:txBody>
      </p:sp>
      <p:sp>
        <p:nvSpPr>
          <p:cNvPr id="15" name="Text 13"/>
          <p:cNvSpPr/>
          <p:nvPr/>
        </p:nvSpPr>
        <p:spPr>
          <a:xfrm>
            <a:off x="7924800" y="2916436"/>
            <a:ext cx="329641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Sans" pitchFamily="34" charset="0"/>
                <a:ea typeface="IBM Plex Sans" pitchFamily="34" charset="-122"/>
                <a:cs typeface="IBM Plex Sans" pitchFamily="34" charset="-120"/>
              </a:rPr>
              <a:t>puerto que espera HF Spaces</a:t>
            </a:r>
            <a:endParaRPr lang="en-US" sz="1300" dirty="0"/>
          </a:p>
        </p:txBody>
      </p:sp>
      <p:sp>
        <p:nvSpPr>
          <p:cNvPr id="16" name="Text 14"/>
          <p:cNvSpPr/>
          <p:nvPr/>
        </p:nvSpPr>
        <p:spPr>
          <a:xfrm>
            <a:off x="1066800" y="3144242"/>
            <a:ext cx="706374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CMD ["uvicorn", "app.api:app", "--host", "0.0.0.0", "--port", "7860"]</a:t>
            </a:r>
            <a:endParaRPr lang="en-US" sz="1300" dirty="0"/>
          </a:p>
        </p:txBody>
      </p:sp>
      <p:sp>
        <p:nvSpPr>
          <p:cNvPr id="17" name="Text 15"/>
          <p:cNvSpPr/>
          <p:nvPr/>
        </p:nvSpPr>
        <p:spPr>
          <a:xfrm>
            <a:off x="7924800" y="3144242"/>
            <a:ext cx="329641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CED8E3"/>
                </a:solidFill>
                <a:latin typeface="IBM Plex Sans" pitchFamily="34" charset="0"/>
                <a:ea typeface="IBM Plex Sans" pitchFamily="34" charset="-122"/>
                <a:cs typeface="IBM Plex Sans" pitchFamily="34" charset="-120"/>
              </a:rPr>
              <a:t>arranca al correr; 0.0.0.0 acepta al proxy</a:t>
            </a:r>
            <a:endParaRPr lang="en-US" sz="1300" dirty="0"/>
          </a:p>
        </p:txBody>
      </p:sp>
      <p:sp>
        <p:nvSpPr>
          <p:cNvPr id="18" name="Text 16"/>
          <p:cNvSpPr/>
          <p:nvPr/>
        </p:nvSpPr>
        <p:spPr>
          <a:xfrm>
            <a:off x="812800" y="3829248"/>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Se escribe hoy y no se ejecuta en local (P2): la plataforma lo construye al recibir el git push.</a:t>
            </a:r>
            <a:endParaRPr lang="en-US" sz="1600" dirty="0"/>
          </a:p>
        </p:txBody>
      </p:sp>
      <p:sp>
        <p:nvSpPr>
          <p:cNvPr id="19" name="Text 1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08/29</a:t>
            </a:r>
            <a:endParaRPr lang="en-US" sz="1200" dirty="0"/>
          </a:p>
        </p:txBody>
      </p:sp>
      <p:pic>
        <p:nvPicPr>
          <p:cNvPr id="20"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orden de las capas es caché</a:t>
            </a:r>
            <a:endParaRPr lang="en-US" sz="3600" dirty="0"/>
          </a:p>
        </p:txBody>
      </p:sp>
      <p:sp>
        <p:nvSpPr>
          <p:cNvPr id="3" name="Shape 1"/>
          <p:cNvSpPr/>
          <p:nvPr/>
        </p:nvSpPr>
        <p:spPr>
          <a:xfrm>
            <a:off x="3765550" y="1593850"/>
            <a:ext cx="7607300" cy="546100"/>
          </a:xfrm>
          <a:prstGeom prst="roundRect">
            <a:avLst>
              <a:gd name="adj" fmla="val 17442"/>
            </a:avLst>
          </a:prstGeom>
          <a:solidFill>
            <a:srgbClr val="FFFFFF"/>
          </a:solidFill>
          <a:ln w="12700">
            <a:solidFill>
              <a:srgbClr val="1E293B"/>
            </a:solidFill>
            <a:prstDash val="solid"/>
          </a:ln>
        </p:spPr>
      </p:sp>
      <p:sp>
        <p:nvSpPr>
          <p:cNvPr id="4" name="Text 2"/>
          <p:cNvSpPr/>
          <p:nvPr/>
        </p:nvSpPr>
        <p:spPr>
          <a:xfrm>
            <a:off x="3949700" y="1752997"/>
            <a:ext cx="2142729"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FROM python:3.11-slim</a:t>
            </a:r>
            <a:endParaRPr lang="en-US" sz="1300" dirty="0"/>
          </a:p>
        </p:txBody>
      </p:sp>
      <p:sp>
        <p:nvSpPr>
          <p:cNvPr id="5" name="Text 3"/>
          <p:cNvSpPr/>
          <p:nvPr/>
        </p:nvSpPr>
        <p:spPr>
          <a:xfrm>
            <a:off x="10567888" y="1771650"/>
            <a:ext cx="67161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en caché</a:t>
            </a:r>
            <a:endParaRPr lang="en-US" sz="1200" dirty="0"/>
          </a:p>
        </p:txBody>
      </p:sp>
      <p:sp>
        <p:nvSpPr>
          <p:cNvPr id="6" name="Shape 4"/>
          <p:cNvSpPr/>
          <p:nvPr/>
        </p:nvSpPr>
        <p:spPr>
          <a:xfrm>
            <a:off x="3765550" y="2254250"/>
            <a:ext cx="7607300" cy="546100"/>
          </a:xfrm>
          <a:prstGeom prst="roundRect">
            <a:avLst>
              <a:gd name="adj" fmla="val 17442"/>
            </a:avLst>
          </a:prstGeom>
          <a:solidFill>
            <a:srgbClr val="FFFFFF"/>
          </a:solidFill>
          <a:ln w="12700">
            <a:solidFill>
              <a:srgbClr val="1E293B"/>
            </a:solidFill>
            <a:prstDash val="solid"/>
          </a:ln>
        </p:spPr>
      </p:sp>
      <p:sp>
        <p:nvSpPr>
          <p:cNvPr id="7" name="Text 5"/>
          <p:cNvSpPr/>
          <p:nvPr/>
        </p:nvSpPr>
        <p:spPr>
          <a:xfrm>
            <a:off x="3949700" y="2413397"/>
            <a:ext cx="123954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WORKDIR /app</a:t>
            </a:r>
            <a:endParaRPr lang="en-US" sz="1300" dirty="0"/>
          </a:p>
        </p:txBody>
      </p:sp>
      <p:sp>
        <p:nvSpPr>
          <p:cNvPr id="8" name="Text 6"/>
          <p:cNvSpPr/>
          <p:nvPr/>
        </p:nvSpPr>
        <p:spPr>
          <a:xfrm>
            <a:off x="10567888" y="2432050"/>
            <a:ext cx="67161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en caché</a:t>
            </a:r>
            <a:endParaRPr lang="en-US" sz="1200" dirty="0"/>
          </a:p>
        </p:txBody>
      </p:sp>
      <p:sp>
        <p:nvSpPr>
          <p:cNvPr id="9" name="Shape 7"/>
          <p:cNvSpPr/>
          <p:nvPr/>
        </p:nvSpPr>
        <p:spPr>
          <a:xfrm>
            <a:off x="3771900" y="2921000"/>
            <a:ext cx="7594600" cy="533400"/>
          </a:xfrm>
          <a:prstGeom prst="roundRect">
            <a:avLst>
              <a:gd name="adj" fmla="val 16667"/>
            </a:avLst>
          </a:prstGeom>
          <a:solidFill>
            <a:srgbClr val="FFF0EB"/>
          </a:solidFill>
          <a:ln w="25400">
            <a:solidFill>
              <a:srgbClr val="FF5733"/>
            </a:solidFill>
            <a:prstDash val="solid"/>
          </a:ln>
        </p:spPr>
      </p:sp>
      <p:sp>
        <p:nvSpPr>
          <p:cNvPr id="10" name="Text 8"/>
          <p:cNvSpPr/>
          <p:nvPr/>
        </p:nvSpPr>
        <p:spPr>
          <a:xfrm>
            <a:off x="3962400" y="3073797"/>
            <a:ext cx="2346813"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COPY requirements.txt .</a:t>
            </a:r>
            <a:endParaRPr lang="en-US" sz="1300" dirty="0"/>
          </a:p>
        </p:txBody>
      </p:sp>
      <p:sp>
        <p:nvSpPr>
          <p:cNvPr id="11" name="Text 9"/>
          <p:cNvSpPr/>
          <p:nvPr/>
        </p:nvSpPr>
        <p:spPr>
          <a:xfrm>
            <a:off x="10555188" y="3092450"/>
            <a:ext cx="67161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en caché</a:t>
            </a:r>
            <a:endParaRPr lang="en-US" sz="1200" dirty="0"/>
          </a:p>
        </p:txBody>
      </p:sp>
      <p:sp>
        <p:nvSpPr>
          <p:cNvPr id="12" name="Shape 10"/>
          <p:cNvSpPr/>
          <p:nvPr/>
        </p:nvSpPr>
        <p:spPr>
          <a:xfrm>
            <a:off x="3771900" y="3581400"/>
            <a:ext cx="7594600" cy="533400"/>
          </a:xfrm>
          <a:prstGeom prst="roundRect">
            <a:avLst>
              <a:gd name="adj" fmla="val 16667"/>
            </a:avLst>
          </a:prstGeom>
          <a:solidFill>
            <a:srgbClr val="FFF0EB"/>
          </a:solidFill>
          <a:ln w="25400">
            <a:solidFill>
              <a:srgbClr val="FF5733"/>
            </a:solidFill>
            <a:prstDash val="solid"/>
          </a:ln>
        </p:spPr>
      </p:sp>
      <p:sp>
        <p:nvSpPr>
          <p:cNvPr id="13" name="Text 11"/>
          <p:cNvSpPr/>
          <p:nvPr/>
        </p:nvSpPr>
        <p:spPr>
          <a:xfrm>
            <a:off x="3962400" y="3734197"/>
            <a:ext cx="5101590"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RUN pip install --no-cache-dir -r requirements.txt</a:t>
            </a:r>
            <a:endParaRPr lang="en-US" sz="1300" dirty="0"/>
          </a:p>
        </p:txBody>
      </p:sp>
      <p:sp>
        <p:nvSpPr>
          <p:cNvPr id="14" name="Text 12"/>
          <p:cNvSpPr/>
          <p:nvPr/>
        </p:nvSpPr>
        <p:spPr>
          <a:xfrm>
            <a:off x="10555188" y="3752850"/>
            <a:ext cx="671612"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en caché</a:t>
            </a:r>
            <a:endParaRPr lang="en-US" sz="1200" dirty="0"/>
          </a:p>
        </p:txBody>
      </p:sp>
      <p:sp>
        <p:nvSpPr>
          <p:cNvPr id="15" name="Shape 13"/>
          <p:cNvSpPr/>
          <p:nvPr/>
        </p:nvSpPr>
        <p:spPr>
          <a:xfrm>
            <a:off x="3765550" y="4235450"/>
            <a:ext cx="7607300" cy="546100"/>
          </a:xfrm>
          <a:prstGeom prst="roundRect">
            <a:avLst>
              <a:gd name="adj" fmla="val 17442"/>
            </a:avLst>
          </a:prstGeom>
          <a:solidFill>
            <a:srgbClr val="FFFFFF"/>
          </a:solidFill>
          <a:ln w="12700">
            <a:solidFill>
              <a:srgbClr val="1E293B"/>
            </a:solidFill>
            <a:prstDash val="solid"/>
          </a:ln>
        </p:spPr>
      </p:sp>
      <p:sp>
        <p:nvSpPr>
          <p:cNvPr id="16" name="Text 14"/>
          <p:cNvSpPr/>
          <p:nvPr/>
        </p:nvSpPr>
        <p:spPr>
          <a:xfrm>
            <a:off x="3949700" y="4394597"/>
            <a:ext cx="843359"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COPY . .</a:t>
            </a:r>
            <a:endParaRPr lang="en-US" sz="1300" dirty="0"/>
          </a:p>
        </p:txBody>
      </p:sp>
      <p:sp>
        <p:nvSpPr>
          <p:cNvPr id="17" name="Text 15"/>
          <p:cNvSpPr/>
          <p:nvPr/>
        </p:nvSpPr>
        <p:spPr>
          <a:xfrm>
            <a:off x="10161389" y="4413250"/>
            <a:ext cx="10781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se reconstruye</a:t>
            </a:r>
            <a:endParaRPr lang="en-US" sz="1200" dirty="0"/>
          </a:p>
        </p:txBody>
      </p:sp>
      <p:sp>
        <p:nvSpPr>
          <p:cNvPr id="18" name="Shape 16"/>
          <p:cNvSpPr/>
          <p:nvPr/>
        </p:nvSpPr>
        <p:spPr>
          <a:xfrm>
            <a:off x="3765550" y="4895850"/>
            <a:ext cx="7607300" cy="546100"/>
          </a:xfrm>
          <a:prstGeom prst="roundRect">
            <a:avLst>
              <a:gd name="adj" fmla="val 17442"/>
            </a:avLst>
          </a:prstGeom>
          <a:solidFill>
            <a:srgbClr val="FFFFFF"/>
          </a:solidFill>
          <a:ln w="12700">
            <a:solidFill>
              <a:srgbClr val="1E293B"/>
            </a:solidFill>
            <a:prstDash val="solid"/>
          </a:ln>
        </p:spPr>
      </p:sp>
      <p:sp>
        <p:nvSpPr>
          <p:cNvPr id="19" name="Text 17"/>
          <p:cNvSpPr/>
          <p:nvPr/>
        </p:nvSpPr>
        <p:spPr>
          <a:xfrm>
            <a:off x="3949700" y="5054997"/>
            <a:ext cx="3265038"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1E293B"/>
                </a:solidFill>
                <a:latin typeface="IBM Plex Mono" pitchFamily="34" charset="0"/>
                <a:ea typeface="IBM Plex Mono" pitchFamily="34" charset="-122"/>
                <a:cs typeface="IBM Plex Mono" pitchFamily="34" charset="-120"/>
              </a:rPr>
              <a:t>EXPOSE 7860 · CMD ["uvicorn", …]</a:t>
            </a:r>
            <a:endParaRPr lang="en-US" sz="1300" dirty="0"/>
          </a:p>
        </p:txBody>
      </p:sp>
      <p:sp>
        <p:nvSpPr>
          <p:cNvPr id="20" name="Text 18"/>
          <p:cNvSpPr/>
          <p:nvPr/>
        </p:nvSpPr>
        <p:spPr>
          <a:xfrm>
            <a:off x="10161389" y="5073650"/>
            <a:ext cx="1078111"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se reconstruye</a:t>
            </a:r>
            <a:endParaRPr lang="en-US" sz="1200" dirty="0"/>
          </a:p>
        </p:txBody>
      </p:sp>
      <p:sp>
        <p:nvSpPr>
          <p:cNvPr id="21" name="Text 19"/>
          <p:cNvSpPr/>
          <p:nvPr/>
        </p:nvSpPr>
        <p:spPr>
          <a:xfrm>
            <a:off x="812800" y="1587500"/>
            <a:ext cx="2616200"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Capas de la imagen, en el orden del Dockerfile</a:t>
            </a:r>
            <a:endParaRPr lang="en-US" sz="1400" dirty="0"/>
          </a:p>
        </p:txBody>
      </p:sp>
      <p:sp>
        <p:nvSpPr>
          <p:cNvPr id="22" name="Shape 20"/>
          <p:cNvSpPr/>
          <p:nvPr/>
        </p:nvSpPr>
        <p:spPr>
          <a:xfrm>
            <a:off x="819150" y="4235450"/>
            <a:ext cx="2019300" cy="546100"/>
          </a:xfrm>
          <a:prstGeom prst="roundRect">
            <a:avLst>
              <a:gd name="adj" fmla="val 17442"/>
            </a:avLst>
          </a:prstGeom>
          <a:solidFill>
            <a:srgbClr val="FFFFFF"/>
          </a:solidFill>
          <a:ln w="12700">
            <a:solidFill>
              <a:srgbClr val="1E293B"/>
            </a:solidFill>
            <a:prstDash val="solid"/>
          </a:ln>
        </p:spPr>
      </p:sp>
      <p:sp>
        <p:nvSpPr>
          <p:cNvPr id="23" name="Text 21"/>
          <p:cNvSpPr/>
          <p:nvPr/>
        </p:nvSpPr>
        <p:spPr>
          <a:xfrm>
            <a:off x="1077119" y="4400947"/>
            <a:ext cx="1503263"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Cambias agent.py</a:t>
            </a:r>
            <a:endParaRPr lang="en-US" sz="1400" dirty="0"/>
          </a:p>
        </p:txBody>
      </p:sp>
      <p:pic>
        <p:nvPicPr>
          <p:cNvPr id="24" name="Image 0" descr="connector">    </p:cNvPr>
          <p:cNvPicPr>
            <a:picLocks noChangeAspect="1"/>
          </p:cNvPicPr>
          <p:nvPr/>
        </p:nvPicPr>
        <p:blipFill>
          <a:blip r:embed="rId1"/>
          <a:srcRect l="0" r="0" t="0" b="0"/>
          <a:stretch/>
        </p:blipFill>
        <p:spPr>
          <a:xfrm>
            <a:off x="2768600" y="4432300"/>
            <a:ext cx="1066800" cy="152400"/>
          </a:xfrm>
          <a:prstGeom prst="rect">
            <a:avLst/>
          </a:prstGeom>
        </p:spPr>
      </p:pic>
      <p:sp>
        <p:nvSpPr>
          <p:cNvPr id="25" name="Text 22"/>
          <p:cNvSpPr/>
          <p:nvPr/>
        </p:nvSpPr>
        <p:spPr>
          <a:xfrm>
            <a:off x="2895600" y="3975100"/>
            <a:ext cx="8636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cambio</a:t>
            </a:r>
            <a:endParaRPr lang="en-US" sz="1400" dirty="0"/>
          </a:p>
        </p:txBody>
      </p:sp>
      <p:sp>
        <p:nvSpPr>
          <p:cNvPr id="26" name="Text 2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09/29</a:t>
            </a:r>
            <a:endParaRPr lang="en-US" sz="1200" dirty="0"/>
          </a:p>
        </p:txBody>
      </p:sp>
      <p:pic>
        <p:nvPicPr>
          <p:cNvPr id="27"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Lo que el Dockerfile no lleva</a:t>
            </a:r>
            <a:endParaRPr lang="en-US" sz="3600" dirty="0"/>
          </a:p>
        </p:txBody>
      </p:sp>
      <p:sp>
        <p:nvSpPr>
          <p:cNvPr id="3" name="Shape 1"/>
          <p:cNvSpPr/>
          <p:nvPr/>
        </p:nvSpPr>
        <p:spPr>
          <a:xfrm>
            <a:off x="11372850" y="1574205"/>
            <a:ext cx="0" cy="2520950"/>
          </a:xfrm>
          <a:prstGeom prst="line">
            <a:avLst/>
          </a:prstGeom>
          <a:noFill/>
          <a:ln w="12700">
            <a:solidFill>
              <a:srgbClr val="CED8E3"/>
            </a:solidFill>
            <a:prstDash val="solid"/>
          </a:ln>
        </p:spPr>
      </p:sp>
      <p:sp>
        <p:nvSpPr>
          <p:cNvPr id="4" name="Shape 2"/>
          <p:cNvSpPr/>
          <p:nvPr/>
        </p:nvSpPr>
        <p:spPr>
          <a:xfrm>
            <a:off x="812800" y="4088805"/>
            <a:ext cx="10566400" cy="0"/>
          </a:xfrm>
          <a:prstGeom prst="line">
            <a:avLst/>
          </a:prstGeom>
          <a:noFill/>
          <a:ln w="12700">
            <a:solidFill>
              <a:srgbClr val="CED8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6905"/>
          <a:ext cx="10541000" cy="2495550"/>
        </p:xfrm>
        <a:graphic>
          <a:graphicData uri="http://schemas.openxmlformats.org/drawingml/2006/table">
            <a:tbl>
              <a:tblPr/>
              <a:tblGrid>
                <a:gridCol w="3583940"/>
                <a:gridCol w="6957060"/>
              </a:tblGrid>
              <a:tr h="438150">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No lleva</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Por qué</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68580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Credenciales (ARG o ENV con secretos)</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Van como Space secrets. Una imagen se puede exportar y compartir: un secreto horneado viaja con ella.</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8580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Creación de un usuario no-root</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endurecimiento de contenedores queda fuera de alcance (Curso 2). Se declara la omisión para no dar una falsa sensación de seguridad.</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8580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HEALTHCHECK de Docker</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El curso verifica /health con docente/verificar_despliegue.py. La plataforma exige que la app escuche en el puerto declarado (7860).</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Text 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10/29</a:t>
            </a:r>
            <a:endParaRPr lang="en-US" sz="1200" dirty="0"/>
          </a:p>
        </p:txBody>
      </p:sp>
      <p:pic>
        <p:nvPicPr>
          <p:cNvPr id="7"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FastAPI envuelve al agente</a:t>
            </a:r>
            <a:endParaRPr lang="en-US" sz="3600" dirty="0"/>
          </a:p>
        </p:txBody>
      </p:sp>
      <p:sp>
        <p:nvSpPr>
          <p:cNvPr id="3" name="Shape 1"/>
          <p:cNvSpPr/>
          <p:nvPr/>
        </p:nvSpPr>
        <p:spPr>
          <a:xfrm>
            <a:off x="3206750" y="1593850"/>
            <a:ext cx="5854700" cy="4114800"/>
          </a:xfrm>
          <a:prstGeom prst="roundRect">
            <a:avLst>
              <a:gd name="adj" fmla="val 3549"/>
            </a:avLst>
          </a:prstGeom>
          <a:solidFill>
            <a:srgbClr val="E9F0F7"/>
          </a:solidFill>
          <a:ln w="12700">
            <a:solidFill>
              <a:srgbClr val="526277"/>
            </a:solidFill>
            <a:prstDash val="solid"/>
          </a:ln>
        </p:spPr>
      </p:sp>
      <p:sp>
        <p:nvSpPr>
          <p:cNvPr id="4" name="Text 2"/>
          <p:cNvSpPr/>
          <p:nvPr/>
        </p:nvSpPr>
        <p:spPr>
          <a:xfrm>
            <a:off x="3340100" y="1676400"/>
            <a:ext cx="575564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HF Space · contenedor Docker</a:t>
            </a:r>
            <a:endParaRPr lang="en-US" sz="1400" dirty="0"/>
          </a:p>
        </p:txBody>
      </p:sp>
      <p:sp>
        <p:nvSpPr>
          <p:cNvPr id="5" name="Shape 3"/>
          <p:cNvSpPr/>
          <p:nvPr/>
        </p:nvSpPr>
        <p:spPr>
          <a:xfrm>
            <a:off x="5581650" y="1974850"/>
            <a:ext cx="3289300" cy="3543300"/>
          </a:xfrm>
          <a:prstGeom prst="roundRect">
            <a:avLst>
              <a:gd name="adj" fmla="val 4440"/>
            </a:avLst>
          </a:prstGeom>
          <a:solidFill>
            <a:srgbClr val="E9F0F7"/>
          </a:solidFill>
          <a:ln w="12700">
            <a:solidFill>
              <a:srgbClr val="526277"/>
            </a:solidFill>
            <a:prstDash val="solid"/>
          </a:ln>
        </p:spPr>
      </p:sp>
      <p:sp>
        <p:nvSpPr>
          <p:cNvPr id="6" name="Text 4"/>
          <p:cNvSpPr/>
          <p:nvPr/>
        </p:nvSpPr>
        <p:spPr>
          <a:xfrm>
            <a:off x="5715000" y="2057400"/>
            <a:ext cx="311327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 agent.py del L6</a:t>
            </a:r>
            <a:endParaRPr lang="en-US" sz="1400" dirty="0"/>
          </a:p>
        </p:txBody>
      </p:sp>
      <p:sp>
        <p:nvSpPr>
          <p:cNvPr id="7" name="Shape 5"/>
          <p:cNvSpPr/>
          <p:nvPr/>
        </p:nvSpPr>
        <p:spPr>
          <a:xfrm>
            <a:off x="819150" y="4133850"/>
            <a:ext cx="1003300" cy="749300"/>
          </a:xfrm>
          <a:prstGeom prst="roundRect">
            <a:avLst>
              <a:gd name="adj" fmla="val 12712"/>
            </a:avLst>
          </a:prstGeom>
          <a:solidFill>
            <a:srgbClr val="FFFFFF"/>
          </a:solidFill>
          <a:ln w="12700">
            <a:solidFill>
              <a:srgbClr val="1E293B"/>
            </a:solidFill>
            <a:prstDash val="solid"/>
          </a:ln>
        </p:spPr>
      </p:sp>
      <p:sp>
        <p:nvSpPr>
          <p:cNvPr id="8" name="Text 6"/>
          <p:cNvSpPr/>
          <p:nvPr/>
        </p:nvSpPr>
        <p:spPr>
          <a:xfrm>
            <a:off x="1007765" y="4292997"/>
            <a:ext cx="62607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a:t>
            </a:r>
            <a:endParaRPr lang="en-US" sz="1400" dirty="0"/>
          </a:p>
        </p:txBody>
      </p:sp>
      <p:sp>
        <p:nvSpPr>
          <p:cNvPr id="9" name="Text 7"/>
          <p:cNvSpPr/>
          <p:nvPr/>
        </p:nvSpPr>
        <p:spPr>
          <a:xfrm>
            <a:off x="1106388" y="4533503"/>
            <a:ext cx="42882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HTTP</a:t>
            </a:r>
            <a:endParaRPr lang="en-US" sz="1200" dirty="0"/>
          </a:p>
        </p:txBody>
      </p:sp>
      <p:sp>
        <p:nvSpPr>
          <p:cNvPr id="10" name="Shape 8"/>
          <p:cNvSpPr/>
          <p:nvPr/>
        </p:nvSpPr>
        <p:spPr>
          <a:xfrm>
            <a:off x="3467100" y="4140200"/>
            <a:ext cx="1244600" cy="736600"/>
          </a:xfrm>
          <a:prstGeom prst="roundRect">
            <a:avLst>
              <a:gd name="adj" fmla="val 12069"/>
            </a:avLst>
          </a:prstGeom>
          <a:solidFill>
            <a:srgbClr val="FFF0EB"/>
          </a:solidFill>
          <a:ln w="25400">
            <a:solidFill>
              <a:srgbClr val="FF5733"/>
            </a:solidFill>
            <a:prstDash val="solid"/>
          </a:ln>
        </p:spPr>
      </p:sp>
      <p:sp>
        <p:nvSpPr>
          <p:cNvPr id="11" name="Text 9"/>
          <p:cNvSpPr/>
          <p:nvPr/>
        </p:nvSpPr>
        <p:spPr>
          <a:xfrm>
            <a:off x="3740547" y="4292997"/>
            <a:ext cx="69760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FastAPI</a:t>
            </a:r>
            <a:endParaRPr lang="en-US" sz="1400" dirty="0"/>
          </a:p>
        </p:txBody>
      </p:sp>
      <p:sp>
        <p:nvSpPr>
          <p:cNvPr id="12" name="Text 10"/>
          <p:cNvSpPr/>
          <p:nvPr/>
        </p:nvSpPr>
        <p:spPr>
          <a:xfrm>
            <a:off x="3699966" y="4533503"/>
            <a:ext cx="77886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app/api.py</a:t>
            </a:r>
            <a:endParaRPr lang="en-US" sz="1200" dirty="0"/>
          </a:p>
        </p:txBody>
      </p:sp>
      <p:sp>
        <p:nvSpPr>
          <p:cNvPr id="13" name="Shape 11"/>
          <p:cNvSpPr/>
          <p:nvPr/>
        </p:nvSpPr>
        <p:spPr>
          <a:xfrm>
            <a:off x="5772150" y="2355850"/>
            <a:ext cx="2908300" cy="685800"/>
          </a:xfrm>
          <a:prstGeom prst="roundRect">
            <a:avLst>
              <a:gd name="adj" fmla="val 13889"/>
            </a:avLst>
          </a:prstGeom>
          <a:solidFill>
            <a:srgbClr val="FFFFFF"/>
          </a:solidFill>
          <a:ln w="12700">
            <a:solidFill>
              <a:srgbClr val="1E293B"/>
            </a:solidFill>
            <a:prstDash val="solid"/>
          </a:ln>
        </p:spPr>
      </p:sp>
      <p:sp>
        <p:nvSpPr>
          <p:cNvPr id="14" name="Text 12"/>
          <p:cNvSpPr/>
          <p:nvPr/>
        </p:nvSpPr>
        <p:spPr>
          <a:xfrm>
            <a:off x="6476206" y="2483247"/>
            <a:ext cx="15000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 · Qwen3-32B</a:t>
            </a:r>
            <a:endParaRPr lang="en-US" sz="1400" dirty="0"/>
          </a:p>
        </p:txBody>
      </p:sp>
      <p:sp>
        <p:nvSpPr>
          <p:cNvPr id="15" name="Text 13"/>
          <p:cNvSpPr/>
          <p:nvPr/>
        </p:nvSpPr>
        <p:spPr>
          <a:xfrm>
            <a:off x="6638826" y="2723753"/>
            <a:ext cx="11749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vía HF Inference</a:t>
            </a:r>
            <a:endParaRPr lang="en-US" sz="1200" dirty="0"/>
          </a:p>
        </p:txBody>
      </p:sp>
      <p:sp>
        <p:nvSpPr>
          <p:cNvPr id="16" name="Shape 14"/>
          <p:cNvSpPr/>
          <p:nvPr/>
        </p:nvSpPr>
        <p:spPr>
          <a:xfrm>
            <a:off x="5772150" y="3879850"/>
            <a:ext cx="2908300" cy="1384300"/>
          </a:xfrm>
          <a:prstGeom prst="roundRect">
            <a:avLst>
              <a:gd name="adj" fmla="val 6881"/>
            </a:avLst>
          </a:prstGeom>
          <a:solidFill>
            <a:srgbClr val="FFFFFF"/>
          </a:solidFill>
          <a:ln w="12700">
            <a:solidFill>
              <a:srgbClr val="1E293B"/>
            </a:solidFill>
            <a:prstDash val="solid"/>
          </a:ln>
        </p:spPr>
      </p:sp>
      <p:sp>
        <p:nvSpPr>
          <p:cNvPr id="17" name="Text 15"/>
          <p:cNvSpPr/>
          <p:nvPr/>
        </p:nvSpPr>
        <p:spPr>
          <a:xfrm>
            <a:off x="6559451" y="4356497"/>
            <a:ext cx="133369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 · bucle</a:t>
            </a:r>
            <a:endParaRPr lang="en-US" sz="1400" dirty="0"/>
          </a:p>
        </p:txBody>
      </p:sp>
      <p:sp>
        <p:nvSpPr>
          <p:cNvPr id="18" name="Text 16"/>
          <p:cNvSpPr/>
          <p:nvPr/>
        </p:nvSpPr>
        <p:spPr>
          <a:xfrm>
            <a:off x="6275374" y="4597003"/>
            <a:ext cx="190175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tools · retriever · guardrails</a:t>
            </a:r>
            <a:endParaRPr lang="en-US" sz="1200" dirty="0"/>
          </a:p>
        </p:txBody>
      </p:sp>
      <p:sp>
        <p:nvSpPr>
          <p:cNvPr id="19" name="Shape 17"/>
          <p:cNvSpPr/>
          <p:nvPr/>
        </p:nvSpPr>
        <p:spPr>
          <a:xfrm>
            <a:off x="9734550" y="4006850"/>
            <a:ext cx="1638300" cy="622300"/>
          </a:xfrm>
          <a:prstGeom prst="roundRect">
            <a:avLst>
              <a:gd name="adj" fmla="val 15306"/>
            </a:avLst>
          </a:prstGeom>
          <a:solidFill>
            <a:srgbClr val="FFFFFF"/>
          </a:solidFill>
          <a:ln w="12700">
            <a:solidFill>
              <a:srgbClr val="1E293B"/>
            </a:solidFill>
            <a:prstDash val="solid"/>
          </a:ln>
        </p:spPr>
      </p:sp>
      <p:sp>
        <p:nvSpPr>
          <p:cNvPr id="20" name="Text 18"/>
          <p:cNvSpPr/>
          <p:nvPr/>
        </p:nvSpPr>
        <p:spPr>
          <a:xfrm>
            <a:off x="9938445" y="4210447"/>
            <a:ext cx="123041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 API</a:t>
            </a:r>
            <a:endParaRPr lang="en-US" sz="1400" dirty="0"/>
          </a:p>
        </p:txBody>
      </p:sp>
      <p:sp>
        <p:nvSpPr>
          <p:cNvPr id="21" name="Shape 19"/>
          <p:cNvSpPr/>
          <p:nvPr/>
        </p:nvSpPr>
        <p:spPr>
          <a:xfrm>
            <a:off x="9734550" y="4895850"/>
            <a:ext cx="1638300" cy="622300"/>
          </a:xfrm>
          <a:prstGeom prst="roundRect">
            <a:avLst>
              <a:gd name="adj" fmla="val 15306"/>
            </a:avLst>
          </a:prstGeom>
          <a:solidFill>
            <a:srgbClr val="FFFFFF"/>
          </a:solidFill>
          <a:ln w="12700">
            <a:solidFill>
              <a:srgbClr val="1E293B"/>
            </a:solidFill>
            <a:prstDash val="solid"/>
          </a:ln>
        </p:spPr>
      </p:sp>
      <p:sp>
        <p:nvSpPr>
          <p:cNvPr id="22" name="Text 20"/>
          <p:cNvSpPr/>
          <p:nvPr/>
        </p:nvSpPr>
        <p:spPr>
          <a:xfrm>
            <a:off x="10246320" y="5099447"/>
            <a:ext cx="6147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a:t>
            </a:r>
            <a:endParaRPr lang="en-US" sz="1400" dirty="0"/>
          </a:p>
        </p:txBody>
      </p:sp>
      <p:pic>
        <p:nvPicPr>
          <p:cNvPr id="23" name="Image 0" descr="connector">    </p:cNvPr>
          <p:cNvPicPr>
            <a:picLocks noChangeAspect="1"/>
          </p:cNvPicPr>
          <p:nvPr/>
        </p:nvPicPr>
        <p:blipFill>
          <a:blip r:embed="rId1"/>
          <a:srcRect l="0" r="0" t="0" b="0"/>
          <a:stretch/>
        </p:blipFill>
        <p:spPr>
          <a:xfrm>
            <a:off x="1778000" y="4279900"/>
            <a:ext cx="1727200" cy="101600"/>
          </a:xfrm>
          <a:prstGeom prst="rect">
            <a:avLst/>
          </a:prstGeom>
        </p:spPr>
      </p:pic>
      <p:sp>
        <p:nvSpPr>
          <p:cNvPr id="24" name="Text 21"/>
          <p:cNvSpPr/>
          <p:nvPr/>
        </p:nvSpPr>
        <p:spPr>
          <a:xfrm>
            <a:off x="1879600" y="4038600"/>
            <a:ext cx="1320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GET /health</a:t>
            </a:r>
            <a:endParaRPr lang="en-US" sz="1400" dirty="0"/>
          </a:p>
        </p:txBody>
      </p:sp>
      <p:pic>
        <p:nvPicPr>
          <p:cNvPr id="25" name="Image 1" descr="connector">    </p:cNvPr>
          <p:cNvPicPr>
            <a:picLocks noChangeAspect="1"/>
          </p:cNvPicPr>
          <p:nvPr/>
        </p:nvPicPr>
        <p:blipFill>
          <a:blip r:embed="rId2"/>
          <a:srcRect l="0" r="0" t="0" b="0"/>
          <a:stretch/>
        </p:blipFill>
        <p:spPr>
          <a:xfrm>
            <a:off x="1778000" y="4635500"/>
            <a:ext cx="1727200" cy="101600"/>
          </a:xfrm>
          <a:prstGeom prst="rect">
            <a:avLst/>
          </a:prstGeom>
        </p:spPr>
      </p:pic>
      <p:sp>
        <p:nvSpPr>
          <p:cNvPr id="26" name="Text 22"/>
          <p:cNvSpPr/>
          <p:nvPr/>
        </p:nvSpPr>
        <p:spPr>
          <a:xfrm>
            <a:off x="1879600" y="4762500"/>
            <a:ext cx="1320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POST /chat</a:t>
            </a:r>
            <a:endParaRPr lang="en-US" sz="1400" dirty="0"/>
          </a:p>
        </p:txBody>
      </p:sp>
      <p:pic>
        <p:nvPicPr>
          <p:cNvPr id="27" name="Image 2" descr="connector">    </p:cNvPr>
          <p:cNvPicPr>
            <a:picLocks noChangeAspect="1"/>
          </p:cNvPicPr>
          <p:nvPr/>
        </p:nvPicPr>
        <p:blipFill>
          <a:blip r:embed="rId3"/>
          <a:srcRect l="0" r="0" t="0" b="0"/>
          <a:stretch/>
        </p:blipFill>
        <p:spPr>
          <a:xfrm>
            <a:off x="4648200" y="4432300"/>
            <a:ext cx="1193800" cy="152400"/>
          </a:xfrm>
          <a:prstGeom prst="rect">
            <a:avLst/>
          </a:prstGeom>
        </p:spPr>
      </p:pic>
      <p:sp>
        <p:nvSpPr>
          <p:cNvPr id="28" name="Text 23"/>
          <p:cNvSpPr/>
          <p:nvPr/>
        </p:nvSpPr>
        <p:spPr>
          <a:xfrm>
            <a:off x="4775200" y="4216400"/>
            <a:ext cx="8001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invoca</a:t>
            </a:r>
            <a:endParaRPr lang="en-US" sz="1400" dirty="0"/>
          </a:p>
        </p:txBody>
      </p:sp>
      <p:pic>
        <p:nvPicPr>
          <p:cNvPr id="29" name="Image 3" descr="connector">    </p:cNvPr>
          <p:cNvPicPr>
            <a:picLocks noChangeAspect="1"/>
          </p:cNvPicPr>
          <p:nvPr/>
        </p:nvPicPr>
        <p:blipFill>
          <a:blip r:embed="rId4"/>
          <a:srcRect l="0" r="0" t="0" b="0"/>
          <a:stretch/>
        </p:blipFill>
        <p:spPr>
          <a:xfrm>
            <a:off x="6667500" y="2997200"/>
            <a:ext cx="101600" cy="927100"/>
          </a:xfrm>
          <a:prstGeom prst="rect">
            <a:avLst/>
          </a:prstGeom>
        </p:spPr>
      </p:pic>
      <p:sp>
        <p:nvSpPr>
          <p:cNvPr id="30" name="Text 24"/>
          <p:cNvSpPr/>
          <p:nvPr/>
        </p:nvSpPr>
        <p:spPr>
          <a:xfrm>
            <a:off x="5816600" y="3352800"/>
            <a:ext cx="9017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mensajes</a:t>
            </a:r>
            <a:endParaRPr lang="en-US" sz="1400" dirty="0"/>
          </a:p>
        </p:txBody>
      </p:sp>
      <p:pic>
        <p:nvPicPr>
          <p:cNvPr id="31" name="Image 4" descr="connector">    </p:cNvPr>
          <p:cNvPicPr>
            <a:picLocks noChangeAspect="1"/>
          </p:cNvPicPr>
          <p:nvPr/>
        </p:nvPicPr>
        <p:blipFill>
          <a:blip r:embed="rId5"/>
          <a:srcRect l="0" r="0" t="0" b="0"/>
          <a:stretch/>
        </p:blipFill>
        <p:spPr>
          <a:xfrm>
            <a:off x="7683500" y="2997200"/>
            <a:ext cx="101600" cy="927100"/>
          </a:xfrm>
          <a:prstGeom prst="rect">
            <a:avLst/>
          </a:prstGeom>
        </p:spPr>
      </p:pic>
      <p:sp>
        <p:nvSpPr>
          <p:cNvPr id="32" name="Text 25"/>
          <p:cNvSpPr/>
          <p:nvPr/>
        </p:nvSpPr>
        <p:spPr>
          <a:xfrm>
            <a:off x="7797800" y="3352800"/>
            <a:ext cx="876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pic>
        <p:nvPicPr>
          <p:cNvPr id="33" name="Image 5" descr="connector">    </p:cNvPr>
          <p:cNvPicPr>
            <a:picLocks noChangeAspect="1"/>
          </p:cNvPicPr>
          <p:nvPr/>
        </p:nvPicPr>
        <p:blipFill>
          <a:blip r:embed="rId6"/>
          <a:srcRect l="0" r="0" t="0" b="0"/>
          <a:stretch/>
        </p:blipFill>
        <p:spPr>
          <a:xfrm>
            <a:off x="8636000" y="4267200"/>
            <a:ext cx="1143000" cy="101600"/>
          </a:xfrm>
          <a:prstGeom prst="rect">
            <a:avLst/>
          </a:prstGeom>
        </p:spPr>
      </p:pic>
      <p:sp>
        <p:nvSpPr>
          <p:cNvPr id="34" name="Text 26"/>
          <p:cNvSpPr/>
          <p:nvPr/>
        </p:nvSpPr>
        <p:spPr>
          <a:xfrm>
            <a:off x="9118600" y="4038600"/>
            <a:ext cx="6096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p:txBody>
      </p:sp>
      <p:pic>
        <p:nvPicPr>
          <p:cNvPr id="35" name="Image 6" descr="connector">    </p:cNvPr>
          <p:cNvPicPr>
            <a:picLocks noChangeAspect="1"/>
          </p:cNvPicPr>
          <p:nvPr/>
        </p:nvPicPr>
        <p:blipFill>
          <a:blip r:embed="rId7"/>
          <a:srcRect l="0" r="0" t="0" b="0"/>
          <a:stretch/>
        </p:blipFill>
        <p:spPr>
          <a:xfrm>
            <a:off x="8636000" y="5156200"/>
            <a:ext cx="1143000" cy="101600"/>
          </a:xfrm>
          <a:prstGeom prst="rect">
            <a:avLst/>
          </a:prstGeom>
        </p:spPr>
      </p:pic>
      <p:sp>
        <p:nvSpPr>
          <p:cNvPr id="36" name="Text 27"/>
          <p:cNvSpPr/>
          <p:nvPr/>
        </p:nvSpPr>
        <p:spPr>
          <a:xfrm>
            <a:off x="9118600" y="4927600"/>
            <a:ext cx="6096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RAG</a:t>
            </a:r>
            <a:endParaRPr lang="en-US" sz="1400" dirty="0"/>
          </a:p>
        </p:txBody>
      </p:sp>
      <p:sp>
        <p:nvSpPr>
          <p:cNvPr id="37" name="Text 28"/>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11/29</a:t>
            </a:r>
            <a:endParaRPr lang="en-US" sz="1200" dirty="0"/>
          </a:p>
        </p:txBody>
      </p:sp>
      <p:pic>
        <p:nvPicPr>
          <p:cNvPr id="38" name="Image 7" descr="AriwaLabs">    </p:cNvPr>
          <p:cNvPicPr>
            <a:picLocks noChangeAspect="1"/>
          </p:cNvPicPr>
          <p:nvPr/>
        </p:nvPicPr>
        <p:blipFill>
          <a:blip r:embed="rId8"/>
          <a:srcRect l="-9345" r="-9345" t="0" b="0"/>
          <a:stretch/>
        </p:blipFill>
        <p:spPr>
          <a:xfrm>
            <a:off x="10680700" y="6223000"/>
            <a:ext cx="698500" cy="254000"/>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GET /health responde sin credencial</a:t>
            </a:r>
            <a:endParaRPr lang="en-US" sz="3600" dirty="0"/>
          </a:p>
        </p:txBody>
      </p:sp>
      <p:sp>
        <p:nvSpPr>
          <p:cNvPr id="3" name="Shape 1"/>
          <p:cNvSpPr/>
          <p:nvPr/>
        </p:nvSpPr>
        <p:spPr>
          <a:xfrm>
            <a:off x="3206750" y="1593850"/>
            <a:ext cx="5854700" cy="4114800"/>
          </a:xfrm>
          <a:prstGeom prst="roundRect">
            <a:avLst>
              <a:gd name="adj" fmla="val 3549"/>
            </a:avLst>
          </a:prstGeom>
          <a:solidFill>
            <a:srgbClr val="E9F0F7"/>
          </a:solidFill>
          <a:ln w="12700">
            <a:solidFill>
              <a:srgbClr val="526277"/>
            </a:solidFill>
            <a:prstDash val="solid"/>
          </a:ln>
        </p:spPr>
      </p:sp>
      <p:sp>
        <p:nvSpPr>
          <p:cNvPr id="4" name="Text 2"/>
          <p:cNvSpPr/>
          <p:nvPr/>
        </p:nvSpPr>
        <p:spPr>
          <a:xfrm>
            <a:off x="3340100" y="1676400"/>
            <a:ext cx="575564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HF Space · contenedor Docker</a:t>
            </a:r>
            <a:endParaRPr lang="en-US" sz="1400" dirty="0"/>
          </a:p>
        </p:txBody>
      </p:sp>
      <p:sp>
        <p:nvSpPr>
          <p:cNvPr id="5" name="Shape 3"/>
          <p:cNvSpPr/>
          <p:nvPr/>
        </p:nvSpPr>
        <p:spPr>
          <a:xfrm>
            <a:off x="5581650" y="1974850"/>
            <a:ext cx="3289300" cy="3543300"/>
          </a:xfrm>
          <a:prstGeom prst="roundRect">
            <a:avLst>
              <a:gd name="adj" fmla="val 4440"/>
            </a:avLst>
          </a:prstGeom>
          <a:solidFill>
            <a:srgbClr val="E9F0F7"/>
          </a:solidFill>
          <a:ln w="12700">
            <a:solidFill>
              <a:srgbClr val="526277"/>
            </a:solidFill>
            <a:prstDash val="solid"/>
          </a:ln>
        </p:spPr>
      </p:sp>
      <p:sp>
        <p:nvSpPr>
          <p:cNvPr id="6" name="Text 4"/>
          <p:cNvSpPr/>
          <p:nvPr/>
        </p:nvSpPr>
        <p:spPr>
          <a:xfrm>
            <a:off x="5715000" y="2057400"/>
            <a:ext cx="311327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 agent.py del L6</a:t>
            </a:r>
            <a:endParaRPr lang="en-US" sz="1400" dirty="0"/>
          </a:p>
        </p:txBody>
      </p:sp>
      <p:sp>
        <p:nvSpPr>
          <p:cNvPr id="7" name="Shape 5"/>
          <p:cNvSpPr/>
          <p:nvPr/>
        </p:nvSpPr>
        <p:spPr>
          <a:xfrm>
            <a:off x="819150" y="4133850"/>
            <a:ext cx="1003300" cy="749300"/>
          </a:xfrm>
          <a:prstGeom prst="roundRect">
            <a:avLst>
              <a:gd name="adj" fmla="val 12712"/>
            </a:avLst>
          </a:prstGeom>
          <a:solidFill>
            <a:srgbClr val="FFFFFF"/>
          </a:solidFill>
          <a:ln w="12700">
            <a:solidFill>
              <a:srgbClr val="1E293B"/>
            </a:solidFill>
            <a:prstDash val="solid"/>
          </a:ln>
        </p:spPr>
      </p:sp>
      <p:sp>
        <p:nvSpPr>
          <p:cNvPr id="8" name="Text 6"/>
          <p:cNvSpPr/>
          <p:nvPr/>
        </p:nvSpPr>
        <p:spPr>
          <a:xfrm>
            <a:off x="1007765" y="4292997"/>
            <a:ext cx="62607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a:t>
            </a:r>
            <a:endParaRPr lang="en-US" sz="1400" dirty="0"/>
          </a:p>
        </p:txBody>
      </p:sp>
      <p:sp>
        <p:nvSpPr>
          <p:cNvPr id="9" name="Text 7"/>
          <p:cNvSpPr/>
          <p:nvPr/>
        </p:nvSpPr>
        <p:spPr>
          <a:xfrm>
            <a:off x="1106388" y="4533503"/>
            <a:ext cx="42882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HTTP</a:t>
            </a:r>
            <a:endParaRPr lang="en-US" sz="1200" dirty="0"/>
          </a:p>
        </p:txBody>
      </p:sp>
      <p:sp>
        <p:nvSpPr>
          <p:cNvPr id="10" name="Shape 8"/>
          <p:cNvSpPr/>
          <p:nvPr/>
        </p:nvSpPr>
        <p:spPr>
          <a:xfrm>
            <a:off x="3467100" y="4140200"/>
            <a:ext cx="1244600" cy="736600"/>
          </a:xfrm>
          <a:prstGeom prst="roundRect">
            <a:avLst>
              <a:gd name="adj" fmla="val 12069"/>
            </a:avLst>
          </a:prstGeom>
          <a:solidFill>
            <a:srgbClr val="FFF0EB"/>
          </a:solidFill>
          <a:ln w="25400">
            <a:solidFill>
              <a:srgbClr val="FF5733"/>
            </a:solidFill>
            <a:prstDash val="solid"/>
          </a:ln>
        </p:spPr>
      </p:sp>
      <p:sp>
        <p:nvSpPr>
          <p:cNvPr id="11" name="Text 9"/>
          <p:cNvSpPr/>
          <p:nvPr/>
        </p:nvSpPr>
        <p:spPr>
          <a:xfrm>
            <a:off x="3740547" y="4292997"/>
            <a:ext cx="69760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FastAPI</a:t>
            </a:r>
            <a:endParaRPr lang="en-US" sz="1400" dirty="0"/>
          </a:p>
        </p:txBody>
      </p:sp>
      <p:sp>
        <p:nvSpPr>
          <p:cNvPr id="12" name="Text 10"/>
          <p:cNvSpPr/>
          <p:nvPr/>
        </p:nvSpPr>
        <p:spPr>
          <a:xfrm>
            <a:off x="3699966" y="4533503"/>
            <a:ext cx="77886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app/api.py</a:t>
            </a:r>
            <a:endParaRPr lang="en-US" sz="1200" dirty="0"/>
          </a:p>
        </p:txBody>
      </p:sp>
      <p:sp>
        <p:nvSpPr>
          <p:cNvPr id="13" name="Shape 11"/>
          <p:cNvSpPr/>
          <p:nvPr/>
        </p:nvSpPr>
        <p:spPr>
          <a:xfrm>
            <a:off x="5772150" y="2355850"/>
            <a:ext cx="2908300" cy="685800"/>
          </a:xfrm>
          <a:prstGeom prst="roundRect">
            <a:avLst>
              <a:gd name="adj" fmla="val 13889"/>
            </a:avLst>
          </a:prstGeom>
          <a:solidFill>
            <a:srgbClr val="FFFFFF"/>
          </a:solidFill>
          <a:ln w="12700">
            <a:solidFill>
              <a:srgbClr val="1E293B"/>
            </a:solidFill>
            <a:prstDash val="solid"/>
          </a:ln>
        </p:spPr>
      </p:sp>
      <p:sp>
        <p:nvSpPr>
          <p:cNvPr id="14" name="Text 12"/>
          <p:cNvSpPr/>
          <p:nvPr/>
        </p:nvSpPr>
        <p:spPr>
          <a:xfrm>
            <a:off x="6476206" y="2483247"/>
            <a:ext cx="15000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 · Qwen3-32B</a:t>
            </a:r>
            <a:endParaRPr lang="en-US" sz="1400" dirty="0"/>
          </a:p>
        </p:txBody>
      </p:sp>
      <p:sp>
        <p:nvSpPr>
          <p:cNvPr id="15" name="Text 13"/>
          <p:cNvSpPr/>
          <p:nvPr/>
        </p:nvSpPr>
        <p:spPr>
          <a:xfrm>
            <a:off x="6638826" y="2723753"/>
            <a:ext cx="11749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vía HF Inference</a:t>
            </a:r>
            <a:endParaRPr lang="en-US" sz="1200" dirty="0"/>
          </a:p>
        </p:txBody>
      </p:sp>
      <p:sp>
        <p:nvSpPr>
          <p:cNvPr id="16" name="Shape 14"/>
          <p:cNvSpPr/>
          <p:nvPr/>
        </p:nvSpPr>
        <p:spPr>
          <a:xfrm>
            <a:off x="5772150" y="3879850"/>
            <a:ext cx="2908300" cy="1384300"/>
          </a:xfrm>
          <a:prstGeom prst="roundRect">
            <a:avLst>
              <a:gd name="adj" fmla="val 6881"/>
            </a:avLst>
          </a:prstGeom>
          <a:solidFill>
            <a:srgbClr val="FFFFFF"/>
          </a:solidFill>
          <a:ln w="12700">
            <a:solidFill>
              <a:srgbClr val="1E293B"/>
            </a:solidFill>
            <a:prstDash val="solid"/>
          </a:ln>
        </p:spPr>
      </p:sp>
      <p:sp>
        <p:nvSpPr>
          <p:cNvPr id="17" name="Text 15"/>
          <p:cNvSpPr/>
          <p:nvPr/>
        </p:nvSpPr>
        <p:spPr>
          <a:xfrm>
            <a:off x="6559451" y="4356497"/>
            <a:ext cx="133369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 · bucle</a:t>
            </a:r>
            <a:endParaRPr lang="en-US" sz="1400" dirty="0"/>
          </a:p>
        </p:txBody>
      </p:sp>
      <p:sp>
        <p:nvSpPr>
          <p:cNvPr id="18" name="Text 16"/>
          <p:cNvSpPr/>
          <p:nvPr/>
        </p:nvSpPr>
        <p:spPr>
          <a:xfrm>
            <a:off x="6275374" y="4597003"/>
            <a:ext cx="190175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tools · retriever · guardrails</a:t>
            </a:r>
            <a:endParaRPr lang="en-US" sz="1200" dirty="0"/>
          </a:p>
        </p:txBody>
      </p:sp>
      <p:sp>
        <p:nvSpPr>
          <p:cNvPr id="19" name="Shape 17"/>
          <p:cNvSpPr/>
          <p:nvPr/>
        </p:nvSpPr>
        <p:spPr>
          <a:xfrm>
            <a:off x="9734550" y="4006850"/>
            <a:ext cx="1638300" cy="622300"/>
          </a:xfrm>
          <a:prstGeom prst="roundRect">
            <a:avLst>
              <a:gd name="adj" fmla="val 15306"/>
            </a:avLst>
          </a:prstGeom>
          <a:solidFill>
            <a:srgbClr val="FFFFFF"/>
          </a:solidFill>
          <a:ln w="12700">
            <a:solidFill>
              <a:srgbClr val="1E293B"/>
            </a:solidFill>
            <a:prstDash val="solid"/>
          </a:ln>
        </p:spPr>
      </p:sp>
      <p:sp>
        <p:nvSpPr>
          <p:cNvPr id="20" name="Text 18"/>
          <p:cNvSpPr/>
          <p:nvPr/>
        </p:nvSpPr>
        <p:spPr>
          <a:xfrm>
            <a:off x="9938445" y="4210447"/>
            <a:ext cx="123041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 API</a:t>
            </a:r>
            <a:endParaRPr lang="en-US" sz="1400" dirty="0"/>
          </a:p>
        </p:txBody>
      </p:sp>
      <p:sp>
        <p:nvSpPr>
          <p:cNvPr id="21" name="Shape 19"/>
          <p:cNvSpPr/>
          <p:nvPr/>
        </p:nvSpPr>
        <p:spPr>
          <a:xfrm>
            <a:off x="9734550" y="4895850"/>
            <a:ext cx="1638300" cy="622300"/>
          </a:xfrm>
          <a:prstGeom prst="roundRect">
            <a:avLst>
              <a:gd name="adj" fmla="val 15306"/>
            </a:avLst>
          </a:prstGeom>
          <a:solidFill>
            <a:srgbClr val="FFFFFF"/>
          </a:solidFill>
          <a:ln w="12700">
            <a:solidFill>
              <a:srgbClr val="1E293B"/>
            </a:solidFill>
            <a:prstDash val="solid"/>
          </a:ln>
        </p:spPr>
      </p:sp>
      <p:sp>
        <p:nvSpPr>
          <p:cNvPr id="22" name="Text 20"/>
          <p:cNvSpPr/>
          <p:nvPr/>
        </p:nvSpPr>
        <p:spPr>
          <a:xfrm>
            <a:off x="10246320" y="5099447"/>
            <a:ext cx="6147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a:t>
            </a:r>
            <a:endParaRPr lang="en-US" sz="1400" dirty="0"/>
          </a:p>
        </p:txBody>
      </p:sp>
      <p:pic>
        <p:nvPicPr>
          <p:cNvPr id="23" name="Image 0" descr="connector">    </p:cNvPr>
          <p:cNvPicPr>
            <a:picLocks noChangeAspect="1"/>
          </p:cNvPicPr>
          <p:nvPr/>
        </p:nvPicPr>
        <p:blipFill>
          <a:blip r:embed="rId1"/>
          <a:srcRect l="0" r="0" t="0" b="0"/>
          <a:stretch/>
        </p:blipFill>
        <p:spPr>
          <a:xfrm>
            <a:off x="1752600" y="4254500"/>
            <a:ext cx="1778000" cy="152400"/>
          </a:xfrm>
          <a:prstGeom prst="rect">
            <a:avLst/>
          </a:prstGeom>
        </p:spPr>
      </p:pic>
      <p:sp>
        <p:nvSpPr>
          <p:cNvPr id="24" name="Text 21"/>
          <p:cNvSpPr/>
          <p:nvPr/>
        </p:nvSpPr>
        <p:spPr>
          <a:xfrm>
            <a:off x="1879600" y="4038600"/>
            <a:ext cx="1320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GET /health</a:t>
            </a:r>
            <a:endParaRPr lang="en-US" sz="1400" dirty="0"/>
          </a:p>
        </p:txBody>
      </p:sp>
      <p:pic>
        <p:nvPicPr>
          <p:cNvPr id="25" name="Image 1" descr="connector">    </p:cNvPr>
          <p:cNvPicPr>
            <a:picLocks noChangeAspect="1"/>
          </p:cNvPicPr>
          <p:nvPr/>
        </p:nvPicPr>
        <p:blipFill>
          <a:blip r:embed="rId2"/>
          <a:srcRect l="0" r="0" t="0" b="0"/>
          <a:stretch/>
        </p:blipFill>
        <p:spPr>
          <a:xfrm>
            <a:off x="1778000" y="4635500"/>
            <a:ext cx="1727200" cy="101600"/>
          </a:xfrm>
          <a:prstGeom prst="rect">
            <a:avLst/>
          </a:prstGeom>
        </p:spPr>
      </p:pic>
      <p:sp>
        <p:nvSpPr>
          <p:cNvPr id="26" name="Text 22"/>
          <p:cNvSpPr/>
          <p:nvPr/>
        </p:nvSpPr>
        <p:spPr>
          <a:xfrm>
            <a:off x="1879600" y="4762500"/>
            <a:ext cx="1320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POST /chat</a:t>
            </a:r>
            <a:endParaRPr lang="en-US" sz="1400" dirty="0"/>
          </a:p>
        </p:txBody>
      </p:sp>
      <p:pic>
        <p:nvPicPr>
          <p:cNvPr id="27" name="Image 2" descr="connector">    </p:cNvPr>
          <p:cNvPicPr>
            <a:picLocks noChangeAspect="1"/>
          </p:cNvPicPr>
          <p:nvPr/>
        </p:nvPicPr>
        <p:blipFill>
          <a:blip r:embed="rId3"/>
          <a:srcRect l="0" r="0" t="0" b="0"/>
          <a:stretch/>
        </p:blipFill>
        <p:spPr>
          <a:xfrm>
            <a:off x="4673600" y="4457700"/>
            <a:ext cx="1143000" cy="101600"/>
          </a:xfrm>
          <a:prstGeom prst="rect">
            <a:avLst/>
          </a:prstGeom>
        </p:spPr>
      </p:pic>
      <p:sp>
        <p:nvSpPr>
          <p:cNvPr id="28" name="Text 23"/>
          <p:cNvSpPr/>
          <p:nvPr/>
        </p:nvSpPr>
        <p:spPr>
          <a:xfrm>
            <a:off x="4775200" y="4216400"/>
            <a:ext cx="8001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invoca</a:t>
            </a:r>
            <a:endParaRPr lang="en-US" sz="1400" dirty="0"/>
          </a:p>
        </p:txBody>
      </p:sp>
      <p:pic>
        <p:nvPicPr>
          <p:cNvPr id="29" name="Image 3" descr="connector">    </p:cNvPr>
          <p:cNvPicPr>
            <a:picLocks noChangeAspect="1"/>
          </p:cNvPicPr>
          <p:nvPr/>
        </p:nvPicPr>
        <p:blipFill>
          <a:blip r:embed="rId4"/>
          <a:srcRect l="0" r="0" t="0" b="0"/>
          <a:stretch/>
        </p:blipFill>
        <p:spPr>
          <a:xfrm>
            <a:off x="6667500" y="2997200"/>
            <a:ext cx="101600" cy="927100"/>
          </a:xfrm>
          <a:prstGeom prst="rect">
            <a:avLst/>
          </a:prstGeom>
        </p:spPr>
      </p:pic>
      <p:sp>
        <p:nvSpPr>
          <p:cNvPr id="30" name="Text 24"/>
          <p:cNvSpPr/>
          <p:nvPr/>
        </p:nvSpPr>
        <p:spPr>
          <a:xfrm>
            <a:off x="5816600" y="3352800"/>
            <a:ext cx="9017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mensajes</a:t>
            </a:r>
            <a:endParaRPr lang="en-US" sz="1400" dirty="0"/>
          </a:p>
        </p:txBody>
      </p:sp>
      <p:pic>
        <p:nvPicPr>
          <p:cNvPr id="31" name="Image 4" descr="connector">    </p:cNvPr>
          <p:cNvPicPr>
            <a:picLocks noChangeAspect="1"/>
          </p:cNvPicPr>
          <p:nvPr/>
        </p:nvPicPr>
        <p:blipFill>
          <a:blip r:embed="rId5"/>
          <a:srcRect l="0" r="0" t="0" b="0"/>
          <a:stretch/>
        </p:blipFill>
        <p:spPr>
          <a:xfrm>
            <a:off x="7683500" y="2997200"/>
            <a:ext cx="101600" cy="927100"/>
          </a:xfrm>
          <a:prstGeom prst="rect">
            <a:avLst/>
          </a:prstGeom>
        </p:spPr>
      </p:pic>
      <p:sp>
        <p:nvSpPr>
          <p:cNvPr id="32" name="Text 25"/>
          <p:cNvSpPr/>
          <p:nvPr/>
        </p:nvSpPr>
        <p:spPr>
          <a:xfrm>
            <a:off x="7797800" y="3352800"/>
            <a:ext cx="876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pic>
        <p:nvPicPr>
          <p:cNvPr id="33" name="Image 5" descr="connector">    </p:cNvPr>
          <p:cNvPicPr>
            <a:picLocks noChangeAspect="1"/>
          </p:cNvPicPr>
          <p:nvPr/>
        </p:nvPicPr>
        <p:blipFill>
          <a:blip r:embed="rId6"/>
          <a:srcRect l="0" r="0" t="0" b="0"/>
          <a:stretch/>
        </p:blipFill>
        <p:spPr>
          <a:xfrm>
            <a:off x="8636000" y="4267200"/>
            <a:ext cx="1143000" cy="101600"/>
          </a:xfrm>
          <a:prstGeom prst="rect">
            <a:avLst/>
          </a:prstGeom>
        </p:spPr>
      </p:pic>
      <p:sp>
        <p:nvSpPr>
          <p:cNvPr id="34" name="Text 26"/>
          <p:cNvSpPr/>
          <p:nvPr/>
        </p:nvSpPr>
        <p:spPr>
          <a:xfrm>
            <a:off x="9118600" y="4038600"/>
            <a:ext cx="6096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p:txBody>
      </p:sp>
      <p:pic>
        <p:nvPicPr>
          <p:cNvPr id="35" name="Image 6" descr="connector">    </p:cNvPr>
          <p:cNvPicPr>
            <a:picLocks noChangeAspect="1"/>
          </p:cNvPicPr>
          <p:nvPr/>
        </p:nvPicPr>
        <p:blipFill>
          <a:blip r:embed="rId7"/>
          <a:srcRect l="0" r="0" t="0" b="0"/>
          <a:stretch/>
        </p:blipFill>
        <p:spPr>
          <a:xfrm>
            <a:off x="8636000" y="5156200"/>
            <a:ext cx="1143000" cy="101600"/>
          </a:xfrm>
          <a:prstGeom prst="rect">
            <a:avLst/>
          </a:prstGeom>
        </p:spPr>
      </p:pic>
      <p:sp>
        <p:nvSpPr>
          <p:cNvPr id="36" name="Text 27"/>
          <p:cNvSpPr/>
          <p:nvPr/>
        </p:nvSpPr>
        <p:spPr>
          <a:xfrm>
            <a:off x="9118600" y="4927600"/>
            <a:ext cx="6096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RAG</a:t>
            </a:r>
            <a:endParaRPr lang="en-US" sz="1400" dirty="0"/>
          </a:p>
        </p:txBody>
      </p:sp>
      <p:sp>
        <p:nvSpPr>
          <p:cNvPr id="37" name="Text 28"/>
          <p:cNvSpPr/>
          <p:nvPr/>
        </p:nvSpPr>
        <p:spPr>
          <a:xfrm>
            <a:off x="9728200" y="3492500"/>
            <a:ext cx="170180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/health no los consulta</a:t>
            </a:r>
            <a:endParaRPr lang="en-US" sz="1200" dirty="0"/>
          </a:p>
        </p:txBody>
      </p:sp>
      <p:sp>
        <p:nvSpPr>
          <p:cNvPr id="38" name="Text 29"/>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12/29</a:t>
            </a:r>
            <a:endParaRPr lang="en-US" sz="1200" dirty="0"/>
          </a:p>
        </p:txBody>
      </p:sp>
      <p:pic>
        <p:nvPicPr>
          <p:cNvPr id="39" name="Image 7" descr="AriwaLabs">    </p:cNvPr>
          <p:cNvPicPr>
            <a:picLocks noChangeAspect="1"/>
          </p:cNvPicPr>
          <p:nvPr/>
        </p:nvPicPr>
        <p:blipFill>
          <a:blip r:embed="rId8"/>
          <a:srcRect l="-9345" r="-9345" t="0" b="0"/>
          <a:stretch/>
        </p:blipFill>
        <p:spPr>
          <a:xfrm>
            <a:off x="10680700" y="6223000"/>
            <a:ext cx="698500" cy="254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POST /chat exige X-API-Key</a:t>
            </a:r>
            <a:endParaRPr lang="en-US" sz="3600" dirty="0"/>
          </a:p>
        </p:txBody>
      </p:sp>
      <p:sp>
        <p:nvSpPr>
          <p:cNvPr id="3" name="Shape 1"/>
          <p:cNvSpPr/>
          <p:nvPr/>
        </p:nvSpPr>
        <p:spPr>
          <a:xfrm>
            <a:off x="3206750" y="1593850"/>
            <a:ext cx="5854700" cy="4114800"/>
          </a:xfrm>
          <a:prstGeom prst="roundRect">
            <a:avLst>
              <a:gd name="adj" fmla="val 3549"/>
            </a:avLst>
          </a:prstGeom>
          <a:solidFill>
            <a:srgbClr val="E9F0F7"/>
          </a:solidFill>
          <a:ln w="12700">
            <a:solidFill>
              <a:srgbClr val="526277"/>
            </a:solidFill>
            <a:prstDash val="solid"/>
          </a:ln>
        </p:spPr>
      </p:sp>
      <p:sp>
        <p:nvSpPr>
          <p:cNvPr id="4" name="Text 2"/>
          <p:cNvSpPr/>
          <p:nvPr/>
        </p:nvSpPr>
        <p:spPr>
          <a:xfrm>
            <a:off x="3340100" y="1676400"/>
            <a:ext cx="575564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HF Space · contenedor Docker</a:t>
            </a:r>
            <a:endParaRPr lang="en-US" sz="1400" dirty="0"/>
          </a:p>
        </p:txBody>
      </p:sp>
      <p:sp>
        <p:nvSpPr>
          <p:cNvPr id="5" name="Shape 3"/>
          <p:cNvSpPr/>
          <p:nvPr/>
        </p:nvSpPr>
        <p:spPr>
          <a:xfrm>
            <a:off x="5581650" y="1974850"/>
            <a:ext cx="3289300" cy="3543300"/>
          </a:xfrm>
          <a:prstGeom prst="roundRect">
            <a:avLst>
              <a:gd name="adj" fmla="val 4440"/>
            </a:avLst>
          </a:prstGeom>
          <a:solidFill>
            <a:srgbClr val="E9F0F7"/>
          </a:solidFill>
          <a:ln w="12700">
            <a:solidFill>
              <a:srgbClr val="526277"/>
            </a:solidFill>
            <a:prstDash val="solid"/>
          </a:ln>
        </p:spPr>
      </p:sp>
      <p:sp>
        <p:nvSpPr>
          <p:cNvPr id="6" name="Text 4"/>
          <p:cNvSpPr/>
          <p:nvPr/>
        </p:nvSpPr>
        <p:spPr>
          <a:xfrm>
            <a:off x="5715000" y="2057400"/>
            <a:ext cx="311327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 agent.py del L6</a:t>
            </a:r>
            <a:endParaRPr lang="en-US" sz="1400" dirty="0"/>
          </a:p>
        </p:txBody>
      </p:sp>
      <p:sp>
        <p:nvSpPr>
          <p:cNvPr id="7" name="Shape 5"/>
          <p:cNvSpPr/>
          <p:nvPr/>
        </p:nvSpPr>
        <p:spPr>
          <a:xfrm>
            <a:off x="819150" y="4133850"/>
            <a:ext cx="1003300" cy="749300"/>
          </a:xfrm>
          <a:prstGeom prst="roundRect">
            <a:avLst>
              <a:gd name="adj" fmla="val 12712"/>
            </a:avLst>
          </a:prstGeom>
          <a:solidFill>
            <a:srgbClr val="FFFFFF"/>
          </a:solidFill>
          <a:ln w="12700">
            <a:solidFill>
              <a:srgbClr val="1E293B"/>
            </a:solidFill>
            <a:prstDash val="solid"/>
          </a:ln>
        </p:spPr>
      </p:sp>
      <p:sp>
        <p:nvSpPr>
          <p:cNvPr id="8" name="Text 6"/>
          <p:cNvSpPr/>
          <p:nvPr/>
        </p:nvSpPr>
        <p:spPr>
          <a:xfrm>
            <a:off x="1007765" y="4292997"/>
            <a:ext cx="62607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a:t>
            </a:r>
            <a:endParaRPr lang="en-US" sz="1400" dirty="0"/>
          </a:p>
        </p:txBody>
      </p:sp>
      <p:sp>
        <p:nvSpPr>
          <p:cNvPr id="9" name="Text 7"/>
          <p:cNvSpPr/>
          <p:nvPr/>
        </p:nvSpPr>
        <p:spPr>
          <a:xfrm>
            <a:off x="1106388" y="4533503"/>
            <a:ext cx="42882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HTTP</a:t>
            </a:r>
            <a:endParaRPr lang="en-US" sz="1200" dirty="0"/>
          </a:p>
        </p:txBody>
      </p:sp>
      <p:sp>
        <p:nvSpPr>
          <p:cNvPr id="10" name="Shape 8"/>
          <p:cNvSpPr/>
          <p:nvPr/>
        </p:nvSpPr>
        <p:spPr>
          <a:xfrm>
            <a:off x="3467100" y="4140200"/>
            <a:ext cx="1244600" cy="736600"/>
          </a:xfrm>
          <a:prstGeom prst="roundRect">
            <a:avLst>
              <a:gd name="adj" fmla="val 12069"/>
            </a:avLst>
          </a:prstGeom>
          <a:solidFill>
            <a:srgbClr val="FFF0EB"/>
          </a:solidFill>
          <a:ln w="25400">
            <a:solidFill>
              <a:srgbClr val="FF5733"/>
            </a:solidFill>
            <a:prstDash val="solid"/>
          </a:ln>
        </p:spPr>
      </p:sp>
      <p:sp>
        <p:nvSpPr>
          <p:cNvPr id="11" name="Text 9"/>
          <p:cNvSpPr/>
          <p:nvPr/>
        </p:nvSpPr>
        <p:spPr>
          <a:xfrm>
            <a:off x="3740547" y="4292997"/>
            <a:ext cx="69760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FastAPI</a:t>
            </a:r>
            <a:endParaRPr lang="en-US" sz="1400" dirty="0"/>
          </a:p>
        </p:txBody>
      </p:sp>
      <p:sp>
        <p:nvSpPr>
          <p:cNvPr id="12" name="Text 10"/>
          <p:cNvSpPr/>
          <p:nvPr/>
        </p:nvSpPr>
        <p:spPr>
          <a:xfrm>
            <a:off x="3699966" y="4533503"/>
            <a:ext cx="77886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app/api.py</a:t>
            </a:r>
            <a:endParaRPr lang="en-US" sz="1200" dirty="0"/>
          </a:p>
        </p:txBody>
      </p:sp>
      <p:sp>
        <p:nvSpPr>
          <p:cNvPr id="13" name="Shape 11"/>
          <p:cNvSpPr/>
          <p:nvPr/>
        </p:nvSpPr>
        <p:spPr>
          <a:xfrm>
            <a:off x="5772150" y="2355850"/>
            <a:ext cx="2908300" cy="685800"/>
          </a:xfrm>
          <a:prstGeom prst="roundRect">
            <a:avLst>
              <a:gd name="adj" fmla="val 13889"/>
            </a:avLst>
          </a:prstGeom>
          <a:solidFill>
            <a:srgbClr val="FFFFFF"/>
          </a:solidFill>
          <a:ln w="12700">
            <a:solidFill>
              <a:srgbClr val="1E293B"/>
            </a:solidFill>
            <a:prstDash val="solid"/>
          </a:ln>
        </p:spPr>
      </p:sp>
      <p:sp>
        <p:nvSpPr>
          <p:cNvPr id="14" name="Text 12"/>
          <p:cNvSpPr/>
          <p:nvPr/>
        </p:nvSpPr>
        <p:spPr>
          <a:xfrm>
            <a:off x="6476206" y="2483247"/>
            <a:ext cx="15000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 · Qwen3-32B</a:t>
            </a:r>
            <a:endParaRPr lang="en-US" sz="1400" dirty="0"/>
          </a:p>
        </p:txBody>
      </p:sp>
      <p:sp>
        <p:nvSpPr>
          <p:cNvPr id="15" name="Text 13"/>
          <p:cNvSpPr/>
          <p:nvPr/>
        </p:nvSpPr>
        <p:spPr>
          <a:xfrm>
            <a:off x="6638826" y="2723753"/>
            <a:ext cx="11749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vía HF Inference</a:t>
            </a:r>
            <a:endParaRPr lang="en-US" sz="1200" dirty="0"/>
          </a:p>
        </p:txBody>
      </p:sp>
      <p:sp>
        <p:nvSpPr>
          <p:cNvPr id="16" name="Shape 14"/>
          <p:cNvSpPr/>
          <p:nvPr/>
        </p:nvSpPr>
        <p:spPr>
          <a:xfrm>
            <a:off x="5772150" y="3879850"/>
            <a:ext cx="2908300" cy="1384300"/>
          </a:xfrm>
          <a:prstGeom prst="roundRect">
            <a:avLst>
              <a:gd name="adj" fmla="val 6881"/>
            </a:avLst>
          </a:prstGeom>
          <a:solidFill>
            <a:srgbClr val="FFFFFF"/>
          </a:solidFill>
          <a:ln w="12700">
            <a:solidFill>
              <a:srgbClr val="1E293B"/>
            </a:solidFill>
            <a:prstDash val="solid"/>
          </a:ln>
        </p:spPr>
      </p:sp>
      <p:sp>
        <p:nvSpPr>
          <p:cNvPr id="17" name="Text 15"/>
          <p:cNvSpPr/>
          <p:nvPr/>
        </p:nvSpPr>
        <p:spPr>
          <a:xfrm>
            <a:off x="6559451" y="4356497"/>
            <a:ext cx="133369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 · bucle</a:t>
            </a:r>
            <a:endParaRPr lang="en-US" sz="1400" dirty="0"/>
          </a:p>
        </p:txBody>
      </p:sp>
      <p:sp>
        <p:nvSpPr>
          <p:cNvPr id="18" name="Text 16"/>
          <p:cNvSpPr/>
          <p:nvPr/>
        </p:nvSpPr>
        <p:spPr>
          <a:xfrm>
            <a:off x="6275374" y="4597003"/>
            <a:ext cx="190175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tools · retriever · guardrails</a:t>
            </a:r>
            <a:endParaRPr lang="en-US" sz="1200" dirty="0"/>
          </a:p>
        </p:txBody>
      </p:sp>
      <p:sp>
        <p:nvSpPr>
          <p:cNvPr id="19" name="Shape 17"/>
          <p:cNvSpPr/>
          <p:nvPr/>
        </p:nvSpPr>
        <p:spPr>
          <a:xfrm>
            <a:off x="9734550" y="4006850"/>
            <a:ext cx="1638300" cy="622300"/>
          </a:xfrm>
          <a:prstGeom prst="roundRect">
            <a:avLst>
              <a:gd name="adj" fmla="val 15306"/>
            </a:avLst>
          </a:prstGeom>
          <a:solidFill>
            <a:srgbClr val="FFFFFF"/>
          </a:solidFill>
          <a:ln w="12700">
            <a:solidFill>
              <a:srgbClr val="1E293B"/>
            </a:solidFill>
            <a:prstDash val="solid"/>
          </a:ln>
        </p:spPr>
      </p:sp>
      <p:sp>
        <p:nvSpPr>
          <p:cNvPr id="20" name="Text 18"/>
          <p:cNvSpPr/>
          <p:nvPr/>
        </p:nvSpPr>
        <p:spPr>
          <a:xfrm>
            <a:off x="9938445" y="4210447"/>
            <a:ext cx="123041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 API</a:t>
            </a:r>
            <a:endParaRPr lang="en-US" sz="1400" dirty="0"/>
          </a:p>
        </p:txBody>
      </p:sp>
      <p:sp>
        <p:nvSpPr>
          <p:cNvPr id="21" name="Shape 19"/>
          <p:cNvSpPr/>
          <p:nvPr/>
        </p:nvSpPr>
        <p:spPr>
          <a:xfrm>
            <a:off x="9734550" y="4895850"/>
            <a:ext cx="1638300" cy="622300"/>
          </a:xfrm>
          <a:prstGeom prst="roundRect">
            <a:avLst>
              <a:gd name="adj" fmla="val 15306"/>
            </a:avLst>
          </a:prstGeom>
          <a:solidFill>
            <a:srgbClr val="FFFFFF"/>
          </a:solidFill>
          <a:ln w="12700">
            <a:solidFill>
              <a:srgbClr val="1E293B"/>
            </a:solidFill>
            <a:prstDash val="solid"/>
          </a:ln>
        </p:spPr>
      </p:sp>
      <p:sp>
        <p:nvSpPr>
          <p:cNvPr id="22" name="Text 20"/>
          <p:cNvSpPr/>
          <p:nvPr/>
        </p:nvSpPr>
        <p:spPr>
          <a:xfrm>
            <a:off x="10246320" y="5099447"/>
            <a:ext cx="6147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a:t>
            </a:r>
            <a:endParaRPr lang="en-US" sz="1400" dirty="0"/>
          </a:p>
        </p:txBody>
      </p:sp>
      <p:sp>
        <p:nvSpPr>
          <p:cNvPr id="23" name="Shape 21"/>
          <p:cNvSpPr/>
          <p:nvPr/>
        </p:nvSpPr>
        <p:spPr>
          <a:xfrm>
            <a:off x="3467100" y="5080000"/>
            <a:ext cx="1244600" cy="584200"/>
          </a:xfrm>
          <a:prstGeom prst="roundRect">
            <a:avLst>
              <a:gd name="adj" fmla="val 15217"/>
            </a:avLst>
          </a:prstGeom>
          <a:solidFill>
            <a:srgbClr val="FFF0EB"/>
          </a:solidFill>
          <a:ln w="25400">
            <a:solidFill>
              <a:srgbClr val="FF5733"/>
            </a:solidFill>
            <a:prstDash val="solid"/>
          </a:ln>
        </p:spPr>
      </p:sp>
      <p:sp>
        <p:nvSpPr>
          <p:cNvPr id="24" name="Text 22"/>
          <p:cNvSpPr/>
          <p:nvPr/>
        </p:nvSpPr>
        <p:spPr>
          <a:xfrm>
            <a:off x="3910409" y="5168900"/>
            <a:ext cx="357882" cy="227409"/>
          </a:xfrm>
          <a:prstGeom prst="rect">
            <a:avLst/>
          </a:prstGeom>
          <a:noFill/>
          <a:ln/>
        </p:spPr>
        <p:txBody>
          <a:bodyPr wrap="square" lIns="0" tIns="0" rIns="0" bIns="0" rtlCol="0" anchor="t">
            <a:normAutofit/>
          </a:bodyPr>
          <a:lstStyle/>
          <a:p>
            <a:pPr algn="ctr" indent="0" marL="0">
              <a:lnSpc>
                <a:spcPts val="1625"/>
              </a:lnSpc>
              <a:buNone/>
            </a:pPr>
            <a:r>
              <a:rPr lang="en-US" sz="1343" dirty="0">
                <a:solidFill>
                  <a:srgbClr val="1E293B"/>
                </a:solidFill>
                <a:latin typeface="IBM Plex Sans" pitchFamily="34" charset="0"/>
                <a:ea typeface="IBM Plex Sans" pitchFamily="34" charset="-122"/>
                <a:cs typeface="IBM Plex Sans" pitchFamily="34" charset="-120"/>
              </a:rPr>
              <a:t>401</a:t>
            </a:r>
            <a:endParaRPr lang="en-US" sz="1343" dirty="0"/>
          </a:p>
        </p:txBody>
      </p:sp>
      <p:sp>
        <p:nvSpPr>
          <p:cNvPr id="25" name="Text 23"/>
          <p:cNvSpPr/>
          <p:nvPr/>
        </p:nvSpPr>
        <p:spPr>
          <a:xfrm>
            <a:off x="3808413" y="5396309"/>
            <a:ext cx="561876" cy="204391"/>
          </a:xfrm>
          <a:prstGeom prst="rect">
            <a:avLst/>
          </a:prstGeom>
          <a:noFill/>
          <a:ln/>
        </p:spPr>
        <p:txBody>
          <a:bodyPr wrap="square" lIns="0" tIns="0" rIns="0" bIns="0" rtlCol="0" anchor="t">
            <a:normAutofit/>
          </a:bodyPr>
          <a:lstStyle/>
          <a:p>
            <a:pPr algn="ctr" indent="0" marL="0">
              <a:lnSpc>
                <a:spcPts val="1425"/>
              </a:lnSpc>
              <a:buNone/>
            </a:pPr>
            <a:r>
              <a:rPr lang="en-US" sz="1140" dirty="0">
                <a:solidFill>
                  <a:srgbClr val="526277"/>
                </a:solidFill>
                <a:latin typeface="IBM Plex Sans" pitchFamily="34" charset="0"/>
                <a:ea typeface="IBM Plex Sans" pitchFamily="34" charset="-122"/>
                <a:cs typeface="IBM Plex Sans" pitchFamily="34" charset="-120"/>
              </a:rPr>
              <a:t>rechazo</a:t>
            </a:r>
            <a:endParaRPr lang="en-US" sz="1140" dirty="0"/>
          </a:p>
        </p:txBody>
      </p:sp>
      <p:pic>
        <p:nvPicPr>
          <p:cNvPr id="26" name="Image 0" descr="connector">    </p:cNvPr>
          <p:cNvPicPr>
            <a:picLocks noChangeAspect="1"/>
          </p:cNvPicPr>
          <p:nvPr/>
        </p:nvPicPr>
        <p:blipFill>
          <a:blip r:embed="rId1"/>
          <a:srcRect l="0" r="0" t="0" b="0"/>
          <a:stretch/>
        </p:blipFill>
        <p:spPr>
          <a:xfrm>
            <a:off x="1778000" y="4279900"/>
            <a:ext cx="1727200" cy="101600"/>
          </a:xfrm>
          <a:prstGeom prst="rect">
            <a:avLst/>
          </a:prstGeom>
        </p:spPr>
      </p:pic>
      <p:sp>
        <p:nvSpPr>
          <p:cNvPr id="27" name="Text 24"/>
          <p:cNvSpPr/>
          <p:nvPr/>
        </p:nvSpPr>
        <p:spPr>
          <a:xfrm>
            <a:off x="1879600" y="4038600"/>
            <a:ext cx="1320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GET /health</a:t>
            </a:r>
            <a:endParaRPr lang="en-US" sz="1400" dirty="0"/>
          </a:p>
        </p:txBody>
      </p:sp>
      <p:pic>
        <p:nvPicPr>
          <p:cNvPr id="28" name="Image 1" descr="connector">    </p:cNvPr>
          <p:cNvPicPr>
            <a:picLocks noChangeAspect="1"/>
          </p:cNvPicPr>
          <p:nvPr/>
        </p:nvPicPr>
        <p:blipFill>
          <a:blip r:embed="rId2"/>
          <a:srcRect l="0" r="0" t="0" b="0"/>
          <a:stretch/>
        </p:blipFill>
        <p:spPr>
          <a:xfrm>
            <a:off x="1752600" y="4610100"/>
            <a:ext cx="1778000" cy="152400"/>
          </a:xfrm>
          <a:prstGeom prst="rect">
            <a:avLst/>
          </a:prstGeom>
        </p:spPr>
      </p:pic>
      <p:sp>
        <p:nvSpPr>
          <p:cNvPr id="29" name="Text 25"/>
          <p:cNvSpPr/>
          <p:nvPr/>
        </p:nvSpPr>
        <p:spPr>
          <a:xfrm>
            <a:off x="1879600" y="4762500"/>
            <a:ext cx="1320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POST /chat</a:t>
            </a:r>
            <a:endParaRPr lang="en-US" sz="1400" dirty="0"/>
          </a:p>
        </p:txBody>
      </p:sp>
      <p:pic>
        <p:nvPicPr>
          <p:cNvPr id="30" name="Image 2" descr="connector">    </p:cNvPr>
          <p:cNvPicPr>
            <a:picLocks noChangeAspect="1"/>
          </p:cNvPicPr>
          <p:nvPr/>
        </p:nvPicPr>
        <p:blipFill>
          <a:blip r:embed="rId3"/>
          <a:srcRect l="0" r="0" t="0" b="0"/>
          <a:stretch/>
        </p:blipFill>
        <p:spPr>
          <a:xfrm>
            <a:off x="4673600" y="4457700"/>
            <a:ext cx="1143000" cy="101600"/>
          </a:xfrm>
          <a:prstGeom prst="rect">
            <a:avLst/>
          </a:prstGeom>
        </p:spPr>
      </p:pic>
      <p:sp>
        <p:nvSpPr>
          <p:cNvPr id="31" name="Text 26"/>
          <p:cNvSpPr/>
          <p:nvPr/>
        </p:nvSpPr>
        <p:spPr>
          <a:xfrm>
            <a:off x="4775200" y="4216400"/>
            <a:ext cx="8001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invoca</a:t>
            </a:r>
            <a:endParaRPr lang="en-US" sz="1400" dirty="0"/>
          </a:p>
        </p:txBody>
      </p:sp>
      <p:pic>
        <p:nvPicPr>
          <p:cNvPr id="32" name="Image 3" descr="connector">    </p:cNvPr>
          <p:cNvPicPr>
            <a:picLocks noChangeAspect="1"/>
          </p:cNvPicPr>
          <p:nvPr/>
        </p:nvPicPr>
        <p:blipFill>
          <a:blip r:embed="rId4"/>
          <a:srcRect l="0" r="0" t="0" b="0"/>
          <a:stretch/>
        </p:blipFill>
        <p:spPr>
          <a:xfrm>
            <a:off x="6667500" y="2997200"/>
            <a:ext cx="101600" cy="927100"/>
          </a:xfrm>
          <a:prstGeom prst="rect">
            <a:avLst/>
          </a:prstGeom>
        </p:spPr>
      </p:pic>
      <p:sp>
        <p:nvSpPr>
          <p:cNvPr id="33" name="Text 27"/>
          <p:cNvSpPr/>
          <p:nvPr/>
        </p:nvSpPr>
        <p:spPr>
          <a:xfrm>
            <a:off x="5816600" y="3352800"/>
            <a:ext cx="9017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mensajes</a:t>
            </a:r>
            <a:endParaRPr lang="en-US" sz="1400" dirty="0"/>
          </a:p>
        </p:txBody>
      </p:sp>
      <p:pic>
        <p:nvPicPr>
          <p:cNvPr id="34" name="Image 4" descr="connector">    </p:cNvPr>
          <p:cNvPicPr>
            <a:picLocks noChangeAspect="1"/>
          </p:cNvPicPr>
          <p:nvPr/>
        </p:nvPicPr>
        <p:blipFill>
          <a:blip r:embed="rId5"/>
          <a:srcRect l="0" r="0" t="0" b="0"/>
          <a:stretch/>
        </p:blipFill>
        <p:spPr>
          <a:xfrm>
            <a:off x="7683500" y="2997200"/>
            <a:ext cx="101600" cy="927100"/>
          </a:xfrm>
          <a:prstGeom prst="rect">
            <a:avLst/>
          </a:prstGeom>
        </p:spPr>
      </p:pic>
      <p:sp>
        <p:nvSpPr>
          <p:cNvPr id="35" name="Text 28"/>
          <p:cNvSpPr/>
          <p:nvPr/>
        </p:nvSpPr>
        <p:spPr>
          <a:xfrm>
            <a:off x="7797800" y="3352800"/>
            <a:ext cx="876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pic>
        <p:nvPicPr>
          <p:cNvPr id="36" name="Image 5" descr="connector">    </p:cNvPr>
          <p:cNvPicPr>
            <a:picLocks noChangeAspect="1"/>
          </p:cNvPicPr>
          <p:nvPr/>
        </p:nvPicPr>
        <p:blipFill>
          <a:blip r:embed="rId6"/>
          <a:srcRect l="0" r="0" t="0" b="0"/>
          <a:stretch/>
        </p:blipFill>
        <p:spPr>
          <a:xfrm>
            <a:off x="8636000" y="4267200"/>
            <a:ext cx="1143000" cy="101600"/>
          </a:xfrm>
          <a:prstGeom prst="rect">
            <a:avLst/>
          </a:prstGeom>
        </p:spPr>
      </p:pic>
      <p:sp>
        <p:nvSpPr>
          <p:cNvPr id="37" name="Text 29"/>
          <p:cNvSpPr/>
          <p:nvPr/>
        </p:nvSpPr>
        <p:spPr>
          <a:xfrm>
            <a:off x="9118600" y="4038600"/>
            <a:ext cx="6096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p:txBody>
      </p:sp>
      <p:pic>
        <p:nvPicPr>
          <p:cNvPr id="38" name="Image 6" descr="connector">    </p:cNvPr>
          <p:cNvPicPr>
            <a:picLocks noChangeAspect="1"/>
          </p:cNvPicPr>
          <p:nvPr/>
        </p:nvPicPr>
        <p:blipFill>
          <a:blip r:embed="rId7"/>
          <a:srcRect l="0" r="0" t="0" b="0"/>
          <a:stretch/>
        </p:blipFill>
        <p:spPr>
          <a:xfrm>
            <a:off x="8636000" y="5156200"/>
            <a:ext cx="1143000" cy="101600"/>
          </a:xfrm>
          <a:prstGeom prst="rect">
            <a:avLst/>
          </a:prstGeom>
        </p:spPr>
      </p:pic>
      <p:sp>
        <p:nvSpPr>
          <p:cNvPr id="39" name="Text 30"/>
          <p:cNvSpPr/>
          <p:nvPr/>
        </p:nvSpPr>
        <p:spPr>
          <a:xfrm>
            <a:off x="9118600" y="4927600"/>
            <a:ext cx="6096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RAG</a:t>
            </a:r>
            <a:endParaRPr lang="en-US" sz="1400" dirty="0"/>
          </a:p>
        </p:txBody>
      </p:sp>
      <p:pic>
        <p:nvPicPr>
          <p:cNvPr id="40" name="Image 7" descr="connector">    </p:cNvPr>
          <p:cNvPicPr>
            <a:picLocks noChangeAspect="1"/>
          </p:cNvPicPr>
          <p:nvPr/>
        </p:nvPicPr>
        <p:blipFill>
          <a:blip r:embed="rId8"/>
          <a:srcRect l="0" r="0" t="0" b="0"/>
          <a:stretch/>
        </p:blipFill>
        <p:spPr>
          <a:xfrm>
            <a:off x="4038600" y="4838700"/>
            <a:ext cx="101600" cy="279400"/>
          </a:xfrm>
          <a:prstGeom prst="rect">
            <a:avLst/>
          </a:prstGeom>
        </p:spPr>
      </p:pic>
      <p:sp>
        <p:nvSpPr>
          <p:cNvPr id="41" name="Text 31"/>
          <p:cNvSpPr/>
          <p:nvPr/>
        </p:nvSpPr>
        <p:spPr>
          <a:xfrm>
            <a:off x="4165600" y="4870450"/>
            <a:ext cx="13589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key inválida</a:t>
            </a:r>
            <a:endParaRPr lang="en-US" sz="1400" dirty="0"/>
          </a:p>
        </p:txBody>
      </p:sp>
      <p:sp>
        <p:nvSpPr>
          <p:cNvPr id="42" name="Text 32"/>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13/29</a:t>
            </a:r>
            <a:endParaRPr lang="en-US" sz="1200" dirty="0"/>
          </a:p>
        </p:txBody>
      </p:sp>
      <p:pic>
        <p:nvPicPr>
          <p:cNvPr id="43" name="Image 8" descr="AriwaLabs">    </p:cNvPr>
          <p:cNvPicPr>
            <a:picLocks noChangeAspect="1"/>
          </p:cNvPicPr>
          <p:nvPr/>
        </p:nvPicPr>
        <p:blipFill>
          <a:blip r:embed="rId9"/>
          <a:srcRect l="-9345" r="-9345" t="0" b="0"/>
          <a:stretch/>
        </p:blipFill>
        <p:spPr>
          <a:xfrm>
            <a:off x="10680700" y="6223000"/>
            <a:ext cx="698500" cy="254000"/>
          </a:xfrm>
          <a:prstGeom prst="rect">
            <a:avLst/>
          </a:prstGeom>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La key protege la cuota</a:t>
            </a:r>
            <a:endParaRPr lang="en-US" sz="3600" dirty="0"/>
          </a:p>
        </p:txBody>
      </p:sp>
      <p:sp>
        <p:nvSpPr>
          <p:cNvPr id="3" name="Shape 1"/>
          <p:cNvSpPr/>
          <p:nvPr/>
        </p:nvSpPr>
        <p:spPr>
          <a:xfrm>
            <a:off x="3206750" y="1593850"/>
            <a:ext cx="5854700" cy="4114800"/>
          </a:xfrm>
          <a:prstGeom prst="roundRect">
            <a:avLst>
              <a:gd name="adj" fmla="val 3549"/>
            </a:avLst>
          </a:prstGeom>
          <a:solidFill>
            <a:srgbClr val="E9F0F7"/>
          </a:solidFill>
          <a:ln w="12700">
            <a:solidFill>
              <a:srgbClr val="526277"/>
            </a:solidFill>
            <a:prstDash val="solid"/>
          </a:ln>
        </p:spPr>
      </p:sp>
      <p:sp>
        <p:nvSpPr>
          <p:cNvPr id="4" name="Text 2"/>
          <p:cNvSpPr/>
          <p:nvPr/>
        </p:nvSpPr>
        <p:spPr>
          <a:xfrm>
            <a:off x="3340100" y="1676400"/>
            <a:ext cx="575564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HF Space · contenedor Docker</a:t>
            </a:r>
            <a:endParaRPr lang="en-US" sz="1400" dirty="0"/>
          </a:p>
        </p:txBody>
      </p:sp>
      <p:sp>
        <p:nvSpPr>
          <p:cNvPr id="5" name="Shape 3"/>
          <p:cNvSpPr/>
          <p:nvPr/>
        </p:nvSpPr>
        <p:spPr>
          <a:xfrm>
            <a:off x="5581650" y="1974850"/>
            <a:ext cx="3289300" cy="3543300"/>
          </a:xfrm>
          <a:prstGeom prst="roundRect">
            <a:avLst>
              <a:gd name="adj" fmla="val 4440"/>
            </a:avLst>
          </a:prstGeom>
          <a:solidFill>
            <a:srgbClr val="E9F0F7"/>
          </a:solidFill>
          <a:ln w="12700">
            <a:solidFill>
              <a:srgbClr val="526277"/>
            </a:solidFill>
            <a:prstDash val="solid"/>
          </a:ln>
        </p:spPr>
      </p:sp>
      <p:sp>
        <p:nvSpPr>
          <p:cNvPr id="6" name="Text 4"/>
          <p:cNvSpPr/>
          <p:nvPr/>
        </p:nvSpPr>
        <p:spPr>
          <a:xfrm>
            <a:off x="5715000" y="2057400"/>
            <a:ext cx="3113278"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Agente · agent.py del L6</a:t>
            </a:r>
            <a:endParaRPr lang="en-US" sz="1400" dirty="0"/>
          </a:p>
        </p:txBody>
      </p:sp>
      <p:sp>
        <p:nvSpPr>
          <p:cNvPr id="7" name="Shape 5"/>
          <p:cNvSpPr/>
          <p:nvPr/>
        </p:nvSpPr>
        <p:spPr>
          <a:xfrm>
            <a:off x="819150" y="4133850"/>
            <a:ext cx="1003300" cy="749300"/>
          </a:xfrm>
          <a:prstGeom prst="roundRect">
            <a:avLst>
              <a:gd name="adj" fmla="val 12712"/>
            </a:avLst>
          </a:prstGeom>
          <a:solidFill>
            <a:srgbClr val="FFFFFF"/>
          </a:solidFill>
          <a:ln w="12700">
            <a:solidFill>
              <a:srgbClr val="1E293B"/>
            </a:solidFill>
            <a:prstDash val="solid"/>
          </a:ln>
        </p:spPr>
      </p:sp>
      <p:sp>
        <p:nvSpPr>
          <p:cNvPr id="8" name="Text 6"/>
          <p:cNvSpPr/>
          <p:nvPr/>
        </p:nvSpPr>
        <p:spPr>
          <a:xfrm>
            <a:off x="1007765" y="4292997"/>
            <a:ext cx="62607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Cliente</a:t>
            </a:r>
            <a:endParaRPr lang="en-US" sz="1400" dirty="0"/>
          </a:p>
        </p:txBody>
      </p:sp>
      <p:sp>
        <p:nvSpPr>
          <p:cNvPr id="9" name="Text 7"/>
          <p:cNvSpPr/>
          <p:nvPr/>
        </p:nvSpPr>
        <p:spPr>
          <a:xfrm>
            <a:off x="1106388" y="4533503"/>
            <a:ext cx="42882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HTTP</a:t>
            </a:r>
            <a:endParaRPr lang="en-US" sz="1200" dirty="0"/>
          </a:p>
        </p:txBody>
      </p:sp>
      <p:sp>
        <p:nvSpPr>
          <p:cNvPr id="10" name="Shape 8"/>
          <p:cNvSpPr/>
          <p:nvPr/>
        </p:nvSpPr>
        <p:spPr>
          <a:xfrm>
            <a:off x="3460750" y="4133850"/>
            <a:ext cx="1257300" cy="749300"/>
          </a:xfrm>
          <a:prstGeom prst="roundRect">
            <a:avLst>
              <a:gd name="adj" fmla="val 12712"/>
            </a:avLst>
          </a:prstGeom>
          <a:solidFill>
            <a:srgbClr val="FFFFFF"/>
          </a:solidFill>
          <a:ln w="12700">
            <a:solidFill>
              <a:srgbClr val="1E293B"/>
            </a:solidFill>
            <a:prstDash val="solid"/>
          </a:ln>
        </p:spPr>
      </p:sp>
      <p:sp>
        <p:nvSpPr>
          <p:cNvPr id="11" name="Text 9"/>
          <p:cNvSpPr/>
          <p:nvPr/>
        </p:nvSpPr>
        <p:spPr>
          <a:xfrm>
            <a:off x="3740547" y="4292997"/>
            <a:ext cx="69760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FastAPI</a:t>
            </a:r>
            <a:endParaRPr lang="en-US" sz="1400" dirty="0"/>
          </a:p>
        </p:txBody>
      </p:sp>
      <p:sp>
        <p:nvSpPr>
          <p:cNvPr id="12" name="Text 10"/>
          <p:cNvSpPr/>
          <p:nvPr/>
        </p:nvSpPr>
        <p:spPr>
          <a:xfrm>
            <a:off x="3699966" y="4533503"/>
            <a:ext cx="778867"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app/api.py</a:t>
            </a:r>
            <a:endParaRPr lang="en-US" sz="1200" dirty="0"/>
          </a:p>
        </p:txBody>
      </p:sp>
      <p:sp>
        <p:nvSpPr>
          <p:cNvPr id="13" name="Shape 11"/>
          <p:cNvSpPr/>
          <p:nvPr/>
        </p:nvSpPr>
        <p:spPr>
          <a:xfrm>
            <a:off x="5778500" y="2362200"/>
            <a:ext cx="2895600" cy="673100"/>
          </a:xfrm>
          <a:prstGeom prst="roundRect">
            <a:avLst>
              <a:gd name="adj" fmla="val 13208"/>
            </a:avLst>
          </a:prstGeom>
          <a:solidFill>
            <a:srgbClr val="FFF0EB"/>
          </a:solidFill>
          <a:ln w="25400">
            <a:solidFill>
              <a:srgbClr val="FF5733"/>
            </a:solidFill>
            <a:prstDash val="solid"/>
          </a:ln>
        </p:spPr>
      </p:sp>
      <p:sp>
        <p:nvSpPr>
          <p:cNvPr id="14" name="Text 12"/>
          <p:cNvSpPr/>
          <p:nvPr/>
        </p:nvSpPr>
        <p:spPr>
          <a:xfrm>
            <a:off x="6476206" y="2483247"/>
            <a:ext cx="150008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LLM · Qwen3-32B</a:t>
            </a:r>
            <a:endParaRPr lang="en-US" sz="1400" dirty="0"/>
          </a:p>
        </p:txBody>
      </p:sp>
      <p:sp>
        <p:nvSpPr>
          <p:cNvPr id="15" name="Text 13"/>
          <p:cNvSpPr/>
          <p:nvPr/>
        </p:nvSpPr>
        <p:spPr>
          <a:xfrm>
            <a:off x="6638826" y="2723753"/>
            <a:ext cx="117494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vía HF Inference</a:t>
            </a:r>
            <a:endParaRPr lang="en-US" sz="1200" dirty="0"/>
          </a:p>
        </p:txBody>
      </p:sp>
      <p:sp>
        <p:nvSpPr>
          <p:cNvPr id="16" name="Shape 14"/>
          <p:cNvSpPr/>
          <p:nvPr/>
        </p:nvSpPr>
        <p:spPr>
          <a:xfrm>
            <a:off x="5772150" y="3879850"/>
            <a:ext cx="2908300" cy="1384300"/>
          </a:xfrm>
          <a:prstGeom prst="roundRect">
            <a:avLst>
              <a:gd name="adj" fmla="val 6881"/>
            </a:avLst>
          </a:prstGeom>
          <a:solidFill>
            <a:srgbClr val="FFFFFF"/>
          </a:solidFill>
          <a:ln w="12700">
            <a:solidFill>
              <a:srgbClr val="1E293B"/>
            </a:solidFill>
            <a:prstDash val="solid"/>
          </a:ln>
        </p:spPr>
      </p:sp>
      <p:sp>
        <p:nvSpPr>
          <p:cNvPr id="17" name="Text 15"/>
          <p:cNvSpPr/>
          <p:nvPr/>
        </p:nvSpPr>
        <p:spPr>
          <a:xfrm>
            <a:off x="6559451" y="4356497"/>
            <a:ext cx="133369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Runtime · bucle</a:t>
            </a:r>
            <a:endParaRPr lang="en-US" sz="1400" dirty="0"/>
          </a:p>
        </p:txBody>
      </p:sp>
      <p:sp>
        <p:nvSpPr>
          <p:cNvPr id="18" name="Text 16"/>
          <p:cNvSpPr/>
          <p:nvPr/>
        </p:nvSpPr>
        <p:spPr>
          <a:xfrm>
            <a:off x="6275374" y="4597003"/>
            <a:ext cx="190175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tools · retriever · guardrails</a:t>
            </a:r>
            <a:endParaRPr lang="en-US" sz="1200" dirty="0"/>
          </a:p>
        </p:txBody>
      </p:sp>
      <p:sp>
        <p:nvSpPr>
          <p:cNvPr id="19" name="Shape 17"/>
          <p:cNvSpPr/>
          <p:nvPr/>
        </p:nvSpPr>
        <p:spPr>
          <a:xfrm>
            <a:off x="9734550" y="4006850"/>
            <a:ext cx="1638300" cy="622300"/>
          </a:xfrm>
          <a:prstGeom prst="roundRect">
            <a:avLst>
              <a:gd name="adj" fmla="val 15306"/>
            </a:avLst>
          </a:prstGeom>
          <a:solidFill>
            <a:srgbClr val="FFFFFF"/>
          </a:solidFill>
          <a:ln w="12700">
            <a:solidFill>
              <a:srgbClr val="1E293B"/>
            </a:solidFill>
            <a:prstDash val="solid"/>
          </a:ln>
        </p:spPr>
      </p:sp>
      <p:sp>
        <p:nvSpPr>
          <p:cNvPr id="20" name="Text 18"/>
          <p:cNvSpPr/>
          <p:nvPr/>
        </p:nvSpPr>
        <p:spPr>
          <a:xfrm>
            <a:off x="9938445" y="4210447"/>
            <a:ext cx="123041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 API</a:t>
            </a:r>
            <a:endParaRPr lang="en-US" sz="1400" dirty="0"/>
          </a:p>
        </p:txBody>
      </p:sp>
      <p:sp>
        <p:nvSpPr>
          <p:cNvPr id="21" name="Shape 19"/>
          <p:cNvSpPr/>
          <p:nvPr/>
        </p:nvSpPr>
        <p:spPr>
          <a:xfrm>
            <a:off x="9734550" y="4895850"/>
            <a:ext cx="1638300" cy="622300"/>
          </a:xfrm>
          <a:prstGeom prst="roundRect">
            <a:avLst>
              <a:gd name="adj" fmla="val 15306"/>
            </a:avLst>
          </a:prstGeom>
          <a:solidFill>
            <a:srgbClr val="FFFFFF"/>
          </a:solidFill>
          <a:ln w="12700">
            <a:solidFill>
              <a:srgbClr val="1E293B"/>
            </a:solidFill>
            <a:prstDash val="solid"/>
          </a:ln>
        </p:spPr>
      </p:sp>
      <p:sp>
        <p:nvSpPr>
          <p:cNvPr id="22" name="Text 20"/>
          <p:cNvSpPr/>
          <p:nvPr/>
        </p:nvSpPr>
        <p:spPr>
          <a:xfrm>
            <a:off x="10246320" y="5099447"/>
            <a:ext cx="61475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a:t>
            </a:r>
            <a:endParaRPr lang="en-US" sz="1400" dirty="0"/>
          </a:p>
        </p:txBody>
      </p:sp>
      <p:sp>
        <p:nvSpPr>
          <p:cNvPr id="23" name="Shape 21"/>
          <p:cNvSpPr/>
          <p:nvPr/>
        </p:nvSpPr>
        <p:spPr>
          <a:xfrm>
            <a:off x="3460750" y="5073650"/>
            <a:ext cx="1257300" cy="596900"/>
          </a:xfrm>
          <a:prstGeom prst="roundRect">
            <a:avLst>
              <a:gd name="adj" fmla="val 15957"/>
            </a:avLst>
          </a:prstGeom>
          <a:solidFill>
            <a:srgbClr val="FFFFFF"/>
          </a:solidFill>
          <a:ln w="12700">
            <a:solidFill>
              <a:srgbClr val="1E293B"/>
            </a:solidFill>
            <a:prstDash val="solid"/>
          </a:ln>
        </p:spPr>
      </p:sp>
      <p:sp>
        <p:nvSpPr>
          <p:cNvPr id="24" name="Text 22"/>
          <p:cNvSpPr/>
          <p:nvPr/>
        </p:nvSpPr>
        <p:spPr>
          <a:xfrm>
            <a:off x="3903960" y="5156597"/>
            <a:ext cx="37088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401</a:t>
            </a:r>
            <a:endParaRPr lang="en-US" sz="1400" dirty="0"/>
          </a:p>
        </p:txBody>
      </p:sp>
      <p:sp>
        <p:nvSpPr>
          <p:cNvPr id="25" name="Text 23"/>
          <p:cNvSpPr/>
          <p:nvPr/>
        </p:nvSpPr>
        <p:spPr>
          <a:xfrm>
            <a:off x="3794919" y="5397103"/>
            <a:ext cx="588863"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rechazo</a:t>
            </a:r>
            <a:endParaRPr lang="en-US" sz="1200" dirty="0"/>
          </a:p>
        </p:txBody>
      </p:sp>
      <p:pic>
        <p:nvPicPr>
          <p:cNvPr id="26" name="Image 0" descr="connector">    </p:cNvPr>
          <p:cNvPicPr>
            <a:picLocks noChangeAspect="1"/>
          </p:cNvPicPr>
          <p:nvPr/>
        </p:nvPicPr>
        <p:blipFill>
          <a:blip r:embed="rId1"/>
          <a:srcRect l="0" r="0" t="0" b="0"/>
          <a:stretch/>
        </p:blipFill>
        <p:spPr>
          <a:xfrm>
            <a:off x="1778000" y="4279900"/>
            <a:ext cx="1727200" cy="101600"/>
          </a:xfrm>
          <a:prstGeom prst="rect">
            <a:avLst/>
          </a:prstGeom>
        </p:spPr>
      </p:pic>
      <p:sp>
        <p:nvSpPr>
          <p:cNvPr id="27" name="Text 24"/>
          <p:cNvSpPr/>
          <p:nvPr/>
        </p:nvSpPr>
        <p:spPr>
          <a:xfrm>
            <a:off x="1879600" y="4038600"/>
            <a:ext cx="1320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GET /health</a:t>
            </a:r>
            <a:endParaRPr lang="en-US" sz="1400" dirty="0"/>
          </a:p>
        </p:txBody>
      </p:sp>
      <p:pic>
        <p:nvPicPr>
          <p:cNvPr id="28" name="Image 1" descr="connector">    </p:cNvPr>
          <p:cNvPicPr>
            <a:picLocks noChangeAspect="1"/>
          </p:cNvPicPr>
          <p:nvPr/>
        </p:nvPicPr>
        <p:blipFill>
          <a:blip r:embed="rId2"/>
          <a:srcRect l="0" r="0" t="0" b="0"/>
          <a:stretch/>
        </p:blipFill>
        <p:spPr>
          <a:xfrm>
            <a:off x="1778000" y="4635500"/>
            <a:ext cx="1727200" cy="101600"/>
          </a:xfrm>
          <a:prstGeom prst="rect">
            <a:avLst/>
          </a:prstGeom>
        </p:spPr>
      </p:pic>
      <p:sp>
        <p:nvSpPr>
          <p:cNvPr id="29" name="Text 25"/>
          <p:cNvSpPr/>
          <p:nvPr/>
        </p:nvSpPr>
        <p:spPr>
          <a:xfrm>
            <a:off x="1879600" y="4762500"/>
            <a:ext cx="1320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POST /chat</a:t>
            </a:r>
            <a:endParaRPr lang="en-US" sz="1400" dirty="0"/>
          </a:p>
        </p:txBody>
      </p:sp>
      <p:pic>
        <p:nvPicPr>
          <p:cNvPr id="30" name="Image 2" descr="connector">    </p:cNvPr>
          <p:cNvPicPr>
            <a:picLocks noChangeAspect="1"/>
          </p:cNvPicPr>
          <p:nvPr/>
        </p:nvPicPr>
        <p:blipFill>
          <a:blip r:embed="rId3"/>
          <a:srcRect l="0" r="0" t="0" b="0"/>
          <a:stretch/>
        </p:blipFill>
        <p:spPr>
          <a:xfrm>
            <a:off x="4673600" y="4457700"/>
            <a:ext cx="1143000" cy="101600"/>
          </a:xfrm>
          <a:prstGeom prst="rect">
            <a:avLst/>
          </a:prstGeom>
        </p:spPr>
      </p:pic>
      <p:sp>
        <p:nvSpPr>
          <p:cNvPr id="31" name="Text 26"/>
          <p:cNvSpPr/>
          <p:nvPr/>
        </p:nvSpPr>
        <p:spPr>
          <a:xfrm>
            <a:off x="4775200" y="4216400"/>
            <a:ext cx="8001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invoca</a:t>
            </a:r>
            <a:endParaRPr lang="en-US" sz="1400" dirty="0"/>
          </a:p>
        </p:txBody>
      </p:sp>
      <p:pic>
        <p:nvPicPr>
          <p:cNvPr id="32" name="Image 3" descr="connector">    </p:cNvPr>
          <p:cNvPicPr>
            <a:picLocks noChangeAspect="1"/>
          </p:cNvPicPr>
          <p:nvPr/>
        </p:nvPicPr>
        <p:blipFill>
          <a:blip r:embed="rId4"/>
          <a:srcRect l="0" r="0" t="0" b="0"/>
          <a:stretch/>
        </p:blipFill>
        <p:spPr>
          <a:xfrm>
            <a:off x="6642100" y="2971800"/>
            <a:ext cx="152400" cy="977900"/>
          </a:xfrm>
          <a:prstGeom prst="rect">
            <a:avLst/>
          </a:prstGeom>
        </p:spPr>
      </p:pic>
      <p:sp>
        <p:nvSpPr>
          <p:cNvPr id="33" name="Text 27"/>
          <p:cNvSpPr/>
          <p:nvPr/>
        </p:nvSpPr>
        <p:spPr>
          <a:xfrm>
            <a:off x="5816600" y="3352800"/>
            <a:ext cx="9017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mensajes</a:t>
            </a:r>
            <a:endParaRPr lang="en-US" sz="1400" dirty="0"/>
          </a:p>
        </p:txBody>
      </p:sp>
      <p:pic>
        <p:nvPicPr>
          <p:cNvPr id="34" name="Image 4" descr="connector">    </p:cNvPr>
          <p:cNvPicPr>
            <a:picLocks noChangeAspect="1"/>
          </p:cNvPicPr>
          <p:nvPr/>
        </p:nvPicPr>
        <p:blipFill>
          <a:blip r:embed="rId5"/>
          <a:srcRect l="0" r="0" t="0" b="0"/>
          <a:stretch/>
        </p:blipFill>
        <p:spPr>
          <a:xfrm>
            <a:off x="7683500" y="2997200"/>
            <a:ext cx="101600" cy="927100"/>
          </a:xfrm>
          <a:prstGeom prst="rect">
            <a:avLst/>
          </a:prstGeom>
        </p:spPr>
      </p:pic>
      <p:sp>
        <p:nvSpPr>
          <p:cNvPr id="35" name="Text 28"/>
          <p:cNvSpPr/>
          <p:nvPr/>
        </p:nvSpPr>
        <p:spPr>
          <a:xfrm>
            <a:off x="7797800" y="3352800"/>
            <a:ext cx="8763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propone</a:t>
            </a:r>
            <a:endParaRPr lang="en-US" sz="1400" dirty="0"/>
          </a:p>
        </p:txBody>
      </p:sp>
      <p:pic>
        <p:nvPicPr>
          <p:cNvPr id="36" name="Image 5" descr="connector">    </p:cNvPr>
          <p:cNvPicPr>
            <a:picLocks noChangeAspect="1"/>
          </p:cNvPicPr>
          <p:nvPr/>
        </p:nvPicPr>
        <p:blipFill>
          <a:blip r:embed="rId6"/>
          <a:srcRect l="0" r="0" t="0" b="0"/>
          <a:stretch/>
        </p:blipFill>
        <p:spPr>
          <a:xfrm>
            <a:off x="8636000" y="4267200"/>
            <a:ext cx="1143000" cy="101600"/>
          </a:xfrm>
          <a:prstGeom prst="rect">
            <a:avLst/>
          </a:prstGeom>
        </p:spPr>
      </p:pic>
      <p:sp>
        <p:nvSpPr>
          <p:cNvPr id="37" name="Text 29"/>
          <p:cNvSpPr/>
          <p:nvPr/>
        </p:nvSpPr>
        <p:spPr>
          <a:xfrm>
            <a:off x="9118600" y="4038600"/>
            <a:ext cx="6096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tool</a:t>
            </a:r>
            <a:endParaRPr lang="en-US" sz="1400" dirty="0"/>
          </a:p>
        </p:txBody>
      </p:sp>
      <p:pic>
        <p:nvPicPr>
          <p:cNvPr id="38" name="Image 6" descr="connector">    </p:cNvPr>
          <p:cNvPicPr>
            <a:picLocks noChangeAspect="1"/>
          </p:cNvPicPr>
          <p:nvPr/>
        </p:nvPicPr>
        <p:blipFill>
          <a:blip r:embed="rId7"/>
          <a:srcRect l="0" r="0" t="0" b="0"/>
          <a:stretch/>
        </p:blipFill>
        <p:spPr>
          <a:xfrm>
            <a:off x="8636000" y="5156200"/>
            <a:ext cx="1143000" cy="101600"/>
          </a:xfrm>
          <a:prstGeom prst="rect">
            <a:avLst/>
          </a:prstGeom>
        </p:spPr>
      </p:pic>
      <p:sp>
        <p:nvSpPr>
          <p:cNvPr id="39" name="Text 30"/>
          <p:cNvSpPr/>
          <p:nvPr/>
        </p:nvSpPr>
        <p:spPr>
          <a:xfrm>
            <a:off x="9118600" y="4927600"/>
            <a:ext cx="6096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RAG</a:t>
            </a:r>
            <a:endParaRPr lang="en-US" sz="1400" dirty="0"/>
          </a:p>
        </p:txBody>
      </p:sp>
      <p:pic>
        <p:nvPicPr>
          <p:cNvPr id="40" name="Image 7" descr="connector">    </p:cNvPr>
          <p:cNvPicPr>
            <a:picLocks noChangeAspect="1"/>
          </p:cNvPicPr>
          <p:nvPr/>
        </p:nvPicPr>
        <p:blipFill>
          <a:blip r:embed="rId8"/>
          <a:srcRect l="0" r="0" t="0" b="0"/>
          <a:stretch/>
        </p:blipFill>
        <p:spPr>
          <a:xfrm>
            <a:off x="4038600" y="4838700"/>
            <a:ext cx="101600" cy="279400"/>
          </a:xfrm>
          <a:prstGeom prst="rect">
            <a:avLst/>
          </a:prstGeom>
        </p:spPr>
      </p:pic>
      <p:sp>
        <p:nvSpPr>
          <p:cNvPr id="41" name="Text 31"/>
          <p:cNvSpPr/>
          <p:nvPr/>
        </p:nvSpPr>
        <p:spPr>
          <a:xfrm>
            <a:off x="4165600" y="4870450"/>
            <a:ext cx="13589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key inválida</a:t>
            </a:r>
            <a:endParaRPr lang="en-US" sz="1400" dirty="0"/>
          </a:p>
        </p:txBody>
      </p:sp>
      <p:sp>
        <p:nvSpPr>
          <p:cNvPr id="42" name="Text 32"/>
          <p:cNvSpPr/>
          <p:nvPr/>
        </p:nvSpPr>
        <p:spPr>
          <a:xfrm>
            <a:off x="9194800" y="2349500"/>
            <a:ext cx="2249932" cy="455613"/>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Cada llamada gasta cuota del equipo</a:t>
            </a:r>
            <a:endParaRPr lang="en-US" sz="1400" dirty="0"/>
          </a:p>
        </p:txBody>
      </p:sp>
      <p:sp>
        <p:nvSpPr>
          <p:cNvPr id="43" name="Text 3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14/29</a:t>
            </a:r>
            <a:endParaRPr lang="en-US" sz="1200" dirty="0"/>
          </a:p>
        </p:txBody>
      </p:sp>
      <p:pic>
        <p:nvPicPr>
          <p:cNvPr id="44" name="Image 8" descr="AriwaLabs">    </p:cNvPr>
          <p:cNvPicPr>
            <a:picLocks noChangeAspect="1"/>
          </p:cNvPicPr>
          <p:nvPr/>
        </p:nvPicPr>
        <p:blipFill>
          <a:blip r:embed="rId9"/>
          <a:srcRect l="-9345" r="-9345" t="0" b="0"/>
          <a:stretch/>
        </p:blipFill>
        <p:spPr>
          <a:xfrm>
            <a:off x="10680700" y="6223000"/>
            <a:ext cx="698500" cy="254000"/>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Un token filtrado se revoca</a:t>
            </a:r>
            <a:endParaRPr lang="en-US" sz="3600" dirty="0"/>
          </a:p>
        </p:txBody>
      </p:sp>
      <p:sp>
        <p:nvSpPr>
          <p:cNvPr id="3" name="Text 1"/>
          <p:cNvSpPr/>
          <p:nvPr/>
        </p:nvSpPr>
        <p:spPr>
          <a:xfrm>
            <a:off x="812800" y="157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Regla sin excepción: nunca .env en el repo, siempre Space secrets.</a:t>
            </a:r>
            <a:endParaRPr lang="en-US" sz="1600" dirty="0"/>
          </a:p>
        </p:txBody>
      </p:sp>
      <p:sp>
        <p:nvSpPr>
          <p:cNvPr id="4" name="Shape 2"/>
          <p:cNvSpPr/>
          <p:nvPr/>
        </p:nvSpPr>
        <p:spPr>
          <a:xfrm>
            <a:off x="819150" y="2546350"/>
            <a:ext cx="1892300" cy="876300"/>
          </a:xfrm>
          <a:prstGeom prst="roundRect">
            <a:avLst>
              <a:gd name="adj" fmla="val 10870"/>
            </a:avLst>
          </a:prstGeom>
          <a:solidFill>
            <a:srgbClr val="FFFFFF"/>
          </a:solidFill>
          <a:ln w="12700">
            <a:solidFill>
              <a:srgbClr val="1E293B"/>
            </a:solidFill>
            <a:prstDash val="solid"/>
          </a:ln>
        </p:spPr>
      </p:sp>
      <p:sp>
        <p:nvSpPr>
          <p:cNvPr id="5" name="Text 3"/>
          <p:cNvSpPr/>
          <p:nvPr/>
        </p:nvSpPr>
        <p:spPr>
          <a:xfrm>
            <a:off x="1062236" y="2768997"/>
            <a:ext cx="1406128"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Commit con .env</a:t>
            </a:r>
            <a:endParaRPr lang="en-US" sz="1400" dirty="0"/>
          </a:p>
        </p:txBody>
      </p:sp>
      <p:sp>
        <p:nvSpPr>
          <p:cNvPr id="6" name="Text 4"/>
          <p:cNvSpPr/>
          <p:nvPr/>
        </p:nvSpPr>
        <p:spPr>
          <a:xfrm>
            <a:off x="1239738" y="3009503"/>
            <a:ext cx="1051024"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o con un token</a:t>
            </a:r>
            <a:endParaRPr lang="en-US" sz="1200" dirty="0"/>
          </a:p>
        </p:txBody>
      </p:sp>
      <p:sp>
        <p:nvSpPr>
          <p:cNvPr id="7" name="Shape 5"/>
          <p:cNvSpPr/>
          <p:nvPr/>
        </p:nvSpPr>
        <p:spPr>
          <a:xfrm>
            <a:off x="3702050" y="2546350"/>
            <a:ext cx="1892300" cy="876300"/>
          </a:xfrm>
          <a:prstGeom prst="roundRect">
            <a:avLst>
              <a:gd name="adj" fmla="val 10870"/>
            </a:avLst>
          </a:prstGeom>
          <a:solidFill>
            <a:srgbClr val="FFFFFF"/>
          </a:solidFill>
          <a:ln w="12700">
            <a:solidFill>
              <a:srgbClr val="1E293B"/>
            </a:solidFill>
            <a:prstDash val="solid"/>
          </a:ln>
        </p:spPr>
      </p:sp>
      <p:sp>
        <p:nvSpPr>
          <p:cNvPr id="8" name="Text 6"/>
          <p:cNvSpPr/>
          <p:nvPr/>
        </p:nvSpPr>
        <p:spPr>
          <a:xfrm>
            <a:off x="4030861" y="2768997"/>
            <a:ext cx="1234579"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Historial de git</a:t>
            </a:r>
            <a:endParaRPr lang="en-US" sz="1400" dirty="0"/>
          </a:p>
        </p:txBody>
      </p:sp>
      <p:sp>
        <p:nvSpPr>
          <p:cNvPr id="9" name="Text 7"/>
          <p:cNvSpPr/>
          <p:nvPr/>
        </p:nvSpPr>
        <p:spPr>
          <a:xfrm>
            <a:off x="4210546" y="3009503"/>
            <a:ext cx="87520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recuperable</a:t>
            </a:r>
            <a:endParaRPr lang="en-US" sz="1200" dirty="0"/>
          </a:p>
        </p:txBody>
      </p:sp>
      <p:sp>
        <p:nvSpPr>
          <p:cNvPr id="10" name="Shape 8"/>
          <p:cNvSpPr/>
          <p:nvPr/>
        </p:nvSpPr>
        <p:spPr>
          <a:xfrm>
            <a:off x="6584950" y="2546350"/>
            <a:ext cx="1892300" cy="876300"/>
          </a:xfrm>
          <a:prstGeom prst="roundRect">
            <a:avLst>
              <a:gd name="adj" fmla="val 10870"/>
            </a:avLst>
          </a:prstGeom>
          <a:solidFill>
            <a:srgbClr val="FFFFFF"/>
          </a:solidFill>
          <a:ln w="12700">
            <a:solidFill>
              <a:srgbClr val="1E293B"/>
            </a:solidFill>
            <a:prstDash val="solid"/>
          </a:ln>
        </p:spPr>
      </p:sp>
      <p:sp>
        <p:nvSpPr>
          <p:cNvPr id="11" name="Text 9"/>
          <p:cNvSpPr/>
          <p:nvPr/>
        </p:nvSpPr>
        <p:spPr>
          <a:xfrm>
            <a:off x="6799957" y="2768997"/>
            <a:ext cx="1462187"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Scraper lo indexa</a:t>
            </a:r>
            <a:endParaRPr lang="en-US" sz="1400" dirty="0"/>
          </a:p>
        </p:txBody>
      </p:sp>
      <p:sp>
        <p:nvSpPr>
          <p:cNvPr id="12" name="Text 10"/>
          <p:cNvSpPr/>
          <p:nvPr/>
        </p:nvSpPr>
        <p:spPr>
          <a:xfrm>
            <a:off x="6931918" y="3009503"/>
            <a:ext cx="119826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puede ya tenerlo</a:t>
            </a:r>
            <a:endParaRPr lang="en-US" sz="1200" dirty="0"/>
          </a:p>
        </p:txBody>
      </p:sp>
      <p:sp>
        <p:nvSpPr>
          <p:cNvPr id="13" name="Shape 11"/>
          <p:cNvSpPr/>
          <p:nvPr/>
        </p:nvSpPr>
        <p:spPr>
          <a:xfrm>
            <a:off x="9474200" y="2552700"/>
            <a:ext cx="1879600" cy="863600"/>
          </a:xfrm>
          <a:prstGeom prst="roundRect">
            <a:avLst>
              <a:gd name="adj" fmla="val 10294"/>
            </a:avLst>
          </a:prstGeom>
          <a:solidFill>
            <a:srgbClr val="FFF0EB"/>
          </a:solidFill>
          <a:ln w="25400">
            <a:solidFill>
              <a:srgbClr val="FF5733"/>
            </a:solidFill>
            <a:prstDash val="solid"/>
          </a:ln>
        </p:spPr>
      </p:sp>
      <p:sp>
        <p:nvSpPr>
          <p:cNvPr id="14" name="Text 12"/>
          <p:cNvSpPr/>
          <p:nvPr/>
        </p:nvSpPr>
        <p:spPr>
          <a:xfrm>
            <a:off x="9575899" y="2768997"/>
            <a:ext cx="1676102"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Revocar y regenerar</a:t>
            </a:r>
            <a:endParaRPr lang="en-US" sz="1400" dirty="0"/>
          </a:p>
        </p:txBody>
      </p:sp>
      <p:sp>
        <p:nvSpPr>
          <p:cNvPr id="15" name="Text 13"/>
          <p:cNvSpPr/>
          <p:nvPr/>
        </p:nvSpPr>
        <p:spPr>
          <a:xfrm>
            <a:off x="9851430" y="3009503"/>
            <a:ext cx="1125141"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el token filtrado</a:t>
            </a:r>
            <a:endParaRPr lang="en-US" sz="1200" dirty="0"/>
          </a:p>
        </p:txBody>
      </p:sp>
      <p:pic>
        <p:nvPicPr>
          <p:cNvPr id="16" name="Image 0" descr="connector">    </p:cNvPr>
          <p:cNvPicPr>
            <a:picLocks noChangeAspect="1"/>
          </p:cNvPicPr>
          <p:nvPr/>
        </p:nvPicPr>
        <p:blipFill>
          <a:blip r:embed="rId1"/>
          <a:srcRect l="0" r="0" t="0" b="0"/>
          <a:stretch/>
        </p:blipFill>
        <p:spPr>
          <a:xfrm>
            <a:off x="2667000" y="2933700"/>
            <a:ext cx="1079500" cy="101600"/>
          </a:xfrm>
          <a:prstGeom prst="rect">
            <a:avLst/>
          </a:prstGeom>
        </p:spPr>
      </p:pic>
      <p:sp>
        <p:nvSpPr>
          <p:cNvPr id="17" name="Text 14"/>
          <p:cNvSpPr/>
          <p:nvPr/>
        </p:nvSpPr>
        <p:spPr>
          <a:xfrm>
            <a:off x="2768600" y="2654300"/>
            <a:ext cx="9271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push</a:t>
            </a:r>
            <a:endParaRPr lang="en-US" sz="1400" dirty="0"/>
          </a:p>
        </p:txBody>
      </p:sp>
      <p:pic>
        <p:nvPicPr>
          <p:cNvPr id="18" name="Image 1" descr="connector">    </p:cNvPr>
          <p:cNvPicPr>
            <a:picLocks noChangeAspect="1"/>
          </p:cNvPicPr>
          <p:nvPr/>
        </p:nvPicPr>
        <p:blipFill>
          <a:blip r:embed="rId2"/>
          <a:srcRect l="0" r="0" t="0" b="0"/>
          <a:stretch/>
        </p:blipFill>
        <p:spPr>
          <a:xfrm>
            <a:off x="5549900" y="2933700"/>
            <a:ext cx="1079500" cy="101600"/>
          </a:xfrm>
          <a:prstGeom prst="rect">
            <a:avLst/>
          </a:prstGeom>
        </p:spPr>
      </p:pic>
      <p:sp>
        <p:nvSpPr>
          <p:cNvPr id="19" name="Text 15"/>
          <p:cNvSpPr/>
          <p:nvPr/>
        </p:nvSpPr>
        <p:spPr>
          <a:xfrm>
            <a:off x="5651500" y="2654300"/>
            <a:ext cx="9271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persiste</a:t>
            </a:r>
            <a:endParaRPr lang="en-US" sz="1400" dirty="0"/>
          </a:p>
        </p:txBody>
      </p:sp>
      <p:pic>
        <p:nvPicPr>
          <p:cNvPr id="20" name="Image 2" descr="connector">    </p:cNvPr>
          <p:cNvPicPr>
            <a:picLocks noChangeAspect="1"/>
          </p:cNvPicPr>
          <p:nvPr/>
        </p:nvPicPr>
        <p:blipFill>
          <a:blip r:embed="rId3"/>
          <a:srcRect l="0" r="0" t="0" b="0"/>
          <a:stretch/>
        </p:blipFill>
        <p:spPr>
          <a:xfrm>
            <a:off x="8407400" y="2908300"/>
            <a:ext cx="1130300" cy="152400"/>
          </a:xfrm>
          <a:prstGeom prst="rect">
            <a:avLst/>
          </a:prstGeom>
        </p:spPr>
      </p:pic>
      <p:sp>
        <p:nvSpPr>
          <p:cNvPr id="21" name="Text 16"/>
          <p:cNvSpPr/>
          <p:nvPr/>
        </p:nvSpPr>
        <p:spPr>
          <a:xfrm>
            <a:off x="8534400" y="2654300"/>
            <a:ext cx="9271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reacción</a:t>
            </a:r>
            <a:endParaRPr lang="en-US" sz="1400" dirty="0"/>
          </a:p>
        </p:txBody>
      </p:sp>
      <p:sp>
        <p:nvSpPr>
          <p:cNvPr id="22" name="Text 17"/>
          <p:cNvSpPr/>
          <p:nvPr/>
        </p:nvSpPr>
        <p:spPr>
          <a:xfrm>
            <a:off x="812800" y="38735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Borrar el commit no basta: el historial de git es recuperable y un scraper automatizado ya pudo indexarlo.</a:t>
            </a:r>
            <a:endParaRPr lang="en-US" sz="1600" dirty="0"/>
          </a:p>
        </p:txBody>
      </p:sp>
      <p:sp>
        <p:nvSpPr>
          <p:cNvPr id="23" name="Text 18"/>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15/29</a:t>
            </a:r>
            <a:endParaRPr lang="en-US" sz="1200" dirty="0"/>
          </a:p>
        </p:txBody>
      </p:sp>
      <p:pic>
        <p:nvPicPr>
          <p:cNvPr id="24" name="Image 3" descr="AriwaLabs">    </p:cNvPr>
          <p:cNvPicPr>
            <a:picLocks noChangeAspect="1"/>
          </p:cNvPicPr>
          <p:nvPr/>
        </p:nvPicPr>
        <p:blipFill>
          <a:blip r:embed="rId4"/>
          <a:srcRect l="-9345" r="-9345" t="0" b="0"/>
          <a:stretch/>
        </p:blipFill>
        <p:spPr>
          <a:xfrm>
            <a:off x="10680700" y="6223000"/>
            <a:ext cx="698500" cy="254000"/>
          </a:xfrm>
          <a:prstGeom prst="rect">
            <a:avLst/>
          </a:prstGeom>
        </p:spPr>
      </p:pic>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push al Space es el despliegue</a:t>
            </a:r>
            <a:endParaRPr lang="en-US" sz="3600" dirty="0"/>
          </a:p>
        </p:txBody>
      </p:sp>
      <p:sp>
        <p:nvSpPr>
          <p:cNvPr id="3" name="Shape 1"/>
          <p:cNvSpPr/>
          <p:nvPr/>
        </p:nvSpPr>
        <p:spPr>
          <a:xfrm>
            <a:off x="819150" y="1580555"/>
            <a:ext cx="5194300" cy="2997200"/>
          </a:xfrm>
          <a:prstGeom prst="roundRect">
            <a:avLst>
              <a:gd name="adj" fmla="val 3178"/>
            </a:avLst>
          </a:prstGeom>
          <a:solidFill>
            <a:srgbClr val="FFFFFF"/>
          </a:solidFill>
          <a:ln w="12700">
            <a:solidFill>
              <a:srgbClr val="CED8E3"/>
            </a:solidFill>
            <a:prstDash val="solid"/>
          </a:ln>
        </p:spPr>
      </p:sp>
      <p:pic>
        <p:nvPicPr>
          <p:cNvPr id="4" name="Image 0" descr="IMG-S00-010. Hugging Face: componentes de la plataforma y cómo los usa el curso. Spaces (Docker) y Repositorios git están marcados para la S8. Panel Sesión 8: git push de tu repo, Space Docker y API pública del agente; Space secrets HF_TOKEN y AGENT_API_KEY.">    </p:cNvPr>
          <p:cNvPicPr>
            <a:picLocks noChangeAspect="1"/>
          </p:cNvPicPr>
          <p:nvPr/>
        </p:nvPicPr>
        <p:blipFill>
          <a:blip r:embed="rId1"/>
          <a:srcRect l="0" r="0" t="-30" b="-30"/>
          <a:stretch/>
        </p:blipFill>
        <p:spPr>
          <a:xfrm>
            <a:off x="901700" y="1663105"/>
            <a:ext cx="5029200" cy="2832100"/>
          </a:xfrm>
          <a:prstGeom prst="rect">
            <a:avLst/>
          </a:prstGeom>
        </p:spPr>
      </p:pic>
      <p:sp>
        <p:nvSpPr>
          <p:cNvPr id="5" name="Text 2"/>
          <p:cNvSpPr/>
          <p:nvPr/>
        </p:nvSpPr>
        <p:spPr>
          <a:xfrm>
            <a:off x="6172200" y="1574205"/>
            <a:ext cx="5363210"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Dos remotes en el mismo repo local:</a:t>
            </a:r>
            <a:endParaRPr lang="en-US" sz="1400" dirty="0"/>
          </a:p>
        </p:txBody>
      </p:sp>
      <p:sp>
        <p:nvSpPr>
          <p:cNvPr id="6" name="Shape 3"/>
          <p:cNvSpPr/>
          <p:nvPr/>
        </p:nvSpPr>
        <p:spPr>
          <a:xfrm>
            <a:off x="6172200" y="1955899"/>
            <a:ext cx="5207000" cy="1266825"/>
          </a:xfrm>
          <a:prstGeom prst="roundRect">
            <a:avLst>
              <a:gd name="adj" fmla="val 2005"/>
            </a:avLst>
          </a:prstGeom>
          <a:solidFill>
            <a:srgbClr val="1E293B"/>
          </a:solidFill>
          <a:ln/>
        </p:spPr>
      </p:sp>
      <p:sp>
        <p:nvSpPr>
          <p:cNvPr id="7" name="Text 4"/>
          <p:cNvSpPr/>
          <p:nvPr/>
        </p:nvSpPr>
        <p:spPr>
          <a:xfrm>
            <a:off x="6400800" y="2133699"/>
            <a:ext cx="489229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git remote add space \</a:t>
            </a:r>
            <a:endParaRPr lang="en-US" sz="1300" dirty="0"/>
          </a:p>
        </p:txBody>
      </p:sp>
      <p:sp>
        <p:nvSpPr>
          <p:cNvPr id="8" name="Text 5"/>
          <p:cNvSpPr/>
          <p:nvPr/>
        </p:nvSpPr>
        <p:spPr>
          <a:xfrm>
            <a:off x="6400800" y="2361505"/>
            <a:ext cx="489229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https://huggingface.co/spaces/&lt;usuario&gt;/&lt;space&gt;</a:t>
            </a:r>
            <a:endParaRPr lang="en-US" sz="1300" dirty="0"/>
          </a:p>
        </p:txBody>
      </p:sp>
      <p:sp>
        <p:nvSpPr>
          <p:cNvPr id="9" name="Text 6"/>
          <p:cNvSpPr/>
          <p:nvPr/>
        </p:nvSpPr>
        <p:spPr>
          <a:xfrm>
            <a:off x="6400800" y="2817118"/>
            <a:ext cx="489229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git push space main</a:t>
            </a:r>
            <a:endParaRPr lang="en-US" sz="1300" dirty="0"/>
          </a:p>
        </p:txBody>
      </p:sp>
      <p:sp>
        <p:nvSpPr>
          <p:cNvPr id="10" name="Text 7"/>
          <p:cNvSpPr/>
          <p:nvPr/>
        </p:nvSpPr>
        <p:spPr>
          <a:xfrm>
            <a:off x="6172200" y="3375124"/>
            <a:ext cx="5363210"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origin sigue siendo tu GitHub. El push al Space dispara el build con tu Dockerfile.</a:t>
            </a:r>
            <a:endParaRPr lang="en-US" sz="1400" dirty="0"/>
          </a:p>
        </p:txBody>
      </p:sp>
      <p:sp>
        <p:nvSpPr>
          <p:cNvPr id="11" name="Text 8"/>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16/29</a:t>
            </a:r>
            <a:endParaRPr lang="en-US" sz="1200" dirty="0"/>
          </a:p>
        </p:txBody>
      </p:sp>
      <p:pic>
        <p:nvPicPr>
          <p:cNvPr id="12"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El primer request despierta al Space</a:t>
            </a:r>
            <a:endParaRPr lang="en-US" sz="3600" dirty="0"/>
          </a:p>
        </p:txBody>
      </p:sp>
      <p:sp>
        <p:nvSpPr>
          <p:cNvPr id="3" name="Text 1"/>
          <p:cNvSpPr/>
          <p:nvPr/>
        </p:nvSpPr>
        <p:spPr>
          <a:xfrm>
            <a:off x="812800" y="1574205"/>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Es una propiedad económica del tier gratuito, no un bug de tu código.</a:t>
            </a:r>
            <a:endParaRPr lang="en-US" sz="1600" dirty="0"/>
          </a:p>
        </p:txBody>
      </p:sp>
      <p:sp>
        <p:nvSpPr>
          <p:cNvPr id="4" name="Shape 2"/>
          <p:cNvSpPr/>
          <p:nvPr/>
        </p:nvSpPr>
        <p:spPr>
          <a:xfrm>
            <a:off x="819150" y="2736850"/>
            <a:ext cx="3543300" cy="939800"/>
          </a:xfrm>
          <a:prstGeom prst="roundRect">
            <a:avLst>
              <a:gd name="adj" fmla="val 10135"/>
            </a:avLst>
          </a:prstGeom>
          <a:solidFill>
            <a:srgbClr val="FFFFFF"/>
          </a:solidFill>
          <a:ln w="12700">
            <a:solidFill>
              <a:srgbClr val="526277"/>
            </a:solidFill>
            <a:prstDash val="dash"/>
          </a:ln>
        </p:spPr>
      </p:sp>
      <p:sp>
        <p:nvSpPr>
          <p:cNvPr id="5" name="Text 3"/>
          <p:cNvSpPr/>
          <p:nvPr/>
        </p:nvSpPr>
        <p:spPr>
          <a:xfrm>
            <a:off x="2178645" y="2991247"/>
            <a:ext cx="87501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Sin tráfico</a:t>
            </a:r>
            <a:endParaRPr lang="en-US" sz="1400" dirty="0"/>
          </a:p>
        </p:txBody>
      </p:sp>
      <p:sp>
        <p:nvSpPr>
          <p:cNvPr id="6" name="Text 4"/>
          <p:cNvSpPr/>
          <p:nvPr/>
        </p:nvSpPr>
        <p:spPr>
          <a:xfrm>
            <a:off x="1920776" y="3231753"/>
            <a:ext cx="1390749"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el Space se duerme</a:t>
            </a:r>
            <a:endParaRPr lang="en-US" sz="1200" dirty="0"/>
          </a:p>
        </p:txBody>
      </p:sp>
      <p:sp>
        <p:nvSpPr>
          <p:cNvPr id="7" name="Shape 5"/>
          <p:cNvSpPr/>
          <p:nvPr/>
        </p:nvSpPr>
        <p:spPr>
          <a:xfrm>
            <a:off x="4610100" y="2743200"/>
            <a:ext cx="4292600" cy="927100"/>
          </a:xfrm>
          <a:prstGeom prst="roundRect">
            <a:avLst>
              <a:gd name="adj" fmla="val 9589"/>
            </a:avLst>
          </a:prstGeom>
          <a:solidFill>
            <a:srgbClr val="FFF0EB"/>
          </a:solidFill>
          <a:ln w="25400">
            <a:solidFill>
              <a:srgbClr val="FF5733"/>
            </a:solidFill>
            <a:prstDash val="solid"/>
          </a:ln>
        </p:spPr>
      </p:sp>
      <p:sp>
        <p:nvSpPr>
          <p:cNvPr id="8" name="Text 6"/>
          <p:cNvSpPr/>
          <p:nvPr/>
        </p:nvSpPr>
        <p:spPr>
          <a:xfrm>
            <a:off x="6123583" y="2991247"/>
            <a:ext cx="126563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Primer request</a:t>
            </a:r>
            <a:endParaRPr lang="en-US" sz="1400" dirty="0"/>
          </a:p>
        </p:txBody>
      </p:sp>
      <p:sp>
        <p:nvSpPr>
          <p:cNvPr id="9" name="Text 7"/>
          <p:cNvSpPr/>
          <p:nvPr/>
        </p:nvSpPr>
        <p:spPr>
          <a:xfrm>
            <a:off x="5651568" y="3231753"/>
            <a:ext cx="220956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despertar el Space + responder</a:t>
            </a:r>
            <a:endParaRPr lang="en-US" sz="1200" dirty="0"/>
          </a:p>
        </p:txBody>
      </p:sp>
      <p:sp>
        <p:nvSpPr>
          <p:cNvPr id="10" name="Shape 8"/>
          <p:cNvSpPr/>
          <p:nvPr/>
        </p:nvSpPr>
        <p:spPr>
          <a:xfrm>
            <a:off x="9175750" y="2736850"/>
            <a:ext cx="2197100" cy="939800"/>
          </a:xfrm>
          <a:prstGeom prst="roundRect">
            <a:avLst>
              <a:gd name="adj" fmla="val 10135"/>
            </a:avLst>
          </a:prstGeom>
          <a:solidFill>
            <a:srgbClr val="FFFFFF"/>
          </a:solidFill>
          <a:ln w="12700">
            <a:solidFill>
              <a:srgbClr val="1E293B"/>
            </a:solidFill>
            <a:prstDash val="solid"/>
          </a:ln>
        </p:spPr>
      </p:sp>
      <p:sp>
        <p:nvSpPr>
          <p:cNvPr id="11" name="Text 9"/>
          <p:cNvSpPr/>
          <p:nvPr/>
        </p:nvSpPr>
        <p:spPr>
          <a:xfrm>
            <a:off x="9559925" y="2991247"/>
            <a:ext cx="1428750"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Segundo request</a:t>
            </a:r>
            <a:endParaRPr lang="en-US" sz="1400" dirty="0"/>
          </a:p>
        </p:txBody>
      </p:sp>
      <p:sp>
        <p:nvSpPr>
          <p:cNvPr id="12" name="Text 10"/>
          <p:cNvSpPr/>
          <p:nvPr/>
        </p:nvSpPr>
        <p:spPr>
          <a:xfrm>
            <a:off x="9737030" y="3231753"/>
            <a:ext cx="107453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solo responder</a:t>
            </a:r>
            <a:endParaRPr lang="en-US" sz="1200" dirty="0"/>
          </a:p>
        </p:txBody>
      </p:sp>
      <p:pic>
        <p:nvPicPr>
          <p:cNvPr id="13" name="Image 0" descr="connector">    </p:cNvPr>
          <p:cNvPicPr>
            <a:picLocks noChangeAspect="1"/>
          </p:cNvPicPr>
          <p:nvPr/>
        </p:nvPicPr>
        <p:blipFill>
          <a:blip r:embed="rId1"/>
          <a:srcRect l="0" r="0" t="0" b="0"/>
          <a:stretch/>
        </p:blipFill>
        <p:spPr>
          <a:xfrm>
            <a:off x="762000" y="4013200"/>
            <a:ext cx="10515600" cy="101600"/>
          </a:xfrm>
          <a:prstGeom prst="rect">
            <a:avLst/>
          </a:prstGeom>
        </p:spPr>
      </p:pic>
      <p:sp>
        <p:nvSpPr>
          <p:cNvPr id="14" name="Text 11"/>
          <p:cNvSpPr/>
          <p:nvPr/>
        </p:nvSpPr>
        <p:spPr>
          <a:xfrm>
            <a:off x="10109200" y="4140200"/>
            <a:ext cx="1320800"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526277"/>
                </a:solidFill>
                <a:latin typeface="IBM Plex Sans" pitchFamily="34" charset="0"/>
                <a:ea typeface="IBM Plex Sans" pitchFamily="34" charset="-122"/>
                <a:cs typeface="IBM Plex Sans" pitchFamily="34" charset="-120"/>
              </a:rPr>
              <a:t>tiempo</a:t>
            </a:r>
            <a:endParaRPr lang="en-US" sz="1400" dirty="0"/>
          </a:p>
        </p:txBody>
      </p:sp>
      <p:sp>
        <p:nvSpPr>
          <p:cNvPr id="15" name="Text 12"/>
          <p:cNvSpPr/>
          <p:nvPr/>
        </p:nvSpPr>
        <p:spPr>
          <a:xfrm>
            <a:off x="812800" y="4762500"/>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Mide el primero tras la inactividad y el segundo inmediato; anótalos en DESPLIEGUE.md.</a:t>
            </a:r>
            <a:endParaRPr lang="en-US" sz="1600" dirty="0"/>
          </a:p>
        </p:txBody>
      </p:sp>
      <p:sp>
        <p:nvSpPr>
          <p:cNvPr id="16" name="Text 1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17/29</a:t>
            </a:r>
            <a:endParaRPr lang="en-US" sz="1200" dirty="0"/>
          </a:p>
        </p:txBody>
      </p:sp>
      <p:pic>
        <p:nvPicPr>
          <p:cNvPr id="17" name="Image 1" descr="AriwaLabs">    </p:cNvPr>
          <p:cNvPicPr>
            <a:picLocks noChangeAspect="1"/>
          </p:cNvPicPr>
          <p:nvPr/>
        </p:nvPicPr>
        <p:blipFill>
          <a:blip r:embed="rId2"/>
          <a:srcRect l="-9345" r="-9345" t="0" b="0"/>
          <a:stretch/>
        </p:blipFill>
        <p:spPr>
          <a:xfrm>
            <a:off x="10680700" y="6223000"/>
            <a:ext cx="698500" cy="254000"/>
          </a:xfrm>
          <a:prstGeom prst="rect">
            <a:avLst/>
          </a:prstGeom>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Lo que el despliegue no cambia</a:t>
            </a:r>
            <a:endParaRPr lang="en-US" sz="3600" dirty="0"/>
          </a:p>
        </p:txBody>
      </p:sp>
      <p:sp>
        <p:nvSpPr>
          <p:cNvPr id="3" name="Shape 1"/>
          <p:cNvSpPr/>
          <p:nvPr/>
        </p:nvSpPr>
        <p:spPr>
          <a:xfrm>
            <a:off x="11372850" y="1574205"/>
            <a:ext cx="0" cy="2273300"/>
          </a:xfrm>
          <a:prstGeom prst="line">
            <a:avLst/>
          </a:prstGeom>
          <a:noFill/>
          <a:ln w="12700">
            <a:solidFill>
              <a:srgbClr val="CED8E3"/>
            </a:solidFill>
            <a:prstDash val="solid"/>
          </a:ln>
        </p:spPr>
      </p:sp>
      <p:sp>
        <p:nvSpPr>
          <p:cNvPr id="4" name="Shape 2"/>
          <p:cNvSpPr/>
          <p:nvPr/>
        </p:nvSpPr>
        <p:spPr>
          <a:xfrm>
            <a:off x="812800" y="3841155"/>
            <a:ext cx="10566400" cy="0"/>
          </a:xfrm>
          <a:prstGeom prst="line">
            <a:avLst/>
          </a:prstGeom>
          <a:noFill/>
          <a:ln w="12700">
            <a:solidFill>
              <a:srgbClr val="CED8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6905"/>
          <a:ext cx="10541000" cy="2247900"/>
        </p:xfrm>
        <a:graphic>
          <a:graphicData uri="http://schemas.openxmlformats.org/drawingml/2006/table">
            <a:tbl>
              <a:tblPr/>
              <a:tblGrid>
                <a:gridCol w="3794760"/>
                <a:gridCol w="6746240"/>
              </a:tblGrid>
              <a:tr h="438150">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Lo que parece</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Lo que es</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68580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“En producción, la memoria persiste”</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La memoria es un diccionario por proceso: el despliegue no la vuelve durable, y un reinicio del Space la pierde.</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81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“X-API-Key identifica a cada usuario”</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Es una sola key del equipo: protege la cuota, no autentica al cliente final.</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8580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“/health en verde: todo está sano”</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Solo dice que el proceso responde; el modelo, el simulador o Qdrant pueden fallar.</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Text 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18/29</a:t>
            </a:r>
            <a:endParaRPr lang="en-US" sz="1200" dirty="0"/>
          </a:p>
        </p:txBody>
      </p:sp>
      <p:pic>
        <p:nvPicPr>
          <p:cNvPr id="7"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Cuatro demos antes del laboratorio</a:t>
            </a:r>
            <a:endParaRPr lang="en-US" sz="3600" dirty="0"/>
          </a:p>
        </p:txBody>
      </p:sp>
      <p:sp>
        <p:nvSpPr>
          <p:cNvPr id="3" name="Shape 1"/>
          <p:cNvSpPr/>
          <p:nvPr/>
        </p:nvSpPr>
        <p:spPr>
          <a:xfrm>
            <a:off x="11372850" y="1574205"/>
            <a:ext cx="0" cy="2133302"/>
          </a:xfrm>
          <a:prstGeom prst="line">
            <a:avLst/>
          </a:prstGeom>
          <a:noFill/>
          <a:ln w="12700">
            <a:solidFill>
              <a:srgbClr val="CED8E3"/>
            </a:solidFill>
            <a:prstDash val="solid"/>
          </a:ln>
        </p:spPr>
      </p:sp>
      <p:sp>
        <p:nvSpPr>
          <p:cNvPr id="4" name="Shape 2"/>
          <p:cNvSpPr/>
          <p:nvPr/>
        </p:nvSpPr>
        <p:spPr>
          <a:xfrm>
            <a:off x="812800" y="3701157"/>
            <a:ext cx="10566400" cy="0"/>
          </a:xfrm>
          <a:prstGeom prst="line">
            <a:avLst/>
          </a:prstGeom>
          <a:noFill/>
          <a:ln w="12700">
            <a:solidFill>
              <a:srgbClr val="CED8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6905"/>
          <a:ext cx="10541000" cy="2107902"/>
        </p:xfrm>
        <a:graphic>
          <a:graphicData uri="http://schemas.openxmlformats.org/drawingml/2006/table">
            <a:tbl>
              <a:tblPr/>
              <a:tblGrid>
                <a:gridCol w="4005580"/>
                <a:gridCol w="2108200"/>
                <a:gridCol w="4427220"/>
              </a:tblGrid>
              <a:tr h="421580">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Demo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Credenciales</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Qué notar</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21580">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01_api_local.py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HF_TOKEN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/health no exige credencial; /chat sí</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21580">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02_dockerfile_comentado.md</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 (lectura)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COPY requirements.txt va antes de COPY . .</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21580">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03_secretos.py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El código no distingue .env de Space secret</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21580">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04_llamar_desde_fuera.py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No (HTTP)</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Solo la key correcta llega al modelo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Text 3"/>
          <p:cNvSpPr/>
          <p:nvPr/>
        </p:nvSpPr>
        <p:spPr>
          <a:xfrm>
            <a:off x="812800" y="3961507"/>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Se ejecutan desde la raíz del curso. La Demo 4 va contra el Space del docente; si aún no está desplegado, usa el modo --simular.</a:t>
            </a:r>
            <a:endParaRPr lang="en-US" sz="1400" dirty="0"/>
          </a:p>
        </p:txBody>
      </p:sp>
      <p:sp>
        <p:nvSpPr>
          <p:cNvPr id="7" name="Text 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19/29</a:t>
            </a:r>
            <a:endParaRPr lang="en-US" sz="1200" dirty="0"/>
          </a:p>
        </p:txBody>
      </p:sp>
      <p:pic>
        <p:nvPicPr>
          <p:cNvPr id="8"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L8: API autenticada y URL pública</a:t>
            </a:r>
            <a:endParaRPr lang="en-US" sz="3600" dirty="0"/>
          </a:p>
        </p:txBody>
      </p:sp>
      <p:sp>
        <p:nvSpPr>
          <p:cNvPr id="3" name="Text 1"/>
          <p:cNvSpPr/>
          <p:nvPr/>
        </p:nvSpPr>
        <p:spPr>
          <a:xfrm>
            <a:off x="812800" y="1574205"/>
            <a:ext cx="10883392" cy="586184"/>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Punto de partida: tu agent.py v4 del L6 (memoria y RAG del L5, guardrails del L6), con los arreglos que hayas hecho en el L7. Hoy no le agregas capacidades: lo envuelves con HTTP y lo publicas.</a:t>
            </a:r>
            <a:endParaRPr lang="en-US" sz="1600" dirty="0"/>
          </a:p>
        </p:txBody>
      </p:sp>
      <p:sp>
        <p:nvSpPr>
          <p:cNvPr id="4" name="Shape 2"/>
          <p:cNvSpPr/>
          <p:nvPr/>
        </p:nvSpPr>
        <p:spPr>
          <a:xfrm>
            <a:off x="819150" y="2395339"/>
            <a:ext cx="2495550" cy="1615976"/>
          </a:xfrm>
          <a:prstGeom prst="roundRect">
            <a:avLst>
              <a:gd name="adj" fmla="val 5894"/>
            </a:avLst>
          </a:prstGeom>
          <a:solidFill>
            <a:srgbClr val="FFFFFF"/>
          </a:solidFill>
          <a:ln w="12700">
            <a:solidFill>
              <a:srgbClr val="CED8E3"/>
            </a:solidFill>
            <a:prstDash val="solid"/>
          </a:ln>
        </p:spPr>
      </p:sp>
      <p:sp>
        <p:nvSpPr>
          <p:cNvPr id="5" name="Text 3"/>
          <p:cNvSpPr/>
          <p:nvPr/>
        </p:nvSpPr>
        <p:spPr>
          <a:xfrm>
            <a:off x="1079500" y="2630289"/>
            <a:ext cx="2034095"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Parte 1 · 30 min</a:t>
            </a:r>
            <a:endParaRPr lang="en-US" sz="1600" dirty="0"/>
          </a:p>
        </p:txBody>
      </p:sp>
      <p:sp>
        <p:nvSpPr>
          <p:cNvPr id="6" name="Text 4"/>
          <p:cNvSpPr/>
          <p:nvPr/>
        </p:nvSpPr>
        <p:spPr>
          <a:xfrm>
            <a:off x="1079500" y="3088481"/>
            <a:ext cx="2034095" cy="713284"/>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app/api.py: /chat, /health y el guardia de X-API-Key</a:t>
            </a:r>
            <a:endParaRPr lang="en-US" sz="1400" dirty="0"/>
          </a:p>
        </p:txBody>
      </p:sp>
      <p:sp>
        <p:nvSpPr>
          <p:cNvPr id="7" name="Shape 5"/>
          <p:cNvSpPr/>
          <p:nvPr/>
        </p:nvSpPr>
        <p:spPr>
          <a:xfrm>
            <a:off x="3505200" y="2395339"/>
            <a:ext cx="2495550" cy="1615976"/>
          </a:xfrm>
          <a:prstGeom prst="roundRect">
            <a:avLst>
              <a:gd name="adj" fmla="val 5894"/>
            </a:avLst>
          </a:prstGeom>
          <a:solidFill>
            <a:srgbClr val="FFFFFF"/>
          </a:solidFill>
          <a:ln w="12700">
            <a:solidFill>
              <a:srgbClr val="CED8E3"/>
            </a:solidFill>
            <a:prstDash val="solid"/>
          </a:ln>
        </p:spPr>
      </p:sp>
      <p:sp>
        <p:nvSpPr>
          <p:cNvPr id="8" name="Text 6"/>
          <p:cNvSpPr/>
          <p:nvPr/>
        </p:nvSpPr>
        <p:spPr>
          <a:xfrm>
            <a:off x="3765550" y="2630289"/>
            <a:ext cx="2034095"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Parte 2 · 25 min</a:t>
            </a:r>
            <a:endParaRPr lang="en-US" sz="1600" dirty="0"/>
          </a:p>
        </p:txBody>
      </p:sp>
      <p:sp>
        <p:nvSpPr>
          <p:cNvPr id="9" name="Text 7"/>
          <p:cNvSpPr/>
          <p:nvPr/>
        </p:nvSpPr>
        <p:spPr>
          <a:xfrm>
            <a:off x="3765550" y="3088481"/>
            <a:ext cx="2034095"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Dockerfile y requirements.txt</a:t>
            </a:r>
            <a:endParaRPr lang="en-US" sz="1400" dirty="0"/>
          </a:p>
        </p:txBody>
      </p:sp>
      <p:sp>
        <p:nvSpPr>
          <p:cNvPr id="10" name="Shape 8"/>
          <p:cNvSpPr/>
          <p:nvPr/>
        </p:nvSpPr>
        <p:spPr>
          <a:xfrm>
            <a:off x="6191250" y="2395339"/>
            <a:ext cx="2495550" cy="1615976"/>
          </a:xfrm>
          <a:prstGeom prst="roundRect">
            <a:avLst>
              <a:gd name="adj" fmla="val 5894"/>
            </a:avLst>
          </a:prstGeom>
          <a:solidFill>
            <a:srgbClr val="FFFFFF"/>
          </a:solidFill>
          <a:ln w="12700">
            <a:solidFill>
              <a:srgbClr val="CED8E3"/>
            </a:solidFill>
            <a:prstDash val="solid"/>
          </a:ln>
        </p:spPr>
      </p:sp>
      <p:sp>
        <p:nvSpPr>
          <p:cNvPr id="11" name="Text 9"/>
          <p:cNvSpPr/>
          <p:nvPr/>
        </p:nvSpPr>
        <p:spPr>
          <a:xfrm>
            <a:off x="6451600" y="2630289"/>
            <a:ext cx="2034095"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Parte 3 · 35 min</a:t>
            </a:r>
            <a:endParaRPr lang="en-US" sz="1600" dirty="0"/>
          </a:p>
        </p:txBody>
      </p:sp>
      <p:sp>
        <p:nvSpPr>
          <p:cNvPr id="12" name="Text 10"/>
          <p:cNvSpPr/>
          <p:nvPr/>
        </p:nvSpPr>
        <p:spPr>
          <a:xfrm>
            <a:off x="6451600" y="3088481"/>
            <a:ext cx="2034095"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Space, secretos y git push</a:t>
            </a:r>
            <a:endParaRPr lang="en-US" sz="1400" dirty="0"/>
          </a:p>
        </p:txBody>
      </p:sp>
      <p:sp>
        <p:nvSpPr>
          <p:cNvPr id="13" name="Shape 11"/>
          <p:cNvSpPr/>
          <p:nvPr/>
        </p:nvSpPr>
        <p:spPr>
          <a:xfrm>
            <a:off x="8877300" y="2395339"/>
            <a:ext cx="2495550" cy="1615976"/>
          </a:xfrm>
          <a:prstGeom prst="roundRect">
            <a:avLst>
              <a:gd name="adj" fmla="val 5894"/>
            </a:avLst>
          </a:prstGeom>
          <a:solidFill>
            <a:srgbClr val="FFFFFF"/>
          </a:solidFill>
          <a:ln w="12700">
            <a:solidFill>
              <a:srgbClr val="CED8E3"/>
            </a:solidFill>
            <a:prstDash val="solid"/>
          </a:ln>
        </p:spPr>
      </p:sp>
      <p:sp>
        <p:nvSpPr>
          <p:cNvPr id="14" name="Text 12"/>
          <p:cNvSpPr/>
          <p:nvPr/>
        </p:nvSpPr>
        <p:spPr>
          <a:xfrm>
            <a:off x="9137650" y="2630289"/>
            <a:ext cx="2034095"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Parte 4 · 30 min</a:t>
            </a:r>
            <a:endParaRPr lang="en-US" sz="1600" dirty="0"/>
          </a:p>
        </p:txBody>
      </p:sp>
      <p:sp>
        <p:nvSpPr>
          <p:cNvPr id="15" name="Text 13"/>
          <p:cNvSpPr/>
          <p:nvPr/>
        </p:nvSpPr>
        <p:spPr>
          <a:xfrm>
            <a:off x="9137650" y="3088481"/>
            <a:ext cx="2034095" cy="483989"/>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Probar desde fuera y documentar el cold start</a:t>
            </a:r>
            <a:endParaRPr lang="en-US" sz="1400" dirty="0"/>
          </a:p>
        </p:txBody>
      </p:sp>
      <p:sp>
        <p:nvSpPr>
          <p:cNvPr id="16" name="Text 14"/>
          <p:cNvSpPr/>
          <p:nvPr/>
        </p:nvSpPr>
        <p:spPr>
          <a:xfrm>
            <a:off x="812800" y="4271665"/>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Duración: 2 h. Cada track tiene su enunciado en lab/&lt;track&gt;/enunciado.md.</a:t>
            </a:r>
            <a:endParaRPr lang="en-US" sz="1400" dirty="0"/>
          </a:p>
        </p:txBody>
      </p:sp>
      <p:sp>
        <p:nvSpPr>
          <p:cNvPr id="17" name="Text 15"/>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20/29</a:t>
            </a:r>
            <a:endParaRPr lang="en-US" sz="1200" dirty="0"/>
          </a:p>
        </p:txBody>
      </p:sp>
      <p:pic>
        <p:nvPicPr>
          <p:cNvPr id="18"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L8 · Partes 1 y 2: api.py y Dockerfile</a:t>
            </a:r>
            <a:endParaRPr lang="en-US" sz="3600" dirty="0"/>
          </a:p>
        </p:txBody>
      </p:sp>
      <p:sp>
        <p:nvSpPr>
          <p:cNvPr id="3" name="Text 1"/>
          <p:cNvSpPr/>
          <p:nvPr/>
        </p:nvSpPr>
        <p:spPr>
          <a:xfrm>
            <a:off x="812800" y="1574205"/>
            <a:ext cx="7456170"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Parte 1 · extracto de code/01_api_local.py</a:t>
            </a:r>
            <a:endParaRPr lang="en-US" sz="1400" dirty="0"/>
          </a:p>
        </p:txBody>
      </p:sp>
      <p:sp>
        <p:nvSpPr>
          <p:cNvPr id="4" name="Shape 2"/>
          <p:cNvSpPr/>
          <p:nvPr/>
        </p:nvSpPr>
        <p:spPr>
          <a:xfrm>
            <a:off x="812800" y="1905099"/>
            <a:ext cx="7239000" cy="2405856"/>
          </a:xfrm>
          <a:prstGeom prst="roundRect">
            <a:avLst>
              <a:gd name="adj" fmla="val 1056"/>
            </a:avLst>
          </a:prstGeom>
          <a:solidFill>
            <a:srgbClr val="1E293B"/>
          </a:solidFill>
          <a:ln/>
        </p:spPr>
      </p:sp>
      <p:sp>
        <p:nvSpPr>
          <p:cNvPr id="5" name="Text 3"/>
          <p:cNvSpPr/>
          <p:nvPr/>
        </p:nvSpPr>
        <p:spPr>
          <a:xfrm>
            <a:off x="1041400" y="2082899"/>
            <a:ext cx="698525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@app.get("/health")</a:t>
            </a:r>
            <a:endParaRPr lang="en-US" sz="1300" dirty="0"/>
          </a:p>
        </p:txBody>
      </p:sp>
      <p:sp>
        <p:nvSpPr>
          <p:cNvPr id="6" name="Text 4"/>
          <p:cNvSpPr/>
          <p:nvPr/>
        </p:nvSpPr>
        <p:spPr>
          <a:xfrm>
            <a:off x="1041400" y="2310705"/>
            <a:ext cx="698525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def health():</a:t>
            </a:r>
            <a:endParaRPr lang="en-US" sz="1300" dirty="0"/>
          </a:p>
        </p:txBody>
      </p:sp>
      <p:sp>
        <p:nvSpPr>
          <p:cNvPr id="7" name="Text 5"/>
          <p:cNvSpPr/>
          <p:nvPr/>
        </p:nvSpPr>
        <p:spPr>
          <a:xfrm>
            <a:off x="1041400" y="2538512"/>
            <a:ext cx="698525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return {"status": "ok"}</a:t>
            </a:r>
            <a:endParaRPr lang="en-US" sz="1300" dirty="0"/>
          </a:p>
        </p:txBody>
      </p:sp>
      <p:sp>
        <p:nvSpPr>
          <p:cNvPr id="8" name="Text 6"/>
          <p:cNvSpPr/>
          <p:nvPr/>
        </p:nvSpPr>
        <p:spPr>
          <a:xfrm>
            <a:off x="1041400" y="2994124"/>
            <a:ext cx="698525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@app.post("/chat", response_model=ChatResponse)</a:t>
            </a:r>
            <a:endParaRPr lang="en-US" sz="1300" dirty="0"/>
          </a:p>
        </p:txBody>
      </p:sp>
      <p:sp>
        <p:nvSpPr>
          <p:cNvPr id="9" name="Text 7"/>
          <p:cNvSpPr/>
          <p:nvPr/>
        </p:nvSpPr>
        <p:spPr>
          <a:xfrm>
            <a:off x="1041400" y="3221930"/>
            <a:ext cx="698525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def chat(payload: ChatRequest, x_api_key: str = Header(default="")):</a:t>
            </a:r>
            <a:endParaRPr lang="en-US" sz="1300" dirty="0"/>
          </a:p>
        </p:txBody>
      </p:sp>
      <p:sp>
        <p:nvSpPr>
          <p:cNvPr id="10" name="Text 8"/>
          <p:cNvSpPr/>
          <p:nvPr/>
        </p:nvSpPr>
        <p:spPr>
          <a:xfrm>
            <a:off x="1041400" y="3449737"/>
            <a:ext cx="698525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if x_api_key != cfg.AGENT_API_KEY:</a:t>
            </a:r>
            <a:endParaRPr lang="en-US" sz="1300" dirty="0"/>
          </a:p>
        </p:txBody>
      </p:sp>
      <p:sp>
        <p:nvSpPr>
          <p:cNvPr id="11" name="Text 9"/>
          <p:cNvSpPr/>
          <p:nvPr/>
        </p:nvSpPr>
        <p:spPr>
          <a:xfrm>
            <a:off x="1041400" y="3677543"/>
            <a:ext cx="698525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5733"/>
                </a:solidFill>
                <a:latin typeface="IBM Plex Mono" pitchFamily="34" charset="0"/>
                <a:ea typeface="IBM Plex Mono" pitchFamily="34" charset="-122"/>
                <a:cs typeface="IBM Plex Mono" pitchFamily="34" charset="-120"/>
              </a:rPr>
              <a:t>        raise HTTPException(401, "API key inválida o ausente")</a:t>
            </a:r>
            <a:endParaRPr lang="en-US" sz="1300" dirty="0"/>
          </a:p>
        </p:txBody>
      </p:sp>
      <p:sp>
        <p:nvSpPr>
          <p:cNvPr id="12" name="Text 10"/>
          <p:cNvSpPr/>
          <p:nvPr/>
        </p:nvSpPr>
        <p:spPr>
          <a:xfrm>
            <a:off x="1041400" y="3905349"/>
            <a:ext cx="6985254"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return ChatResponse(respuesta=responder(payload.mensaje))</a:t>
            </a:r>
            <a:endParaRPr lang="en-US" sz="1300" dirty="0"/>
          </a:p>
        </p:txBody>
      </p:sp>
      <p:sp>
        <p:nvSpPr>
          <p:cNvPr id="13" name="Shape 11"/>
          <p:cNvSpPr/>
          <p:nvPr/>
        </p:nvSpPr>
        <p:spPr>
          <a:xfrm>
            <a:off x="8312150" y="1580555"/>
            <a:ext cx="3060700" cy="2410420"/>
          </a:xfrm>
          <a:prstGeom prst="roundRect">
            <a:avLst>
              <a:gd name="adj" fmla="val 3952"/>
            </a:avLst>
          </a:prstGeom>
          <a:solidFill>
            <a:srgbClr val="FFFFFF"/>
          </a:solidFill>
          <a:ln w="12700">
            <a:solidFill>
              <a:srgbClr val="CED8E3"/>
            </a:solidFill>
            <a:prstDash val="solid"/>
          </a:ln>
        </p:spPr>
      </p:sp>
      <p:sp>
        <p:nvSpPr>
          <p:cNvPr id="14" name="Text 12"/>
          <p:cNvSpPr/>
          <p:nvPr/>
        </p:nvSpPr>
        <p:spPr>
          <a:xfrm>
            <a:off x="8572500" y="1815505"/>
            <a:ext cx="2616200"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Parte 2</a:t>
            </a:r>
            <a:endParaRPr lang="en-US" sz="1600" dirty="0"/>
          </a:p>
        </p:txBody>
      </p:sp>
      <p:sp>
        <p:nvSpPr>
          <p:cNvPr id="15" name="Text 13"/>
          <p:cNvSpPr/>
          <p:nvPr/>
        </p:nvSpPr>
        <p:spPr>
          <a:xfrm>
            <a:off x="8572500" y="2273697"/>
            <a:ext cx="2616200" cy="1507728"/>
          </a:xfrm>
          <a:prstGeom prst="rect">
            <a:avLst/>
          </a:prstGeom>
          <a:noFill/>
          <a:ln/>
        </p:spPr>
        <p:txBody>
          <a:bodyPr wrap="square" lIns="0" tIns="0" rIns="0" bIns="0" rtlCol="0" anchor="t">
            <a:normAutofit/>
          </a:bodyPr>
          <a:lstStyle/>
          <a:p>
            <a:pPr algn="l" marL="213360" indent="-175768">
              <a:lnSpc>
                <a:spcPts val="1946"/>
              </a:lnSpc>
              <a:buSzPct val="100000"/>
              <a:buChar char="•"/>
            </a:pPr>
            <a:r>
              <a:rPr lang="en-US" sz="1400" dirty="0">
                <a:solidFill>
                  <a:srgbClr val="1E293B"/>
                </a:solidFill>
                <a:latin typeface="IBM Plex Sans" pitchFamily="34" charset="0"/>
                <a:ea typeface="IBM Plex Sans" pitchFamily="34" charset="-122"/>
                <a:cs typeface="IBM Plex Sans" pitchFamily="34" charset="-120"/>
              </a:rPr>
              <a:t>Copia el Dockerfile de la Demo 2.</a:t>
            </a:r>
            <a:endParaRPr lang="en-US" sz="1400" dirty="0"/>
          </a:p>
          <a:p>
            <a:pPr algn="l" marL="213360" indent="-175768">
              <a:lnSpc>
                <a:spcPts val="1946"/>
              </a:lnSpc>
              <a:buSzPct val="100000"/>
              <a:buChar char="•"/>
            </a:pPr>
            <a:r>
              <a:rPr lang="en-US" sz="1400" dirty="0">
                <a:solidFill>
                  <a:srgbClr val="1E293B"/>
                </a:solidFill>
                <a:latin typeface="IBM Plex Sans" pitchFamily="34" charset="0"/>
                <a:ea typeface="IBM Plex Sans" pitchFamily="34" charset="-122"/>
                <a:cs typeface="IBM Plex Sans" pitchFamily="34" charset="-120"/>
              </a:rPr>
              <a:t>Ajusta CMD al módulo real de tu app/api.py.</a:t>
            </a:r>
            <a:endParaRPr lang="en-US" sz="1400" dirty="0"/>
          </a:p>
          <a:p>
            <a:pPr algn="l" marL="213360" indent="-175768">
              <a:lnSpc>
                <a:spcPts val="1946"/>
              </a:lnSpc>
              <a:buSzPct val="100000"/>
              <a:buChar char="•"/>
            </a:pPr>
            <a:r>
              <a:rPr lang="en-US" sz="1400" dirty="0">
                <a:solidFill>
                  <a:srgbClr val="1E293B"/>
                </a:solidFill>
                <a:latin typeface="IBM Plex Sans" pitchFamily="34" charset="0"/>
                <a:ea typeface="IBM Plex Sans" pitchFamily="34" charset="-122"/>
                <a:cs typeface="IBM Plex Sans" pitchFamily="34" charset="-120"/>
              </a:rPr>
              <a:t>requirements.txt con fastapi y uvicorn[standard].</a:t>
            </a:r>
            <a:endParaRPr lang="en-US" sz="1400" dirty="0"/>
          </a:p>
        </p:txBody>
      </p:sp>
      <p:sp>
        <p:nvSpPr>
          <p:cNvPr id="16" name="Text 14"/>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21/29</a:t>
            </a:r>
            <a:endParaRPr lang="en-US" sz="1200" dirty="0"/>
          </a:p>
        </p:txBody>
      </p:sp>
      <p:pic>
        <p:nvPicPr>
          <p:cNvPr id="17"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L8 · Parte 3: secretos y push</a:t>
            </a:r>
            <a:endParaRPr lang="en-US" sz="3600" dirty="0"/>
          </a:p>
        </p:txBody>
      </p:sp>
      <p:sp>
        <p:nvSpPr>
          <p:cNvPr id="3" name="Shape 1"/>
          <p:cNvSpPr/>
          <p:nvPr/>
        </p:nvSpPr>
        <p:spPr>
          <a:xfrm>
            <a:off x="819150" y="1580555"/>
            <a:ext cx="6235700" cy="1994892"/>
          </a:xfrm>
          <a:prstGeom prst="roundRect">
            <a:avLst>
              <a:gd name="adj" fmla="val 4775"/>
            </a:avLst>
          </a:prstGeom>
          <a:solidFill>
            <a:srgbClr val="FFFFFF"/>
          </a:solidFill>
          <a:ln w="12700">
            <a:solidFill>
              <a:srgbClr val="CED8E3"/>
            </a:solidFill>
            <a:prstDash val="solid"/>
          </a:ln>
        </p:spPr>
      </p:sp>
      <p:sp>
        <p:nvSpPr>
          <p:cNvPr id="4" name="Text 2"/>
          <p:cNvSpPr/>
          <p:nvPr/>
        </p:nvSpPr>
        <p:spPr>
          <a:xfrm>
            <a:off x="1079500" y="1815505"/>
            <a:ext cx="5886450"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Pasos</a:t>
            </a:r>
            <a:endParaRPr lang="en-US" sz="1600" dirty="0"/>
          </a:p>
        </p:txBody>
      </p:sp>
      <p:sp>
        <p:nvSpPr>
          <p:cNvPr id="5" name="Text 3"/>
          <p:cNvSpPr/>
          <p:nvPr/>
        </p:nvSpPr>
        <p:spPr>
          <a:xfrm>
            <a:off x="1079500" y="2273697"/>
            <a:ext cx="5886450" cy="1092200"/>
          </a:xfrm>
          <a:prstGeom prst="rect">
            <a:avLst/>
          </a:prstGeom>
          <a:noFill/>
          <a:ln/>
        </p:spPr>
        <p:txBody>
          <a:bodyPr wrap="square" lIns="0" tIns="0" rIns="0" bIns="0" rtlCol="0" anchor="t">
            <a:normAutofit/>
          </a:bodyPr>
          <a:lstStyle/>
          <a:p>
            <a:pPr algn="l" marL="228600" indent="-228600">
              <a:lnSpc>
                <a:spcPts val="2100"/>
              </a:lnSpc>
              <a:buSzPct val="100000"/>
              <a:buFontTx/>
              <a:buAutoNum type="arabicPeriod" startAt="1"/>
            </a:pPr>
            <a:r>
              <a:rPr lang="en-US" sz="1500" dirty="0">
                <a:solidFill>
                  <a:srgbClr val="1E293B"/>
                </a:solidFill>
                <a:latin typeface="IBM Plex Sans" pitchFamily="34" charset="0"/>
                <a:ea typeface="IBM Plex Sans" pitchFamily="34" charset="-122"/>
                <a:cs typeface="IBM Plex Sans" pitchFamily="34" charset="-120"/>
              </a:rPr>
              <a:t>Crea el Space (SDK: Docker) si no lo hiciste en el pre-work.</a:t>
            </a:r>
            <a:endParaRPr lang="en-US" sz="1500" dirty="0"/>
          </a:p>
          <a:p>
            <a:pPr algn="l" marL="228600" indent="-228600">
              <a:lnSpc>
                <a:spcPts val="2100"/>
              </a:lnSpc>
              <a:buSzPct val="100000"/>
              <a:buFontTx/>
              <a:buAutoNum type="arabicPeriod" startAt="1"/>
            </a:pPr>
            <a:r>
              <a:rPr lang="en-US" sz="1500" dirty="0">
                <a:solidFill>
                  <a:srgbClr val="1E293B"/>
                </a:solidFill>
                <a:latin typeface="IBM Plex Sans" pitchFamily="34" charset="0"/>
                <a:ea typeface="IBM Plex Sans" pitchFamily="34" charset="-122"/>
                <a:cs typeface="IBM Plex Sans" pitchFamily="34" charset="-120"/>
              </a:rPr>
              <a:t>Carga todas las variables de tu agente como Space secrets.</a:t>
            </a:r>
            <a:endParaRPr lang="en-US" sz="1500" dirty="0"/>
          </a:p>
          <a:p>
            <a:pPr algn="l" marL="228600" indent="-228600">
              <a:lnSpc>
                <a:spcPts val="2100"/>
              </a:lnSpc>
              <a:buSzPct val="100000"/>
              <a:buFontTx/>
              <a:buAutoNum type="arabicPeriod" startAt="1"/>
            </a:pPr>
            <a:r>
              <a:rPr lang="en-US" sz="1500" dirty="0">
                <a:solidFill>
                  <a:srgbClr val="1E293B"/>
                </a:solidFill>
                <a:latin typeface="IBM Plex Sans" pitchFamily="34" charset="0"/>
                <a:ea typeface="IBM Plex Sans" pitchFamily="34" charset="-122"/>
                <a:cs typeface="IBM Plex Sans" pitchFamily="34" charset="-120"/>
              </a:rPr>
              <a:t>git push space main (o el nombre de tu remote).</a:t>
            </a:r>
            <a:endParaRPr lang="en-US" sz="1500" dirty="0"/>
          </a:p>
          <a:p>
            <a:pPr algn="l" marL="228600" indent="-228600">
              <a:lnSpc>
                <a:spcPts val="2100"/>
              </a:lnSpc>
              <a:buSzPct val="100000"/>
              <a:buFontTx/>
              <a:buAutoNum type="arabicPeriod" startAt="1"/>
            </a:pPr>
            <a:r>
              <a:rPr lang="en-US" sz="1500" dirty="0">
                <a:solidFill>
                  <a:srgbClr val="1E293B"/>
                </a:solidFill>
                <a:latin typeface="IBM Plex Sans" pitchFamily="34" charset="0"/>
                <a:ea typeface="IBM Plex Sans" pitchFamily="34" charset="-122"/>
                <a:cs typeface="IBM Plex Sans" pitchFamily="34" charset="-120"/>
              </a:rPr>
              <a:t>Espera el build; si falla, lee sus logs.</a:t>
            </a:r>
            <a:endParaRPr lang="en-US" sz="1500" dirty="0"/>
          </a:p>
        </p:txBody>
      </p:sp>
      <p:sp>
        <p:nvSpPr>
          <p:cNvPr id="6" name="Shape 4"/>
          <p:cNvSpPr/>
          <p:nvPr/>
        </p:nvSpPr>
        <p:spPr>
          <a:xfrm>
            <a:off x="7321550" y="1580555"/>
            <a:ext cx="4051300" cy="3678833"/>
          </a:xfrm>
          <a:prstGeom prst="roundRect">
            <a:avLst>
              <a:gd name="adj" fmla="val 2589"/>
            </a:avLst>
          </a:prstGeom>
          <a:solidFill>
            <a:srgbClr val="FFFFFF"/>
          </a:solidFill>
          <a:ln w="12700">
            <a:solidFill>
              <a:srgbClr val="CED8E3"/>
            </a:solidFill>
            <a:prstDash val="solid"/>
          </a:ln>
        </p:spPr>
      </p:sp>
      <p:sp>
        <p:nvSpPr>
          <p:cNvPr id="7" name="Text 5"/>
          <p:cNvSpPr/>
          <p:nvPr/>
        </p:nvSpPr>
        <p:spPr>
          <a:xfrm>
            <a:off x="7581900" y="1815505"/>
            <a:ext cx="3636518"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Telco · AndesMóvil</a:t>
            </a:r>
            <a:endParaRPr lang="en-US" sz="1600" dirty="0"/>
          </a:p>
        </p:txBody>
      </p:sp>
      <p:sp>
        <p:nvSpPr>
          <p:cNvPr id="8" name="Shape 6"/>
          <p:cNvSpPr/>
          <p:nvPr/>
        </p:nvSpPr>
        <p:spPr>
          <a:xfrm>
            <a:off x="7581900" y="2273697"/>
            <a:ext cx="3530600" cy="2178050"/>
          </a:xfrm>
          <a:prstGeom prst="roundRect">
            <a:avLst>
              <a:gd name="adj" fmla="val 1166"/>
            </a:avLst>
          </a:prstGeom>
          <a:solidFill>
            <a:srgbClr val="1E293B"/>
          </a:solidFill>
          <a:ln/>
        </p:spPr>
      </p:sp>
      <p:sp>
        <p:nvSpPr>
          <p:cNvPr id="9" name="Text 7"/>
          <p:cNvSpPr/>
          <p:nvPr/>
        </p:nvSpPr>
        <p:spPr>
          <a:xfrm>
            <a:off x="7810500" y="2451497"/>
            <a:ext cx="316560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HF_TOKEN</a:t>
            </a:r>
            <a:endParaRPr lang="en-US" sz="1300" dirty="0"/>
          </a:p>
        </p:txBody>
      </p:sp>
      <p:sp>
        <p:nvSpPr>
          <p:cNvPr id="10" name="Text 8"/>
          <p:cNvSpPr/>
          <p:nvPr/>
        </p:nvSpPr>
        <p:spPr>
          <a:xfrm>
            <a:off x="7810500" y="2679303"/>
            <a:ext cx="316560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QDRANT_URL</a:t>
            </a:r>
            <a:endParaRPr lang="en-US" sz="1300" dirty="0"/>
          </a:p>
        </p:txBody>
      </p:sp>
      <p:sp>
        <p:nvSpPr>
          <p:cNvPr id="11" name="Text 9"/>
          <p:cNvSpPr/>
          <p:nvPr/>
        </p:nvSpPr>
        <p:spPr>
          <a:xfrm>
            <a:off x="7810500" y="2907109"/>
            <a:ext cx="316560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QDRANT_API_KEY</a:t>
            </a:r>
            <a:endParaRPr lang="en-US" sz="1300" dirty="0"/>
          </a:p>
        </p:txBody>
      </p:sp>
      <p:sp>
        <p:nvSpPr>
          <p:cNvPr id="12" name="Text 10"/>
          <p:cNvSpPr/>
          <p:nvPr/>
        </p:nvSpPr>
        <p:spPr>
          <a:xfrm>
            <a:off x="7810500" y="3134916"/>
            <a:ext cx="316560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AGENT_API_KEY</a:t>
            </a:r>
            <a:endParaRPr lang="en-US" sz="1300" dirty="0"/>
          </a:p>
        </p:txBody>
      </p:sp>
      <p:sp>
        <p:nvSpPr>
          <p:cNvPr id="13" name="Text 11"/>
          <p:cNvSpPr/>
          <p:nvPr/>
        </p:nvSpPr>
        <p:spPr>
          <a:xfrm>
            <a:off x="7810500" y="3362722"/>
            <a:ext cx="316560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COURSE_TRACK=telecomunicaciones</a:t>
            </a:r>
            <a:endParaRPr lang="en-US" sz="1300" dirty="0"/>
          </a:p>
        </p:txBody>
      </p:sp>
      <p:sp>
        <p:nvSpPr>
          <p:cNvPr id="14" name="Text 12"/>
          <p:cNvSpPr/>
          <p:nvPr/>
        </p:nvSpPr>
        <p:spPr>
          <a:xfrm>
            <a:off x="7810500" y="3590528"/>
            <a:ext cx="316560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DATA_SOURCE=api</a:t>
            </a:r>
            <a:endParaRPr lang="en-US" sz="1300" dirty="0"/>
          </a:p>
        </p:txBody>
      </p:sp>
      <p:sp>
        <p:nvSpPr>
          <p:cNvPr id="15" name="Text 13"/>
          <p:cNvSpPr/>
          <p:nvPr/>
        </p:nvSpPr>
        <p:spPr>
          <a:xfrm>
            <a:off x="7810500" y="3818334"/>
            <a:ext cx="316560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SIM_BASE_URL</a:t>
            </a:r>
            <a:endParaRPr lang="en-US" sz="1300" dirty="0"/>
          </a:p>
        </p:txBody>
      </p:sp>
      <p:sp>
        <p:nvSpPr>
          <p:cNvPr id="16" name="Text 14"/>
          <p:cNvSpPr/>
          <p:nvPr/>
        </p:nvSpPr>
        <p:spPr>
          <a:xfrm>
            <a:off x="7810500" y="4046141"/>
            <a:ext cx="3165602"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SIM_API_KEY</a:t>
            </a:r>
            <a:endParaRPr lang="en-US" sz="1300" dirty="0"/>
          </a:p>
        </p:txBody>
      </p:sp>
      <p:sp>
        <p:nvSpPr>
          <p:cNvPr id="17" name="Text 15"/>
          <p:cNvSpPr/>
          <p:nvPr/>
        </p:nvSpPr>
        <p:spPr>
          <a:xfrm>
            <a:off x="7581900" y="4578747"/>
            <a:ext cx="3636518" cy="471091"/>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26277"/>
                </a:solidFill>
                <a:latin typeface="IBM Plex Sans" pitchFamily="34" charset="0"/>
                <a:ea typeface="IBM Plex Sans" pitchFamily="34" charset="-122"/>
                <a:cs typeface="IBM Plex Sans" pitchFamily="34" charset="-120"/>
              </a:rPr>
              <a:t>Solo nombres en DESPLIEGUE.md, nunca valores.</a:t>
            </a:r>
            <a:endParaRPr lang="en-US" sz="1300" dirty="0"/>
          </a:p>
        </p:txBody>
      </p:sp>
      <p:sp>
        <p:nvSpPr>
          <p:cNvPr id="18" name="Text 16"/>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22/29</a:t>
            </a:r>
            <a:endParaRPr lang="en-US" sz="1200" dirty="0"/>
          </a:p>
        </p:txBody>
      </p:sp>
      <p:pic>
        <p:nvPicPr>
          <p:cNvPr id="19"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L8 · Parte 4: probar desde fuera</a:t>
            </a:r>
            <a:endParaRPr lang="en-US" sz="3600" dirty="0"/>
          </a:p>
        </p:txBody>
      </p:sp>
      <p:sp>
        <p:nvSpPr>
          <p:cNvPr id="3" name="Shape 1"/>
          <p:cNvSpPr/>
          <p:nvPr/>
        </p:nvSpPr>
        <p:spPr>
          <a:xfrm>
            <a:off x="812800" y="1574205"/>
            <a:ext cx="10566400" cy="811213"/>
          </a:xfrm>
          <a:prstGeom prst="roundRect">
            <a:avLst>
              <a:gd name="adj" fmla="val 3131"/>
            </a:avLst>
          </a:prstGeom>
          <a:solidFill>
            <a:srgbClr val="1E293B"/>
          </a:solidFill>
          <a:ln/>
        </p:spPr>
      </p:sp>
      <p:sp>
        <p:nvSpPr>
          <p:cNvPr id="4" name="Text 2"/>
          <p:cNvSpPr/>
          <p:nvPr/>
        </p:nvSpPr>
        <p:spPr>
          <a:xfrm>
            <a:off x="1041400" y="1752005"/>
            <a:ext cx="10412476"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python docente/verificar_despliegue.py \</a:t>
            </a:r>
            <a:endParaRPr lang="en-US" sz="1300" dirty="0"/>
          </a:p>
        </p:txBody>
      </p:sp>
      <p:sp>
        <p:nvSpPr>
          <p:cNvPr id="5" name="Text 3"/>
          <p:cNvSpPr/>
          <p:nvPr/>
        </p:nvSpPr>
        <p:spPr>
          <a:xfrm>
            <a:off x="1041400" y="1979811"/>
            <a:ext cx="10412476" cy="253206"/>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  --url https://&lt;tu-space&gt;.hf.space --key &lt;tu-AGENT_API_KEY&gt;</a:t>
            </a:r>
            <a:endParaRPr lang="en-US" sz="1300" dirty="0"/>
          </a:p>
        </p:txBody>
      </p:sp>
      <p:sp>
        <p:nvSpPr>
          <p:cNvPr id="6" name="Shape 4"/>
          <p:cNvSpPr/>
          <p:nvPr/>
        </p:nvSpPr>
        <p:spPr>
          <a:xfrm>
            <a:off x="7308850" y="2639417"/>
            <a:ext cx="0" cy="2133302"/>
          </a:xfrm>
          <a:prstGeom prst="line">
            <a:avLst/>
          </a:prstGeom>
          <a:noFill/>
          <a:ln w="12700">
            <a:solidFill>
              <a:srgbClr val="CED8E3"/>
            </a:solidFill>
            <a:prstDash val="solid"/>
          </a:ln>
        </p:spPr>
      </p:sp>
      <p:sp>
        <p:nvSpPr>
          <p:cNvPr id="7" name="Shape 5"/>
          <p:cNvSpPr/>
          <p:nvPr/>
        </p:nvSpPr>
        <p:spPr>
          <a:xfrm>
            <a:off x="812800" y="4766370"/>
            <a:ext cx="6502400" cy="0"/>
          </a:xfrm>
          <a:prstGeom prst="line">
            <a:avLst/>
          </a:prstGeom>
          <a:noFill/>
          <a:ln w="12700">
            <a:solidFill>
              <a:srgbClr val="CED8E3"/>
            </a:solidFill>
            <a:prstDash val="solid"/>
          </a:ln>
        </p:spPr>
      </p:sp>
      <p:graphicFrame>
        <p:nvGraphicFramePr>
          <p:cNvPr id="8" name="Table 0"/>
          <p:cNvGraphicFramePr>
            <a:graphicFrameLocks noGrp="1"/>
          </p:cNvGraphicFramePr>
          <p:nvPr>
            <p:extLst>
              <p:ext uri="{D42A27DB-BD31-4B8C-83A1-F6EECF244321}">
                <p14:modId xmlns:p14="http://schemas.microsoft.com/office/powerpoint/2010/main" val="1579011935"/>
              </p:ext>
            </p:extLst>
          </p:nvPr>
        </p:nvGraphicFramePr>
        <p:xfrm>
          <a:off x="825500" y="2652117"/>
          <a:ext cx="6477000" cy="2107902"/>
        </p:xfrm>
        <a:graphic>
          <a:graphicData uri="http://schemas.openxmlformats.org/drawingml/2006/table">
            <a:tbl>
              <a:tblPr/>
              <a:tblGrid>
                <a:gridCol w="4663440"/>
                <a:gridCol w="1813560"/>
              </a:tblGrid>
              <a:tr h="421580">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Comprobación</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960"/>
                        </a:lnSpc>
                        <a:buNone/>
                      </a:pPr>
                      <a:r>
                        <a:rPr lang="en-US" sz="1400" b="1" dirty="0">
                          <a:solidFill>
                            <a:srgbClr val="1E293B"/>
                          </a:solidFill>
                          <a:latin typeface="IBM Plex Sans" pitchFamily="34" charset="0"/>
                          <a:ea typeface="IBM Plex Sans" pitchFamily="34" charset="-122"/>
                          <a:cs typeface="IBM Plex Sans" pitchFamily="34" charset="-120"/>
                        </a:rPr>
                        <a:t>Esperado</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21580">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GET /health, sin credencial</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200</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21580">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POST /chat, key correcta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200</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21580">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POST /chat, sin key</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401</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21580">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POST /chat, key incorrecta</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960"/>
                        </a:lnSpc>
                        <a:buNone/>
                      </a:pPr>
                      <a:r>
                        <a:rPr lang="en-US" sz="1400" dirty="0">
                          <a:solidFill>
                            <a:srgbClr val="1E293B"/>
                          </a:solidFill>
                          <a:latin typeface="IBM Plex Sans" pitchFamily="34" charset="0"/>
                          <a:ea typeface="IBM Plex Sans" pitchFamily="34" charset="-122"/>
                          <a:cs typeface="IBM Plex Sans" pitchFamily="34" charset="-120"/>
                        </a:rPr>
                        <a:t>401</a:t>
                      </a:r>
                      <a:endParaRPr lang="en-US" sz="14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9" name="Shape 6"/>
          <p:cNvSpPr/>
          <p:nvPr/>
        </p:nvSpPr>
        <p:spPr>
          <a:xfrm>
            <a:off x="7575550" y="2645767"/>
            <a:ext cx="3797300" cy="1845270"/>
          </a:xfrm>
          <a:prstGeom prst="roundRect">
            <a:avLst>
              <a:gd name="adj" fmla="val 5162"/>
            </a:avLst>
          </a:prstGeom>
          <a:solidFill>
            <a:srgbClr val="FFFFFF"/>
          </a:solidFill>
          <a:ln w="12700">
            <a:solidFill>
              <a:srgbClr val="CED8E3"/>
            </a:solidFill>
            <a:prstDash val="solid"/>
          </a:ln>
        </p:spPr>
      </p:sp>
      <p:sp>
        <p:nvSpPr>
          <p:cNvPr id="10" name="Text 7"/>
          <p:cNvSpPr/>
          <p:nvPr/>
        </p:nvSpPr>
        <p:spPr>
          <a:xfrm>
            <a:off x="7835900" y="2880717"/>
            <a:ext cx="3374898"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Recordatorio S4 · Telco</a:t>
            </a:r>
            <a:endParaRPr lang="en-US" sz="1600" dirty="0"/>
          </a:p>
        </p:txBody>
      </p:sp>
      <p:sp>
        <p:nvSpPr>
          <p:cNvPr id="11" name="Text 8"/>
          <p:cNvSpPr/>
          <p:nvPr/>
        </p:nvSpPr>
        <p:spPr>
          <a:xfrm>
            <a:off x="7835900" y="3338909"/>
            <a:ext cx="3374898" cy="942578"/>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1E293B"/>
                </a:solidFill>
                <a:latin typeface="IBM Plex Sans" pitchFamily="34" charset="0"/>
                <a:ea typeface="IBM Plex Sans" pitchFamily="34" charset="-122"/>
                <a:cs typeface="IBM Plex Sans" pitchFamily="34" charset="-120"/>
              </a:rPr>
              <a:t>create_complaint_ticket exige confirmado_por_cliente=true. Comprueba que el guardia siga funcionando a través de la API.</a:t>
            </a:r>
            <a:endParaRPr lang="en-US" sz="1400" dirty="0"/>
          </a:p>
        </p:txBody>
      </p:sp>
      <p:sp>
        <p:nvSpPr>
          <p:cNvPr id="12" name="Text 9"/>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23/29</a:t>
            </a:r>
            <a:endParaRPr lang="en-US" sz="1200" dirty="0"/>
          </a:p>
        </p:txBody>
      </p:sp>
      <p:pic>
        <p:nvPicPr>
          <p:cNvPr id="13"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L8: entregables y aceptación</a:t>
            </a:r>
            <a:endParaRPr lang="en-US" sz="3600" dirty="0"/>
          </a:p>
        </p:txBody>
      </p:sp>
      <p:sp>
        <p:nvSpPr>
          <p:cNvPr id="3" name="Shape 1"/>
          <p:cNvSpPr/>
          <p:nvPr/>
        </p:nvSpPr>
        <p:spPr>
          <a:xfrm>
            <a:off x="6673850" y="1574205"/>
            <a:ext cx="0" cy="2480171"/>
          </a:xfrm>
          <a:prstGeom prst="line">
            <a:avLst/>
          </a:prstGeom>
          <a:noFill/>
          <a:ln w="12700">
            <a:solidFill>
              <a:srgbClr val="CED8E3"/>
            </a:solidFill>
            <a:prstDash val="solid"/>
          </a:ln>
        </p:spPr>
      </p:sp>
      <p:sp>
        <p:nvSpPr>
          <p:cNvPr id="4" name="Shape 2"/>
          <p:cNvSpPr/>
          <p:nvPr/>
        </p:nvSpPr>
        <p:spPr>
          <a:xfrm>
            <a:off x="812800" y="4048026"/>
            <a:ext cx="5867400" cy="0"/>
          </a:xfrm>
          <a:prstGeom prst="line">
            <a:avLst/>
          </a:prstGeom>
          <a:noFill/>
          <a:ln w="12700">
            <a:solidFill>
              <a:srgbClr val="CED8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6905"/>
          <a:ext cx="5842000" cy="2454771"/>
        </p:xfrm>
        <a:graphic>
          <a:graphicData uri="http://schemas.openxmlformats.org/drawingml/2006/table">
            <a:tbl>
              <a:tblPr/>
              <a:tblGrid>
                <a:gridCol w="2570480"/>
                <a:gridCol w="3271520"/>
              </a:tblGrid>
              <a:tr h="405110">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Entregable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Dónde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app/api.py</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tu repositorio de equipo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Dockerfile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raíz de tu repositorio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1972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URL pública + key para el evaluador</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lab/&lt;tu-track&gt;/DESPLIEGUE.md</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1972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Avance 1 del M3: diagrama de despliegue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lab/&lt;tu-track&gt;/avance-1-m3.md</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Shape 3"/>
          <p:cNvSpPr/>
          <p:nvPr/>
        </p:nvSpPr>
        <p:spPr>
          <a:xfrm>
            <a:off x="6940550" y="1580555"/>
            <a:ext cx="4432300" cy="3233142"/>
          </a:xfrm>
          <a:prstGeom prst="roundRect">
            <a:avLst>
              <a:gd name="adj" fmla="val 2946"/>
            </a:avLst>
          </a:prstGeom>
          <a:solidFill>
            <a:srgbClr val="FFFFFF"/>
          </a:solidFill>
          <a:ln w="12700">
            <a:solidFill>
              <a:srgbClr val="CED8E3"/>
            </a:solidFill>
            <a:prstDash val="solid"/>
          </a:ln>
        </p:spPr>
      </p:sp>
      <p:sp>
        <p:nvSpPr>
          <p:cNvPr id="7" name="Text 4"/>
          <p:cNvSpPr/>
          <p:nvPr/>
        </p:nvSpPr>
        <p:spPr>
          <a:xfrm>
            <a:off x="7200900" y="1815505"/>
            <a:ext cx="4028948"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Criterio de aceptación</a:t>
            </a:r>
            <a:endParaRPr lang="en-US" sz="1600" dirty="0"/>
          </a:p>
        </p:txBody>
      </p:sp>
      <p:sp>
        <p:nvSpPr>
          <p:cNvPr id="8" name="Text 5"/>
          <p:cNvSpPr/>
          <p:nvPr/>
        </p:nvSpPr>
        <p:spPr>
          <a:xfrm>
            <a:off x="7200900" y="2273697"/>
            <a:ext cx="4028948" cy="1392238"/>
          </a:xfrm>
          <a:prstGeom prst="rect">
            <a:avLst/>
          </a:prstGeom>
          <a:noFill/>
          <a:ln/>
        </p:spPr>
        <p:txBody>
          <a:bodyPr wrap="square" lIns="0" tIns="0" rIns="0" bIns="0" rtlCol="0" anchor="t">
            <a:normAutofit/>
          </a:bodyPr>
          <a:lstStyle/>
          <a:p>
            <a:pPr algn="l" marL="198120" indent="-168656">
              <a:lnSpc>
                <a:spcPts val="1794"/>
              </a:lnSpc>
              <a:buSzPct val="100000"/>
              <a:buChar char="•"/>
            </a:pPr>
            <a:r>
              <a:rPr lang="en-US" sz="1300" dirty="0">
                <a:solidFill>
                  <a:srgbClr val="1E293B"/>
                </a:solidFill>
                <a:latin typeface="IBM Plex Sans" pitchFamily="34" charset="0"/>
                <a:ea typeface="IBM Plex Sans" pitchFamily="34" charset="-122"/>
                <a:cs typeface="IBM Plex Sans" pitchFamily="34" charset="-120"/>
              </a:rPr>
              <a:t>Responde por HTTP desde fuera de tu máquina, con tu key.</a:t>
            </a:r>
            <a:endParaRPr lang="en-US" sz="1300" dirty="0"/>
          </a:p>
          <a:p>
            <a:pPr algn="l" marL="198120" indent="-168656">
              <a:lnSpc>
                <a:spcPts val="1794"/>
              </a:lnSpc>
              <a:buSzPct val="100000"/>
              <a:buChar char="•"/>
            </a:pPr>
            <a:r>
              <a:rPr lang="en-US" sz="1300" dirty="0">
                <a:solidFill>
                  <a:srgbClr val="1E293B"/>
                </a:solidFill>
                <a:latin typeface="IBM Plex Sans" pitchFamily="34" charset="0"/>
                <a:ea typeface="IBM Plex Sans" pitchFamily="34" charset="-122"/>
                <a:cs typeface="IBM Plex Sans" pitchFamily="34" charset="-120"/>
              </a:rPr>
              <a:t>/health responde sin credencial.</a:t>
            </a:r>
            <a:endParaRPr lang="en-US" sz="1300" dirty="0"/>
          </a:p>
          <a:p>
            <a:pPr algn="l" marL="198120" indent="-168656">
              <a:lnSpc>
                <a:spcPts val="1794"/>
              </a:lnSpc>
              <a:buSzPct val="100000"/>
              <a:buChar char="•"/>
            </a:pPr>
            <a:r>
              <a:rPr lang="en-US" sz="1300" dirty="0">
                <a:solidFill>
                  <a:srgbClr val="1E293B"/>
                </a:solidFill>
                <a:latin typeface="IBM Plex Sans" pitchFamily="34" charset="0"/>
                <a:ea typeface="IBM Plex Sans" pitchFamily="34" charset="-122"/>
                <a:cs typeface="IBM Plex Sans" pitchFamily="34" charset="-120"/>
              </a:rPr>
              <a:t>Cero credenciales: ni .env, ni Dockerfile, ni historial de git.</a:t>
            </a:r>
            <a:endParaRPr lang="en-US" sz="1300" dirty="0"/>
          </a:p>
          <a:p>
            <a:pPr algn="l" marL="198120" indent="-168656">
              <a:lnSpc>
                <a:spcPts val="1794"/>
              </a:lnSpc>
              <a:buSzPct val="100000"/>
              <a:buChar char="•"/>
            </a:pPr>
            <a:r>
              <a:rPr lang="en-US" sz="1300" dirty="0">
                <a:solidFill>
                  <a:srgbClr val="1E293B"/>
                </a:solidFill>
                <a:latin typeface="IBM Plex Sans" pitchFamily="34" charset="0"/>
                <a:ea typeface="IBM Plex Sans" pitchFamily="34" charset="-122"/>
                <a:cs typeface="IBM Plex Sans" pitchFamily="34" charset="-120"/>
              </a:rPr>
              <a:t>Latencia del cold start documentada.</a:t>
            </a:r>
            <a:endParaRPr lang="en-US" sz="1300" dirty="0"/>
          </a:p>
        </p:txBody>
      </p:sp>
      <p:sp>
        <p:nvSpPr>
          <p:cNvPr id="9" name="Shape 6"/>
          <p:cNvSpPr/>
          <p:nvPr/>
        </p:nvSpPr>
        <p:spPr>
          <a:xfrm>
            <a:off x="7200900" y="3767534"/>
            <a:ext cx="3911600" cy="811213"/>
          </a:xfrm>
          <a:prstGeom prst="roundRect">
            <a:avLst>
              <a:gd name="adj" fmla="val 3131"/>
            </a:avLst>
          </a:prstGeom>
          <a:solidFill>
            <a:srgbClr val="1E293B"/>
          </a:solidFill>
          <a:ln/>
        </p:spPr>
      </p:sp>
      <p:sp>
        <p:nvSpPr>
          <p:cNvPr id="10" name="Text 7"/>
          <p:cNvSpPr/>
          <p:nvPr/>
        </p:nvSpPr>
        <p:spPr>
          <a:xfrm>
            <a:off x="7429500" y="3945334"/>
            <a:ext cx="3558032" cy="481012"/>
          </a:xfrm>
          <a:prstGeom prst="rect">
            <a:avLst/>
          </a:prstGeom>
          <a:noFill/>
          <a:ln/>
        </p:spPr>
        <p:txBody>
          <a:bodyPr wrap="square" lIns="0" tIns="0" rIns="0" bIns="0" rtlCol="0" anchor="t">
            <a:normAutofit/>
          </a:bodyPr>
          <a:lstStyle/>
          <a:p>
            <a:pPr algn="l" indent="0" marL="0">
              <a:lnSpc>
                <a:spcPts val="1794"/>
              </a:lnSpc>
              <a:buNone/>
            </a:pPr>
            <a:r>
              <a:rPr lang="en-US" sz="1300" dirty="0">
                <a:solidFill>
                  <a:srgbClr val="FFFFFF"/>
                </a:solidFill>
                <a:latin typeface="IBM Plex Mono" pitchFamily="34" charset="0"/>
                <a:ea typeface="IBM Plex Mono" pitchFamily="34" charset="-122"/>
                <a:cs typeface="IBM Plex Mono" pitchFamily="34" charset="-120"/>
              </a:rPr>
              <a:t>git log -p | grep -i "hf_\|sk-lf\|api_key"</a:t>
            </a:r>
            <a:endParaRPr lang="en-US" sz="1300" dirty="0"/>
          </a:p>
        </p:txBody>
      </p:sp>
      <p:sp>
        <p:nvSpPr>
          <p:cNvPr id="11" name="Text 8"/>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24/29</a:t>
            </a:r>
            <a:endParaRPr lang="en-US" sz="1200" dirty="0"/>
          </a:p>
        </p:txBody>
      </p:sp>
      <p:pic>
        <p:nvPicPr>
          <p:cNvPr id="12"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Avance 1 del M3: la arquitectura</a:t>
            </a:r>
            <a:endParaRPr lang="en-US" sz="3600" dirty="0"/>
          </a:p>
        </p:txBody>
      </p:sp>
      <p:sp>
        <p:nvSpPr>
          <p:cNvPr id="3" name="Text 1"/>
          <p:cNvSpPr/>
          <p:nvPr/>
        </p:nvSpPr>
        <p:spPr>
          <a:xfrm>
            <a:off x="812800" y="1574205"/>
            <a:ext cx="10883392" cy="254695"/>
          </a:xfrm>
          <a:prstGeom prst="rect">
            <a:avLst/>
          </a:prstGeom>
          <a:noFill/>
          <a:ln/>
        </p:spPr>
        <p:txBody>
          <a:bodyPr wrap="square" lIns="0" tIns="0" rIns="0" bIns="0" rtlCol="0" anchor="t">
            <a:normAutofit/>
          </a:bodyPr>
          <a:lstStyle/>
          <a:p>
            <a:pPr algn="l" indent="0" marL="0">
              <a:lnSpc>
                <a:spcPts val="1806"/>
              </a:lnSpc>
              <a:buNone/>
            </a:pPr>
            <a:r>
              <a:rPr lang="en-US" sz="1400" dirty="0">
                <a:solidFill>
                  <a:srgbClr val="526277"/>
                </a:solidFill>
                <a:latin typeface="IBM Plex Sans" pitchFamily="34" charset="0"/>
                <a:ea typeface="IBM Plex Sans" pitchFamily="34" charset="-122"/>
                <a:cs typeface="IBM Plex Sans" pitchFamily="34" charset="-120"/>
              </a:rPr>
              <a:t>Media página: este diagrama y una frase por pieza. Cámbialo solo si tu arquitectura real difiere.</a:t>
            </a:r>
            <a:endParaRPr lang="en-US" sz="1400" dirty="0"/>
          </a:p>
        </p:txBody>
      </p:sp>
      <p:sp>
        <p:nvSpPr>
          <p:cNvPr id="4" name="Shape 2"/>
          <p:cNvSpPr/>
          <p:nvPr/>
        </p:nvSpPr>
        <p:spPr>
          <a:xfrm>
            <a:off x="819150" y="3308350"/>
            <a:ext cx="1892300" cy="876300"/>
          </a:xfrm>
          <a:prstGeom prst="roundRect">
            <a:avLst>
              <a:gd name="adj" fmla="val 10870"/>
            </a:avLst>
          </a:prstGeom>
          <a:solidFill>
            <a:srgbClr val="FFFFFF"/>
          </a:solidFill>
          <a:ln w="12700">
            <a:solidFill>
              <a:srgbClr val="1E293B"/>
            </a:solidFill>
            <a:prstDash val="solid"/>
          </a:ln>
        </p:spPr>
      </p:sp>
      <p:sp>
        <p:nvSpPr>
          <p:cNvPr id="5" name="Text 3"/>
          <p:cNvSpPr/>
          <p:nvPr/>
        </p:nvSpPr>
        <p:spPr>
          <a:xfrm>
            <a:off x="1331218" y="3530997"/>
            <a:ext cx="86806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Evaluador</a:t>
            </a:r>
            <a:endParaRPr lang="en-US" sz="1400" dirty="0"/>
          </a:p>
        </p:txBody>
      </p:sp>
      <p:sp>
        <p:nvSpPr>
          <p:cNvPr id="6" name="Text 4"/>
          <p:cNvSpPr/>
          <p:nvPr/>
        </p:nvSpPr>
        <p:spPr>
          <a:xfrm>
            <a:off x="1301353" y="3771503"/>
            <a:ext cx="927795"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cliente HTTP</a:t>
            </a:r>
            <a:endParaRPr lang="en-US" sz="1200" dirty="0"/>
          </a:p>
        </p:txBody>
      </p:sp>
      <p:sp>
        <p:nvSpPr>
          <p:cNvPr id="7" name="Shape 5"/>
          <p:cNvSpPr/>
          <p:nvPr/>
        </p:nvSpPr>
        <p:spPr>
          <a:xfrm>
            <a:off x="4889500" y="1981200"/>
            <a:ext cx="2260600" cy="3530600"/>
          </a:xfrm>
          <a:prstGeom prst="roundRect">
            <a:avLst>
              <a:gd name="adj" fmla="val 3933"/>
            </a:avLst>
          </a:prstGeom>
          <a:solidFill>
            <a:srgbClr val="FFF0EB"/>
          </a:solidFill>
          <a:ln w="25400">
            <a:solidFill>
              <a:srgbClr val="FF5733"/>
            </a:solidFill>
            <a:prstDash val="solid"/>
          </a:ln>
        </p:spPr>
      </p:sp>
      <p:sp>
        <p:nvSpPr>
          <p:cNvPr id="8" name="Text 6"/>
          <p:cNvSpPr/>
          <p:nvPr/>
        </p:nvSpPr>
        <p:spPr>
          <a:xfrm>
            <a:off x="5610423" y="3530997"/>
            <a:ext cx="818654"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HF Space</a:t>
            </a:r>
            <a:endParaRPr lang="en-US" sz="1400" dirty="0"/>
          </a:p>
        </p:txBody>
      </p:sp>
      <p:sp>
        <p:nvSpPr>
          <p:cNvPr id="9" name="Text 7"/>
          <p:cNvSpPr/>
          <p:nvPr/>
        </p:nvSpPr>
        <p:spPr>
          <a:xfrm>
            <a:off x="5056611" y="3771503"/>
            <a:ext cx="192627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contenedor Docker, uvicorn</a:t>
            </a:r>
            <a:endParaRPr lang="en-US" sz="1200" dirty="0"/>
          </a:p>
        </p:txBody>
      </p:sp>
      <p:sp>
        <p:nvSpPr>
          <p:cNvPr id="10" name="Shape 8"/>
          <p:cNvSpPr/>
          <p:nvPr/>
        </p:nvSpPr>
        <p:spPr>
          <a:xfrm>
            <a:off x="9074150" y="1974850"/>
            <a:ext cx="2298700" cy="876300"/>
          </a:xfrm>
          <a:prstGeom prst="roundRect">
            <a:avLst>
              <a:gd name="adj" fmla="val 10870"/>
            </a:avLst>
          </a:prstGeom>
          <a:solidFill>
            <a:srgbClr val="FFFFFF"/>
          </a:solidFill>
          <a:ln w="12700">
            <a:solidFill>
              <a:srgbClr val="1E293B"/>
            </a:solidFill>
            <a:prstDash val="solid"/>
          </a:ln>
        </p:spPr>
      </p:sp>
      <p:sp>
        <p:nvSpPr>
          <p:cNvPr id="11" name="Text 9"/>
          <p:cNvSpPr/>
          <p:nvPr/>
        </p:nvSpPr>
        <p:spPr>
          <a:xfrm>
            <a:off x="9666784" y="2197497"/>
            <a:ext cx="1113433"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HF Inference</a:t>
            </a:r>
            <a:endParaRPr lang="en-US" sz="1400" dirty="0"/>
          </a:p>
        </p:txBody>
      </p:sp>
      <p:sp>
        <p:nvSpPr>
          <p:cNvPr id="12" name="Text 10"/>
          <p:cNvSpPr/>
          <p:nvPr/>
        </p:nvSpPr>
        <p:spPr>
          <a:xfrm>
            <a:off x="9678491" y="2438003"/>
            <a:ext cx="1089918"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modelo Qwen3</a:t>
            </a:r>
            <a:endParaRPr lang="en-US" sz="1200" dirty="0"/>
          </a:p>
        </p:txBody>
      </p:sp>
      <p:sp>
        <p:nvSpPr>
          <p:cNvPr id="13" name="Shape 11"/>
          <p:cNvSpPr/>
          <p:nvPr/>
        </p:nvSpPr>
        <p:spPr>
          <a:xfrm>
            <a:off x="9074150" y="3308350"/>
            <a:ext cx="2298700" cy="876300"/>
          </a:xfrm>
          <a:prstGeom prst="roundRect">
            <a:avLst>
              <a:gd name="adj" fmla="val 10870"/>
            </a:avLst>
          </a:prstGeom>
          <a:solidFill>
            <a:srgbClr val="FFFFFF"/>
          </a:solidFill>
          <a:ln w="12700">
            <a:solidFill>
              <a:srgbClr val="1E293B"/>
            </a:solidFill>
            <a:prstDash val="solid"/>
          </a:ln>
        </p:spPr>
      </p:sp>
      <p:sp>
        <p:nvSpPr>
          <p:cNvPr id="14" name="Text 12"/>
          <p:cNvSpPr/>
          <p:nvPr/>
        </p:nvSpPr>
        <p:spPr>
          <a:xfrm>
            <a:off x="9659243" y="3530997"/>
            <a:ext cx="1128415"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Qdrant Cloud</a:t>
            </a:r>
            <a:endParaRPr lang="en-US" sz="1400" dirty="0"/>
          </a:p>
        </p:txBody>
      </p:sp>
      <p:sp>
        <p:nvSpPr>
          <p:cNvPr id="15" name="Text 13"/>
          <p:cNvSpPr/>
          <p:nvPr/>
        </p:nvSpPr>
        <p:spPr>
          <a:xfrm>
            <a:off x="9706372" y="3771503"/>
            <a:ext cx="1034256"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colección RAG</a:t>
            </a:r>
            <a:endParaRPr lang="en-US" sz="1200" dirty="0"/>
          </a:p>
        </p:txBody>
      </p:sp>
      <p:sp>
        <p:nvSpPr>
          <p:cNvPr id="16" name="Shape 14"/>
          <p:cNvSpPr/>
          <p:nvPr/>
        </p:nvSpPr>
        <p:spPr>
          <a:xfrm>
            <a:off x="9074150" y="4641850"/>
            <a:ext cx="2298700" cy="876300"/>
          </a:xfrm>
          <a:prstGeom prst="roundRect">
            <a:avLst>
              <a:gd name="adj" fmla="val 10870"/>
            </a:avLst>
          </a:prstGeom>
          <a:solidFill>
            <a:srgbClr val="FFFFFF"/>
          </a:solidFill>
          <a:ln w="12700">
            <a:solidFill>
              <a:srgbClr val="1E293B"/>
            </a:solidFill>
            <a:prstDash val="solid"/>
          </a:ln>
        </p:spPr>
      </p:sp>
      <p:sp>
        <p:nvSpPr>
          <p:cNvPr id="17" name="Text 15"/>
          <p:cNvSpPr/>
          <p:nvPr/>
        </p:nvSpPr>
        <p:spPr>
          <a:xfrm>
            <a:off x="9780488" y="4864497"/>
            <a:ext cx="886023" cy="240506"/>
          </a:xfrm>
          <a:prstGeom prst="rect">
            <a:avLst/>
          </a:prstGeom>
          <a:noFill/>
          <a:ln/>
        </p:spPr>
        <p:txBody>
          <a:bodyPr wrap="square" lIns="0" tIns="0" rIns="0" bIns="0" rtlCol="0" anchor="t">
            <a:normAutofit/>
          </a:bodyPr>
          <a:lstStyle/>
          <a:p>
            <a:pPr algn="ctr"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Simulador</a:t>
            </a:r>
            <a:endParaRPr lang="en-US" sz="1400" dirty="0"/>
          </a:p>
        </p:txBody>
      </p:sp>
      <p:sp>
        <p:nvSpPr>
          <p:cNvPr id="18" name="Text 16"/>
          <p:cNvSpPr/>
          <p:nvPr/>
        </p:nvSpPr>
        <p:spPr>
          <a:xfrm>
            <a:off x="9690596" y="5105003"/>
            <a:ext cx="1065709" cy="215900"/>
          </a:xfrm>
          <a:prstGeom prst="rect">
            <a:avLst/>
          </a:prstGeom>
          <a:noFill/>
          <a:ln/>
        </p:spPr>
        <p:txBody>
          <a:bodyPr wrap="square" lIns="0" tIns="0" rIns="0" bIns="0" rtlCol="0" anchor="t">
            <a:normAutofit/>
          </a:bodyPr>
          <a:lstStyle/>
          <a:p>
            <a:pPr algn="ctr"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datos del track</a:t>
            </a:r>
            <a:endParaRPr lang="en-US" sz="1200" dirty="0"/>
          </a:p>
        </p:txBody>
      </p:sp>
      <p:pic>
        <p:nvPicPr>
          <p:cNvPr id="19" name="Image 0" descr="connector">    </p:cNvPr>
          <p:cNvPicPr>
            <a:picLocks noChangeAspect="1"/>
          </p:cNvPicPr>
          <p:nvPr/>
        </p:nvPicPr>
        <p:blipFill>
          <a:blip r:embed="rId1"/>
          <a:srcRect l="0" r="0" t="0" b="0"/>
          <a:stretch/>
        </p:blipFill>
        <p:spPr>
          <a:xfrm>
            <a:off x="2641600" y="3670300"/>
            <a:ext cx="2311400" cy="152400"/>
          </a:xfrm>
          <a:prstGeom prst="rect">
            <a:avLst/>
          </a:prstGeom>
        </p:spPr>
      </p:pic>
      <p:sp>
        <p:nvSpPr>
          <p:cNvPr id="20" name="Text 17"/>
          <p:cNvSpPr/>
          <p:nvPr/>
        </p:nvSpPr>
        <p:spPr>
          <a:xfrm>
            <a:off x="2768600" y="3403600"/>
            <a:ext cx="211912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HTTPS + X-API-Key</a:t>
            </a:r>
            <a:endParaRPr lang="en-US" sz="1400" dirty="0"/>
          </a:p>
        </p:txBody>
      </p:sp>
      <p:pic>
        <p:nvPicPr>
          <p:cNvPr id="21" name="Image 1" descr="connector">    </p:cNvPr>
          <p:cNvPicPr>
            <a:picLocks noChangeAspect="1"/>
          </p:cNvPicPr>
          <p:nvPr/>
        </p:nvPicPr>
        <p:blipFill>
          <a:blip r:embed="rId2"/>
          <a:srcRect l="0" r="0" t="0" b="0"/>
          <a:stretch/>
        </p:blipFill>
        <p:spPr>
          <a:xfrm>
            <a:off x="7112000" y="2362200"/>
            <a:ext cx="2006600" cy="101600"/>
          </a:xfrm>
          <a:prstGeom prst="rect">
            <a:avLst/>
          </a:prstGeom>
        </p:spPr>
      </p:pic>
      <p:sp>
        <p:nvSpPr>
          <p:cNvPr id="22" name="Text 18"/>
          <p:cNvSpPr/>
          <p:nvPr/>
        </p:nvSpPr>
        <p:spPr>
          <a:xfrm>
            <a:off x="7213600" y="2120900"/>
            <a:ext cx="185750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inferencia</a:t>
            </a:r>
            <a:endParaRPr lang="en-US" sz="1400" dirty="0"/>
          </a:p>
        </p:txBody>
      </p:sp>
      <p:pic>
        <p:nvPicPr>
          <p:cNvPr id="23" name="Image 2" descr="connector">    </p:cNvPr>
          <p:cNvPicPr>
            <a:picLocks noChangeAspect="1"/>
          </p:cNvPicPr>
          <p:nvPr/>
        </p:nvPicPr>
        <p:blipFill>
          <a:blip r:embed="rId3"/>
          <a:srcRect l="0" r="0" t="0" b="0"/>
          <a:stretch/>
        </p:blipFill>
        <p:spPr>
          <a:xfrm>
            <a:off x="7112000" y="3695700"/>
            <a:ext cx="2006600" cy="101600"/>
          </a:xfrm>
          <a:prstGeom prst="rect">
            <a:avLst/>
          </a:prstGeom>
        </p:spPr>
      </p:pic>
      <p:sp>
        <p:nvSpPr>
          <p:cNvPr id="24" name="Text 19"/>
          <p:cNvSpPr/>
          <p:nvPr/>
        </p:nvSpPr>
        <p:spPr>
          <a:xfrm>
            <a:off x="7213600" y="3454400"/>
            <a:ext cx="185750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búsqueda RAG</a:t>
            </a:r>
            <a:endParaRPr lang="en-US" sz="1400" dirty="0"/>
          </a:p>
        </p:txBody>
      </p:sp>
      <p:pic>
        <p:nvPicPr>
          <p:cNvPr id="25" name="Image 3" descr="connector">    </p:cNvPr>
          <p:cNvPicPr>
            <a:picLocks noChangeAspect="1"/>
          </p:cNvPicPr>
          <p:nvPr/>
        </p:nvPicPr>
        <p:blipFill>
          <a:blip r:embed="rId4"/>
          <a:srcRect l="0" r="0" t="0" b="0"/>
          <a:stretch/>
        </p:blipFill>
        <p:spPr>
          <a:xfrm>
            <a:off x="7112000" y="5029200"/>
            <a:ext cx="2006600" cy="101600"/>
          </a:xfrm>
          <a:prstGeom prst="rect">
            <a:avLst/>
          </a:prstGeom>
        </p:spPr>
      </p:pic>
      <p:sp>
        <p:nvSpPr>
          <p:cNvPr id="26" name="Text 20"/>
          <p:cNvSpPr/>
          <p:nvPr/>
        </p:nvSpPr>
        <p:spPr>
          <a:xfrm>
            <a:off x="7213600" y="4787900"/>
            <a:ext cx="1857502" cy="240506"/>
          </a:xfrm>
          <a:prstGeom prst="rect">
            <a:avLst/>
          </a:prstGeom>
          <a:noFill/>
          <a:ln/>
        </p:spPr>
        <p:txBody>
          <a:bodyPr wrap="square" lIns="0" tIns="0" rIns="0" bIns="0" rtlCol="0" anchor="t">
            <a:normAutofit/>
          </a:bodyPr>
          <a:lstStyle/>
          <a:p>
            <a:pPr algn="l" indent="0" marL="0">
              <a:lnSpc>
                <a:spcPts val="1694"/>
              </a:lnSpc>
              <a:buNone/>
            </a:pPr>
            <a:r>
              <a:rPr lang="en-US" sz="1400" dirty="0">
                <a:solidFill>
                  <a:srgbClr val="1E293B"/>
                </a:solidFill>
                <a:latin typeface="IBM Plex Sans" pitchFamily="34" charset="0"/>
                <a:ea typeface="IBM Plex Sans" pitchFamily="34" charset="-122"/>
                <a:cs typeface="IBM Plex Sans" pitchFamily="34" charset="-120"/>
              </a:rPr>
              <a:t>datos del track</a:t>
            </a:r>
            <a:endParaRPr lang="en-US" sz="1400" dirty="0"/>
          </a:p>
        </p:txBody>
      </p:sp>
      <p:sp>
        <p:nvSpPr>
          <p:cNvPr id="27" name="Text 2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25/29</a:t>
            </a:r>
            <a:endParaRPr lang="en-US" sz="1200" dirty="0"/>
          </a:p>
        </p:txBody>
      </p:sp>
      <p:pic>
        <p:nvPicPr>
          <p:cNvPr id="28" name="Image 4" descr="AriwaLabs">    </p:cNvPr>
          <p:cNvPicPr>
            <a:picLocks noChangeAspect="1"/>
          </p:cNvPicPr>
          <p:nvPr/>
        </p:nvPicPr>
        <p:blipFill>
          <a:blip r:embed="rId5"/>
          <a:srcRect l="-9345" r="-9345" t="0" b="0"/>
          <a:stretch/>
        </p:blipFill>
        <p:spPr>
          <a:xfrm>
            <a:off x="10680700" y="6223000"/>
            <a:ext cx="698500" cy="254000"/>
          </a:xfrm>
          <a:prstGeom prst="rect">
            <a:avLst/>
          </a:prstGeom>
        </p:spPr>
      </p:pic>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Lo que el L8 aporta al integrador</a:t>
            </a:r>
            <a:endParaRPr lang="en-US" sz="3600" dirty="0"/>
          </a:p>
        </p:txBody>
      </p:sp>
      <p:sp>
        <p:nvSpPr>
          <p:cNvPr id="3" name="Shape 1"/>
          <p:cNvSpPr/>
          <p:nvPr/>
        </p:nvSpPr>
        <p:spPr>
          <a:xfrm>
            <a:off x="7054850" y="1574205"/>
            <a:ext cx="0" cy="2861171"/>
          </a:xfrm>
          <a:prstGeom prst="line">
            <a:avLst/>
          </a:prstGeom>
          <a:noFill/>
          <a:ln w="12700">
            <a:solidFill>
              <a:srgbClr val="CED8E3"/>
            </a:solidFill>
            <a:prstDash val="solid"/>
          </a:ln>
        </p:spPr>
      </p:sp>
      <p:sp>
        <p:nvSpPr>
          <p:cNvPr id="4" name="Shape 2"/>
          <p:cNvSpPr/>
          <p:nvPr/>
        </p:nvSpPr>
        <p:spPr>
          <a:xfrm>
            <a:off x="812800" y="4429026"/>
            <a:ext cx="6248400" cy="0"/>
          </a:xfrm>
          <a:prstGeom prst="line">
            <a:avLst/>
          </a:prstGeom>
          <a:noFill/>
          <a:ln w="12700">
            <a:solidFill>
              <a:srgbClr val="CED8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6905"/>
          <a:ext cx="6223000" cy="2835771"/>
        </p:xfrm>
        <a:graphic>
          <a:graphicData uri="http://schemas.openxmlformats.org/drawingml/2006/table">
            <a:tbl>
              <a:tblPr/>
              <a:tblGrid>
                <a:gridCol w="4356100"/>
                <a:gridCol w="1866900"/>
              </a:tblGrid>
              <a:tr h="405110">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Entregable del Proyecto Integrador</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Viene de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Agente desplegado con URL pública y API key</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0B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0BB"/>
                      </a:solidFill>
                      <a:prstDash val="solid"/>
                      <a:round/>
                      <a:headEnd type="none" w="med" len="med"/>
                      <a:tailEnd type="none" w="med" len="med"/>
                    </a:lnB>
                    <a:solidFill>
                      <a:srgbClr val="FFF0EB"/>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L8 · hoy</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0BB"/>
                      </a:solidFill>
                      <a:prstDash val="solid"/>
                      <a:round/>
                      <a:headEnd type="none" w="med" len="med"/>
                      <a:tailEnd type="none" w="med" len="med"/>
                    </a:lnL>
                    <a:lnR w="12700" cap="flat" cmpd="sng" algn="ctr">
                      <a:solidFill>
                        <a:srgbClr val="CBC0B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0BB"/>
                      </a:solidFill>
                      <a:prstDash val="solid"/>
                      <a:round/>
                      <a:headEnd type="none" w="med" len="med"/>
                      <a:tailEnd type="none" w="med" len="med"/>
                    </a:lnB>
                    <a:solidFill>
                      <a:srgbClr val="FFF0EB"/>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Trazas en Langfuse del Space real</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L9 · S9</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0B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Evaluación v1 vs v2 sobre 30 casos</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L10 · S10</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Cliente HTML con streaming</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L11 · S11</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Documento de diseño con diagrama de arquitectura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L11 · S11</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Demo end-to-end ante panel</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día de la S11</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Shape 3"/>
          <p:cNvSpPr/>
          <p:nvPr/>
        </p:nvSpPr>
        <p:spPr>
          <a:xfrm>
            <a:off x="7321550" y="1580555"/>
            <a:ext cx="4051300" cy="2634853"/>
          </a:xfrm>
          <a:prstGeom prst="roundRect">
            <a:avLst>
              <a:gd name="adj" fmla="val 3615"/>
            </a:avLst>
          </a:prstGeom>
          <a:solidFill>
            <a:srgbClr val="FFFFFF"/>
          </a:solidFill>
          <a:ln w="12700">
            <a:solidFill>
              <a:srgbClr val="CED8E3"/>
            </a:solidFill>
            <a:prstDash val="solid"/>
          </a:ln>
        </p:spPr>
      </p:sp>
      <p:sp>
        <p:nvSpPr>
          <p:cNvPr id="7" name="Text 4"/>
          <p:cNvSpPr/>
          <p:nvPr/>
        </p:nvSpPr>
        <p:spPr>
          <a:xfrm>
            <a:off x="7581900" y="1815505"/>
            <a:ext cx="3636518"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24 h antes de sustentar</a:t>
            </a:r>
            <a:endParaRPr lang="en-US" sz="1600" dirty="0"/>
          </a:p>
        </p:txBody>
      </p:sp>
      <p:sp>
        <p:nvSpPr>
          <p:cNvPr id="8" name="Text 5"/>
          <p:cNvSpPr/>
          <p:nvPr/>
        </p:nvSpPr>
        <p:spPr>
          <a:xfrm>
            <a:off x="7581900" y="2273697"/>
            <a:ext cx="3636518" cy="936625"/>
          </a:xfrm>
          <a:prstGeom prst="rect">
            <a:avLst/>
          </a:prstGeom>
          <a:noFill/>
          <a:ln/>
        </p:spPr>
        <p:txBody>
          <a:bodyPr wrap="square" lIns="0" tIns="0" rIns="0" bIns="0" rtlCol="0" anchor="t">
            <a:normAutofit/>
          </a:bodyPr>
          <a:lstStyle/>
          <a:p>
            <a:pPr algn="l" marL="198120" indent="-168656">
              <a:lnSpc>
                <a:spcPts val="1794"/>
              </a:lnSpc>
              <a:buSzPct val="100000"/>
              <a:buChar char="•"/>
            </a:pPr>
            <a:r>
              <a:rPr lang="en-US" sz="1300" dirty="0">
                <a:solidFill>
                  <a:srgbClr val="1E293B"/>
                </a:solidFill>
                <a:latin typeface="IBM Plex Sans" pitchFamily="34" charset="0"/>
                <a:ea typeface="IBM Plex Sans" pitchFamily="34" charset="-122"/>
                <a:cs typeface="IBM Plex Sans" pitchFamily="34" charset="-120"/>
              </a:rPr>
              <a:t>URL pública del Space (L8)</a:t>
            </a:r>
            <a:endParaRPr lang="en-US" sz="1300" dirty="0"/>
          </a:p>
          <a:p>
            <a:pPr algn="l" marL="198120" indent="-168656">
              <a:lnSpc>
                <a:spcPts val="1794"/>
              </a:lnSpc>
              <a:buSzPct val="100000"/>
              <a:buChar char="•"/>
            </a:pPr>
            <a:r>
              <a:rPr lang="en-US" sz="1300" dirty="0">
                <a:solidFill>
                  <a:srgbClr val="1E293B"/>
                </a:solidFill>
                <a:latin typeface="IBM Plex Sans" pitchFamily="34" charset="0"/>
                <a:ea typeface="IBM Plex Sans" pitchFamily="34" charset="-122"/>
                <a:cs typeface="IBM Plex Sans" pitchFamily="34" charset="-120"/>
              </a:rPr>
              <a:t>API key para el panel</a:t>
            </a:r>
            <a:endParaRPr lang="en-US" sz="1300" dirty="0"/>
          </a:p>
          <a:p>
            <a:pPr algn="l" marL="198120" indent="-168656">
              <a:lnSpc>
                <a:spcPts val="1794"/>
              </a:lnSpc>
              <a:buSzPct val="100000"/>
              <a:buChar char="•"/>
            </a:pPr>
            <a:r>
              <a:rPr lang="en-US" sz="1300" dirty="0">
                <a:solidFill>
                  <a:srgbClr val="1E293B"/>
                </a:solidFill>
                <a:latin typeface="IBM Plex Sans" pitchFamily="34" charset="0"/>
                <a:ea typeface="IBM Plex Sans" pitchFamily="34" charset="-122"/>
                <a:cs typeface="IBM Plex Sans" pitchFamily="34" charset="-120"/>
              </a:rPr>
              <a:t>Captura de una traza en Langfuse (L9)</a:t>
            </a:r>
            <a:endParaRPr lang="en-US" sz="1300" dirty="0"/>
          </a:p>
          <a:p>
            <a:pPr algn="l" marL="198120" indent="-168656">
              <a:lnSpc>
                <a:spcPts val="1794"/>
              </a:lnSpc>
              <a:buSzPct val="100000"/>
              <a:buChar char="•"/>
            </a:pPr>
            <a:r>
              <a:rPr lang="en-US" sz="1300" dirty="0">
                <a:solidFill>
                  <a:srgbClr val="1E293B"/>
                </a:solidFill>
                <a:latin typeface="IBM Plex Sans" pitchFamily="34" charset="0"/>
                <a:ea typeface="IBM Plex Sans" pitchFamily="34" charset="-122"/>
                <a:cs typeface="IBM Plex Sans" pitchFamily="34" charset="-120"/>
              </a:rPr>
              <a:t>Salida de verificar_despliegue.py en verde</a:t>
            </a:r>
            <a:endParaRPr lang="en-US" sz="1300" dirty="0"/>
          </a:p>
        </p:txBody>
      </p:sp>
      <p:sp>
        <p:nvSpPr>
          <p:cNvPr id="9" name="Text 6"/>
          <p:cNvSpPr/>
          <p:nvPr/>
        </p:nvSpPr>
        <p:spPr>
          <a:xfrm>
            <a:off x="7581900" y="3311922"/>
            <a:ext cx="3636518" cy="693936"/>
          </a:xfrm>
          <a:prstGeom prst="rect">
            <a:avLst/>
          </a:prstGeom>
          <a:noFill/>
          <a:ln/>
        </p:spPr>
        <p:txBody>
          <a:bodyPr wrap="square" lIns="0" tIns="0" rIns="0" bIns="0" rtlCol="0" anchor="t">
            <a:normAutofit/>
          </a:bodyPr>
          <a:lstStyle/>
          <a:p>
            <a:pPr algn="l" indent="0" marL="0">
              <a:lnSpc>
                <a:spcPts val="1755"/>
              </a:lnSpc>
              <a:buNone/>
            </a:pPr>
            <a:r>
              <a:rPr lang="en-US" sz="1300" dirty="0">
                <a:solidFill>
                  <a:srgbClr val="526277"/>
                </a:solidFill>
                <a:latin typeface="IBM Plex Sans" pitchFamily="34" charset="0"/>
                <a:ea typeface="IBM Plex Sans" pitchFamily="34" charset="-122"/>
                <a:cs typeface="IBM Plex Sans" pitchFamily="34" charset="-120"/>
              </a:rPr>
              <a:t>Si el Space falla el día de la demo, se sustenta en local sin penalización, solo si entregaste esa evidencia.</a:t>
            </a:r>
            <a:endParaRPr lang="en-US" sz="1300" dirty="0"/>
          </a:p>
        </p:txBody>
      </p:sp>
      <p:sp>
        <p:nvSpPr>
          <p:cNvPr id="10" name="Text 7"/>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26/29</a:t>
            </a:r>
            <a:endParaRPr lang="en-US" sz="1200" dirty="0"/>
          </a:p>
        </p:txBody>
      </p:sp>
      <p:pic>
        <p:nvPicPr>
          <p:cNvPr id="11"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Errores esperables y su causa</a:t>
            </a:r>
            <a:endParaRPr lang="en-US" sz="3600" dirty="0"/>
          </a:p>
        </p:txBody>
      </p:sp>
      <p:sp>
        <p:nvSpPr>
          <p:cNvPr id="3" name="Shape 1"/>
          <p:cNvSpPr/>
          <p:nvPr/>
        </p:nvSpPr>
        <p:spPr>
          <a:xfrm>
            <a:off x="11372850" y="1574205"/>
            <a:ext cx="0" cy="2885281"/>
          </a:xfrm>
          <a:prstGeom prst="line">
            <a:avLst/>
          </a:prstGeom>
          <a:noFill/>
          <a:ln w="12700">
            <a:solidFill>
              <a:srgbClr val="CED8E3"/>
            </a:solidFill>
            <a:prstDash val="solid"/>
          </a:ln>
        </p:spPr>
      </p:sp>
      <p:sp>
        <p:nvSpPr>
          <p:cNvPr id="4" name="Shape 2"/>
          <p:cNvSpPr/>
          <p:nvPr/>
        </p:nvSpPr>
        <p:spPr>
          <a:xfrm>
            <a:off x="812800" y="4453136"/>
            <a:ext cx="10566400" cy="0"/>
          </a:xfrm>
          <a:prstGeom prst="line">
            <a:avLst/>
          </a:prstGeom>
          <a:noFill/>
          <a:ln w="12700">
            <a:solidFill>
              <a:srgbClr val="CED8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6905"/>
          <a:ext cx="10541000" cy="2859881"/>
        </p:xfrm>
        <a:graphic>
          <a:graphicData uri="http://schemas.openxmlformats.org/drawingml/2006/table">
            <a:tbl>
              <a:tblPr/>
              <a:tblGrid>
                <a:gridCol w="3162300"/>
                <a:gridCol w="3794760"/>
                <a:gridCol w="3583940"/>
              </a:tblGrid>
              <a:tr h="405110">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Síntoma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Causa probable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1820"/>
                        </a:lnSpc>
                        <a:buNone/>
                      </a:pPr>
                      <a:r>
                        <a:rPr lang="en-US" sz="1300" b="1" dirty="0">
                          <a:solidFill>
                            <a:srgbClr val="1E293B"/>
                          </a:solidFill>
                          <a:latin typeface="IBM Plex Sans" pitchFamily="34" charset="0"/>
                          <a:ea typeface="IBM Plex Sans" pitchFamily="34" charset="-122"/>
                          <a:cs typeface="IBM Plex Sans" pitchFamily="34" charset="-120"/>
                        </a:rPr>
                        <a:t>Respuesta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Space queda en Build error</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Falta una dependencia en requirements.txt</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Leer el log de build del Space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1972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Space arranca y muere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puerto no es el esperado o CMD no apunta a tu módulo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Revisar EXPOSE y CMD del Dockerfile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401 desde fuera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La key no se cargó como Space secret</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Los secretos no se leen del repo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0511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El primer request tarda mucho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Cold start del tier gratuito</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No es un bug: se documenta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619720">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Un token aparece en el historial de git</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Se hizo commit del .env antes del .gitignore</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1820"/>
                        </a:lnSpc>
                        <a:buNone/>
                      </a:pPr>
                      <a:r>
                        <a:rPr lang="en-US" sz="1300" dirty="0">
                          <a:solidFill>
                            <a:srgbClr val="1E293B"/>
                          </a:solidFill>
                          <a:latin typeface="IBM Plex Sans" pitchFamily="34" charset="0"/>
                          <a:ea typeface="IBM Plex Sans" pitchFamily="34" charset="-122"/>
                          <a:cs typeface="IBM Plex Sans" pitchFamily="34" charset="-120"/>
                        </a:rPr>
                        <a:t>Revocar y regenerar; borrar el commit no basta</a:t>
                      </a:r>
                      <a:endParaRPr lang="en-US" sz="13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Text 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27/29</a:t>
            </a:r>
            <a:endParaRPr lang="en-US" sz="1200" dirty="0"/>
          </a:p>
        </p:txBody>
      </p:sp>
      <p:pic>
        <p:nvPicPr>
          <p:cNvPr id="7"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Qué no entra hoy</a:t>
            </a:r>
            <a:endParaRPr lang="en-US" sz="3600" dirty="0"/>
          </a:p>
        </p:txBody>
      </p:sp>
      <p:sp>
        <p:nvSpPr>
          <p:cNvPr id="3" name="Shape 1"/>
          <p:cNvSpPr/>
          <p:nvPr/>
        </p:nvSpPr>
        <p:spPr>
          <a:xfrm>
            <a:off x="11372850" y="1574205"/>
            <a:ext cx="0" cy="2654300"/>
          </a:xfrm>
          <a:prstGeom prst="line">
            <a:avLst/>
          </a:prstGeom>
          <a:noFill/>
          <a:ln w="12700">
            <a:solidFill>
              <a:srgbClr val="CED8E3"/>
            </a:solidFill>
            <a:prstDash val="solid"/>
          </a:ln>
        </p:spPr>
      </p:sp>
      <p:sp>
        <p:nvSpPr>
          <p:cNvPr id="4" name="Shape 2"/>
          <p:cNvSpPr/>
          <p:nvPr/>
        </p:nvSpPr>
        <p:spPr>
          <a:xfrm>
            <a:off x="812800" y="4222155"/>
            <a:ext cx="10566400" cy="0"/>
          </a:xfrm>
          <a:prstGeom prst="line">
            <a:avLst/>
          </a:prstGeom>
          <a:noFill/>
          <a:ln w="12700">
            <a:solidFill>
              <a:srgbClr val="CED8E3"/>
            </a:solidFill>
            <a:prstDash val="solid"/>
          </a:ln>
        </p:spPr>
      </p:sp>
      <p:graphicFrame>
        <p:nvGraphicFramePr>
          <p:cNvPr id="5" name="Table 0"/>
          <p:cNvGraphicFramePr>
            <a:graphicFrameLocks noGrp="1"/>
          </p:cNvGraphicFramePr>
          <p:nvPr>
            <p:extLst>
              <p:ext uri="{D42A27DB-BD31-4B8C-83A1-F6EECF244321}">
                <p14:modId xmlns:p14="http://schemas.microsoft.com/office/powerpoint/2010/main" val="1579011935"/>
              </p:ext>
            </p:extLst>
          </p:nvPr>
        </p:nvGraphicFramePr>
        <p:xfrm>
          <a:off x="825500" y="1586905"/>
          <a:ext cx="10541000" cy="2628900"/>
        </p:xfrm>
        <a:graphic>
          <a:graphicData uri="http://schemas.openxmlformats.org/drawingml/2006/table">
            <a:tbl>
              <a:tblPr/>
              <a:tblGrid>
                <a:gridCol w="6324600"/>
                <a:gridCol w="4216400"/>
              </a:tblGrid>
              <a:tr h="438150">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No entra</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c>
                  <a:txBody>
                    <a:bodyPr/>
                    <a:lstStyle/>
                    <a:p>
                      <a:pPr indent="0" marL="0">
                        <a:lnSpc>
                          <a:spcPts val="2100"/>
                        </a:lnSpc>
                        <a:buNone/>
                      </a:pPr>
                      <a:r>
                        <a:rPr lang="en-US" sz="1500" b="1" dirty="0">
                          <a:solidFill>
                            <a:srgbClr val="1E293B"/>
                          </a:solidFill>
                          <a:latin typeface="IBM Plex Sans" pitchFamily="34" charset="0"/>
                          <a:ea typeface="IBM Plex Sans" pitchFamily="34" charset="-122"/>
                          <a:cs typeface="IBM Plex Sans" pitchFamily="34" charset="-120"/>
                        </a:rPr>
                        <a:t>Va en</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BAC0C5"/>
                      </a:solidFill>
                      <a:prstDash val="solid"/>
                      <a:round/>
                      <a:headEnd type="none" w="med" len="med"/>
                      <a:tailEnd type="none" w="med" len="med"/>
                    </a:lnL>
                    <a:lnR w="12700" cap="flat" cmpd="sng" algn="ctr">
                      <a:solidFill>
                        <a:srgbClr val="BAC0C5"/>
                      </a:solidFill>
                      <a:prstDash val="solid"/>
                      <a:round/>
                      <a:headEnd type="none" w="med" len="med"/>
                      <a:tailEnd type="none" w="med" len="med"/>
                    </a:lnR>
                    <a:lnT w="12700" cap="flat" cmpd="sng" algn="ctr">
                      <a:solidFill>
                        <a:srgbClr val="C3C4C6"/>
                      </a:solidFill>
                      <a:prstDash val="solid"/>
                      <a:round/>
                      <a:headEnd type="none" w="med" len="med"/>
                      <a:tailEnd type="none" w="med" len="med"/>
                    </a:lnT>
                    <a:lnB w="12700" cap="flat" cmpd="sng" algn="ctr">
                      <a:solidFill>
                        <a:srgbClr val="BAC0C5"/>
                      </a:solidFill>
                      <a:prstDash val="solid"/>
                      <a:round/>
                      <a:headEnd type="none" w="med" len="med"/>
                      <a:tailEnd type="none" w="med" len="med"/>
                    </a:lnB>
                    <a:solidFill>
                      <a:srgbClr val="E9F0F7"/>
                    </a:solidFill>
                  </a:tcPr>
                </a:tc>
              </a:tr>
              <a:tr h="4381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Trazabilidad y Langfuse</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S9</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BAC0C5"/>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81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Evaluación y datasets</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S10</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81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Cliente web con streaming</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S11</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81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Foundry</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Bonus asíncrono</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r h="438150">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Docker en local, Kubernetes, CI/CD</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3C4C6"/>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c>
                  <a:txBody>
                    <a:bodyPr/>
                    <a:lstStyle/>
                    <a:p>
                      <a:pPr indent="0" marL="0">
                        <a:lnSpc>
                          <a:spcPts val="2100"/>
                        </a:lnSpc>
                        <a:buNone/>
                      </a:pPr>
                      <a:r>
                        <a:rPr lang="en-US" sz="1500" dirty="0">
                          <a:solidFill>
                            <a:srgbClr val="1E293B"/>
                          </a:solidFill>
                          <a:latin typeface="IBM Plex Sans" pitchFamily="34" charset="0"/>
                          <a:ea typeface="IBM Plex Sans" pitchFamily="34" charset="-122"/>
                          <a:cs typeface="IBM Plex Sans" pitchFamily="34" charset="-120"/>
                        </a:rPr>
                        <a:t>Fuera de alcance (P2)</a:t>
                      </a:r>
                      <a:endParaRPr lang="en-US" sz="1500" dirty="0">
                        <a:latin typeface="IBM Plex Sans" charset="0"/>
                        <a:ea typeface="IBM Plex Sans" charset="0"/>
                        <a:cs typeface="IBM Plex Sans" charset="0"/>
                      </a:endParaRPr>
                    </a:p>
                  </a:txBody>
                  <a:tcPr marL="127000" marR="127000" marT="88900" marB="88900" anchor="t">
                    <a:lnL w="12700" cap="flat" cmpd="sng" algn="ctr">
                      <a:solidFill>
                        <a:srgbClr val="CBCBCB"/>
                      </a:solidFill>
                      <a:prstDash val="solid"/>
                      <a:round/>
                      <a:headEnd type="none" w="med" len="med"/>
                      <a:tailEnd type="none" w="med" len="med"/>
                    </a:lnL>
                    <a:lnR w="12700" cap="flat" cmpd="sng" algn="ctr">
                      <a:solidFill>
                        <a:srgbClr val="CBCBCB"/>
                      </a:solidFill>
                      <a:prstDash val="solid"/>
                      <a:round/>
                      <a:headEnd type="none" w="med" len="med"/>
                      <a:tailEnd type="none" w="med" len="med"/>
                    </a:lnR>
                    <a:lnT w="12700" cap="flat" cmpd="sng" algn="ctr">
                      <a:solidFill>
                        <a:srgbClr val="CBCBCB"/>
                      </a:solidFill>
                      <a:prstDash val="solid"/>
                      <a:round/>
                      <a:headEnd type="none" w="med" len="med"/>
                      <a:tailEnd type="none" w="med" len="med"/>
                    </a:lnT>
                    <a:lnB w="12700" cap="flat" cmpd="sng" algn="ctr">
                      <a:solidFill>
                        <a:srgbClr val="CBCBCB"/>
                      </a:solidFill>
                      <a:prstDash val="solid"/>
                      <a:round/>
                      <a:headEnd type="none" w="med" len="med"/>
                      <a:tailEnd type="none" w="med" len="med"/>
                    </a:lnB>
                    <a:solidFill>
                      <a:srgbClr val="FFFFFF"/>
                    </a:solidFill>
                  </a:tcPr>
                </a:tc>
              </a:tr>
            </a:tbl>
          </a:graphicData>
        </a:graphic>
      </p:graphicFrame>
      <p:sp>
        <p:nvSpPr>
          <p:cNvPr id="6" name="Text 3"/>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28/29</a:t>
            </a:r>
            <a:endParaRPr lang="en-US" sz="1200" dirty="0"/>
          </a:p>
        </p:txBody>
      </p:sp>
      <p:pic>
        <p:nvPicPr>
          <p:cNvPr id="7"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4F6F8"/>
        </a:solidFill>
      </p:bgPr>
    </p:bg>
    <p:spTree>
      <p:nvGrpSpPr>
        <p:cNvPr id="1" name=""/>
        <p:cNvGrpSpPr/>
        <p:nvPr/>
      </p:nvGrpSpPr>
      <p:grpSpPr>
        <a:xfrm>
          <a:off x="0" y="0"/>
          <a:ext cx="0" cy="0"/>
          <a:chOff x="0" y="0"/>
          <a:chExt cx="0" cy="0"/>
        </a:xfrm>
      </p:grpSpPr>
      <p:sp>
        <p:nvSpPr>
          <p:cNvPr id="2" name="Text 0"/>
          <p:cNvSpPr/>
          <p:nvPr/>
        </p:nvSpPr>
        <p:spPr>
          <a:xfrm>
            <a:off x="812800" y="812800"/>
            <a:ext cx="10883392" cy="532805"/>
          </a:xfrm>
          <a:prstGeom prst="rect">
            <a:avLst/>
          </a:prstGeom>
          <a:noFill/>
          <a:ln/>
        </p:spPr>
        <p:txBody>
          <a:bodyPr wrap="square" lIns="0" tIns="0" rIns="0" bIns="0" rtlCol="0" anchor="t">
            <a:normAutofit/>
          </a:bodyPr>
          <a:lstStyle/>
          <a:p>
            <a:pPr algn="l" indent="0" marL="0">
              <a:lnSpc>
                <a:spcPts val="3996"/>
              </a:lnSpc>
              <a:buNone/>
            </a:pPr>
            <a:r>
              <a:rPr lang="en-US" sz="3600" b="1" spc="-35" kern="0" dirty="0">
                <a:solidFill>
                  <a:srgbClr val="1E293B"/>
                </a:solidFill>
                <a:latin typeface="IBM Plex Sans" pitchFamily="34" charset="0"/>
                <a:ea typeface="IBM Plex Sans" pitchFamily="34" charset="-122"/>
                <a:cs typeface="IBM Plex Sans" pitchFamily="34" charset="-120"/>
              </a:rPr>
              <a:t>Siguiente sesión: trazas en S9</a:t>
            </a:r>
            <a:endParaRPr lang="en-US" sz="3600" dirty="0"/>
          </a:p>
        </p:txBody>
      </p:sp>
      <p:sp>
        <p:nvSpPr>
          <p:cNvPr id="3" name="Shape 1"/>
          <p:cNvSpPr/>
          <p:nvPr/>
        </p:nvSpPr>
        <p:spPr>
          <a:xfrm>
            <a:off x="819150" y="1580555"/>
            <a:ext cx="3382367" cy="1688009"/>
          </a:xfrm>
          <a:prstGeom prst="roundRect">
            <a:avLst>
              <a:gd name="adj" fmla="val 5643"/>
            </a:avLst>
          </a:prstGeom>
          <a:solidFill>
            <a:srgbClr val="FFFFFF"/>
          </a:solidFill>
          <a:ln w="12700">
            <a:solidFill>
              <a:srgbClr val="CED8E3"/>
            </a:solidFill>
            <a:prstDash val="solid"/>
          </a:ln>
        </p:spPr>
      </p:sp>
      <p:sp>
        <p:nvSpPr>
          <p:cNvPr id="4" name="Text 2"/>
          <p:cNvSpPr/>
          <p:nvPr/>
        </p:nvSpPr>
        <p:spPr>
          <a:xfrm>
            <a:off x="1079500" y="1815505"/>
            <a:ext cx="2947517"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Hoy</a:t>
            </a:r>
            <a:endParaRPr lang="en-US" sz="1600" dirty="0"/>
          </a:p>
        </p:txBody>
      </p:sp>
      <p:sp>
        <p:nvSpPr>
          <p:cNvPr id="5" name="Text 3"/>
          <p:cNvSpPr/>
          <p:nvPr/>
        </p:nvSpPr>
        <p:spPr>
          <a:xfrm>
            <a:off x="1079500" y="2273697"/>
            <a:ext cx="2947517" cy="785316"/>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Tu agente responde en una URL pública, protegido con X-API-Key.</a:t>
            </a:r>
            <a:endParaRPr lang="en-US" sz="1500" dirty="0"/>
          </a:p>
        </p:txBody>
      </p:sp>
      <p:sp>
        <p:nvSpPr>
          <p:cNvPr id="6" name="Shape 4"/>
          <p:cNvSpPr/>
          <p:nvPr/>
        </p:nvSpPr>
        <p:spPr>
          <a:xfrm>
            <a:off x="4398367" y="1586905"/>
            <a:ext cx="3395166" cy="1675309"/>
          </a:xfrm>
          <a:prstGeom prst="roundRect">
            <a:avLst>
              <a:gd name="adj" fmla="val 5306"/>
            </a:avLst>
          </a:prstGeom>
          <a:solidFill>
            <a:srgbClr val="FFF0EB"/>
          </a:solidFill>
          <a:ln w="25400">
            <a:solidFill>
              <a:srgbClr val="FF5733"/>
            </a:solidFill>
            <a:prstDash val="solid"/>
          </a:ln>
        </p:spPr>
      </p:sp>
      <p:sp>
        <p:nvSpPr>
          <p:cNvPr id="7" name="Text 5"/>
          <p:cNvSpPr/>
          <p:nvPr/>
        </p:nvSpPr>
        <p:spPr>
          <a:xfrm>
            <a:off x="4665067" y="1828205"/>
            <a:ext cx="2947619"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Para la S9</a:t>
            </a:r>
            <a:endParaRPr lang="en-US" sz="1600" dirty="0"/>
          </a:p>
        </p:txBody>
      </p:sp>
      <p:sp>
        <p:nvSpPr>
          <p:cNvPr id="8" name="Text 6"/>
          <p:cNvSpPr/>
          <p:nvPr/>
        </p:nvSpPr>
        <p:spPr>
          <a:xfrm>
            <a:off x="4665067" y="2286397"/>
            <a:ext cx="2947619" cy="532011"/>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Tu Space del L8 desplegado y respondiendo.</a:t>
            </a:r>
            <a:endParaRPr lang="en-US" sz="1500" dirty="0"/>
          </a:p>
        </p:txBody>
      </p:sp>
      <p:sp>
        <p:nvSpPr>
          <p:cNvPr id="9" name="Shape 7"/>
          <p:cNvSpPr/>
          <p:nvPr/>
        </p:nvSpPr>
        <p:spPr>
          <a:xfrm>
            <a:off x="7990384" y="1580555"/>
            <a:ext cx="3382466" cy="1688009"/>
          </a:xfrm>
          <a:prstGeom prst="roundRect">
            <a:avLst>
              <a:gd name="adj" fmla="val 5643"/>
            </a:avLst>
          </a:prstGeom>
          <a:solidFill>
            <a:srgbClr val="FFFFFF"/>
          </a:solidFill>
          <a:ln w="12700">
            <a:solidFill>
              <a:srgbClr val="CED8E3"/>
            </a:solidFill>
            <a:prstDash val="solid"/>
          </a:ln>
        </p:spPr>
      </p:sp>
      <p:sp>
        <p:nvSpPr>
          <p:cNvPr id="10" name="Text 8"/>
          <p:cNvSpPr/>
          <p:nvPr/>
        </p:nvSpPr>
        <p:spPr>
          <a:xfrm>
            <a:off x="8250734" y="1815505"/>
            <a:ext cx="2947619" cy="356592"/>
          </a:xfrm>
          <a:prstGeom prst="rect">
            <a:avLst/>
          </a:prstGeom>
          <a:noFill/>
          <a:ln/>
        </p:spPr>
        <p:txBody>
          <a:bodyPr wrap="square" lIns="0" tIns="0" rIns="0" bIns="0" rtlCol="0" anchor="t">
            <a:normAutofit/>
          </a:bodyPr>
          <a:lstStyle/>
          <a:p>
            <a:pPr algn="l" indent="0" marL="0">
              <a:lnSpc>
                <a:spcPts val="2608"/>
              </a:lnSpc>
              <a:buNone/>
            </a:pPr>
            <a:r>
              <a:rPr lang="en-US" sz="1600" dirty="0">
                <a:solidFill>
                  <a:srgbClr val="1E293B"/>
                </a:solidFill>
                <a:latin typeface="IBM Plex Sans" pitchFamily="34" charset="0"/>
                <a:ea typeface="IBM Plex Sans" pitchFamily="34" charset="-122"/>
                <a:cs typeface="IBM Plex Sans" pitchFamily="34" charset="-120"/>
              </a:rPr>
              <a:t>En la S9</a:t>
            </a:r>
            <a:endParaRPr lang="en-US" sz="1600" dirty="0"/>
          </a:p>
        </p:txBody>
      </p:sp>
      <p:sp>
        <p:nvSpPr>
          <p:cNvPr id="11" name="Text 9"/>
          <p:cNvSpPr/>
          <p:nvPr/>
        </p:nvSpPr>
        <p:spPr>
          <a:xfrm>
            <a:off x="8250734" y="2273697"/>
            <a:ext cx="2947619" cy="785316"/>
          </a:xfrm>
          <a:prstGeom prst="rect">
            <a:avLst/>
          </a:prstGeom>
          <a:noFill/>
          <a:ln/>
        </p:spPr>
        <p:txBody>
          <a:bodyPr wrap="square" lIns="0" tIns="0" rIns="0" bIns="0" rtlCol="0" anchor="t">
            <a:normAutofit/>
          </a:bodyPr>
          <a:lstStyle/>
          <a:p>
            <a:pPr algn="l" indent="0" marL="0">
              <a:lnSpc>
                <a:spcPts val="1995"/>
              </a:lnSpc>
              <a:buNone/>
            </a:pPr>
            <a:r>
              <a:rPr lang="en-US" sz="1500" dirty="0">
                <a:solidFill>
                  <a:srgbClr val="1E293B"/>
                </a:solidFill>
                <a:latin typeface="IBM Plex Sans" pitchFamily="34" charset="0"/>
                <a:ea typeface="IBM Plex Sans" pitchFamily="34" charset="-122"/>
                <a:cs typeface="IBM Plex Sans" pitchFamily="34" charset="-120"/>
              </a:rPr>
              <a:t>Cada ejecución queda registrada como una traza en Langfuse; se implementa allí.</a:t>
            </a:r>
            <a:endParaRPr lang="en-US" sz="1500" dirty="0"/>
          </a:p>
        </p:txBody>
      </p:sp>
      <p:sp>
        <p:nvSpPr>
          <p:cNvPr id="12" name="Text 10"/>
          <p:cNvSpPr/>
          <p:nvPr/>
        </p:nvSpPr>
        <p:spPr>
          <a:xfrm>
            <a:off x="812800" y="3528913"/>
            <a:ext cx="10883392" cy="305792"/>
          </a:xfrm>
          <a:prstGeom prst="rect">
            <a:avLst/>
          </a:prstGeom>
          <a:noFill/>
          <a:ln/>
        </p:spPr>
        <p:txBody>
          <a:bodyPr wrap="square" lIns="0" tIns="0" rIns="0" bIns="0" rtlCol="0" anchor="t">
            <a:normAutofit/>
          </a:bodyPr>
          <a:lstStyle/>
          <a:p>
            <a:pPr algn="l" indent="0" marL="0">
              <a:lnSpc>
                <a:spcPts val="2208"/>
              </a:lnSpc>
              <a:buNone/>
            </a:pPr>
            <a:r>
              <a:rPr lang="en-US" sz="1600" dirty="0">
                <a:solidFill>
                  <a:srgbClr val="1E293B"/>
                </a:solidFill>
                <a:latin typeface="IBM Plex Sans" pitchFamily="34" charset="0"/>
                <a:ea typeface="IBM Plex Sans" pitchFamily="34" charset="-122"/>
                <a:cs typeface="IBM Plex Sans" pitchFamily="34" charset="-120"/>
              </a:rPr>
              <a:t>Ahora: L8 · Partes 1 a 4 · 2 h.</a:t>
            </a:r>
            <a:endParaRPr lang="en-US" sz="1600" dirty="0"/>
          </a:p>
        </p:txBody>
      </p:sp>
      <p:sp>
        <p:nvSpPr>
          <p:cNvPr id="13" name="Text 11"/>
          <p:cNvSpPr/>
          <p:nvPr/>
        </p:nvSpPr>
        <p:spPr>
          <a:xfrm>
            <a:off x="812800" y="6261100"/>
            <a:ext cx="8502650" cy="215900"/>
          </a:xfrm>
          <a:prstGeom prst="rect">
            <a:avLst/>
          </a:prstGeom>
          <a:noFill/>
          <a:ln/>
        </p:spPr>
        <p:txBody>
          <a:bodyPr wrap="square" lIns="0" tIns="0" rIns="0" bIns="0" rtlCol="0" anchor="t">
            <a:normAutofit/>
          </a:bodyPr>
          <a:lstStyle/>
          <a:p>
            <a:pPr algn="l" indent="0" marL="0">
              <a:lnSpc>
                <a:spcPts val="1500"/>
              </a:lnSpc>
              <a:buNone/>
            </a:pPr>
            <a:r>
              <a:rPr lang="en-US" sz="1200" dirty="0">
                <a:solidFill>
                  <a:srgbClr val="526277"/>
                </a:solidFill>
                <a:latin typeface="IBM Plex Sans" pitchFamily="34" charset="0"/>
                <a:ea typeface="IBM Plex Sans" pitchFamily="34" charset="-122"/>
                <a:cs typeface="IBM Plex Sans" pitchFamily="34" charset="-120"/>
              </a:rPr>
              <a:t>S08 · Despliegue en producción con HF Spaces · 29/29</a:t>
            </a:r>
            <a:endParaRPr lang="en-US" sz="1200" dirty="0"/>
          </a:p>
        </p:txBody>
      </p:sp>
      <p:pic>
        <p:nvPicPr>
          <p:cNvPr id="14" name="Image 0" descr="AriwaLabs">    </p:cNvPr>
          <p:cNvPicPr>
            <a:picLocks noChangeAspect="1"/>
          </p:cNvPicPr>
          <p:nvPr/>
        </p:nvPicPr>
        <p:blipFill>
          <a:blip r:embed="rId1"/>
          <a:srcRect l="-9345" r="-9345" t="0" b="0"/>
          <a:stretch/>
        </p:blipFill>
        <p:spPr>
          <a:xfrm>
            <a:off x="10680700" y="6223000"/>
            <a:ext cx="698500" cy="254000"/>
          </a:xfrm>
          <a:prstGeom prst="rect">
            <a:avLst/>
          </a:prstGeom>
        </p:spPr>
      </p:pic>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29</Slides>
  <Notes>29</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29</vt:i4>
      </vt:variant>
    </vt:vector>
  </HeadingPairs>
  <TitlesOfParts>
    <vt:vector size="32"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S08 · Despliegue en producción con HF Spaces</dc:title>
  <dc:subject>PptxGenJS Presentation</dc:subject>
  <dc:creator>PptxGenJS</dc:creator>
  <cp:lastModifiedBy>PptxGenJS</cp:lastModifiedBy>
  <cp:revision>1</cp:revision>
  <dcterms:created xsi:type="dcterms:W3CDTF">2026-09-25T22:52:40Z</dcterms:created>
  <dcterms:modified xsi:type="dcterms:W3CDTF">2026-09-25T22:52:40Z</dcterms:modified>
</cp:coreProperties>
</file>