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Qué explicar, en orden: 1) Hoy no hay contenido nuevo de agentes: se cierra el proyecto acumulado desde el L1. 2) Es el hito del Proyecto Integrador, 100 % del Módulo 3, y la única evaluación del curso donde los 5 criterios institucionales aplican completos. 3) Recordar lo que ya debió ocurrir antes de la sesión: pre-work de 1 h, Laboratorio L11 de 2 h y la entrega anticipada 24 h antes (URL pública, API key, captura de una traza y verificar_despliegue.py en verde). Pregunta para la audiencia: ¿qué parte de su sistema les costaría más explicar a otro ingeniero en dos minutos? Vínculo con el laboratorio: L11 completo (lab/README.md) y el enunciado de cada track (lab/&lt;track&gt;/enunciado.md).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Qué explicar, en orden: 1) Recorrer los cinco bloques: bloque 0 de teoría (30 min: cómo se argumenta ante un panel y qué preguntará el panel), pausa de 10, ensayo cronometrado por equipo (30), sustentaciones ante panel (105) y cierre del módulo (5). 2) La cuenta de horas: 30 min de teoría en vivo + 1 h de pre-work = 1.5 h de teoría; 140 min de práctica en vivo + 2 h de laboratorio = 4.5 h de práctica. 3) Anticipar que los minutos por equipo se calculan antes de la sesión, no el día. Pregunta para la audiencia: si la ronda tiene 105 minutos y hay 13 equipos, ¿cuántos minutos le tocan a cada uno y qué parte no se puede recortar? (Según el guion: 8 min, que es el piso; el Q&amp;A nunca se recorta.) Vínculo con el laboratorio: la Parte 4 del L11 (ensayo cronometrado) prepara el bloque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Qué explicar, en orden: leer los cuatro objetivos y conectarlos con lo que mirará el panel: 1) cliente web con streaming → lo nuevo del L11; 2) documentar para que otro ingeniero opere el sistema → el documento de diseño; 3) argumentar una decisión → el movimiento 3 de la demo; 4) sostener el Q&amp;A → los 2 minutos finales de cada demo. Remarcar que el objetivo 3 incluye lo que se descartó, no solo lo que se eligió. Pregunta para la audiencia: ¿cuál de los cuatro objetivos muestra mejor si un equipo entendió lo que construyó? Vínculo con el laboratorio: Parte 1 (objetivo 1), Parte 2 (objetivos 2 y 3) y Parte 4 (objetivo 4) de lab/README.md.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Qué explicar, en orden: 1) El proyecto se construyó por incrementos: L1 entorno, L2 clasificador y L3 primera tool (M1); L4 catálogo de 4 tools, L5 memoria + RAG, L6 guardrails y L7 endurecido (M2); L8 desplegado, L9 trazabilidad y L10 evaluación (M3). 2) Hoy solo se añade el L11: cliente web con streaming y entrega. 3) No hay nada nuevo que inventar: hay que cerrarlo. Recordar que el catálogo del L4 tiene 4 tools núcleo y que el L5 añade un retriever; no confundir número de tools con número de iteraciones del agente. Pregunta para la audiencia: ¿qué incremento cambió más la arquitectura de su equipo y por qué? Vínculo con el laboratorio: tabla de Entregables de lab/README.md; los checkpoints de referencia están en solucion/&lt;track&gt;/ de cada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 unos 5 min dentro del bloque] Qué explicar, en orden: recorrer los nodos: Cliente → caja HF Spaces que contiene FastAPI → Agente. GET /health es público junto a FastAPI; la petición con X-API-Key va hacia el Agente (en S11 el cliente usa /chat/stream con la misma cabecera). El Agente se conecta por flechas separadas a Modelo remoto, Simulador API y Qdrant. Una flecha discontinua pasa por el Enmascarador y llega a Langfuse (S9). Usar la arquitectura para sustentar alternativas, criterios y consecuencias, y explicar que SSE fragmenta la salida después de validar, sin generación token a token. Ejemplo MercaSur: consulta de pedido, política recuperada y salida validada desde el cliente web. Ante un reinicio del Space, el historial por proceso desaparece: es un límite y la razón de la evidencia de contingencia. Error frecuente: presentar el checkpoint didáctico como despliegue industrial completo. Pregunta para la audiencia: ¿qué decisión defenderían si les preguntan por memoria durable o aprobación humana? Vínculo con el laboratorio: solucion/&lt;track&gt;/api.py (/health, /chat y /chat/stream). La imagen no aporta mediciones.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[Apoyo pre-work · conceptos-previos §3] Qué explicar, en orden: 1) Server-Sent Events es un flujo de eventos unidireccional del servidor al cliente sobre una única conexión HTTP. 2) Cada evento es una línea data: &lt;contenido&gt; seguida de una línea en blanco (\n\n). 3) En el checkpoint, api.py envía un evento por fragmento y cierra el flujo con data: [DONE]. 4) Frente a WebSockets: SSE es unidireccional y más simple de implementar sobre HTTP estándar; alcanza para mostrar la respuesta palabra por palabra en vez de esperar a que termine. Pregunta para la audiencia: si el navegador no necesita enviar nada mientras recibe, ¿qué ganaría el proyecto con WebSockets? Vínculo con el laboratorio: solucion/&lt;track&gt;/api.py, función chat_stream (StreamingResponse con media_type text/event-stream).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Qué explicar, en orden: 1) EventSource es la API nativa del navegador para SSE, pero solo admite GET y no permite enviar cabeceras propias. 2) Sin cabeceras, X-API-Key tendría que ir en la URL como query param y quedaría en logs y en el historial del navegador. 3) Por eso el cliente usa fetch() con POST y lee resp.body.getReader(): decodifica los eventos a mano, con un buffer que separa por doble salto de línea y guarda el último trozo incompleto para la siguiente lectura. Señalar la línea resaltada: la key viaja en la cabecera. El extracto está reformateado; el original está en code/index.html. Pregunta para la audiencia: ¿qué quedaría expuesto si la API key viajara en la URL? Vínculo con el laboratorio: L11 Parte 1, code/index.html (listener del botón Enviar: fetch, getReader y TextDecoder).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 construcción progresiva 1/5] Qué explicar, en orden: 1) Presentar la composición que se mantiene en las cinco diapositivas: cliente web, FastAPI, el Agent como contenedor con el LLM y el runtime, tools y retriever hacia el simulador y Qdrant, guardrail de salida y memory. 2) Foco en la petición: fetch() envía POST /chat/stream con la cabecera X-API-Key y el cuerpo { mensaje }. 3) chat_stream llama a _verificar_key: sin key o con una incorrecta responde 401; si el servidor no tiene AGENT_API_KEY, 500. 4) Antes del bucle, responder_streaming aplica guardrails.check_input: si la entrada se bloquea, envía la respuesta de bloqueo y termina. 5) El cliente de referencia no envía thread_id, así que cada mensaje abre una conversación aislada. Pregunta para la audiencia: ¿por qué la API key del equipo no demuestra quién es el cliente final? Vínculo con el laboratorio: solucion/&lt;track&gt;/api.py (chat_stream, _verificar_key) y code/index.html.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 construcción progresiva 2/5] Qué explicar, en orden: 1) responder_streaming no transmite mientras el agente trabaja: reutiliza _run_conversation, igual que responder. 2) Dentro del Agent se repite el bucle del curso: el LLM propone un tool call y el runtime lo ejecuta contra las tools y el retriever (simulador y Qdrant); el resultado vuelve al LLM. 3) Recalcar la regla: el LLM propone, el runtime ejecuta; no hay flecha directa del LLM a los servicios. 4) El historial llega como contexto desde la memoria del proceso (flecha discontinua). 5) Mientras tanto, el navegador no recibe ningún fragmento. Pregunta para la audiencia: ¿qué nota el usuario si el agente necesita varias iteraciones del bucle antes de responder? Vínculo con el laboratorio: solucion/&lt;track&gt;/agent.py, funciones responder_streaming y _run_conversation.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 construcción progresiva 3/5] Qué explicar, en orden: 1) guardrails.check_output solo puede evaluar el texto completo de la respuesta. 2) Si se transmitieran tokens en vivo desde el modelo, un guardrail que detecta el problema al final ya habría dejado escapar el contenido: el cliente ya lo habría visto. 3) Por eso el checkpoint prioriza el guardrail de la S6: primero valida y después fragmenta. 4) Cobertura limitada: el guardrail cubre los patrones implementados en el L6, no todas las variantes de un ataque. Pregunta para la audiencia: ¿qué tendría que cambiar en el diseño para transmitir tokens en vivo sin perder el control de salida? Dejarla abierta: el checkpoint no lo implementa. Vínculo con el laboratorio: guardrails.check_output, llamado desde responder_streaming en solucion/&lt;track&gt;/agent.py.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 construcción progresiva 4/5] Qué explicar, en orden: 1) responder_streaming divide el texto seguro por espacios y entrega una palabra por vez. 2) chat_stream convierte cada fragmento en un evento data: {"delta": ...} y cierra con data: [DONE], como StreamingResponse de tipo text/event-stream. 3) En el navegador, index.html acumula los bytes en un buffer, separa por doble salto de línea, parsea el JSON y añade cada delta a la respuesta; con [DONE] el estado pasa a listo. 4) Si guardrails.needs_escalation detecta el caso, al final se añade el aviso de derivación a un asesor humano. Pregunta para la audiencia: ¿por qué el cliente guarda el último trozo del buffer en vez de procesarlo de inmediato? Vínculo con el laboratorio: solucion/&lt;track&gt;/api.py (chat_stream y su generador eventos) y code/index.html.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 construcción progresiva 5/5] Qué explicar, en orden: 1) Alcance del checkpoint web: la interfaz es progresiva, pero no reduce el tiempo hasta completar la generación del modelo (flecha activa: el texto completo llega antes que el primer fragmento). 2) El historial heredado del L5 vive en memoria del proceso y se pierde al reiniciar el Space. 3) El despliegue del curso no incorpora persistencia durable. 4) Dato del código: el cliente de referencia no envía thread_id, así que desde index.html cada mensaje es una conversación aislada. Presentarlo como límite conocido, no como defecto oculto: saber dónde no funciona el sistema es lo que distingue a un Destacado. Pregunta para la audiencia: si el panel pregunta por memoria durable, ¿qué alternativa descartaron y con qué criterio? Vínculo con el laboratorio: sección 4 (Evidencia) del documento de diseño, lab/&lt;track&gt;/documento-diseno.md.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Qué explicar, en orden: recorrer las tres filas con el estado que muestra el cliente (conectando..., recibiendo..., listo). 1) Cold start: el Space dormido tarda en responder; es la misma latencia del L8 y se reduce despertándolo antes de la demo. 2) Error 401: la key del formulario no coincide con el Space secret; copiar el valor exacto. 3) CORS: index.html se abre como file:// y el navegador bloquea la petición si el Space no envía cabeceras CORS; por eso api.py añade CORSMiddleware. Recordar el error esperable del guion: si el cliente se implementa con un fetch normal que espera toda la respuesta, funciona igual, pero se pierde el objetivo 1 y se anota. Pregunta para la audiencia: ¿cómo distinguirían en la consola del navegador un 401 de un error de CORS? Vínculo con el laboratorio: L11 Parte 1; solucion/&lt;track&gt;/api.py (CORSMiddleware, _verificar_key) y code/index.html.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[Apoyo pre-work · conceptos-previos §4 · abre el bloque 0] Qué explicar, en orden: 1) Una decisión de arquitectura tiene tres partes: alternativa descartada → criterio → consecuencia. En foco, las dos que el panel busca primero. 2) Contrastar las dos frases del repositorio: «Usamos Qdrant» es un dato; la frase completa nombra lo que se descartó (un índice en memoria) y el criterio (que el corpus sobreviva al reinicio del Space y poder filtrar por metadatos para citar). 3) El mismo marco sostiene el movimiento 3 de la demo y la sección 3 del documento de diseño (5 decisiones). Pregunta para la audiencia: elijan una decisión de su proyecto y díganla en una frase, con su alternativa descartada y su criterio. Vínculo con el laboratorio: recursos/plantillas/plantilla-documento-diseno.md, sección 3 · Decisiones.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 construcción progresiva 1/2] Qué explicar, en orden: los tiempos son sobre 10 minutos. 1) El caso de uso en una frase, y a quién sirve (1 min). 2) La demo funcionando: una consulta completa, de principio a fin (3). 3) La decisión de arquitectura de la que están más orgullosos, con su alternativa descartada (3). 4) El número: qué midieron en el L10 y qué mejoró (1). Cierra el Q&amp;A del panel (2). Los minutos reales por equipo salen de la aritmética de la ronda: el piso es 8 y el Q&amp;A nunca se recorta. Pregunta para la audiencia: ¿qué consulta usarían en el movimiento 2 para recorrer una tool o el RAG y terminar en una respuesta citada? Vínculo con el laboratorio: L11 Parte 4, ensayo cronometrado siguiendo los 4 movimientos.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 construcción progresiva 2/2] Qué explicar, en orden: 1) El movimiento 3 es el que separa una buena sustentación de una narración de código. 2) El panel verifica si el equipo nombra una alternativa descartada y un criterio, o si se queda en «usamos X». 3) En la rúbrica, quedarse en «usamos X» deja la Comunicación técnica en En desarrollo. 4) Errores esperables del guion: la demo narra el código (no se preparó el movimiento 3), se pasa de tiempo (no se cronometró) o el equipo no sabe qué mejoró en el L10 (se cambiaron varias cosas a la vez). Pregunta para la audiencia: ¿qué decisión llevarían al movimiento 3 y qué alternativa descartaron? Vínculo con el laboratorio: sección 3 del documento de diseño (lab/&lt;track&gt;/documento-diseno.md) y Parte 4 del L11.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Qué explicar, en orden: 1) 24 h antes de la sustentación, cada equipo entrega cuatro evidencias: URL pública del Space (L8), API key para el panel, captura de una traza en Langfuse (L9) y la salida de verificar_despliegue.py en verde. 2) El verificador corre desde fuera: GET /health sin credencial debe dar 200; POST /chat con la key correcta, 200; sin key y con una key incorrecta, 401. También avisa de un posible cold start. 3) Es lo que se hace en una entrega real: dejar evidencia antes de que algo pueda fallar. Pregunta para la audiencia: ¿qué evidencia de su sistema sigue valiendo aunque el Space esté dormido el día de la demo? Vínculo con el laboratorio: L11 Parte 3, docente/verificar_despliegue.py con --url y --key; guardar la salida completa y una captura de una traza reciente.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Qué explicar, en orden: 1) Si el Space responde el día de la demo, se sustenta contra la URL pública. 2) Si duerme o falla, la pregunta pasa a ser otra: ¿entregaron la evidencia de las 24 h? Si la entregaron, se sustenta en local sin penalización y el panel lo anota en la rúbrica. 3) Si no la entregaron, sí hay penalización: la funcionalidad no se puede verificar en vivo e impacta el criterio de Funcionalidad. 4) Fundamento: la nota evalúa diseño, evidencia y argumentación, no la disponibilidad de un tier gratuito; sin evidencia, el fallo no es del free tier, es no haber previsto que podía fallar. Para el panel: confirmar la entrega de 24 h de cada equipo, marcar «sin evidencia previa» a quien no la envió y despertar los Spaces 5 min antes. Pregunta para la audiencia: ¿qué harían antes de su turno para reducir el riesgo de cold start? Vínculo con el laboratorio: evidencia de la Parte 3 del L11; regla en recursos/rubricas/rubrica-final.md.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Qué explicar, en orden: 1) Cuatro secciones, cuatro páginas como máximo. Caso de uso: qué resuelve, para quién y qué no resuelve. Arquitectura: diagrama C4 nivel 1 (contexto) y nivel 2 (contenedores) o equivalente; un ASCII claro cumple. Decisiones: 5, cada una con su alternativa descartada y su criterio. Evidencia: métricas del L10, cuellos del L9 y qué harían con una semana más. 2) La plantilla pide señalar dónde vive la observabilidad (L9) y dónde se aplican los guardrails (L6). 3) La sección 4 importa más de lo que parece: decir qué falta es señal de que se entendió el sistema. Pregunta para la audiencia: ¿qué escribirían hoy en «qué harían con una semana más»? Vínculo con el laboratorio: L11 Parte 2; recursos/plantillas/plantilla-documento-diseno.md → lab/&lt;track&gt;/documento-diseno.md.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[Apoyo pre-work · conceptos-previos §2] Qué explicar, en orden: 1) FastAPI expone automáticamente /docs (Swagger UI) y /openapi.json a partir de los modelos Pydantic; no hace falta escribir la especificación a mano. 2) En el checkpoint, los modelos son ChatRequest (mensaje y thread_id opcional) y ChatResponse (respuesta), y los endpoints son /health, /chat y /chat/stream. 3) Es parte del entregable: un evaluador puede explorar la API sin leer el código. Pregunta para la audiencia: ¿qué debería mostrar /docs para que un evaluador sepa cómo llamar a su agente sin preguntarles? Vínculo con el laboratorio: solucion/&lt;track&gt;/api.py (ChatRequest, ChatResponse y los tres endpoints).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Qué explicar, en orden: 1) El L11 dura 2 h y se hace antes de la sesión en vivo, no durante. 2) Parte 1 (50 min): añadir /chat/stream a api.py, que consume responder_streaming(), y adaptar code/index.html cambiando solo lo necesario; la lógica de fetch() + ReadableStream no cambia entre tracks. 3) Parte 2 (40 min): documento de diseño con la plantilla. 4) Parte 3 (20 min): verificar_despliegue.py y captura de una traza reciente en Langfuse, para la entrega de 24 h. 5) Parte 4 (10 min): ensayo cronometrado. Tracks: Telecomunicaciones · AndesMóvil, Banca · Banco Inti, Retail · MercaSur y Seguros · Andina Seguros; cada uno tiene su enunciado. Pregunta para la audiencia: ¿qué parte les tomó más de lo previsto y qué revela eso de su sistema? Vínculo con el laboratorio: lab/README.md y lab/&lt;track&gt;/enunciado.md; referencia en solucion/&lt;track&gt;/ (api.py y agent.py).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Qué explicar, en orden: recorrer la tabla y señalar de dónde viene cada entregable: agente desplegado con URL pública y API key (L8), trazas en Langfuse del Space real (L9), evaluación v1 vs v2 sobre 30 casos (L10), cliente HTML con streaming y documento de diseño con diagrama de arquitectura (nuevos, L11) y la demo end-to-end ante panel (día de la S11). Remarcar que los entregables del L8 al L10 ya existen: el trabajo de hoy es cerrarlos y demostrarlos. Pregunta para la audiencia: ¿cuál de estos entregables está hoy más débil en su equipo y qué harían para cerrarlo? Vínculo con el laboratorio: modulo-3-produccion/sesion-11-sustentacion-final/proyecto-integrador.md (enunciado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Qué explicar, en orden: 1) Calendario: entrega anticipada 24 h antes; bloque 1, ensayo cronometrado (30 min); bloque 2, sustentaciones ante panel (105 min); bloque 3, cierre del módulo (5 min). 2) Aritmética de la ronda: 105 minutos divididos entre el número de equipos, calculada antes de la sesión con los inscritos reales. 3) Regla: 8 minutos por equipo es el piso; por debajo no hay Q&amp;A. Si los números no dan, se amplía con parte de las 2 h de laboratorio; con más de 16 equipos, dos paneles en paralelo. Nunca se recorta el Q&amp;A: ahí se ve si el equipo entendió lo que construyó. Para el panel: confirmar los minutos con los inscritos reales, tener la rúbrica impresa por evaluador y despertar los Spaces de los primeros equipos 5 min antes. Pregunta para la audiencia: ¿por qué el Q&amp;A dice más que una demo perfecta? Vínculo con el laboratorio: L11 Parte 4; proyecto-integrador.md, sección Calendario.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Qué explicar, en orden: 1) Es la única evaluación del curso donde los 5 criterios institucionales aplican completos: hasta la S9 no existía observabilidad que calificar. 2) Recorrer pesos y qué se mira: Funcionalidad 25 %, Diseño de tools y prompts 20 %, Guardrails y manejo de errores 20 %, Observabilidad y evaluación 20 %, Comunicación técnica 15 %. 3) Cuatro niveles, escala 1 (Insuficiente) a 4 (Destacado); la nota es la suma ponderada sobre 4. 4) Regla de contingencia: con la evidencia de 24 h entregada, una demo local por caída del Space no penaliza ningún criterio. Pregunta para la audiencia: ¿qué criterio les costará más llevar a Competente y por qué? Vínculo con el laboratorio: recursos/rubricas/rubrica-final.md; docente/matriz_seleccion.py (L4) y los 3 evaluators del L10 respaldan dos de los criterios.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Qué explicar, en orden: 1) Destacado significa cumplir todo y además defender decisiones no obvias. 2) Recorrer los cinco descriptores y señalar el patrón común: no es que todo funcione, es que el equipo sepa dónde no funciona y por qué. 3) Un equipo que muestra su peor caso, explica su causa y dice qué haría ha entendido más que uno cuya demo salió perfecta. Para el panel, por movimiento: ¿queda claro a quién sirve?, ¿la demo corrió sin intervención del equipo?, ¿nombra una alternativa descartada y un criterio?, ¿cita una métrica real del L10?, ¿responde el Q&amp;A con criterio propio? Pregunta para la audiencia: ¿cuál es el peor caso conocido de su sistema y lo mostrarían en vivo? Vínculo con el laboratorio: sección 4 (Evidencia) del documento de diseño; docente/matriz_seleccion.py; la distinción entre juez y evaluators del L10.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 cierre] Qué explicar, en orden: recorrer el flujo: Entrada → Control de entrada → LLM. El LLM propone un Tool Call → Control de acción → el runtime ejecuta la Tool → el resultado vuelve al LLM. Respuesta del LLM → Control de salida → Usuario. Mensaje: el control se ejecuta fuera del modelo y se prueba. Conexión con hoy: por el control de salida, el cliente de S11 recibe fragmentos de un texto ya validado. Cobertura limitada: los controles aplican solo a las condiciones implementadas; una regex de DNI no detecta todas las formas de información personal. No mostrar autenticación ni aprobación humana como funcionalidad implementada. Error frecuente: confundir un control determinístico acotado con seguridad universal. Pregunta para la audiencia: ¿por qué confirmado_por_cliente=true propuesto por el LLM no demuestra aprobación humana? Vínculo con el laboratorio: criterio Guardrails y manejo de errores (20 %): 0 filtraciones de los 15 ataques del L6 y PII enmascarada en la salida y en las trazas.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 cierre] Qué explicar, en orden: el golden dataset se bifurca a Agente v1 y Agente v2; cada uno entrega respuesta, tools y contexto a los evaluadores; de ahí salen la tabla comparativa y la decisión documentada. Los casos no aplicables se separan del conteo de aciertos, y el proxy léxico exige revisar la fuente. Mensaje: determinístico no significa completo; registrar qué mide cada evaluator. Conexión con hoy: es el movimiento 4 de la demo, el número, y el criterio Observabilidad y evaluación (20 %): una mejora v1→v2, o un experimento negativo, argumentada con el cambio que la causó. La diapositiva no muestra cifras: cada equipo cita las de su propia ejecución. Pregunta para la audiencia: ¿qué fallo no detecta la coincidencia léxica del evaluador? Vínculo con el laboratorio: comun/evaluadores.py y los resultados v1 vs v2 del L10 de cada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Qué explicar, en orden: 1) Foundry no entra hoy: es el bonus asíncrono y se libera al cerrar la sesión. 2) No hay contenido nuevo de agentes: hoy se cierra lo construido. No adelantar el contenido del bonus. Pregunta para la audiencia: ¿qué quedó fuera de su proyecto que hoy deberían declarar como límite ante el panel? Vínculo con el laboratorio: ninguno nuevo; los límites se declaran en la sección 4 (Evidencia) del documento de diseño.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[Núcleo en vivo · bloque 3] Qué explicar, en orden: resumir en tres puntos: 1) cerrar, no inventar: cliente con streaming y documento de diseño sobre el proyecto acumulado; 2) argumentar: alternativa descartada → criterio → consecuencia; 3) evidenciar: entregada 24 h antes y mostrando dónde no funciona el sistema. Después, anunciar que se libera el bonus de Microsoft Foundry: asíncrono, con acreditación adicional no ponderada. No explicar su contenido. Para el panel: confirmar que las notas de los 5 criterios quedaron registradas por equipo antes de anunciar el bonus. Pregunta para la audiencia: ¿qué decisión de arquitectura de su proyecto defenderían igual dentro de seis meses? Vínculo con el laboratorio: modulo-4-plus-foundry/README.md, disponible al cerrar la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14" r="-14" t="0" b="0"/>
          <a:stretch/>
        </p:blipFill>
        <p:spPr>
          <a:xfrm>
            <a:off x="0" y="0"/>
            <a:ext cx="12192000" cy="1422400"/>
          </a:xfrm>
          <a:prstGeom prst="rect">
            <a:avLst/>
          </a:prstGeom>
        </p:spPr>
      </p:pic>
      <p:sp>
        <p:nvSpPr>
          <p:cNvPr id="3" name="Text 0"/>
          <p:cNvSpPr/>
          <p:nvPr/>
        </p:nvSpPr>
        <p:spPr>
          <a:xfrm>
            <a:off x="812800" y="3705027"/>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IA Agent Building · Módulo 3 · Producción</a:t>
            </a:r>
            <a:endParaRPr lang="en-US" sz="1600" dirty="0"/>
          </a:p>
        </p:txBody>
      </p:sp>
      <p:sp>
        <p:nvSpPr>
          <p:cNvPr id="4" name="Text 1"/>
          <p:cNvSpPr/>
          <p:nvPr/>
        </p:nvSpPr>
        <p:spPr>
          <a:xfrm>
            <a:off x="812800" y="4188619"/>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S11 · Aplicación final y sustentación</a:t>
            </a:r>
            <a:endParaRPr lang="en-US" sz="3600" dirty="0"/>
          </a:p>
        </p:txBody>
      </p:sp>
      <p:sp>
        <p:nvSpPr>
          <p:cNvPr id="5" name="Text 2"/>
          <p:cNvSpPr/>
          <p:nvPr/>
        </p:nvSpPr>
        <p:spPr>
          <a:xfrm>
            <a:off x="812800" y="4899223"/>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Semana 6 · martes · 6 h (1.5 h teoría · 4.5 h práctica)</a:t>
            </a:r>
            <a:endParaRPr lang="en-US" sz="1600" dirty="0"/>
          </a:p>
        </p:txBody>
      </p:sp>
      <p:sp>
        <p:nvSpPr>
          <p:cNvPr id="6" name="Text 3"/>
          <p:cNvSpPr/>
          <p:nvPr/>
        </p:nvSpPr>
        <p:spPr>
          <a:xfrm>
            <a:off x="812800" y="5230416"/>
            <a:ext cx="10883392" cy="305792"/>
          </a:xfrm>
          <a:prstGeom prst="rect">
            <a:avLst/>
          </a:prstGeom>
          <a:noFill/>
          <a:ln/>
        </p:spPr>
        <p:txBody>
          <a:bodyPr wrap="square" lIns="0" tIns="0" rIns="0" bIns="0" rtlCol="0" anchor="t">
            <a:normAutofit/>
          </a:bodyPr>
          <a:lstStyle/>
          <a:p>
            <a:pPr algn="l" indent="0" marL="0">
              <a:lnSpc>
                <a:spcPts val="2208"/>
              </a:lnSpc>
              <a:buNone/>
            </a:pPr>
            <a:r>
              <a:rPr lang="en-US" sz="1600" b="1" dirty="0">
                <a:solidFill>
                  <a:srgbClr val="1E293B"/>
                </a:solidFill>
                <a:latin typeface="IBM Plex Sans" pitchFamily="34" charset="0"/>
                <a:ea typeface="IBM Plex Sans" pitchFamily="34" charset="-122"/>
                <a:cs typeface="IBM Plex Sans" pitchFamily="34" charset="-120"/>
              </a:rPr>
              <a:t>Hito:</a:t>
            </a:r>
            <a:r>
              <a:rPr lang="en-US" sz="1600" dirty="0">
                <a:solidFill>
                  <a:srgbClr val="1E293B"/>
                </a:solidFill>
                <a:latin typeface="IBM Plex Sans" pitchFamily="34" charset="0"/>
                <a:ea typeface="IBM Plex Sans" pitchFamily="34" charset="-122"/>
                <a:cs typeface="IBM Plex Sans" pitchFamily="34" charset="-120"/>
              </a:rPr>
              <a:t> Proyecto Integrador — 100 % del Módulo 3</a:t>
            </a:r>
            <a:endParaRPr lang="en-US" sz="1600" dirty="0"/>
          </a:p>
        </p:txBody>
      </p:sp>
      <p:sp>
        <p:nvSpPr>
          <p:cNvPr id="7" name="Text 4"/>
          <p:cNvSpPr/>
          <p:nvPr/>
        </p:nvSpPr>
        <p:spPr>
          <a:xfrm>
            <a:off x="812800" y="5561608"/>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Hoy se cierra: no hay contenido nuevo de agentes</a:t>
            </a:r>
            <a:endParaRPr lang="en-US" sz="1600" dirty="0"/>
          </a:p>
        </p:txBody>
      </p:sp>
      <p:sp>
        <p:nvSpPr>
          <p:cNvPr id="8" name="Text 5"/>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01/29</a:t>
            </a:r>
            <a:endParaRPr lang="en-US" sz="1200" dirty="0"/>
          </a:p>
        </p:txBody>
      </p:sp>
      <p:pic>
        <p:nvPicPr>
          <p:cNvPr id="9" name="Image 1" descr="Logo de 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La sesión dura 180 minutos en cinco bloques</a:t>
            </a:r>
            <a:endParaRPr lang="en-US" sz="3600" dirty="0"/>
          </a:p>
        </p:txBody>
      </p:sp>
      <p:pic>
        <p:nvPicPr>
          <p:cNvPr id="3" name="Image 0" descr="Línea de tiempo de 180 minutos: bloque 0 de teoría, pausa, ensayo, sustentaciones y cierre">    </p:cNvPr>
          <p:cNvPicPr>
            <a:picLocks noChangeAspect="1"/>
          </p:cNvPicPr>
          <p:nvPr/>
        </p:nvPicPr>
        <p:blipFill>
          <a:blip r:embed="rId1"/>
          <a:srcRect l="-33" r="-33" t="0" b="0"/>
          <a:stretch/>
        </p:blipFill>
        <p:spPr>
          <a:xfrm>
            <a:off x="812800" y="1523405"/>
            <a:ext cx="10566400" cy="2413000"/>
          </a:xfrm>
          <a:prstGeom prst="rect">
            <a:avLst/>
          </a:prstGeom>
        </p:spPr>
      </p:pic>
      <p:sp>
        <p:nvSpPr>
          <p:cNvPr id="4" name="Text 1"/>
          <p:cNvSpPr/>
          <p:nvPr/>
        </p:nvSpPr>
        <p:spPr>
          <a:xfrm>
            <a:off x="812800" y="3072805"/>
            <a:ext cx="1759395" cy="885825"/>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0 · Cómo se argumenta ante un panel</a:t>
            </a:r>
            <a:endParaRPr lang="en-US" sz="1400" dirty="0"/>
          </a:p>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30 min · teoría</a:t>
            </a:r>
            <a:endParaRPr lang="en-US" sz="1400" dirty="0"/>
          </a:p>
        </p:txBody>
      </p:sp>
      <p:sp>
        <p:nvSpPr>
          <p:cNvPr id="5" name="Text 2"/>
          <p:cNvSpPr/>
          <p:nvPr/>
        </p:nvSpPr>
        <p:spPr>
          <a:xfrm>
            <a:off x="2343150" y="1879005"/>
            <a:ext cx="1701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Pausa · 10 min</a:t>
            </a:r>
            <a:endParaRPr lang="en-US" sz="1400" dirty="0"/>
          </a:p>
        </p:txBody>
      </p:sp>
      <p:sp>
        <p:nvSpPr>
          <p:cNvPr id="6" name="Text 3"/>
          <p:cNvSpPr/>
          <p:nvPr/>
        </p:nvSpPr>
        <p:spPr>
          <a:xfrm>
            <a:off x="3244850" y="3072805"/>
            <a:ext cx="1759395" cy="670719"/>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1 · Ensayo cronometrado</a:t>
            </a:r>
            <a:endParaRPr lang="en-US" sz="1400" dirty="0"/>
          </a:p>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30 min · práctica</a:t>
            </a:r>
            <a:endParaRPr lang="en-US" sz="1400" dirty="0"/>
          </a:p>
        </p:txBody>
      </p:sp>
      <p:sp>
        <p:nvSpPr>
          <p:cNvPr id="7" name="Text 4"/>
          <p:cNvSpPr/>
          <p:nvPr/>
        </p:nvSpPr>
        <p:spPr>
          <a:xfrm>
            <a:off x="5029200" y="3072805"/>
            <a:ext cx="6167691" cy="455613"/>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2 · Sustentaciones ante panel</a:t>
            </a:r>
            <a:endParaRPr lang="en-US" sz="1400" dirty="0"/>
          </a:p>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105 min · práctica</a:t>
            </a:r>
            <a:endParaRPr lang="en-US" sz="1400" dirty="0"/>
          </a:p>
        </p:txBody>
      </p:sp>
      <p:sp>
        <p:nvSpPr>
          <p:cNvPr id="8" name="Text 5"/>
          <p:cNvSpPr/>
          <p:nvPr/>
        </p:nvSpPr>
        <p:spPr>
          <a:xfrm>
            <a:off x="9417050" y="1879005"/>
            <a:ext cx="1962150" cy="240506"/>
          </a:xfrm>
          <a:prstGeom prst="rect">
            <a:avLst/>
          </a:prstGeom>
          <a:noFill/>
          <a:ln/>
        </p:spPr>
        <p:txBody>
          <a:bodyPr wrap="square" lIns="0" tIns="0" rIns="0" bIns="0" rtlCol="0" anchor="t">
            <a:normAutofit/>
          </a:bodyPr>
          <a:lstStyle/>
          <a:p>
            <a:pPr algn="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3 · Cierre · 5 min</a:t>
            </a:r>
            <a:endParaRPr lang="en-US" sz="1400" dirty="0"/>
          </a:p>
        </p:txBody>
      </p:sp>
      <p:sp>
        <p:nvSpPr>
          <p:cNvPr id="9" name="Text 6"/>
          <p:cNvSpPr/>
          <p:nvPr/>
        </p:nvSpPr>
        <p:spPr>
          <a:xfrm>
            <a:off x="812800" y="4139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Antes de la sesión: pre-work de 1 h, Laboratorio L11 de 2 h y entrega anticipada 24 h antes.</a:t>
            </a:r>
            <a:endParaRPr lang="en-US" sz="1600" dirty="0"/>
          </a:p>
        </p:txBody>
      </p:sp>
      <p:sp>
        <p:nvSpPr>
          <p:cNvPr id="10" name="Text 7"/>
          <p:cNvSpPr/>
          <p:nvPr/>
        </p:nvSpPr>
        <p:spPr>
          <a:xfrm>
            <a:off x="812800" y="4470797"/>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Teoría 30 · práctica 140 · pausa 10 → con pre-work y laboratorio: 1.5 h / 4.5 h.</a:t>
            </a:r>
            <a:endParaRPr lang="en-US" sz="1600" dirty="0"/>
          </a:p>
        </p:txBody>
      </p:sp>
      <p:sp>
        <p:nvSpPr>
          <p:cNvPr id="11" name="Text 8"/>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02/29</a:t>
            </a:r>
            <a:endParaRPr lang="en-US" sz="1200" dirty="0"/>
          </a:p>
        </p:txBody>
      </p:sp>
      <p:pic>
        <p:nvPicPr>
          <p:cNvPr id="12" name="Image 1" descr="Logo de 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Cuatro objetivos cierran el curso</a:t>
            </a:r>
            <a:endParaRPr lang="en-US" sz="3600" dirty="0"/>
          </a:p>
        </p:txBody>
      </p:sp>
      <p:sp>
        <p:nvSpPr>
          <p:cNvPr id="3" name="Shape 1"/>
          <p:cNvSpPr/>
          <p:nvPr/>
        </p:nvSpPr>
        <p:spPr>
          <a:xfrm>
            <a:off x="819150" y="1529755"/>
            <a:ext cx="5168900" cy="1512689"/>
          </a:xfrm>
          <a:prstGeom prst="roundRect">
            <a:avLst>
              <a:gd name="adj" fmla="val 6297"/>
            </a:avLst>
          </a:prstGeom>
          <a:solidFill>
            <a:srgbClr val="FFFFFF"/>
          </a:solidFill>
          <a:ln w="12700">
            <a:solidFill>
              <a:srgbClr val="1E293B"/>
            </a:solidFill>
            <a:prstDash val="solid"/>
          </a:ln>
        </p:spPr>
      </p:sp>
      <p:sp>
        <p:nvSpPr>
          <p:cNvPr id="4" name="Text 2"/>
          <p:cNvSpPr/>
          <p:nvPr/>
        </p:nvSpPr>
        <p:spPr>
          <a:xfrm>
            <a:off x="1079500" y="1790105"/>
            <a:ext cx="4787646"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1</a:t>
            </a:r>
            <a:endParaRPr lang="en-US" sz="2200" dirty="0"/>
          </a:p>
        </p:txBody>
      </p:sp>
      <p:sp>
        <p:nvSpPr>
          <p:cNvPr id="5" name="Text 3"/>
          <p:cNvSpPr/>
          <p:nvPr/>
        </p:nvSpPr>
        <p:spPr>
          <a:xfrm>
            <a:off x="1079500" y="2221309"/>
            <a:ext cx="4787646"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Consumir la propia API desde un cliente web, con </a:t>
            </a:r>
            <a:r>
              <a:rPr lang="en-US" sz="1600" b="1" dirty="0">
                <a:solidFill>
                  <a:srgbClr val="1E293B"/>
                </a:solidFill>
                <a:latin typeface="IBM Plex Sans" pitchFamily="34" charset="0"/>
                <a:ea typeface="IBM Plex Sans" pitchFamily="34" charset="-122"/>
                <a:cs typeface="IBM Plex Sans" pitchFamily="34" charset="-120"/>
              </a:rPr>
              <a:t>streaming</a:t>
            </a:r>
            <a:r>
              <a:rPr lang="en-US" sz="1600" dirty="0">
                <a:solidFill>
                  <a:srgbClr val="1E293B"/>
                </a:solidFill>
                <a:latin typeface="IBM Plex Sans" pitchFamily="34" charset="0"/>
                <a:ea typeface="IBM Plex Sans" pitchFamily="34" charset="-122"/>
                <a:cs typeface="IBM Plex Sans" pitchFamily="34" charset="-120"/>
              </a:rPr>
              <a:t>.</a:t>
            </a:r>
            <a:endParaRPr lang="en-US" sz="1600" dirty="0"/>
          </a:p>
        </p:txBody>
      </p:sp>
      <p:sp>
        <p:nvSpPr>
          <p:cNvPr id="6" name="Shape 4"/>
          <p:cNvSpPr/>
          <p:nvPr/>
        </p:nvSpPr>
        <p:spPr>
          <a:xfrm>
            <a:off x="6203950" y="1529755"/>
            <a:ext cx="5168900" cy="1512689"/>
          </a:xfrm>
          <a:prstGeom prst="roundRect">
            <a:avLst>
              <a:gd name="adj" fmla="val 6297"/>
            </a:avLst>
          </a:prstGeom>
          <a:solidFill>
            <a:srgbClr val="FFFFFF"/>
          </a:solidFill>
          <a:ln w="12700">
            <a:solidFill>
              <a:srgbClr val="1E293B"/>
            </a:solidFill>
            <a:prstDash val="solid"/>
          </a:ln>
        </p:spPr>
      </p:sp>
      <p:sp>
        <p:nvSpPr>
          <p:cNvPr id="7" name="Text 5"/>
          <p:cNvSpPr/>
          <p:nvPr/>
        </p:nvSpPr>
        <p:spPr>
          <a:xfrm>
            <a:off x="6464300" y="1790105"/>
            <a:ext cx="4787646"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2</a:t>
            </a:r>
            <a:endParaRPr lang="en-US" sz="2200" dirty="0"/>
          </a:p>
        </p:txBody>
      </p:sp>
      <p:sp>
        <p:nvSpPr>
          <p:cNvPr id="8" name="Text 6"/>
          <p:cNvSpPr/>
          <p:nvPr/>
        </p:nvSpPr>
        <p:spPr>
          <a:xfrm>
            <a:off x="6464300" y="2221309"/>
            <a:ext cx="4787646"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Documentar una arquitectura de agente de forma que otro ingeniero pueda operarla.</a:t>
            </a:r>
            <a:endParaRPr lang="en-US" sz="1600" dirty="0"/>
          </a:p>
        </p:txBody>
      </p:sp>
      <p:sp>
        <p:nvSpPr>
          <p:cNvPr id="9" name="Shape 7"/>
          <p:cNvSpPr/>
          <p:nvPr/>
        </p:nvSpPr>
        <p:spPr>
          <a:xfrm>
            <a:off x="819150" y="3258344"/>
            <a:ext cx="5168900" cy="1512689"/>
          </a:xfrm>
          <a:prstGeom prst="roundRect">
            <a:avLst>
              <a:gd name="adj" fmla="val 6297"/>
            </a:avLst>
          </a:prstGeom>
          <a:solidFill>
            <a:srgbClr val="FFFFFF"/>
          </a:solidFill>
          <a:ln w="12700">
            <a:solidFill>
              <a:srgbClr val="1E293B"/>
            </a:solidFill>
            <a:prstDash val="solid"/>
          </a:ln>
        </p:spPr>
      </p:sp>
      <p:sp>
        <p:nvSpPr>
          <p:cNvPr id="10" name="Text 8"/>
          <p:cNvSpPr/>
          <p:nvPr/>
        </p:nvSpPr>
        <p:spPr>
          <a:xfrm>
            <a:off x="1079500" y="3518694"/>
            <a:ext cx="4787646"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3</a:t>
            </a:r>
            <a:endParaRPr lang="en-US" sz="2200" dirty="0"/>
          </a:p>
        </p:txBody>
      </p:sp>
      <p:sp>
        <p:nvSpPr>
          <p:cNvPr id="11" name="Text 9"/>
          <p:cNvSpPr/>
          <p:nvPr/>
        </p:nvSpPr>
        <p:spPr>
          <a:xfrm>
            <a:off x="1079500" y="3949898"/>
            <a:ext cx="4787646" cy="586184"/>
          </a:xfrm>
          <a:prstGeom prst="rect">
            <a:avLst/>
          </a:prstGeom>
          <a:noFill/>
          <a:ln/>
        </p:spPr>
        <p:txBody>
          <a:bodyPr wrap="square" lIns="0" tIns="0" rIns="0" bIns="0" rtlCol="0" anchor="t">
            <a:normAutofit/>
          </a:bodyPr>
          <a:lstStyle/>
          <a:p>
            <a:pPr algn="l" indent="0" marL="0">
              <a:lnSpc>
                <a:spcPts val="2208"/>
              </a:lnSpc>
              <a:buNone/>
            </a:pPr>
            <a:r>
              <a:rPr lang="en-US" sz="1600" b="1" dirty="0">
                <a:solidFill>
                  <a:srgbClr val="1E293B"/>
                </a:solidFill>
                <a:latin typeface="IBM Plex Sans" pitchFamily="34" charset="0"/>
                <a:ea typeface="IBM Plex Sans" pitchFamily="34" charset="-122"/>
                <a:cs typeface="IBM Plex Sans" pitchFamily="34" charset="-120"/>
              </a:rPr>
              <a:t>Argumentar</a:t>
            </a:r>
            <a:r>
              <a:rPr lang="en-US" sz="1600" dirty="0">
                <a:solidFill>
                  <a:srgbClr val="1E293B"/>
                </a:solidFill>
                <a:latin typeface="IBM Plex Sans" pitchFamily="34" charset="0"/>
                <a:ea typeface="IBM Plex Sans" pitchFamily="34" charset="-122"/>
                <a:cs typeface="IBM Plex Sans" pitchFamily="34" charset="-120"/>
              </a:rPr>
              <a:t> una decisión de arquitectura: qué se eligió, qué se descartó y por qué.</a:t>
            </a:r>
            <a:endParaRPr lang="en-US" sz="1600" dirty="0"/>
          </a:p>
        </p:txBody>
      </p:sp>
      <p:sp>
        <p:nvSpPr>
          <p:cNvPr id="12" name="Shape 10"/>
          <p:cNvSpPr/>
          <p:nvPr/>
        </p:nvSpPr>
        <p:spPr>
          <a:xfrm>
            <a:off x="6203950" y="3258344"/>
            <a:ext cx="5168900" cy="1512689"/>
          </a:xfrm>
          <a:prstGeom prst="roundRect">
            <a:avLst>
              <a:gd name="adj" fmla="val 6297"/>
            </a:avLst>
          </a:prstGeom>
          <a:solidFill>
            <a:srgbClr val="FFFFFF"/>
          </a:solidFill>
          <a:ln w="12700">
            <a:solidFill>
              <a:srgbClr val="1E293B"/>
            </a:solidFill>
            <a:prstDash val="solid"/>
          </a:ln>
        </p:spPr>
      </p:sp>
      <p:sp>
        <p:nvSpPr>
          <p:cNvPr id="13" name="Text 11"/>
          <p:cNvSpPr/>
          <p:nvPr/>
        </p:nvSpPr>
        <p:spPr>
          <a:xfrm>
            <a:off x="6464300" y="3518694"/>
            <a:ext cx="4787646"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4</a:t>
            </a:r>
            <a:endParaRPr lang="en-US" sz="2200" dirty="0"/>
          </a:p>
        </p:txBody>
      </p:sp>
      <p:sp>
        <p:nvSpPr>
          <p:cNvPr id="14" name="Text 12"/>
          <p:cNvSpPr/>
          <p:nvPr/>
        </p:nvSpPr>
        <p:spPr>
          <a:xfrm>
            <a:off x="6464300" y="3949898"/>
            <a:ext cx="4787646"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Sostener un Q&amp;A técnico sobre decisiones propias.</a:t>
            </a:r>
            <a:endParaRPr lang="en-US" sz="1600" dirty="0"/>
          </a:p>
        </p:txBody>
      </p:sp>
      <p:sp>
        <p:nvSpPr>
          <p:cNvPr id="15" name="Text 13"/>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03/29</a:t>
            </a:r>
            <a:endParaRPr lang="en-US" sz="1200" dirty="0"/>
          </a:p>
        </p:txBody>
      </p:sp>
      <p:pic>
        <p:nvPicPr>
          <p:cNvPr id="16" name="Image 0" descr="Logo de 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Hoy se cierra el proyecto, no se inventa</a:t>
            </a:r>
            <a:endParaRPr lang="en-US" sz="3600" dirty="0"/>
          </a:p>
        </p:txBody>
      </p:sp>
      <p:pic>
        <p:nvPicPr>
          <p:cNvPr id="3" name="Image 0" descr="El proyecto acumulado por módulo: M1, M2, M3 y hoy el L11">    </p:cNvPr>
          <p:cNvPicPr>
            <a:picLocks noChangeAspect="1"/>
          </p:cNvPicPr>
          <p:nvPr/>
        </p:nvPicPr>
        <p:blipFill>
          <a:blip r:embed="rId1"/>
          <a:srcRect l="-56" r="-56" t="0" b="0"/>
          <a:stretch/>
        </p:blipFill>
        <p:spPr>
          <a:xfrm>
            <a:off x="812800" y="1523405"/>
            <a:ext cx="10566400" cy="1778000"/>
          </a:xfrm>
          <a:prstGeom prst="rect">
            <a:avLst/>
          </a:prstGeom>
        </p:spPr>
      </p:pic>
      <p:sp>
        <p:nvSpPr>
          <p:cNvPr id="4" name="Text 1"/>
          <p:cNvSpPr/>
          <p:nvPr/>
        </p:nvSpPr>
        <p:spPr>
          <a:xfrm>
            <a:off x="914400" y="1739305"/>
            <a:ext cx="1922907" cy="885825"/>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M1 · L1–L3</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entorno</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clasificador</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primera tool</a:t>
            </a:r>
            <a:endParaRPr lang="en-US" sz="1400" dirty="0"/>
          </a:p>
        </p:txBody>
      </p:sp>
      <p:sp>
        <p:nvSpPr>
          <p:cNvPr id="5" name="Text 2"/>
          <p:cNvSpPr/>
          <p:nvPr/>
        </p:nvSpPr>
        <p:spPr>
          <a:xfrm>
            <a:off x="2908300" y="2094905"/>
            <a:ext cx="711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suma</a:t>
            </a:r>
            <a:endParaRPr lang="en-US" sz="1200" dirty="0"/>
          </a:p>
        </p:txBody>
      </p:sp>
      <p:sp>
        <p:nvSpPr>
          <p:cNvPr id="6" name="Text 3"/>
          <p:cNvSpPr/>
          <p:nvPr/>
        </p:nvSpPr>
        <p:spPr>
          <a:xfrm>
            <a:off x="3746500" y="1739305"/>
            <a:ext cx="1922907" cy="1100931"/>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M2 · L4–L7</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catálogo de 4</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memoria + RAG</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guardrails</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endurecido</a:t>
            </a:r>
            <a:endParaRPr lang="en-US" sz="1400" dirty="0"/>
          </a:p>
        </p:txBody>
      </p:sp>
      <p:sp>
        <p:nvSpPr>
          <p:cNvPr id="7" name="Text 4"/>
          <p:cNvSpPr/>
          <p:nvPr/>
        </p:nvSpPr>
        <p:spPr>
          <a:xfrm>
            <a:off x="5740400" y="2094905"/>
            <a:ext cx="711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suma</a:t>
            </a:r>
            <a:endParaRPr lang="en-US" sz="1200" dirty="0"/>
          </a:p>
        </p:txBody>
      </p:sp>
      <p:sp>
        <p:nvSpPr>
          <p:cNvPr id="8" name="Text 5"/>
          <p:cNvSpPr/>
          <p:nvPr/>
        </p:nvSpPr>
        <p:spPr>
          <a:xfrm>
            <a:off x="6578600" y="1739305"/>
            <a:ext cx="1922907" cy="885825"/>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M3 · L8–L10</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desplegado</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trazabilidad</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evaluación</a:t>
            </a:r>
            <a:endParaRPr lang="en-US" sz="1400" dirty="0"/>
          </a:p>
        </p:txBody>
      </p:sp>
      <p:sp>
        <p:nvSpPr>
          <p:cNvPr id="9" name="Text 6"/>
          <p:cNvSpPr/>
          <p:nvPr/>
        </p:nvSpPr>
        <p:spPr>
          <a:xfrm>
            <a:off x="8572500" y="2094905"/>
            <a:ext cx="711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suma</a:t>
            </a:r>
            <a:endParaRPr lang="en-US" sz="1200" dirty="0"/>
          </a:p>
        </p:txBody>
      </p:sp>
      <p:sp>
        <p:nvSpPr>
          <p:cNvPr id="10" name="Text 7"/>
          <p:cNvSpPr/>
          <p:nvPr/>
        </p:nvSpPr>
        <p:spPr>
          <a:xfrm>
            <a:off x="9410700" y="1739305"/>
            <a:ext cx="1922907" cy="670719"/>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Hoy · L11</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cliente web</a:t>
            </a:r>
            <a:endParaRPr lang="en-US" sz="1400" dirty="0"/>
          </a:p>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 entrega</a:t>
            </a:r>
            <a:endParaRPr lang="en-US" sz="1400" dirty="0"/>
          </a:p>
        </p:txBody>
      </p:sp>
      <p:sp>
        <p:nvSpPr>
          <p:cNvPr id="11" name="Text 8"/>
          <p:cNvSpPr/>
          <p:nvPr/>
        </p:nvSpPr>
        <p:spPr>
          <a:xfrm>
            <a:off x="812800" y="3504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Lo único nuevo de hoy: el cliente HTML con streaming y el documento de diseño.</a:t>
            </a:r>
            <a:endParaRPr lang="en-US" sz="1600" dirty="0"/>
          </a:p>
        </p:txBody>
      </p:sp>
      <p:sp>
        <p:nvSpPr>
          <p:cNvPr id="12" name="Text 9"/>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04/29</a:t>
            </a:r>
            <a:endParaRPr lang="en-US" sz="1200" dirty="0"/>
          </a:p>
        </p:txBody>
      </p:sp>
      <p:pic>
        <p:nvPicPr>
          <p:cNvPr id="13" name="Image 1" descr="Logo de 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Esta es la arquitectura que van a sustentar</a:t>
            </a:r>
            <a:endParaRPr lang="en-US" sz="3600" dirty="0"/>
          </a:p>
        </p:txBody>
      </p:sp>
      <p:sp>
        <p:nvSpPr>
          <p:cNvPr id="3" name="Shape 1"/>
          <p:cNvSpPr/>
          <p:nvPr/>
        </p:nvSpPr>
        <p:spPr>
          <a:xfrm>
            <a:off x="2743200" y="1529755"/>
            <a:ext cx="6705600" cy="3822303"/>
          </a:xfrm>
          <a:prstGeom prst="roundRect">
            <a:avLst>
              <a:gd name="adj" fmla="val 2492"/>
            </a:avLst>
          </a:prstGeom>
          <a:solidFill>
            <a:srgbClr val="FFFFFF"/>
          </a:solidFill>
          <a:ln w="12700">
            <a:solidFill>
              <a:srgbClr val="CED8E3"/>
            </a:solidFill>
            <a:prstDash val="solid"/>
          </a:ln>
        </p:spPr>
      </p:sp>
      <p:pic>
        <p:nvPicPr>
          <p:cNvPr id="4" name="Image 0" descr="IMG-M03-S08-001 · Despliegue y observabilidad: Cliente, HF Spaces con FastAPI y Agente, Modelo remoto, Simulador API, Qdrant, Enmascarador y Langfuse">    </p:cNvPr>
          <p:cNvPicPr>
            <a:picLocks noChangeAspect="1"/>
          </p:cNvPicPr>
          <p:nvPr/>
        </p:nvPicPr>
        <p:blipFill>
          <a:blip r:embed="rId1"/>
          <a:srcRect l="-16" r="-16" t="0" b="0"/>
          <a:stretch/>
        </p:blipFill>
        <p:spPr>
          <a:xfrm>
            <a:off x="2800350" y="1586905"/>
            <a:ext cx="6591300" cy="3708400"/>
          </a:xfrm>
          <a:prstGeom prst="roundRect">
            <a:avLst>
              <a:gd name="adj" fmla="val 2055"/>
            </a:avLst>
          </a:prstGeom>
        </p:spPr>
      </p:pic>
      <p:sp>
        <p:nvSpPr>
          <p:cNvPr id="5" name="Text 2"/>
          <p:cNvSpPr/>
          <p:nvPr/>
        </p:nvSpPr>
        <p:spPr>
          <a:xfrm>
            <a:off x="812800" y="5561608"/>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endpoint del agente coordina servicios externos; las trazas son otra salida.</a:t>
            </a:r>
            <a:endParaRPr lang="en-US" sz="1600" dirty="0"/>
          </a:p>
        </p:txBody>
      </p:sp>
      <p:sp>
        <p:nvSpPr>
          <p:cNvPr id="6" name="Text 3"/>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05/29</a:t>
            </a:r>
            <a:endParaRPr lang="en-US" sz="1200" dirty="0"/>
          </a:p>
        </p:txBody>
      </p:sp>
      <p:pic>
        <p:nvPicPr>
          <p:cNvPr id="7" name="Image 1" descr="Logo de 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SSE envía eventos del servidor al navegador</a:t>
            </a:r>
            <a:endParaRPr lang="en-US" sz="3600" dirty="0"/>
          </a:p>
        </p:txBody>
      </p:sp>
      <p:pic>
        <p:nvPicPr>
          <p:cNvPr id="3" name="Image 0" descr="Server-Sent Events: el servidor envía eventos data al navegador por una sola conexión HTTP">    </p:cNvPr>
          <p:cNvPicPr>
            <a:picLocks noChangeAspect="1"/>
          </p:cNvPicPr>
          <p:nvPr/>
        </p:nvPicPr>
        <p:blipFill>
          <a:blip r:embed="rId1"/>
          <a:srcRect l="0" r="0" t="-55" b="-55"/>
          <a:stretch/>
        </p:blipFill>
        <p:spPr>
          <a:xfrm>
            <a:off x="812800" y="1523405"/>
            <a:ext cx="10566400" cy="2159000"/>
          </a:xfrm>
          <a:prstGeom prst="rect">
            <a:avLst/>
          </a:prstGeom>
        </p:spPr>
      </p:pic>
      <p:sp>
        <p:nvSpPr>
          <p:cNvPr id="4" name="Text 1"/>
          <p:cNvSpPr/>
          <p:nvPr/>
        </p:nvSpPr>
        <p:spPr>
          <a:xfrm>
            <a:off x="782320" y="2717205"/>
            <a:ext cx="209296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Servidor</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FastAPI</a:t>
            </a:r>
            <a:endParaRPr lang="en-US" sz="1400" dirty="0"/>
          </a:p>
        </p:txBody>
      </p:sp>
      <p:sp>
        <p:nvSpPr>
          <p:cNvPr id="5" name="Text 2"/>
          <p:cNvSpPr/>
          <p:nvPr/>
        </p:nvSpPr>
        <p:spPr>
          <a:xfrm>
            <a:off x="9316720" y="2717205"/>
            <a:ext cx="209296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Navegador</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cliente web</a:t>
            </a:r>
            <a:endParaRPr lang="en-US" sz="1400" dirty="0"/>
          </a:p>
        </p:txBody>
      </p:sp>
      <p:sp>
        <p:nvSpPr>
          <p:cNvPr id="6" name="Shape 3"/>
          <p:cNvSpPr/>
          <p:nvPr/>
        </p:nvSpPr>
        <p:spPr>
          <a:xfrm>
            <a:off x="3206750" y="2355255"/>
            <a:ext cx="1714500" cy="355600"/>
          </a:xfrm>
          <a:prstGeom prst="roundRect">
            <a:avLst>
              <a:gd name="adj" fmla="val 26786"/>
            </a:avLst>
          </a:prstGeom>
          <a:solidFill>
            <a:srgbClr val="FFFFFF"/>
          </a:solidFill>
          <a:ln w="12700">
            <a:solidFill>
              <a:srgbClr val="1E293B"/>
            </a:solidFill>
            <a:prstDash val="solid"/>
          </a:ln>
        </p:spPr>
      </p:sp>
      <p:sp>
        <p:nvSpPr>
          <p:cNvPr id="7" name="Text 4"/>
          <p:cNvSpPr/>
          <p:nvPr/>
        </p:nvSpPr>
        <p:spPr>
          <a:xfrm>
            <a:off x="3238500" y="2437805"/>
            <a:ext cx="1651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data: &lt;contenido&gt;</a:t>
            </a:r>
            <a:endParaRPr lang="en-US" sz="1200" dirty="0"/>
          </a:p>
        </p:txBody>
      </p:sp>
      <p:sp>
        <p:nvSpPr>
          <p:cNvPr id="8" name="Shape 5"/>
          <p:cNvSpPr/>
          <p:nvPr/>
        </p:nvSpPr>
        <p:spPr>
          <a:xfrm>
            <a:off x="5238750" y="2355255"/>
            <a:ext cx="1714500" cy="355600"/>
          </a:xfrm>
          <a:prstGeom prst="roundRect">
            <a:avLst>
              <a:gd name="adj" fmla="val 26786"/>
            </a:avLst>
          </a:prstGeom>
          <a:solidFill>
            <a:srgbClr val="FFFFFF"/>
          </a:solidFill>
          <a:ln w="12700">
            <a:solidFill>
              <a:srgbClr val="1E293B"/>
            </a:solidFill>
            <a:prstDash val="solid"/>
          </a:ln>
        </p:spPr>
      </p:sp>
      <p:sp>
        <p:nvSpPr>
          <p:cNvPr id="9" name="Text 6"/>
          <p:cNvSpPr/>
          <p:nvPr/>
        </p:nvSpPr>
        <p:spPr>
          <a:xfrm>
            <a:off x="5270500" y="2437805"/>
            <a:ext cx="1651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data: &lt;contenido&gt;</a:t>
            </a:r>
            <a:endParaRPr lang="en-US" sz="1200" dirty="0"/>
          </a:p>
        </p:txBody>
      </p:sp>
      <p:sp>
        <p:nvSpPr>
          <p:cNvPr id="10" name="Shape 7"/>
          <p:cNvSpPr/>
          <p:nvPr/>
        </p:nvSpPr>
        <p:spPr>
          <a:xfrm>
            <a:off x="7270750" y="2355255"/>
            <a:ext cx="1714500" cy="355600"/>
          </a:xfrm>
          <a:prstGeom prst="roundRect">
            <a:avLst>
              <a:gd name="adj" fmla="val 26786"/>
            </a:avLst>
          </a:prstGeom>
          <a:solidFill>
            <a:srgbClr val="FFFFFF"/>
          </a:solidFill>
          <a:ln w="12700">
            <a:solidFill>
              <a:srgbClr val="1E293B"/>
            </a:solidFill>
            <a:prstDash val="solid"/>
          </a:ln>
        </p:spPr>
      </p:sp>
      <p:sp>
        <p:nvSpPr>
          <p:cNvPr id="11" name="Text 8"/>
          <p:cNvSpPr/>
          <p:nvPr/>
        </p:nvSpPr>
        <p:spPr>
          <a:xfrm>
            <a:off x="7302500" y="2437805"/>
            <a:ext cx="16510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Mono" pitchFamily="34" charset="0"/>
                <a:ea typeface="IBM Plex Mono" pitchFamily="34" charset="-122"/>
                <a:cs typeface="IBM Plex Mono" pitchFamily="34" charset="-120"/>
              </a:rPr>
              <a:t>data: [DONE]</a:t>
            </a:r>
            <a:endParaRPr lang="en-US" sz="1200" dirty="0"/>
          </a:p>
        </p:txBody>
      </p:sp>
      <p:sp>
        <p:nvSpPr>
          <p:cNvPr id="12" name="Text 9"/>
          <p:cNvSpPr/>
          <p:nvPr/>
        </p:nvSpPr>
        <p:spPr>
          <a:xfrm>
            <a:off x="3113532" y="3149005"/>
            <a:ext cx="5964936"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una conexión HTTP · del servidor al cliente</a:t>
            </a:r>
            <a:endParaRPr lang="en-US" sz="1200" dirty="0"/>
          </a:p>
        </p:txBody>
      </p:sp>
      <p:sp>
        <p:nvSpPr>
          <p:cNvPr id="13" name="Text 10"/>
          <p:cNvSpPr/>
          <p:nvPr/>
        </p:nvSpPr>
        <p:spPr>
          <a:xfrm>
            <a:off x="812800" y="3885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Cada evento es una línea data: …, seguida de una línea en blanco.</a:t>
            </a:r>
            <a:endParaRPr lang="en-US" sz="1600" dirty="0"/>
          </a:p>
        </p:txBody>
      </p:sp>
      <p:sp>
        <p:nvSpPr>
          <p:cNvPr id="14" name="Text 11"/>
          <p:cNvSpPr/>
          <p:nvPr/>
        </p:nvSpPr>
        <p:spPr>
          <a:xfrm>
            <a:off x="812800" y="4369197"/>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Frente a WebSockets: SSE es unidireccional y más simple sobre HTTP estándar.</a:t>
            </a:r>
            <a:endParaRPr lang="en-US" sz="1600" dirty="0"/>
          </a:p>
        </p:txBody>
      </p:sp>
      <p:sp>
        <p:nvSpPr>
          <p:cNvPr id="15" name="Text 12"/>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06/29</a:t>
            </a:r>
            <a:endParaRPr lang="en-US" sz="1200" dirty="0"/>
          </a:p>
        </p:txBody>
      </p:sp>
      <p:pic>
        <p:nvPicPr>
          <p:cNvPr id="16" name="Image 1" descr="Logo de 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cliente usa fetch() y no EventSource</a:t>
            </a:r>
            <a:endParaRPr lang="en-US" sz="3600" dirty="0"/>
          </a:p>
        </p:txBody>
      </p:sp>
      <p:sp>
        <p:nvSpPr>
          <p:cNvPr id="3" name="Shape 1"/>
          <p:cNvSpPr/>
          <p:nvPr/>
        </p:nvSpPr>
        <p:spPr>
          <a:xfrm>
            <a:off x="812800" y="1523405"/>
            <a:ext cx="5588000" cy="2707084"/>
          </a:xfrm>
          <a:prstGeom prst="rect">
            <a:avLst/>
          </a:prstGeom>
          <a:solidFill>
            <a:srgbClr val="FFFFFF"/>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5575300" cy="2694384"/>
        </p:xfrm>
        <a:graphic>
          <a:graphicData uri="http://schemas.openxmlformats.org/drawingml/2006/table">
            <a:tbl>
              <a:tblPr/>
              <a:tblGrid>
                <a:gridCol w="1895602"/>
                <a:gridCol w="1839849"/>
                <a:gridCol w="1839849"/>
              </a:tblGrid>
              <a:tr h="43934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Aspecto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EventSource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fetch()</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Método HTTP</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solo GET</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POST</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Cabeceras propias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sí: X-API-Key</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8818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Dónde viaja la key</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en la URL: logs e historial</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en la cabecera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8818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Lectura de eventos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la hace el navegador</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a mano, con un buffer</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6604000" y="1523405"/>
            <a:ext cx="4918456"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Extracto reformateado de code/index.html</a:t>
            </a:r>
            <a:endParaRPr lang="en-US" sz="1200" dirty="0"/>
          </a:p>
        </p:txBody>
      </p:sp>
      <p:sp>
        <p:nvSpPr>
          <p:cNvPr id="6" name="Shape 3"/>
          <p:cNvSpPr/>
          <p:nvPr/>
        </p:nvSpPr>
        <p:spPr>
          <a:xfrm>
            <a:off x="6604000" y="1790105"/>
            <a:ext cx="4775200" cy="2355056"/>
          </a:xfrm>
          <a:prstGeom prst="roundRect">
            <a:avLst>
              <a:gd name="adj" fmla="val 1079"/>
            </a:avLst>
          </a:prstGeom>
          <a:solidFill>
            <a:srgbClr val="1E293B"/>
          </a:solidFill>
          <a:ln/>
        </p:spPr>
      </p:sp>
      <p:sp>
        <p:nvSpPr>
          <p:cNvPr id="7" name="Text 4"/>
          <p:cNvSpPr/>
          <p:nvPr/>
        </p:nvSpPr>
        <p:spPr>
          <a:xfrm>
            <a:off x="6807200" y="1942505"/>
            <a:ext cx="4499864" cy="207565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resp = await fetch(base + "/chat/stream", {</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method: "POST",</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headers: {</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"Content-Type": "application/json",</a:t>
            </a:r>
            <a:endParaRPr lang="en-US" sz="1300" dirty="0"/>
          </a:p>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"X-API-Key": key,</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body: JSON.stringify({ mensaje }),</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a:t>
            </a:r>
            <a:endParaRPr lang="en-US" sz="1300" dirty="0"/>
          </a:p>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const lector = resp.body.getReader();</a:t>
            </a:r>
            <a:endParaRPr lang="en-US" sz="1300" dirty="0"/>
          </a:p>
        </p:txBody>
      </p:sp>
      <p:sp>
        <p:nvSpPr>
          <p:cNvPr id="8" name="Text 5"/>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07/29</a:t>
            </a:r>
            <a:endParaRPr lang="en-US" sz="1200" dirty="0"/>
          </a:p>
        </p:txBody>
      </p:sp>
      <p:pic>
        <p:nvPicPr>
          <p:cNvPr id="9" name="Image 0" descr="Logo de 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1 · La petición lleva la API key</a:t>
            </a:r>
            <a:endParaRPr lang="en-US" sz="3600" dirty="0"/>
          </a:p>
        </p:txBody>
      </p:sp>
      <p:pic>
        <p:nvPicPr>
          <p:cNvPr id="3" name="Image 0" descr="Flujo del cliente SSE: cliente web, FastAPI, Agent con LLM y runtime, tools y retriever, guardrail de salida y memory">    </p:cNvPr>
          <p:cNvPicPr>
            <a:picLocks noChangeAspect="1"/>
          </p:cNvPicPr>
          <p:nvPr/>
        </p:nvPicPr>
        <p:blipFill>
          <a:blip r:embed="rId1"/>
          <a:srcRect l="0" r="0" t="-31" b="-31"/>
          <a:stretch/>
        </p:blipFill>
        <p:spPr>
          <a:xfrm>
            <a:off x="812800" y="1523405"/>
            <a:ext cx="10566400" cy="3810000"/>
          </a:xfrm>
          <a:prstGeom prst="rect">
            <a:avLst/>
          </a:prstGeom>
        </p:spPr>
      </p:pic>
      <p:sp>
        <p:nvSpPr>
          <p:cNvPr id="4" name="Text 1"/>
          <p:cNvSpPr/>
          <p:nvPr/>
        </p:nvSpPr>
        <p:spPr>
          <a:xfrm>
            <a:off x="5892800" y="1599605"/>
            <a:ext cx="2747010"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Agent · bucle</a:t>
            </a:r>
            <a:endParaRPr lang="en-US" sz="1400" dirty="0"/>
          </a:p>
        </p:txBody>
      </p:sp>
      <p:sp>
        <p:nvSpPr>
          <p:cNvPr id="5" name="Text 2"/>
          <p:cNvSpPr/>
          <p:nvPr/>
        </p:nvSpPr>
        <p:spPr>
          <a:xfrm>
            <a:off x="787400" y="2399705"/>
            <a:ext cx="1320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Cliente web</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index.html</a:t>
            </a:r>
            <a:endParaRPr lang="en-US" sz="1400" dirty="0"/>
          </a:p>
        </p:txBody>
      </p:sp>
      <p:sp>
        <p:nvSpPr>
          <p:cNvPr id="6" name="Text 3"/>
          <p:cNvSpPr/>
          <p:nvPr/>
        </p:nvSpPr>
        <p:spPr>
          <a:xfrm>
            <a:off x="3581400" y="2399705"/>
            <a:ext cx="1447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FastAPI</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/chat/stream</a:t>
            </a:r>
            <a:endParaRPr lang="en-US" sz="1400" dirty="0"/>
          </a:p>
        </p:txBody>
      </p:sp>
      <p:sp>
        <p:nvSpPr>
          <p:cNvPr id="7" name="Text 4"/>
          <p:cNvSpPr/>
          <p:nvPr/>
        </p:nvSpPr>
        <p:spPr>
          <a:xfrm>
            <a:off x="6248400" y="2399705"/>
            <a:ext cx="1574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propone</a:t>
            </a:r>
            <a:endParaRPr lang="en-US" sz="1400" dirty="0"/>
          </a:p>
        </p:txBody>
      </p:sp>
      <p:sp>
        <p:nvSpPr>
          <p:cNvPr id="8" name="Text 5"/>
          <p:cNvSpPr/>
          <p:nvPr/>
        </p:nvSpPr>
        <p:spPr>
          <a:xfrm>
            <a:off x="9550400" y="2399705"/>
            <a:ext cx="1574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ejecuta</a:t>
            </a:r>
            <a:endParaRPr lang="en-US" sz="1400" dirty="0"/>
          </a:p>
        </p:txBody>
      </p:sp>
      <p:sp>
        <p:nvSpPr>
          <p:cNvPr id="9" name="Text 6"/>
          <p:cNvSpPr/>
          <p:nvPr/>
        </p:nvSpPr>
        <p:spPr>
          <a:xfrm>
            <a:off x="9297861" y="4685705"/>
            <a:ext cx="2079879"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Tools · retriever</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Simulador · Qdrant</a:t>
            </a:r>
            <a:endParaRPr lang="en-US" sz="1400" dirty="0"/>
          </a:p>
        </p:txBody>
      </p:sp>
      <p:sp>
        <p:nvSpPr>
          <p:cNvPr id="10" name="Text 7"/>
          <p:cNvSpPr/>
          <p:nvPr/>
        </p:nvSpPr>
        <p:spPr>
          <a:xfrm>
            <a:off x="7391400" y="4685705"/>
            <a:ext cx="1574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Memory</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en el proceso</a:t>
            </a:r>
            <a:endParaRPr lang="en-US" sz="1400" dirty="0"/>
          </a:p>
        </p:txBody>
      </p:sp>
      <p:sp>
        <p:nvSpPr>
          <p:cNvPr id="11" name="Text 8"/>
          <p:cNvSpPr/>
          <p:nvPr/>
        </p:nvSpPr>
        <p:spPr>
          <a:xfrm>
            <a:off x="3581400" y="4685705"/>
            <a:ext cx="1447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Guardrail</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check_output</a:t>
            </a:r>
            <a:endParaRPr lang="en-US" sz="1400" dirty="0"/>
          </a:p>
        </p:txBody>
      </p:sp>
      <p:sp>
        <p:nvSpPr>
          <p:cNvPr id="12" name="Text 9"/>
          <p:cNvSpPr/>
          <p:nvPr/>
        </p:nvSpPr>
        <p:spPr>
          <a:xfrm>
            <a:off x="2108200" y="1713905"/>
            <a:ext cx="14732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POST</a:t>
            </a:r>
            <a:endParaRPr lang="en-US" sz="1200" dirty="0"/>
          </a:p>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/chat/stream</a:t>
            </a:r>
            <a:endParaRPr lang="en-US" sz="1200" dirty="0"/>
          </a:p>
        </p:txBody>
      </p:sp>
      <p:sp>
        <p:nvSpPr>
          <p:cNvPr id="13" name="Text 10"/>
          <p:cNvSpPr/>
          <p:nvPr/>
        </p:nvSpPr>
        <p:spPr>
          <a:xfrm>
            <a:off x="2108200" y="2221905"/>
            <a:ext cx="1473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X-API-Key</a:t>
            </a:r>
            <a:endParaRPr lang="en-US" sz="1200" dirty="0"/>
          </a:p>
        </p:txBody>
      </p:sp>
      <p:sp>
        <p:nvSpPr>
          <p:cNvPr id="14" name="Text 11"/>
          <p:cNvSpPr/>
          <p:nvPr/>
        </p:nvSpPr>
        <p:spPr>
          <a:xfrm>
            <a:off x="2108200" y="2729905"/>
            <a:ext cx="14732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SSE</a:t>
            </a:r>
            <a:endParaRPr lang="en-US" sz="1200" dirty="0"/>
          </a:p>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data: {delta}</a:t>
            </a:r>
            <a:endParaRPr lang="en-US" sz="1200" dirty="0"/>
          </a:p>
        </p:txBody>
      </p:sp>
      <p:sp>
        <p:nvSpPr>
          <p:cNvPr id="15" name="Text 12"/>
          <p:cNvSpPr/>
          <p:nvPr/>
        </p:nvSpPr>
        <p:spPr>
          <a:xfrm>
            <a:off x="5029200" y="2094905"/>
            <a:ext cx="711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mensaje</a:t>
            </a:r>
            <a:endParaRPr lang="en-US" sz="1200" dirty="0"/>
          </a:p>
        </p:txBody>
      </p:sp>
      <p:sp>
        <p:nvSpPr>
          <p:cNvPr id="16" name="Text 13"/>
          <p:cNvSpPr/>
          <p:nvPr/>
        </p:nvSpPr>
        <p:spPr>
          <a:xfrm>
            <a:off x="8026400" y="1942505"/>
            <a:ext cx="1320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 call</a:t>
            </a:r>
            <a:endParaRPr lang="en-US" sz="1200" dirty="0"/>
          </a:p>
        </p:txBody>
      </p:sp>
      <p:sp>
        <p:nvSpPr>
          <p:cNvPr id="17" name="Text 14"/>
          <p:cNvSpPr/>
          <p:nvPr/>
        </p:nvSpPr>
        <p:spPr>
          <a:xfrm>
            <a:off x="8026400" y="2666405"/>
            <a:ext cx="1320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resultado</a:t>
            </a:r>
            <a:endParaRPr lang="en-US" sz="1200" dirty="0"/>
          </a:p>
        </p:txBody>
      </p:sp>
      <p:sp>
        <p:nvSpPr>
          <p:cNvPr id="18" name="Text 15"/>
          <p:cNvSpPr/>
          <p:nvPr/>
        </p:nvSpPr>
        <p:spPr>
          <a:xfrm>
            <a:off x="10388600" y="3428405"/>
            <a:ext cx="939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ejecuta</a:t>
            </a:r>
            <a:endParaRPr lang="en-US" sz="1200" dirty="0"/>
          </a:p>
        </p:txBody>
      </p:sp>
      <p:sp>
        <p:nvSpPr>
          <p:cNvPr id="19" name="Text 16"/>
          <p:cNvSpPr/>
          <p:nvPr/>
        </p:nvSpPr>
        <p:spPr>
          <a:xfrm>
            <a:off x="7200900" y="3618905"/>
            <a:ext cx="939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historial</a:t>
            </a:r>
            <a:endParaRPr lang="en-US" sz="1200" dirty="0"/>
          </a:p>
        </p:txBody>
      </p:sp>
      <p:sp>
        <p:nvSpPr>
          <p:cNvPr id="20" name="Text 17"/>
          <p:cNvSpPr/>
          <p:nvPr/>
        </p:nvSpPr>
        <p:spPr>
          <a:xfrm>
            <a:off x="5054600" y="4393605"/>
            <a:ext cx="1447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texto completo</a:t>
            </a:r>
            <a:endParaRPr lang="en-US" sz="1200" dirty="0"/>
          </a:p>
        </p:txBody>
      </p:sp>
      <p:sp>
        <p:nvSpPr>
          <p:cNvPr id="21" name="Text 18"/>
          <p:cNvSpPr/>
          <p:nvPr/>
        </p:nvSpPr>
        <p:spPr>
          <a:xfrm>
            <a:off x="4356100" y="3428405"/>
            <a:ext cx="1320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texto seguro</a:t>
            </a:r>
            <a:endParaRPr lang="en-US" sz="1200" dirty="0"/>
          </a:p>
        </p:txBody>
      </p:sp>
      <p:sp>
        <p:nvSpPr>
          <p:cNvPr id="22" name="Text 19"/>
          <p:cNvSpPr/>
          <p:nvPr/>
        </p:nvSpPr>
        <p:spPr>
          <a:xfrm>
            <a:off x="1346200" y="3777655"/>
            <a:ext cx="19621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recorrido activo</a:t>
            </a:r>
            <a:endParaRPr lang="en-US" sz="1200" dirty="0"/>
          </a:p>
        </p:txBody>
      </p:sp>
      <p:sp>
        <p:nvSpPr>
          <p:cNvPr id="23" name="Text 20"/>
          <p:cNvSpPr/>
          <p:nvPr/>
        </p:nvSpPr>
        <p:spPr>
          <a:xfrm>
            <a:off x="1346200" y="4158655"/>
            <a:ext cx="19621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ejecución o datos</a:t>
            </a:r>
            <a:endParaRPr lang="en-US" sz="1200" dirty="0"/>
          </a:p>
        </p:txBody>
      </p:sp>
      <p:sp>
        <p:nvSpPr>
          <p:cNvPr id="24" name="Text 21"/>
          <p:cNvSpPr/>
          <p:nvPr/>
        </p:nvSpPr>
        <p:spPr>
          <a:xfrm>
            <a:off x="1346200" y="4539655"/>
            <a:ext cx="19621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contexto</a:t>
            </a:r>
            <a:endParaRPr lang="en-US" sz="1200" dirty="0"/>
          </a:p>
        </p:txBody>
      </p:sp>
      <p:sp>
        <p:nvSpPr>
          <p:cNvPr id="25" name="Text 22"/>
          <p:cNvSpPr/>
          <p:nvPr/>
        </p:nvSpPr>
        <p:spPr>
          <a:xfrm>
            <a:off x="812800" y="5536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POST /chat/stream con X-API-Key; _verificar_key() devuelve 401 si no coincide.</a:t>
            </a:r>
            <a:endParaRPr lang="en-US" sz="1600" dirty="0"/>
          </a:p>
        </p:txBody>
      </p:sp>
      <p:sp>
        <p:nvSpPr>
          <p:cNvPr id="26" name="Text 23"/>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08/29</a:t>
            </a:r>
            <a:endParaRPr lang="en-US" sz="1200" dirty="0"/>
          </a:p>
        </p:txBody>
      </p:sp>
      <p:pic>
        <p:nvPicPr>
          <p:cNvPr id="27" name="Image 1" descr="Logo de 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2 · El bucle termina sin transmitir</a:t>
            </a:r>
            <a:endParaRPr lang="en-US" sz="3600" dirty="0"/>
          </a:p>
        </p:txBody>
      </p:sp>
      <p:pic>
        <p:nvPicPr>
          <p:cNvPr id="3" name="Image 0" descr="Flujo del cliente SSE: cliente web, FastAPI, Agent con LLM y runtime, tools y retriever, guardrail de salida y memory">    </p:cNvPr>
          <p:cNvPicPr>
            <a:picLocks noChangeAspect="1"/>
          </p:cNvPicPr>
          <p:nvPr/>
        </p:nvPicPr>
        <p:blipFill>
          <a:blip r:embed="rId1"/>
          <a:srcRect l="0" r="0" t="-31" b="-31"/>
          <a:stretch/>
        </p:blipFill>
        <p:spPr>
          <a:xfrm>
            <a:off x="812800" y="1523405"/>
            <a:ext cx="10566400" cy="3810000"/>
          </a:xfrm>
          <a:prstGeom prst="rect">
            <a:avLst/>
          </a:prstGeom>
        </p:spPr>
      </p:pic>
      <p:sp>
        <p:nvSpPr>
          <p:cNvPr id="4" name="Text 1"/>
          <p:cNvSpPr/>
          <p:nvPr/>
        </p:nvSpPr>
        <p:spPr>
          <a:xfrm>
            <a:off x="5892800" y="1599605"/>
            <a:ext cx="2747010"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Agent · bucle</a:t>
            </a:r>
            <a:endParaRPr lang="en-US" sz="1400" dirty="0"/>
          </a:p>
        </p:txBody>
      </p:sp>
      <p:sp>
        <p:nvSpPr>
          <p:cNvPr id="5" name="Text 2"/>
          <p:cNvSpPr/>
          <p:nvPr/>
        </p:nvSpPr>
        <p:spPr>
          <a:xfrm>
            <a:off x="787400" y="2399705"/>
            <a:ext cx="1320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Cliente web</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index.html</a:t>
            </a:r>
            <a:endParaRPr lang="en-US" sz="1400" dirty="0"/>
          </a:p>
        </p:txBody>
      </p:sp>
      <p:sp>
        <p:nvSpPr>
          <p:cNvPr id="6" name="Text 3"/>
          <p:cNvSpPr/>
          <p:nvPr/>
        </p:nvSpPr>
        <p:spPr>
          <a:xfrm>
            <a:off x="3581400" y="2399705"/>
            <a:ext cx="1447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FastAPI</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/chat/stream</a:t>
            </a:r>
            <a:endParaRPr lang="en-US" sz="1400" dirty="0"/>
          </a:p>
        </p:txBody>
      </p:sp>
      <p:sp>
        <p:nvSpPr>
          <p:cNvPr id="7" name="Text 4"/>
          <p:cNvSpPr/>
          <p:nvPr/>
        </p:nvSpPr>
        <p:spPr>
          <a:xfrm>
            <a:off x="6248400" y="2399705"/>
            <a:ext cx="1574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propone</a:t>
            </a:r>
            <a:endParaRPr lang="en-US" sz="1400" dirty="0"/>
          </a:p>
        </p:txBody>
      </p:sp>
      <p:sp>
        <p:nvSpPr>
          <p:cNvPr id="8" name="Text 5"/>
          <p:cNvSpPr/>
          <p:nvPr/>
        </p:nvSpPr>
        <p:spPr>
          <a:xfrm>
            <a:off x="9550400" y="2399705"/>
            <a:ext cx="1574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ejecuta</a:t>
            </a:r>
            <a:endParaRPr lang="en-US" sz="1400" dirty="0"/>
          </a:p>
        </p:txBody>
      </p:sp>
      <p:sp>
        <p:nvSpPr>
          <p:cNvPr id="9" name="Text 6"/>
          <p:cNvSpPr/>
          <p:nvPr/>
        </p:nvSpPr>
        <p:spPr>
          <a:xfrm>
            <a:off x="9297861" y="4685705"/>
            <a:ext cx="2079879"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Tools · retriever</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Simulador · Qdrant</a:t>
            </a:r>
            <a:endParaRPr lang="en-US" sz="1400" dirty="0"/>
          </a:p>
        </p:txBody>
      </p:sp>
      <p:sp>
        <p:nvSpPr>
          <p:cNvPr id="10" name="Text 7"/>
          <p:cNvSpPr/>
          <p:nvPr/>
        </p:nvSpPr>
        <p:spPr>
          <a:xfrm>
            <a:off x="7391400" y="4685705"/>
            <a:ext cx="1574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Memory</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en el proceso</a:t>
            </a:r>
            <a:endParaRPr lang="en-US" sz="1400" dirty="0"/>
          </a:p>
        </p:txBody>
      </p:sp>
      <p:sp>
        <p:nvSpPr>
          <p:cNvPr id="11" name="Text 8"/>
          <p:cNvSpPr/>
          <p:nvPr/>
        </p:nvSpPr>
        <p:spPr>
          <a:xfrm>
            <a:off x="3581400" y="4685705"/>
            <a:ext cx="1447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Guardrail</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check_output</a:t>
            </a:r>
            <a:endParaRPr lang="en-US" sz="1400" dirty="0"/>
          </a:p>
        </p:txBody>
      </p:sp>
      <p:sp>
        <p:nvSpPr>
          <p:cNvPr id="12" name="Text 9"/>
          <p:cNvSpPr/>
          <p:nvPr/>
        </p:nvSpPr>
        <p:spPr>
          <a:xfrm>
            <a:off x="2108200" y="1713905"/>
            <a:ext cx="14732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POST</a:t>
            </a:r>
            <a:endParaRPr lang="en-US" sz="1200" dirty="0"/>
          </a:p>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/chat/stream</a:t>
            </a:r>
            <a:endParaRPr lang="en-US" sz="1200" dirty="0"/>
          </a:p>
        </p:txBody>
      </p:sp>
      <p:sp>
        <p:nvSpPr>
          <p:cNvPr id="13" name="Text 10"/>
          <p:cNvSpPr/>
          <p:nvPr/>
        </p:nvSpPr>
        <p:spPr>
          <a:xfrm>
            <a:off x="2108200" y="2221905"/>
            <a:ext cx="1473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X-API-Key</a:t>
            </a:r>
            <a:endParaRPr lang="en-US" sz="1200" dirty="0"/>
          </a:p>
        </p:txBody>
      </p:sp>
      <p:sp>
        <p:nvSpPr>
          <p:cNvPr id="14" name="Text 11"/>
          <p:cNvSpPr/>
          <p:nvPr/>
        </p:nvSpPr>
        <p:spPr>
          <a:xfrm>
            <a:off x="2108200" y="2729905"/>
            <a:ext cx="14732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SSE</a:t>
            </a:r>
            <a:endParaRPr lang="en-US" sz="1200" dirty="0"/>
          </a:p>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data: {delta}</a:t>
            </a:r>
            <a:endParaRPr lang="en-US" sz="1200" dirty="0"/>
          </a:p>
        </p:txBody>
      </p:sp>
      <p:sp>
        <p:nvSpPr>
          <p:cNvPr id="15" name="Text 12"/>
          <p:cNvSpPr/>
          <p:nvPr/>
        </p:nvSpPr>
        <p:spPr>
          <a:xfrm>
            <a:off x="5029200" y="2094905"/>
            <a:ext cx="711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mensaje</a:t>
            </a:r>
            <a:endParaRPr lang="en-US" sz="1200" dirty="0"/>
          </a:p>
        </p:txBody>
      </p:sp>
      <p:sp>
        <p:nvSpPr>
          <p:cNvPr id="16" name="Text 13"/>
          <p:cNvSpPr/>
          <p:nvPr/>
        </p:nvSpPr>
        <p:spPr>
          <a:xfrm>
            <a:off x="8026400" y="1942505"/>
            <a:ext cx="1320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 call</a:t>
            </a:r>
            <a:endParaRPr lang="en-US" sz="1200" dirty="0"/>
          </a:p>
        </p:txBody>
      </p:sp>
      <p:sp>
        <p:nvSpPr>
          <p:cNvPr id="17" name="Text 14"/>
          <p:cNvSpPr/>
          <p:nvPr/>
        </p:nvSpPr>
        <p:spPr>
          <a:xfrm>
            <a:off x="8026400" y="2666405"/>
            <a:ext cx="1320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resultado</a:t>
            </a:r>
            <a:endParaRPr lang="en-US" sz="1200" dirty="0"/>
          </a:p>
        </p:txBody>
      </p:sp>
      <p:sp>
        <p:nvSpPr>
          <p:cNvPr id="18" name="Text 15"/>
          <p:cNvSpPr/>
          <p:nvPr/>
        </p:nvSpPr>
        <p:spPr>
          <a:xfrm>
            <a:off x="10388600" y="3428405"/>
            <a:ext cx="939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ejecuta</a:t>
            </a:r>
            <a:endParaRPr lang="en-US" sz="1200" dirty="0"/>
          </a:p>
        </p:txBody>
      </p:sp>
      <p:sp>
        <p:nvSpPr>
          <p:cNvPr id="19" name="Text 16"/>
          <p:cNvSpPr/>
          <p:nvPr/>
        </p:nvSpPr>
        <p:spPr>
          <a:xfrm>
            <a:off x="7200900" y="3618905"/>
            <a:ext cx="939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historial</a:t>
            </a:r>
            <a:endParaRPr lang="en-US" sz="1200" dirty="0"/>
          </a:p>
        </p:txBody>
      </p:sp>
      <p:sp>
        <p:nvSpPr>
          <p:cNvPr id="20" name="Text 17"/>
          <p:cNvSpPr/>
          <p:nvPr/>
        </p:nvSpPr>
        <p:spPr>
          <a:xfrm>
            <a:off x="5054600" y="4393605"/>
            <a:ext cx="1447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texto completo</a:t>
            </a:r>
            <a:endParaRPr lang="en-US" sz="1200" dirty="0"/>
          </a:p>
        </p:txBody>
      </p:sp>
      <p:sp>
        <p:nvSpPr>
          <p:cNvPr id="21" name="Text 18"/>
          <p:cNvSpPr/>
          <p:nvPr/>
        </p:nvSpPr>
        <p:spPr>
          <a:xfrm>
            <a:off x="4356100" y="3428405"/>
            <a:ext cx="1320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texto seguro</a:t>
            </a:r>
            <a:endParaRPr lang="en-US" sz="1200" dirty="0"/>
          </a:p>
        </p:txBody>
      </p:sp>
      <p:sp>
        <p:nvSpPr>
          <p:cNvPr id="22" name="Text 19"/>
          <p:cNvSpPr/>
          <p:nvPr/>
        </p:nvSpPr>
        <p:spPr>
          <a:xfrm>
            <a:off x="1346200" y="3777655"/>
            <a:ext cx="19621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recorrido activo</a:t>
            </a:r>
            <a:endParaRPr lang="en-US" sz="1200" dirty="0"/>
          </a:p>
        </p:txBody>
      </p:sp>
      <p:sp>
        <p:nvSpPr>
          <p:cNvPr id="23" name="Text 20"/>
          <p:cNvSpPr/>
          <p:nvPr/>
        </p:nvSpPr>
        <p:spPr>
          <a:xfrm>
            <a:off x="1346200" y="4158655"/>
            <a:ext cx="19621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ejecución o datos</a:t>
            </a:r>
            <a:endParaRPr lang="en-US" sz="1200" dirty="0"/>
          </a:p>
        </p:txBody>
      </p:sp>
      <p:sp>
        <p:nvSpPr>
          <p:cNvPr id="24" name="Text 21"/>
          <p:cNvSpPr/>
          <p:nvPr/>
        </p:nvSpPr>
        <p:spPr>
          <a:xfrm>
            <a:off x="1346200" y="4539655"/>
            <a:ext cx="19621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contexto</a:t>
            </a:r>
            <a:endParaRPr lang="en-US" sz="1200" dirty="0"/>
          </a:p>
        </p:txBody>
      </p:sp>
      <p:sp>
        <p:nvSpPr>
          <p:cNvPr id="25" name="Text 22"/>
          <p:cNvSpPr/>
          <p:nvPr/>
        </p:nvSpPr>
        <p:spPr>
          <a:xfrm>
            <a:off x="812800" y="5536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_run_conversation() resuelve todo el bucle; al navegador todavía no le llega nada.</a:t>
            </a:r>
            <a:endParaRPr lang="en-US" sz="1600" dirty="0"/>
          </a:p>
        </p:txBody>
      </p:sp>
      <p:sp>
        <p:nvSpPr>
          <p:cNvPr id="26" name="Text 23"/>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09/29</a:t>
            </a:r>
            <a:endParaRPr lang="en-US" sz="1200" dirty="0"/>
          </a:p>
        </p:txBody>
      </p:sp>
      <p:pic>
        <p:nvPicPr>
          <p:cNvPr id="27" name="Image 1" descr="Logo de 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3 · El guardrail ve todo el texto</a:t>
            </a:r>
            <a:endParaRPr lang="en-US" sz="3600" dirty="0"/>
          </a:p>
        </p:txBody>
      </p:sp>
      <p:pic>
        <p:nvPicPr>
          <p:cNvPr id="3" name="Image 0" descr="Flujo del cliente SSE: cliente web, FastAPI, Agent con LLM y runtime, tools y retriever, guardrail de salida y memory">    </p:cNvPr>
          <p:cNvPicPr>
            <a:picLocks noChangeAspect="1"/>
          </p:cNvPicPr>
          <p:nvPr/>
        </p:nvPicPr>
        <p:blipFill>
          <a:blip r:embed="rId1"/>
          <a:srcRect l="0" r="0" t="-31" b="-31"/>
          <a:stretch/>
        </p:blipFill>
        <p:spPr>
          <a:xfrm>
            <a:off x="812800" y="1523405"/>
            <a:ext cx="10566400" cy="3810000"/>
          </a:xfrm>
          <a:prstGeom prst="rect">
            <a:avLst/>
          </a:prstGeom>
        </p:spPr>
      </p:pic>
      <p:sp>
        <p:nvSpPr>
          <p:cNvPr id="4" name="Text 1"/>
          <p:cNvSpPr/>
          <p:nvPr/>
        </p:nvSpPr>
        <p:spPr>
          <a:xfrm>
            <a:off x="5892800" y="1599605"/>
            <a:ext cx="2747010"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Agent · bucle</a:t>
            </a:r>
            <a:endParaRPr lang="en-US" sz="1400" dirty="0"/>
          </a:p>
        </p:txBody>
      </p:sp>
      <p:sp>
        <p:nvSpPr>
          <p:cNvPr id="5" name="Text 2"/>
          <p:cNvSpPr/>
          <p:nvPr/>
        </p:nvSpPr>
        <p:spPr>
          <a:xfrm>
            <a:off x="787400" y="2399705"/>
            <a:ext cx="1320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Cliente web</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index.html</a:t>
            </a:r>
            <a:endParaRPr lang="en-US" sz="1400" dirty="0"/>
          </a:p>
        </p:txBody>
      </p:sp>
      <p:sp>
        <p:nvSpPr>
          <p:cNvPr id="6" name="Text 3"/>
          <p:cNvSpPr/>
          <p:nvPr/>
        </p:nvSpPr>
        <p:spPr>
          <a:xfrm>
            <a:off x="3581400" y="2399705"/>
            <a:ext cx="1447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FastAPI</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/chat/stream</a:t>
            </a:r>
            <a:endParaRPr lang="en-US" sz="1400" dirty="0"/>
          </a:p>
        </p:txBody>
      </p:sp>
      <p:sp>
        <p:nvSpPr>
          <p:cNvPr id="7" name="Text 4"/>
          <p:cNvSpPr/>
          <p:nvPr/>
        </p:nvSpPr>
        <p:spPr>
          <a:xfrm>
            <a:off x="6248400" y="2399705"/>
            <a:ext cx="1574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propone</a:t>
            </a:r>
            <a:endParaRPr lang="en-US" sz="1400" dirty="0"/>
          </a:p>
        </p:txBody>
      </p:sp>
      <p:sp>
        <p:nvSpPr>
          <p:cNvPr id="8" name="Text 5"/>
          <p:cNvSpPr/>
          <p:nvPr/>
        </p:nvSpPr>
        <p:spPr>
          <a:xfrm>
            <a:off x="9550400" y="2399705"/>
            <a:ext cx="1574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ejecuta</a:t>
            </a:r>
            <a:endParaRPr lang="en-US" sz="1400" dirty="0"/>
          </a:p>
        </p:txBody>
      </p:sp>
      <p:sp>
        <p:nvSpPr>
          <p:cNvPr id="9" name="Text 6"/>
          <p:cNvSpPr/>
          <p:nvPr/>
        </p:nvSpPr>
        <p:spPr>
          <a:xfrm>
            <a:off x="9297861" y="4685705"/>
            <a:ext cx="2079879"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Tools · retriever</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Simulador · Qdrant</a:t>
            </a:r>
            <a:endParaRPr lang="en-US" sz="1400" dirty="0"/>
          </a:p>
        </p:txBody>
      </p:sp>
      <p:sp>
        <p:nvSpPr>
          <p:cNvPr id="10" name="Text 7"/>
          <p:cNvSpPr/>
          <p:nvPr/>
        </p:nvSpPr>
        <p:spPr>
          <a:xfrm>
            <a:off x="7391400" y="4685705"/>
            <a:ext cx="1574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Memory</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en el proceso</a:t>
            </a:r>
            <a:endParaRPr lang="en-US" sz="1400" dirty="0"/>
          </a:p>
        </p:txBody>
      </p:sp>
      <p:sp>
        <p:nvSpPr>
          <p:cNvPr id="11" name="Text 8"/>
          <p:cNvSpPr/>
          <p:nvPr/>
        </p:nvSpPr>
        <p:spPr>
          <a:xfrm>
            <a:off x="3581400" y="4685705"/>
            <a:ext cx="1447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Guardrail</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check_output</a:t>
            </a:r>
            <a:endParaRPr lang="en-US" sz="1400" dirty="0"/>
          </a:p>
        </p:txBody>
      </p:sp>
      <p:sp>
        <p:nvSpPr>
          <p:cNvPr id="12" name="Text 9"/>
          <p:cNvSpPr/>
          <p:nvPr/>
        </p:nvSpPr>
        <p:spPr>
          <a:xfrm>
            <a:off x="2108200" y="1713905"/>
            <a:ext cx="14732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POST</a:t>
            </a:r>
            <a:endParaRPr lang="en-US" sz="1200" dirty="0"/>
          </a:p>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/chat/stream</a:t>
            </a:r>
            <a:endParaRPr lang="en-US" sz="1200" dirty="0"/>
          </a:p>
        </p:txBody>
      </p:sp>
      <p:sp>
        <p:nvSpPr>
          <p:cNvPr id="13" name="Text 10"/>
          <p:cNvSpPr/>
          <p:nvPr/>
        </p:nvSpPr>
        <p:spPr>
          <a:xfrm>
            <a:off x="2108200" y="2221905"/>
            <a:ext cx="1473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X-API-Key</a:t>
            </a:r>
            <a:endParaRPr lang="en-US" sz="1200" dirty="0"/>
          </a:p>
        </p:txBody>
      </p:sp>
      <p:sp>
        <p:nvSpPr>
          <p:cNvPr id="14" name="Text 11"/>
          <p:cNvSpPr/>
          <p:nvPr/>
        </p:nvSpPr>
        <p:spPr>
          <a:xfrm>
            <a:off x="2108200" y="2729905"/>
            <a:ext cx="14732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SSE</a:t>
            </a:r>
            <a:endParaRPr lang="en-US" sz="1200" dirty="0"/>
          </a:p>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data: {delta}</a:t>
            </a:r>
            <a:endParaRPr lang="en-US" sz="1200" dirty="0"/>
          </a:p>
        </p:txBody>
      </p:sp>
      <p:sp>
        <p:nvSpPr>
          <p:cNvPr id="15" name="Text 12"/>
          <p:cNvSpPr/>
          <p:nvPr/>
        </p:nvSpPr>
        <p:spPr>
          <a:xfrm>
            <a:off x="5029200" y="2094905"/>
            <a:ext cx="711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mensaje</a:t>
            </a:r>
            <a:endParaRPr lang="en-US" sz="1200" dirty="0"/>
          </a:p>
        </p:txBody>
      </p:sp>
      <p:sp>
        <p:nvSpPr>
          <p:cNvPr id="16" name="Text 13"/>
          <p:cNvSpPr/>
          <p:nvPr/>
        </p:nvSpPr>
        <p:spPr>
          <a:xfrm>
            <a:off x="8026400" y="1942505"/>
            <a:ext cx="1320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 call</a:t>
            </a:r>
            <a:endParaRPr lang="en-US" sz="1200" dirty="0"/>
          </a:p>
        </p:txBody>
      </p:sp>
      <p:sp>
        <p:nvSpPr>
          <p:cNvPr id="17" name="Text 14"/>
          <p:cNvSpPr/>
          <p:nvPr/>
        </p:nvSpPr>
        <p:spPr>
          <a:xfrm>
            <a:off x="8026400" y="2666405"/>
            <a:ext cx="1320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resultado</a:t>
            </a:r>
            <a:endParaRPr lang="en-US" sz="1200" dirty="0"/>
          </a:p>
        </p:txBody>
      </p:sp>
      <p:sp>
        <p:nvSpPr>
          <p:cNvPr id="18" name="Text 15"/>
          <p:cNvSpPr/>
          <p:nvPr/>
        </p:nvSpPr>
        <p:spPr>
          <a:xfrm>
            <a:off x="10388600" y="3428405"/>
            <a:ext cx="939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ejecuta</a:t>
            </a:r>
            <a:endParaRPr lang="en-US" sz="1200" dirty="0"/>
          </a:p>
        </p:txBody>
      </p:sp>
      <p:sp>
        <p:nvSpPr>
          <p:cNvPr id="19" name="Text 16"/>
          <p:cNvSpPr/>
          <p:nvPr/>
        </p:nvSpPr>
        <p:spPr>
          <a:xfrm>
            <a:off x="7200900" y="3618905"/>
            <a:ext cx="939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historial</a:t>
            </a:r>
            <a:endParaRPr lang="en-US" sz="1200" dirty="0"/>
          </a:p>
        </p:txBody>
      </p:sp>
      <p:sp>
        <p:nvSpPr>
          <p:cNvPr id="20" name="Text 17"/>
          <p:cNvSpPr/>
          <p:nvPr/>
        </p:nvSpPr>
        <p:spPr>
          <a:xfrm>
            <a:off x="5054600" y="4393605"/>
            <a:ext cx="1447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texto completo</a:t>
            </a:r>
            <a:endParaRPr lang="en-US" sz="1200" dirty="0"/>
          </a:p>
        </p:txBody>
      </p:sp>
      <p:sp>
        <p:nvSpPr>
          <p:cNvPr id="21" name="Text 18"/>
          <p:cNvSpPr/>
          <p:nvPr/>
        </p:nvSpPr>
        <p:spPr>
          <a:xfrm>
            <a:off x="4356100" y="3428405"/>
            <a:ext cx="1320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texto seguro</a:t>
            </a:r>
            <a:endParaRPr lang="en-US" sz="1200" dirty="0"/>
          </a:p>
        </p:txBody>
      </p:sp>
      <p:sp>
        <p:nvSpPr>
          <p:cNvPr id="22" name="Text 19"/>
          <p:cNvSpPr/>
          <p:nvPr/>
        </p:nvSpPr>
        <p:spPr>
          <a:xfrm>
            <a:off x="1346200" y="3777655"/>
            <a:ext cx="19621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recorrido activo</a:t>
            </a:r>
            <a:endParaRPr lang="en-US" sz="1200" dirty="0"/>
          </a:p>
        </p:txBody>
      </p:sp>
      <p:sp>
        <p:nvSpPr>
          <p:cNvPr id="23" name="Text 20"/>
          <p:cNvSpPr/>
          <p:nvPr/>
        </p:nvSpPr>
        <p:spPr>
          <a:xfrm>
            <a:off x="1346200" y="4158655"/>
            <a:ext cx="19621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ejecución o datos</a:t>
            </a:r>
            <a:endParaRPr lang="en-US" sz="1200" dirty="0"/>
          </a:p>
        </p:txBody>
      </p:sp>
      <p:sp>
        <p:nvSpPr>
          <p:cNvPr id="24" name="Text 21"/>
          <p:cNvSpPr/>
          <p:nvPr/>
        </p:nvSpPr>
        <p:spPr>
          <a:xfrm>
            <a:off x="1346200" y="4539655"/>
            <a:ext cx="19621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contexto</a:t>
            </a:r>
            <a:endParaRPr lang="en-US" sz="1200" dirty="0"/>
          </a:p>
        </p:txBody>
      </p:sp>
      <p:sp>
        <p:nvSpPr>
          <p:cNvPr id="25" name="Text 22"/>
          <p:cNvSpPr/>
          <p:nvPr/>
        </p:nvSpPr>
        <p:spPr>
          <a:xfrm>
            <a:off x="812800" y="5536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check_output() evalúa la respuesta completa antes de enviar el primer fragmento.</a:t>
            </a:r>
            <a:endParaRPr lang="en-US" sz="1600" dirty="0"/>
          </a:p>
        </p:txBody>
      </p:sp>
      <p:sp>
        <p:nvSpPr>
          <p:cNvPr id="26" name="Text 23"/>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10/29</a:t>
            </a:r>
            <a:endParaRPr lang="en-US" sz="1200" dirty="0"/>
          </a:p>
        </p:txBody>
      </p:sp>
      <p:pic>
        <p:nvPicPr>
          <p:cNvPr id="27" name="Image 1" descr="Logo de 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4 · Se fragmenta un texto validado</a:t>
            </a:r>
            <a:endParaRPr lang="en-US" sz="3600" dirty="0"/>
          </a:p>
        </p:txBody>
      </p:sp>
      <p:pic>
        <p:nvPicPr>
          <p:cNvPr id="3" name="Image 0" descr="Flujo del cliente SSE: cliente web, FastAPI, Agent con LLM y runtime, tools y retriever, guardrail de salida y memory">    </p:cNvPr>
          <p:cNvPicPr>
            <a:picLocks noChangeAspect="1"/>
          </p:cNvPicPr>
          <p:nvPr/>
        </p:nvPicPr>
        <p:blipFill>
          <a:blip r:embed="rId1"/>
          <a:srcRect l="0" r="0" t="-31" b="-31"/>
          <a:stretch/>
        </p:blipFill>
        <p:spPr>
          <a:xfrm>
            <a:off x="812800" y="1523405"/>
            <a:ext cx="10566400" cy="3810000"/>
          </a:xfrm>
          <a:prstGeom prst="rect">
            <a:avLst/>
          </a:prstGeom>
        </p:spPr>
      </p:pic>
      <p:sp>
        <p:nvSpPr>
          <p:cNvPr id="4" name="Text 1"/>
          <p:cNvSpPr/>
          <p:nvPr/>
        </p:nvSpPr>
        <p:spPr>
          <a:xfrm>
            <a:off x="5892800" y="1599605"/>
            <a:ext cx="2747010"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Agent · bucle</a:t>
            </a:r>
            <a:endParaRPr lang="en-US" sz="1400" dirty="0"/>
          </a:p>
        </p:txBody>
      </p:sp>
      <p:sp>
        <p:nvSpPr>
          <p:cNvPr id="5" name="Text 2"/>
          <p:cNvSpPr/>
          <p:nvPr/>
        </p:nvSpPr>
        <p:spPr>
          <a:xfrm>
            <a:off x="787400" y="2399705"/>
            <a:ext cx="1320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Cliente web</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index.html</a:t>
            </a:r>
            <a:endParaRPr lang="en-US" sz="1400" dirty="0"/>
          </a:p>
        </p:txBody>
      </p:sp>
      <p:sp>
        <p:nvSpPr>
          <p:cNvPr id="6" name="Text 3"/>
          <p:cNvSpPr/>
          <p:nvPr/>
        </p:nvSpPr>
        <p:spPr>
          <a:xfrm>
            <a:off x="3581400" y="2399705"/>
            <a:ext cx="1447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FastAPI</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/chat/stream</a:t>
            </a:r>
            <a:endParaRPr lang="en-US" sz="1400" dirty="0"/>
          </a:p>
        </p:txBody>
      </p:sp>
      <p:sp>
        <p:nvSpPr>
          <p:cNvPr id="7" name="Text 4"/>
          <p:cNvSpPr/>
          <p:nvPr/>
        </p:nvSpPr>
        <p:spPr>
          <a:xfrm>
            <a:off x="6248400" y="2399705"/>
            <a:ext cx="1574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propone</a:t>
            </a:r>
            <a:endParaRPr lang="en-US" sz="1400" dirty="0"/>
          </a:p>
        </p:txBody>
      </p:sp>
      <p:sp>
        <p:nvSpPr>
          <p:cNvPr id="8" name="Text 5"/>
          <p:cNvSpPr/>
          <p:nvPr/>
        </p:nvSpPr>
        <p:spPr>
          <a:xfrm>
            <a:off x="9550400" y="2399705"/>
            <a:ext cx="1574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ejecuta</a:t>
            </a:r>
            <a:endParaRPr lang="en-US" sz="1400" dirty="0"/>
          </a:p>
        </p:txBody>
      </p:sp>
      <p:sp>
        <p:nvSpPr>
          <p:cNvPr id="9" name="Text 6"/>
          <p:cNvSpPr/>
          <p:nvPr/>
        </p:nvSpPr>
        <p:spPr>
          <a:xfrm>
            <a:off x="9297861" y="4685705"/>
            <a:ext cx="2079879"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Tools · retriever</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Simulador · Qdrant</a:t>
            </a:r>
            <a:endParaRPr lang="en-US" sz="1400" dirty="0"/>
          </a:p>
        </p:txBody>
      </p:sp>
      <p:sp>
        <p:nvSpPr>
          <p:cNvPr id="10" name="Text 7"/>
          <p:cNvSpPr/>
          <p:nvPr/>
        </p:nvSpPr>
        <p:spPr>
          <a:xfrm>
            <a:off x="7391400" y="4685705"/>
            <a:ext cx="1574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Memory</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en el proceso</a:t>
            </a:r>
            <a:endParaRPr lang="en-US" sz="1400" dirty="0"/>
          </a:p>
        </p:txBody>
      </p:sp>
      <p:sp>
        <p:nvSpPr>
          <p:cNvPr id="11" name="Text 8"/>
          <p:cNvSpPr/>
          <p:nvPr/>
        </p:nvSpPr>
        <p:spPr>
          <a:xfrm>
            <a:off x="3581400" y="4685705"/>
            <a:ext cx="1447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Guardrail</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check_output</a:t>
            </a:r>
            <a:endParaRPr lang="en-US" sz="1400" dirty="0"/>
          </a:p>
        </p:txBody>
      </p:sp>
      <p:sp>
        <p:nvSpPr>
          <p:cNvPr id="12" name="Text 9"/>
          <p:cNvSpPr/>
          <p:nvPr/>
        </p:nvSpPr>
        <p:spPr>
          <a:xfrm>
            <a:off x="2108200" y="1713905"/>
            <a:ext cx="14732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POST</a:t>
            </a:r>
            <a:endParaRPr lang="en-US" sz="1200" dirty="0"/>
          </a:p>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/chat/stream</a:t>
            </a:r>
            <a:endParaRPr lang="en-US" sz="1200" dirty="0"/>
          </a:p>
        </p:txBody>
      </p:sp>
      <p:sp>
        <p:nvSpPr>
          <p:cNvPr id="13" name="Text 10"/>
          <p:cNvSpPr/>
          <p:nvPr/>
        </p:nvSpPr>
        <p:spPr>
          <a:xfrm>
            <a:off x="2108200" y="2221905"/>
            <a:ext cx="1473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X-API-Key</a:t>
            </a:r>
            <a:endParaRPr lang="en-US" sz="1200" dirty="0"/>
          </a:p>
        </p:txBody>
      </p:sp>
      <p:sp>
        <p:nvSpPr>
          <p:cNvPr id="14" name="Text 11"/>
          <p:cNvSpPr/>
          <p:nvPr/>
        </p:nvSpPr>
        <p:spPr>
          <a:xfrm>
            <a:off x="2108200" y="2729905"/>
            <a:ext cx="14732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SSE</a:t>
            </a:r>
            <a:endParaRPr lang="en-US" sz="1200" dirty="0"/>
          </a:p>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data: {delta}</a:t>
            </a:r>
            <a:endParaRPr lang="en-US" sz="1200" dirty="0"/>
          </a:p>
        </p:txBody>
      </p:sp>
      <p:sp>
        <p:nvSpPr>
          <p:cNvPr id="15" name="Text 12"/>
          <p:cNvSpPr/>
          <p:nvPr/>
        </p:nvSpPr>
        <p:spPr>
          <a:xfrm>
            <a:off x="5029200" y="2094905"/>
            <a:ext cx="711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mensaje</a:t>
            </a:r>
            <a:endParaRPr lang="en-US" sz="1200" dirty="0"/>
          </a:p>
        </p:txBody>
      </p:sp>
      <p:sp>
        <p:nvSpPr>
          <p:cNvPr id="16" name="Text 13"/>
          <p:cNvSpPr/>
          <p:nvPr/>
        </p:nvSpPr>
        <p:spPr>
          <a:xfrm>
            <a:off x="8026400" y="1942505"/>
            <a:ext cx="1320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 call</a:t>
            </a:r>
            <a:endParaRPr lang="en-US" sz="1200" dirty="0"/>
          </a:p>
        </p:txBody>
      </p:sp>
      <p:sp>
        <p:nvSpPr>
          <p:cNvPr id="17" name="Text 14"/>
          <p:cNvSpPr/>
          <p:nvPr/>
        </p:nvSpPr>
        <p:spPr>
          <a:xfrm>
            <a:off x="8026400" y="2666405"/>
            <a:ext cx="1320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resultado</a:t>
            </a:r>
            <a:endParaRPr lang="en-US" sz="1200" dirty="0"/>
          </a:p>
        </p:txBody>
      </p:sp>
      <p:sp>
        <p:nvSpPr>
          <p:cNvPr id="18" name="Text 15"/>
          <p:cNvSpPr/>
          <p:nvPr/>
        </p:nvSpPr>
        <p:spPr>
          <a:xfrm>
            <a:off x="10388600" y="3428405"/>
            <a:ext cx="939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ejecuta</a:t>
            </a:r>
            <a:endParaRPr lang="en-US" sz="1200" dirty="0"/>
          </a:p>
        </p:txBody>
      </p:sp>
      <p:sp>
        <p:nvSpPr>
          <p:cNvPr id="19" name="Text 16"/>
          <p:cNvSpPr/>
          <p:nvPr/>
        </p:nvSpPr>
        <p:spPr>
          <a:xfrm>
            <a:off x="7200900" y="3618905"/>
            <a:ext cx="939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historial</a:t>
            </a:r>
            <a:endParaRPr lang="en-US" sz="1200" dirty="0"/>
          </a:p>
        </p:txBody>
      </p:sp>
      <p:sp>
        <p:nvSpPr>
          <p:cNvPr id="20" name="Text 17"/>
          <p:cNvSpPr/>
          <p:nvPr/>
        </p:nvSpPr>
        <p:spPr>
          <a:xfrm>
            <a:off x="5054600" y="4393605"/>
            <a:ext cx="1447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texto completo</a:t>
            </a:r>
            <a:endParaRPr lang="en-US" sz="1200" dirty="0"/>
          </a:p>
        </p:txBody>
      </p:sp>
      <p:sp>
        <p:nvSpPr>
          <p:cNvPr id="21" name="Text 18"/>
          <p:cNvSpPr/>
          <p:nvPr/>
        </p:nvSpPr>
        <p:spPr>
          <a:xfrm>
            <a:off x="4356100" y="3428405"/>
            <a:ext cx="1320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texto seguro</a:t>
            </a:r>
            <a:endParaRPr lang="en-US" sz="1200" dirty="0"/>
          </a:p>
        </p:txBody>
      </p:sp>
      <p:sp>
        <p:nvSpPr>
          <p:cNvPr id="22" name="Text 19"/>
          <p:cNvSpPr/>
          <p:nvPr/>
        </p:nvSpPr>
        <p:spPr>
          <a:xfrm>
            <a:off x="1346200" y="3777655"/>
            <a:ext cx="19621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recorrido activo</a:t>
            </a:r>
            <a:endParaRPr lang="en-US" sz="1200" dirty="0"/>
          </a:p>
        </p:txBody>
      </p:sp>
      <p:sp>
        <p:nvSpPr>
          <p:cNvPr id="23" name="Text 20"/>
          <p:cNvSpPr/>
          <p:nvPr/>
        </p:nvSpPr>
        <p:spPr>
          <a:xfrm>
            <a:off x="1346200" y="4158655"/>
            <a:ext cx="19621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ejecución o datos</a:t>
            </a:r>
            <a:endParaRPr lang="en-US" sz="1200" dirty="0"/>
          </a:p>
        </p:txBody>
      </p:sp>
      <p:sp>
        <p:nvSpPr>
          <p:cNvPr id="24" name="Text 21"/>
          <p:cNvSpPr/>
          <p:nvPr/>
        </p:nvSpPr>
        <p:spPr>
          <a:xfrm>
            <a:off x="1346200" y="4539655"/>
            <a:ext cx="19621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contexto</a:t>
            </a:r>
            <a:endParaRPr lang="en-US" sz="1200" dirty="0"/>
          </a:p>
        </p:txBody>
      </p:sp>
      <p:sp>
        <p:nvSpPr>
          <p:cNvPr id="25" name="Text 22"/>
          <p:cNvSpPr/>
          <p:nvPr/>
        </p:nvSpPr>
        <p:spPr>
          <a:xfrm>
            <a:off x="812800" y="5536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Cada palabra ya validada viaja como data: {"delta": …}; al final, data: [DONE].</a:t>
            </a:r>
            <a:endParaRPr lang="en-US" sz="1600" dirty="0"/>
          </a:p>
        </p:txBody>
      </p:sp>
      <p:sp>
        <p:nvSpPr>
          <p:cNvPr id="26" name="Text 23"/>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11/29</a:t>
            </a:r>
            <a:endParaRPr lang="en-US" sz="1200" dirty="0"/>
          </a:p>
        </p:txBody>
      </p:sp>
      <p:pic>
        <p:nvPicPr>
          <p:cNvPr id="27" name="Image 1" descr="Logo de 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5 · El checkpoint tiene límites</a:t>
            </a:r>
            <a:endParaRPr lang="en-US" sz="3600" dirty="0"/>
          </a:p>
        </p:txBody>
      </p:sp>
      <p:pic>
        <p:nvPicPr>
          <p:cNvPr id="3" name="Image 0" descr="Flujo del cliente SSE: cliente web, FastAPI, Agent con LLM y runtime, tools y retriever, guardrail de salida y memory">    </p:cNvPr>
          <p:cNvPicPr>
            <a:picLocks noChangeAspect="1"/>
          </p:cNvPicPr>
          <p:nvPr/>
        </p:nvPicPr>
        <p:blipFill>
          <a:blip r:embed="rId1"/>
          <a:srcRect l="0" r="0" t="-31" b="-31"/>
          <a:stretch/>
        </p:blipFill>
        <p:spPr>
          <a:xfrm>
            <a:off x="812800" y="1523405"/>
            <a:ext cx="10566400" cy="3810000"/>
          </a:xfrm>
          <a:prstGeom prst="rect">
            <a:avLst/>
          </a:prstGeom>
        </p:spPr>
      </p:pic>
      <p:sp>
        <p:nvSpPr>
          <p:cNvPr id="4" name="Text 1"/>
          <p:cNvSpPr/>
          <p:nvPr/>
        </p:nvSpPr>
        <p:spPr>
          <a:xfrm>
            <a:off x="5892800" y="1599605"/>
            <a:ext cx="2747010"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Agent · bucle</a:t>
            </a:r>
            <a:endParaRPr lang="en-US" sz="1400" dirty="0"/>
          </a:p>
        </p:txBody>
      </p:sp>
      <p:sp>
        <p:nvSpPr>
          <p:cNvPr id="5" name="Text 2"/>
          <p:cNvSpPr/>
          <p:nvPr/>
        </p:nvSpPr>
        <p:spPr>
          <a:xfrm>
            <a:off x="787400" y="2399705"/>
            <a:ext cx="1320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Cliente web</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index.html</a:t>
            </a:r>
            <a:endParaRPr lang="en-US" sz="1400" dirty="0"/>
          </a:p>
        </p:txBody>
      </p:sp>
      <p:sp>
        <p:nvSpPr>
          <p:cNvPr id="6" name="Text 3"/>
          <p:cNvSpPr/>
          <p:nvPr/>
        </p:nvSpPr>
        <p:spPr>
          <a:xfrm>
            <a:off x="3581400" y="2399705"/>
            <a:ext cx="1447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FastAPI</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/chat/stream</a:t>
            </a:r>
            <a:endParaRPr lang="en-US" sz="1400" dirty="0"/>
          </a:p>
        </p:txBody>
      </p:sp>
      <p:sp>
        <p:nvSpPr>
          <p:cNvPr id="7" name="Text 4"/>
          <p:cNvSpPr/>
          <p:nvPr/>
        </p:nvSpPr>
        <p:spPr>
          <a:xfrm>
            <a:off x="6248400" y="2399705"/>
            <a:ext cx="1574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propone</a:t>
            </a:r>
            <a:endParaRPr lang="en-US" sz="1400" dirty="0"/>
          </a:p>
        </p:txBody>
      </p:sp>
      <p:sp>
        <p:nvSpPr>
          <p:cNvPr id="8" name="Text 5"/>
          <p:cNvSpPr/>
          <p:nvPr/>
        </p:nvSpPr>
        <p:spPr>
          <a:xfrm>
            <a:off x="9550400" y="2399705"/>
            <a:ext cx="1574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ejecuta</a:t>
            </a:r>
            <a:endParaRPr lang="en-US" sz="1400" dirty="0"/>
          </a:p>
        </p:txBody>
      </p:sp>
      <p:sp>
        <p:nvSpPr>
          <p:cNvPr id="9" name="Text 6"/>
          <p:cNvSpPr/>
          <p:nvPr/>
        </p:nvSpPr>
        <p:spPr>
          <a:xfrm>
            <a:off x="9297861" y="4685705"/>
            <a:ext cx="2079879"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Tools · retriever</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Simulador · Qdrant</a:t>
            </a:r>
            <a:endParaRPr lang="en-US" sz="1400" dirty="0"/>
          </a:p>
        </p:txBody>
      </p:sp>
      <p:sp>
        <p:nvSpPr>
          <p:cNvPr id="10" name="Text 7"/>
          <p:cNvSpPr/>
          <p:nvPr/>
        </p:nvSpPr>
        <p:spPr>
          <a:xfrm>
            <a:off x="7391400" y="4685705"/>
            <a:ext cx="1574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Memory</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en el proceso</a:t>
            </a:r>
            <a:endParaRPr lang="en-US" sz="1400" dirty="0"/>
          </a:p>
        </p:txBody>
      </p:sp>
      <p:sp>
        <p:nvSpPr>
          <p:cNvPr id="11" name="Text 8"/>
          <p:cNvSpPr/>
          <p:nvPr/>
        </p:nvSpPr>
        <p:spPr>
          <a:xfrm>
            <a:off x="3581400" y="4685705"/>
            <a:ext cx="1447800"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Guardrail</a:t>
            </a:r>
            <a:endParaRPr lang="en-US" sz="1400" dirty="0"/>
          </a:p>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check_output</a:t>
            </a:r>
            <a:endParaRPr lang="en-US" sz="1400" dirty="0"/>
          </a:p>
        </p:txBody>
      </p:sp>
      <p:sp>
        <p:nvSpPr>
          <p:cNvPr id="12" name="Text 9"/>
          <p:cNvSpPr/>
          <p:nvPr/>
        </p:nvSpPr>
        <p:spPr>
          <a:xfrm>
            <a:off x="2108200" y="1713905"/>
            <a:ext cx="14732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POST</a:t>
            </a:r>
            <a:endParaRPr lang="en-US" sz="1200" dirty="0"/>
          </a:p>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/chat/stream</a:t>
            </a:r>
            <a:endParaRPr lang="en-US" sz="1200" dirty="0"/>
          </a:p>
        </p:txBody>
      </p:sp>
      <p:sp>
        <p:nvSpPr>
          <p:cNvPr id="13" name="Text 10"/>
          <p:cNvSpPr/>
          <p:nvPr/>
        </p:nvSpPr>
        <p:spPr>
          <a:xfrm>
            <a:off x="2108200" y="2221905"/>
            <a:ext cx="1473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X-API-Key</a:t>
            </a:r>
            <a:endParaRPr lang="en-US" sz="1200" dirty="0"/>
          </a:p>
        </p:txBody>
      </p:sp>
      <p:sp>
        <p:nvSpPr>
          <p:cNvPr id="14" name="Text 11"/>
          <p:cNvSpPr/>
          <p:nvPr/>
        </p:nvSpPr>
        <p:spPr>
          <a:xfrm>
            <a:off x="2108200" y="2729905"/>
            <a:ext cx="14732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SSE</a:t>
            </a:r>
            <a:endParaRPr lang="en-US" sz="1200" dirty="0"/>
          </a:p>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data: {delta}</a:t>
            </a:r>
            <a:endParaRPr lang="en-US" sz="1200" dirty="0"/>
          </a:p>
        </p:txBody>
      </p:sp>
      <p:sp>
        <p:nvSpPr>
          <p:cNvPr id="15" name="Text 12"/>
          <p:cNvSpPr/>
          <p:nvPr/>
        </p:nvSpPr>
        <p:spPr>
          <a:xfrm>
            <a:off x="5029200" y="2094905"/>
            <a:ext cx="711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mensaje</a:t>
            </a:r>
            <a:endParaRPr lang="en-US" sz="1200" dirty="0"/>
          </a:p>
        </p:txBody>
      </p:sp>
      <p:sp>
        <p:nvSpPr>
          <p:cNvPr id="16" name="Text 13"/>
          <p:cNvSpPr/>
          <p:nvPr/>
        </p:nvSpPr>
        <p:spPr>
          <a:xfrm>
            <a:off x="8026400" y="1942505"/>
            <a:ext cx="1320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tool call</a:t>
            </a:r>
            <a:endParaRPr lang="en-US" sz="1200" dirty="0"/>
          </a:p>
        </p:txBody>
      </p:sp>
      <p:sp>
        <p:nvSpPr>
          <p:cNvPr id="17" name="Text 14"/>
          <p:cNvSpPr/>
          <p:nvPr/>
        </p:nvSpPr>
        <p:spPr>
          <a:xfrm>
            <a:off x="8026400" y="2666405"/>
            <a:ext cx="1320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resultado</a:t>
            </a:r>
            <a:endParaRPr lang="en-US" sz="1200" dirty="0"/>
          </a:p>
        </p:txBody>
      </p:sp>
      <p:sp>
        <p:nvSpPr>
          <p:cNvPr id="18" name="Text 15"/>
          <p:cNvSpPr/>
          <p:nvPr/>
        </p:nvSpPr>
        <p:spPr>
          <a:xfrm>
            <a:off x="10388600" y="3428405"/>
            <a:ext cx="939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ejecuta</a:t>
            </a:r>
            <a:endParaRPr lang="en-US" sz="1200" dirty="0"/>
          </a:p>
        </p:txBody>
      </p:sp>
      <p:sp>
        <p:nvSpPr>
          <p:cNvPr id="19" name="Text 16"/>
          <p:cNvSpPr/>
          <p:nvPr/>
        </p:nvSpPr>
        <p:spPr>
          <a:xfrm>
            <a:off x="7200900" y="3618905"/>
            <a:ext cx="939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historial</a:t>
            </a:r>
            <a:endParaRPr lang="en-US" sz="1200" dirty="0"/>
          </a:p>
        </p:txBody>
      </p:sp>
      <p:sp>
        <p:nvSpPr>
          <p:cNvPr id="20" name="Text 17"/>
          <p:cNvSpPr/>
          <p:nvPr/>
        </p:nvSpPr>
        <p:spPr>
          <a:xfrm>
            <a:off x="5054600" y="4393605"/>
            <a:ext cx="1447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texto completo</a:t>
            </a:r>
            <a:endParaRPr lang="en-US" sz="1200" dirty="0"/>
          </a:p>
        </p:txBody>
      </p:sp>
      <p:sp>
        <p:nvSpPr>
          <p:cNvPr id="21" name="Text 18"/>
          <p:cNvSpPr/>
          <p:nvPr/>
        </p:nvSpPr>
        <p:spPr>
          <a:xfrm>
            <a:off x="4356100" y="3428405"/>
            <a:ext cx="1320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texto seguro</a:t>
            </a:r>
            <a:endParaRPr lang="en-US" sz="1200" dirty="0"/>
          </a:p>
        </p:txBody>
      </p:sp>
      <p:sp>
        <p:nvSpPr>
          <p:cNvPr id="22" name="Text 19"/>
          <p:cNvSpPr/>
          <p:nvPr/>
        </p:nvSpPr>
        <p:spPr>
          <a:xfrm>
            <a:off x="1346200" y="3777655"/>
            <a:ext cx="19621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recorrido activo</a:t>
            </a:r>
            <a:endParaRPr lang="en-US" sz="1200" dirty="0"/>
          </a:p>
        </p:txBody>
      </p:sp>
      <p:sp>
        <p:nvSpPr>
          <p:cNvPr id="23" name="Text 20"/>
          <p:cNvSpPr/>
          <p:nvPr/>
        </p:nvSpPr>
        <p:spPr>
          <a:xfrm>
            <a:off x="1346200" y="4158655"/>
            <a:ext cx="19621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ejecución o datos</a:t>
            </a:r>
            <a:endParaRPr lang="en-US" sz="1200" dirty="0"/>
          </a:p>
        </p:txBody>
      </p:sp>
      <p:sp>
        <p:nvSpPr>
          <p:cNvPr id="24" name="Text 21"/>
          <p:cNvSpPr/>
          <p:nvPr/>
        </p:nvSpPr>
        <p:spPr>
          <a:xfrm>
            <a:off x="1346200" y="4539655"/>
            <a:ext cx="19621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contexto</a:t>
            </a:r>
            <a:endParaRPr lang="en-US" sz="1200" dirty="0"/>
          </a:p>
        </p:txBody>
      </p:sp>
      <p:sp>
        <p:nvSpPr>
          <p:cNvPr id="25" name="Text 22"/>
          <p:cNvSpPr/>
          <p:nvPr/>
        </p:nvSpPr>
        <p:spPr>
          <a:xfrm>
            <a:off x="812800" y="5536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No acorta la espera total; el historial se pierde al reiniciar el Space.</a:t>
            </a:r>
            <a:endParaRPr lang="en-US" sz="1600" dirty="0"/>
          </a:p>
        </p:txBody>
      </p:sp>
      <p:sp>
        <p:nvSpPr>
          <p:cNvPr id="26" name="Text 23"/>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12/29</a:t>
            </a:r>
            <a:endParaRPr lang="en-US" sz="1200" dirty="0"/>
          </a:p>
        </p:txBody>
      </p:sp>
      <p:pic>
        <p:nvPicPr>
          <p:cNvPr id="27" name="Image 1" descr="Logo de 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Tres fallos del cliente tienen solución conocida</a:t>
            </a:r>
            <a:endParaRPr lang="en-US" sz="3600" dirty="0"/>
          </a:p>
        </p:txBody>
      </p:sp>
      <p:sp>
        <p:nvSpPr>
          <p:cNvPr id="3" name="Shape 1"/>
          <p:cNvSpPr/>
          <p:nvPr/>
        </p:nvSpPr>
        <p:spPr>
          <a:xfrm>
            <a:off x="812800" y="1523405"/>
            <a:ext cx="10566400" cy="2267744"/>
          </a:xfrm>
          <a:prstGeom prst="rect">
            <a:avLst/>
          </a:prstGeom>
          <a:solidFill>
            <a:srgbClr val="FFFFFF"/>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2255044"/>
        </p:xfrm>
        <a:graphic>
          <a:graphicData uri="http://schemas.openxmlformats.org/drawingml/2006/table">
            <a:tbl>
              <a:tblPr/>
              <a:tblGrid>
                <a:gridCol w="3588258"/>
                <a:gridCol w="3166110"/>
                <a:gridCol w="3799332"/>
              </a:tblGrid>
              <a:tr h="43934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Síntoma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Causa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Solución</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68818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No aparece nada; el estado se queda en «conectando...»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El Space está dormido (cold start)</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Esperar unos segundos: es la misma latencia del L8</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Error 401</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La API key no coincide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Copiar el valor exacto del Space secret</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8818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Error de CORS en la consola del navegador</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El Space no permite peticiones desde file://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Añadir CORSMiddleware a api.py, como en el checkpoint de referencia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3994348"/>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estado del cliente pasa por: conectando... → recibiendo... → listo.</a:t>
            </a:r>
            <a:endParaRPr lang="en-US" sz="1600" dirty="0"/>
          </a:p>
        </p:txBody>
      </p:sp>
      <p:sp>
        <p:nvSpPr>
          <p:cNvPr id="6" name="Text 3"/>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13/29</a:t>
            </a:r>
            <a:endParaRPr lang="en-US" sz="1200" dirty="0"/>
          </a:p>
        </p:txBody>
      </p:sp>
      <p:pic>
        <p:nvPicPr>
          <p:cNvPr id="7" name="Image 0" descr="Logo de 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Una decisión nombra lo que se descartó</a:t>
            </a:r>
            <a:endParaRPr lang="en-US" sz="3600" dirty="0"/>
          </a:p>
        </p:txBody>
      </p:sp>
      <p:pic>
        <p:nvPicPr>
          <p:cNvPr id="3" name="Image 0" descr="Marco de una decisión: alternativa descartada, criterio y consecuencia">    </p:cNvPr>
          <p:cNvPicPr>
            <a:picLocks noChangeAspect="1"/>
          </p:cNvPicPr>
          <p:nvPr/>
        </p:nvPicPr>
        <p:blipFill>
          <a:blip r:embed="rId1"/>
          <a:srcRect l="-20" r="-20" t="0" b="0"/>
          <a:stretch/>
        </p:blipFill>
        <p:spPr>
          <a:xfrm>
            <a:off x="812800" y="1523405"/>
            <a:ext cx="10566400" cy="1016000"/>
          </a:xfrm>
          <a:prstGeom prst="rect">
            <a:avLst/>
          </a:prstGeom>
        </p:spPr>
      </p:pic>
      <p:sp>
        <p:nvSpPr>
          <p:cNvPr id="4" name="Text 1"/>
          <p:cNvSpPr/>
          <p:nvPr/>
        </p:nvSpPr>
        <p:spPr>
          <a:xfrm>
            <a:off x="770890" y="1923455"/>
            <a:ext cx="287782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Alternativa descartada</a:t>
            </a:r>
            <a:endParaRPr lang="en-US" sz="1400" dirty="0"/>
          </a:p>
        </p:txBody>
      </p:sp>
      <p:sp>
        <p:nvSpPr>
          <p:cNvPr id="5" name="Text 2"/>
          <p:cNvSpPr/>
          <p:nvPr/>
        </p:nvSpPr>
        <p:spPr>
          <a:xfrm>
            <a:off x="4657090" y="1923455"/>
            <a:ext cx="287782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Criterio</a:t>
            </a:r>
            <a:endParaRPr lang="en-US" sz="1400" dirty="0"/>
          </a:p>
        </p:txBody>
      </p:sp>
      <p:sp>
        <p:nvSpPr>
          <p:cNvPr id="6" name="Text 3"/>
          <p:cNvSpPr/>
          <p:nvPr/>
        </p:nvSpPr>
        <p:spPr>
          <a:xfrm>
            <a:off x="8543290" y="1923455"/>
            <a:ext cx="287782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Consecuencia</a:t>
            </a:r>
            <a:endParaRPr lang="en-US" sz="1400" dirty="0"/>
          </a:p>
        </p:txBody>
      </p:sp>
      <p:sp>
        <p:nvSpPr>
          <p:cNvPr id="7" name="Text 4"/>
          <p:cNvSpPr/>
          <p:nvPr/>
        </p:nvSpPr>
        <p:spPr>
          <a:xfrm>
            <a:off x="3657600" y="1739305"/>
            <a:ext cx="990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según</a:t>
            </a:r>
            <a:endParaRPr lang="en-US" sz="1200" dirty="0"/>
          </a:p>
        </p:txBody>
      </p:sp>
      <p:sp>
        <p:nvSpPr>
          <p:cNvPr id="8" name="Text 5"/>
          <p:cNvSpPr/>
          <p:nvPr/>
        </p:nvSpPr>
        <p:spPr>
          <a:xfrm>
            <a:off x="7543800" y="1739305"/>
            <a:ext cx="990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implica</a:t>
            </a:r>
            <a:endParaRPr lang="en-US" sz="1200" dirty="0"/>
          </a:p>
        </p:txBody>
      </p:sp>
      <p:sp>
        <p:nvSpPr>
          <p:cNvPr id="9" name="Shape 6"/>
          <p:cNvSpPr/>
          <p:nvPr/>
        </p:nvSpPr>
        <p:spPr>
          <a:xfrm>
            <a:off x="819150" y="2748955"/>
            <a:ext cx="2908300" cy="1893689"/>
          </a:xfrm>
          <a:prstGeom prst="roundRect">
            <a:avLst>
              <a:gd name="adj" fmla="val 5030"/>
            </a:avLst>
          </a:prstGeom>
          <a:solidFill>
            <a:srgbClr val="FFFFFF"/>
          </a:solidFill>
          <a:ln w="12700">
            <a:solidFill>
              <a:srgbClr val="1E293B"/>
            </a:solidFill>
            <a:prstDash val="solid"/>
          </a:ln>
        </p:spPr>
      </p:sp>
      <p:sp>
        <p:nvSpPr>
          <p:cNvPr id="10" name="Text 7"/>
          <p:cNvSpPr/>
          <p:nvPr/>
        </p:nvSpPr>
        <p:spPr>
          <a:xfrm>
            <a:off x="1028700" y="2958505"/>
            <a:ext cx="2563876"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526277"/>
                </a:solidFill>
                <a:latin typeface="IBM Plex Sans" pitchFamily="34" charset="0"/>
                <a:ea typeface="IBM Plex Sans" pitchFamily="34" charset="-122"/>
                <a:cs typeface="IBM Plex Sans" pitchFamily="34" charset="-120"/>
              </a:rPr>
              <a:t>Dato</a:t>
            </a:r>
            <a:endParaRPr lang="en-US" sz="1400" dirty="0"/>
          </a:p>
        </p:txBody>
      </p:sp>
      <p:sp>
        <p:nvSpPr>
          <p:cNvPr id="11" name="Text 8"/>
          <p:cNvSpPr/>
          <p:nvPr/>
        </p:nvSpPr>
        <p:spPr>
          <a:xfrm>
            <a:off x="1028700" y="3275211"/>
            <a:ext cx="2563876"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«Usamos Qdrant»</a:t>
            </a:r>
            <a:endParaRPr lang="en-US" sz="1600" dirty="0"/>
          </a:p>
        </p:txBody>
      </p:sp>
      <p:sp>
        <p:nvSpPr>
          <p:cNvPr id="12" name="Text 9"/>
          <p:cNvSpPr/>
          <p:nvPr/>
        </p:nvSpPr>
        <p:spPr>
          <a:xfrm>
            <a:off x="1028700" y="3657203"/>
            <a:ext cx="2563876"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 dato, no es una decisión</a:t>
            </a:r>
            <a:endParaRPr lang="en-US" sz="1400" dirty="0"/>
          </a:p>
        </p:txBody>
      </p:sp>
      <p:sp>
        <p:nvSpPr>
          <p:cNvPr id="13" name="Shape 10"/>
          <p:cNvSpPr/>
          <p:nvPr/>
        </p:nvSpPr>
        <p:spPr>
          <a:xfrm>
            <a:off x="3943350" y="2748955"/>
            <a:ext cx="7429500" cy="1893689"/>
          </a:xfrm>
          <a:prstGeom prst="roundRect">
            <a:avLst>
              <a:gd name="adj" fmla="val 5030"/>
            </a:avLst>
          </a:prstGeom>
          <a:solidFill>
            <a:srgbClr val="FFFFFF"/>
          </a:solidFill>
          <a:ln w="12700">
            <a:solidFill>
              <a:srgbClr val="1E293B"/>
            </a:solidFill>
            <a:prstDash val="solid"/>
          </a:ln>
        </p:spPr>
      </p:sp>
      <p:sp>
        <p:nvSpPr>
          <p:cNvPr id="14" name="Text 11"/>
          <p:cNvSpPr/>
          <p:nvPr/>
        </p:nvSpPr>
        <p:spPr>
          <a:xfrm>
            <a:off x="4152900" y="2958505"/>
            <a:ext cx="7220712"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526277"/>
                </a:solidFill>
                <a:latin typeface="IBM Plex Sans" pitchFamily="34" charset="0"/>
                <a:ea typeface="IBM Plex Sans" pitchFamily="34" charset="-122"/>
                <a:cs typeface="IBM Plex Sans" pitchFamily="34" charset="-120"/>
              </a:rPr>
              <a:t>Decisión</a:t>
            </a:r>
            <a:endParaRPr lang="en-US" sz="1400" dirty="0"/>
          </a:p>
        </p:txBody>
      </p:sp>
      <p:sp>
        <p:nvSpPr>
          <p:cNvPr id="15" name="Text 12"/>
          <p:cNvSpPr/>
          <p:nvPr/>
        </p:nvSpPr>
        <p:spPr>
          <a:xfrm>
            <a:off x="4152900" y="3275211"/>
            <a:ext cx="7220712"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«Usamos Qdrant y no un índice en memoria porque el corpus tiene que sobrevivir al reinicio del Space y necesitábamos filtrar por metadatos para citar»</a:t>
            </a:r>
            <a:endParaRPr lang="en-US" sz="1600" dirty="0"/>
          </a:p>
        </p:txBody>
      </p:sp>
      <p:sp>
        <p:nvSpPr>
          <p:cNvPr id="16" name="Text 13"/>
          <p:cNvSpPr/>
          <p:nvPr/>
        </p:nvSpPr>
        <p:spPr>
          <a:xfrm>
            <a:off x="4152900" y="4217988"/>
            <a:ext cx="7220712"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 decisión + criterio + consecuencia</a:t>
            </a:r>
            <a:endParaRPr lang="en-US" sz="1400" dirty="0"/>
          </a:p>
        </p:txBody>
      </p:sp>
      <p:sp>
        <p:nvSpPr>
          <p:cNvPr id="17" name="Text 14"/>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14/29</a:t>
            </a:r>
            <a:endParaRPr lang="en-US" sz="1200" dirty="0"/>
          </a:p>
        </p:txBody>
      </p:sp>
      <p:pic>
        <p:nvPicPr>
          <p:cNvPr id="18" name="Image 1" descr="Logo de 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La demo cabe en 4 movimientos</a:t>
            </a:r>
            <a:endParaRPr lang="en-US" sz="3600" dirty="0"/>
          </a:p>
        </p:txBody>
      </p:sp>
      <p:pic>
        <p:nvPicPr>
          <p:cNvPr id="3" name="Image 0" descr="Guion de la demo en 10 minutos: 1, 3, 3 y 1 minuto más 2 de preguntas">    </p:cNvPr>
          <p:cNvPicPr>
            <a:picLocks noChangeAspect="1"/>
          </p:cNvPicPr>
          <p:nvPr/>
        </p:nvPicPr>
        <p:blipFill>
          <a:blip r:embed="rId1"/>
          <a:srcRect l="0" r="0" t="-17" b="-17"/>
          <a:stretch/>
        </p:blipFill>
        <p:spPr>
          <a:xfrm>
            <a:off x="812800" y="1523405"/>
            <a:ext cx="10566400" cy="3556000"/>
          </a:xfrm>
          <a:prstGeom prst="rect">
            <a:avLst/>
          </a:prstGeom>
        </p:spPr>
      </p:pic>
      <p:sp>
        <p:nvSpPr>
          <p:cNvPr id="4" name="Text 1"/>
          <p:cNvSpPr/>
          <p:nvPr/>
        </p:nvSpPr>
        <p:spPr>
          <a:xfrm>
            <a:off x="812800" y="1663105"/>
            <a:ext cx="483997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1 · El caso de uso en una frase, y a quién sirve</a:t>
            </a:r>
            <a:endParaRPr lang="en-US" sz="1400" dirty="0"/>
          </a:p>
        </p:txBody>
      </p:sp>
      <p:sp>
        <p:nvSpPr>
          <p:cNvPr id="5" name="Text 2"/>
          <p:cNvSpPr/>
          <p:nvPr/>
        </p:nvSpPr>
        <p:spPr>
          <a:xfrm>
            <a:off x="5740400" y="1783755"/>
            <a:ext cx="609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1 min</a:t>
            </a:r>
            <a:endParaRPr lang="en-US" sz="1200" dirty="0"/>
          </a:p>
        </p:txBody>
      </p:sp>
      <p:sp>
        <p:nvSpPr>
          <p:cNvPr id="6" name="Text 3"/>
          <p:cNvSpPr/>
          <p:nvPr/>
        </p:nvSpPr>
        <p:spPr>
          <a:xfrm>
            <a:off x="812800" y="2298105"/>
            <a:ext cx="4839970" cy="455613"/>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2 · La demo funcionando: una consulta completa, de principio a fin</a:t>
            </a:r>
            <a:endParaRPr lang="en-US" sz="1400" dirty="0"/>
          </a:p>
        </p:txBody>
      </p:sp>
      <p:sp>
        <p:nvSpPr>
          <p:cNvPr id="7" name="Text 4"/>
          <p:cNvSpPr/>
          <p:nvPr/>
        </p:nvSpPr>
        <p:spPr>
          <a:xfrm>
            <a:off x="6299200" y="2418755"/>
            <a:ext cx="1727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3 min</a:t>
            </a:r>
            <a:endParaRPr lang="en-US" sz="1200" dirty="0"/>
          </a:p>
        </p:txBody>
      </p:sp>
      <p:sp>
        <p:nvSpPr>
          <p:cNvPr id="8" name="Text 5"/>
          <p:cNvSpPr/>
          <p:nvPr/>
        </p:nvSpPr>
        <p:spPr>
          <a:xfrm>
            <a:off x="812800" y="2933105"/>
            <a:ext cx="4839970" cy="455613"/>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3 · La decisión de arquitectura, con su alternativa descartada</a:t>
            </a:r>
            <a:endParaRPr lang="en-US" sz="1400" dirty="0"/>
          </a:p>
        </p:txBody>
      </p:sp>
      <p:sp>
        <p:nvSpPr>
          <p:cNvPr id="9" name="Text 6"/>
          <p:cNvSpPr/>
          <p:nvPr/>
        </p:nvSpPr>
        <p:spPr>
          <a:xfrm>
            <a:off x="7975600" y="3053755"/>
            <a:ext cx="1727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3 min</a:t>
            </a:r>
            <a:endParaRPr lang="en-US" sz="1200" dirty="0"/>
          </a:p>
        </p:txBody>
      </p:sp>
      <p:sp>
        <p:nvSpPr>
          <p:cNvPr id="10" name="Text 7"/>
          <p:cNvSpPr/>
          <p:nvPr/>
        </p:nvSpPr>
        <p:spPr>
          <a:xfrm>
            <a:off x="812800" y="3568105"/>
            <a:ext cx="483997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4 · El número: qué midieron en el L10 y qué mejoró</a:t>
            </a:r>
            <a:endParaRPr lang="en-US" sz="1400" dirty="0"/>
          </a:p>
        </p:txBody>
      </p:sp>
      <p:sp>
        <p:nvSpPr>
          <p:cNvPr id="11" name="Text 8"/>
          <p:cNvSpPr/>
          <p:nvPr/>
        </p:nvSpPr>
        <p:spPr>
          <a:xfrm>
            <a:off x="9652000" y="3688755"/>
            <a:ext cx="609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1 min</a:t>
            </a:r>
            <a:endParaRPr lang="en-US" sz="1200" dirty="0"/>
          </a:p>
        </p:txBody>
      </p:sp>
      <p:sp>
        <p:nvSpPr>
          <p:cNvPr id="12" name="Text 9"/>
          <p:cNvSpPr/>
          <p:nvPr/>
        </p:nvSpPr>
        <p:spPr>
          <a:xfrm>
            <a:off x="812800" y="4203105"/>
            <a:ext cx="483997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Q&amp;A del panel</a:t>
            </a:r>
            <a:endParaRPr lang="en-US" sz="1400" dirty="0"/>
          </a:p>
        </p:txBody>
      </p:sp>
      <p:sp>
        <p:nvSpPr>
          <p:cNvPr id="13" name="Text 10"/>
          <p:cNvSpPr/>
          <p:nvPr/>
        </p:nvSpPr>
        <p:spPr>
          <a:xfrm>
            <a:off x="10210800" y="4323755"/>
            <a:ext cx="11684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2 min</a:t>
            </a:r>
            <a:endParaRPr lang="en-US" sz="1200" dirty="0"/>
          </a:p>
        </p:txBody>
      </p:sp>
      <p:sp>
        <p:nvSpPr>
          <p:cNvPr id="14" name="Text 11"/>
          <p:cNvSpPr/>
          <p:nvPr/>
        </p:nvSpPr>
        <p:spPr>
          <a:xfrm>
            <a:off x="5486400" y="4812705"/>
            <a:ext cx="558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0</a:t>
            </a:r>
            <a:endParaRPr lang="en-US" sz="1200" dirty="0"/>
          </a:p>
        </p:txBody>
      </p:sp>
      <p:sp>
        <p:nvSpPr>
          <p:cNvPr id="15" name="Text 12"/>
          <p:cNvSpPr/>
          <p:nvPr/>
        </p:nvSpPr>
        <p:spPr>
          <a:xfrm>
            <a:off x="8280400" y="4812705"/>
            <a:ext cx="558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5</a:t>
            </a:r>
            <a:endParaRPr lang="en-US" sz="1200" dirty="0"/>
          </a:p>
        </p:txBody>
      </p:sp>
      <p:sp>
        <p:nvSpPr>
          <p:cNvPr id="16" name="Text 13"/>
          <p:cNvSpPr/>
          <p:nvPr/>
        </p:nvSpPr>
        <p:spPr>
          <a:xfrm>
            <a:off x="10541000" y="4812705"/>
            <a:ext cx="10668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10 min</a:t>
            </a:r>
            <a:endParaRPr lang="en-US" sz="1200" dirty="0"/>
          </a:p>
        </p:txBody>
      </p:sp>
      <p:sp>
        <p:nvSpPr>
          <p:cNvPr id="17" name="Text 14"/>
          <p:cNvSpPr/>
          <p:nvPr/>
        </p:nvSpPr>
        <p:spPr>
          <a:xfrm>
            <a:off x="812800" y="528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Minutos sobre 10; los reales salen de la aritmética de la ronda.</a:t>
            </a:r>
            <a:endParaRPr lang="en-US" sz="1600" dirty="0"/>
          </a:p>
        </p:txBody>
      </p:sp>
      <p:sp>
        <p:nvSpPr>
          <p:cNvPr id="18" name="Text 15"/>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15/29</a:t>
            </a:r>
            <a:endParaRPr lang="en-US" sz="1200" dirty="0"/>
          </a:p>
        </p:txBody>
      </p:sp>
      <p:pic>
        <p:nvPicPr>
          <p:cNvPr id="19" name="Image 1" descr="Logo de 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movimiento 3 es el decisivo</a:t>
            </a:r>
            <a:endParaRPr lang="en-US" sz="3600" dirty="0"/>
          </a:p>
        </p:txBody>
      </p:sp>
      <p:pic>
        <p:nvPicPr>
          <p:cNvPr id="3" name="Image 0" descr="Guion de la demo en 10 minutos: 1, 3, 3 y 1 minuto más 2 de preguntas">    </p:cNvPr>
          <p:cNvPicPr>
            <a:picLocks noChangeAspect="1"/>
          </p:cNvPicPr>
          <p:nvPr/>
        </p:nvPicPr>
        <p:blipFill>
          <a:blip r:embed="rId1"/>
          <a:srcRect l="0" r="0" t="-17" b="-17"/>
          <a:stretch/>
        </p:blipFill>
        <p:spPr>
          <a:xfrm>
            <a:off x="812800" y="1523405"/>
            <a:ext cx="10566400" cy="3556000"/>
          </a:xfrm>
          <a:prstGeom prst="rect">
            <a:avLst/>
          </a:prstGeom>
        </p:spPr>
      </p:pic>
      <p:sp>
        <p:nvSpPr>
          <p:cNvPr id="4" name="Text 1"/>
          <p:cNvSpPr/>
          <p:nvPr/>
        </p:nvSpPr>
        <p:spPr>
          <a:xfrm>
            <a:off x="812800" y="1663105"/>
            <a:ext cx="483997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1 · El caso de uso en una frase, y a quién sirve</a:t>
            </a:r>
            <a:endParaRPr lang="en-US" sz="1400" dirty="0"/>
          </a:p>
        </p:txBody>
      </p:sp>
      <p:sp>
        <p:nvSpPr>
          <p:cNvPr id="5" name="Text 2"/>
          <p:cNvSpPr/>
          <p:nvPr/>
        </p:nvSpPr>
        <p:spPr>
          <a:xfrm>
            <a:off x="5740400" y="1783755"/>
            <a:ext cx="609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1 min</a:t>
            </a:r>
            <a:endParaRPr lang="en-US" sz="1200" dirty="0"/>
          </a:p>
        </p:txBody>
      </p:sp>
      <p:sp>
        <p:nvSpPr>
          <p:cNvPr id="6" name="Text 3"/>
          <p:cNvSpPr/>
          <p:nvPr/>
        </p:nvSpPr>
        <p:spPr>
          <a:xfrm>
            <a:off x="812800" y="2298105"/>
            <a:ext cx="4839970" cy="455613"/>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2 · La demo funcionando: una consulta completa, de principio a fin</a:t>
            </a:r>
            <a:endParaRPr lang="en-US" sz="1400" dirty="0"/>
          </a:p>
        </p:txBody>
      </p:sp>
      <p:sp>
        <p:nvSpPr>
          <p:cNvPr id="7" name="Text 4"/>
          <p:cNvSpPr/>
          <p:nvPr/>
        </p:nvSpPr>
        <p:spPr>
          <a:xfrm>
            <a:off x="6299200" y="2418755"/>
            <a:ext cx="1727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3 min</a:t>
            </a:r>
            <a:endParaRPr lang="en-US" sz="1200" dirty="0"/>
          </a:p>
        </p:txBody>
      </p:sp>
      <p:sp>
        <p:nvSpPr>
          <p:cNvPr id="8" name="Text 5"/>
          <p:cNvSpPr/>
          <p:nvPr/>
        </p:nvSpPr>
        <p:spPr>
          <a:xfrm>
            <a:off x="812800" y="2933105"/>
            <a:ext cx="4839970" cy="455613"/>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3 · La decisión de arquitectura, con su alternativa descartada</a:t>
            </a:r>
            <a:endParaRPr lang="en-US" sz="1400" dirty="0"/>
          </a:p>
        </p:txBody>
      </p:sp>
      <p:sp>
        <p:nvSpPr>
          <p:cNvPr id="9" name="Text 6"/>
          <p:cNvSpPr/>
          <p:nvPr/>
        </p:nvSpPr>
        <p:spPr>
          <a:xfrm>
            <a:off x="7975600" y="3053755"/>
            <a:ext cx="17272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3 min</a:t>
            </a:r>
            <a:endParaRPr lang="en-US" sz="1200" dirty="0"/>
          </a:p>
        </p:txBody>
      </p:sp>
      <p:sp>
        <p:nvSpPr>
          <p:cNvPr id="10" name="Text 7"/>
          <p:cNvSpPr/>
          <p:nvPr/>
        </p:nvSpPr>
        <p:spPr>
          <a:xfrm>
            <a:off x="812800" y="3568105"/>
            <a:ext cx="483997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4 · El número: qué midieron en el L10 y qué mejoró</a:t>
            </a:r>
            <a:endParaRPr lang="en-US" sz="1400" dirty="0"/>
          </a:p>
        </p:txBody>
      </p:sp>
      <p:sp>
        <p:nvSpPr>
          <p:cNvPr id="11" name="Text 8"/>
          <p:cNvSpPr/>
          <p:nvPr/>
        </p:nvSpPr>
        <p:spPr>
          <a:xfrm>
            <a:off x="9652000" y="3688755"/>
            <a:ext cx="6096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1 min</a:t>
            </a:r>
            <a:endParaRPr lang="en-US" sz="1200" dirty="0"/>
          </a:p>
        </p:txBody>
      </p:sp>
      <p:sp>
        <p:nvSpPr>
          <p:cNvPr id="12" name="Text 9"/>
          <p:cNvSpPr/>
          <p:nvPr/>
        </p:nvSpPr>
        <p:spPr>
          <a:xfrm>
            <a:off x="812800" y="4203105"/>
            <a:ext cx="483997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Q&amp;A del panel</a:t>
            </a:r>
            <a:endParaRPr lang="en-US" sz="1400" dirty="0"/>
          </a:p>
        </p:txBody>
      </p:sp>
      <p:sp>
        <p:nvSpPr>
          <p:cNvPr id="13" name="Text 10"/>
          <p:cNvSpPr/>
          <p:nvPr/>
        </p:nvSpPr>
        <p:spPr>
          <a:xfrm>
            <a:off x="10210800" y="4323755"/>
            <a:ext cx="11684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2 min</a:t>
            </a:r>
            <a:endParaRPr lang="en-US" sz="1200" dirty="0"/>
          </a:p>
        </p:txBody>
      </p:sp>
      <p:sp>
        <p:nvSpPr>
          <p:cNvPr id="14" name="Text 11"/>
          <p:cNvSpPr/>
          <p:nvPr/>
        </p:nvSpPr>
        <p:spPr>
          <a:xfrm>
            <a:off x="5486400" y="4812705"/>
            <a:ext cx="558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0</a:t>
            </a:r>
            <a:endParaRPr lang="en-US" sz="1200" dirty="0"/>
          </a:p>
        </p:txBody>
      </p:sp>
      <p:sp>
        <p:nvSpPr>
          <p:cNvPr id="15" name="Text 12"/>
          <p:cNvSpPr/>
          <p:nvPr/>
        </p:nvSpPr>
        <p:spPr>
          <a:xfrm>
            <a:off x="8280400" y="4812705"/>
            <a:ext cx="558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5</a:t>
            </a:r>
            <a:endParaRPr lang="en-US" sz="1200" dirty="0"/>
          </a:p>
        </p:txBody>
      </p:sp>
      <p:sp>
        <p:nvSpPr>
          <p:cNvPr id="16" name="Text 13"/>
          <p:cNvSpPr/>
          <p:nvPr/>
        </p:nvSpPr>
        <p:spPr>
          <a:xfrm>
            <a:off x="10541000" y="4812705"/>
            <a:ext cx="10668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10 min</a:t>
            </a:r>
            <a:endParaRPr lang="en-US" sz="1200" dirty="0"/>
          </a:p>
        </p:txBody>
      </p:sp>
      <p:sp>
        <p:nvSpPr>
          <p:cNvPr id="17" name="Text 14"/>
          <p:cNvSpPr/>
          <p:nvPr/>
        </p:nvSpPr>
        <p:spPr>
          <a:xfrm>
            <a:off x="812800" y="52826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«Usamos X» no basta: el panel busca la alternativa descartada y el criterio.</a:t>
            </a:r>
            <a:endParaRPr lang="en-US" sz="1600" dirty="0"/>
          </a:p>
        </p:txBody>
      </p:sp>
      <p:sp>
        <p:nvSpPr>
          <p:cNvPr id="18" name="Text 15"/>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16/29</a:t>
            </a:r>
            <a:endParaRPr lang="en-US" sz="1200" dirty="0"/>
          </a:p>
        </p:txBody>
      </p:sp>
      <p:pic>
        <p:nvPicPr>
          <p:cNvPr id="19" name="Image 1" descr="Logo de 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La evidencia se entrega 24 horas antes</a:t>
            </a:r>
            <a:endParaRPr lang="en-US" sz="3600" dirty="0"/>
          </a:p>
        </p:txBody>
      </p:sp>
      <p:sp>
        <p:nvSpPr>
          <p:cNvPr id="3" name="Shape 1"/>
          <p:cNvSpPr/>
          <p:nvPr/>
        </p:nvSpPr>
        <p:spPr>
          <a:xfrm>
            <a:off x="819150" y="1529755"/>
            <a:ext cx="2476500" cy="1958777"/>
          </a:xfrm>
          <a:prstGeom prst="roundRect">
            <a:avLst>
              <a:gd name="adj" fmla="val 4863"/>
            </a:avLst>
          </a:prstGeom>
          <a:solidFill>
            <a:srgbClr val="FFFFFF"/>
          </a:solidFill>
          <a:ln w="12700">
            <a:solidFill>
              <a:srgbClr val="1E293B"/>
            </a:solidFill>
            <a:prstDash val="solid"/>
          </a:ln>
        </p:spPr>
      </p:sp>
      <p:pic>
        <p:nvPicPr>
          <p:cNvPr id="4" name="Image 0" descr="Check">    </p:cNvPr>
          <p:cNvPicPr>
            <a:picLocks noChangeAspect="1"/>
          </p:cNvPicPr>
          <p:nvPr/>
        </p:nvPicPr>
        <p:blipFill>
          <a:blip r:embed="rId1"/>
          <a:srcRect l="0" r="0" t="0" b="0"/>
          <a:stretch/>
        </p:blipFill>
        <p:spPr>
          <a:xfrm>
            <a:off x="1028700" y="1739305"/>
            <a:ext cx="304800" cy="304800"/>
          </a:xfrm>
          <a:prstGeom prst="rect">
            <a:avLst/>
          </a:prstGeom>
        </p:spPr>
      </p:pic>
      <p:sp>
        <p:nvSpPr>
          <p:cNvPr id="5" name="Text 2"/>
          <p:cNvSpPr/>
          <p:nvPr/>
        </p:nvSpPr>
        <p:spPr>
          <a:xfrm>
            <a:off x="1028700" y="2145705"/>
            <a:ext cx="211912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URL pública del Space</a:t>
            </a:r>
            <a:endParaRPr lang="en-US" sz="1600" dirty="0"/>
          </a:p>
        </p:txBody>
      </p:sp>
      <p:sp>
        <p:nvSpPr>
          <p:cNvPr id="6" name="Text 3"/>
          <p:cNvSpPr/>
          <p:nvPr/>
        </p:nvSpPr>
        <p:spPr>
          <a:xfrm>
            <a:off x="1028700" y="2527697"/>
            <a:ext cx="211912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L8</a:t>
            </a:r>
            <a:endParaRPr lang="en-US" sz="1200" dirty="0"/>
          </a:p>
        </p:txBody>
      </p:sp>
      <p:sp>
        <p:nvSpPr>
          <p:cNvPr id="7" name="Shape 4"/>
          <p:cNvSpPr/>
          <p:nvPr/>
        </p:nvSpPr>
        <p:spPr>
          <a:xfrm>
            <a:off x="3511550" y="1529755"/>
            <a:ext cx="2476500" cy="1958777"/>
          </a:xfrm>
          <a:prstGeom prst="roundRect">
            <a:avLst>
              <a:gd name="adj" fmla="val 4863"/>
            </a:avLst>
          </a:prstGeom>
          <a:solidFill>
            <a:srgbClr val="FFFFFF"/>
          </a:solidFill>
          <a:ln w="12700">
            <a:solidFill>
              <a:srgbClr val="1E293B"/>
            </a:solidFill>
            <a:prstDash val="solid"/>
          </a:ln>
        </p:spPr>
      </p:sp>
      <p:pic>
        <p:nvPicPr>
          <p:cNvPr id="8" name="Image 1" descr="Check">    </p:cNvPr>
          <p:cNvPicPr>
            <a:picLocks noChangeAspect="1"/>
          </p:cNvPicPr>
          <p:nvPr/>
        </p:nvPicPr>
        <p:blipFill>
          <a:blip r:embed="rId2"/>
          <a:srcRect l="0" r="0" t="0" b="0"/>
          <a:stretch/>
        </p:blipFill>
        <p:spPr>
          <a:xfrm>
            <a:off x="3721100" y="1739305"/>
            <a:ext cx="304800" cy="304800"/>
          </a:xfrm>
          <a:prstGeom prst="rect">
            <a:avLst/>
          </a:prstGeom>
        </p:spPr>
      </p:pic>
      <p:sp>
        <p:nvSpPr>
          <p:cNvPr id="9" name="Text 5"/>
          <p:cNvSpPr/>
          <p:nvPr/>
        </p:nvSpPr>
        <p:spPr>
          <a:xfrm>
            <a:off x="3721100" y="2145705"/>
            <a:ext cx="211912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API key para el panel</a:t>
            </a:r>
            <a:endParaRPr lang="en-US" sz="1600" dirty="0"/>
          </a:p>
        </p:txBody>
      </p:sp>
      <p:sp>
        <p:nvSpPr>
          <p:cNvPr id="10" name="Text 6"/>
          <p:cNvSpPr/>
          <p:nvPr/>
        </p:nvSpPr>
        <p:spPr>
          <a:xfrm>
            <a:off x="3721100" y="2527697"/>
            <a:ext cx="211912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L8</a:t>
            </a:r>
            <a:endParaRPr lang="en-US" sz="1200" dirty="0"/>
          </a:p>
        </p:txBody>
      </p:sp>
      <p:sp>
        <p:nvSpPr>
          <p:cNvPr id="11" name="Shape 7"/>
          <p:cNvSpPr/>
          <p:nvPr/>
        </p:nvSpPr>
        <p:spPr>
          <a:xfrm>
            <a:off x="6203950" y="1529755"/>
            <a:ext cx="2476500" cy="1958777"/>
          </a:xfrm>
          <a:prstGeom prst="roundRect">
            <a:avLst>
              <a:gd name="adj" fmla="val 4863"/>
            </a:avLst>
          </a:prstGeom>
          <a:solidFill>
            <a:srgbClr val="FFFFFF"/>
          </a:solidFill>
          <a:ln w="12700">
            <a:solidFill>
              <a:srgbClr val="1E293B"/>
            </a:solidFill>
            <a:prstDash val="solid"/>
          </a:ln>
        </p:spPr>
      </p:sp>
      <p:pic>
        <p:nvPicPr>
          <p:cNvPr id="12" name="Image 2" descr="Check">    </p:cNvPr>
          <p:cNvPicPr>
            <a:picLocks noChangeAspect="1"/>
          </p:cNvPicPr>
          <p:nvPr/>
        </p:nvPicPr>
        <p:blipFill>
          <a:blip r:embed="rId3"/>
          <a:srcRect l="0" r="0" t="0" b="0"/>
          <a:stretch/>
        </p:blipFill>
        <p:spPr>
          <a:xfrm>
            <a:off x="6413500" y="1739305"/>
            <a:ext cx="304800" cy="304800"/>
          </a:xfrm>
          <a:prstGeom prst="rect">
            <a:avLst/>
          </a:prstGeom>
        </p:spPr>
      </p:pic>
      <p:sp>
        <p:nvSpPr>
          <p:cNvPr id="13" name="Text 8"/>
          <p:cNvSpPr/>
          <p:nvPr/>
        </p:nvSpPr>
        <p:spPr>
          <a:xfrm>
            <a:off x="6413500" y="2145705"/>
            <a:ext cx="2119122"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Captura de una traza en Langfuse</a:t>
            </a:r>
            <a:endParaRPr lang="en-US" sz="1600" dirty="0"/>
          </a:p>
        </p:txBody>
      </p:sp>
      <p:sp>
        <p:nvSpPr>
          <p:cNvPr id="14" name="Text 9"/>
          <p:cNvSpPr/>
          <p:nvPr/>
        </p:nvSpPr>
        <p:spPr>
          <a:xfrm>
            <a:off x="6413500" y="2808089"/>
            <a:ext cx="211912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L9</a:t>
            </a:r>
            <a:endParaRPr lang="en-US" sz="1200" dirty="0"/>
          </a:p>
        </p:txBody>
      </p:sp>
      <p:sp>
        <p:nvSpPr>
          <p:cNvPr id="15" name="Shape 10"/>
          <p:cNvSpPr/>
          <p:nvPr/>
        </p:nvSpPr>
        <p:spPr>
          <a:xfrm>
            <a:off x="8896350" y="1529755"/>
            <a:ext cx="2476500" cy="1958777"/>
          </a:xfrm>
          <a:prstGeom prst="roundRect">
            <a:avLst>
              <a:gd name="adj" fmla="val 4863"/>
            </a:avLst>
          </a:prstGeom>
          <a:solidFill>
            <a:srgbClr val="FFFFFF"/>
          </a:solidFill>
          <a:ln w="12700">
            <a:solidFill>
              <a:srgbClr val="1E293B"/>
            </a:solidFill>
            <a:prstDash val="solid"/>
          </a:ln>
        </p:spPr>
      </p:sp>
      <p:pic>
        <p:nvPicPr>
          <p:cNvPr id="16" name="Image 3" descr="Check">    </p:cNvPr>
          <p:cNvPicPr>
            <a:picLocks noChangeAspect="1"/>
          </p:cNvPicPr>
          <p:nvPr/>
        </p:nvPicPr>
        <p:blipFill>
          <a:blip r:embed="rId4"/>
          <a:srcRect l="0" r="0" t="0" b="0"/>
          <a:stretch/>
        </p:blipFill>
        <p:spPr>
          <a:xfrm>
            <a:off x="9105900" y="1739305"/>
            <a:ext cx="304800" cy="304800"/>
          </a:xfrm>
          <a:prstGeom prst="rect">
            <a:avLst/>
          </a:prstGeom>
        </p:spPr>
      </p:pic>
      <p:sp>
        <p:nvSpPr>
          <p:cNvPr id="17" name="Text 11"/>
          <p:cNvSpPr/>
          <p:nvPr/>
        </p:nvSpPr>
        <p:spPr>
          <a:xfrm>
            <a:off x="9105900" y="2145705"/>
            <a:ext cx="2119122"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Salida de verificar_despliegue.py en verde</a:t>
            </a:r>
            <a:endParaRPr lang="en-US" sz="1600" dirty="0"/>
          </a:p>
        </p:txBody>
      </p:sp>
      <p:sp>
        <p:nvSpPr>
          <p:cNvPr id="18" name="Text 12"/>
          <p:cNvSpPr/>
          <p:nvPr/>
        </p:nvSpPr>
        <p:spPr>
          <a:xfrm>
            <a:off x="9105900" y="3088481"/>
            <a:ext cx="211912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L8</a:t>
            </a:r>
            <a:endParaRPr lang="en-US" sz="1200" dirty="0"/>
          </a:p>
        </p:txBody>
      </p:sp>
      <p:sp>
        <p:nvSpPr>
          <p:cNvPr id="19" name="Shape 13"/>
          <p:cNvSpPr/>
          <p:nvPr/>
        </p:nvSpPr>
        <p:spPr>
          <a:xfrm>
            <a:off x="812800" y="3698081"/>
            <a:ext cx="10566400" cy="532606"/>
          </a:xfrm>
          <a:prstGeom prst="roundRect">
            <a:avLst>
              <a:gd name="adj" fmla="val 4769"/>
            </a:avLst>
          </a:prstGeom>
          <a:solidFill>
            <a:srgbClr val="1E293B"/>
          </a:solidFill>
          <a:ln/>
        </p:spPr>
      </p:sp>
      <p:sp>
        <p:nvSpPr>
          <p:cNvPr id="20" name="Text 14"/>
          <p:cNvSpPr/>
          <p:nvPr/>
        </p:nvSpPr>
        <p:spPr>
          <a:xfrm>
            <a:off x="1016000" y="3850481"/>
            <a:ext cx="10464800"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python docente/verificar_despliegue.py --url https://&lt;tu-space&gt;.hf.space --key &lt;tu-key&gt;</a:t>
            </a:r>
            <a:endParaRPr lang="en-US" sz="1300" dirty="0"/>
          </a:p>
        </p:txBody>
      </p:sp>
      <p:sp>
        <p:nvSpPr>
          <p:cNvPr id="21" name="Text 15"/>
          <p:cNvSpPr/>
          <p:nvPr/>
        </p:nvSpPr>
        <p:spPr>
          <a:xfrm>
            <a:off x="812800" y="4433888"/>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Comprueba: GET /health sin credencial · POST /chat con key → 200 · sin key o con key incorrecta → 401.</a:t>
            </a:r>
            <a:endParaRPr lang="en-US" sz="1600" dirty="0"/>
          </a:p>
        </p:txBody>
      </p:sp>
      <p:sp>
        <p:nvSpPr>
          <p:cNvPr id="22" name="Text 16"/>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17/29</a:t>
            </a:r>
            <a:endParaRPr lang="en-US" sz="1200" dirty="0"/>
          </a:p>
        </p:txBody>
      </p:sp>
      <p:pic>
        <p:nvPicPr>
          <p:cNvPr id="23" name="Image 4" descr="Logo de AriwaLabs">    </p:cNvPr>
          <p:cNvPicPr>
            <a:picLocks noChangeAspect="1"/>
          </p:cNvPicPr>
          <p:nvPr/>
        </p:nvPicPr>
        <p:blipFill>
          <a:blip r:embed="rId5"/>
          <a:srcRect l="-9345" r="-9345" t="0" b="0"/>
          <a:stretch/>
        </p:blipFill>
        <p:spPr>
          <a:xfrm>
            <a:off x="10680700" y="6223000"/>
            <a:ext cx="698500" cy="254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Si el Space cae, decide la evidencia</a:t>
            </a:r>
            <a:endParaRPr lang="en-US" sz="3600" dirty="0"/>
          </a:p>
        </p:txBody>
      </p:sp>
      <p:pic>
        <p:nvPicPr>
          <p:cNvPr id="3" name="Image 0" descr="Árbol de contingencia: si el Space no responde, la evidencia de 24 h decide si hay penalización">    </p:cNvPr>
          <p:cNvPicPr>
            <a:picLocks noChangeAspect="1"/>
          </p:cNvPicPr>
          <p:nvPr/>
        </p:nvPicPr>
        <p:blipFill>
          <a:blip r:embed="rId1"/>
          <a:srcRect l="0" r="0" t="-11" b="-11"/>
          <a:stretch/>
        </p:blipFill>
        <p:spPr>
          <a:xfrm>
            <a:off x="812800" y="1523405"/>
            <a:ext cx="10566400" cy="3746500"/>
          </a:xfrm>
          <a:prstGeom prst="rect">
            <a:avLst/>
          </a:prstGeom>
        </p:spPr>
      </p:pic>
      <p:sp>
        <p:nvSpPr>
          <p:cNvPr id="4" name="Text 1"/>
          <p:cNvSpPr/>
          <p:nvPr/>
        </p:nvSpPr>
        <p:spPr>
          <a:xfrm>
            <a:off x="881253" y="3180755"/>
            <a:ext cx="2276094"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Día de la demo:</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¿el Space responde?</a:t>
            </a:r>
            <a:endParaRPr lang="en-US" sz="1400" dirty="0"/>
          </a:p>
        </p:txBody>
      </p:sp>
      <p:sp>
        <p:nvSpPr>
          <p:cNvPr id="5" name="Text 2"/>
          <p:cNvSpPr/>
          <p:nvPr/>
        </p:nvSpPr>
        <p:spPr>
          <a:xfrm>
            <a:off x="4431538" y="1910755"/>
            <a:ext cx="2668524"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Se sustenta contra</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la URL pública</a:t>
            </a:r>
            <a:endParaRPr lang="en-US" sz="1400" dirty="0"/>
          </a:p>
        </p:txBody>
      </p:sp>
      <p:sp>
        <p:nvSpPr>
          <p:cNvPr id="6" name="Text 3"/>
          <p:cNvSpPr/>
          <p:nvPr/>
        </p:nvSpPr>
        <p:spPr>
          <a:xfrm>
            <a:off x="4431538" y="4323755"/>
            <a:ext cx="2668524"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¿El equipo entregó la</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evidencia de las 24 h?</a:t>
            </a:r>
            <a:endParaRPr lang="en-US" sz="1400" dirty="0"/>
          </a:p>
        </p:txBody>
      </p:sp>
      <p:sp>
        <p:nvSpPr>
          <p:cNvPr id="7" name="Text 4"/>
          <p:cNvSpPr/>
          <p:nvPr/>
        </p:nvSpPr>
        <p:spPr>
          <a:xfrm>
            <a:off x="8647938" y="3339505"/>
            <a:ext cx="2668524"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Se sustenta en local,</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sin penalización</a:t>
            </a:r>
            <a:endParaRPr lang="en-US" sz="1400" dirty="0"/>
          </a:p>
        </p:txBody>
      </p:sp>
      <p:sp>
        <p:nvSpPr>
          <p:cNvPr id="8" name="Text 5"/>
          <p:cNvSpPr/>
          <p:nvPr/>
        </p:nvSpPr>
        <p:spPr>
          <a:xfrm>
            <a:off x="8647938" y="4577755"/>
            <a:ext cx="2668524" cy="455613"/>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Sí hay penalización:</a:t>
            </a:r>
            <a:endParaRPr lang="en-US" sz="1400" dirty="0"/>
          </a:p>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impacta Funcionalidad</a:t>
            </a:r>
            <a:endParaRPr lang="en-US" sz="1400" dirty="0"/>
          </a:p>
        </p:txBody>
      </p:sp>
      <p:sp>
        <p:nvSpPr>
          <p:cNvPr id="9" name="Text 6"/>
          <p:cNvSpPr/>
          <p:nvPr/>
        </p:nvSpPr>
        <p:spPr>
          <a:xfrm>
            <a:off x="3873500" y="2602905"/>
            <a:ext cx="431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Sí</a:t>
            </a:r>
            <a:endParaRPr lang="en-US" sz="1200" dirty="0"/>
          </a:p>
        </p:txBody>
      </p:sp>
      <p:sp>
        <p:nvSpPr>
          <p:cNvPr id="10" name="Text 7"/>
          <p:cNvSpPr/>
          <p:nvPr/>
        </p:nvSpPr>
        <p:spPr>
          <a:xfrm>
            <a:off x="3873500" y="4063405"/>
            <a:ext cx="431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No</a:t>
            </a:r>
            <a:endParaRPr lang="en-US" sz="1200" dirty="0"/>
          </a:p>
        </p:txBody>
      </p:sp>
      <p:sp>
        <p:nvSpPr>
          <p:cNvPr id="11" name="Text 8"/>
          <p:cNvSpPr/>
          <p:nvPr/>
        </p:nvSpPr>
        <p:spPr>
          <a:xfrm>
            <a:off x="7937500" y="3936405"/>
            <a:ext cx="431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Sí</a:t>
            </a:r>
            <a:endParaRPr lang="en-US" sz="1200" dirty="0"/>
          </a:p>
        </p:txBody>
      </p:sp>
      <p:sp>
        <p:nvSpPr>
          <p:cNvPr id="12" name="Text 9"/>
          <p:cNvSpPr/>
          <p:nvPr/>
        </p:nvSpPr>
        <p:spPr>
          <a:xfrm>
            <a:off x="7988300" y="4850805"/>
            <a:ext cx="431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E293B"/>
                </a:solidFill>
                <a:latin typeface="IBM Plex Sans" pitchFamily="34" charset="0"/>
                <a:ea typeface="IBM Plex Sans" pitchFamily="34" charset="-122"/>
                <a:cs typeface="IBM Plex Sans" pitchFamily="34" charset="-120"/>
              </a:rPr>
              <a:t>No</a:t>
            </a:r>
            <a:endParaRPr lang="en-US" sz="1200" dirty="0"/>
          </a:p>
        </p:txBody>
      </p:sp>
      <p:sp>
        <p:nvSpPr>
          <p:cNvPr id="13" name="Text 10"/>
          <p:cNvSpPr/>
          <p:nvPr/>
        </p:nvSpPr>
        <p:spPr>
          <a:xfrm>
            <a:off x="812800" y="54731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La nota evalúa diseño, evidencia y argumentación; no la disponibilidad del free tier.</a:t>
            </a:r>
            <a:endParaRPr lang="en-US" sz="1600" dirty="0"/>
          </a:p>
        </p:txBody>
      </p:sp>
      <p:sp>
        <p:nvSpPr>
          <p:cNvPr id="14" name="Text 11"/>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18/29</a:t>
            </a:r>
            <a:endParaRPr lang="en-US" sz="1200" dirty="0"/>
          </a:p>
        </p:txBody>
      </p:sp>
      <p:pic>
        <p:nvPicPr>
          <p:cNvPr id="15" name="Image 1" descr="Logo de 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documento de diseño ocupa 4 páginas</a:t>
            </a:r>
            <a:endParaRPr lang="en-US" sz="3600" dirty="0"/>
          </a:p>
        </p:txBody>
      </p:sp>
      <p:sp>
        <p:nvSpPr>
          <p:cNvPr id="3" name="Shape 1"/>
          <p:cNvSpPr/>
          <p:nvPr/>
        </p:nvSpPr>
        <p:spPr>
          <a:xfrm>
            <a:off x="812800" y="1523405"/>
            <a:ext cx="10566400" cy="2458244"/>
          </a:xfrm>
          <a:prstGeom prst="rect">
            <a:avLst/>
          </a:prstGeom>
          <a:solidFill>
            <a:srgbClr val="FFFFFF"/>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2445544"/>
        </p:xfrm>
        <a:graphic>
          <a:graphicData uri="http://schemas.openxmlformats.org/drawingml/2006/table">
            <a:tbl>
              <a:tblPr/>
              <a:tblGrid>
                <a:gridCol w="2743962"/>
                <a:gridCol w="7809738"/>
              </a:tblGrid>
              <a:tr h="43934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Sección</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Contenido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1 · Caso de uso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Qué resuelve, para quién, y qué no resuelve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8818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2 · Arquitectura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Diagrama: cliente → API → agente → tools · retriever · guardrails → simulador · Qdrant · modelo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3 · Decisiones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5 decisiones con su alternativa descartada y el criterio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4 · Evidencia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Métricas del L10, cuellos del L9, y qué se haría con una semana más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184848"/>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Plantilla: recursos/plantillas/plantilla-documento-diseno.md · diagrama C4 nivel 1 y 2, o equivalente.</a:t>
            </a:r>
            <a:endParaRPr lang="en-US" sz="1600" dirty="0"/>
          </a:p>
        </p:txBody>
      </p:sp>
      <p:sp>
        <p:nvSpPr>
          <p:cNvPr id="6" name="Text 3"/>
          <p:cNvSpPr/>
          <p:nvPr/>
        </p:nvSpPr>
        <p:spPr>
          <a:xfrm>
            <a:off x="812800" y="4516041"/>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Decir qué falta es señal de que se entendió el sistema.</a:t>
            </a:r>
            <a:endParaRPr lang="en-US" sz="1600" dirty="0"/>
          </a:p>
        </p:txBody>
      </p:sp>
      <p:sp>
        <p:nvSpPr>
          <p:cNvPr id="7" name="Text 4"/>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19/29</a:t>
            </a:r>
            <a:endParaRPr lang="en-US" sz="1200" dirty="0"/>
          </a:p>
        </p:txBody>
      </p:sp>
      <p:pic>
        <p:nvPicPr>
          <p:cNvPr id="8" name="Image 0" descr="Logo de 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FastAPI documenta la API por sí sola</a:t>
            </a:r>
            <a:endParaRPr lang="en-US" sz="3600" dirty="0"/>
          </a:p>
        </p:txBody>
      </p:sp>
      <p:sp>
        <p:nvSpPr>
          <p:cNvPr id="3" name="Shape 1"/>
          <p:cNvSpPr/>
          <p:nvPr/>
        </p:nvSpPr>
        <p:spPr>
          <a:xfrm>
            <a:off x="819150" y="1529755"/>
            <a:ext cx="5168900" cy="1512689"/>
          </a:xfrm>
          <a:prstGeom prst="roundRect">
            <a:avLst>
              <a:gd name="adj" fmla="val 6297"/>
            </a:avLst>
          </a:prstGeom>
          <a:solidFill>
            <a:srgbClr val="FFFFFF"/>
          </a:solidFill>
          <a:ln w="12700">
            <a:solidFill>
              <a:srgbClr val="1E293B"/>
            </a:solidFill>
            <a:prstDash val="solid"/>
          </a:ln>
        </p:spPr>
      </p:sp>
      <p:sp>
        <p:nvSpPr>
          <p:cNvPr id="4" name="Text 2"/>
          <p:cNvSpPr/>
          <p:nvPr/>
        </p:nvSpPr>
        <p:spPr>
          <a:xfrm>
            <a:off x="1079500" y="1790105"/>
            <a:ext cx="4787646"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Mono" pitchFamily="34" charset="0"/>
                <a:ea typeface="IBM Plex Mono" pitchFamily="34" charset="-122"/>
                <a:cs typeface="IBM Plex Mono" pitchFamily="34" charset="-120"/>
              </a:rPr>
              <a:t>/docs</a:t>
            </a:r>
            <a:endParaRPr lang="en-US" sz="2200" dirty="0"/>
          </a:p>
        </p:txBody>
      </p:sp>
      <p:sp>
        <p:nvSpPr>
          <p:cNvPr id="5" name="Text 3"/>
          <p:cNvSpPr/>
          <p:nvPr/>
        </p:nvSpPr>
        <p:spPr>
          <a:xfrm>
            <a:off x="1079500" y="2221309"/>
            <a:ext cx="4787646"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Swagger UI para explorar y probar los endpoints.</a:t>
            </a:r>
            <a:endParaRPr lang="en-US" sz="1600" dirty="0"/>
          </a:p>
        </p:txBody>
      </p:sp>
      <p:sp>
        <p:nvSpPr>
          <p:cNvPr id="6" name="Shape 4"/>
          <p:cNvSpPr/>
          <p:nvPr/>
        </p:nvSpPr>
        <p:spPr>
          <a:xfrm>
            <a:off x="6203950" y="1529755"/>
            <a:ext cx="5168900" cy="1512689"/>
          </a:xfrm>
          <a:prstGeom prst="roundRect">
            <a:avLst>
              <a:gd name="adj" fmla="val 6297"/>
            </a:avLst>
          </a:prstGeom>
          <a:solidFill>
            <a:srgbClr val="FFFFFF"/>
          </a:solidFill>
          <a:ln w="12700">
            <a:solidFill>
              <a:srgbClr val="1E293B"/>
            </a:solidFill>
            <a:prstDash val="solid"/>
          </a:ln>
        </p:spPr>
      </p:sp>
      <p:sp>
        <p:nvSpPr>
          <p:cNvPr id="7" name="Text 5"/>
          <p:cNvSpPr/>
          <p:nvPr/>
        </p:nvSpPr>
        <p:spPr>
          <a:xfrm>
            <a:off x="6464300" y="1790105"/>
            <a:ext cx="4787646"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Mono" pitchFamily="34" charset="0"/>
                <a:ea typeface="IBM Plex Mono" pitchFamily="34" charset="-122"/>
                <a:cs typeface="IBM Plex Mono" pitchFamily="34" charset="-120"/>
              </a:rPr>
              <a:t>/openapi.json</a:t>
            </a:r>
            <a:endParaRPr lang="en-US" sz="2200" dirty="0"/>
          </a:p>
        </p:txBody>
      </p:sp>
      <p:sp>
        <p:nvSpPr>
          <p:cNvPr id="8" name="Text 6"/>
          <p:cNvSpPr/>
          <p:nvPr/>
        </p:nvSpPr>
        <p:spPr>
          <a:xfrm>
            <a:off x="6464300" y="2221309"/>
            <a:ext cx="4787646"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La especificación, generada desde los modelos Pydantic.</a:t>
            </a:r>
            <a:endParaRPr lang="en-US" sz="1600" dirty="0"/>
          </a:p>
        </p:txBody>
      </p:sp>
      <p:sp>
        <p:nvSpPr>
          <p:cNvPr id="9" name="Text 7"/>
          <p:cNvSpPr/>
          <p:nvPr/>
        </p:nvSpPr>
        <p:spPr>
          <a:xfrm>
            <a:off x="812800" y="3251994"/>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No se escribe la especificación a mano. Un evaluador puede explorar tu API sin leer tu código.</a:t>
            </a:r>
            <a:endParaRPr lang="en-US" sz="1600" dirty="0"/>
          </a:p>
        </p:txBody>
      </p:sp>
      <p:sp>
        <p:nvSpPr>
          <p:cNvPr id="10" name="Text 8"/>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20/29</a:t>
            </a:r>
            <a:endParaRPr lang="en-US" sz="1200" dirty="0"/>
          </a:p>
        </p:txBody>
      </p:sp>
      <p:pic>
        <p:nvPicPr>
          <p:cNvPr id="11" name="Image 0" descr="Logo de 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L11 se hace antes de la sesión</a:t>
            </a:r>
            <a:endParaRPr lang="en-US" sz="3600" dirty="0"/>
          </a:p>
        </p:txBody>
      </p:sp>
      <p:sp>
        <p:nvSpPr>
          <p:cNvPr id="3" name="Text 1"/>
          <p:cNvSpPr/>
          <p:nvPr/>
        </p:nvSpPr>
        <p:spPr>
          <a:xfrm>
            <a:off x="812800" y="1523405"/>
            <a:ext cx="10883392" cy="586184"/>
          </a:xfrm>
          <a:prstGeom prst="rect">
            <a:avLst/>
          </a:prstGeom>
          <a:noFill/>
          <a:ln/>
        </p:spPr>
        <p:txBody>
          <a:bodyPr wrap="square" lIns="0" tIns="0" rIns="0" bIns="0" rtlCol="0" anchor="t">
            <a:normAutofit/>
          </a:bodyPr>
          <a:lstStyle/>
          <a:p>
            <a:pPr algn="l" indent="0" marL="0">
              <a:lnSpc>
                <a:spcPts val="2208"/>
              </a:lnSpc>
              <a:buNone/>
            </a:pPr>
            <a:r>
              <a:rPr lang="en-US" sz="1600" b="1" dirty="0">
                <a:solidFill>
                  <a:srgbClr val="1E293B"/>
                </a:solidFill>
                <a:latin typeface="IBM Plex Sans" pitchFamily="34" charset="0"/>
                <a:ea typeface="IBM Plex Sans" pitchFamily="34" charset="-122"/>
                <a:cs typeface="IBM Plex Sans" pitchFamily="34" charset="-120"/>
              </a:rPr>
              <a:t>2 h, antes de la sesión en vivo (no durante).</a:t>
            </a:r>
            <a:r>
              <a:rPr lang="en-US" sz="1600" dirty="0">
                <a:solidFill>
                  <a:srgbClr val="1E293B"/>
                </a:solidFill>
                <a:latin typeface="IBM Plex Sans" pitchFamily="34" charset="0"/>
                <a:ea typeface="IBM Plex Sans" pitchFamily="34" charset="-122"/>
                <a:cs typeface="IBM Plex Sans" pitchFamily="34" charset="-120"/>
              </a:rPr>
              <a:t> Cierra el proyecto con un cliente con streaming y un documento de diseño.</a:t>
            </a:r>
            <a:endParaRPr lang="en-US" sz="1600" dirty="0"/>
          </a:p>
        </p:txBody>
      </p:sp>
      <p:sp>
        <p:nvSpPr>
          <p:cNvPr id="4" name="Shape 2"/>
          <p:cNvSpPr/>
          <p:nvPr/>
        </p:nvSpPr>
        <p:spPr>
          <a:xfrm>
            <a:off x="812800" y="2287389"/>
            <a:ext cx="10566400" cy="2582763"/>
          </a:xfrm>
          <a:prstGeom prst="rect">
            <a:avLst/>
          </a:prstGeom>
          <a:solidFill>
            <a:srgbClr val="FFFF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300089"/>
          <a:ext cx="10553700" cy="2570063"/>
        </p:xfrm>
        <a:graphic>
          <a:graphicData uri="http://schemas.openxmlformats.org/drawingml/2006/table">
            <a:tbl>
              <a:tblPr/>
              <a:tblGrid>
                <a:gridCol w="3166110"/>
                <a:gridCol w="1055370"/>
                <a:gridCol w="6332220"/>
              </a:tblGrid>
              <a:tr h="421580">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Parte</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Min</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Qué hace el alumno</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65266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1 · Cliente con streaming</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50</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Añade /chat/stream a api.py, que consume responder_streaming(), y adapta code/index.html a su proyecto</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2158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2 · Documento de diseño</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40</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Completa la plantilla: 4 páginas, no más</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5266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3 · Verificar y capturar evidencia</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20</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Corre verificar_despliegue.py y guarda una captura de una traza reciente en Langfuse</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2158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4 · Ensayo cronometrado</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10</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Corre la demo una vez, con reloj, siguiendo los 4 movimientos</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5073352"/>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Entregables en el repositorio del equipo; documento en lab/&lt;tu-track&gt;/documento-diseno.md.</a:t>
            </a:r>
            <a:endParaRPr lang="en-US" sz="1600" dirty="0"/>
          </a:p>
        </p:txBody>
      </p:sp>
      <p:sp>
        <p:nvSpPr>
          <p:cNvPr id="7" name="Text 4"/>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21/29</a:t>
            </a:r>
            <a:endParaRPr lang="en-US" sz="1200" dirty="0"/>
          </a:p>
        </p:txBody>
      </p:sp>
      <p:pic>
        <p:nvPicPr>
          <p:cNvPr id="8" name="Image 0" descr="Logo de 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Proyecto Integrador tiene seis entregables</a:t>
            </a:r>
            <a:endParaRPr lang="en-US" sz="3600" dirty="0"/>
          </a:p>
        </p:txBody>
      </p:sp>
      <p:sp>
        <p:nvSpPr>
          <p:cNvPr id="3" name="Shape 1"/>
          <p:cNvSpPr/>
          <p:nvPr/>
        </p:nvSpPr>
        <p:spPr>
          <a:xfrm>
            <a:off x="812800" y="1523405"/>
            <a:ext cx="10566400" cy="3088084"/>
          </a:xfrm>
          <a:prstGeom prst="rect">
            <a:avLst/>
          </a:prstGeom>
          <a:solidFill>
            <a:srgbClr val="FFFFFF"/>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3075384"/>
        </p:xfrm>
        <a:graphic>
          <a:graphicData uri="http://schemas.openxmlformats.org/drawingml/2006/table">
            <a:tbl>
              <a:tblPr/>
              <a:tblGrid>
                <a:gridCol w="7387590"/>
                <a:gridCol w="3166110"/>
              </a:tblGrid>
              <a:tr h="43934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Entregable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De dónde viene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Agente desplegado con URL pública y API key</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L8</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Trazas en Langfuse del Space real</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L9</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Evaluación v1 vs v2 sobre 30 casos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L10</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Cliente HTML con streaming</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nuevo, L11</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Documento de diseño con diagrama de arquitectura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nuevo, L11</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Demo end-to-end ante panel</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día de la S11</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814689"/>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En negrita, lo nuevo del L11. Todo lo demás ya existe: hay que cerrarlo.</a:t>
            </a:r>
            <a:endParaRPr lang="en-US" sz="1600" dirty="0"/>
          </a:p>
        </p:txBody>
      </p:sp>
      <p:sp>
        <p:nvSpPr>
          <p:cNvPr id="6" name="Text 3"/>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22/29</a:t>
            </a:r>
            <a:endParaRPr lang="en-US" sz="1200" dirty="0"/>
          </a:p>
        </p:txBody>
      </p:sp>
      <p:pic>
        <p:nvPicPr>
          <p:cNvPr id="7" name="Image 0" descr="Logo de 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La ronda se calcula antes de la sesión</a:t>
            </a:r>
            <a:endParaRPr lang="en-US" sz="3600" dirty="0"/>
          </a:p>
        </p:txBody>
      </p:sp>
      <p:sp>
        <p:nvSpPr>
          <p:cNvPr id="3" name="Shape 1"/>
          <p:cNvSpPr/>
          <p:nvPr/>
        </p:nvSpPr>
        <p:spPr>
          <a:xfrm>
            <a:off x="812800" y="1523405"/>
            <a:ext cx="4572000" cy="2707084"/>
          </a:xfrm>
          <a:prstGeom prst="rect">
            <a:avLst/>
          </a:prstGeom>
          <a:solidFill>
            <a:srgbClr val="FFFFFF"/>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4559300" cy="2694384"/>
        </p:xfrm>
        <a:graphic>
          <a:graphicData uri="http://schemas.openxmlformats.org/drawingml/2006/table">
            <a:tbl>
              <a:tblPr/>
              <a:tblGrid>
                <a:gridCol w="1914906"/>
                <a:gridCol w="2644394"/>
              </a:tblGrid>
              <a:tr h="43934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Cuándo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Qué</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24 h antes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Entrega anticipada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8818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Bloque 1 · 30 min</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Ensayo cronometrado por equipo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Bloque 2 · 105 min</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Sustentaciones ante panel</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8818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Bloque 3 · 5 min</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Cierre: se libera el bonus de Foundry</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Shape 2"/>
          <p:cNvSpPr/>
          <p:nvPr/>
        </p:nvSpPr>
        <p:spPr>
          <a:xfrm>
            <a:off x="5588000" y="1523405"/>
            <a:ext cx="5791200" cy="3146425"/>
          </a:xfrm>
          <a:prstGeom prst="rect">
            <a:avLst/>
          </a:prstGeom>
          <a:solidFill>
            <a:srgbClr val="FFFFFF"/>
          </a:solidFill>
          <a:ln/>
        </p:spPr>
      </p:sp>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5600700" y="1536105"/>
          <a:ext cx="5778500" cy="3133725"/>
        </p:xfrm>
        <a:graphic>
          <a:graphicData uri="http://schemas.openxmlformats.org/drawingml/2006/table">
            <a:tbl>
              <a:tblPr/>
              <a:tblGrid>
                <a:gridCol w="1386840"/>
                <a:gridCol w="1271270"/>
                <a:gridCol w="3120390"/>
              </a:tblGrid>
              <a:tr h="68818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Equipos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Min / equipo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Lectura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8</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13</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cómodo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10</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10</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cómodo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13</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8</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mínimo aceptable</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8818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15</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7</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ajustado: usar 30 min del laboratorio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más de 16</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dos paneles en paralelo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873030"/>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105 min ÷ número de equipos. Piso: 8 min por equipo. Nunca se recorta el Q&amp;A.</a:t>
            </a:r>
            <a:endParaRPr lang="en-US" sz="1600" dirty="0"/>
          </a:p>
        </p:txBody>
      </p:sp>
      <p:sp>
        <p:nvSpPr>
          <p:cNvPr id="8" name="Text 4"/>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23/29</a:t>
            </a:r>
            <a:endParaRPr lang="en-US" sz="1200" dirty="0"/>
          </a:p>
        </p:txBody>
      </p:sp>
      <p:pic>
        <p:nvPicPr>
          <p:cNvPr id="9" name="Image 0" descr="Logo de 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La rúbrica aplica los 5 criterios completos</a:t>
            </a:r>
            <a:endParaRPr lang="en-US" sz="3600" dirty="0"/>
          </a:p>
        </p:txBody>
      </p:sp>
      <p:sp>
        <p:nvSpPr>
          <p:cNvPr id="3" name="Shape 1"/>
          <p:cNvSpPr/>
          <p:nvPr/>
        </p:nvSpPr>
        <p:spPr>
          <a:xfrm>
            <a:off x="812800" y="1523405"/>
            <a:ext cx="10566400" cy="2648744"/>
          </a:xfrm>
          <a:prstGeom prst="rect">
            <a:avLst/>
          </a:prstGeom>
          <a:solidFill>
            <a:srgbClr val="FFFFFF"/>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2636044"/>
        </p:xfrm>
        <a:graphic>
          <a:graphicData uri="http://schemas.openxmlformats.org/drawingml/2006/table">
            <a:tbl>
              <a:tblPr/>
              <a:tblGrid>
                <a:gridCol w="2955036"/>
                <a:gridCol w="1055370"/>
                <a:gridCol w="6543294"/>
              </a:tblGrid>
              <a:tr h="43934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Criterio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Peso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Qué se mira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Funcionalidad</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25 %</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La demo end-to-end corre: consulta → tool o RAG → respuesta citada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Diseño de tools y prompts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20 %</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Las 4 tools con docstrings A2, el system prompt del track, el retriever acotado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Guardrails y manejo de errores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20 %</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PII enmascarada, acciones prohibidas, degradación limpia ante fallo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Observabilidad y evaluación</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20 %</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Trazas reales del Space, 30 casos evaluados, mejora v1→v2 argumentada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Comunicación técnica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15 %</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Los 4 movimientos de la demo y el Q&amp;A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375348"/>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Niveles 1 a 4: Insuficiente · En desarrollo · Competente · Destacado. Nota = suma ponderada sobre 4.</a:t>
            </a:r>
            <a:endParaRPr lang="en-US" sz="1600" dirty="0"/>
          </a:p>
        </p:txBody>
      </p:sp>
      <p:sp>
        <p:nvSpPr>
          <p:cNvPr id="6" name="Text 3"/>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24/29</a:t>
            </a:r>
            <a:endParaRPr lang="en-US" sz="1200" dirty="0"/>
          </a:p>
        </p:txBody>
      </p:sp>
      <p:pic>
        <p:nvPicPr>
          <p:cNvPr id="7" name="Image 0" descr="Logo de 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Destacado muestra dónde falla</a:t>
            </a:r>
            <a:endParaRPr lang="en-US" sz="3600" dirty="0"/>
          </a:p>
        </p:txBody>
      </p:sp>
      <p:sp>
        <p:nvSpPr>
          <p:cNvPr id="3" name="Shape 1"/>
          <p:cNvSpPr/>
          <p:nvPr/>
        </p:nvSpPr>
        <p:spPr>
          <a:xfrm>
            <a:off x="812800" y="1523405"/>
            <a:ext cx="10566400" cy="3004344"/>
          </a:xfrm>
          <a:prstGeom prst="rect">
            <a:avLst/>
          </a:prstGeom>
          <a:solidFill>
            <a:srgbClr val="FFFFFF"/>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2991644"/>
        </p:xfrm>
        <a:graphic>
          <a:graphicData uri="http://schemas.openxmlformats.org/drawingml/2006/table">
            <a:tbl>
              <a:tblPr/>
              <a:tblGrid>
                <a:gridCol w="2955036"/>
                <a:gridCol w="7598664"/>
              </a:tblGrid>
              <a:tr h="421580">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Criterio</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Descriptor del nivel Destacado</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42158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Funcionalidad</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Muestra su peor caso conocido en vivo y explica por qué falla, no solo el camino feliz</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5266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Diseño de tools y prompts</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Argumenta, con datos de docente/matriz_seleccion.py, por qué su catálogo quedó en 4 tools y no más</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65266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Guardrails y manejo de errores</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Explica la diferencia entre proteger la salida visible y proteger la telemetría, y por qué son la misma regla</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2158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Observabilidad y evaluación</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Distingue el rol del juez (demo) del de los evaluators determinísticos (nota), y por qué importa</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2158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Comunicación técnica</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Muestra dónde no funciona su sistema y por qué, en vez de una demo que salió perfecta</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730948"/>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Destacado: cumple todo y además defiende decisiones no obvias.</a:t>
            </a:r>
            <a:endParaRPr lang="en-US" sz="1600" dirty="0"/>
          </a:p>
        </p:txBody>
      </p:sp>
      <p:sp>
        <p:nvSpPr>
          <p:cNvPr id="6" name="Text 3"/>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25/29</a:t>
            </a:r>
            <a:endParaRPr lang="en-US" sz="1200" dirty="0"/>
          </a:p>
        </p:txBody>
      </p:sp>
      <p:pic>
        <p:nvPicPr>
          <p:cNvPr id="7" name="Image 0" descr="Logo de 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control se ejecuta fuera del modelo</a:t>
            </a:r>
            <a:endParaRPr lang="en-US" sz="3600" dirty="0"/>
          </a:p>
        </p:txBody>
      </p:sp>
      <p:sp>
        <p:nvSpPr>
          <p:cNvPr id="3" name="Shape 1"/>
          <p:cNvSpPr/>
          <p:nvPr/>
        </p:nvSpPr>
        <p:spPr>
          <a:xfrm>
            <a:off x="2743200" y="1529755"/>
            <a:ext cx="6705600" cy="3822303"/>
          </a:xfrm>
          <a:prstGeom prst="roundRect">
            <a:avLst>
              <a:gd name="adj" fmla="val 2492"/>
            </a:avLst>
          </a:prstGeom>
          <a:solidFill>
            <a:srgbClr val="FFFFFF"/>
          </a:solidFill>
          <a:ln w="12700">
            <a:solidFill>
              <a:srgbClr val="CED8E3"/>
            </a:solidFill>
            <a:prstDash val="solid"/>
          </a:ln>
        </p:spPr>
      </p:sp>
      <p:pic>
        <p:nvPicPr>
          <p:cNvPr id="4" name="Image 0" descr="IMG-M02-S06-001 · Guardrails: control de entrada, control de acción y control de salida alrededor del LLM y el runtime">    </p:cNvPr>
          <p:cNvPicPr>
            <a:picLocks noChangeAspect="1"/>
          </p:cNvPicPr>
          <p:nvPr/>
        </p:nvPicPr>
        <p:blipFill>
          <a:blip r:embed="rId1"/>
          <a:srcRect l="-16" r="-16" t="0" b="0"/>
          <a:stretch/>
        </p:blipFill>
        <p:spPr>
          <a:xfrm>
            <a:off x="2800350" y="1586905"/>
            <a:ext cx="6591300" cy="3708400"/>
          </a:xfrm>
          <a:prstGeom prst="roundRect">
            <a:avLst>
              <a:gd name="adj" fmla="val 2055"/>
            </a:avLst>
          </a:prstGeom>
        </p:spPr>
      </p:pic>
      <p:sp>
        <p:nvSpPr>
          <p:cNvPr id="5" name="Text 2"/>
          <p:cNvSpPr/>
          <p:nvPr/>
        </p:nvSpPr>
        <p:spPr>
          <a:xfrm>
            <a:off x="812800" y="5561608"/>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Por eso el streaming de S11 fragmenta solo después del control de salida.</a:t>
            </a:r>
            <a:endParaRPr lang="en-US" sz="1600" dirty="0"/>
          </a:p>
        </p:txBody>
      </p:sp>
      <p:sp>
        <p:nvSpPr>
          <p:cNvPr id="6" name="Text 3"/>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26/29</a:t>
            </a:r>
            <a:endParaRPr lang="en-US" sz="1200" dirty="0"/>
          </a:p>
        </p:txBody>
      </p:sp>
      <p:pic>
        <p:nvPicPr>
          <p:cNvPr id="7" name="Image 1" descr="Logo de 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número se sostiene con evidencia</a:t>
            </a:r>
            <a:endParaRPr lang="en-US" sz="3600" dirty="0"/>
          </a:p>
        </p:txBody>
      </p:sp>
      <p:sp>
        <p:nvSpPr>
          <p:cNvPr id="3" name="Shape 1"/>
          <p:cNvSpPr/>
          <p:nvPr/>
        </p:nvSpPr>
        <p:spPr>
          <a:xfrm>
            <a:off x="2743200" y="1529755"/>
            <a:ext cx="6705600" cy="3822303"/>
          </a:xfrm>
          <a:prstGeom prst="roundRect">
            <a:avLst>
              <a:gd name="adj" fmla="val 2492"/>
            </a:avLst>
          </a:prstGeom>
          <a:solidFill>
            <a:srgbClr val="FFFFFF"/>
          </a:solidFill>
          <a:ln w="12700">
            <a:solidFill>
              <a:srgbClr val="CED8E3"/>
            </a:solidFill>
            <a:prstDash val="solid"/>
          </a:ln>
        </p:spPr>
      </p:sp>
      <p:pic>
        <p:nvPicPr>
          <p:cNvPr id="4" name="Image 0" descr="IMG-M03-S10-001 · Evaluation: golden dataset, agentes v1 y v2, evaluadores, tabla comparativa y decisión documentada">    </p:cNvPr>
          <p:cNvPicPr>
            <a:picLocks noChangeAspect="1"/>
          </p:cNvPicPr>
          <p:nvPr/>
        </p:nvPicPr>
        <p:blipFill>
          <a:blip r:embed="rId1"/>
          <a:srcRect l="-16" r="-16" t="0" b="0"/>
          <a:stretch/>
        </p:blipFill>
        <p:spPr>
          <a:xfrm>
            <a:off x="2800350" y="1586905"/>
            <a:ext cx="6591300" cy="3708400"/>
          </a:xfrm>
          <a:prstGeom prst="roundRect">
            <a:avLst>
              <a:gd name="adj" fmla="val 2055"/>
            </a:avLst>
          </a:prstGeom>
        </p:spPr>
      </p:pic>
      <p:sp>
        <p:nvSpPr>
          <p:cNvPr id="5" name="Text 2"/>
          <p:cNvSpPr/>
          <p:nvPr/>
        </p:nvSpPr>
        <p:spPr>
          <a:xfrm>
            <a:off x="812800" y="5561608"/>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Movimiento 4: cada equipo cita la métrica de su propia ejecución del L10.</a:t>
            </a:r>
            <a:endParaRPr lang="en-US" sz="1600" dirty="0"/>
          </a:p>
        </p:txBody>
      </p:sp>
      <p:sp>
        <p:nvSpPr>
          <p:cNvPr id="6" name="Text 3"/>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27/29</a:t>
            </a:r>
            <a:endParaRPr lang="en-US" sz="1200" dirty="0"/>
          </a:p>
        </p:txBody>
      </p:sp>
      <p:pic>
        <p:nvPicPr>
          <p:cNvPr id="7" name="Image 1" descr="Logo de 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Hoy no entra contenido nuevo</a:t>
            </a:r>
            <a:endParaRPr lang="en-US" sz="3600" dirty="0"/>
          </a:p>
        </p:txBody>
      </p:sp>
      <p:sp>
        <p:nvSpPr>
          <p:cNvPr id="3" name="Shape 1"/>
          <p:cNvSpPr/>
          <p:nvPr/>
        </p:nvSpPr>
        <p:spPr>
          <a:xfrm>
            <a:off x="812800" y="1523405"/>
            <a:ext cx="10566400" cy="1330722"/>
          </a:xfrm>
          <a:prstGeom prst="rect">
            <a:avLst/>
          </a:prstGeom>
          <a:solidFill>
            <a:srgbClr val="FFFFFF"/>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1318022"/>
        </p:xfrm>
        <a:graphic>
          <a:graphicData uri="http://schemas.openxmlformats.org/drawingml/2006/table">
            <a:tbl>
              <a:tblPr/>
              <a:tblGrid>
                <a:gridCol w="4221480"/>
                <a:gridCol w="6332220"/>
              </a:tblGrid>
              <a:tr h="43934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No entra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Va en</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Foundry</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bonus asíncrono, liberado al cerrar hoy</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934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Contenido nuevo de agentes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ninguno: hoy se cierra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28/29</a:t>
            </a:r>
            <a:endParaRPr lang="en-US" sz="1200" dirty="0"/>
          </a:p>
        </p:txBody>
      </p:sp>
      <p:pic>
        <p:nvPicPr>
          <p:cNvPr id="6" name="Image 0" descr="Logo de 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Módulo 3 cierra hoy</a:t>
            </a:r>
            <a:endParaRPr lang="en-US" sz="3600" dirty="0"/>
          </a:p>
        </p:txBody>
      </p:sp>
      <p:sp>
        <p:nvSpPr>
          <p:cNvPr id="3" name="Shape 1"/>
          <p:cNvSpPr/>
          <p:nvPr/>
        </p:nvSpPr>
        <p:spPr>
          <a:xfrm>
            <a:off x="819150" y="1529755"/>
            <a:ext cx="3373934" cy="1793081"/>
          </a:xfrm>
          <a:prstGeom prst="roundRect">
            <a:avLst>
              <a:gd name="adj" fmla="val 5312"/>
            </a:avLst>
          </a:prstGeom>
          <a:solidFill>
            <a:srgbClr val="FFFFFF"/>
          </a:solidFill>
          <a:ln w="12700">
            <a:solidFill>
              <a:srgbClr val="1E293B"/>
            </a:solidFill>
            <a:prstDash val="solid"/>
          </a:ln>
        </p:spPr>
      </p:sp>
      <p:sp>
        <p:nvSpPr>
          <p:cNvPr id="4" name="Text 2"/>
          <p:cNvSpPr/>
          <p:nvPr/>
        </p:nvSpPr>
        <p:spPr>
          <a:xfrm>
            <a:off x="1079500" y="1790105"/>
            <a:ext cx="2938831"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Cerrar, no inventar</a:t>
            </a:r>
            <a:endParaRPr lang="en-US" sz="2200" dirty="0"/>
          </a:p>
        </p:txBody>
      </p:sp>
      <p:sp>
        <p:nvSpPr>
          <p:cNvPr id="5" name="Text 3"/>
          <p:cNvSpPr/>
          <p:nvPr/>
        </p:nvSpPr>
        <p:spPr>
          <a:xfrm>
            <a:off x="1079500" y="2221309"/>
            <a:ext cx="2938831"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Cliente con streaming y documento de diseño sobre el proyecto acumulado.</a:t>
            </a:r>
            <a:endParaRPr lang="en-US" sz="1600" dirty="0"/>
          </a:p>
        </p:txBody>
      </p:sp>
      <p:sp>
        <p:nvSpPr>
          <p:cNvPr id="6" name="Shape 4"/>
          <p:cNvSpPr/>
          <p:nvPr/>
        </p:nvSpPr>
        <p:spPr>
          <a:xfrm>
            <a:off x="4408984" y="1529755"/>
            <a:ext cx="3374033" cy="1793081"/>
          </a:xfrm>
          <a:prstGeom prst="roundRect">
            <a:avLst>
              <a:gd name="adj" fmla="val 5312"/>
            </a:avLst>
          </a:prstGeom>
          <a:solidFill>
            <a:srgbClr val="FFFFFF"/>
          </a:solidFill>
          <a:ln w="12700">
            <a:solidFill>
              <a:srgbClr val="1E293B"/>
            </a:solidFill>
            <a:prstDash val="solid"/>
          </a:ln>
        </p:spPr>
      </p:sp>
      <p:sp>
        <p:nvSpPr>
          <p:cNvPr id="7" name="Text 5"/>
          <p:cNvSpPr/>
          <p:nvPr/>
        </p:nvSpPr>
        <p:spPr>
          <a:xfrm>
            <a:off x="4669334" y="1790105"/>
            <a:ext cx="2938933"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Argumentar</a:t>
            </a:r>
            <a:endParaRPr lang="en-US" sz="2200" dirty="0"/>
          </a:p>
        </p:txBody>
      </p:sp>
      <p:sp>
        <p:nvSpPr>
          <p:cNvPr id="8" name="Text 6"/>
          <p:cNvSpPr/>
          <p:nvPr/>
        </p:nvSpPr>
        <p:spPr>
          <a:xfrm>
            <a:off x="4669334" y="2221309"/>
            <a:ext cx="2938933"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Alternativa descartada → criterio → consecuencia.</a:t>
            </a:r>
            <a:endParaRPr lang="en-US" sz="1600" dirty="0"/>
          </a:p>
        </p:txBody>
      </p:sp>
      <p:sp>
        <p:nvSpPr>
          <p:cNvPr id="9" name="Shape 7"/>
          <p:cNvSpPr/>
          <p:nvPr/>
        </p:nvSpPr>
        <p:spPr>
          <a:xfrm>
            <a:off x="7998916" y="1529755"/>
            <a:ext cx="3373934" cy="1793081"/>
          </a:xfrm>
          <a:prstGeom prst="roundRect">
            <a:avLst>
              <a:gd name="adj" fmla="val 5312"/>
            </a:avLst>
          </a:prstGeom>
          <a:solidFill>
            <a:srgbClr val="FFFFFF"/>
          </a:solidFill>
          <a:ln w="12700">
            <a:solidFill>
              <a:srgbClr val="1E293B"/>
            </a:solidFill>
            <a:prstDash val="solid"/>
          </a:ln>
        </p:spPr>
      </p:sp>
      <p:sp>
        <p:nvSpPr>
          <p:cNvPr id="10" name="Text 8"/>
          <p:cNvSpPr/>
          <p:nvPr/>
        </p:nvSpPr>
        <p:spPr>
          <a:xfrm>
            <a:off x="8259266" y="1790105"/>
            <a:ext cx="2938831"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Evidenciar</a:t>
            </a:r>
            <a:endParaRPr lang="en-US" sz="2200" dirty="0"/>
          </a:p>
        </p:txBody>
      </p:sp>
      <p:sp>
        <p:nvSpPr>
          <p:cNvPr id="11" name="Text 9"/>
          <p:cNvSpPr/>
          <p:nvPr/>
        </p:nvSpPr>
        <p:spPr>
          <a:xfrm>
            <a:off x="8259266" y="2221309"/>
            <a:ext cx="2938831"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Entregada 24 h antes, y mostrando dónde no funciona el sistema.</a:t>
            </a:r>
            <a:endParaRPr lang="en-US" sz="1600" dirty="0"/>
          </a:p>
        </p:txBody>
      </p:sp>
      <p:sp>
        <p:nvSpPr>
          <p:cNvPr id="12" name="Shape 10"/>
          <p:cNvSpPr/>
          <p:nvPr/>
        </p:nvSpPr>
        <p:spPr>
          <a:xfrm>
            <a:off x="819150" y="3538736"/>
            <a:ext cx="10553700" cy="979884"/>
          </a:xfrm>
          <a:prstGeom prst="roundRect">
            <a:avLst>
              <a:gd name="adj" fmla="val 14905"/>
            </a:avLst>
          </a:prstGeom>
          <a:solidFill>
            <a:srgbClr val="E9F0F7"/>
          </a:solidFill>
          <a:ln w="12700">
            <a:solidFill>
              <a:srgbClr val="526277"/>
            </a:solidFill>
            <a:prstDash val="solid"/>
          </a:ln>
        </p:spPr>
      </p:sp>
      <p:sp>
        <p:nvSpPr>
          <p:cNvPr id="13" name="Text 11"/>
          <p:cNvSpPr/>
          <p:nvPr/>
        </p:nvSpPr>
        <p:spPr>
          <a:xfrm>
            <a:off x="1079500" y="3748286"/>
            <a:ext cx="10333990" cy="586184"/>
          </a:xfrm>
          <a:prstGeom prst="rect">
            <a:avLst/>
          </a:prstGeom>
          <a:noFill/>
          <a:ln/>
        </p:spPr>
        <p:txBody>
          <a:bodyPr wrap="square" lIns="0" tIns="0" rIns="0" bIns="0" rtlCol="0" anchor="t">
            <a:normAutofit/>
          </a:bodyPr>
          <a:lstStyle/>
          <a:p>
            <a:pPr algn="l" indent="0" marL="0">
              <a:lnSpc>
                <a:spcPts val="2208"/>
              </a:lnSpc>
              <a:buNone/>
            </a:pPr>
            <a:r>
              <a:rPr lang="en-US" sz="1600" b="1" dirty="0">
                <a:solidFill>
                  <a:srgbClr val="1E293B"/>
                </a:solidFill>
                <a:latin typeface="IBM Plex Sans" pitchFamily="34" charset="0"/>
                <a:ea typeface="IBM Plex Sans" pitchFamily="34" charset="-122"/>
                <a:cs typeface="IBM Plex Sans" pitchFamily="34" charset="-120"/>
              </a:rPr>
              <a:t>Al cerrar la ronda:</a:t>
            </a:r>
            <a:r>
              <a:rPr lang="en-US" sz="1600" dirty="0">
                <a:solidFill>
                  <a:srgbClr val="1E293B"/>
                </a:solidFill>
                <a:latin typeface="IBM Plex Sans" pitchFamily="34" charset="0"/>
                <a:ea typeface="IBM Plex Sans" pitchFamily="34" charset="-122"/>
                <a:cs typeface="IBM Plex Sans" pitchFamily="34" charset="-120"/>
              </a:rPr>
              <a:t> se libera el bonus de Microsoft Foundry, asíncrono y con acreditación adicional no ponderada.</a:t>
            </a:r>
            <a:endParaRPr lang="en-US" sz="1600" dirty="0"/>
          </a:p>
        </p:txBody>
      </p:sp>
      <p:sp>
        <p:nvSpPr>
          <p:cNvPr id="14" name="Text 12"/>
          <p:cNvSpPr/>
          <p:nvPr/>
        </p:nvSpPr>
        <p:spPr>
          <a:xfrm>
            <a:off x="812800" y="6261100"/>
            <a:ext cx="78486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S11 · Aplicación final y sustentación · 29/29</a:t>
            </a:r>
            <a:endParaRPr lang="en-US" sz="1200" dirty="0"/>
          </a:p>
        </p:txBody>
      </p:sp>
      <p:pic>
        <p:nvPicPr>
          <p:cNvPr id="15" name="Image 0" descr="Logo de 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S11 · Aplicación final y sustentación</dc:title>
  <dc:subject>PptxGenJS Presentation</dc:subject>
  <dc:creator>PptxGenJS</dc:creator>
  <cp:lastModifiedBy>PptxGenJS</cp:lastModifiedBy>
  <cp:revision>1</cp:revision>
  <dcterms:created xsi:type="dcterms:W3CDTF">2026-09-26T00:23:00Z</dcterms:created>
  <dcterms:modified xsi:type="dcterms:W3CDTF">2026-09-26T00:23:00Z</dcterms:modified>
</cp:coreProperties>
</file>