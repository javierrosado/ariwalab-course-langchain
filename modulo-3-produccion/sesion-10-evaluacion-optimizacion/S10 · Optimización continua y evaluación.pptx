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presentar la sesión como el cierre de la espina dorsal del curso. Las 30 consultas del golden dataset que el equipo usa desde la S2 son hoy el dataset de evaluación. Agenda: 90 min de teoría (bloques 0 a 4), 10 min de pausa, 80 min de práctica con los 30 casos en Langfuse Datasets y 2 h de laboratorio L10. Hito: Avance 3 del Módulo 3. 2) Pregunta: si mañana cambian una docstring de su agente, ¿cómo sabrían si mejoró o empeoró? 3) Laboratorio: L10 · Evaluación y optimización (lab/README.md); entregables INFORME-L10.md y avance-3-m3.md en lab/&lt;track&gt;/.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verificar el pase de entrada antes de empezar. De izquierda a derecha: el pre-work de 1 h da el vocabulario (6 conceptos de conceptos-previos.md); el INFORME-L9 trae 2 cuellos de botella, cada uno con captura de la traza y el número medido; el Avance 2 dice cuál se ataca hoy. Ese cuello es el insumo de la Parte 3 del L10. Pedir que cada equipo tenga abierto su INFORME-L9. Sin él no hay hipótesis que probar. 2) Pregunta: ¿cuál de sus dos cuellos van a atacar hoy y qué número lo evidencia? 3) Laboratorio: lab/&lt;track&gt;/INFORME-L9.md, fila "Qué se propone cambiar" y sección "Avance 2 del M3"; se copia tal cual en el encabezado "Cuello de botella atacado"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leer los 5 objetivos y anclarlos a los bloques. Objetivo 1 → bloque 0; objetivo 2 → bloque 2 (los 3 evaluators y sus límites); objetivo 3 → bloque 3 (juez y sesgos); objetivos 4 y 5 → bloque 4 y laboratorio (A/B y ruido). Remarcar el verbo del objetivo 2: se aplican los evaluators de comun/evaluadores.py, no se construyen desde cero. 2) Pregunta: ¿qué objetivo les parece más difícil de cumplir con solo 30 casos, y por qué? 3) Laboratorio: los objetivos 2, 4 y 5 se demuestran en el L10 con la tabla v1 vs v2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no se optimiza "a ojo". Leer el diagrama: de los 2 cuellos documentados en el L9, uno pasa a ser la hipótesis de hoy (en foco). Esa hipótesis se convierte en un solo cambio dirigido (Parte 3 del L10) y se verifica midiendo v1 y v2 sobre el mismo dataset. El segundo cuello queda documentado en el INFORME-L9. La regla de la sesión cabe en una línea: se mide antes, se cambia una cosa, se mide después. 2) Pregunta: si su cuello fuera "el retriever se llama siempre", ¿qué métrica esperarían que cambie y cuál no? 3) Laboratorio: INFORME-L9.md (fila "Qué se propone cambiar") → lab/&lt;track&gt;/INFORME-L10.md, secciones "Cuello de botella atacado" y "El cambio (uno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repaso de S0 (IMG-S00-002). Leer la columna LLM: misma entrada no garantiza misma salida; el contrato de salida es probabilístico; los errores son respuestas seguras pero falsas. Señalar la barra del token más probable y la tarjeta 0.0: temperature=0 reduce la variabilidad, no la elimina. Por eso assert respuesta == "esperado" falla con respuestas correctas redactadas distinto. Lo reemplazan evaluators que buscan el dato clave y comparan la tool, que veremos en el bloque 2. Error frecuente: suponer que temperature=0 garantiza respuestas idénticas. 2) Pregunta: ¿por qué no se prueba un agente con assert respuesta == "esperado"? 3) Laboratorio: comun/evaluadores.py, evaluar_exactitud() busca respuesta_esperada dentro del texto en lugar de exigir igualdad; lo usa evals/evaluadores.py del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1 de 3 de la misma composición. Nodo izquierdo: recursos/golden/consultas-&lt;track&gt;.json, 30 casos por track. En foco, el primer uso: las 20 consultas con tool esperada alimentaron el clasificador de intención del L2 (S2) y la selección de herramienta del L4 (S4). Decirlo explícitamente: llevan nueve sesiones viendo las mismas consultas. 2) Pregunta: ¿recuerdan qué hacían con estas consultas en el L4? ¿Qué medían? 3) Laboratorio: recursos/golden/consultas-&lt;track&gt;.json, campos consulta y tool_esperada; docente/matriz_seleccion.py del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2 de 3. Lo anterior queda en contexto; pasa a foco la rama de las 10 consultas de categoría OTRO. No piden una tool de negocio (tool_esperada es null), pero desde la S5 exigen recuperar el documento y citarlo con el retriever. Es la base del evaluator de groundedness de hoy. 2) Pregunta: si una consulta OTRO no espera tool de negocio, ¿está mal que el agente llame al retriever? 3) Laboratorio: categoría otro de consultas-&lt;track&gt;.json; retrieve_knowledge_base de la S5, cuya salida cruda es el contexto recuperado que el L10 debe registrar.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3 de 3. En foco, el uso de hoy: los 30 casos juntos para evaluar v1 contra v2. Mensaje central: era un golden dataset desde el primer día; un conjunto de evaluación no se improvisa al final, se construye mientras se construye el sistema. Prerrequisito ya cerrado: las 10 consultas OTRO por track y el campo respuesta_esperada en las 30 filas; sin eso no hay evaluación automática. Aviso del glosario: si ajustan el prompt mirando estos mismos casos, dejan de ser una prueba independiente. 2) Pregunta: ¿qué pasaría si construyeran el dataset de evaluación recién hoy, mirando las respuestas de su agente? 3) Laboratorio: L10 Parte 1, evals/dataset.py → subir_dataset() sube las 30 filas a Langfuse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leer una fila antes de evaluar. La fila es real (AndesMóvil). consulta es la entrada del agente; tool_esperada la lee el evaluator de uso de tool; respuesta_esperada la leen exactitud y groundedness. Cada evaluator necesita además algo que solo sale de ejecutar el agente: la tool llamada, la respuesta y el contexto recuperado. Composición por track: 16 directa y 4 confusable (con tool esperada) más 10 otro. Si respuesta_esperada es null, esos evaluators no aplican. 2) Pregunta: ¿qué campo de esta fila no usa ningún evaluator, y para qué sirve entonces? 3) Laboratorio: evals/dataset.py → cargar_casos(); comun/evaluadores.py → evaluar_caso(caso, respuesta, tool_llamada, contexto_recuperado).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dentro del contenedor, el LLM propone y el runtime ejecuta tools y retriever; ninguna flecha sale del LLM directo a una API. Del agente salen tres cosas: la tool llamada, la respuesta y el contexto recuperado. Recorrer los 3 evaluators: uso correcto de tool compara contra tool_esperada, es el mismo criterio de matriz_seleccion.py del L4; exactitud busca respuesta_esperada dentro del texto; groundedness exige que el dato esté en la respuesta y en el contexto. Ninguno llama a un modelo: se pueden correr mil veces y dan lo mismo. Eso los hace aptos para calificar. resumen() calcula la tasa de acierto de cada uno sobre la corrida. 2) Pregunta: ¿qué evaluator detecta que el agente llamó a la tool equivocada aunque la respuesta suene bien? 3) Laboratorio: evals/evaluadores.py reexporta comun/evaluadores.py: evaluar_tool(), evaluar_exactitud(), evaluar_groundedness(), evaluar_caso() y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determinístico no significa completo. Ejemplo ilustrativo con los datos de la demo 2: la respuesta niega el dato («no es gratuita») pero contiene la subcadena «gratuita», y el contexto también. evaluar_groundedness() devuelve True: aprueba una respuesta equivocada. Lo mismo le pasa a evaluar_exactitud(). Segundo límite: si respuesta_esperada es null, ambos devuelven True por convención; eso es un caso no aplicable, no un acierto (2 en telecomunicaciones, 3 en banca, retail y seguros). Error conceptual frecuente: confundir el determinismo del evaluador con la validez de todas sus conclusiones. 2) Pregunta: ¿qué fallo no detecta la coincidencia léxica del evaluador? 3) Laboratorio: comun/evaluadores.py, evaluar_groundedness() y evaluar_exactitud(); en el L10 reportar cuántos casos son no aplicables y revisar a mano fuente y afirmación.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correr la demo desde la raíz del curso, sin credenciales. Toma 3 filas del golden de telecomunicaciones y 3 respuestas escritas a mano. Recorrer la tabla: el caso 1 aprueba exactitud y groundedness solo porque respuesta_esperada es null (no aplicable, ver diapositiva anterior); el caso 2 es una alucinación: falla exactitud y groundedness; el caso 3 acierta con respaldo en la fuente. Volver a correrlo en vivo: la salida es idéntica. Eso es lo que distingue a un evaluator determinístico del juez de la demo 3. 2) Pregunta: el caso 1 sale todo True. ¿Lo contarían como acierto en su informe? 3) Laboratorio: code/02_evaluators.py → main(), que llama a evaluar_caso() y resumen() de comun/evaluadores.py; es el mismo patrón que usarán en la Parte 2 del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LLM-as-judge es pedirle a un modelo que evalúe la salida de otro, o la suya. Recorrer el flujo en 3 pasos: los mismos 10 casos ya puntuados por el evaluator determinístico se pasan por el juez, que es el mismo Qwen3-32B del curso; luego se ponen las dos columnas lado a lado. El contenido de la demo son los desacuerdos, no el veredicto final: ahí aparece el sesgo. Dejar clara la regla: el juez es demo; la nota la sostienen los tres evaluators determinísticos. 2) Pregunta: si el juez y el evaluator discrepan en un caso, ¿a cuál le creen y cómo lo comprobarían? 3) Laboratorio: code/03_llm_as_judge.py (demo 3, requiere HF_TOKEN). El juez no forma parte de la nota del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los 4 sesgos conocidos del juez, en orden. Autoevaluación: el modelo favorece sus propias salidas. Verbosidad: una respuesta larga y segura puntúa alto aunque sea falsa; es la alucinación de la S1 vista desde el evaluador. Posición: en comparaciones A/B gana la primera opción. Autocomplacencia: ante la duda, aprueba. Error esperable en el lab: "el juez aprueba todo" es autocomplacencia, no calidad del agente. 2) Pregunta: si comparan v1 y v2 con un juez poniendo siempre v1 primero, ¿qué sesgo contamina el resultado y cómo lo mitigarían? 3) Laboratorio: no aplica a la nota del L10; en la demo 3 (code/03_llm_as_judge.py) se buscan estos sesgos en los desacuerdos.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por qué igual se enseña el juez. Izquierda: para criterios subjetivos como tono o utilidad no existe un evaluator determinístico posible; ahí el juez es insustituible y es la técnica que encontrarán en la industria. Derecha: lo que no puede hacer es sostener una nota ni un informe a un cliente sin declarar su margen de error. Cerrar con la regla del curso y conectarla con la rúbrica final: distinguir el rol del juez (demo) del de los evaluators (nota) es un descriptor del nivel destacado. 2) Pregunta: piensen en su track. ¿Qué criterio de calidad de su agente no podría medir ningún evaluator determinístico? 3) Laboratorio: no forma parte de la nota del L10; puede mencionarse en INFORME-L10.md como trabajo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correr la demo 3 (requiere HF_TOKEN). Toma 10 pares consulta-respuesta ya puntuados por evaluar_exactitud() y le pide al mismo Qwen3-32B que juzgue. El juez responde con el esquema Veredicto (aprueba, motivo, confianza) extraído con comun.structured.extraer(): un juez que enseña por qué no sirve un "SI"/"NO" sin validar no puede devolver texto libre. Mostrar las dos columnas y contar los desacuerdos. Qué buscar: caso 3 (verbosidad), casos 6 y 9 (ambiguos a propósito, autocomplacencia); posición no aplica porque hay un solo candidato. No prometer un resultado concreto: el juez es un LLM en vivo. 2) Pregunta: ¿cuántos desacuerdos esperan y en qué casos? Anótenlo antes de correr. 3) Laboratorio: code/03_llm_as_judge.py → main() y la clase Veredicto. Si tarda o falla, es la cola o cuota del inference provider: reducir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comparar versiones con evidencia y límites de medición (IMG-M03-S10-001). Recorrer en orden: el golden dataset se bifurca a Agente v1 y Agente v2, con entradas iguales y versiones identificables. Cada uno entrega respuesta, tools y contexto a los evaluadores; de ahí salen la tabla comparativa y la decisión documentada. Detenerse en la rama "Casos no aplicables", separada del conteo de aciertos, y en el pie: el proxy léxico requiere revisar fuente y afirmación. Mensaje clave: determinístico no significa completo. Ejemplo Banco Inti: registrar si llamó una tool de negocio y separar la recuperación del tarifario. La imagen no aporta mediciones. 2) Pregunta: ¿qué fallo no detecta la coincidencia léxica del evaluador? 3) Laboratorio: Partes 2 y 4 del L10 con evals/evaluadores.py → evaluar_caso() y resumen(); la tabla va en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1 de 4 del ciclo; la composición se mantiene en las 4 diapositivas. Mostrar el ciclo completo en contexto y el primer paso en foco: medir la línea base v1 sobre los 30 casos antes de tocar nada, con las 3 métricas. Sin línea base no hay comparación. La flecha discontinua de retorno indica que el ciclo se repite con el siguiente cambio. 2) Pregunta: ¿qué deben registrar de cada caso para que la corrida v1 se pueda repetir y auditar? 3) Laboratorio: L10 Parte 2, evals/evaluadores.py → evaluar_caso() por caso y resumen() por corrida; resultados en la fila v1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2 de 4. En foco: cambiar UNA sola cosa, trazable a un cuello del L9. La flecha activa lleva la línea base al cambio. Un cambio por medición: si se cambian tres cosas a la vez y mejora, no se sabe cuál sirvió y en la siguiente iteración no se sabe qué conservar. Es la disciplina que se enseña, más que el resultado. 2) Pregunta: ¿qué harían si ya cambiaron tres cosas y el número subió? 3) Laboratorio: L10 Parte 3; la tabla cuello → cambio típico del lab/README; se nombra en "El cambio (uno solo)"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3 de 4. En foco: medir v2 con el mismo dataset y los mismos evaluators. Solo cambia la versión del agente; todo lo demás queda fijo. El resultado es una tabla v1 vs v2 por métrica: uso de tool, exactitud y groundedness, más los casos no aplicables reportados aparte. 2) Pregunta: si v2 mejora exactitud pero empeora uso de tool, ¿lo conservan? 3) Laboratorio: L10 Parte 4, correr de nuevo las 30 consultas; tabla v1 vs v2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paso 4 de 4. En foco: comprobar si se sostiene y decidir. Ejemplo del README, no es una medición: v1 24/30 = 80.0 % y v2 26/30 = 86.7 %. ¿Mejoró? Depende: ¿se corrió dos veces? ¿los 2 casos ganados son siempre los mismos? Regla del curso: una mejora se reporta cuando se sostiene en dos corridas y se puede señalar qué cambio la produjo. Es una regla exploratoria, no una prueba de significancia ni una demostración causal. Si no mejoró, se documenta la hipótesis: vale lo mismo. 2) Pregunta: ¿qué harían si la segunda corrida de v2 da 25/30? 3) Laboratorio: sección "¿Se sostiene la mejora?" de INFORME-L10.md: dos casillas, dos corridas y causa identificada.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demo 4 corre las 10 consultas OTRO de telecomunicaciones contra dos system prompts: v1 es el de comun/prompts_industria.py y v2 añade la línea resaltada, que pide citar el dato exacto antes de afirmar una cifra. Mide exactitud en ambas. El punto de la demo es la tabla comparativa, no que v2 gane. Límite importante: son llamadas directas sin retriever; sirve para leer una tabla A/B, pero no valida mejora de recuperación ni sustituye la evaluación del agente del L10. Antes de celebrar, aplicar la regla del paso 4: ¿se sostiene en dos corridas? ¿se sabe qué la causó? 2) Pregunta: si v2 gana por un caso, ¿qué harían antes de reportarlo como mejora? 3) Laboratorio: python modulo-3-produccion/sesion-10-evaluacion-optimizacion/code/04_ab_prompts.py (requiere HF_TOKEN); funciones correr_version() y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regresión es que un cambio que arregla un caso rompa otro que antes funcionaba. Por eso el golden set no se corre solo cuando algo falla: se corre cada vez que algo cambia, para detectar regresiones antes que un cliente. La tarjeta punteada es solo un anuncio: integración continua es el puente natural, se menciona como cierre y no se implementa en el curso. Al terminar, anunciar la pausa de 10 minutos. 2) Pregunta: en su tabla v1 vs v2, ¿cómo detectarían un caso que v1 acertaba y v2 falla, aunque el total suba? 3) Laboratorio: comparar por caso, no solo el total, las salidas de evaluar_caso() de v1 y v2; registrarlo en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pausa de 10 minutos. Cierra la teoría en vivo (90 min) y abre la práctica (80 min): bloque 5, cargar los 30 casos en Langfuse Datasets y correr la línea base v1; bloque 6, optimizar y medir v2. Pedir que al volver tengan abiertos su agent.py (v5), el .env con las credenciales de Langfuse y su INFORME-L9. 2) Pregunta: antes de salir, ¿cada equipo sabe qué cuello del L9 va a atacar? 3) Laboratorio: preparar evals/dataset.py y evals/evaluadores.py en el repositorio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presentar el L10 completo antes de empezar. Objetivo: medir con evidencia y decidir un cambio con el número. Recorrer la tira: Parte 1 carga los 30 casos en Langfuse Datasets (25 min); Parte 2 corre la línea base v1 (25 min); Parte 3 aplica un solo cambio dirigido a un cuello del L9 (40 min); Parte 4 corre v2, compara y decide (30 min). Punto de partida: el agent.py (v5) del L9, instrumentado, y el INFORME-L9 con 2 cuellos. En vivo, el bloque 5 cubre las Partes 1 y 2 y el bloque 6 las Partes 3 y 4. 2) Pregunta: ¿en qué parte creen que se les irá más tiempo, y por qué? 3) Laboratorio: modulo-3-produccion/sesion-10-evaluacion-optimizacion/lab/README.md y el enunciado de su track en lab/&lt;track&gt;/enunciado.md.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Parte 1 en foco. Adaptar code/01_dataset_langfuse.py al track, o correr el de referencia, que ya usa consultas-&lt;track&gt;.json. El extracto muestra qué se sube: la consulta y la categoría como input, tool_esperada y respuesta_esperada como expected_output (líneas resaltadas) y la intención como metadata. Las 30 filas ya existían desde la S2: hoy solo se suben a un lugar donde se pueden correr experimentos repetibles. Confirmar en el dashboard que el dataset tiene los 30 casos. Si la S9 consumió más unidades de las previstas: reducir a 15 casos por corrida y documentarlo. 2) Pregunta: ¿por qué tool_esperada va en expected_output y no en input? 3) Laboratorio: evals/dataset.py → cargar_casos() y subir_dataset(); demo 1: code/01_dataset_langfuse.py (requiere credenciales de Langfuse en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Parte 2 en foco: línea base v1 sobre las 30 consultas contra el agent.py actual, con las 3 métricas. El checkpoint evals/evaluadores.py reexporta comun.evaluadores: no es un runner end-to-end. El equipo recoge por caso lo que muestra la tabla y aísla el historial entre casos. tool_esperada None para OTRO no prohíbe llamar al retriever desde L5: registrar recuperación y tool de negocio por separado; el comparador recibe un solo nombre. Cuando respuesta_esperada es None, los evaluadores devuelven True por convención: reportar cuántos casos son no aplicables. Groundedness es un proxy de subcadena: revisar a mano. Comunicar antes de calificar cómo se tratan los no aplicables. 2) Pregunta: si el agente llama al retriever y luego a get_customer_plan, ¿qué nombre le pasan a evaluar_tool? 3) Laboratorio: evals/evaluadores.py → evaluar_caso(caso, respuesta, tool_llamada, contexto_recuperado) y resumen(); fila v1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Parte 3 en foco. El cambio debe ser uno solo y trazable a un cuello del Avance 2. Leer la tabla fila por fila: cada cuello del L9 tiene un cambio típico. Son ejemplos, no un menú obligatorio: el cambio lo decide la evidencia del INFORME-L9 del equipo. Un cambio por medición: si se cambian tres cosas a la vez y mejora, no se sabe cuál sirvió. Si ya ocurrió: revertir dos y volver a medir. 2) Pregunta: ¿cuál de estos cuellos se parece al suyo y qué cambio exacto van a probar? 3) Laboratorio: docstrings de las tools del agente, el historial o el esquema de extracción según el cuello; se registra en "El cambio (uno solo)"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Parte 4 en foco. Volver a correr las 30 consultas con el cambio aplicado y comparar contra v1 en una tabla por métrica. Dos salidas válidas: si mejoró, debe sostenerse en dos corridas y nombrarse el cambio que la produjo; si no mejoró, se documenta la hipótesis y por qué se descartó. Un experimento negativo bien documentado vale lo mismo que uno positivo, y es más honesto que retocar el dataset hasta que salga bonito. Error esperable: v2 mejora 2 puntos y el equipo lo celebra; respuesta: correr otra vez. 2) Pregunta: ¿qué harían si la segunda corrida de v2 no confirma la primera? 3) Laboratorio: evals/evaluadores.py → resumen() para v2; tabla v1 vs v2 y secciones "¿Se sostiene la mejora?" y "Si v2 NO mejoró"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cuatro entregables y tres criterios de aceptación, tal como están en lab/README.md. Entregables: evals/dataset.py y evals/evaluadores.py en el repositorio del equipo; el dataset de 30 casos visible en Langfuse; INFORME-L10.md con la tabla v1 vs v2; y el Avance 3 del M3. Criterios: los 30 casos corriendo con los 3 evaluators; mejora medible de v1 a v2 con tabla por métrica, o la hipótesis descartada, igual de válida; y el informe nombra el cambio y el cuello del L9. Aclarar que el juez no forma parte de la aceptación. 2) Pregunta: ¿qué entregable les falta hoy para cumplir el primer criterio? 3) Laboratorio: plantillas en modulo-3-produccion/sesion-10-evaluacion-optimizacion/solucion/telecomunicaciones/ (INFORME-L10.md, avance-3-m3.md y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la plantilla tal como está en el repositorio. Cinco secciones: el cuello atacado, copiado tal cual del INFORME-L9; el cambio único; la tabla v1 vs v2 por métrica; la verificación de que la mejora se sostiene (dos casillas); y qué pasa si v2 no mejoró. Si alguna casilla queda sin marcar, la mejora no se reporta como real. Advertencia: la tabla solo trae N/30, pero el lab/README exige reportar aparte cuántos casos son no aplicables (respuesta_esperada None). Registrarlo como nota bajo la tabla. Los valores entre ángulos son marcadores de la plantilla, no resultados. 2) Pregunta: ¿cómo mostrarían en esta tabla que 3 de los 30 casos no aplican? 3) Laboratorio: lab/&lt;track&gt;/INFORME-L10.md, a partir de solucion/&lt;track&gt;/INFORME-L10.md; los números salen de resumen() de evals/evaluadores.py.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Avance 3 del Módulo 3 es media página con dos secciones de la plantilla. Resultado de la optimización: v1 → v2, con el número clave y si se sostuvo en dos corridas; si no mejoró, la hipótesis descartada. Qué queda para la S11: solo se anuncia (tarjeta punteada); la S11 lo desarrolla. Es el hito de la sesión. 2) Pregunta: si tuvieran que resumir su L10 en una sola frase con un número, ¿cuál sería? 3) Laboratorio: lab/&lt;track&gt;/avance-3-m3.md a partir de solucion/&lt;track&gt;/avance-3-m3.md; toma la tabla de INFORME-L10.md.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el Proyecto Integrador es el proyecto acumulado desde el L1, no algo nuevo. La tira agrupa el recorrido: L1–L7 construyen y endurecen el agente, L8 lo despliega, L9 lo traza y el L10, en foco, aporta la evaluación v1 vs v2 sobre 30 casos. L11 aparece punteado: se anuncia y se trabaja en la S11. Leer el criterio "Observabilidad y evaluación", 20 % de la rúbrica final, con sus 4 niveles. Subrayar el nivel competente, que cubre el experimento negativo, y el destacado: distinguir el rol del juez (demo) del de los evaluators (nota). 2) Pregunta: con su trabajo de hoy, ¿en qué nivel de este criterio estarían y qué les falta para el siguiente? 3) Laboratorio: INFORME-L10.md y avance-3-m3.md son la evidencia; ver modulo-3-produccion/sesion-11-sustentacion-final/proyecto-integrador.md y recursos/rubricas/rubrica-final.md.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delimitar la sesión con la tabla del README. El cliente web y la demo final son de la S11. RAGAS en profundidad: solo mención y enlace a su documentación oficial (docs.ragas.io, verificado el 25-09-2026), como complemento opcional. Evaluación en CI o pipeline automatizado: se menciona como cierre (diapositiva de regresión), no se implementa. Fine-tuning como vía de mejora: fuera del alcance; el curso mejora con prompts y RAG. 2) Pregunta: ¿por qué tiene sentido mejorar primero prompts y RAG antes de pensar en fine-tuning? 3) Laboratorio: nada de esta tabla se exige en el L10 ni en su criterio de aceptación.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Qué explicar: cierre en tres ideas. Uno: el golden dataset que usaron desde la S2 era el dataset de evaluación; se construye con el sistema. Dos: los tres evaluators determinísticos sostienen la nota; el juez se enseña con sus sesgos y su margen de error. Tres: una mejora se reporta si se sostiene en dos corridas y se puede nombrar el cambio que la produjo; si no, se documenta como experimento negativo. Anunciar solo el nombre de la siguiente sesión, S11 · Cliente web y sustentación, sin adelantar su contenido. 2) Pregunta: ¿qué harían distinto en su próximo proyecto desde el primer día, después de esta sesión? 3) Laboratorio: terminar y entregar lab/&lt;track&gt;/INFORME-L10.md y lab/&lt;track&gt;/avance-3-m3.md.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docs.ragas.io/" TargetMode="External"/><Relationship Id="rId2"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IA Agent Building · Módulo 3 · Producción</a:t>
            </a:r>
            <a:endParaRPr lang="en-US" sz="1600" dirty="0"/>
          </a:p>
        </p:txBody>
      </p:sp>
      <p:sp>
        <p:nvSpPr>
          <p:cNvPr id="3" name="Text 1"/>
          <p:cNvSpPr/>
          <p:nvPr/>
        </p:nvSpPr>
        <p:spPr>
          <a:xfrm>
            <a:off x="812800" y="1347192"/>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S10 · Optimización continua y evaluación</a:t>
            </a:r>
            <a:endParaRPr lang="en-US" sz="3600" dirty="0"/>
          </a:p>
        </p:txBody>
      </p:sp>
      <p:sp>
        <p:nvSpPr>
          <p:cNvPr id="4" name="Shape 2"/>
          <p:cNvSpPr/>
          <p:nvPr/>
        </p:nvSpPr>
        <p:spPr>
          <a:xfrm>
            <a:off x="812800" y="2108597"/>
            <a:ext cx="1016000" cy="50800"/>
          </a:xfrm>
          <a:prstGeom prst="roundRect">
            <a:avLst>
              <a:gd name="adj" fmla="val 50000"/>
            </a:avLst>
          </a:prstGeom>
          <a:solidFill>
            <a:srgbClr val="FF5733"/>
          </a:solidFill>
          <a:ln/>
        </p:spPr>
      </p:sp>
      <p:sp>
        <p:nvSpPr>
          <p:cNvPr id="5" name="Shape 3"/>
          <p:cNvSpPr/>
          <p:nvPr/>
        </p:nvSpPr>
        <p:spPr>
          <a:xfrm>
            <a:off x="819150" y="4539059"/>
            <a:ext cx="3373934" cy="1296591"/>
          </a:xfrm>
          <a:prstGeom prst="roundRect">
            <a:avLst>
              <a:gd name="adj" fmla="val 7346"/>
            </a:avLst>
          </a:prstGeom>
          <a:solidFill>
            <a:srgbClr val="FFFFFF"/>
          </a:solidFill>
          <a:ln w="12700">
            <a:solidFill>
              <a:srgbClr val="1E293B"/>
            </a:solidFill>
            <a:prstDash val="solid"/>
          </a:ln>
        </p:spPr>
      </p:sp>
      <p:sp>
        <p:nvSpPr>
          <p:cNvPr id="6" name="Text 4"/>
          <p:cNvSpPr/>
          <p:nvPr/>
        </p:nvSpPr>
        <p:spPr>
          <a:xfrm>
            <a:off x="1028700" y="4748609"/>
            <a:ext cx="304347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Duración</a:t>
            </a:r>
            <a:endParaRPr lang="en-US" sz="1400" dirty="0"/>
          </a:p>
        </p:txBody>
      </p:sp>
      <p:sp>
        <p:nvSpPr>
          <p:cNvPr id="7" name="Text 5"/>
          <p:cNvSpPr/>
          <p:nvPr/>
        </p:nvSpPr>
        <p:spPr>
          <a:xfrm>
            <a:off x="1028700" y="5065316"/>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5 · jueves · 6 h</a:t>
            </a:r>
            <a:endParaRPr lang="en-US" sz="1600" dirty="0"/>
          </a:p>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2.5 h teoría · 3.5 h práctica</a:t>
            </a:r>
            <a:endParaRPr lang="en-US" sz="1600" dirty="0"/>
          </a:p>
        </p:txBody>
      </p:sp>
      <p:sp>
        <p:nvSpPr>
          <p:cNvPr id="8" name="Shape 6"/>
          <p:cNvSpPr/>
          <p:nvPr/>
        </p:nvSpPr>
        <p:spPr>
          <a:xfrm>
            <a:off x="4408984" y="4539059"/>
            <a:ext cx="3374033" cy="1296591"/>
          </a:xfrm>
          <a:prstGeom prst="roundRect">
            <a:avLst>
              <a:gd name="adj" fmla="val 7346"/>
            </a:avLst>
          </a:prstGeom>
          <a:solidFill>
            <a:srgbClr val="FFFFFF"/>
          </a:solidFill>
          <a:ln w="12700">
            <a:solidFill>
              <a:srgbClr val="1E293B"/>
            </a:solidFill>
            <a:prstDash val="solid"/>
          </a:ln>
        </p:spPr>
      </p:sp>
      <p:sp>
        <p:nvSpPr>
          <p:cNvPr id="9" name="Text 7"/>
          <p:cNvSpPr/>
          <p:nvPr/>
        </p:nvSpPr>
        <p:spPr>
          <a:xfrm>
            <a:off x="4618534" y="4748609"/>
            <a:ext cx="3043581"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Hito</a:t>
            </a:r>
            <a:endParaRPr lang="en-US" sz="1400" dirty="0"/>
          </a:p>
        </p:txBody>
      </p:sp>
      <p:sp>
        <p:nvSpPr>
          <p:cNvPr id="10" name="Text 8"/>
          <p:cNvSpPr/>
          <p:nvPr/>
        </p:nvSpPr>
        <p:spPr>
          <a:xfrm>
            <a:off x="4618534" y="5065316"/>
            <a:ext cx="3043581"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Avance 3 del Módulo 3</a:t>
            </a:r>
            <a:endParaRPr lang="en-US" sz="1600" dirty="0"/>
          </a:p>
        </p:txBody>
      </p:sp>
      <p:sp>
        <p:nvSpPr>
          <p:cNvPr id="11" name="Shape 9"/>
          <p:cNvSpPr/>
          <p:nvPr/>
        </p:nvSpPr>
        <p:spPr>
          <a:xfrm>
            <a:off x="7998916" y="4539059"/>
            <a:ext cx="3373934" cy="1296591"/>
          </a:xfrm>
          <a:prstGeom prst="roundRect">
            <a:avLst>
              <a:gd name="adj" fmla="val 7346"/>
            </a:avLst>
          </a:prstGeom>
          <a:solidFill>
            <a:srgbClr val="FFFFFF"/>
          </a:solidFill>
          <a:ln w="12700">
            <a:solidFill>
              <a:srgbClr val="1E293B"/>
            </a:solidFill>
            <a:prstDash val="solid"/>
          </a:ln>
        </p:spPr>
      </p:sp>
      <p:sp>
        <p:nvSpPr>
          <p:cNvPr id="12" name="Text 10"/>
          <p:cNvSpPr/>
          <p:nvPr/>
        </p:nvSpPr>
        <p:spPr>
          <a:xfrm>
            <a:off x="8208466" y="4748609"/>
            <a:ext cx="304347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Objetivo</a:t>
            </a:r>
            <a:endParaRPr lang="en-US" sz="1400" dirty="0"/>
          </a:p>
        </p:txBody>
      </p:sp>
      <p:sp>
        <p:nvSpPr>
          <p:cNvPr id="13" name="Text 11"/>
          <p:cNvSpPr/>
          <p:nvPr/>
        </p:nvSpPr>
        <p:spPr>
          <a:xfrm>
            <a:off x="8208466" y="5065316"/>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Medir con evidencia y decidir un cambio con el número</a:t>
            </a:r>
            <a:endParaRPr lang="en-US" sz="1600" dirty="0"/>
          </a:p>
        </p:txBody>
      </p:sp>
      <p:sp>
        <p:nvSpPr>
          <p:cNvPr id="14" name="Text 12"/>
          <p:cNvSpPr/>
          <p:nvPr/>
        </p:nvSpPr>
        <p:spPr>
          <a:xfrm>
            <a:off x="812800" y="6229350"/>
            <a:ext cx="15926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Apertura · 01/35</a:t>
            </a:r>
            <a:endParaRPr lang="en-US" sz="1200" dirty="0"/>
          </a:p>
        </p:txBody>
      </p:sp>
      <p:pic>
        <p:nvPicPr>
          <p:cNvPr id="15"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Pase de entrada</a:t>
            </a:r>
            <a:endParaRPr lang="en-US" sz="3600" dirty="0"/>
          </a:p>
        </p:txBody>
      </p:sp>
      <p:pic>
        <p:nvPicPr>
          <p:cNvPr id="3" name="Image 0" descr="Pase de entrada: pre-work, INFORME-L9 y el cuello elegido para hoy">    </p:cNvPr>
          <p:cNvPicPr>
            <a:picLocks noChangeAspect="1"/>
          </p:cNvPicPr>
          <p:nvPr/>
        </p:nvPicPr>
        <p:blipFill>
          <a:blip r:embed="rId1"/>
          <a:srcRect l="-33" r="-33" t="0" b="0"/>
          <a:stretch/>
        </p:blipFill>
        <p:spPr>
          <a:xfrm>
            <a:off x="812800" y="1574205"/>
            <a:ext cx="10566400" cy="2413000"/>
          </a:xfrm>
          <a:prstGeom prst="rect">
            <a:avLst/>
          </a:prstGeom>
        </p:spPr>
      </p:pic>
      <p:sp>
        <p:nvSpPr>
          <p:cNvPr id="4" name="Text 1"/>
          <p:cNvSpPr/>
          <p:nvPr/>
        </p:nvSpPr>
        <p:spPr>
          <a:xfrm>
            <a:off x="1482229" y="2457252"/>
            <a:ext cx="120114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Pre-work · 1 h</a:t>
            </a:r>
            <a:endParaRPr lang="en-US" sz="1400" dirty="0"/>
          </a:p>
        </p:txBody>
      </p:sp>
      <p:sp>
        <p:nvSpPr>
          <p:cNvPr id="5" name="Text 2"/>
          <p:cNvSpPr/>
          <p:nvPr/>
        </p:nvSpPr>
        <p:spPr>
          <a:xfrm>
            <a:off x="1293813" y="2697758"/>
            <a:ext cx="157787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conceptos-previos.md</a:t>
            </a:r>
            <a:endParaRPr lang="en-US" sz="1200" dirty="0"/>
          </a:p>
        </p:txBody>
      </p:sp>
      <p:sp>
        <p:nvSpPr>
          <p:cNvPr id="6" name="Text 3"/>
          <p:cNvSpPr/>
          <p:nvPr/>
        </p:nvSpPr>
        <p:spPr>
          <a:xfrm>
            <a:off x="1416546" y="2913658"/>
            <a:ext cx="13324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6 conceptos leídos</a:t>
            </a:r>
            <a:endParaRPr lang="en-US" sz="1200" dirty="0"/>
          </a:p>
        </p:txBody>
      </p:sp>
      <p:sp>
        <p:nvSpPr>
          <p:cNvPr id="7" name="Text 4"/>
          <p:cNvSpPr/>
          <p:nvPr/>
        </p:nvSpPr>
        <p:spPr>
          <a:xfrm>
            <a:off x="5383808" y="2457252"/>
            <a:ext cx="142438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INFORME-L9.md</a:t>
            </a:r>
            <a:endParaRPr lang="en-US" sz="1400" dirty="0"/>
          </a:p>
        </p:txBody>
      </p:sp>
      <p:sp>
        <p:nvSpPr>
          <p:cNvPr id="8" name="Text 5"/>
          <p:cNvSpPr/>
          <p:nvPr/>
        </p:nvSpPr>
        <p:spPr>
          <a:xfrm>
            <a:off x="5403652" y="2697758"/>
            <a:ext cx="13846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 cuellos de botella</a:t>
            </a:r>
            <a:endParaRPr lang="en-US" sz="1200" dirty="0"/>
          </a:p>
        </p:txBody>
      </p:sp>
      <p:sp>
        <p:nvSpPr>
          <p:cNvPr id="9" name="Text 6"/>
          <p:cNvSpPr/>
          <p:nvPr/>
        </p:nvSpPr>
        <p:spPr>
          <a:xfrm>
            <a:off x="5167761" y="2913658"/>
            <a:ext cx="185637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captura de traza + número</a:t>
            </a:r>
            <a:endParaRPr lang="en-US" sz="1200" dirty="0"/>
          </a:p>
        </p:txBody>
      </p:sp>
      <p:sp>
        <p:nvSpPr>
          <p:cNvPr id="10" name="Text 7"/>
          <p:cNvSpPr/>
          <p:nvPr/>
        </p:nvSpPr>
        <p:spPr>
          <a:xfrm>
            <a:off x="9713714" y="2457252"/>
            <a:ext cx="79087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Avance 2</a:t>
            </a:r>
            <a:endParaRPr lang="en-US" sz="1400" dirty="0"/>
          </a:p>
        </p:txBody>
      </p:sp>
      <p:sp>
        <p:nvSpPr>
          <p:cNvPr id="11" name="Text 8"/>
          <p:cNvSpPr/>
          <p:nvPr/>
        </p:nvSpPr>
        <p:spPr>
          <a:xfrm>
            <a:off x="9497120" y="2697758"/>
            <a:ext cx="122416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cuál se ataca hoy</a:t>
            </a:r>
            <a:endParaRPr lang="en-US" sz="1200" dirty="0"/>
          </a:p>
        </p:txBody>
      </p:sp>
      <p:sp>
        <p:nvSpPr>
          <p:cNvPr id="12" name="Text 9"/>
          <p:cNvSpPr/>
          <p:nvPr/>
        </p:nvSpPr>
        <p:spPr>
          <a:xfrm>
            <a:off x="9384109" y="2913658"/>
            <a:ext cx="145018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insumo de la Parte 3</a:t>
            </a:r>
            <a:endParaRPr lang="en-US" sz="1200" dirty="0"/>
          </a:p>
        </p:txBody>
      </p:sp>
      <p:sp>
        <p:nvSpPr>
          <p:cNvPr id="13" name="Text 10"/>
          <p:cNvSpPr/>
          <p:nvPr/>
        </p:nvSpPr>
        <p:spPr>
          <a:xfrm>
            <a:off x="3378200" y="2501305"/>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vocabulario</a:t>
            </a:r>
            <a:endParaRPr lang="en-US" sz="1400" dirty="0"/>
          </a:p>
        </p:txBody>
      </p:sp>
      <p:sp>
        <p:nvSpPr>
          <p:cNvPr id="14" name="Text 11"/>
          <p:cNvSpPr/>
          <p:nvPr/>
        </p:nvSpPr>
        <p:spPr>
          <a:xfrm>
            <a:off x="7391400" y="2501305"/>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elige</a:t>
            </a:r>
            <a:endParaRPr lang="en-US" sz="1400" dirty="0"/>
          </a:p>
        </p:txBody>
      </p:sp>
      <p:sp>
        <p:nvSpPr>
          <p:cNvPr id="15" name="Text 12"/>
          <p:cNvSpPr/>
          <p:nvPr/>
        </p:nvSpPr>
        <p:spPr>
          <a:xfrm>
            <a:off x="812800" y="4241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Pre-work: golden dataset · precisión y recall · groundedness · LLM-as-judge · prueba A/B · regresión.</a:t>
            </a:r>
            <a:endParaRPr lang="en-US" sz="1600" dirty="0"/>
          </a:p>
        </p:txBody>
      </p:sp>
      <p:sp>
        <p:nvSpPr>
          <p:cNvPr id="16" name="Text 13"/>
          <p:cNvSpPr/>
          <p:nvPr/>
        </p:nvSpPr>
        <p:spPr>
          <a:xfrm>
            <a:off x="812800" y="6229350"/>
            <a:ext cx="15926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Apertura · 02/35</a:t>
            </a:r>
            <a:endParaRPr lang="en-US" sz="1200" dirty="0"/>
          </a:p>
        </p:txBody>
      </p:sp>
      <p:pic>
        <p:nvPicPr>
          <p:cNvPr id="1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Objetivos de la sesión</a:t>
            </a:r>
            <a:endParaRPr lang="en-US" sz="3600" dirty="0"/>
          </a:p>
        </p:txBody>
      </p:sp>
      <p:sp>
        <p:nvSpPr>
          <p:cNvPr id="3" name="Shape 1"/>
          <p:cNvSpPr/>
          <p:nvPr/>
        </p:nvSpPr>
        <p:spPr>
          <a:xfrm>
            <a:off x="812800" y="1574205"/>
            <a:ext cx="375940" cy="381992"/>
          </a:xfrm>
          <a:prstGeom prst="roundRect">
            <a:avLst>
              <a:gd name="adj" fmla="val 27026"/>
            </a:avLst>
          </a:prstGeom>
          <a:solidFill>
            <a:srgbClr val="E9F0F7"/>
          </a:solidFill>
          <a:ln/>
        </p:spPr>
      </p:sp>
      <p:sp>
        <p:nvSpPr>
          <p:cNvPr id="4" name="Text 2"/>
          <p:cNvSpPr/>
          <p:nvPr/>
        </p:nvSpPr>
        <p:spPr>
          <a:xfrm>
            <a:off x="939800" y="1625005"/>
            <a:ext cx="172740"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1</a:t>
            </a:r>
            <a:endParaRPr lang="en-US" sz="1600" dirty="0"/>
          </a:p>
        </p:txBody>
      </p:sp>
      <p:sp>
        <p:nvSpPr>
          <p:cNvPr id="5" name="Text 3"/>
          <p:cNvSpPr/>
          <p:nvPr/>
        </p:nvSpPr>
        <p:spPr>
          <a:xfrm>
            <a:off x="1391940" y="1625005"/>
            <a:ext cx="7346719"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Explicar por qué </a:t>
            </a:r>
            <a:r>
              <a:rPr lang="en-US" sz="1600" b="1" dirty="0">
                <a:solidFill>
                  <a:srgbClr val="1E293B"/>
                </a:solidFill>
                <a:latin typeface="IBM Plex Sans" pitchFamily="34" charset="0"/>
                <a:ea typeface="IBM Plex Sans" pitchFamily="34" charset="-122"/>
                <a:cs typeface="IBM Plex Sans" pitchFamily="34" charset="-120"/>
              </a:rPr>
              <a:t>assert respuesta == "esperado"</a:t>
            </a:r>
            <a:r>
              <a:rPr lang="en-US" sz="1600" dirty="0">
                <a:solidFill>
                  <a:srgbClr val="1E293B"/>
                </a:solidFill>
                <a:latin typeface="IBM Plex Sans" pitchFamily="34" charset="0"/>
                <a:ea typeface="IBM Plex Sans" pitchFamily="34" charset="-122"/>
                <a:cs typeface="IBM Plex Sans" pitchFamily="34" charset="-120"/>
              </a:rPr>
              <a:t> no sirve, y qué lo reemplaza.</a:t>
            </a:r>
            <a:endParaRPr lang="en-US" sz="1600" dirty="0"/>
          </a:p>
        </p:txBody>
      </p:sp>
      <p:sp>
        <p:nvSpPr>
          <p:cNvPr id="6" name="Shape 4"/>
          <p:cNvSpPr/>
          <p:nvPr/>
        </p:nvSpPr>
        <p:spPr>
          <a:xfrm>
            <a:off x="812800" y="2133997"/>
            <a:ext cx="375940" cy="381992"/>
          </a:xfrm>
          <a:prstGeom prst="roundRect">
            <a:avLst>
              <a:gd name="adj" fmla="val 27026"/>
            </a:avLst>
          </a:prstGeom>
          <a:solidFill>
            <a:srgbClr val="E9F0F7"/>
          </a:solidFill>
          <a:ln/>
        </p:spPr>
      </p:sp>
      <p:sp>
        <p:nvSpPr>
          <p:cNvPr id="7" name="Text 5"/>
          <p:cNvSpPr/>
          <p:nvPr/>
        </p:nvSpPr>
        <p:spPr>
          <a:xfrm>
            <a:off x="939800" y="2184797"/>
            <a:ext cx="172740"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2</a:t>
            </a:r>
            <a:endParaRPr lang="en-US" sz="1600" dirty="0"/>
          </a:p>
        </p:txBody>
      </p:sp>
      <p:sp>
        <p:nvSpPr>
          <p:cNvPr id="8" name="Text 6"/>
          <p:cNvSpPr/>
          <p:nvPr/>
        </p:nvSpPr>
        <p:spPr>
          <a:xfrm>
            <a:off x="1391940" y="2184797"/>
            <a:ext cx="9904463"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Aplicar evaluators </a:t>
            </a:r>
            <a:r>
              <a:rPr lang="en-US" sz="1600" b="1" dirty="0">
                <a:solidFill>
                  <a:srgbClr val="1E293B"/>
                </a:solidFill>
                <a:latin typeface="IBM Plex Sans" pitchFamily="34" charset="0"/>
                <a:ea typeface="IBM Plex Sans" pitchFamily="34" charset="-122"/>
                <a:cs typeface="IBM Plex Sans" pitchFamily="34" charset="-120"/>
              </a:rPr>
              <a:t>determinísticos</a:t>
            </a:r>
            <a:r>
              <a:rPr lang="en-US" sz="1600" dirty="0">
                <a:solidFill>
                  <a:srgbClr val="1E293B"/>
                </a:solidFill>
                <a:latin typeface="IBM Plex Sans" pitchFamily="34" charset="0"/>
                <a:ea typeface="IBM Plex Sans" pitchFamily="34" charset="-122"/>
                <a:cs typeface="IBM Plex Sans" pitchFamily="34" charset="-120"/>
              </a:rPr>
              <a:t> y explicar las limitaciones de sus proxies de exactitud y groundedness.</a:t>
            </a:r>
            <a:endParaRPr lang="en-US" sz="1600" dirty="0"/>
          </a:p>
        </p:txBody>
      </p:sp>
      <p:sp>
        <p:nvSpPr>
          <p:cNvPr id="9" name="Shape 7"/>
          <p:cNvSpPr/>
          <p:nvPr/>
        </p:nvSpPr>
        <p:spPr>
          <a:xfrm>
            <a:off x="812800" y="2693789"/>
            <a:ext cx="375940" cy="381992"/>
          </a:xfrm>
          <a:prstGeom prst="roundRect">
            <a:avLst>
              <a:gd name="adj" fmla="val 27026"/>
            </a:avLst>
          </a:prstGeom>
          <a:solidFill>
            <a:srgbClr val="E9F0F7"/>
          </a:solidFill>
          <a:ln/>
        </p:spPr>
      </p:sp>
      <p:sp>
        <p:nvSpPr>
          <p:cNvPr id="10" name="Text 8"/>
          <p:cNvSpPr/>
          <p:nvPr/>
        </p:nvSpPr>
        <p:spPr>
          <a:xfrm>
            <a:off x="939800" y="2744589"/>
            <a:ext cx="172740"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3</a:t>
            </a:r>
            <a:endParaRPr lang="en-US" sz="1600" dirty="0"/>
          </a:p>
        </p:txBody>
      </p:sp>
      <p:sp>
        <p:nvSpPr>
          <p:cNvPr id="11" name="Text 9"/>
          <p:cNvSpPr/>
          <p:nvPr/>
        </p:nvSpPr>
        <p:spPr>
          <a:xfrm>
            <a:off x="1391940" y="2744589"/>
            <a:ext cx="6408157"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Explicar qué es </a:t>
            </a:r>
            <a:r>
              <a:rPr lang="en-US" sz="1600" b="1" dirty="0">
                <a:solidFill>
                  <a:srgbClr val="1E293B"/>
                </a:solidFill>
                <a:latin typeface="IBM Plex Sans" pitchFamily="34" charset="0"/>
                <a:ea typeface="IBM Plex Sans" pitchFamily="34" charset="-122"/>
                <a:cs typeface="IBM Plex Sans" pitchFamily="34" charset="-120"/>
              </a:rPr>
              <a:t>LLM-as-judge</a:t>
            </a:r>
            <a:r>
              <a:rPr lang="en-US" sz="1600" dirty="0">
                <a:solidFill>
                  <a:srgbClr val="1E293B"/>
                </a:solidFill>
                <a:latin typeface="IBM Plex Sans" pitchFamily="34" charset="0"/>
                <a:ea typeface="IBM Plex Sans" pitchFamily="34" charset="-122"/>
                <a:cs typeface="IBM Plex Sans" pitchFamily="34" charset="-120"/>
              </a:rPr>
              <a:t>, cuándo sirve y cuáles son sus sesgos.</a:t>
            </a:r>
            <a:endParaRPr lang="en-US" sz="1600" dirty="0"/>
          </a:p>
        </p:txBody>
      </p:sp>
      <p:sp>
        <p:nvSpPr>
          <p:cNvPr id="12" name="Shape 10"/>
          <p:cNvSpPr/>
          <p:nvPr/>
        </p:nvSpPr>
        <p:spPr>
          <a:xfrm>
            <a:off x="812800" y="3253581"/>
            <a:ext cx="375940" cy="381992"/>
          </a:xfrm>
          <a:prstGeom prst="roundRect">
            <a:avLst>
              <a:gd name="adj" fmla="val 27026"/>
            </a:avLst>
          </a:prstGeom>
          <a:solidFill>
            <a:srgbClr val="E9F0F7"/>
          </a:solidFill>
          <a:ln/>
        </p:spPr>
      </p:sp>
      <p:sp>
        <p:nvSpPr>
          <p:cNvPr id="13" name="Text 11"/>
          <p:cNvSpPr/>
          <p:nvPr/>
        </p:nvSpPr>
        <p:spPr>
          <a:xfrm>
            <a:off x="939800" y="3304381"/>
            <a:ext cx="172740"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4</a:t>
            </a:r>
            <a:endParaRPr lang="en-US" sz="1600" dirty="0"/>
          </a:p>
        </p:txBody>
      </p:sp>
      <p:sp>
        <p:nvSpPr>
          <p:cNvPr id="14" name="Text 12"/>
          <p:cNvSpPr/>
          <p:nvPr/>
        </p:nvSpPr>
        <p:spPr>
          <a:xfrm>
            <a:off x="1391940" y="3304381"/>
            <a:ext cx="7827957"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Comparar dos versiones de prompt sobre el mismo dataset y decidir con el número.</a:t>
            </a:r>
            <a:endParaRPr lang="en-US" sz="1600" dirty="0"/>
          </a:p>
        </p:txBody>
      </p:sp>
      <p:sp>
        <p:nvSpPr>
          <p:cNvPr id="15" name="Shape 13"/>
          <p:cNvSpPr/>
          <p:nvPr/>
        </p:nvSpPr>
        <p:spPr>
          <a:xfrm>
            <a:off x="812800" y="3813373"/>
            <a:ext cx="375940" cy="381992"/>
          </a:xfrm>
          <a:prstGeom prst="roundRect">
            <a:avLst>
              <a:gd name="adj" fmla="val 27026"/>
            </a:avLst>
          </a:prstGeom>
          <a:solidFill>
            <a:srgbClr val="E9F0F7"/>
          </a:solidFill>
          <a:ln/>
        </p:spPr>
      </p:sp>
      <p:sp>
        <p:nvSpPr>
          <p:cNvPr id="16" name="Text 14"/>
          <p:cNvSpPr/>
          <p:nvPr/>
        </p:nvSpPr>
        <p:spPr>
          <a:xfrm>
            <a:off x="939800" y="3864173"/>
            <a:ext cx="172740"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5</a:t>
            </a:r>
            <a:endParaRPr lang="en-US" sz="1600" dirty="0"/>
          </a:p>
        </p:txBody>
      </p:sp>
      <p:sp>
        <p:nvSpPr>
          <p:cNvPr id="17" name="Text 15"/>
          <p:cNvSpPr/>
          <p:nvPr/>
        </p:nvSpPr>
        <p:spPr>
          <a:xfrm>
            <a:off x="1391940" y="3864173"/>
            <a:ext cx="451539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Distinguir una mejora real de ruido de muestreo.</a:t>
            </a:r>
            <a:endParaRPr lang="en-US" sz="1600" dirty="0"/>
          </a:p>
        </p:txBody>
      </p:sp>
      <p:sp>
        <p:nvSpPr>
          <p:cNvPr id="18" name="Text 16"/>
          <p:cNvSpPr/>
          <p:nvPr/>
        </p:nvSpPr>
        <p:spPr>
          <a:xfrm>
            <a:off x="812800" y="6229350"/>
            <a:ext cx="159265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Apertura · 03/35</a:t>
            </a:r>
            <a:endParaRPr lang="en-US" sz="1200" dirty="0"/>
          </a:p>
        </p:txBody>
      </p:sp>
      <p:pic>
        <p:nvPicPr>
          <p:cNvPr id="19"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Mejorar con evidencia</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Retomas los 2 cuellos de tu Avance 2 (S9): hoy los atacas.</a:t>
            </a:r>
            <a:endParaRPr lang="en-US" sz="1600" dirty="0"/>
          </a:p>
        </p:txBody>
      </p:sp>
      <p:pic>
        <p:nvPicPr>
          <p:cNvPr id="4" name="Image 0" descr="Del cuello del L9 a un cambio dirigido y su medición">    </p:cNvPr>
          <p:cNvPicPr>
            <a:picLocks noChangeAspect="1"/>
          </p:cNvPicPr>
          <p:nvPr/>
        </p:nvPicPr>
        <p:blipFill>
          <a:blip r:embed="rId1"/>
          <a:srcRect l="-43" r="-43" t="0" b="0"/>
          <a:stretch/>
        </p:blipFill>
        <p:spPr>
          <a:xfrm>
            <a:off x="812800" y="2108597"/>
            <a:ext cx="10566400" cy="2794000"/>
          </a:xfrm>
          <a:prstGeom prst="rect">
            <a:avLst/>
          </a:prstGeom>
        </p:spPr>
      </p:pic>
      <p:sp>
        <p:nvSpPr>
          <p:cNvPr id="5" name="Text 2"/>
          <p:cNvSpPr/>
          <p:nvPr/>
        </p:nvSpPr>
        <p:spPr>
          <a:xfrm>
            <a:off x="1725712" y="2483644"/>
            <a:ext cx="7141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Cuello 1</a:t>
            </a:r>
            <a:endParaRPr lang="en-US" sz="1400" dirty="0"/>
          </a:p>
        </p:txBody>
      </p:sp>
      <p:sp>
        <p:nvSpPr>
          <p:cNvPr id="6" name="Text 3"/>
          <p:cNvSpPr/>
          <p:nvPr/>
        </p:nvSpPr>
        <p:spPr>
          <a:xfrm>
            <a:off x="1608336" y="2724150"/>
            <a:ext cx="94882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INFORME-L9</a:t>
            </a:r>
            <a:endParaRPr lang="en-US" sz="1200" dirty="0"/>
          </a:p>
        </p:txBody>
      </p:sp>
      <p:sp>
        <p:nvSpPr>
          <p:cNvPr id="7" name="Text 4"/>
          <p:cNvSpPr/>
          <p:nvPr/>
        </p:nvSpPr>
        <p:spPr>
          <a:xfrm>
            <a:off x="1631652" y="2940050"/>
            <a:ext cx="90219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se ataca hoy</a:t>
            </a:r>
            <a:endParaRPr lang="en-US" sz="1200" dirty="0"/>
          </a:p>
        </p:txBody>
      </p:sp>
      <p:sp>
        <p:nvSpPr>
          <p:cNvPr id="8" name="Text 5"/>
          <p:cNvSpPr/>
          <p:nvPr/>
        </p:nvSpPr>
        <p:spPr>
          <a:xfrm>
            <a:off x="1725712" y="3880644"/>
            <a:ext cx="71417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Cuello 2</a:t>
            </a:r>
            <a:endParaRPr lang="en-US" sz="1400" dirty="0"/>
          </a:p>
        </p:txBody>
      </p:sp>
      <p:sp>
        <p:nvSpPr>
          <p:cNvPr id="9" name="Text 6"/>
          <p:cNvSpPr/>
          <p:nvPr/>
        </p:nvSpPr>
        <p:spPr>
          <a:xfrm>
            <a:off x="1608336" y="4121150"/>
            <a:ext cx="94882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INFORME-L9</a:t>
            </a:r>
            <a:endParaRPr lang="en-US" sz="1200" dirty="0"/>
          </a:p>
        </p:txBody>
      </p:sp>
      <p:sp>
        <p:nvSpPr>
          <p:cNvPr id="10" name="Text 7"/>
          <p:cNvSpPr/>
          <p:nvPr/>
        </p:nvSpPr>
        <p:spPr>
          <a:xfrm>
            <a:off x="1582936" y="4337050"/>
            <a:ext cx="99972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documentado</a:t>
            </a:r>
            <a:endParaRPr lang="en-US" sz="1200" dirty="0"/>
          </a:p>
        </p:txBody>
      </p:sp>
      <p:sp>
        <p:nvSpPr>
          <p:cNvPr id="11" name="Text 8"/>
          <p:cNvSpPr/>
          <p:nvPr/>
        </p:nvSpPr>
        <p:spPr>
          <a:xfrm>
            <a:off x="5309791" y="2591594"/>
            <a:ext cx="157241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Un cambio dirigido</a:t>
            </a:r>
            <a:endParaRPr lang="en-US" sz="1400" dirty="0"/>
          </a:p>
        </p:txBody>
      </p:sp>
      <p:sp>
        <p:nvSpPr>
          <p:cNvPr id="12" name="Text 9"/>
          <p:cNvSpPr/>
          <p:nvPr/>
        </p:nvSpPr>
        <p:spPr>
          <a:xfrm>
            <a:off x="5551884" y="2832100"/>
            <a:ext cx="108823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Parte 3 del L10</a:t>
            </a:r>
            <a:endParaRPr lang="en-US" sz="1200" dirty="0"/>
          </a:p>
        </p:txBody>
      </p:sp>
      <p:sp>
        <p:nvSpPr>
          <p:cNvPr id="13" name="Text 10"/>
          <p:cNvSpPr/>
          <p:nvPr/>
        </p:nvSpPr>
        <p:spPr>
          <a:xfrm>
            <a:off x="9545340" y="2591594"/>
            <a:ext cx="112762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v1 y v2</a:t>
            </a:r>
            <a:endParaRPr lang="en-US" sz="1400" dirty="0"/>
          </a:p>
        </p:txBody>
      </p:sp>
      <p:sp>
        <p:nvSpPr>
          <p:cNvPr id="14" name="Text 11"/>
          <p:cNvSpPr/>
          <p:nvPr/>
        </p:nvSpPr>
        <p:spPr>
          <a:xfrm>
            <a:off x="9575899" y="2832100"/>
            <a:ext cx="106660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 dataset</a:t>
            </a:r>
            <a:endParaRPr lang="en-US" sz="1200" dirty="0"/>
          </a:p>
        </p:txBody>
      </p:sp>
      <p:sp>
        <p:nvSpPr>
          <p:cNvPr id="15" name="Text 12"/>
          <p:cNvSpPr/>
          <p:nvPr/>
        </p:nvSpPr>
        <p:spPr>
          <a:xfrm>
            <a:off x="3378200" y="2527697"/>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hipótesis</a:t>
            </a:r>
            <a:endParaRPr lang="en-US" sz="1400" dirty="0"/>
          </a:p>
        </p:txBody>
      </p:sp>
      <p:sp>
        <p:nvSpPr>
          <p:cNvPr id="16" name="Text 13"/>
          <p:cNvSpPr/>
          <p:nvPr/>
        </p:nvSpPr>
        <p:spPr>
          <a:xfrm>
            <a:off x="7391400" y="2527697"/>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verifica</a:t>
            </a:r>
            <a:endParaRPr lang="en-US" sz="1400" dirty="0"/>
          </a:p>
        </p:txBody>
      </p:sp>
      <p:sp>
        <p:nvSpPr>
          <p:cNvPr id="17" name="Text 14"/>
          <p:cNvSpPr/>
          <p:nvPr/>
        </p:nvSpPr>
        <p:spPr>
          <a:xfrm>
            <a:off x="812800" y="5156597"/>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Se mide antes, se cambia una cosa, se mide después.</a:t>
            </a:r>
            <a:endParaRPr lang="en-US" sz="2200" dirty="0"/>
          </a:p>
        </p:txBody>
      </p:sp>
      <p:sp>
        <p:nvSpPr>
          <p:cNvPr id="18" name="Text 15"/>
          <p:cNvSpPr/>
          <p:nvPr/>
        </p:nvSpPr>
        <p:spPr>
          <a:xfrm>
            <a:off x="812800" y="6229350"/>
            <a:ext cx="23993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0 · Evidencia · 04/35</a:t>
            </a:r>
            <a:endParaRPr lang="en-US" sz="1200" dirty="0"/>
          </a:p>
        </p:txBody>
      </p:sp>
      <p:pic>
        <p:nvPicPr>
          <p:cNvPr id="19"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17128"/>
          </a:xfrm>
          <a:prstGeom prst="rect">
            <a:avLst/>
          </a:prstGeom>
          <a:noFill/>
          <a:ln/>
        </p:spPr>
        <p:txBody>
          <a:bodyPr wrap="square" lIns="0" tIns="0" rIns="0" bIns="0" rtlCol="0" anchor="t">
            <a:normAutofit/>
          </a:bodyPr>
          <a:lstStyle/>
          <a:p>
            <a:pPr algn="l" indent="0" marL="0">
              <a:lnSpc>
                <a:spcPts val="3871"/>
              </a:lnSpc>
              <a:buNone/>
            </a:pPr>
            <a:r>
              <a:rPr lang="en-US" sz="3488" b="1" spc="-35" kern="0" dirty="0">
                <a:solidFill>
                  <a:srgbClr val="1E293B"/>
                </a:solidFill>
                <a:latin typeface="IBM Plex Sans" pitchFamily="34" charset="0"/>
                <a:ea typeface="IBM Plex Sans" pitchFamily="34" charset="-122"/>
                <a:cs typeface="IBM Plex Sans" pitchFamily="34" charset="-120"/>
              </a:rPr>
              <a:t>Un LLM se evalúa con métricas</a:t>
            </a:r>
            <a:endParaRPr lang="en-US" sz="3488" dirty="0"/>
          </a:p>
        </p:txBody>
      </p:sp>
      <p:pic>
        <p:nvPicPr>
          <p:cNvPr id="3" name="Image 0" descr="IMG-S00-002: un LLM no es una API normal; temperature=0 reduce la variabilidad, no la elimina; se evalúa con métricas, no con assert">    </p:cNvPr>
          <p:cNvPicPr>
            <a:picLocks noChangeAspect="1"/>
          </p:cNvPicPr>
          <p:nvPr/>
        </p:nvPicPr>
        <p:blipFill>
          <a:blip r:embed="rId1"/>
          <a:srcRect l="-13" r="-13" t="0" b="0"/>
          <a:stretch/>
        </p:blipFill>
        <p:spPr>
          <a:xfrm>
            <a:off x="2168525" y="1558528"/>
            <a:ext cx="7854950" cy="4419600"/>
          </a:xfrm>
          <a:prstGeom prst="roundRect">
            <a:avLst>
              <a:gd name="adj" fmla="val 2299"/>
            </a:avLst>
          </a:prstGeom>
        </p:spPr>
      </p:pic>
      <p:sp>
        <p:nvSpPr>
          <p:cNvPr id="4" name="Text 1"/>
          <p:cNvSpPr/>
          <p:nvPr/>
        </p:nvSpPr>
        <p:spPr>
          <a:xfrm>
            <a:off x="812800" y="6229350"/>
            <a:ext cx="239934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0 · Evidencia · 05/35</a:t>
            </a:r>
            <a:endParaRPr lang="en-US" sz="1200" dirty="0"/>
          </a:p>
        </p:txBody>
      </p:sp>
      <p:pic>
        <p:nvPicPr>
          <p:cNvPr id="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golden dataset era el de siempre</a:t>
            </a:r>
            <a:endParaRPr lang="en-US" sz="3600" dirty="0"/>
          </a:p>
        </p:txBody>
      </p:sp>
      <p:pic>
        <p:nvPicPr>
          <p:cNvPr id="3" name="Image 0" descr="Golden dataset: 30 casos por track reutilizados en L2, L4, L5 y L10">    </p:cNvPr>
          <p:cNvPicPr>
            <a:picLocks noChangeAspect="1"/>
          </p:cNvPicPr>
          <p:nvPr/>
        </p:nvPicPr>
        <p:blipFill>
          <a:blip r:embed="rId1"/>
          <a:srcRect l="0" r="0" t="-17" b="-17"/>
          <a:stretch/>
        </p:blipFill>
        <p:spPr>
          <a:xfrm>
            <a:off x="812800" y="1574205"/>
            <a:ext cx="10566400" cy="3556000"/>
          </a:xfrm>
          <a:prstGeom prst="rect">
            <a:avLst/>
          </a:prstGeom>
        </p:spPr>
      </p:pic>
      <p:sp>
        <p:nvSpPr>
          <p:cNvPr id="4" name="Text 1"/>
          <p:cNvSpPr/>
          <p:nvPr/>
        </p:nvSpPr>
        <p:spPr>
          <a:xfrm>
            <a:off x="1627188" y="3028752"/>
            <a:ext cx="12921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Golden dataset</a:t>
            </a:r>
            <a:endParaRPr lang="en-US" sz="1400" dirty="0"/>
          </a:p>
        </p:txBody>
      </p:sp>
      <p:sp>
        <p:nvSpPr>
          <p:cNvPr id="5" name="Text 2"/>
          <p:cNvSpPr/>
          <p:nvPr/>
        </p:nvSpPr>
        <p:spPr>
          <a:xfrm>
            <a:off x="1461195" y="3269258"/>
            <a:ext cx="162411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consultas-&lt;track&gt;.json</a:t>
            </a:r>
            <a:endParaRPr lang="en-US" sz="1200" dirty="0"/>
          </a:p>
        </p:txBody>
      </p:sp>
      <p:sp>
        <p:nvSpPr>
          <p:cNvPr id="6" name="Text 3"/>
          <p:cNvSpPr/>
          <p:nvPr/>
        </p:nvSpPr>
        <p:spPr>
          <a:xfrm>
            <a:off x="1618159" y="3485158"/>
            <a:ext cx="13102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casos por track</a:t>
            </a:r>
            <a:endParaRPr lang="en-US" sz="1200" dirty="0"/>
          </a:p>
        </p:txBody>
      </p:sp>
      <p:sp>
        <p:nvSpPr>
          <p:cNvPr id="7" name="Text 4"/>
          <p:cNvSpPr/>
          <p:nvPr/>
        </p:nvSpPr>
        <p:spPr>
          <a:xfrm>
            <a:off x="7931102" y="2076648"/>
            <a:ext cx="2197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S2 · L2 clasificar intención</a:t>
            </a:r>
            <a:endParaRPr lang="en-US" sz="1400" dirty="0"/>
          </a:p>
        </p:txBody>
      </p:sp>
      <p:sp>
        <p:nvSpPr>
          <p:cNvPr id="8" name="Text 5"/>
          <p:cNvSpPr/>
          <p:nvPr/>
        </p:nvSpPr>
        <p:spPr>
          <a:xfrm>
            <a:off x="7704329" y="2317155"/>
            <a:ext cx="265074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S4 · L4 seleccionar herramienta</a:t>
            </a:r>
            <a:endParaRPr lang="en-US" sz="1400" dirty="0"/>
          </a:p>
        </p:txBody>
      </p:sp>
      <p:sp>
        <p:nvSpPr>
          <p:cNvPr id="9" name="Text 6"/>
          <p:cNvSpPr/>
          <p:nvPr/>
        </p:nvSpPr>
        <p:spPr>
          <a:xfrm>
            <a:off x="4798949" y="202505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20 con tool</a:t>
            </a:r>
            <a:endParaRPr lang="en-US" sz="1400" dirty="0"/>
          </a:p>
        </p:txBody>
      </p:sp>
      <p:sp>
        <p:nvSpPr>
          <p:cNvPr id="10" name="Text 7"/>
          <p:cNvSpPr/>
          <p:nvPr/>
        </p:nvSpPr>
        <p:spPr>
          <a:xfrm>
            <a:off x="812800" y="538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Las mismas 30 consultas desde la S2: 20 tienen una tool de negocio esperada.</a:t>
            </a:r>
            <a:endParaRPr lang="en-US" sz="1600" dirty="0"/>
          </a:p>
        </p:txBody>
      </p:sp>
      <p:sp>
        <p:nvSpPr>
          <p:cNvPr id="11" name="Text 8"/>
          <p:cNvSpPr/>
          <p:nvPr/>
        </p:nvSpPr>
        <p:spPr>
          <a:xfrm>
            <a:off x="812800" y="6229350"/>
            <a:ext cx="279759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1 · Golden dataset · 06/35</a:t>
            </a:r>
            <a:endParaRPr lang="en-US" sz="1200" dirty="0"/>
          </a:p>
        </p:txBody>
      </p:sp>
      <p:pic>
        <p:nvPicPr>
          <p:cNvPr id="1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golden dataset era el de siempre</a:t>
            </a:r>
            <a:endParaRPr lang="en-US" sz="3600" dirty="0"/>
          </a:p>
        </p:txBody>
      </p:sp>
      <p:pic>
        <p:nvPicPr>
          <p:cNvPr id="3" name="Image 0" descr="Golden dataset: 30 casos por track reutilizados en L2, L4, L5 y L10">    </p:cNvPr>
          <p:cNvPicPr>
            <a:picLocks noChangeAspect="1"/>
          </p:cNvPicPr>
          <p:nvPr/>
        </p:nvPicPr>
        <p:blipFill>
          <a:blip r:embed="rId1"/>
          <a:srcRect l="0" r="0" t="-17" b="-17"/>
          <a:stretch/>
        </p:blipFill>
        <p:spPr>
          <a:xfrm>
            <a:off x="812800" y="1574205"/>
            <a:ext cx="10566400" cy="3556000"/>
          </a:xfrm>
          <a:prstGeom prst="rect">
            <a:avLst/>
          </a:prstGeom>
        </p:spPr>
      </p:pic>
      <p:sp>
        <p:nvSpPr>
          <p:cNvPr id="4" name="Text 1"/>
          <p:cNvSpPr/>
          <p:nvPr/>
        </p:nvSpPr>
        <p:spPr>
          <a:xfrm>
            <a:off x="1627188" y="3028752"/>
            <a:ext cx="12921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Golden dataset</a:t>
            </a:r>
            <a:endParaRPr lang="en-US" sz="1400" dirty="0"/>
          </a:p>
        </p:txBody>
      </p:sp>
      <p:sp>
        <p:nvSpPr>
          <p:cNvPr id="5" name="Text 2"/>
          <p:cNvSpPr/>
          <p:nvPr/>
        </p:nvSpPr>
        <p:spPr>
          <a:xfrm>
            <a:off x="1461195" y="3269258"/>
            <a:ext cx="162411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consultas-&lt;track&gt;.json</a:t>
            </a:r>
            <a:endParaRPr lang="en-US" sz="1200" dirty="0"/>
          </a:p>
        </p:txBody>
      </p:sp>
      <p:sp>
        <p:nvSpPr>
          <p:cNvPr id="6" name="Text 3"/>
          <p:cNvSpPr/>
          <p:nvPr/>
        </p:nvSpPr>
        <p:spPr>
          <a:xfrm>
            <a:off x="1618159" y="3485158"/>
            <a:ext cx="13102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casos por track</a:t>
            </a:r>
            <a:endParaRPr lang="en-US" sz="1200" dirty="0"/>
          </a:p>
        </p:txBody>
      </p:sp>
      <p:sp>
        <p:nvSpPr>
          <p:cNvPr id="7" name="Text 4"/>
          <p:cNvSpPr/>
          <p:nvPr/>
        </p:nvSpPr>
        <p:spPr>
          <a:xfrm>
            <a:off x="7931102" y="2076648"/>
            <a:ext cx="2197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S2 · L2 clasificar intención</a:t>
            </a:r>
            <a:endParaRPr lang="en-US" sz="1400" dirty="0"/>
          </a:p>
        </p:txBody>
      </p:sp>
      <p:sp>
        <p:nvSpPr>
          <p:cNvPr id="8" name="Text 5"/>
          <p:cNvSpPr/>
          <p:nvPr/>
        </p:nvSpPr>
        <p:spPr>
          <a:xfrm>
            <a:off x="7704329" y="2317155"/>
            <a:ext cx="265074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S4 · L4 seleccionar herramienta</a:t>
            </a:r>
            <a:endParaRPr lang="en-US" sz="1400" dirty="0"/>
          </a:p>
        </p:txBody>
      </p:sp>
      <p:sp>
        <p:nvSpPr>
          <p:cNvPr id="9" name="Text 6"/>
          <p:cNvSpPr/>
          <p:nvPr/>
        </p:nvSpPr>
        <p:spPr>
          <a:xfrm>
            <a:off x="4798949" y="202505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20 con tool</a:t>
            </a:r>
            <a:endParaRPr lang="en-US" sz="1400" dirty="0"/>
          </a:p>
        </p:txBody>
      </p:sp>
      <p:sp>
        <p:nvSpPr>
          <p:cNvPr id="10" name="Text 7"/>
          <p:cNvSpPr/>
          <p:nvPr/>
        </p:nvSpPr>
        <p:spPr>
          <a:xfrm>
            <a:off x="8032274" y="3244652"/>
            <a:ext cx="199485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S5 · L5 recuperar y citar</a:t>
            </a:r>
            <a:endParaRPr lang="en-US" sz="1400" dirty="0"/>
          </a:p>
        </p:txBody>
      </p:sp>
      <p:sp>
        <p:nvSpPr>
          <p:cNvPr id="11" name="Text 8"/>
          <p:cNvSpPr/>
          <p:nvPr/>
        </p:nvSpPr>
        <p:spPr>
          <a:xfrm>
            <a:off x="4850511" y="3072805"/>
            <a:ext cx="1805178"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10 OTRO</a:t>
            </a:r>
            <a:endParaRPr lang="en-US" sz="1400" dirty="0"/>
          </a:p>
        </p:txBody>
      </p:sp>
      <p:sp>
        <p:nvSpPr>
          <p:cNvPr id="12" name="Text 9"/>
          <p:cNvSpPr/>
          <p:nvPr/>
        </p:nvSpPr>
        <p:spPr>
          <a:xfrm>
            <a:off x="812800" y="538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Las 10 consultas OTRO no piden una tool de negocio: desde la S5 prueban recuperación y cita.</a:t>
            </a:r>
            <a:endParaRPr lang="en-US" sz="1600" dirty="0"/>
          </a:p>
        </p:txBody>
      </p:sp>
      <p:sp>
        <p:nvSpPr>
          <p:cNvPr id="13" name="Text 10"/>
          <p:cNvSpPr/>
          <p:nvPr/>
        </p:nvSpPr>
        <p:spPr>
          <a:xfrm>
            <a:off x="812800" y="6229350"/>
            <a:ext cx="279759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1 · Golden dataset · 07/35</a:t>
            </a:r>
            <a:endParaRPr lang="en-US" sz="1200" dirty="0"/>
          </a:p>
        </p:txBody>
      </p:sp>
      <p:pic>
        <p:nvPicPr>
          <p:cNvPr id="14"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golden dataset era el de siempre</a:t>
            </a:r>
            <a:endParaRPr lang="en-US" sz="3600" dirty="0"/>
          </a:p>
        </p:txBody>
      </p:sp>
      <p:pic>
        <p:nvPicPr>
          <p:cNvPr id="3" name="Image 0" descr="Golden dataset: 30 casos por track reutilizados en L2, L4, L5 y L10">    </p:cNvPr>
          <p:cNvPicPr>
            <a:picLocks noChangeAspect="1"/>
          </p:cNvPicPr>
          <p:nvPr/>
        </p:nvPicPr>
        <p:blipFill>
          <a:blip r:embed="rId1"/>
          <a:srcRect l="0" r="0" t="-17" b="-17"/>
          <a:stretch/>
        </p:blipFill>
        <p:spPr>
          <a:xfrm>
            <a:off x="812800" y="1574205"/>
            <a:ext cx="10566400" cy="3556000"/>
          </a:xfrm>
          <a:prstGeom prst="rect">
            <a:avLst/>
          </a:prstGeom>
        </p:spPr>
      </p:pic>
      <p:sp>
        <p:nvSpPr>
          <p:cNvPr id="4" name="Text 1"/>
          <p:cNvSpPr/>
          <p:nvPr/>
        </p:nvSpPr>
        <p:spPr>
          <a:xfrm>
            <a:off x="1627188" y="3028752"/>
            <a:ext cx="12921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Golden dataset</a:t>
            </a:r>
            <a:endParaRPr lang="en-US" sz="1400" dirty="0"/>
          </a:p>
        </p:txBody>
      </p:sp>
      <p:sp>
        <p:nvSpPr>
          <p:cNvPr id="5" name="Text 2"/>
          <p:cNvSpPr/>
          <p:nvPr/>
        </p:nvSpPr>
        <p:spPr>
          <a:xfrm>
            <a:off x="1461195" y="3269258"/>
            <a:ext cx="162411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consultas-&lt;track&gt;.json</a:t>
            </a:r>
            <a:endParaRPr lang="en-US" sz="1200" dirty="0"/>
          </a:p>
        </p:txBody>
      </p:sp>
      <p:sp>
        <p:nvSpPr>
          <p:cNvPr id="6" name="Text 3"/>
          <p:cNvSpPr/>
          <p:nvPr/>
        </p:nvSpPr>
        <p:spPr>
          <a:xfrm>
            <a:off x="1618159" y="3485158"/>
            <a:ext cx="13102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casos por track</a:t>
            </a:r>
            <a:endParaRPr lang="en-US" sz="1200" dirty="0"/>
          </a:p>
        </p:txBody>
      </p:sp>
      <p:sp>
        <p:nvSpPr>
          <p:cNvPr id="7" name="Text 4"/>
          <p:cNvSpPr/>
          <p:nvPr/>
        </p:nvSpPr>
        <p:spPr>
          <a:xfrm>
            <a:off x="7931102" y="2076648"/>
            <a:ext cx="2197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S2 · L2 clasificar intención</a:t>
            </a:r>
            <a:endParaRPr lang="en-US" sz="1400" dirty="0"/>
          </a:p>
        </p:txBody>
      </p:sp>
      <p:sp>
        <p:nvSpPr>
          <p:cNvPr id="8" name="Text 5"/>
          <p:cNvSpPr/>
          <p:nvPr/>
        </p:nvSpPr>
        <p:spPr>
          <a:xfrm>
            <a:off x="7704329" y="2317155"/>
            <a:ext cx="265074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S4 · L4 seleccionar herramienta</a:t>
            </a:r>
            <a:endParaRPr lang="en-US" sz="1400" dirty="0"/>
          </a:p>
        </p:txBody>
      </p:sp>
      <p:sp>
        <p:nvSpPr>
          <p:cNvPr id="9" name="Text 6"/>
          <p:cNvSpPr/>
          <p:nvPr/>
        </p:nvSpPr>
        <p:spPr>
          <a:xfrm>
            <a:off x="4798949" y="202505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20 con tool</a:t>
            </a:r>
            <a:endParaRPr lang="en-US" sz="1400" dirty="0"/>
          </a:p>
        </p:txBody>
      </p:sp>
      <p:sp>
        <p:nvSpPr>
          <p:cNvPr id="10" name="Text 7"/>
          <p:cNvSpPr/>
          <p:nvPr/>
        </p:nvSpPr>
        <p:spPr>
          <a:xfrm>
            <a:off x="8032274" y="3244652"/>
            <a:ext cx="199485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S5 · L5 recuperar y citar</a:t>
            </a:r>
            <a:endParaRPr lang="en-US" sz="1400" dirty="0"/>
          </a:p>
        </p:txBody>
      </p:sp>
      <p:sp>
        <p:nvSpPr>
          <p:cNvPr id="11" name="Text 8"/>
          <p:cNvSpPr/>
          <p:nvPr/>
        </p:nvSpPr>
        <p:spPr>
          <a:xfrm>
            <a:off x="4850511" y="3072805"/>
            <a:ext cx="1805178"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10 OTRO</a:t>
            </a:r>
            <a:endParaRPr lang="en-US" sz="1400" dirty="0"/>
          </a:p>
        </p:txBody>
      </p:sp>
      <p:sp>
        <p:nvSpPr>
          <p:cNvPr id="12" name="Text 9"/>
          <p:cNvSpPr/>
          <p:nvPr/>
        </p:nvSpPr>
        <p:spPr>
          <a:xfrm>
            <a:off x="7764113" y="4292402"/>
            <a:ext cx="253117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S10 · L10 evaluar v1 contra v2</a:t>
            </a:r>
            <a:endParaRPr lang="en-US" sz="1400" dirty="0"/>
          </a:p>
        </p:txBody>
      </p:sp>
      <p:sp>
        <p:nvSpPr>
          <p:cNvPr id="13" name="Text 10"/>
          <p:cNvSpPr/>
          <p:nvPr/>
        </p:nvSpPr>
        <p:spPr>
          <a:xfrm>
            <a:off x="4798949" y="412055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los 30 juntos</a:t>
            </a:r>
            <a:endParaRPr lang="en-US" sz="1400" dirty="0"/>
          </a:p>
        </p:txBody>
      </p:sp>
      <p:sp>
        <p:nvSpPr>
          <p:cNvPr id="14" name="Text 11"/>
          <p:cNvSpPr/>
          <p:nvPr/>
        </p:nvSpPr>
        <p:spPr>
          <a:xfrm>
            <a:off x="812800" y="538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Hoy se usan las 30 juntas. Prerrequisito cerrado: respuesta_esperada en las 30 filas.</a:t>
            </a:r>
            <a:endParaRPr lang="en-US" sz="1600" dirty="0"/>
          </a:p>
        </p:txBody>
      </p:sp>
      <p:sp>
        <p:nvSpPr>
          <p:cNvPr id="15" name="Text 12"/>
          <p:cNvSpPr/>
          <p:nvPr/>
        </p:nvSpPr>
        <p:spPr>
          <a:xfrm>
            <a:off x="812800" y="6229350"/>
            <a:ext cx="279759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1 · Golden dataset · 08/35</a:t>
            </a:r>
            <a:endParaRPr lang="en-US" sz="1200" dirty="0"/>
          </a:p>
        </p:txBody>
      </p:sp>
      <p:pic>
        <p:nvPicPr>
          <p:cNvPr id="16"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fila alimenta a los evaluators</a:t>
            </a:r>
            <a:endParaRPr lang="en-US" sz="3600" dirty="0"/>
          </a:p>
        </p:txBody>
      </p:sp>
      <p:pic>
        <p:nvPicPr>
          <p:cNvPr id="3" name="Image 0" descr="Campos de una fila del golden dataset y el evaluator que los lee">    </p:cNvPr>
          <p:cNvPicPr>
            <a:picLocks noChangeAspect="1"/>
          </p:cNvPicPr>
          <p:nvPr/>
        </p:nvPicPr>
        <p:blipFill>
          <a:blip r:embed="rId1"/>
          <a:srcRect l="0" r="0" t="0" b="0"/>
          <a:stretch/>
        </p:blipFill>
        <p:spPr>
          <a:xfrm>
            <a:off x="812800" y="1574205"/>
            <a:ext cx="10566400" cy="3302000"/>
          </a:xfrm>
          <a:prstGeom prst="rect">
            <a:avLst/>
          </a:prstGeom>
        </p:spPr>
      </p:pic>
      <p:sp>
        <p:nvSpPr>
          <p:cNvPr id="4" name="Shape 1"/>
          <p:cNvSpPr/>
          <p:nvPr/>
        </p:nvSpPr>
        <p:spPr>
          <a:xfrm>
            <a:off x="812800" y="1828205"/>
            <a:ext cx="5715000" cy="2794000"/>
          </a:xfrm>
          <a:prstGeom prst="roundRect">
            <a:avLst>
              <a:gd name="adj" fmla="val 909"/>
            </a:avLst>
          </a:prstGeom>
          <a:solidFill>
            <a:srgbClr val="1E293B"/>
          </a:solidFill>
          <a:ln/>
        </p:spPr>
      </p:sp>
      <p:sp>
        <p:nvSpPr>
          <p:cNvPr id="5" name="Text 2"/>
          <p:cNvSpPr/>
          <p:nvPr/>
        </p:nvSpPr>
        <p:spPr>
          <a:xfrm>
            <a:off x="1016000" y="2427883"/>
            <a:ext cx="5467858" cy="1620044"/>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"consulta": "¿Cuánto cuesta el plan Max 89 al mes?",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"intencion": "OTRO",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"categoria": "otro",</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"tool_esperada": null,</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"respuesta_esperada": "S/89"</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p:txBody>
      </p:sp>
      <p:sp>
        <p:nvSpPr>
          <p:cNvPr id="6" name="Text 3"/>
          <p:cNvSpPr/>
          <p:nvPr/>
        </p:nvSpPr>
        <p:spPr>
          <a:xfrm>
            <a:off x="9128026" y="1898452"/>
            <a:ext cx="16829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Uso correcto de tool</a:t>
            </a:r>
            <a:endParaRPr lang="en-US" sz="1400" dirty="0"/>
          </a:p>
        </p:txBody>
      </p:sp>
      <p:sp>
        <p:nvSpPr>
          <p:cNvPr id="7" name="Text 4"/>
          <p:cNvSpPr/>
          <p:nvPr/>
        </p:nvSpPr>
        <p:spPr>
          <a:xfrm>
            <a:off x="9455944" y="2138958"/>
            <a:ext cx="102701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tool llamada</a:t>
            </a:r>
            <a:endParaRPr lang="en-US" sz="1200" dirty="0"/>
          </a:p>
        </p:txBody>
      </p:sp>
      <p:sp>
        <p:nvSpPr>
          <p:cNvPr id="8" name="Text 5"/>
          <p:cNvSpPr/>
          <p:nvPr/>
        </p:nvSpPr>
        <p:spPr>
          <a:xfrm>
            <a:off x="9557544" y="3009702"/>
            <a:ext cx="82391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Exactitud</a:t>
            </a:r>
            <a:endParaRPr lang="en-US" sz="1400" dirty="0"/>
          </a:p>
        </p:txBody>
      </p:sp>
      <p:sp>
        <p:nvSpPr>
          <p:cNvPr id="9" name="Text 6"/>
          <p:cNvSpPr/>
          <p:nvPr/>
        </p:nvSpPr>
        <p:spPr>
          <a:xfrm>
            <a:off x="9163943" y="3250208"/>
            <a:ext cx="161111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respuesta del agente</a:t>
            </a:r>
            <a:endParaRPr lang="en-US" sz="1200" dirty="0"/>
          </a:p>
        </p:txBody>
      </p:sp>
      <p:sp>
        <p:nvSpPr>
          <p:cNvPr id="10" name="Text 7"/>
          <p:cNvSpPr/>
          <p:nvPr/>
        </p:nvSpPr>
        <p:spPr>
          <a:xfrm>
            <a:off x="9351963" y="4120952"/>
            <a:ext cx="123507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Groundedness</a:t>
            </a:r>
            <a:endParaRPr lang="en-US" sz="1400" dirty="0"/>
          </a:p>
        </p:txBody>
      </p:sp>
      <p:sp>
        <p:nvSpPr>
          <p:cNvPr id="11" name="Text 8"/>
          <p:cNvSpPr/>
          <p:nvPr/>
        </p:nvSpPr>
        <p:spPr>
          <a:xfrm>
            <a:off x="9171186" y="4361458"/>
            <a:ext cx="159662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contexto recuperado</a:t>
            </a:r>
            <a:endParaRPr lang="en-US" sz="1200" dirty="0"/>
          </a:p>
        </p:txBody>
      </p:sp>
      <p:sp>
        <p:nvSpPr>
          <p:cNvPr id="12" name="Text 9"/>
          <p:cNvSpPr/>
          <p:nvPr/>
        </p:nvSpPr>
        <p:spPr>
          <a:xfrm>
            <a:off x="6536563" y="1834555"/>
            <a:ext cx="2014474"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tool_esperada</a:t>
            </a:r>
            <a:endParaRPr lang="en-US" sz="1400" dirty="0"/>
          </a:p>
        </p:txBody>
      </p:sp>
      <p:sp>
        <p:nvSpPr>
          <p:cNvPr id="13" name="Text 10"/>
          <p:cNvSpPr/>
          <p:nvPr/>
        </p:nvSpPr>
        <p:spPr>
          <a:xfrm>
            <a:off x="6536563" y="2945805"/>
            <a:ext cx="2014474"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respuesta_esperada</a:t>
            </a:r>
            <a:endParaRPr lang="en-US" sz="1400" dirty="0"/>
          </a:p>
        </p:txBody>
      </p:sp>
      <p:sp>
        <p:nvSpPr>
          <p:cNvPr id="14" name="Text 11"/>
          <p:cNvSpPr/>
          <p:nvPr/>
        </p:nvSpPr>
        <p:spPr>
          <a:xfrm>
            <a:off x="6536563" y="4057055"/>
            <a:ext cx="2014474"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respuesta_esperada</a:t>
            </a:r>
            <a:endParaRPr lang="en-US" sz="1400" dirty="0"/>
          </a:p>
        </p:txBody>
      </p:sp>
      <p:sp>
        <p:nvSpPr>
          <p:cNvPr id="15" name="Text 12"/>
          <p:cNvSpPr/>
          <p:nvPr/>
        </p:nvSpPr>
        <p:spPr>
          <a:xfrm>
            <a:off x="812800" y="5130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Por track: 16 directa + 4 confusable (con tool esperada) + 10 otro. Fila real de consultas-telecomunicaciones.json.</a:t>
            </a:r>
            <a:endParaRPr lang="en-US" sz="1400" dirty="0"/>
          </a:p>
        </p:txBody>
      </p:sp>
      <p:sp>
        <p:nvSpPr>
          <p:cNvPr id="16" name="Text 13"/>
          <p:cNvSpPr/>
          <p:nvPr/>
        </p:nvSpPr>
        <p:spPr>
          <a:xfrm>
            <a:off x="812800" y="6229350"/>
            <a:ext cx="279759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1 · Golden dataset · 09/35</a:t>
            </a:r>
            <a:endParaRPr lang="en-US" sz="1200" dirty="0"/>
          </a:p>
        </p:txBody>
      </p:sp>
      <p:pic>
        <p:nvPicPr>
          <p:cNvPr id="1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483493"/>
          </a:xfrm>
          <a:prstGeom prst="rect">
            <a:avLst/>
          </a:prstGeom>
          <a:noFill/>
          <a:ln/>
        </p:spPr>
        <p:txBody>
          <a:bodyPr wrap="square" lIns="0" tIns="0" rIns="0" bIns="0" rtlCol="0" anchor="t">
            <a:normAutofit/>
          </a:bodyPr>
          <a:lstStyle/>
          <a:p>
            <a:pPr algn="l" indent="0" marL="0">
              <a:lnSpc>
                <a:spcPts val="3621"/>
              </a:lnSpc>
              <a:buNone/>
            </a:pPr>
            <a:r>
              <a:rPr lang="en-US" sz="3263" b="1" spc="-35" kern="0" dirty="0">
                <a:solidFill>
                  <a:srgbClr val="1E293B"/>
                </a:solidFill>
                <a:latin typeface="IBM Plex Sans" pitchFamily="34" charset="0"/>
                <a:ea typeface="IBM Plex Sans" pitchFamily="34" charset="-122"/>
                <a:cs typeface="IBM Plex Sans" pitchFamily="34" charset="-120"/>
              </a:rPr>
              <a:t>Los 3 evaluators determinísticos</a:t>
            </a:r>
            <a:endParaRPr lang="en-US" sz="3263" dirty="0"/>
          </a:p>
        </p:txBody>
      </p:sp>
      <p:pic>
        <p:nvPicPr>
          <p:cNvPr id="3" name="Image 0" descr="Agente v1: el LLM propone y el runtime ejecuta; sus salidas alimentan tres evaluators determinísticos">    </p:cNvPr>
          <p:cNvPicPr>
            <a:picLocks noChangeAspect="1"/>
          </p:cNvPicPr>
          <p:nvPr/>
        </p:nvPicPr>
        <p:blipFill>
          <a:blip r:embed="rId1"/>
          <a:srcRect l="0" r="0" t="-31" b="-31"/>
          <a:stretch/>
        </p:blipFill>
        <p:spPr>
          <a:xfrm>
            <a:off x="812800" y="1524893"/>
            <a:ext cx="10566400" cy="3810000"/>
          </a:xfrm>
          <a:prstGeom prst="rect">
            <a:avLst/>
          </a:prstGeom>
        </p:spPr>
      </p:pic>
      <p:sp>
        <p:nvSpPr>
          <p:cNvPr id="4" name="Text 1"/>
          <p:cNvSpPr/>
          <p:nvPr/>
        </p:nvSpPr>
        <p:spPr>
          <a:xfrm>
            <a:off x="1016000" y="1905893"/>
            <a:ext cx="3244088"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Agente v1 · agent.py</a:t>
            </a:r>
            <a:endParaRPr lang="en-US" sz="1400" dirty="0"/>
          </a:p>
        </p:txBody>
      </p:sp>
      <p:sp>
        <p:nvSpPr>
          <p:cNvPr id="5" name="Text 2"/>
          <p:cNvSpPr/>
          <p:nvPr/>
        </p:nvSpPr>
        <p:spPr>
          <a:xfrm>
            <a:off x="2401689" y="2515890"/>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6" name="Text 3"/>
          <p:cNvSpPr/>
          <p:nvPr/>
        </p:nvSpPr>
        <p:spPr>
          <a:xfrm>
            <a:off x="2150864" y="2756396"/>
            <a:ext cx="87987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Qwen3-32B</a:t>
            </a:r>
            <a:endParaRPr lang="en-US" sz="1200" dirty="0"/>
          </a:p>
        </p:txBody>
      </p:sp>
      <p:sp>
        <p:nvSpPr>
          <p:cNvPr id="7" name="Text 4"/>
          <p:cNvSpPr/>
          <p:nvPr/>
        </p:nvSpPr>
        <p:spPr>
          <a:xfrm>
            <a:off x="2220218" y="4166890"/>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8" name="Text 5"/>
          <p:cNvSpPr/>
          <p:nvPr/>
        </p:nvSpPr>
        <p:spPr>
          <a:xfrm>
            <a:off x="1760934" y="4407396"/>
            <a:ext cx="165973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 tools y retriever</a:t>
            </a:r>
            <a:endParaRPr lang="en-US" sz="1200" dirty="0"/>
          </a:p>
        </p:txBody>
      </p:sp>
      <p:sp>
        <p:nvSpPr>
          <p:cNvPr id="9" name="Text 6"/>
          <p:cNvSpPr/>
          <p:nvPr/>
        </p:nvSpPr>
        <p:spPr>
          <a:xfrm>
            <a:off x="1117600" y="3448943"/>
            <a:ext cx="901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10" name="Text 7"/>
          <p:cNvSpPr/>
          <p:nvPr/>
        </p:nvSpPr>
        <p:spPr>
          <a:xfrm>
            <a:off x="3149600" y="3448943"/>
            <a:ext cx="11303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11" name="Text 8"/>
          <p:cNvSpPr/>
          <p:nvPr/>
        </p:nvSpPr>
        <p:spPr>
          <a:xfrm>
            <a:off x="8175526" y="1976140"/>
            <a:ext cx="16829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Uso correcto de tool</a:t>
            </a:r>
            <a:endParaRPr lang="en-US" sz="1400" dirty="0"/>
          </a:p>
        </p:txBody>
      </p:sp>
      <p:sp>
        <p:nvSpPr>
          <p:cNvPr id="12" name="Text 9"/>
          <p:cNvSpPr/>
          <p:nvPr/>
        </p:nvSpPr>
        <p:spPr>
          <a:xfrm>
            <a:off x="7585041" y="2216646"/>
            <a:ext cx="286381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vs tool_esperada · = matriz_seleccion.py</a:t>
            </a:r>
            <a:endParaRPr lang="en-US" sz="1200" dirty="0"/>
          </a:p>
        </p:txBody>
      </p:sp>
      <p:sp>
        <p:nvSpPr>
          <p:cNvPr id="13" name="Text 10"/>
          <p:cNvSpPr/>
          <p:nvPr/>
        </p:nvSpPr>
        <p:spPr>
          <a:xfrm>
            <a:off x="8605044" y="3214390"/>
            <a:ext cx="82391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Exactitud</a:t>
            </a:r>
            <a:endParaRPr lang="en-US" sz="1400" dirty="0"/>
          </a:p>
        </p:txBody>
      </p:sp>
      <p:sp>
        <p:nvSpPr>
          <p:cNvPr id="14" name="Text 11"/>
          <p:cNvSpPr/>
          <p:nvPr/>
        </p:nvSpPr>
        <p:spPr>
          <a:xfrm>
            <a:off x="7535885" y="3454896"/>
            <a:ext cx="296213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¿aparece respuesta_esperada en el texto?</a:t>
            </a:r>
            <a:endParaRPr lang="en-US" sz="1200" dirty="0"/>
          </a:p>
        </p:txBody>
      </p:sp>
      <p:sp>
        <p:nvSpPr>
          <p:cNvPr id="15" name="Text 12"/>
          <p:cNvSpPr/>
          <p:nvPr/>
        </p:nvSpPr>
        <p:spPr>
          <a:xfrm>
            <a:off x="8068527" y="4452640"/>
            <a:ext cx="189684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Groundedness por cita</a:t>
            </a:r>
            <a:endParaRPr lang="en-US" sz="1400" dirty="0"/>
          </a:p>
        </p:txBody>
      </p:sp>
      <p:sp>
        <p:nvSpPr>
          <p:cNvPr id="16" name="Text 13"/>
          <p:cNvSpPr/>
          <p:nvPr/>
        </p:nvSpPr>
        <p:spPr>
          <a:xfrm>
            <a:off x="7544979" y="4693146"/>
            <a:ext cx="294404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dato esperado en respuesta y en contexto</a:t>
            </a:r>
            <a:endParaRPr lang="en-US" sz="1200" dirty="0"/>
          </a:p>
        </p:txBody>
      </p:sp>
      <p:sp>
        <p:nvSpPr>
          <p:cNvPr id="17" name="Text 14"/>
          <p:cNvSpPr/>
          <p:nvPr/>
        </p:nvSpPr>
        <p:spPr>
          <a:xfrm>
            <a:off x="4386834" y="1912243"/>
            <a:ext cx="224993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 llamada</a:t>
            </a:r>
            <a:endParaRPr lang="en-US" sz="1400" dirty="0"/>
          </a:p>
        </p:txBody>
      </p:sp>
      <p:sp>
        <p:nvSpPr>
          <p:cNvPr id="18" name="Text 15"/>
          <p:cNvSpPr/>
          <p:nvPr/>
        </p:nvSpPr>
        <p:spPr>
          <a:xfrm>
            <a:off x="4386834" y="3150493"/>
            <a:ext cx="224993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9" name="Text 16"/>
          <p:cNvSpPr/>
          <p:nvPr/>
        </p:nvSpPr>
        <p:spPr>
          <a:xfrm>
            <a:off x="4386834" y="4388743"/>
            <a:ext cx="224993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y contexto</a:t>
            </a:r>
            <a:endParaRPr lang="en-US" sz="1400" dirty="0"/>
          </a:p>
        </p:txBody>
      </p:sp>
      <p:sp>
        <p:nvSpPr>
          <p:cNvPr id="20" name="Text 17"/>
          <p:cNvSpPr/>
          <p:nvPr/>
        </p:nvSpPr>
        <p:spPr>
          <a:xfrm>
            <a:off x="812800" y="5588893"/>
            <a:ext cx="10883392" cy="278507"/>
          </a:xfrm>
          <a:prstGeom prst="rect">
            <a:avLst/>
          </a:prstGeom>
          <a:noFill/>
          <a:ln/>
        </p:spPr>
        <p:txBody>
          <a:bodyPr wrap="square" lIns="0" tIns="0" rIns="0" bIns="0" rtlCol="0" anchor="t">
            <a:normAutofit/>
          </a:bodyPr>
          <a:lstStyle/>
          <a:p>
            <a:pPr algn="l" indent="0" marL="0">
              <a:lnSpc>
                <a:spcPts val="2022"/>
              </a:lnSpc>
              <a:buNone/>
            </a:pPr>
            <a:r>
              <a:rPr lang="en-US" sz="1465" dirty="0">
                <a:solidFill>
                  <a:srgbClr val="1E293B"/>
                </a:solidFill>
                <a:latin typeface="IBM Plex Sans" pitchFamily="34" charset="0"/>
                <a:ea typeface="IBM Plex Sans" pitchFamily="34" charset="-122"/>
                <a:cs typeface="IBM Plex Sans" pitchFamily="34" charset="-120"/>
              </a:rPr>
              <a:t>Sin modelo de por medio: misma entrada, mismo resultado. Por eso califican.</a:t>
            </a:r>
            <a:endParaRPr lang="en-US" sz="1465" dirty="0"/>
          </a:p>
        </p:txBody>
      </p:sp>
      <p:sp>
        <p:nvSpPr>
          <p:cNvPr id="21" name="Text 18"/>
          <p:cNvSpPr/>
          <p:nvPr/>
        </p:nvSpPr>
        <p:spPr>
          <a:xfrm>
            <a:off x="812800" y="6229350"/>
            <a:ext cx="246627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2 · Evaluators · 10/35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5859"/>
          </a:xfrm>
          <a:prstGeom prst="rect">
            <a:avLst/>
          </a:prstGeom>
          <a:noFill/>
          <a:ln/>
        </p:spPr>
        <p:txBody>
          <a:bodyPr wrap="square" lIns="0" tIns="0" rIns="0" bIns="0" rtlCol="0" anchor="t">
            <a:normAutofit/>
          </a:bodyPr>
          <a:lstStyle/>
          <a:p>
            <a:pPr algn="l" indent="0" marL="0">
              <a:lnSpc>
                <a:spcPts val="3971"/>
              </a:lnSpc>
              <a:buNone/>
            </a:pPr>
            <a:r>
              <a:rPr lang="en-US" sz="3578" b="1" spc="-35" kern="0" dirty="0">
                <a:solidFill>
                  <a:srgbClr val="1E293B"/>
                </a:solidFill>
                <a:latin typeface="IBM Plex Sans" pitchFamily="34" charset="0"/>
                <a:ea typeface="IBM Plex Sans" pitchFamily="34" charset="-122"/>
                <a:cs typeface="IBM Plex Sans" pitchFamily="34" charset="-120"/>
              </a:rPr>
              <a:t>Determinístico no significa completo</a:t>
            </a:r>
            <a:endParaRPr lang="en-US" sz="3578" dirty="0"/>
          </a:p>
        </p:txBody>
      </p:sp>
      <p:sp>
        <p:nvSpPr>
          <p:cNvPr id="3" name="Text 1"/>
          <p:cNvSpPr/>
          <p:nvPr/>
        </p:nvSpPr>
        <p:spPr>
          <a:xfrm>
            <a:off x="812800" y="1567259"/>
            <a:ext cx="10883392" cy="237629"/>
          </a:xfrm>
          <a:prstGeom prst="rect">
            <a:avLst/>
          </a:prstGeom>
          <a:noFill/>
          <a:ln/>
        </p:spPr>
        <p:txBody>
          <a:bodyPr wrap="square" lIns="0" tIns="0" rIns="0" bIns="0" rtlCol="0" anchor="t">
            <a:normAutofit/>
          </a:bodyPr>
          <a:lstStyle/>
          <a:p>
            <a:pPr algn="l" indent="0" marL="0">
              <a:lnSpc>
                <a:spcPts val="1673"/>
              </a:lnSpc>
              <a:buNone/>
            </a:pPr>
            <a:r>
              <a:rPr lang="en-US" sz="1383" dirty="0">
                <a:solidFill>
                  <a:srgbClr val="526277"/>
                </a:solidFill>
                <a:latin typeface="IBM Plex Sans" pitchFamily="34" charset="0"/>
                <a:ea typeface="IBM Plex Sans" pitchFamily="34" charset="-122"/>
                <a:cs typeface="IBM Plex Sans" pitchFamily="34" charset="-120"/>
              </a:rPr>
              <a:t>Ejemplo ilustrativo · respuesta_esperada = «gratuita»</a:t>
            </a:r>
            <a:endParaRPr lang="en-US" sz="1383" dirty="0"/>
          </a:p>
        </p:txBody>
      </p:sp>
      <p:pic>
        <p:nvPicPr>
          <p:cNvPr id="4" name="Image 0" descr="Una respuesta que niega el dato contiene la subcadena esperada y el proxy la aprueba">    </p:cNvPr>
          <p:cNvPicPr>
            <a:picLocks noChangeAspect="1"/>
          </p:cNvPicPr>
          <p:nvPr/>
        </p:nvPicPr>
        <p:blipFill>
          <a:blip r:embed="rId1"/>
          <a:srcRect l="-33" r="-33" t="0" b="0"/>
          <a:stretch/>
        </p:blipFill>
        <p:spPr>
          <a:xfrm>
            <a:off x="812800" y="2033488"/>
            <a:ext cx="10566400" cy="2413000"/>
          </a:xfrm>
          <a:prstGeom prst="rect">
            <a:avLst/>
          </a:prstGeom>
        </p:spPr>
      </p:pic>
      <p:sp>
        <p:nvSpPr>
          <p:cNvPr id="5" name="Text 2"/>
          <p:cNvSpPr/>
          <p:nvPr/>
        </p:nvSpPr>
        <p:spPr>
          <a:xfrm>
            <a:off x="1942620" y="2357735"/>
            <a:ext cx="180436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 del agente</a:t>
            </a:r>
            <a:endParaRPr lang="en-US" sz="1400" dirty="0"/>
          </a:p>
        </p:txBody>
      </p:sp>
      <p:sp>
        <p:nvSpPr>
          <p:cNvPr id="6" name="Text 3"/>
          <p:cNvSpPr/>
          <p:nvPr/>
        </p:nvSpPr>
        <p:spPr>
          <a:xfrm>
            <a:off x="1254334" y="2598241"/>
            <a:ext cx="318093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«La portabilidad no es gratuita: cuesta S/15.»</a:t>
            </a:r>
            <a:endParaRPr lang="en-US" sz="1200" dirty="0"/>
          </a:p>
        </p:txBody>
      </p:sp>
      <p:sp>
        <p:nvSpPr>
          <p:cNvPr id="7" name="Text 4"/>
          <p:cNvSpPr/>
          <p:nvPr/>
        </p:nvSpPr>
        <p:spPr>
          <a:xfrm>
            <a:off x="1964389" y="3595985"/>
            <a:ext cx="176072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Contexto recuperado</a:t>
            </a:r>
            <a:endParaRPr lang="en-US" sz="1400" dirty="0"/>
          </a:p>
        </p:txBody>
      </p:sp>
      <p:sp>
        <p:nvSpPr>
          <p:cNvPr id="8" name="Text 5"/>
          <p:cNvSpPr/>
          <p:nvPr/>
        </p:nvSpPr>
        <p:spPr>
          <a:xfrm>
            <a:off x="882650" y="3836491"/>
            <a:ext cx="3924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[Fuente: portabilidad.md] La portabilidad numérica es gratuita por ley.</a:t>
            </a:r>
            <a:endParaRPr lang="en-US" sz="1200" dirty="0"/>
          </a:p>
        </p:txBody>
      </p:sp>
      <p:sp>
        <p:nvSpPr>
          <p:cNvPr id="9" name="Text 6"/>
          <p:cNvSpPr/>
          <p:nvPr/>
        </p:nvSpPr>
        <p:spPr>
          <a:xfrm>
            <a:off x="6608763" y="2916535"/>
            <a:ext cx="123507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Groundedness</a:t>
            </a:r>
            <a:endParaRPr lang="en-US" sz="1400" dirty="0"/>
          </a:p>
        </p:txBody>
      </p:sp>
      <p:sp>
        <p:nvSpPr>
          <p:cNvPr id="10" name="Text 7"/>
          <p:cNvSpPr/>
          <p:nvPr/>
        </p:nvSpPr>
        <p:spPr>
          <a:xfrm>
            <a:off x="6792813" y="3157041"/>
            <a:ext cx="86697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proxy léxico</a:t>
            </a:r>
            <a:endParaRPr lang="en-US" sz="1200" dirty="0"/>
          </a:p>
        </p:txBody>
      </p:sp>
      <p:sp>
        <p:nvSpPr>
          <p:cNvPr id="11" name="Text 8"/>
          <p:cNvSpPr/>
          <p:nvPr/>
        </p:nvSpPr>
        <p:spPr>
          <a:xfrm>
            <a:off x="6282424" y="3372941"/>
            <a:ext cx="1887752"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busca «gratuita» en ambos</a:t>
            </a:r>
            <a:endParaRPr lang="en-US" sz="1200" dirty="0"/>
          </a:p>
        </p:txBody>
      </p:sp>
      <p:sp>
        <p:nvSpPr>
          <p:cNvPr id="12" name="Text 9"/>
          <p:cNvSpPr/>
          <p:nvPr/>
        </p:nvSpPr>
        <p:spPr>
          <a:xfrm>
            <a:off x="10142835" y="2929235"/>
            <a:ext cx="4153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p>
        </p:txBody>
      </p:sp>
      <p:sp>
        <p:nvSpPr>
          <p:cNvPr id="13" name="Text 10"/>
          <p:cNvSpPr/>
          <p:nvPr/>
        </p:nvSpPr>
        <p:spPr>
          <a:xfrm>
            <a:off x="9421749" y="3169741"/>
            <a:ext cx="1857502"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aprueba aunque niega el dato</a:t>
            </a:r>
            <a:endParaRPr lang="en-US" sz="1200" dirty="0"/>
          </a:p>
        </p:txBody>
      </p:sp>
      <p:sp>
        <p:nvSpPr>
          <p:cNvPr id="14" name="Text 11"/>
          <p:cNvSpPr/>
          <p:nvPr/>
        </p:nvSpPr>
        <p:spPr>
          <a:xfrm>
            <a:off x="4902200" y="2293838"/>
            <a:ext cx="1219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5" name="Text 12"/>
          <p:cNvSpPr/>
          <p:nvPr/>
        </p:nvSpPr>
        <p:spPr>
          <a:xfrm>
            <a:off x="4902200" y="3627338"/>
            <a:ext cx="1219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contexto</a:t>
            </a:r>
            <a:endParaRPr lang="en-US" sz="1400" dirty="0"/>
          </a:p>
        </p:txBody>
      </p:sp>
      <p:sp>
        <p:nvSpPr>
          <p:cNvPr id="16" name="Text 13"/>
          <p:cNvSpPr/>
          <p:nvPr/>
        </p:nvSpPr>
        <p:spPr>
          <a:xfrm>
            <a:off x="8331200" y="2960588"/>
            <a:ext cx="965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devuelve</a:t>
            </a:r>
            <a:endParaRPr lang="en-US" sz="1400" dirty="0"/>
          </a:p>
        </p:txBody>
      </p:sp>
      <p:sp>
        <p:nvSpPr>
          <p:cNvPr id="17" name="Shape 14"/>
          <p:cNvSpPr/>
          <p:nvPr/>
        </p:nvSpPr>
        <p:spPr>
          <a:xfrm>
            <a:off x="819150" y="4706838"/>
            <a:ext cx="5168900" cy="1128812"/>
          </a:xfrm>
          <a:prstGeom prst="roundRect">
            <a:avLst>
              <a:gd name="adj" fmla="val 8438"/>
            </a:avLst>
          </a:prstGeom>
          <a:solidFill>
            <a:srgbClr val="FFFFFF"/>
          </a:solidFill>
          <a:ln w="12700">
            <a:solidFill>
              <a:srgbClr val="1E293B"/>
            </a:solidFill>
            <a:prstDash val="solid"/>
          </a:ln>
        </p:spPr>
      </p:sp>
      <p:sp>
        <p:nvSpPr>
          <p:cNvPr id="18" name="Text 15"/>
          <p:cNvSpPr/>
          <p:nvPr/>
        </p:nvSpPr>
        <p:spPr>
          <a:xfrm>
            <a:off x="1028700" y="4916388"/>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No valida cita, atribución, negación ni respaldo semántico: revisar fuente y afirmación a mano.</a:t>
            </a:r>
            <a:endParaRPr lang="en-US" sz="1400" dirty="0"/>
          </a:p>
        </p:txBody>
      </p:sp>
      <p:sp>
        <p:nvSpPr>
          <p:cNvPr id="19" name="Shape 16"/>
          <p:cNvSpPr/>
          <p:nvPr/>
        </p:nvSpPr>
        <p:spPr>
          <a:xfrm>
            <a:off x="6203950" y="4706838"/>
            <a:ext cx="5168900" cy="1128812"/>
          </a:xfrm>
          <a:prstGeom prst="roundRect">
            <a:avLst>
              <a:gd name="adj" fmla="val 8438"/>
            </a:avLst>
          </a:prstGeom>
          <a:solidFill>
            <a:srgbClr val="FFFFFF"/>
          </a:solidFill>
          <a:ln w="12700">
            <a:solidFill>
              <a:srgbClr val="1E293B"/>
            </a:solidFill>
            <a:prstDash val="solid"/>
          </a:ln>
        </p:spPr>
      </p:sp>
      <p:sp>
        <p:nvSpPr>
          <p:cNvPr id="20" name="Text 17"/>
          <p:cNvSpPr/>
          <p:nvPr/>
        </p:nvSpPr>
        <p:spPr>
          <a:xfrm>
            <a:off x="6413500" y="4916388"/>
            <a:ext cx="4892294" cy="735112"/>
          </a:xfrm>
          <a:prstGeom prst="rect">
            <a:avLst/>
          </a:prstGeom>
          <a:noFill/>
          <a:ln/>
        </p:spPr>
        <p:txBody>
          <a:bodyPr wrap="square" lIns="0" tIns="0" rIns="0" bIns="0" rtlCol="0" anchor="t">
            <a:normAutofit/>
          </a:bodyPr>
          <a:lstStyle/>
          <a:p>
            <a:pPr algn="l" indent="0" marL="0">
              <a:lnSpc>
                <a:spcPts val="1874"/>
              </a:lnSpc>
              <a:buNone/>
            </a:pPr>
            <a:r>
              <a:rPr lang="en-US" sz="1378" dirty="0">
                <a:solidFill>
                  <a:srgbClr val="1E293B"/>
                </a:solidFill>
                <a:latin typeface="IBM Plex Sans" pitchFamily="34" charset="0"/>
                <a:ea typeface="IBM Plex Sans" pitchFamily="34" charset="-122"/>
                <a:cs typeface="IBM Plex Sans" pitchFamily="34" charset="-120"/>
              </a:rPr>
              <a:t>respuesta_esperada = null → True por convención: es no aplicable, no un acierto. Hay 2 en telecomunicaciones y 3 en cada otro track.</a:t>
            </a:r>
            <a:endParaRPr lang="en-US" sz="1378" dirty="0"/>
          </a:p>
        </p:txBody>
      </p:sp>
      <p:sp>
        <p:nvSpPr>
          <p:cNvPr id="21" name="Text 18"/>
          <p:cNvSpPr/>
          <p:nvPr/>
        </p:nvSpPr>
        <p:spPr>
          <a:xfrm>
            <a:off x="812800" y="6229350"/>
            <a:ext cx="246627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2 · Evaluators · 11/35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2 · Evaluators determinísticos</a:t>
            </a:r>
            <a:endParaRPr lang="en-US" sz="3600" dirty="0"/>
          </a:p>
        </p:txBody>
      </p:sp>
      <p:sp>
        <p:nvSpPr>
          <p:cNvPr id="3" name="Shape 1"/>
          <p:cNvSpPr/>
          <p:nvPr/>
        </p:nvSpPr>
        <p:spPr>
          <a:xfrm>
            <a:off x="812800" y="1523405"/>
            <a:ext cx="10566400" cy="532606"/>
          </a:xfrm>
          <a:prstGeom prst="roundRect">
            <a:avLst>
              <a:gd name="adj" fmla="val 4769"/>
            </a:avLst>
          </a:prstGeom>
          <a:solidFill>
            <a:srgbClr val="1E293B"/>
          </a:solidFill>
          <a:ln/>
        </p:spPr>
      </p:sp>
      <p:sp>
        <p:nvSpPr>
          <p:cNvPr id="4" name="Text 2"/>
          <p:cNvSpPr/>
          <p:nvPr/>
        </p:nvSpPr>
        <p:spPr>
          <a:xfrm>
            <a:off x="1016000" y="16758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modulo-3-produccion/sesion-10-evaluacion-optimizacion/code/02_evaluators.py</a:t>
            </a:r>
            <a:endParaRPr lang="en-US" sz="1300" dirty="0"/>
          </a:p>
        </p:txBody>
      </p:sp>
      <p:sp>
        <p:nvSpPr>
          <p:cNvPr id="5" name="Text 3"/>
          <p:cNvSpPr/>
          <p:nvPr/>
        </p:nvSpPr>
        <p:spPr>
          <a:xfrm>
            <a:off x="812800" y="2259211"/>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Salida observada al correr la demo sin credenciales (commit ae864ff de main):</a:t>
            </a:r>
            <a:endParaRPr lang="en-US" sz="1400" dirty="0"/>
          </a:p>
        </p:txBody>
      </p:sp>
      <p:sp>
        <p:nvSpPr>
          <p:cNvPr id="6" name="Shape 4"/>
          <p:cNvSpPr/>
          <p:nvPr/>
        </p:nvSpPr>
        <p:spPr>
          <a:xfrm>
            <a:off x="812800" y="2683867"/>
            <a:ext cx="10566400" cy="0"/>
          </a:xfrm>
          <a:prstGeom prst="line">
            <a:avLst/>
          </a:prstGeom>
          <a:noFill/>
          <a:ln w="12700">
            <a:solidFill>
              <a:srgbClr val="141413">
                <a:alpha val="22000"/>
              </a:srgbClr>
            </a:solidFill>
            <a:prstDash val="solid"/>
          </a:ln>
        </p:spPr>
      </p:sp>
      <p:sp>
        <p:nvSpPr>
          <p:cNvPr id="7" name="Shape 5"/>
          <p:cNvSpPr/>
          <p:nvPr/>
        </p:nvSpPr>
        <p:spPr>
          <a:xfrm>
            <a:off x="819150" y="2677517"/>
            <a:ext cx="0" cy="1708944"/>
          </a:xfrm>
          <a:prstGeom prst="line">
            <a:avLst/>
          </a:prstGeom>
          <a:noFill/>
          <a:ln w="1270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52500" y="2766417"/>
          <a:ext cx="10299700" cy="1543844"/>
        </p:xfrm>
        <a:graphic>
          <a:graphicData uri="http://schemas.openxmlformats.org/drawingml/2006/table">
            <a:tbl>
              <a:tblPr/>
              <a:tblGrid>
                <a:gridCol w="5973826"/>
                <a:gridCol w="1235964"/>
                <a:gridCol w="1441958"/>
                <a:gridCol w="1647952"/>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Caso escrito a mano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exactitud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groundedness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Correcto: tool acertada, sin respuesta_esperada (no aplicable)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Alucinación: el dato no coincide con lo esperado ni con la fuente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False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False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Correcto con groundedness: la cifra está en la fuente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9" name="Text 6"/>
          <p:cNvSpPr/>
          <p:nvPr/>
        </p:nvSpPr>
        <p:spPr>
          <a:xfrm>
            <a:off x="812800" y="458966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Corre el script otra vez: el resultado es idéntico.</a:t>
            </a:r>
            <a:endParaRPr lang="en-US" sz="1600" dirty="0"/>
          </a:p>
        </p:txBody>
      </p:sp>
      <p:sp>
        <p:nvSpPr>
          <p:cNvPr id="10" name="Text 7"/>
          <p:cNvSpPr/>
          <p:nvPr/>
        </p:nvSpPr>
        <p:spPr>
          <a:xfrm>
            <a:off x="812800" y="6229350"/>
            <a:ext cx="246627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2 · Evaluators · 12/35</a:t>
            </a:r>
            <a:endParaRPr lang="en-US" sz="1200" dirty="0"/>
          </a:p>
        </p:txBody>
      </p:sp>
      <p:pic>
        <p:nvPicPr>
          <p:cNvPr id="11"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LLM-as-judge: se enseña, no califica</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1. Tomar 10 casos ya puntuados · 2. Pasarlos por el juez · 3. Poner las columnas lado a lado</a:t>
            </a:r>
            <a:endParaRPr lang="en-US" sz="1400" dirty="0"/>
          </a:p>
        </p:txBody>
      </p:sp>
      <p:pic>
        <p:nvPicPr>
          <p:cNvPr id="4" name="Image 0" descr="Los mismos 10 casos puntuados por el evaluator y por el juez; se comparan las columnas">    </p:cNvPr>
          <p:cNvPicPr>
            <a:picLocks noChangeAspect="1"/>
          </p:cNvPicPr>
          <p:nvPr/>
        </p:nvPicPr>
        <p:blipFill>
          <a:blip r:embed="rId1"/>
          <a:srcRect l="-20" r="-20" t="0" b="0"/>
          <a:stretch/>
        </p:blipFill>
        <p:spPr>
          <a:xfrm>
            <a:off x="812800" y="2043311"/>
            <a:ext cx="10566400" cy="3048000"/>
          </a:xfrm>
          <a:prstGeom prst="rect">
            <a:avLst/>
          </a:prstGeom>
        </p:spPr>
      </p:pic>
      <p:sp>
        <p:nvSpPr>
          <p:cNvPr id="5" name="Text 2"/>
          <p:cNvSpPr/>
          <p:nvPr/>
        </p:nvSpPr>
        <p:spPr>
          <a:xfrm>
            <a:off x="1443831" y="3351808"/>
            <a:ext cx="76983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10 casos</a:t>
            </a:r>
            <a:endParaRPr lang="en-US" sz="1400" dirty="0"/>
          </a:p>
        </p:txBody>
      </p:sp>
      <p:sp>
        <p:nvSpPr>
          <p:cNvPr id="6" name="Text 3"/>
          <p:cNvSpPr/>
          <p:nvPr/>
        </p:nvSpPr>
        <p:spPr>
          <a:xfrm>
            <a:off x="1342231" y="3592314"/>
            <a:ext cx="97303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ya puntuados</a:t>
            </a:r>
            <a:endParaRPr lang="en-US" sz="1200" dirty="0"/>
          </a:p>
        </p:txBody>
      </p:sp>
      <p:sp>
        <p:nvSpPr>
          <p:cNvPr id="7" name="Text 4"/>
          <p:cNvSpPr/>
          <p:nvPr/>
        </p:nvSpPr>
        <p:spPr>
          <a:xfrm>
            <a:off x="5246533" y="2431058"/>
            <a:ext cx="205453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Evaluator determinístico</a:t>
            </a:r>
            <a:endParaRPr lang="en-US" sz="1400" dirty="0"/>
          </a:p>
        </p:txBody>
      </p:sp>
      <p:sp>
        <p:nvSpPr>
          <p:cNvPr id="8" name="Text 5"/>
          <p:cNvSpPr/>
          <p:nvPr/>
        </p:nvSpPr>
        <p:spPr>
          <a:xfrm>
            <a:off x="5594945" y="2671564"/>
            <a:ext cx="13577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evaluar_exactitud()</a:t>
            </a:r>
            <a:endParaRPr lang="en-US" sz="1200" dirty="0"/>
          </a:p>
        </p:txBody>
      </p:sp>
      <p:sp>
        <p:nvSpPr>
          <p:cNvPr id="9" name="Text 6"/>
          <p:cNvSpPr/>
          <p:nvPr/>
        </p:nvSpPr>
        <p:spPr>
          <a:xfrm>
            <a:off x="5821561" y="4272558"/>
            <a:ext cx="9044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Juez · LLM</a:t>
            </a:r>
            <a:endParaRPr lang="en-US" sz="1400" dirty="0"/>
          </a:p>
        </p:txBody>
      </p:sp>
      <p:sp>
        <p:nvSpPr>
          <p:cNvPr id="10" name="Text 7"/>
          <p:cNvSpPr/>
          <p:nvPr/>
        </p:nvSpPr>
        <p:spPr>
          <a:xfrm>
            <a:off x="5583932" y="4513064"/>
            <a:ext cx="137963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 Qwen3-32B</a:t>
            </a:r>
            <a:endParaRPr lang="en-US" sz="1200" dirty="0"/>
          </a:p>
        </p:txBody>
      </p:sp>
      <p:sp>
        <p:nvSpPr>
          <p:cNvPr id="11" name="Text 8"/>
          <p:cNvSpPr/>
          <p:nvPr/>
        </p:nvSpPr>
        <p:spPr>
          <a:xfrm>
            <a:off x="9732566" y="3351808"/>
            <a:ext cx="11087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Desacuerdos</a:t>
            </a:r>
            <a:endParaRPr lang="en-US" sz="1400" dirty="0"/>
          </a:p>
        </p:txBody>
      </p:sp>
      <p:sp>
        <p:nvSpPr>
          <p:cNvPr id="12" name="Text 9"/>
          <p:cNvSpPr/>
          <p:nvPr/>
        </p:nvSpPr>
        <p:spPr>
          <a:xfrm>
            <a:off x="9525397" y="3592314"/>
            <a:ext cx="152320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aquí aparece el sesgo</a:t>
            </a:r>
            <a:endParaRPr lang="en-US" sz="1200" dirty="0"/>
          </a:p>
        </p:txBody>
      </p:sp>
      <p:sp>
        <p:nvSpPr>
          <p:cNvPr id="13" name="Text 10"/>
          <p:cNvSpPr/>
          <p:nvPr/>
        </p:nvSpPr>
        <p:spPr>
          <a:xfrm>
            <a:off x="3276600" y="2367161"/>
            <a:ext cx="13208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puntúa</a:t>
            </a:r>
            <a:endParaRPr lang="en-US" sz="1400" dirty="0"/>
          </a:p>
        </p:txBody>
      </p:sp>
      <p:sp>
        <p:nvSpPr>
          <p:cNvPr id="14" name="Text 11"/>
          <p:cNvSpPr/>
          <p:nvPr/>
        </p:nvSpPr>
        <p:spPr>
          <a:xfrm>
            <a:off x="3276600" y="4208661"/>
            <a:ext cx="13208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juzga</a:t>
            </a:r>
            <a:endParaRPr lang="en-US" sz="1400" dirty="0"/>
          </a:p>
        </p:txBody>
      </p:sp>
      <p:sp>
        <p:nvSpPr>
          <p:cNvPr id="15" name="Text 12"/>
          <p:cNvSpPr/>
          <p:nvPr/>
        </p:nvSpPr>
        <p:spPr>
          <a:xfrm>
            <a:off x="7950200" y="2367161"/>
            <a:ext cx="1219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columna A</a:t>
            </a:r>
            <a:endParaRPr lang="en-US" sz="1400" dirty="0"/>
          </a:p>
        </p:txBody>
      </p:sp>
      <p:sp>
        <p:nvSpPr>
          <p:cNvPr id="16" name="Text 13"/>
          <p:cNvSpPr/>
          <p:nvPr/>
        </p:nvSpPr>
        <p:spPr>
          <a:xfrm>
            <a:off x="7950200" y="4551561"/>
            <a:ext cx="1219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columna B</a:t>
            </a:r>
            <a:endParaRPr lang="en-US" sz="1400" dirty="0"/>
          </a:p>
        </p:txBody>
      </p:sp>
      <p:sp>
        <p:nvSpPr>
          <p:cNvPr id="17" name="Text 14"/>
          <p:cNvSpPr/>
          <p:nvPr/>
        </p:nvSpPr>
        <p:spPr>
          <a:xfrm>
            <a:off x="812800" y="5345311"/>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El juez es demo. La nota la sostienen los tres evaluators determinísticos.</a:t>
            </a:r>
            <a:endParaRPr lang="en-US" sz="2200" dirty="0"/>
          </a:p>
        </p:txBody>
      </p:sp>
      <p:sp>
        <p:nvSpPr>
          <p:cNvPr id="18" name="Text 15"/>
          <p:cNvSpPr/>
          <p:nvPr/>
        </p:nvSpPr>
        <p:spPr>
          <a:xfrm>
            <a:off x="812800" y="6229350"/>
            <a:ext cx="267925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3 · LLM-as-judge · 13/35</a:t>
            </a:r>
            <a:endParaRPr lang="en-US" sz="1200" dirty="0"/>
          </a:p>
        </p:txBody>
      </p:sp>
      <p:pic>
        <p:nvPicPr>
          <p:cNvPr id="19"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Los 4 sesgos del juez</a:t>
            </a:r>
            <a:endParaRPr lang="en-US" sz="3600" dirty="0"/>
          </a:p>
        </p:txBody>
      </p:sp>
      <p:sp>
        <p:nvSpPr>
          <p:cNvPr id="3" name="Shape 1"/>
          <p:cNvSpPr/>
          <p:nvPr/>
        </p:nvSpPr>
        <p:spPr>
          <a:xfrm>
            <a:off x="812800" y="1580555"/>
            <a:ext cx="10566400" cy="0"/>
          </a:xfrm>
          <a:prstGeom prst="line">
            <a:avLst/>
          </a:prstGeom>
          <a:noFill/>
          <a:ln w="12700">
            <a:solidFill>
              <a:srgbClr val="141413">
                <a:alpha val="22000"/>
              </a:srgbClr>
            </a:solidFill>
            <a:prstDash val="solid"/>
          </a:ln>
        </p:spPr>
      </p:sp>
      <p:sp>
        <p:nvSpPr>
          <p:cNvPr id="4" name="Shape 2"/>
          <p:cNvSpPr/>
          <p:nvPr/>
        </p:nvSpPr>
        <p:spPr>
          <a:xfrm>
            <a:off x="819150" y="1574205"/>
            <a:ext cx="0" cy="2361307"/>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663105"/>
          <a:ext cx="10299700" cy="2196207"/>
        </p:xfrm>
        <a:graphic>
          <a:graphicData uri="http://schemas.openxmlformats.org/drawingml/2006/table">
            <a:tbl>
              <a:tblPr/>
              <a:tblGrid>
                <a:gridCol w="2883916"/>
                <a:gridCol w="7415784"/>
              </a:tblGrid>
              <a:tr h="439241">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Sesgo</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Cómo se manifiesta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Autoevaluación</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modelo puntúa mejor sus propias salidas que las de otro modelo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Verbosidad</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Una respuesta larga y segura puntúa alto aunque sea falsa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Posición</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En comparaciones A/B, la primera opción tiende a ganar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Autocomplacencia</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Ante la duda, aprueba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6" name="Text 3"/>
          <p:cNvSpPr/>
          <p:nvPr/>
        </p:nvSpPr>
        <p:spPr>
          <a:xfrm>
            <a:off x="812800" y="418951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Verbosidad es la alucinación de la S1, otra vez: seguridad en el tono no es evidencia.</a:t>
            </a:r>
            <a:endParaRPr lang="en-US" sz="1600" dirty="0"/>
          </a:p>
        </p:txBody>
      </p:sp>
      <p:sp>
        <p:nvSpPr>
          <p:cNvPr id="7" name="Text 4"/>
          <p:cNvSpPr/>
          <p:nvPr/>
        </p:nvSpPr>
        <p:spPr>
          <a:xfrm>
            <a:off x="812800" y="6229350"/>
            <a:ext cx="267925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3 · LLM-as-judge · 14/35</a:t>
            </a:r>
            <a:endParaRPr lang="en-US" sz="1200" dirty="0"/>
          </a:p>
        </p:txBody>
      </p:sp>
      <p:pic>
        <p:nvPicPr>
          <p:cNvPr id="8"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Para qué sí sirve el juez</a:t>
            </a:r>
            <a:endParaRPr lang="en-US" sz="3600" dirty="0"/>
          </a:p>
        </p:txBody>
      </p:sp>
      <p:sp>
        <p:nvSpPr>
          <p:cNvPr id="3" name="Shape 1"/>
          <p:cNvSpPr/>
          <p:nvPr/>
        </p:nvSpPr>
        <p:spPr>
          <a:xfrm>
            <a:off x="819150" y="1580555"/>
            <a:ext cx="5168900" cy="2530673"/>
          </a:xfrm>
          <a:prstGeom prst="roundRect">
            <a:avLst>
              <a:gd name="adj" fmla="val 3764"/>
            </a:avLst>
          </a:prstGeom>
          <a:solidFill>
            <a:srgbClr val="FFFFFF"/>
          </a:solidFill>
          <a:ln w="12700">
            <a:solidFill>
              <a:srgbClr val="1E293B"/>
            </a:solidFill>
            <a:prstDash val="solid"/>
          </a:ln>
        </p:spPr>
      </p:sp>
      <p:pic>
        <p:nvPicPr>
          <p:cNvPr id="4" name="Image 0" descr="CheckCircle">    </p:cNvPr>
          <p:cNvPicPr>
            <a:picLocks noChangeAspect="1"/>
          </p:cNvPicPr>
          <p:nvPr/>
        </p:nvPicPr>
        <p:blipFill>
          <a:blip r:embed="rId1"/>
          <a:srcRect l="0" r="0" t="0" b="0"/>
          <a:stretch/>
        </p:blipFill>
        <p:spPr>
          <a:xfrm>
            <a:off x="1028700" y="1790105"/>
            <a:ext cx="355600" cy="355600"/>
          </a:xfrm>
          <a:prstGeom prst="rect">
            <a:avLst/>
          </a:prstGeom>
        </p:spPr>
      </p:pic>
      <p:sp>
        <p:nvSpPr>
          <p:cNvPr id="5" name="Text 2"/>
          <p:cNvSpPr/>
          <p:nvPr/>
        </p:nvSpPr>
        <p:spPr>
          <a:xfrm>
            <a:off x="1028700" y="22473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Sirve para</a:t>
            </a:r>
            <a:endParaRPr lang="en-US" sz="2200" dirty="0"/>
          </a:p>
        </p:txBody>
      </p:sp>
      <p:sp>
        <p:nvSpPr>
          <p:cNvPr id="6" name="Text 3"/>
          <p:cNvSpPr/>
          <p:nvPr/>
        </p:nvSpPr>
        <p:spPr>
          <a:xfrm>
            <a:off x="1028700" y="2678509"/>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Criterios subjetivos como tono o utilidad, donde no hay evaluator determinístico posible.</a:t>
            </a:r>
            <a:endParaRPr lang="en-US" sz="1600" dirty="0"/>
          </a:p>
        </p:txBody>
      </p:sp>
      <p:sp>
        <p:nvSpPr>
          <p:cNvPr id="7" name="Text 4"/>
          <p:cNvSpPr/>
          <p:nvPr/>
        </p:nvSpPr>
        <p:spPr>
          <a:xfrm>
            <a:off x="1028700" y="3340894"/>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Es la técnica que van a encontrar en toda la industria.</a:t>
            </a:r>
            <a:endParaRPr lang="en-US" sz="1600" dirty="0"/>
          </a:p>
        </p:txBody>
      </p:sp>
      <p:sp>
        <p:nvSpPr>
          <p:cNvPr id="8" name="Shape 5"/>
          <p:cNvSpPr/>
          <p:nvPr/>
        </p:nvSpPr>
        <p:spPr>
          <a:xfrm>
            <a:off x="6203950" y="1580555"/>
            <a:ext cx="5168900" cy="2530673"/>
          </a:xfrm>
          <a:prstGeom prst="roundRect">
            <a:avLst>
              <a:gd name="adj" fmla="val 3764"/>
            </a:avLst>
          </a:prstGeom>
          <a:solidFill>
            <a:srgbClr val="FFFFFF"/>
          </a:solidFill>
          <a:ln w="12700">
            <a:solidFill>
              <a:srgbClr val="1E293B"/>
            </a:solidFill>
            <a:prstDash val="solid"/>
          </a:ln>
        </p:spPr>
      </p:sp>
      <p:pic>
        <p:nvPicPr>
          <p:cNvPr id="9" name="Image 1" descr="Warning">    </p:cNvPr>
          <p:cNvPicPr>
            <a:picLocks noChangeAspect="1"/>
          </p:cNvPicPr>
          <p:nvPr/>
        </p:nvPicPr>
        <p:blipFill>
          <a:blip r:embed="rId2"/>
          <a:srcRect l="0" r="0" t="0" b="0"/>
          <a:stretch/>
        </p:blipFill>
        <p:spPr>
          <a:xfrm>
            <a:off x="6413500" y="1790105"/>
            <a:ext cx="355600" cy="355600"/>
          </a:xfrm>
          <a:prstGeom prst="rect">
            <a:avLst/>
          </a:prstGeom>
        </p:spPr>
      </p:pic>
      <p:sp>
        <p:nvSpPr>
          <p:cNvPr id="10" name="Text 6"/>
          <p:cNvSpPr/>
          <p:nvPr/>
        </p:nvSpPr>
        <p:spPr>
          <a:xfrm>
            <a:off x="6413500" y="2247305"/>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sirve para</a:t>
            </a:r>
            <a:endParaRPr lang="en-US" sz="2200" dirty="0"/>
          </a:p>
        </p:txBody>
      </p:sp>
      <p:sp>
        <p:nvSpPr>
          <p:cNvPr id="11" name="Text 7"/>
          <p:cNvSpPr/>
          <p:nvPr/>
        </p:nvSpPr>
        <p:spPr>
          <a:xfrm>
            <a:off x="6413500" y="2678509"/>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Sostener una nota, ni un informe a un cliente, sin decir su margen de error.</a:t>
            </a:r>
            <a:endParaRPr lang="en-US" sz="1600" dirty="0"/>
          </a:p>
        </p:txBody>
      </p:sp>
      <p:sp>
        <p:nvSpPr>
          <p:cNvPr id="12" name="Text 8"/>
          <p:cNvSpPr/>
          <p:nvPr/>
        </p:nvSpPr>
        <p:spPr>
          <a:xfrm>
            <a:off x="812800" y="437157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este curso el juez se enseña; la nota la sostienen los 3 evaluators determinísticos.</a:t>
            </a:r>
            <a:endParaRPr lang="en-US" sz="1600" dirty="0"/>
          </a:p>
        </p:txBody>
      </p:sp>
      <p:sp>
        <p:nvSpPr>
          <p:cNvPr id="13" name="Text 9"/>
          <p:cNvSpPr/>
          <p:nvPr/>
        </p:nvSpPr>
        <p:spPr>
          <a:xfrm>
            <a:off x="812800" y="6229350"/>
            <a:ext cx="267925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3 · LLM-as-judge · 15/35</a:t>
            </a:r>
            <a:endParaRPr lang="en-US" sz="1200" dirty="0"/>
          </a:p>
        </p:txBody>
      </p:sp>
      <p:pic>
        <p:nvPicPr>
          <p:cNvPr id="14" name="Image 2" descr="AriwaLabs">    </p:cNvPr>
          <p:cNvPicPr>
            <a:picLocks noChangeAspect="1"/>
          </p:cNvPicPr>
          <p:nvPr/>
        </p:nvPicPr>
        <p:blipFill>
          <a:blip r:embed="rId3"/>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3 · El juez frente al evaluator</a:t>
            </a:r>
            <a:endParaRPr lang="en-US" sz="3600" dirty="0"/>
          </a:p>
        </p:txBody>
      </p:sp>
      <p:sp>
        <p:nvSpPr>
          <p:cNvPr id="3" name="Shape 1"/>
          <p:cNvSpPr/>
          <p:nvPr/>
        </p:nvSpPr>
        <p:spPr>
          <a:xfrm>
            <a:off x="812800" y="1523405"/>
            <a:ext cx="10566400" cy="532606"/>
          </a:xfrm>
          <a:prstGeom prst="roundRect">
            <a:avLst>
              <a:gd name="adj" fmla="val 4769"/>
            </a:avLst>
          </a:prstGeom>
          <a:solidFill>
            <a:srgbClr val="1E293B"/>
          </a:solidFill>
          <a:ln/>
        </p:spPr>
      </p:sp>
      <p:sp>
        <p:nvSpPr>
          <p:cNvPr id="4" name="Text 2"/>
          <p:cNvSpPr/>
          <p:nvPr/>
        </p:nvSpPr>
        <p:spPr>
          <a:xfrm>
            <a:off x="1016000" y="16758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modulo-3-produccion/sesion-10-evaluacion-optimizacion/code/03_llm_as_judge.py</a:t>
            </a:r>
            <a:endParaRPr lang="en-US" sz="1300" dirty="0"/>
          </a:p>
        </p:txBody>
      </p:sp>
      <p:sp>
        <p:nvSpPr>
          <p:cNvPr id="5" name="Text 3"/>
          <p:cNvSpPr/>
          <p:nvPr/>
        </p:nvSpPr>
        <p:spPr>
          <a:xfrm>
            <a:off x="812800" y="2259211"/>
            <a:ext cx="5114671"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Extracto: el veredicto es Structured Output</a:t>
            </a:r>
            <a:endParaRPr lang="en-US" sz="1400" dirty="0"/>
          </a:p>
        </p:txBody>
      </p:sp>
      <p:sp>
        <p:nvSpPr>
          <p:cNvPr id="6" name="Shape 4"/>
          <p:cNvSpPr/>
          <p:nvPr/>
        </p:nvSpPr>
        <p:spPr>
          <a:xfrm>
            <a:off x="812800" y="2575917"/>
            <a:ext cx="4965700" cy="1216025"/>
          </a:xfrm>
          <a:prstGeom prst="roundRect">
            <a:avLst>
              <a:gd name="adj" fmla="val 2089"/>
            </a:avLst>
          </a:prstGeom>
          <a:solidFill>
            <a:srgbClr val="1E293B"/>
          </a:solidFill>
          <a:ln/>
        </p:spPr>
      </p:sp>
      <p:sp>
        <p:nvSpPr>
          <p:cNvPr id="7" name="Text 5"/>
          <p:cNvSpPr/>
          <p:nvPr/>
        </p:nvSpPr>
        <p:spPr>
          <a:xfrm>
            <a:off x="1016000" y="2728317"/>
            <a:ext cx="4696079" cy="936625"/>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class Veredicto(BaseModel):</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aprueba: bool</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motivo: str</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confianza: Confianza # ALTA | MEDIA | BAJA</a:t>
            </a:r>
            <a:endParaRPr lang="en-US" sz="1300" dirty="0"/>
          </a:p>
        </p:txBody>
      </p:sp>
      <p:sp>
        <p:nvSpPr>
          <p:cNvPr id="8" name="Shape 6"/>
          <p:cNvSpPr/>
          <p:nvPr/>
        </p:nvSpPr>
        <p:spPr>
          <a:xfrm>
            <a:off x="5988050" y="2265561"/>
            <a:ext cx="5384800" cy="2020689"/>
          </a:xfrm>
          <a:prstGeom prst="roundRect">
            <a:avLst>
              <a:gd name="adj" fmla="val 4714"/>
            </a:avLst>
          </a:prstGeom>
          <a:solidFill>
            <a:srgbClr val="FFFFFF"/>
          </a:solidFill>
          <a:ln w="12700">
            <a:solidFill>
              <a:srgbClr val="1E293B"/>
            </a:solidFill>
            <a:prstDash val="solid"/>
          </a:ln>
        </p:spPr>
      </p:sp>
      <p:sp>
        <p:nvSpPr>
          <p:cNvPr id="9" name="Text 7"/>
          <p:cNvSpPr/>
          <p:nvPr/>
        </p:nvSpPr>
        <p:spPr>
          <a:xfrm>
            <a:off x="6197600" y="2475111"/>
            <a:ext cx="511467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buscar</a:t>
            </a:r>
            <a:endParaRPr lang="en-US" sz="2200" dirty="0"/>
          </a:p>
        </p:txBody>
      </p:sp>
      <p:sp>
        <p:nvSpPr>
          <p:cNvPr id="10" name="Text 8"/>
          <p:cNvSpPr/>
          <p:nvPr/>
        </p:nvSpPr>
        <p:spPr>
          <a:xfrm>
            <a:off x="6197600" y="2906316"/>
            <a:ext cx="5114671" cy="267196"/>
          </a:xfrm>
          <a:prstGeom prst="rect">
            <a:avLst/>
          </a:prstGeom>
          <a:noFill/>
          <a:ln/>
        </p:spPr>
        <p:txBody>
          <a:bodyPr wrap="square" lIns="0" tIns="0" rIns="0" bIns="0" rtlCol="0" anchor="t">
            <a:normAutofit/>
          </a:bodyPr>
          <a:lstStyle/>
          <a:p>
            <a:pPr algn="l" indent="0" marL="0">
              <a:lnSpc>
                <a:spcPts val="1904"/>
              </a:lnSpc>
              <a:buNone/>
            </a:pPr>
            <a:r>
              <a:rPr lang="en-US" sz="1400" b="1" dirty="0">
                <a:solidFill>
                  <a:srgbClr val="1E293B"/>
                </a:solidFill>
                <a:latin typeface="IBM Plex Sans" pitchFamily="34" charset="0"/>
                <a:ea typeface="IBM Plex Sans" pitchFamily="34" charset="-122"/>
                <a:cs typeface="IBM Plex Sans" pitchFamily="34" charset="-120"/>
              </a:rPr>
              <a:t>Caso 3</a:t>
            </a:r>
            <a:r>
              <a:rPr lang="en-US" sz="1400" dirty="0">
                <a:solidFill>
                  <a:srgbClr val="1E293B"/>
                </a:solidFill>
                <a:latin typeface="IBM Plex Sans" pitchFamily="34" charset="0"/>
                <a:ea typeface="IBM Plex Sans" pitchFamily="34" charset="-122"/>
                <a:cs typeface="IBM Plex Sans" pitchFamily="34" charset="-120"/>
              </a:rPr>
              <a:t> · respuesta larga y segura: verbosidad</a:t>
            </a:r>
            <a:endParaRPr lang="en-US" sz="1400" dirty="0"/>
          </a:p>
        </p:txBody>
      </p:sp>
      <p:sp>
        <p:nvSpPr>
          <p:cNvPr id="11" name="Text 9"/>
          <p:cNvSpPr/>
          <p:nvPr/>
        </p:nvSpPr>
        <p:spPr>
          <a:xfrm>
            <a:off x="6197600" y="3249712"/>
            <a:ext cx="5114671" cy="267196"/>
          </a:xfrm>
          <a:prstGeom prst="rect">
            <a:avLst/>
          </a:prstGeom>
          <a:noFill/>
          <a:ln/>
        </p:spPr>
        <p:txBody>
          <a:bodyPr wrap="square" lIns="0" tIns="0" rIns="0" bIns="0" rtlCol="0" anchor="t">
            <a:normAutofit/>
          </a:bodyPr>
          <a:lstStyle/>
          <a:p>
            <a:pPr algn="l" indent="0" marL="0">
              <a:lnSpc>
                <a:spcPts val="1904"/>
              </a:lnSpc>
              <a:buNone/>
            </a:pPr>
            <a:r>
              <a:rPr lang="en-US" sz="1400" b="1" dirty="0">
                <a:solidFill>
                  <a:srgbClr val="1E293B"/>
                </a:solidFill>
                <a:latin typeface="IBM Plex Sans" pitchFamily="34" charset="0"/>
                <a:ea typeface="IBM Plex Sans" pitchFamily="34" charset="-122"/>
                <a:cs typeface="IBM Plex Sans" pitchFamily="34" charset="-120"/>
              </a:rPr>
              <a:t>Casos 6 y 9</a:t>
            </a:r>
            <a:r>
              <a:rPr lang="en-US" sz="1400" dirty="0">
                <a:solidFill>
                  <a:srgbClr val="1E293B"/>
                </a:solidFill>
                <a:latin typeface="IBM Plex Sans" pitchFamily="34" charset="0"/>
                <a:ea typeface="IBM Plex Sans" pitchFamily="34" charset="-122"/>
                <a:cs typeface="IBM Plex Sans" pitchFamily="34" charset="-120"/>
              </a:rPr>
              <a:t> · ambiguos a propósito: autocomplacencia</a:t>
            </a:r>
            <a:endParaRPr lang="en-US" sz="1400" dirty="0"/>
          </a:p>
        </p:txBody>
      </p:sp>
      <p:sp>
        <p:nvSpPr>
          <p:cNvPr id="12" name="Text 10"/>
          <p:cNvSpPr/>
          <p:nvPr/>
        </p:nvSpPr>
        <p:spPr>
          <a:xfrm>
            <a:off x="6197600" y="3593108"/>
            <a:ext cx="511467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Posición · no aplica: un solo candidato, no una comparación A/B</a:t>
            </a:r>
            <a:endParaRPr lang="en-US" sz="1400" dirty="0"/>
          </a:p>
        </p:txBody>
      </p:sp>
      <p:sp>
        <p:nvSpPr>
          <p:cNvPr id="13" name="Text 11"/>
          <p:cNvSpPr/>
          <p:nvPr/>
        </p:nvSpPr>
        <p:spPr>
          <a:xfrm>
            <a:off x="812800" y="44958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veredicto del juez puede variar entre corridas: se observa, no se promete.</a:t>
            </a:r>
            <a:endParaRPr lang="en-US" sz="1600" dirty="0"/>
          </a:p>
        </p:txBody>
      </p:sp>
      <p:sp>
        <p:nvSpPr>
          <p:cNvPr id="14" name="Text 12"/>
          <p:cNvSpPr/>
          <p:nvPr/>
        </p:nvSpPr>
        <p:spPr>
          <a:xfrm>
            <a:off x="812800" y="6229350"/>
            <a:ext cx="267925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3 · LLM-as-judge · 16/35</a:t>
            </a:r>
            <a:endParaRPr lang="en-US" sz="1200" dirty="0"/>
          </a:p>
        </p:txBody>
      </p:sp>
      <p:pic>
        <p:nvPicPr>
          <p:cNvPr id="15"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17128"/>
          </a:xfrm>
          <a:prstGeom prst="rect">
            <a:avLst/>
          </a:prstGeom>
          <a:noFill/>
          <a:ln/>
        </p:spPr>
        <p:txBody>
          <a:bodyPr wrap="square" lIns="0" tIns="0" rIns="0" bIns="0" rtlCol="0" anchor="t">
            <a:normAutofit/>
          </a:bodyPr>
          <a:lstStyle/>
          <a:p>
            <a:pPr algn="l" indent="0" marL="0">
              <a:lnSpc>
                <a:spcPts val="3871"/>
              </a:lnSpc>
              <a:buNone/>
            </a:pPr>
            <a:r>
              <a:rPr lang="en-US" sz="3488" b="1" spc="-35" kern="0" dirty="0">
                <a:solidFill>
                  <a:srgbClr val="1E293B"/>
                </a:solidFill>
                <a:latin typeface="IBM Plex Sans" pitchFamily="34" charset="0"/>
                <a:ea typeface="IBM Plex Sans" pitchFamily="34" charset="-122"/>
                <a:cs typeface="IBM Plex Sans" pitchFamily="34" charset="-120"/>
              </a:rPr>
              <a:t>Comparar versiones con evidencia</a:t>
            </a:r>
            <a:endParaRPr lang="en-US" sz="3488" dirty="0"/>
          </a:p>
        </p:txBody>
      </p:sp>
      <p:pic>
        <p:nvPicPr>
          <p:cNvPr id="3" name="Image 0" descr="IMG-M03-S10-001 Evaluation: golden dataset hacia agente v1 y v2; respuesta, tools y contexto hacia evaluadores, tabla comparativa y decisión documentada; casos no aplicables aparte; proxy léxico requiere revisar fuente y afirmación">    </p:cNvPr>
          <p:cNvPicPr>
            <a:picLocks noChangeAspect="1"/>
          </p:cNvPicPr>
          <p:nvPr/>
        </p:nvPicPr>
        <p:blipFill>
          <a:blip r:embed="rId1"/>
          <a:srcRect l="-13" r="-13" t="0" b="0"/>
          <a:stretch/>
        </p:blipFill>
        <p:spPr>
          <a:xfrm>
            <a:off x="2168525" y="1558528"/>
            <a:ext cx="7854950" cy="4419600"/>
          </a:xfrm>
          <a:prstGeom prst="roundRect">
            <a:avLst>
              <a:gd name="adj" fmla="val 2299"/>
            </a:avLst>
          </a:prstGeom>
        </p:spPr>
      </p:pic>
      <p:sp>
        <p:nvSpPr>
          <p:cNvPr id="4" name="Text 1"/>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17/35</a:t>
            </a:r>
            <a:endParaRPr lang="en-US" sz="1200" dirty="0"/>
          </a:p>
        </p:txBody>
      </p:sp>
      <p:pic>
        <p:nvPicPr>
          <p:cNvPr id="5"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ciclo: medir, cambiar, medir</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Paso 1 de 4 · Medir la línea base</a:t>
            </a:r>
            <a:endParaRPr lang="en-US" sz="1400" dirty="0"/>
          </a:p>
        </p:txBody>
      </p:sp>
      <p:pic>
        <p:nvPicPr>
          <p:cNvPr id="4" name="Image 0" descr="Ciclo: medir v1, cambiar una cosa, medir v2, comprobar que se sostiene y decidir">    </p:cNvPr>
          <p:cNvPicPr>
            <a:picLocks noChangeAspect="1"/>
          </p:cNvPicPr>
          <p:nvPr/>
        </p:nvPicPr>
        <p:blipFill>
          <a:blip r:embed="rId1"/>
          <a:srcRect l="-14" r="-14" t="0" b="0"/>
          <a:stretch/>
        </p:blipFill>
        <p:spPr>
          <a:xfrm>
            <a:off x="812800" y="2043311"/>
            <a:ext cx="10566400" cy="2857500"/>
          </a:xfrm>
          <a:prstGeom prst="rect">
            <a:avLst/>
          </a:prstGeom>
        </p:spPr>
      </p:pic>
      <p:sp>
        <p:nvSpPr>
          <p:cNvPr id="5" name="Text 2"/>
          <p:cNvSpPr/>
          <p:nvPr/>
        </p:nvSpPr>
        <p:spPr>
          <a:xfrm>
            <a:off x="16419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v1</a:t>
            </a:r>
            <a:endParaRPr lang="en-US" sz="1400" dirty="0"/>
          </a:p>
        </p:txBody>
      </p:sp>
      <p:sp>
        <p:nvSpPr>
          <p:cNvPr id="6" name="Text 3"/>
          <p:cNvSpPr/>
          <p:nvPr/>
        </p:nvSpPr>
        <p:spPr>
          <a:xfrm>
            <a:off x="1280319" y="2544564"/>
            <a:ext cx="14779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 30 casos</a:t>
            </a:r>
            <a:endParaRPr lang="en-US" sz="1200" dirty="0"/>
          </a:p>
        </p:txBody>
      </p:sp>
      <p:sp>
        <p:nvSpPr>
          <p:cNvPr id="7" name="Text 4"/>
          <p:cNvSpPr/>
          <p:nvPr/>
        </p:nvSpPr>
        <p:spPr>
          <a:xfrm>
            <a:off x="5315446" y="2304058"/>
            <a:ext cx="156100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Cambiar UNA cosa</a:t>
            </a:r>
            <a:endParaRPr lang="en-US" sz="1400" dirty="0"/>
          </a:p>
        </p:txBody>
      </p:sp>
      <p:sp>
        <p:nvSpPr>
          <p:cNvPr id="8" name="Text 5"/>
          <p:cNvSpPr/>
          <p:nvPr/>
        </p:nvSpPr>
        <p:spPr>
          <a:xfrm>
            <a:off x="5176244" y="2544564"/>
            <a:ext cx="183941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trazable a un cuello del L9</a:t>
            </a:r>
            <a:endParaRPr lang="en-US" sz="1200" dirty="0"/>
          </a:p>
        </p:txBody>
      </p:sp>
      <p:sp>
        <p:nvSpPr>
          <p:cNvPr id="9" name="Text 6"/>
          <p:cNvSpPr/>
          <p:nvPr/>
        </p:nvSpPr>
        <p:spPr>
          <a:xfrm>
            <a:off x="97953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v2</a:t>
            </a:r>
            <a:endParaRPr lang="en-US" sz="1400" dirty="0"/>
          </a:p>
        </p:txBody>
      </p:sp>
      <p:sp>
        <p:nvSpPr>
          <p:cNvPr id="10" name="Text 7"/>
          <p:cNvSpPr/>
          <p:nvPr/>
        </p:nvSpPr>
        <p:spPr>
          <a:xfrm>
            <a:off x="9502676" y="2544564"/>
            <a:ext cx="13400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mismos evaluators</a:t>
            </a:r>
            <a:endParaRPr lang="en-US" sz="1200" dirty="0"/>
          </a:p>
        </p:txBody>
      </p:sp>
      <p:sp>
        <p:nvSpPr>
          <p:cNvPr id="11" name="Text 8"/>
          <p:cNvSpPr/>
          <p:nvPr/>
        </p:nvSpPr>
        <p:spPr>
          <a:xfrm>
            <a:off x="9594453" y="4209058"/>
            <a:ext cx="11564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sostiene?</a:t>
            </a:r>
            <a:endParaRPr lang="en-US" sz="1400" dirty="0"/>
          </a:p>
        </p:txBody>
      </p:sp>
      <p:sp>
        <p:nvSpPr>
          <p:cNvPr id="12" name="Text 9"/>
          <p:cNvSpPr/>
          <p:nvPr/>
        </p:nvSpPr>
        <p:spPr>
          <a:xfrm>
            <a:off x="9727803" y="4449564"/>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dos corridas</a:t>
            </a:r>
            <a:endParaRPr lang="en-US" sz="1200" dirty="0"/>
          </a:p>
        </p:txBody>
      </p:sp>
      <p:sp>
        <p:nvSpPr>
          <p:cNvPr id="13" name="Text 10"/>
          <p:cNvSpPr/>
          <p:nvPr/>
        </p:nvSpPr>
        <p:spPr>
          <a:xfrm>
            <a:off x="5199135" y="4209058"/>
            <a:ext cx="17936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Decidir y documentar</a:t>
            </a:r>
            <a:endParaRPr lang="en-US" sz="1400" dirty="0"/>
          </a:p>
        </p:txBody>
      </p:sp>
      <p:sp>
        <p:nvSpPr>
          <p:cNvPr id="14" name="Text 11"/>
          <p:cNvSpPr/>
          <p:nvPr/>
        </p:nvSpPr>
        <p:spPr>
          <a:xfrm>
            <a:off x="5329138" y="4449564"/>
            <a:ext cx="15337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conservar o descartar</a:t>
            </a:r>
            <a:endParaRPr lang="en-US" sz="1200" dirty="0"/>
          </a:p>
        </p:txBody>
      </p:sp>
      <p:sp>
        <p:nvSpPr>
          <p:cNvPr id="15" name="Text 12"/>
          <p:cNvSpPr/>
          <p:nvPr/>
        </p:nvSpPr>
        <p:spPr>
          <a:xfrm>
            <a:off x="32512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línea base</a:t>
            </a:r>
            <a:endParaRPr lang="en-US" sz="1400" dirty="0"/>
          </a:p>
        </p:txBody>
      </p:sp>
      <p:sp>
        <p:nvSpPr>
          <p:cNvPr id="16" name="Text 13"/>
          <p:cNvSpPr/>
          <p:nvPr/>
        </p:nvSpPr>
        <p:spPr>
          <a:xfrm>
            <a:off x="73279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mismo dataset</a:t>
            </a:r>
            <a:endParaRPr lang="en-US" sz="1400" dirty="0"/>
          </a:p>
        </p:txBody>
      </p:sp>
      <p:sp>
        <p:nvSpPr>
          <p:cNvPr id="17" name="Text 14"/>
          <p:cNvSpPr/>
          <p:nvPr/>
        </p:nvSpPr>
        <p:spPr>
          <a:xfrm>
            <a:off x="10223500" y="3364111"/>
            <a:ext cx="1181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2ª corrida</a:t>
            </a:r>
            <a:endParaRPr lang="en-US" sz="1400" dirty="0"/>
          </a:p>
        </p:txBody>
      </p:sp>
      <p:sp>
        <p:nvSpPr>
          <p:cNvPr id="18" name="Text 15"/>
          <p:cNvSpPr/>
          <p:nvPr/>
        </p:nvSpPr>
        <p:spPr>
          <a:xfrm>
            <a:off x="7327900" y="4145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causa nombrada</a:t>
            </a:r>
            <a:endParaRPr lang="en-US" sz="1400" dirty="0"/>
          </a:p>
        </p:txBody>
      </p:sp>
      <p:sp>
        <p:nvSpPr>
          <p:cNvPr id="19" name="Text 16"/>
          <p:cNvSpPr/>
          <p:nvPr/>
        </p:nvSpPr>
        <p:spPr>
          <a:xfrm>
            <a:off x="2054543" y="4145161"/>
            <a:ext cx="2812415"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siguiente iteración</a:t>
            </a:r>
            <a:endParaRPr lang="en-US" sz="1400" dirty="0"/>
          </a:p>
        </p:txBody>
      </p:sp>
      <p:sp>
        <p:nvSpPr>
          <p:cNvPr id="20" name="Text 17"/>
          <p:cNvSpPr/>
          <p:nvPr/>
        </p:nvSpPr>
        <p:spPr>
          <a:xfrm>
            <a:off x="812800" y="515481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Antes de tocar nada: correr las 30 consultas contra el agent.py actual y registrar las 3 métricas.</a:t>
            </a:r>
            <a:endParaRPr lang="en-US" sz="1600" dirty="0"/>
          </a:p>
        </p:txBody>
      </p:sp>
      <p:sp>
        <p:nvSpPr>
          <p:cNvPr id="21" name="Text 18"/>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18/35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ciclo: medir, cambiar, medir</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Paso 2 de 4 · Cambiar una sola cosa</a:t>
            </a:r>
            <a:endParaRPr lang="en-US" sz="1400" dirty="0"/>
          </a:p>
        </p:txBody>
      </p:sp>
      <p:pic>
        <p:nvPicPr>
          <p:cNvPr id="4" name="Image 0" descr="Ciclo: medir v1, cambiar una cosa, medir v2, comprobar que se sostiene y decidir">    </p:cNvPr>
          <p:cNvPicPr>
            <a:picLocks noChangeAspect="1"/>
          </p:cNvPicPr>
          <p:nvPr/>
        </p:nvPicPr>
        <p:blipFill>
          <a:blip r:embed="rId1"/>
          <a:srcRect l="-14" r="-14" t="0" b="0"/>
          <a:stretch/>
        </p:blipFill>
        <p:spPr>
          <a:xfrm>
            <a:off x="812800" y="2043311"/>
            <a:ext cx="10566400" cy="2857500"/>
          </a:xfrm>
          <a:prstGeom prst="rect">
            <a:avLst/>
          </a:prstGeom>
        </p:spPr>
      </p:pic>
      <p:sp>
        <p:nvSpPr>
          <p:cNvPr id="5" name="Text 2"/>
          <p:cNvSpPr/>
          <p:nvPr/>
        </p:nvSpPr>
        <p:spPr>
          <a:xfrm>
            <a:off x="16419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v1</a:t>
            </a:r>
            <a:endParaRPr lang="en-US" sz="1400" dirty="0"/>
          </a:p>
        </p:txBody>
      </p:sp>
      <p:sp>
        <p:nvSpPr>
          <p:cNvPr id="6" name="Text 3"/>
          <p:cNvSpPr/>
          <p:nvPr/>
        </p:nvSpPr>
        <p:spPr>
          <a:xfrm>
            <a:off x="1280319" y="2544564"/>
            <a:ext cx="14779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 30 casos</a:t>
            </a:r>
            <a:endParaRPr lang="en-US" sz="1200" dirty="0"/>
          </a:p>
        </p:txBody>
      </p:sp>
      <p:sp>
        <p:nvSpPr>
          <p:cNvPr id="7" name="Text 4"/>
          <p:cNvSpPr/>
          <p:nvPr/>
        </p:nvSpPr>
        <p:spPr>
          <a:xfrm>
            <a:off x="5315446" y="2304058"/>
            <a:ext cx="156100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Cambiar UNA cosa</a:t>
            </a:r>
            <a:endParaRPr lang="en-US" sz="1400" dirty="0"/>
          </a:p>
        </p:txBody>
      </p:sp>
      <p:sp>
        <p:nvSpPr>
          <p:cNvPr id="8" name="Text 5"/>
          <p:cNvSpPr/>
          <p:nvPr/>
        </p:nvSpPr>
        <p:spPr>
          <a:xfrm>
            <a:off x="5176244" y="2544564"/>
            <a:ext cx="183941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trazable a un cuello del L9</a:t>
            </a:r>
            <a:endParaRPr lang="en-US" sz="1200" dirty="0"/>
          </a:p>
        </p:txBody>
      </p:sp>
      <p:sp>
        <p:nvSpPr>
          <p:cNvPr id="9" name="Text 6"/>
          <p:cNvSpPr/>
          <p:nvPr/>
        </p:nvSpPr>
        <p:spPr>
          <a:xfrm>
            <a:off x="97953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v2</a:t>
            </a:r>
            <a:endParaRPr lang="en-US" sz="1400" dirty="0"/>
          </a:p>
        </p:txBody>
      </p:sp>
      <p:sp>
        <p:nvSpPr>
          <p:cNvPr id="10" name="Text 7"/>
          <p:cNvSpPr/>
          <p:nvPr/>
        </p:nvSpPr>
        <p:spPr>
          <a:xfrm>
            <a:off x="9502676" y="2544564"/>
            <a:ext cx="13400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mismos evaluators</a:t>
            </a:r>
            <a:endParaRPr lang="en-US" sz="1200" dirty="0"/>
          </a:p>
        </p:txBody>
      </p:sp>
      <p:sp>
        <p:nvSpPr>
          <p:cNvPr id="11" name="Text 8"/>
          <p:cNvSpPr/>
          <p:nvPr/>
        </p:nvSpPr>
        <p:spPr>
          <a:xfrm>
            <a:off x="9594453" y="4209058"/>
            <a:ext cx="11564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sostiene?</a:t>
            </a:r>
            <a:endParaRPr lang="en-US" sz="1400" dirty="0"/>
          </a:p>
        </p:txBody>
      </p:sp>
      <p:sp>
        <p:nvSpPr>
          <p:cNvPr id="12" name="Text 9"/>
          <p:cNvSpPr/>
          <p:nvPr/>
        </p:nvSpPr>
        <p:spPr>
          <a:xfrm>
            <a:off x="9727803" y="4449564"/>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dos corridas</a:t>
            </a:r>
            <a:endParaRPr lang="en-US" sz="1200" dirty="0"/>
          </a:p>
        </p:txBody>
      </p:sp>
      <p:sp>
        <p:nvSpPr>
          <p:cNvPr id="13" name="Text 10"/>
          <p:cNvSpPr/>
          <p:nvPr/>
        </p:nvSpPr>
        <p:spPr>
          <a:xfrm>
            <a:off x="5199135" y="4209058"/>
            <a:ext cx="17936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Decidir y documentar</a:t>
            </a:r>
            <a:endParaRPr lang="en-US" sz="1400" dirty="0"/>
          </a:p>
        </p:txBody>
      </p:sp>
      <p:sp>
        <p:nvSpPr>
          <p:cNvPr id="14" name="Text 11"/>
          <p:cNvSpPr/>
          <p:nvPr/>
        </p:nvSpPr>
        <p:spPr>
          <a:xfrm>
            <a:off x="5329138" y="4449564"/>
            <a:ext cx="15337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conservar o descartar</a:t>
            </a:r>
            <a:endParaRPr lang="en-US" sz="1200" dirty="0"/>
          </a:p>
        </p:txBody>
      </p:sp>
      <p:sp>
        <p:nvSpPr>
          <p:cNvPr id="15" name="Text 12"/>
          <p:cNvSpPr/>
          <p:nvPr/>
        </p:nvSpPr>
        <p:spPr>
          <a:xfrm>
            <a:off x="32512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línea base</a:t>
            </a:r>
            <a:endParaRPr lang="en-US" sz="1400" dirty="0"/>
          </a:p>
        </p:txBody>
      </p:sp>
      <p:sp>
        <p:nvSpPr>
          <p:cNvPr id="16" name="Text 13"/>
          <p:cNvSpPr/>
          <p:nvPr/>
        </p:nvSpPr>
        <p:spPr>
          <a:xfrm>
            <a:off x="73279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mismo dataset</a:t>
            </a:r>
            <a:endParaRPr lang="en-US" sz="1400" dirty="0"/>
          </a:p>
        </p:txBody>
      </p:sp>
      <p:sp>
        <p:nvSpPr>
          <p:cNvPr id="17" name="Text 14"/>
          <p:cNvSpPr/>
          <p:nvPr/>
        </p:nvSpPr>
        <p:spPr>
          <a:xfrm>
            <a:off x="10223500" y="3364111"/>
            <a:ext cx="1181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2ª corrida</a:t>
            </a:r>
            <a:endParaRPr lang="en-US" sz="1400" dirty="0"/>
          </a:p>
        </p:txBody>
      </p:sp>
      <p:sp>
        <p:nvSpPr>
          <p:cNvPr id="18" name="Text 15"/>
          <p:cNvSpPr/>
          <p:nvPr/>
        </p:nvSpPr>
        <p:spPr>
          <a:xfrm>
            <a:off x="7327900" y="4145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causa nombrada</a:t>
            </a:r>
            <a:endParaRPr lang="en-US" sz="1400" dirty="0"/>
          </a:p>
        </p:txBody>
      </p:sp>
      <p:sp>
        <p:nvSpPr>
          <p:cNvPr id="19" name="Text 16"/>
          <p:cNvSpPr/>
          <p:nvPr/>
        </p:nvSpPr>
        <p:spPr>
          <a:xfrm>
            <a:off x="2054543" y="4145161"/>
            <a:ext cx="2812415"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siguiente iteración</a:t>
            </a:r>
            <a:endParaRPr lang="en-US" sz="1400" dirty="0"/>
          </a:p>
        </p:txBody>
      </p:sp>
      <p:sp>
        <p:nvSpPr>
          <p:cNvPr id="20" name="Text 17"/>
          <p:cNvSpPr/>
          <p:nvPr/>
        </p:nvSpPr>
        <p:spPr>
          <a:xfrm>
            <a:off x="812800" y="515481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Un solo cambio, trazable a un cuello del L9. Si cambias tres cosas y mejora, no sabes cuál sirvió.</a:t>
            </a:r>
            <a:endParaRPr lang="en-US" sz="1600" dirty="0"/>
          </a:p>
        </p:txBody>
      </p:sp>
      <p:sp>
        <p:nvSpPr>
          <p:cNvPr id="21" name="Text 18"/>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19/35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ciclo: medir, cambiar, medir</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Paso 3 de 4 · Medir v2 y comparar</a:t>
            </a:r>
            <a:endParaRPr lang="en-US" sz="1400" dirty="0"/>
          </a:p>
        </p:txBody>
      </p:sp>
      <p:pic>
        <p:nvPicPr>
          <p:cNvPr id="4" name="Image 0" descr="Ciclo: medir v1, cambiar una cosa, medir v2, comprobar que se sostiene y decidir">    </p:cNvPr>
          <p:cNvPicPr>
            <a:picLocks noChangeAspect="1"/>
          </p:cNvPicPr>
          <p:nvPr/>
        </p:nvPicPr>
        <p:blipFill>
          <a:blip r:embed="rId1"/>
          <a:srcRect l="-14" r="-14" t="0" b="0"/>
          <a:stretch/>
        </p:blipFill>
        <p:spPr>
          <a:xfrm>
            <a:off x="812800" y="2043311"/>
            <a:ext cx="10566400" cy="2857500"/>
          </a:xfrm>
          <a:prstGeom prst="rect">
            <a:avLst/>
          </a:prstGeom>
        </p:spPr>
      </p:pic>
      <p:sp>
        <p:nvSpPr>
          <p:cNvPr id="5" name="Text 2"/>
          <p:cNvSpPr/>
          <p:nvPr/>
        </p:nvSpPr>
        <p:spPr>
          <a:xfrm>
            <a:off x="16419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v1</a:t>
            </a:r>
            <a:endParaRPr lang="en-US" sz="1400" dirty="0"/>
          </a:p>
        </p:txBody>
      </p:sp>
      <p:sp>
        <p:nvSpPr>
          <p:cNvPr id="6" name="Text 3"/>
          <p:cNvSpPr/>
          <p:nvPr/>
        </p:nvSpPr>
        <p:spPr>
          <a:xfrm>
            <a:off x="1280319" y="2544564"/>
            <a:ext cx="14779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 30 casos</a:t>
            </a:r>
            <a:endParaRPr lang="en-US" sz="1200" dirty="0"/>
          </a:p>
        </p:txBody>
      </p:sp>
      <p:sp>
        <p:nvSpPr>
          <p:cNvPr id="7" name="Text 4"/>
          <p:cNvSpPr/>
          <p:nvPr/>
        </p:nvSpPr>
        <p:spPr>
          <a:xfrm>
            <a:off x="5315446" y="2304058"/>
            <a:ext cx="156100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Cambiar UNA cosa</a:t>
            </a:r>
            <a:endParaRPr lang="en-US" sz="1400" dirty="0"/>
          </a:p>
        </p:txBody>
      </p:sp>
      <p:sp>
        <p:nvSpPr>
          <p:cNvPr id="8" name="Text 5"/>
          <p:cNvSpPr/>
          <p:nvPr/>
        </p:nvSpPr>
        <p:spPr>
          <a:xfrm>
            <a:off x="5176244" y="2544564"/>
            <a:ext cx="183941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trazable a un cuello del L9</a:t>
            </a:r>
            <a:endParaRPr lang="en-US" sz="1200" dirty="0"/>
          </a:p>
        </p:txBody>
      </p:sp>
      <p:sp>
        <p:nvSpPr>
          <p:cNvPr id="9" name="Text 6"/>
          <p:cNvSpPr/>
          <p:nvPr/>
        </p:nvSpPr>
        <p:spPr>
          <a:xfrm>
            <a:off x="97953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v2</a:t>
            </a:r>
            <a:endParaRPr lang="en-US" sz="1400" dirty="0"/>
          </a:p>
        </p:txBody>
      </p:sp>
      <p:sp>
        <p:nvSpPr>
          <p:cNvPr id="10" name="Text 7"/>
          <p:cNvSpPr/>
          <p:nvPr/>
        </p:nvSpPr>
        <p:spPr>
          <a:xfrm>
            <a:off x="9502676" y="2544564"/>
            <a:ext cx="13400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mismos evaluators</a:t>
            </a:r>
            <a:endParaRPr lang="en-US" sz="1200" dirty="0"/>
          </a:p>
        </p:txBody>
      </p:sp>
      <p:sp>
        <p:nvSpPr>
          <p:cNvPr id="11" name="Text 8"/>
          <p:cNvSpPr/>
          <p:nvPr/>
        </p:nvSpPr>
        <p:spPr>
          <a:xfrm>
            <a:off x="9594453" y="4209058"/>
            <a:ext cx="11564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sostiene?</a:t>
            </a:r>
            <a:endParaRPr lang="en-US" sz="1400" dirty="0"/>
          </a:p>
        </p:txBody>
      </p:sp>
      <p:sp>
        <p:nvSpPr>
          <p:cNvPr id="12" name="Text 9"/>
          <p:cNvSpPr/>
          <p:nvPr/>
        </p:nvSpPr>
        <p:spPr>
          <a:xfrm>
            <a:off x="9727803" y="4449564"/>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dos corridas</a:t>
            </a:r>
            <a:endParaRPr lang="en-US" sz="1200" dirty="0"/>
          </a:p>
        </p:txBody>
      </p:sp>
      <p:sp>
        <p:nvSpPr>
          <p:cNvPr id="13" name="Text 10"/>
          <p:cNvSpPr/>
          <p:nvPr/>
        </p:nvSpPr>
        <p:spPr>
          <a:xfrm>
            <a:off x="5199135" y="4209058"/>
            <a:ext cx="17936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Decidir y documentar</a:t>
            </a:r>
            <a:endParaRPr lang="en-US" sz="1400" dirty="0"/>
          </a:p>
        </p:txBody>
      </p:sp>
      <p:sp>
        <p:nvSpPr>
          <p:cNvPr id="14" name="Text 11"/>
          <p:cNvSpPr/>
          <p:nvPr/>
        </p:nvSpPr>
        <p:spPr>
          <a:xfrm>
            <a:off x="5329138" y="4449564"/>
            <a:ext cx="15337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conservar o descartar</a:t>
            </a:r>
            <a:endParaRPr lang="en-US" sz="1200" dirty="0"/>
          </a:p>
        </p:txBody>
      </p:sp>
      <p:sp>
        <p:nvSpPr>
          <p:cNvPr id="15" name="Text 12"/>
          <p:cNvSpPr/>
          <p:nvPr/>
        </p:nvSpPr>
        <p:spPr>
          <a:xfrm>
            <a:off x="32512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línea base</a:t>
            </a:r>
            <a:endParaRPr lang="en-US" sz="1400" dirty="0"/>
          </a:p>
        </p:txBody>
      </p:sp>
      <p:sp>
        <p:nvSpPr>
          <p:cNvPr id="16" name="Text 13"/>
          <p:cNvSpPr/>
          <p:nvPr/>
        </p:nvSpPr>
        <p:spPr>
          <a:xfrm>
            <a:off x="73279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mismo dataset</a:t>
            </a:r>
            <a:endParaRPr lang="en-US" sz="1400" dirty="0"/>
          </a:p>
        </p:txBody>
      </p:sp>
      <p:sp>
        <p:nvSpPr>
          <p:cNvPr id="17" name="Text 14"/>
          <p:cNvSpPr/>
          <p:nvPr/>
        </p:nvSpPr>
        <p:spPr>
          <a:xfrm>
            <a:off x="10223500" y="3364111"/>
            <a:ext cx="1181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2ª corrida</a:t>
            </a:r>
            <a:endParaRPr lang="en-US" sz="1400" dirty="0"/>
          </a:p>
        </p:txBody>
      </p:sp>
      <p:sp>
        <p:nvSpPr>
          <p:cNvPr id="18" name="Text 15"/>
          <p:cNvSpPr/>
          <p:nvPr/>
        </p:nvSpPr>
        <p:spPr>
          <a:xfrm>
            <a:off x="7327900" y="4145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causa nombrada</a:t>
            </a:r>
            <a:endParaRPr lang="en-US" sz="1400" dirty="0"/>
          </a:p>
        </p:txBody>
      </p:sp>
      <p:sp>
        <p:nvSpPr>
          <p:cNvPr id="19" name="Text 16"/>
          <p:cNvSpPr/>
          <p:nvPr/>
        </p:nvSpPr>
        <p:spPr>
          <a:xfrm>
            <a:off x="2054543" y="4145161"/>
            <a:ext cx="2812415"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siguiente iteración</a:t>
            </a:r>
            <a:endParaRPr lang="en-US" sz="1400" dirty="0"/>
          </a:p>
        </p:txBody>
      </p:sp>
      <p:sp>
        <p:nvSpPr>
          <p:cNvPr id="20" name="Text 17"/>
          <p:cNvSpPr/>
          <p:nvPr/>
        </p:nvSpPr>
        <p:spPr>
          <a:xfrm>
            <a:off x="812800" y="515481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Mismo dataset, mismos evaluators, otra versión: tabla v1 vs v2 por métrica.</a:t>
            </a:r>
            <a:endParaRPr lang="en-US" sz="1600" dirty="0"/>
          </a:p>
        </p:txBody>
      </p:sp>
      <p:sp>
        <p:nvSpPr>
          <p:cNvPr id="21" name="Text 18"/>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20/35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ciclo: medir, cambiar, medir</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Paso 4 de 4 · ¿La mejora es real?</a:t>
            </a:r>
            <a:endParaRPr lang="en-US" sz="1400" dirty="0"/>
          </a:p>
        </p:txBody>
      </p:sp>
      <p:pic>
        <p:nvPicPr>
          <p:cNvPr id="4" name="Image 0" descr="Ciclo: medir v1, cambiar una cosa, medir v2, comprobar que se sostiene y decidir">    </p:cNvPr>
          <p:cNvPicPr>
            <a:picLocks noChangeAspect="1"/>
          </p:cNvPicPr>
          <p:nvPr/>
        </p:nvPicPr>
        <p:blipFill>
          <a:blip r:embed="rId1"/>
          <a:srcRect l="-14" r="-14" t="0" b="0"/>
          <a:stretch/>
        </p:blipFill>
        <p:spPr>
          <a:xfrm>
            <a:off x="812800" y="2043311"/>
            <a:ext cx="10566400" cy="2857500"/>
          </a:xfrm>
          <a:prstGeom prst="rect">
            <a:avLst/>
          </a:prstGeom>
        </p:spPr>
      </p:pic>
      <p:sp>
        <p:nvSpPr>
          <p:cNvPr id="5" name="Text 2"/>
          <p:cNvSpPr/>
          <p:nvPr/>
        </p:nvSpPr>
        <p:spPr>
          <a:xfrm>
            <a:off x="16419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v1</a:t>
            </a:r>
            <a:endParaRPr lang="en-US" sz="1400" dirty="0"/>
          </a:p>
        </p:txBody>
      </p:sp>
      <p:sp>
        <p:nvSpPr>
          <p:cNvPr id="6" name="Text 3"/>
          <p:cNvSpPr/>
          <p:nvPr/>
        </p:nvSpPr>
        <p:spPr>
          <a:xfrm>
            <a:off x="1280319" y="2544564"/>
            <a:ext cx="14779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 30 casos</a:t>
            </a:r>
            <a:endParaRPr lang="en-US" sz="1200" dirty="0"/>
          </a:p>
        </p:txBody>
      </p:sp>
      <p:sp>
        <p:nvSpPr>
          <p:cNvPr id="7" name="Text 4"/>
          <p:cNvSpPr/>
          <p:nvPr/>
        </p:nvSpPr>
        <p:spPr>
          <a:xfrm>
            <a:off x="5315446" y="2304058"/>
            <a:ext cx="156100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Cambiar UNA cosa</a:t>
            </a:r>
            <a:endParaRPr lang="en-US" sz="1400" dirty="0"/>
          </a:p>
        </p:txBody>
      </p:sp>
      <p:sp>
        <p:nvSpPr>
          <p:cNvPr id="8" name="Text 5"/>
          <p:cNvSpPr/>
          <p:nvPr/>
        </p:nvSpPr>
        <p:spPr>
          <a:xfrm>
            <a:off x="5176244" y="2544564"/>
            <a:ext cx="183941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trazable a un cuello del L9</a:t>
            </a:r>
            <a:endParaRPr lang="en-US" sz="1200" dirty="0"/>
          </a:p>
        </p:txBody>
      </p:sp>
      <p:sp>
        <p:nvSpPr>
          <p:cNvPr id="9" name="Text 6"/>
          <p:cNvSpPr/>
          <p:nvPr/>
        </p:nvSpPr>
        <p:spPr>
          <a:xfrm>
            <a:off x="9795371" y="2304058"/>
            <a:ext cx="754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Medir v2</a:t>
            </a:r>
            <a:endParaRPr lang="en-US" sz="1400" dirty="0"/>
          </a:p>
        </p:txBody>
      </p:sp>
      <p:sp>
        <p:nvSpPr>
          <p:cNvPr id="10" name="Text 7"/>
          <p:cNvSpPr/>
          <p:nvPr/>
        </p:nvSpPr>
        <p:spPr>
          <a:xfrm>
            <a:off x="9502676" y="2544564"/>
            <a:ext cx="13400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mismos evaluators</a:t>
            </a:r>
            <a:endParaRPr lang="en-US" sz="1200" dirty="0"/>
          </a:p>
        </p:txBody>
      </p:sp>
      <p:sp>
        <p:nvSpPr>
          <p:cNvPr id="11" name="Text 8"/>
          <p:cNvSpPr/>
          <p:nvPr/>
        </p:nvSpPr>
        <p:spPr>
          <a:xfrm>
            <a:off x="9594453" y="4209058"/>
            <a:ext cx="11564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sostiene?</a:t>
            </a:r>
            <a:endParaRPr lang="en-US" sz="1400" dirty="0"/>
          </a:p>
        </p:txBody>
      </p:sp>
      <p:sp>
        <p:nvSpPr>
          <p:cNvPr id="12" name="Text 9"/>
          <p:cNvSpPr/>
          <p:nvPr/>
        </p:nvSpPr>
        <p:spPr>
          <a:xfrm>
            <a:off x="9727803" y="4449564"/>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dos corridas</a:t>
            </a:r>
            <a:endParaRPr lang="en-US" sz="1200" dirty="0"/>
          </a:p>
        </p:txBody>
      </p:sp>
      <p:sp>
        <p:nvSpPr>
          <p:cNvPr id="13" name="Text 10"/>
          <p:cNvSpPr/>
          <p:nvPr/>
        </p:nvSpPr>
        <p:spPr>
          <a:xfrm>
            <a:off x="5199135" y="4209058"/>
            <a:ext cx="179363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Decidir y documentar</a:t>
            </a:r>
            <a:endParaRPr lang="en-US" sz="1400" dirty="0"/>
          </a:p>
        </p:txBody>
      </p:sp>
      <p:sp>
        <p:nvSpPr>
          <p:cNvPr id="14" name="Text 11"/>
          <p:cNvSpPr/>
          <p:nvPr/>
        </p:nvSpPr>
        <p:spPr>
          <a:xfrm>
            <a:off x="5329138" y="4449564"/>
            <a:ext cx="15337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conservar o descartar</a:t>
            </a:r>
            <a:endParaRPr lang="en-US" sz="1200" dirty="0"/>
          </a:p>
        </p:txBody>
      </p:sp>
      <p:sp>
        <p:nvSpPr>
          <p:cNvPr id="15" name="Text 12"/>
          <p:cNvSpPr/>
          <p:nvPr/>
        </p:nvSpPr>
        <p:spPr>
          <a:xfrm>
            <a:off x="32512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línea base</a:t>
            </a:r>
            <a:endParaRPr lang="en-US" sz="1400" dirty="0"/>
          </a:p>
        </p:txBody>
      </p:sp>
      <p:sp>
        <p:nvSpPr>
          <p:cNvPr id="16" name="Text 13"/>
          <p:cNvSpPr/>
          <p:nvPr/>
        </p:nvSpPr>
        <p:spPr>
          <a:xfrm>
            <a:off x="7327900" y="2240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mismo dataset</a:t>
            </a:r>
            <a:endParaRPr lang="en-US" sz="1400" dirty="0"/>
          </a:p>
        </p:txBody>
      </p:sp>
      <p:sp>
        <p:nvSpPr>
          <p:cNvPr id="17" name="Text 14"/>
          <p:cNvSpPr/>
          <p:nvPr/>
        </p:nvSpPr>
        <p:spPr>
          <a:xfrm>
            <a:off x="10223500" y="3364111"/>
            <a:ext cx="1181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2ª corrida</a:t>
            </a:r>
            <a:endParaRPr lang="en-US" sz="1400" dirty="0"/>
          </a:p>
        </p:txBody>
      </p:sp>
      <p:sp>
        <p:nvSpPr>
          <p:cNvPr id="18" name="Text 15"/>
          <p:cNvSpPr/>
          <p:nvPr/>
        </p:nvSpPr>
        <p:spPr>
          <a:xfrm>
            <a:off x="7327900" y="4145161"/>
            <a:ext cx="1612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causa nombrada</a:t>
            </a:r>
            <a:endParaRPr lang="en-US" sz="1400" dirty="0"/>
          </a:p>
        </p:txBody>
      </p:sp>
      <p:sp>
        <p:nvSpPr>
          <p:cNvPr id="19" name="Text 16"/>
          <p:cNvSpPr/>
          <p:nvPr/>
        </p:nvSpPr>
        <p:spPr>
          <a:xfrm>
            <a:off x="2054543" y="4145161"/>
            <a:ext cx="2812415"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siguiente iteración</a:t>
            </a:r>
            <a:endParaRPr lang="en-US" sz="1400" dirty="0"/>
          </a:p>
        </p:txBody>
      </p:sp>
      <p:sp>
        <p:nvSpPr>
          <p:cNvPr id="20" name="Text 17"/>
          <p:cNvSpPr/>
          <p:nvPr/>
        </p:nvSpPr>
        <p:spPr>
          <a:xfrm>
            <a:off x="812800" y="5154811"/>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Ejemplo del README, no es una medición: v1 24/30 = 80.0 % · v2 26/30 = 86.7 %. Con 30 casos, dos aciertos pueden ser ruido.</a:t>
            </a:r>
            <a:endParaRPr lang="en-US" sz="1600" dirty="0"/>
          </a:p>
        </p:txBody>
      </p:sp>
      <p:sp>
        <p:nvSpPr>
          <p:cNvPr id="21" name="Text 18"/>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21/35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4 · A/B de prompts</a:t>
            </a:r>
            <a:endParaRPr lang="en-US" sz="3600" dirty="0"/>
          </a:p>
        </p:txBody>
      </p:sp>
      <p:sp>
        <p:nvSpPr>
          <p:cNvPr id="3" name="Text 1"/>
          <p:cNvSpPr/>
          <p:nvPr/>
        </p:nvSpPr>
        <p:spPr>
          <a:xfrm>
            <a:off x="812800" y="15234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Extracto de code/04_ab_prompts.py</a:t>
            </a:r>
            <a:endParaRPr lang="en-US" sz="1400" dirty="0"/>
          </a:p>
        </p:txBody>
      </p:sp>
      <p:sp>
        <p:nvSpPr>
          <p:cNvPr id="4" name="Shape 2"/>
          <p:cNvSpPr/>
          <p:nvPr/>
        </p:nvSpPr>
        <p:spPr>
          <a:xfrm>
            <a:off x="812800" y="1941711"/>
            <a:ext cx="10566400" cy="1443831"/>
          </a:xfrm>
          <a:prstGeom prst="roundRect">
            <a:avLst>
              <a:gd name="adj" fmla="val 1759"/>
            </a:avLst>
          </a:prstGeom>
          <a:solidFill>
            <a:srgbClr val="1E293B"/>
          </a:solidFill>
          <a:ln/>
        </p:spPr>
      </p:sp>
      <p:sp>
        <p:nvSpPr>
          <p:cNvPr id="5" name="Text 3"/>
          <p:cNvSpPr/>
          <p:nvPr/>
        </p:nvSpPr>
        <p:spPr>
          <a:xfrm>
            <a:off x="1016000" y="2094111"/>
            <a:ext cx="10464800" cy="1164431"/>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PROMPT_V1 = get_system_prompt(TRACK)</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PROMPT_V2 = PROMPT_V1 +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"\n\nAntes de afirmar cualquier tarifa, plazo o cifra concreta, cita textualmente el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"dato exacto del documento recuperado. Si no recuperaste el dato, dilo en vez de estimarlo."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p:txBody>
      </p:sp>
      <p:sp>
        <p:nvSpPr>
          <p:cNvPr id="6" name="Shape 4"/>
          <p:cNvSpPr/>
          <p:nvPr/>
        </p:nvSpPr>
        <p:spPr>
          <a:xfrm>
            <a:off x="819150" y="3595092"/>
            <a:ext cx="5168900" cy="1575693"/>
          </a:xfrm>
          <a:prstGeom prst="roundRect">
            <a:avLst>
              <a:gd name="adj" fmla="val 6045"/>
            </a:avLst>
          </a:prstGeom>
          <a:solidFill>
            <a:srgbClr val="FFFFFF"/>
          </a:solidFill>
          <a:ln w="12700">
            <a:solidFill>
              <a:srgbClr val="1E293B"/>
            </a:solidFill>
            <a:prstDash val="solid"/>
          </a:ln>
        </p:spPr>
      </p:sp>
      <p:sp>
        <p:nvSpPr>
          <p:cNvPr id="7" name="Text 5"/>
          <p:cNvSpPr/>
          <p:nvPr/>
        </p:nvSpPr>
        <p:spPr>
          <a:xfrm>
            <a:off x="1028700" y="380464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hace</a:t>
            </a:r>
            <a:endParaRPr lang="en-US" sz="2200" dirty="0"/>
          </a:p>
        </p:txBody>
      </p:sp>
      <p:sp>
        <p:nvSpPr>
          <p:cNvPr id="8" name="Text 6"/>
          <p:cNvSpPr/>
          <p:nvPr/>
        </p:nvSpPr>
        <p:spPr>
          <a:xfrm>
            <a:off x="1028700" y="4235847"/>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10 consultas OTRO de telecomunicaciones contra v1 y v2; mide exactitud en ambas y muestra la tabla.</a:t>
            </a:r>
            <a:endParaRPr lang="en-US" sz="1400" dirty="0"/>
          </a:p>
        </p:txBody>
      </p:sp>
      <p:sp>
        <p:nvSpPr>
          <p:cNvPr id="9" name="Shape 7"/>
          <p:cNvSpPr/>
          <p:nvPr/>
        </p:nvSpPr>
        <p:spPr>
          <a:xfrm>
            <a:off x="6203950" y="3595092"/>
            <a:ext cx="5168900" cy="1575693"/>
          </a:xfrm>
          <a:prstGeom prst="roundRect">
            <a:avLst>
              <a:gd name="adj" fmla="val 6045"/>
            </a:avLst>
          </a:prstGeom>
          <a:solidFill>
            <a:srgbClr val="FFFFFF"/>
          </a:solidFill>
          <a:ln w="12700">
            <a:solidFill>
              <a:srgbClr val="1E293B"/>
            </a:solidFill>
            <a:prstDash val="solid"/>
          </a:ln>
        </p:spPr>
      </p:sp>
      <p:sp>
        <p:nvSpPr>
          <p:cNvPr id="10" name="Text 8"/>
          <p:cNvSpPr/>
          <p:nvPr/>
        </p:nvSpPr>
        <p:spPr>
          <a:xfrm>
            <a:off x="6413500" y="3804642"/>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no hace</a:t>
            </a:r>
            <a:endParaRPr lang="en-US" sz="2200" dirty="0"/>
          </a:p>
        </p:txBody>
      </p:sp>
      <p:sp>
        <p:nvSpPr>
          <p:cNvPr id="11" name="Text 9"/>
          <p:cNvSpPr/>
          <p:nvPr/>
        </p:nvSpPr>
        <p:spPr>
          <a:xfrm>
            <a:off x="6413500" y="4235847"/>
            <a:ext cx="4892294"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Llamadas directas al modelo, sin retriever: no valida una mejora de recuperación ni sustituye la evaluación del agente.</a:t>
            </a:r>
            <a:endParaRPr lang="en-US" sz="1400" dirty="0"/>
          </a:p>
        </p:txBody>
      </p:sp>
      <p:sp>
        <p:nvSpPr>
          <p:cNvPr id="12" name="Text 10"/>
          <p:cNvSpPr/>
          <p:nvPr/>
        </p:nvSpPr>
        <p:spPr>
          <a:xfrm>
            <a:off x="812800" y="538033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Si v1 y v2 dan igual: normal con pocos casos; es parte de la lección.</a:t>
            </a:r>
            <a:endParaRPr lang="en-US" sz="1600" dirty="0"/>
          </a:p>
        </p:txBody>
      </p:sp>
      <p:sp>
        <p:nvSpPr>
          <p:cNvPr id="13" name="Text 11"/>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22/35</a:t>
            </a:r>
            <a:endParaRPr lang="en-US" sz="1200" dirty="0"/>
          </a:p>
        </p:txBody>
      </p:sp>
      <p:pic>
        <p:nvPicPr>
          <p:cNvPr id="14"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Regresión: re-evaluar al cambiar</a:t>
            </a:r>
            <a:endParaRPr lang="en-US" sz="3600" dirty="0"/>
          </a:p>
        </p:txBody>
      </p:sp>
      <p:sp>
        <p:nvSpPr>
          <p:cNvPr id="3" name="Text 1"/>
          <p:cNvSpPr/>
          <p:nvPr/>
        </p:nvSpPr>
        <p:spPr>
          <a:xfrm>
            <a:off x="812800" y="1574205"/>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Un cambio que arregla un caso puede romper otro que antes funcionaba.</a:t>
            </a:r>
            <a:endParaRPr lang="en-US" sz="2200" dirty="0"/>
          </a:p>
        </p:txBody>
      </p:sp>
      <p:sp>
        <p:nvSpPr>
          <p:cNvPr id="4" name="Shape 2"/>
          <p:cNvSpPr/>
          <p:nvPr/>
        </p:nvSpPr>
        <p:spPr>
          <a:xfrm>
            <a:off x="819150" y="2164159"/>
            <a:ext cx="5168900" cy="1691481"/>
          </a:xfrm>
          <a:prstGeom prst="roundRect">
            <a:avLst>
              <a:gd name="adj" fmla="val 5631"/>
            </a:avLst>
          </a:prstGeom>
          <a:solidFill>
            <a:srgbClr val="FFFFFF"/>
          </a:solidFill>
          <a:ln w="12700">
            <a:solidFill>
              <a:srgbClr val="1E293B"/>
            </a:solidFill>
            <a:prstDash val="solid"/>
          </a:ln>
        </p:spPr>
      </p:sp>
      <p:sp>
        <p:nvSpPr>
          <p:cNvPr id="5" name="Text 3"/>
          <p:cNvSpPr/>
          <p:nvPr/>
        </p:nvSpPr>
        <p:spPr>
          <a:xfrm>
            <a:off x="1028700" y="2373709"/>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Se corre siempre</a:t>
            </a:r>
            <a:endParaRPr lang="en-US" sz="2200" dirty="0"/>
          </a:p>
        </p:txBody>
      </p:sp>
      <p:sp>
        <p:nvSpPr>
          <p:cNvPr id="6" name="Text 4"/>
          <p:cNvSpPr/>
          <p:nvPr/>
        </p:nvSpPr>
        <p:spPr>
          <a:xfrm>
            <a:off x="1028700" y="2804914"/>
            <a:ext cx="4892294"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golden set se corre cada vez que algo cambia, no solo cuando algo falla: detecta regresiones antes que un cliente.</a:t>
            </a:r>
            <a:endParaRPr lang="en-US" sz="1600" dirty="0"/>
          </a:p>
        </p:txBody>
      </p:sp>
      <p:sp>
        <p:nvSpPr>
          <p:cNvPr id="7" name="Shape 5"/>
          <p:cNvSpPr/>
          <p:nvPr/>
        </p:nvSpPr>
        <p:spPr>
          <a:xfrm>
            <a:off x="6203950" y="2164159"/>
            <a:ext cx="5168900" cy="1691481"/>
          </a:xfrm>
          <a:prstGeom prst="roundRect">
            <a:avLst>
              <a:gd name="adj" fmla="val 5631"/>
            </a:avLst>
          </a:prstGeom>
          <a:solidFill>
            <a:srgbClr val="F4F6F8"/>
          </a:solidFill>
          <a:ln w="12700">
            <a:solidFill>
              <a:srgbClr val="526277"/>
            </a:solidFill>
            <a:prstDash val="dash"/>
          </a:ln>
        </p:spPr>
      </p:sp>
      <p:sp>
        <p:nvSpPr>
          <p:cNvPr id="8" name="Text 6"/>
          <p:cNvSpPr/>
          <p:nvPr/>
        </p:nvSpPr>
        <p:spPr>
          <a:xfrm>
            <a:off x="6413500" y="2373709"/>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526277"/>
                </a:solidFill>
                <a:latin typeface="IBM Plex Sans" pitchFamily="34" charset="0"/>
                <a:ea typeface="IBM Plex Sans" pitchFamily="34" charset="-122"/>
                <a:cs typeface="IBM Plex Sans" pitchFamily="34" charset="-120"/>
              </a:rPr>
              <a:t>Integración continua</a:t>
            </a:r>
            <a:endParaRPr lang="en-US" sz="2200" dirty="0"/>
          </a:p>
        </p:txBody>
      </p:sp>
      <p:sp>
        <p:nvSpPr>
          <p:cNvPr id="9" name="Text 7"/>
          <p:cNvSpPr/>
          <p:nvPr/>
        </p:nvSpPr>
        <p:spPr>
          <a:xfrm>
            <a:off x="6413500" y="2804914"/>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Puente hacia CI: se menciona como cierre; el curso no la implementa.</a:t>
            </a:r>
            <a:endParaRPr lang="en-US" sz="1600" dirty="0"/>
          </a:p>
        </p:txBody>
      </p:sp>
      <p:sp>
        <p:nvSpPr>
          <p:cNvPr id="10" name="Text 8"/>
          <p:cNvSpPr/>
          <p:nvPr/>
        </p:nvSpPr>
        <p:spPr>
          <a:xfrm>
            <a:off x="812800" y="6229350"/>
            <a:ext cx="25111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Bloque 4 · Mejora real · 23/35</a:t>
            </a:r>
            <a:endParaRPr lang="en-US" sz="1200" dirty="0"/>
          </a:p>
        </p:txBody>
      </p:sp>
      <p:pic>
        <p:nvPicPr>
          <p:cNvPr id="11"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Pausa · 10 min</a:t>
            </a:r>
            <a:endParaRPr lang="en-US" sz="3600" dirty="0"/>
          </a:p>
        </p:txBody>
      </p:sp>
      <p:sp>
        <p:nvSpPr>
          <p:cNvPr id="3" name="Text 1"/>
          <p:cNvSpPr/>
          <p:nvPr/>
        </p:nvSpPr>
        <p:spPr>
          <a:xfrm>
            <a:off x="812800" y="4978003"/>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Al volver: práctica con los 30 casos en Langfuse Datasets.</a:t>
            </a:r>
            <a:endParaRPr lang="en-US" sz="2200" dirty="0"/>
          </a:p>
        </p:txBody>
      </p:sp>
      <p:sp>
        <p:nvSpPr>
          <p:cNvPr id="4" name="Text 2"/>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Bloques 5 y 6 · 80 min de práctica · luego el L10</a:t>
            </a:r>
            <a:endParaRPr lang="en-US" sz="1600" dirty="0"/>
          </a:p>
        </p:txBody>
      </p:sp>
      <p:sp>
        <p:nvSpPr>
          <p:cNvPr id="5" name="Text 3"/>
          <p:cNvSpPr/>
          <p:nvPr/>
        </p:nvSpPr>
        <p:spPr>
          <a:xfrm>
            <a:off x="812800" y="6229350"/>
            <a:ext cx="140404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Pausa · 24/35</a:t>
            </a:r>
            <a:endParaRPr lang="en-US" sz="1200" dirty="0"/>
          </a:p>
        </p:txBody>
      </p:sp>
      <p:pic>
        <p:nvPicPr>
          <p:cNvPr id="6"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L10 · Evaluación y optimización</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Objetivo: medir con evidencia, no con intuición, y decidir un cambio con el número.</a:t>
            </a:r>
            <a:endParaRPr lang="en-US" sz="1600" dirty="0"/>
          </a:p>
        </p:txBody>
      </p:sp>
      <p:pic>
        <p:nvPicPr>
          <p:cNvPr id="4" name="Image 0" descr="Laboratorio L10 en 4 partes: dataset, línea base v1, un cambio dirigido y v2">    </p:cNvPr>
          <p:cNvPicPr>
            <a:picLocks noChangeAspect="1"/>
          </p:cNvPicPr>
          <p:nvPr/>
        </p:nvPicPr>
        <p:blipFill>
          <a:blip r:embed="rId1"/>
          <a:srcRect l="-20" r="-20" t="0" b="0"/>
          <a:stretch/>
        </p:blipFill>
        <p:spPr>
          <a:xfrm>
            <a:off x="812800" y="2108597"/>
            <a:ext cx="10566400" cy="1016000"/>
          </a:xfrm>
          <a:prstGeom prst="rect">
            <a:avLst/>
          </a:prstGeom>
        </p:spPr>
      </p:pic>
      <p:sp>
        <p:nvSpPr>
          <p:cNvPr id="5" name="Text 2"/>
          <p:cNvSpPr/>
          <p:nvPr/>
        </p:nvSpPr>
        <p:spPr>
          <a:xfrm>
            <a:off x="1446213" y="2293144"/>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1</a:t>
            </a:r>
            <a:endParaRPr lang="en-US" sz="1400" dirty="0"/>
          </a:p>
        </p:txBody>
      </p:sp>
      <p:sp>
        <p:nvSpPr>
          <p:cNvPr id="6" name="Text 3"/>
          <p:cNvSpPr/>
          <p:nvPr/>
        </p:nvSpPr>
        <p:spPr>
          <a:xfrm>
            <a:off x="1044575" y="2533650"/>
            <a:ext cx="144135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Dataset en Langfuse</a:t>
            </a:r>
            <a:endParaRPr lang="en-US" sz="1200" dirty="0"/>
          </a:p>
        </p:txBody>
      </p:sp>
      <p:sp>
        <p:nvSpPr>
          <p:cNvPr id="7" name="Text 4"/>
          <p:cNvSpPr/>
          <p:nvPr/>
        </p:nvSpPr>
        <p:spPr>
          <a:xfrm>
            <a:off x="1501577" y="2749550"/>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8" name="Text 5"/>
          <p:cNvSpPr/>
          <p:nvPr/>
        </p:nvSpPr>
        <p:spPr>
          <a:xfrm>
            <a:off x="4335463" y="2293144"/>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2</a:t>
            </a:r>
            <a:endParaRPr lang="en-US" sz="1400" dirty="0"/>
          </a:p>
        </p:txBody>
      </p:sp>
      <p:sp>
        <p:nvSpPr>
          <p:cNvPr id="9" name="Text 6"/>
          <p:cNvSpPr/>
          <p:nvPr/>
        </p:nvSpPr>
        <p:spPr>
          <a:xfrm>
            <a:off x="4163020" y="2533650"/>
            <a:ext cx="98296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v1</a:t>
            </a:r>
            <a:endParaRPr lang="en-US" sz="1200" dirty="0"/>
          </a:p>
        </p:txBody>
      </p:sp>
      <p:sp>
        <p:nvSpPr>
          <p:cNvPr id="10" name="Text 7"/>
          <p:cNvSpPr/>
          <p:nvPr/>
        </p:nvSpPr>
        <p:spPr>
          <a:xfrm>
            <a:off x="4390827" y="2749550"/>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11" name="Text 8"/>
          <p:cNvSpPr/>
          <p:nvPr/>
        </p:nvSpPr>
        <p:spPr>
          <a:xfrm>
            <a:off x="7218363" y="2293144"/>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3</a:t>
            </a:r>
            <a:endParaRPr lang="en-US" sz="1400" dirty="0"/>
          </a:p>
        </p:txBody>
      </p:sp>
      <p:sp>
        <p:nvSpPr>
          <p:cNvPr id="12" name="Text 9"/>
          <p:cNvSpPr/>
          <p:nvPr/>
        </p:nvSpPr>
        <p:spPr>
          <a:xfrm>
            <a:off x="6873180" y="2533650"/>
            <a:ext cx="13284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Un cambio dirigido</a:t>
            </a:r>
            <a:endParaRPr lang="en-US" sz="1200" dirty="0"/>
          </a:p>
        </p:txBody>
      </p:sp>
      <p:sp>
        <p:nvSpPr>
          <p:cNvPr id="13" name="Text 10"/>
          <p:cNvSpPr/>
          <p:nvPr/>
        </p:nvSpPr>
        <p:spPr>
          <a:xfrm>
            <a:off x="7273727" y="2749550"/>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40 min</a:t>
            </a:r>
            <a:endParaRPr lang="en-US" sz="1200" dirty="0"/>
          </a:p>
        </p:txBody>
      </p:sp>
      <p:sp>
        <p:nvSpPr>
          <p:cNvPr id="14" name="Text 11"/>
          <p:cNvSpPr/>
          <p:nvPr/>
        </p:nvSpPr>
        <p:spPr>
          <a:xfrm>
            <a:off x="10107613" y="2293144"/>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4</a:t>
            </a:r>
            <a:endParaRPr lang="en-US" sz="1400" dirty="0"/>
          </a:p>
        </p:txBody>
      </p:sp>
      <p:sp>
        <p:nvSpPr>
          <p:cNvPr id="15" name="Text 12"/>
          <p:cNvSpPr/>
          <p:nvPr/>
        </p:nvSpPr>
        <p:spPr>
          <a:xfrm>
            <a:off x="9642475" y="2533650"/>
            <a:ext cx="15684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v2, comparar y decidir</a:t>
            </a:r>
            <a:endParaRPr lang="en-US" sz="1200" dirty="0"/>
          </a:p>
        </p:txBody>
      </p:sp>
      <p:sp>
        <p:nvSpPr>
          <p:cNvPr id="16" name="Text 13"/>
          <p:cNvSpPr/>
          <p:nvPr/>
        </p:nvSpPr>
        <p:spPr>
          <a:xfrm>
            <a:off x="10162977" y="2749550"/>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min</a:t>
            </a:r>
            <a:endParaRPr lang="en-US" sz="1200" dirty="0"/>
          </a:p>
        </p:txBody>
      </p:sp>
      <p:sp>
        <p:nvSpPr>
          <p:cNvPr id="17" name="Text 14"/>
          <p:cNvSpPr/>
          <p:nvPr/>
        </p:nvSpPr>
        <p:spPr>
          <a:xfrm>
            <a:off x="2743200" y="2337197"/>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casos</a:t>
            </a:r>
            <a:endParaRPr lang="en-US" sz="1400" dirty="0"/>
          </a:p>
        </p:txBody>
      </p:sp>
      <p:sp>
        <p:nvSpPr>
          <p:cNvPr id="18" name="Text 15"/>
          <p:cNvSpPr/>
          <p:nvPr/>
        </p:nvSpPr>
        <p:spPr>
          <a:xfrm>
            <a:off x="5632450" y="2337197"/>
            <a:ext cx="927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base v1</a:t>
            </a:r>
            <a:endParaRPr lang="en-US" sz="1400" dirty="0"/>
          </a:p>
        </p:txBody>
      </p:sp>
      <p:sp>
        <p:nvSpPr>
          <p:cNvPr id="19" name="Text 16"/>
          <p:cNvSpPr/>
          <p:nvPr/>
        </p:nvSpPr>
        <p:spPr>
          <a:xfrm>
            <a:off x="8515350" y="2337197"/>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20" name="Shape 17"/>
          <p:cNvSpPr/>
          <p:nvPr/>
        </p:nvSpPr>
        <p:spPr>
          <a:xfrm>
            <a:off x="819150" y="3384947"/>
            <a:ext cx="5168900" cy="1333897"/>
          </a:xfrm>
          <a:prstGeom prst="roundRect">
            <a:avLst>
              <a:gd name="adj" fmla="val 7141"/>
            </a:avLst>
          </a:prstGeom>
          <a:solidFill>
            <a:srgbClr val="FFFFFF"/>
          </a:solidFill>
          <a:ln w="12700">
            <a:solidFill>
              <a:srgbClr val="1E293B"/>
            </a:solidFill>
            <a:prstDash val="solid"/>
          </a:ln>
        </p:spPr>
      </p:sp>
      <p:sp>
        <p:nvSpPr>
          <p:cNvPr id="21" name="Text 18"/>
          <p:cNvSpPr/>
          <p:nvPr/>
        </p:nvSpPr>
        <p:spPr>
          <a:xfrm>
            <a:off x="1028700" y="359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Punto de partida</a:t>
            </a:r>
            <a:endParaRPr lang="en-US" sz="2200" dirty="0"/>
          </a:p>
        </p:txBody>
      </p:sp>
      <p:sp>
        <p:nvSpPr>
          <p:cNvPr id="22" name="Text 19"/>
          <p:cNvSpPr/>
          <p:nvPr/>
        </p:nvSpPr>
        <p:spPr>
          <a:xfrm>
            <a:off x="1028700" y="4025702"/>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Tu agent.py (v5) del L9, instrumentado, y tu INFORME-L9.md con 2 cuellos de botella documentados.</a:t>
            </a:r>
            <a:endParaRPr lang="en-US" sz="1400" dirty="0"/>
          </a:p>
        </p:txBody>
      </p:sp>
      <p:sp>
        <p:nvSpPr>
          <p:cNvPr id="23" name="Shape 20"/>
          <p:cNvSpPr/>
          <p:nvPr/>
        </p:nvSpPr>
        <p:spPr>
          <a:xfrm>
            <a:off x="6203950" y="3384947"/>
            <a:ext cx="5168900" cy="1333897"/>
          </a:xfrm>
          <a:prstGeom prst="roundRect">
            <a:avLst>
              <a:gd name="adj" fmla="val 7141"/>
            </a:avLst>
          </a:prstGeom>
          <a:solidFill>
            <a:srgbClr val="FFFFFF"/>
          </a:solidFill>
          <a:ln w="12700">
            <a:solidFill>
              <a:srgbClr val="1E293B"/>
            </a:solidFill>
            <a:prstDash val="solid"/>
          </a:ln>
        </p:spPr>
      </p:sp>
      <p:sp>
        <p:nvSpPr>
          <p:cNvPr id="24" name="Text 21"/>
          <p:cNvSpPr/>
          <p:nvPr/>
        </p:nvSpPr>
        <p:spPr>
          <a:xfrm>
            <a:off x="6413500" y="359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Duración</a:t>
            </a:r>
            <a:endParaRPr lang="en-US" sz="2200" dirty="0"/>
          </a:p>
        </p:txBody>
      </p:sp>
      <p:sp>
        <p:nvSpPr>
          <p:cNvPr id="25" name="Text 22"/>
          <p:cNvSpPr/>
          <p:nvPr/>
        </p:nvSpPr>
        <p:spPr>
          <a:xfrm>
            <a:off x="6413500" y="4025702"/>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2 h de laboratorio, más los bloques 5 y 6 de la sesión en vivo.</a:t>
            </a:r>
            <a:endParaRPr lang="en-US" sz="1400" dirty="0"/>
          </a:p>
        </p:txBody>
      </p:sp>
      <p:sp>
        <p:nvSpPr>
          <p:cNvPr id="26" name="Text 23"/>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25/35</a:t>
            </a:r>
            <a:endParaRPr lang="en-US" sz="1200" dirty="0"/>
          </a:p>
        </p:txBody>
      </p:sp>
      <p:pic>
        <p:nvPicPr>
          <p:cNvPr id="2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1 · Dataset en Langfuse</a:t>
            </a:r>
            <a:endParaRPr lang="en-US" sz="3600" dirty="0"/>
          </a:p>
        </p:txBody>
      </p:sp>
      <p:pic>
        <p:nvPicPr>
          <p:cNvPr id="3" name="Image 0" descr="Laboratorio L10 en 4 partes: dataset, línea base v1, un cambio dirigido y v2">    </p:cNvPr>
          <p:cNvPicPr>
            <a:picLocks noChangeAspect="1"/>
          </p:cNvPicPr>
          <p:nvPr/>
        </p:nvPicPr>
        <p:blipFill>
          <a:blip r:embed="rId1"/>
          <a:srcRect l="-20" r="-20" t="0" b="0"/>
          <a:stretch/>
        </p:blipFill>
        <p:spPr>
          <a:xfrm>
            <a:off x="812800" y="1574205"/>
            <a:ext cx="10566400" cy="1016000"/>
          </a:xfrm>
          <a:prstGeom prst="rect">
            <a:avLst/>
          </a:prstGeom>
        </p:spPr>
      </p:pic>
      <p:sp>
        <p:nvSpPr>
          <p:cNvPr id="4" name="Text 1"/>
          <p:cNvSpPr/>
          <p:nvPr/>
        </p:nvSpPr>
        <p:spPr>
          <a:xfrm>
            <a:off x="14462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1</a:t>
            </a:r>
            <a:endParaRPr lang="en-US" sz="1400" dirty="0"/>
          </a:p>
        </p:txBody>
      </p:sp>
      <p:sp>
        <p:nvSpPr>
          <p:cNvPr id="5" name="Text 2"/>
          <p:cNvSpPr/>
          <p:nvPr/>
        </p:nvSpPr>
        <p:spPr>
          <a:xfrm>
            <a:off x="1044575" y="1999258"/>
            <a:ext cx="144135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Dataset en Langfuse</a:t>
            </a:r>
            <a:endParaRPr lang="en-US" sz="1200" dirty="0"/>
          </a:p>
        </p:txBody>
      </p:sp>
      <p:sp>
        <p:nvSpPr>
          <p:cNvPr id="6" name="Text 3"/>
          <p:cNvSpPr/>
          <p:nvPr/>
        </p:nvSpPr>
        <p:spPr>
          <a:xfrm>
            <a:off x="15015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7" name="Text 4"/>
          <p:cNvSpPr/>
          <p:nvPr/>
        </p:nvSpPr>
        <p:spPr>
          <a:xfrm>
            <a:off x="43354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2</a:t>
            </a:r>
            <a:endParaRPr lang="en-US" sz="1400" dirty="0"/>
          </a:p>
        </p:txBody>
      </p:sp>
      <p:sp>
        <p:nvSpPr>
          <p:cNvPr id="8" name="Text 5"/>
          <p:cNvSpPr/>
          <p:nvPr/>
        </p:nvSpPr>
        <p:spPr>
          <a:xfrm>
            <a:off x="4163020" y="1999258"/>
            <a:ext cx="98296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v1</a:t>
            </a:r>
            <a:endParaRPr lang="en-US" sz="1200" dirty="0"/>
          </a:p>
        </p:txBody>
      </p:sp>
      <p:sp>
        <p:nvSpPr>
          <p:cNvPr id="9" name="Text 6"/>
          <p:cNvSpPr/>
          <p:nvPr/>
        </p:nvSpPr>
        <p:spPr>
          <a:xfrm>
            <a:off x="43908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10" name="Text 7"/>
          <p:cNvSpPr/>
          <p:nvPr/>
        </p:nvSpPr>
        <p:spPr>
          <a:xfrm>
            <a:off x="72183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3</a:t>
            </a:r>
            <a:endParaRPr lang="en-US" sz="1400" dirty="0"/>
          </a:p>
        </p:txBody>
      </p:sp>
      <p:sp>
        <p:nvSpPr>
          <p:cNvPr id="11" name="Text 8"/>
          <p:cNvSpPr/>
          <p:nvPr/>
        </p:nvSpPr>
        <p:spPr>
          <a:xfrm>
            <a:off x="6873180" y="1999258"/>
            <a:ext cx="13284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Un cambio dirigido</a:t>
            </a:r>
            <a:endParaRPr lang="en-US" sz="1200" dirty="0"/>
          </a:p>
        </p:txBody>
      </p:sp>
      <p:sp>
        <p:nvSpPr>
          <p:cNvPr id="12" name="Text 9"/>
          <p:cNvSpPr/>
          <p:nvPr/>
        </p:nvSpPr>
        <p:spPr>
          <a:xfrm>
            <a:off x="72737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40 min</a:t>
            </a:r>
            <a:endParaRPr lang="en-US" sz="1200" dirty="0"/>
          </a:p>
        </p:txBody>
      </p:sp>
      <p:sp>
        <p:nvSpPr>
          <p:cNvPr id="13" name="Text 10"/>
          <p:cNvSpPr/>
          <p:nvPr/>
        </p:nvSpPr>
        <p:spPr>
          <a:xfrm>
            <a:off x="101076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4</a:t>
            </a:r>
            <a:endParaRPr lang="en-US" sz="1400" dirty="0"/>
          </a:p>
        </p:txBody>
      </p:sp>
      <p:sp>
        <p:nvSpPr>
          <p:cNvPr id="14" name="Text 11"/>
          <p:cNvSpPr/>
          <p:nvPr/>
        </p:nvSpPr>
        <p:spPr>
          <a:xfrm>
            <a:off x="9642475" y="1999258"/>
            <a:ext cx="15684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v2, comparar y decidir</a:t>
            </a:r>
            <a:endParaRPr lang="en-US" sz="1200" dirty="0"/>
          </a:p>
        </p:txBody>
      </p:sp>
      <p:sp>
        <p:nvSpPr>
          <p:cNvPr id="15" name="Text 12"/>
          <p:cNvSpPr/>
          <p:nvPr/>
        </p:nvSpPr>
        <p:spPr>
          <a:xfrm>
            <a:off x="101629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min</a:t>
            </a:r>
            <a:endParaRPr lang="en-US" sz="1200" dirty="0"/>
          </a:p>
        </p:txBody>
      </p:sp>
      <p:sp>
        <p:nvSpPr>
          <p:cNvPr id="16" name="Text 13"/>
          <p:cNvSpPr/>
          <p:nvPr/>
        </p:nvSpPr>
        <p:spPr>
          <a:xfrm>
            <a:off x="274320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casos</a:t>
            </a:r>
            <a:endParaRPr lang="en-US" sz="1400" dirty="0"/>
          </a:p>
        </p:txBody>
      </p:sp>
      <p:sp>
        <p:nvSpPr>
          <p:cNvPr id="17" name="Text 14"/>
          <p:cNvSpPr/>
          <p:nvPr/>
        </p:nvSpPr>
        <p:spPr>
          <a:xfrm>
            <a:off x="5632450" y="1802805"/>
            <a:ext cx="927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base v1</a:t>
            </a:r>
            <a:endParaRPr lang="en-US" sz="1400" dirty="0"/>
          </a:p>
        </p:txBody>
      </p:sp>
      <p:sp>
        <p:nvSpPr>
          <p:cNvPr id="18" name="Text 15"/>
          <p:cNvSpPr/>
          <p:nvPr/>
        </p:nvSpPr>
        <p:spPr>
          <a:xfrm>
            <a:off x="851535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19" name="Text 16"/>
          <p:cNvSpPr/>
          <p:nvPr/>
        </p:nvSpPr>
        <p:spPr>
          <a:xfrm>
            <a:off x="812800" y="2844205"/>
            <a:ext cx="65405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Extracto de evals/dataset.py · subir_dataset()</a:t>
            </a:r>
            <a:endParaRPr lang="en-US" sz="1400" dirty="0"/>
          </a:p>
        </p:txBody>
      </p:sp>
      <p:sp>
        <p:nvSpPr>
          <p:cNvPr id="20" name="Shape 17"/>
          <p:cNvSpPr/>
          <p:nvPr/>
        </p:nvSpPr>
        <p:spPr>
          <a:xfrm>
            <a:off x="812800" y="3160911"/>
            <a:ext cx="6350000" cy="2355056"/>
          </a:xfrm>
          <a:prstGeom prst="roundRect">
            <a:avLst>
              <a:gd name="adj" fmla="val 1079"/>
            </a:avLst>
          </a:prstGeom>
          <a:solidFill>
            <a:srgbClr val="1E293B"/>
          </a:solidFill>
          <a:ln/>
        </p:spPr>
      </p:sp>
      <p:sp>
        <p:nvSpPr>
          <p:cNvPr id="21" name="Text 18"/>
          <p:cNvSpPr/>
          <p:nvPr/>
        </p:nvSpPr>
        <p:spPr>
          <a:xfrm>
            <a:off x="1016000" y="3313311"/>
            <a:ext cx="6121908" cy="207565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client.create_dataset(name=NOMBRE_DATASET,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for caso in cargar_casos():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client.create_dataset_item(</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dataset_name=NOMBRE_DATASET,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input={"consulta": ..., "categoria":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expected_output={"tool_esperada": ...,</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"respuesta_esperada":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metadata={"intencion": caso["intencion"]},</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t>
            </a:r>
            <a:endParaRPr lang="en-US" sz="1300" dirty="0"/>
          </a:p>
        </p:txBody>
      </p:sp>
      <p:sp>
        <p:nvSpPr>
          <p:cNvPr id="22" name="Shape 19"/>
          <p:cNvSpPr/>
          <p:nvPr/>
        </p:nvSpPr>
        <p:spPr>
          <a:xfrm>
            <a:off x="7372350" y="2850555"/>
            <a:ext cx="4000500" cy="2659063"/>
          </a:xfrm>
          <a:prstGeom prst="roundRect">
            <a:avLst>
              <a:gd name="adj" fmla="val 3582"/>
            </a:avLst>
          </a:prstGeom>
          <a:solidFill>
            <a:srgbClr val="FFFFFF"/>
          </a:solidFill>
          <a:ln w="12700">
            <a:solidFill>
              <a:srgbClr val="1E293B"/>
            </a:solidFill>
            <a:prstDash val="solid"/>
          </a:ln>
        </p:spPr>
      </p:sp>
      <p:sp>
        <p:nvSpPr>
          <p:cNvPr id="23" name="Text 20"/>
          <p:cNvSpPr/>
          <p:nvPr/>
        </p:nvSpPr>
        <p:spPr>
          <a:xfrm>
            <a:off x="7581900" y="3060105"/>
            <a:ext cx="368884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Comprobar</a:t>
            </a:r>
            <a:endParaRPr lang="en-US" sz="2200" dirty="0"/>
          </a:p>
        </p:txBody>
      </p:sp>
      <p:sp>
        <p:nvSpPr>
          <p:cNvPr id="24" name="Text 21"/>
          <p:cNvSpPr/>
          <p:nvPr/>
        </p:nvSpPr>
        <p:spPr>
          <a:xfrm>
            <a:off x="7581900" y="3491309"/>
            <a:ext cx="3688842"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En el dashboard, el dataset golden-&lt;track&gt; tiene los 30 casos.</a:t>
            </a:r>
            <a:endParaRPr lang="en-US" sz="1400" dirty="0"/>
          </a:p>
        </p:txBody>
      </p:sp>
      <p:sp>
        <p:nvSpPr>
          <p:cNvPr id="25" name="Text 22"/>
          <p:cNvSpPr/>
          <p:nvPr/>
        </p:nvSpPr>
        <p:spPr>
          <a:xfrm>
            <a:off x="7581900" y="4076502"/>
            <a:ext cx="3688842"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Si se agotan las unidades de Langfuse: reducir a 15 casos por corrida y documentarlo.</a:t>
            </a:r>
            <a:endParaRPr lang="en-US" sz="1400" dirty="0"/>
          </a:p>
        </p:txBody>
      </p:sp>
      <p:sp>
        <p:nvSpPr>
          <p:cNvPr id="26" name="Text 23"/>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26/35</a:t>
            </a:r>
            <a:endParaRPr lang="en-US" sz="1200" dirty="0"/>
          </a:p>
        </p:txBody>
      </p:sp>
      <p:pic>
        <p:nvPicPr>
          <p:cNvPr id="2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2 · Línea base v1</a:t>
            </a:r>
            <a:endParaRPr lang="en-US" sz="3600" dirty="0"/>
          </a:p>
        </p:txBody>
      </p:sp>
      <p:pic>
        <p:nvPicPr>
          <p:cNvPr id="3" name="Image 0" descr="Laboratorio L10 en 4 partes: dataset, línea base v1, un cambio dirigido y v2">    </p:cNvPr>
          <p:cNvPicPr>
            <a:picLocks noChangeAspect="1"/>
          </p:cNvPicPr>
          <p:nvPr/>
        </p:nvPicPr>
        <p:blipFill>
          <a:blip r:embed="rId1"/>
          <a:srcRect l="-20" r="-20" t="0" b="0"/>
          <a:stretch/>
        </p:blipFill>
        <p:spPr>
          <a:xfrm>
            <a:off x="812800" y="1574205"/>
            <a:ext cx="10566400" cy="1016000"/>
          </a:xfrm>
          <a:prstGeom prst="rect">
            <a:avLst/>
          </a:prstGeom>
        </p:spPr>
      </p:pic>
      <p:sp>
        <p:nvSpPr>
          <p:cNvPr id="4" name="Text 1"/>
          <p:cNvSpPr/>
          <p:nvPr/>
        </p:nvSpPr>
        <p:spPr>
          <a:xfrm>
            <a:off x="14462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1</a:t>
            </a:r>
            <a:endParaRPr lang="en-US" sz="1400" dirty="0"/>
          </a:p>
        </p:txBody>
      </p:sp>
      <p:sp>
        <p:nvSpPr>
          <p:cNvPr id="5" name="Text 2"/>
          <p:cNvSpPr/>
          <p:nvPr/>
        </p:nvSpPr>
        <p:spPr>
          <a:xfrm>
            <a:off x="1044575" y="1999258"/>
            <a:ext cx="144135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Dataset en Langfuse</a:t>
            </a:r>
            <a:endParaRPr lang="en-US" sz="1200" dirty="0"/>
          </a:p>
        </p:txBody>
      </p:sp>
      <p:sp>
        <p:nvSpPr>
          <p:cNvPr id="6" name="Text 3"/>
          <p:cNvSpPr/>
          <p:nvPr/>
        </p:nvSpPr>
        <p:spPr>
          <a:xfrm>
            <a:off x="15015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7" name="Text 4"/>
          <p:cNvSpPr/>
          <p:nvPr/>
        </p:nvSpPr>
        <p:spPr>
          <a:xfrm>
            <a:off x="43354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2</a:t>
            </a:r>
            <a:endParaRPr lang="en-US" sz="1400" dirty="0"/>
          </a:p>
        </p:txBody>
      </p:sp>
      <p:sp>
        <p:nvSpPr>
          <p:cNvPr id="8" name="Text 5"/>
          <p:cNvSpPr/>
          <p:nvPr/>
        </p:nvSpPr>
        <p:spPr>
          <a:xfrm>
            <a:off x="4163020" y="1999258"/>
            <a:ext cx="98296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v1</a:t>
            </a:r>
            <a:endParaRPr lang="en-US" sz="1200" dirty="0"/>
          </a:p>
        </p:txBody>
      </p:sp>
      <p:sp>
        <p:nvSpPr>
          <p:cNvPr id="9" name="Text 6"/>
          <p:cNvSpPr/>
          <p:nvPr/>
        </p:nvSpPr>
        <p:spPr>
          <a:xfrm>
            <a:off x="43908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10" name="Text 7"/>
          <p:cNvSpPr/>
          <p:nvPr/>
        </p:nvSpPr>
        <p:spPr>
          <a:xfrm>
            <a:off x="72183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3</a:t>
            </a:r>
            <a:endParaRPr lang="en-US" sz="1400" dirty="0"/>
          </a:p>
        </p:txBody>
      </p:sp>
      <p:sp>
        <p:nvSpPr>
          <p:cNvPr id="11" name="Text 8"/>
          <p:cNvSpPr/>
          <p:nvPr/>
        </p:nvSpPr>
        <p:spPr>
          <a:xfrm>
            <a:off x="6873180" y="1999258"/>
            <a:ext cx="13284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Un cambio dirigido</a:t>
            </a:r>
            <a:endParaRPr lang="en-US" sz="1200" dirty="0"/>
          </a:p>
        </p:txBody>
      </p:sp>
      <p:sp>
        <p:nvSpPr>
          <p:cNvPr id="12" name="Text 9"/>
          <p:cNvSpPr/>
          <p:nvPr/>
        </p:nvSpPr>
        <p:spPr>
          <a:xfrm>
            <a:off x="72737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40 min</a:t>
            </a:r>
            <a:endParaRPr lang="en-US" sz="1200" dirty="0"/>
          </a:p>
        </p:txBody>
      </p:sp>
      <p:sp>
        <p:nvSpPr>
          <p:cNvPr id="13" name="Text 10"/>
          <p:cNvSpPr/>
          <p:nvPr/>
        </p:nvSpPr>
        <p:spPr>
          <a:xfrm>
            <a:off x="101076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4</a:t>
            </a:r>
            <a:endParaRPr lang="en-US" sz="1400" dirty="0"/>
          </a:p>
        </p:txBody>
      </p:sp>
      <p:sp>
        <p:nvSpPr>
          <p:cNvPr id="14" name="Text 11"/>
          <p:cNvSpPr/>
          <p:nvPr/>
        </p:nvSpPr>
        <p:spPr>
          <a:xfrm>
            <a:off x="9642475" y="1999258"/>
            <a:ext cx="15684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v2, comparar y decidir</a:t>
            </a:r>
            <a:endParaRPr lang="en-US" sz="1200" dirty="0"/>
          </a:p>
        </p:txBody>
      </p:sp>
      <p:sp>
        <p:nvSpPr>
          <p:cNvPr id="15" name="Text 12"/>
          <p:cNvSpPr/>
          <p:nvPr/>
        </p:nvSpPr>
        <p:spPr>
          <a:xfrm>
            <a:off x="101629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min</a:t>
            </a:r>
            <a:endParaRPr lang="en-US" sz="1200" dirty="0"/>
          </a:p>
        </p:txBody>
      </p:sp>
      <p:sp>
        <p:nvSpPr>
          <p:cNvPr id="16" name="Text 13"/>
          <p:cNvSpPr/>
          <p:nvPr/>
        </p:nvSpPr>
        <p:spPr>
          <a:xfrm>
            <a:off x="274320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casos</a:t>
            </a:r>
            <a:endParaRPr lang="en-US" sz="1400" dirty="0"/>
          </a:p>
        </p:txBody>
      </p:sp>
      <p:sp>
        <p:nvSpPr>
          <p:cNvPr id="17" name="Text 14"/>
          <p:cNvSpPr/>
          <p:nvPr/>
        </p:nvSpPr>
        <p:spPr>
          <a:xfrm>
            <a:off x="5632450" y="1802805"/>
            <a:ext cx="927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base v1</a:t>
            </a:r>
            <a:endParaRPr lang="en-US" sz="1400" dirty="0"/>
          </a:p>
        </p:txBody>
      </p:sp>
      <p:sp>
        <p:nvSpPr>
          <p:cNvPr id="18" name="Text 15"/>
          <p:cNvSpPr/>
          <p:nvPr/>
        </p:nvSpPr>
        <p:spPr>
          <a:xfrm>
            <a:off x="851535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19" name="Shape 16"/>
          <p:cNvSpPr/>
          <p:nvPr/>
        </p:nvSpPr>
        <p:spPr>
          <a:xfrm>
            <a:off x="812800" y="2850555"/>
            <a:ext cx="10566400" cy="0"/>
          </a:xfrm>
          <a:prstGeom prst="line">
            <a:avLst/>
          </a:prstGeom>
          <a:noFill/>
          <a:ln w="12700">
            <a:solidFill>
              <a:srgbClr val="141413">
                <a:alpha val="22000"/>
              </a:srgbClr>
            </a:solidFill>
            <a:prstDash val="solid"/>
          </a:ln>
        </p:spPr>
      </p:sp>
      <p:sp>
        <p:nvSpPr>
          <p:cNvPr id="20" name="Shape 17"/>
          <p:cNvSpPr/>
          <p:nvPr/>
        </p:nvSpPr>
        <p:spPr>
          <a:xfrm>
            <a:off x="819150" y="2844205"/>
            <a:ext cx="0" cy="2094905"/>
          </a:xfrm>
          <a:prstGeom prst="line">
            <a:avLst/>
          </a:prstGeom>
          <a:noFill/>
          <a:ln w="12700">
            <a:solidFill>
              <a:srgbClr val="141413">
                <a:alpha val="22000"/>
              </a:srgbClr>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52500" y="2933105"/>
          <a:ext cx="10299700" cy="1929805"/>
        </p:xfrm>
        <a:graphic>
          <a:graphicData uri="http://schemas.openxmlformats.org/drawingml/2006/table">
            <a:tbl>
              <a:tblPr/>
              <a:tblGrid>
                <a:gridCol w="4119880"/>
                <a:gridCol w="617982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registrar por caso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Por qué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Respuesta del agente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leen exactitud y groundedness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Tool de negocio ejecutada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evaluar_tool compara un nombre; el retriever va aparte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Texto realmente recuperado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Groundedness lo necesita; nunca inventado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Historial aislado entre casos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Cada caso se evalúa sin arrastre de otro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22" name="Text 18"/>
          <p:cNvSpPr/>
          <p:nvPr/>
        </p:nvSpPr>
        <p:spPr>
          <a:xfrm>
            <a:off x="812800" y="51931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evals/evaluadores.py reexporta funciones: no es un runner end-to-end. Reportar aparte los casos no aplicables.</a:t>
            </a:r>
            <a:endParaRPr lang="en-US" sz="1600" dirty="0"/>
          </a:p>
        </p:txBody>
      </p:sp>
      <p:sp>
        <p:nvSpPr>
          <p:cNvPr id="23" name="Text 19"/>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27/35</a:t>
            </a:r>
            <a:endParaRPr lang="en-US" sz="1200" dirty="0"/>
          </a:p>
        </p:txBody>
      </p:sp>
      <p:pic>
        <p:nvPicPr>
          <p:cNvPr id="24"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3 · Un cambio dirigido</a:t>
            </a:r>
            <a:endParaRPr lang="en-US" sz="3600" dirty="0"/>
          </a:p>
        </p:txBody>
      </p:sp>
      <p:pic>
        <p:nvPicPr>
          <p:cNvPr id="3" name="Image 0" descr="Laboratorio L10 en 4 partes: dataset, línea base v1, un cambio dirigido y v2">    </p:cNvPr>
          <p:cNvPicPr>
            <a:picLocks noChangeAspect="1"/>
          </p:cNvPicPr>
          <p:nvPr/>
        </p:nvPicPr>
        <p:blipFill>
          <a:blip r:embed="rId1"/>
          <a:srcRect l="-20" r="-20" t="0" b="0"/>
          <a:stretch/>
        </p:blipFill>
        <p:spPr>
          <a:xfrm>
            <a:off x="812800" y="1574205"/>
            <a:ext cx="10566400" cy="1016000"/>
          </a:xfrm>
          <a:prstGeom prst="rect">
            <a:avLst/>
          </a:prstGeom>
        </p:spPr>
      </p:pic>
      <p:sp>
        <p:nvSpPr>
          <p:cNvPr id="4" name="Text 1"/>
          <p:cNvSpPr/>
          <p:nvPr/>
        </p:nvSpPr>
        <p:spPr>
          <a:xfrm>
            <a:off x="14462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1</a:t>
            </a:r>
            <a:endParaRPr lang="en-US" sz="1400" dirty="0"/>
          </a:p>
        </p:txBody>
      </p:sp>
      <p:sp>
        <p:nvSpPr>
          <p:cNvPr id="5" name="Text 2"/>
          <p:cNvSpPr/>
          <p:nvPr/>
        </p:nvSpPr>
        <p:spPr>
          <a:xfrm>
            <a:off x="1044575" y="1999258"/>
            <a:ext cx="144135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Dataset en Langfuse</a:t>
            </a:r>
            <a:endParaRPr lang="en-US" sz="1200" dirty="0"/>
          </a:p>
        </p:txBody>
      </p:sp>
      <p:sp>
        <p:nvSpPr>
          <p:cNvPr id="6" name="Text 3"/>
          <p:cNvSpPr/>
          <p:nvPr/>
        </p:nvSpPr>
        <p:spPr>
          <a:xfrm>
            <a:off x="15015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7" name="Text 4"/>
          <p:cNvSpPr/>
          <p:nvPr/>
        </p:nvSpPr>
        <p:spPr>
          <a:xfrm>
            <a:off x="43354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2</a:t>
            </a:r>
            <a:endParaRPr lang="en-US" sz="1400" dirty="0"/>
          </a:p>
        </p:txBody>
      </p:sp>
      <p:sp>
        <p:nvSpPr>
          <p:cNvPr id="8" name="Text 5"/>
          <p:cNvSpPr/>
          <p:nvPr/>
        </p:nvSpPr>
        <p:spPr>
          <a:xfrm>
            <a:off x="4163020" y="1999258"/>
            <a:ext cx="98296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v1</a:t>
            </a:r>
            <a:endParaRPr lang="en-US" sz="1200" dirty="0"/>
          </a:p>
        </p:txBody>
      </p:sp>
      <p:sp>
        <p:nvSpPr>
          <p:cNvPr id="9" name="Text 6"/>
          <p:cNvSpPr/>
          <p:nvPr/>
        </p:nvSpPr>
        <p:spPr>
          <a:xfrm>
            <a:off x="43908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10" name="Text 7"/>
          <p:cNvSpPr/>
          <p:nvPr/>
        </p:nvSpPr>
        <p:spPr>
          <a:xfrm>
            <a:off x="72183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3</a:t>
            </a:r>
            <a:endParaRPr lang="en-US" sz="1400" dirty="0"/>
          </a:p>
        </p:txBody>
      </p:sp>
      <p:sp>
        <p:nvSpPr>
          <p:cNvPr id="11" name="Text 8"/>
          <p:cNvSpPr/>
          <p:nvPr/>
        </p:nvSpPr>
        <p:spPr>
          <a:xfrm>
            <a:off x="6873180" y="1999258"/>
            <a:ext cx="13284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Un cambio dirigido</a:t>
            </a:r>
            <a:endParaRPr lang="en-US" sz="1200" dirty="0"/>
          </a:p>
        </p:txBody>
      </p:sp>
      <p:sp>
        <p:nvSpPr>
          <p:cNvPr id="12" name="Text 9"/>
          <p:cNvSpPr/>
          <p:nvPr/>
        </p:nvSpPr>
        <p:spPr>
          <a:xfrm>
            <a:off x="72737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40 min</a:t>
            </a:r>
            <a:endParaRPr lang="en-US" sz="1200" dirty="0"/>
          </a:p>
        </p:txBody>
      </p:sp>
      <p:sp>
        <p:nvSpPr>
          <p:cNvPr id="13" name="Text 10"/>
          <p:cNvSpPr/>
          <p:nvPr/>
        </p:nvSpPr>
        <p:spPr>
          <a:xfrm>
            <a:off x="101076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4</a:t>
            </a:r>
            <a:endParaRPr lang="en-US" sz="1400" dirty="0"/>
          </a:p>
        </p:txBody>
      </p:sp>
      <p:sp>
        <p:nvSpPr>
          <p:cNvPr id="14" name="Text 11"/>
          <p:cNvSpPr/>
          <p:nvPr/>
        </p:nvSpPr>
        <p:spPr>
          <a:xfrm>
            <a:off x="9642475" y="1999258"/>
            <a:ext cx="15684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v2, comparar y decidir</a:t>
            </a:r>
            <a:endParaRPr lang="en-US" sz="1200" dirty="0"/>
          </a:p>
        </p:txBody>
      </p:sp>
      <p:sp>
        <p:nvSpPr>
          <p:cNvPr id="15" name="Text 12"/>
          <p:cNvSpPr/>
          <p:nvPr/>
        </p:nvSpPr>
        <p:spPr>
          <a:xfrm>
            <a:off x="101629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min</a:t>
            </a:r>
            <a:endParaRPr lang="en-US" sz="1200" dirty="0"/>
          </a:p>
        </p:txBody>
      </p:sp>
      <p:sp>
        <p:nvSpPr>
          <p:cNvPr id="16" name="Text 13"/>
          <p:cNvSpPr/>
          <p:nvPr/>
        </p:nvSpPr>
        <p:spPr>
          <a:xfrm>
            <a:off x="274320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casos</a:t>
            </a:r>
            <a:endParaRPr lang="en-US" sz="1400" dirty="0"/>
          </a:p>
        </p:txBody>
      </p:sp>
      <p:sp>
        <p:nvSpPr>
          <p:cNvPr id="17" name="Text 14"/>
          <p:cNvSpPr/>
          <p:nvPr/>
        </p:nvSpPr>
        <p:spPr>
          <a:xfrm>
            <a:off x="5632450" y="1802805"/>
            <a:ext cx="927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base v1</a:t>
            </a:r>
            <a:endParaRPr lang="en-US" sz="1400" dirty="0"/>
          </a:p>
        </p:txBody>
      </p:sp>
      <p:sp>
        <p:nvSpPr>
          <p:cNvPr id="18" name="Text 15"/>
          <p:cNvSpPr/>
          <p:nvPr/>
        </p:nvSpPr>
        <p:spPr>
          <a:xfrm>
            <a:off x="851535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19" name="Shape 16"/>
          <p:cNvSpPr/>
          <p:nvPr/>
        </p:nvSpPr>
        <p:spPr>
          <a:xfrm>
            <a:off x="812800" y="2850555"/>
            <a:ext cx="10566400" cy="0"/>
          </a:xfrm>
          <a:prstGeom prst="line">
            <a:avLst/>
          </a:prstGeom>
          <a:noFill/>
          <a:ln w="12700">
            <a:solidFill>
              <a:srgbClr val="141413">
                <a:alpha val="22000"/>
              </a:srgbClr>
            </a:solidFill>
            <a:prstDash val="solid"/>
          </a:ln>
        </p:spPr>
      </p:sp>
      <p:sp>
        <p:nvSpPr>
          <p:cNvPr id="20" name="Shape 17"/>
          <p:cNvSpPr/>
          <p:nvPr/>
        </p:nvSpPr>
        <p:spPr>
          <a:xfrm>
            <a:off x="819150" y="2844205"/>
            <a:ext cx="0" cy="2094905"/>
          </a:xfrm>
          <a:prstGeom prst="line">
            <a:avLst/>
          </a:prstGeom>
          <a:noFill/>
          <a:ln w="12700">
            <a:solidFill>
              <a:srgbClr val="141413">
                <a:alpha val="22000"/>
              </a:srgbClr>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52500" y="2933105"/>
          <a:ext cx="10299700" cy="1929805"/>
        </p:xfrm>
        <a:graphic>
          <a:graphicData uri="http://schemas.openxmlformats.org/drawingml/2006/table">
            <a:tbl>
              <a:tblPr/>
              <a:tblGrid>
                <a:gridCol w="4634865"/>
                <a:gridCol w="5664835"/>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Cuello hallado en el L9</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Cambio típico en el L10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retriever se llama siempre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Escribir el "cuándo NO" en su docstring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Dos tools se confunden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Separar ambas docstrings (lo que dice la matriz)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historial dispara el costo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Recortar o resumir el historial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Reintentos frecuentes de extracción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Partir el esquema en dos, o añadir few-shot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22" name="Text 18"/>
          <p:cNvSpPr/>
          <p:nvPr/>
        </p:nvSpPr>
        <p:spPr>
          <a:xfrm>
            <a:off x="812800" y="51931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 cambio por medición: uno solo y trazable al Avance 2.</a:t>
            </a:r>
            <a:endParaRPr lang="en-US" sz="1600" dirty="0"/>
          </a:p>
        </p:txBody>
      </p:sp>
      <p:sp>
        <p:nvSpPr>
          <p:cNvPr id="23" name="Text 19"/>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28/35</a:t>
            </a:r>
            <a:endParaRPr lang="en-US" sz="1200" dirty="0"/>
          </a:p>
        </p:txBody>
      </p:sp>
      <p:pic>
        <p:nvPicPr>
          <p:cNvPr id="24"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Parte 4 · v2, comparar y decidir</a:t>
            </a:r>
            <a:endParaRPr lang="en-US" sz="3600" dirty="0"/>
          </a:p>
        </p:txBody>
      </p:sp>
      <p:pic>
        <p:nvPicPr>
          <p:cNvPr id="3" name="Image 0" descr="Laboratorio L10 en 4 partes: dataset, línea base v1, un cambio dirigido y v2">    </p:cNvPr>
          <p:cNvPicPr>
            <a:picLocks noChangeAspect="1"/>
          </p:cNvPicPr>
          <p:nvPr/>
        </p:nvPicPr>
        <p:blipFill>
          <a:blip r:embed="rId1"/>
          <a:srcRect l="-20" r="-20" t="0" b="0"/>
          <a:stretch/>
        </p:blipFill>
        <p:spPr>
          <a:xfrm>
            <a:off x="812800" y="1574205"/>
            <a:ext cx="10566400" cy="1016000"/>
          </a:xfrm>
          <a:prstGeom prst="rect">
            <a:avLst/>
          </a:prstGeom>
        </p:spPr>
      </p:pic>
      <p:sp>
        <p:nvSpPr>
          <p:cNvPr id="4" name="Text 1"/>
          <p:cNvSpPr/>
          <p:nvPr/>
        </p:nvSpPr>
        <p:spPr>
          <a:xfrm>
            <a:off x="14462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1</a:t>
            </a:r>
            <a:endParaRPr lang="en-US" sz="1400" dirty="0"/>
          </a:p>
        </p:txBody>
      </p:sp>
      <p:sp>
        <p:nvSpPr>
          <p:cNvPr id="5" name="Text 2"/>
          <p:cNvSpPr/>
          <p:nvPr/>
        </p:nvSpPr>
        <p:spPr>
          <a:xfrm>
            <a:off x="1044575" y="1999258"/>
            <a:ext cx="144135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Dataset en Langfuse</a:t>
            </a:r>
            <a:endParaRPr lang="en-US" sz="1200" dirty="0"/>
          </a:p>
        </p:txBody>
      </p:sp>
      <p:sp>
        <p:nvSpPr>
          <p:cNvPr id="6" name="Text 3"/>
          <p:cNvSpPr/>
          <p:nvPr/>
        </p:nvSpPr>
        <p:spPr>
          <a:xfrm>
            <a:off x="15015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7" name="Text 4"/>
          <p:cNvSpPr/>
          <p:nvPr/>
        </p:nvSpPr>
        <p:spPr>
          <a:xfrm>
            <a:off x="43354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2</a:t>
            </a:r>
            <a:endParaRPr lang="en-US" sz="1400" dirty="0"/>
          </a:p>
        </p:txBody>
      </p:sp>
      <p:sp>
        <p:nvSpPr>
          <p:cNvPr id="8" name="Text 5"/>
          <p:cNvSpPr/>
          <p:nvPr/>
        </p:nvSpPr>
        <p:spPr>
          <a:xfrm>
            <a:off x="4163020" y="1999258"/>
            <a:ext cx="98296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Línea base v1</a:t>
            </a:r>
            <a:endParaRPr lang="en-US" sz="1200" dirty="0"/>
          </a:p>
        </p:txBody>
      </p:sp>
      <p:sp>
        <p:nvSpPr>
          <p:cNvPr id="9" name="Text 6"/>
          <p:cNvSpPr/>
          <p:nvPr/>
        </p:nvSpPr>
        <p:spPr>
          <a:xfrm>
            <a:off x="43908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25 min</a:t>
            </a:r>
            <a:endParaRPr lang="en-US" sz="1200" dirty="0"/>
          </a:p>
        </p:txBody>
      </p:sp>
      <p:sp>
        <p:nvSpPr>
          <p:cNvPr id="10" name="Text 7"/>
          <p:cNvSpPr/>
          <p:nvPr/>
        </p:nvSpPr>
        <p:spPr>
          <a:xfrm>
            <a:off x="721836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3</a:t>
            </a:r>
            <a:endParaRPr lang="en-US" sz="1400" dirty="0"/>
          </a:p>
        </p:txBody>
      </p:sp>
      <p:sp>
        <p:nvSpPr>
          <p:cNvPr id="11" name="Text 8"/>
          <p:cNvSpPr/>
          <p:nvPr/>
        </p:nvSpPr>
        <p:spPr>
          <a:xfrm>
            <a:off x="6873180" y="1999258"/>
            <a:ext cx="132844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Un cambio dirigido</a:t>
            </a:r>
            <a:endParaRPr lang="en-US" sz="1200" dirty="0"/>
          </a:p>
        </p:txBody>
      </p:sp>
      <p:sp>
        <p:nvSpPr>
          <p:cNvPr id="12" name="Text 9"/>
          <p:cNvSpPr/>
          <p:nvPr/>
        </p:nvSpPr>
        <p:spPr>
          <a:xfrm>
            <a:off x="727372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40 min</a:t>
            </a:r>
            <a:endParaRPr lang="en-US" sz="1200" dirty="0"/>
          </a:p>
        </p:txBody>
      </p:sp>
      <p:sp>
        <p:nvSpPr>
          <p:cNvPr id="13" name="Text 10"/>
          <p:cNvSpPr/>
          <p:nvPr/>
        </p:nvSpPr>
        <p:spPr>
          <a:xfrm>
            <a:off x="10107613" y="1758752"/>
            <a:ext cx="63807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Parte 4</a:t>
            </a:r>
            <a:endParaRPr lang="en-US" sz="1400" dirty="0"/>
          </a:p>
        </p:txBody>
      </p:sp>
      <p:sp>
        <p:nvSpPr>
          <p:cNvPr id="14" name="Text 11"/>
          <p:cNvSpPr/>
          <p:nvPr/>
        </p:nvSpPr>
        <p:spPr>
          <a:xfrm>
            <a:off x="9642475" y="1999258"/>
            <a:ext cx="15684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v2, comparar y decidir</a:t>
            </a:r>
            <a:endParaRPr lang="en-US" sz="1200" dirty="0"/>
          </a:p>
        </p:txBody>
      </p:sp>
      <p:sp>
        <p:nvSpPr>
          <p:cNvPr id="15" name="Text 12"/>
          <p:cNvSpPr/>
          <p:nvPr/>
        </p:nvSpPr>
        <p:spPr>
          <a:xfrm>
            <a:off x="10162977" y="2215158"/>
            <a:ext cx="52744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30 min</a:t>
            </a:r>
            <a:endParaRPr lang="en-US" sz="1200" dirty="0"/>
          </a:p>
        </p:txBody>
      </p:sp>
      <p:sp>
        <p:nvSpPr>
          <p:cNvPr id="16" name="Text 13"/>
          <p:cNvSpPr/>
          <p:nvPr/>
        </p:nvSpPr>
        <p:spPr>
          <a:xfrm>
            <a:off x="274320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30 casos</a:t>
            </a:r>
            <a:endParaRPr lang="en-US" sz="1400" dirty="0"/>
          </a:p>
        </p:txBody>
      </p:sp>
      <p:sp>
        <p:nvSpPr>
          <p:cNvPr id="17" name="Text 14"/>
          <p:cNvSpPr/>
          <p:nvPr/>
        </p:nvSpPr>
        <p:spPr>
          <a:xfrm>
            <a:off x="5632450" y="1802805"/>
            <a:ext cx="9271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base v1</a:t>
            </a:r>
            <a:endParaRPr lang="en-US" sz="1400" dirty="0"/>
          </a:p>
        </p:txBody>
      </p:sp>
      <p:sp>
        <p:nvSpPr>
          <p:cNvPr id="18" name="Text 15"/>
          <p:cNvSpPr/>
          <p:nvPr/>
        </p:nvSpPr>
        <p:spPr>
          <a:xfrm>
            <a:off x="8515350" y="1802805"/>
            <a:ext cx="93345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19" name="Text 16"/>
          <p:cNvSpPr/>
          <p:nvPr/>
        </p:nvSpPr>
        <p:spPr>
          <a:xfrm>
            <a:off x="812800" y="284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Vuelve a correr las 30 consultas con el cambio aplicado y compara contra v1 en una tabla.</a:t>
            </a:r>
            <a:endParaRPr lang="en-US" sz="1600" dirty="0"/>
          </a:p>
        </p:txBody>
      </p:sp>
      <p:sp>
        <p:nvSpPr>
          <p:cNvPr id="20" name="Shape 17"/>
          <p:cNvSpPr/>
          <p:nvPr/>
        </p:nvSpPr>
        <p:spPr>
          <a:xfrm>
            <a:off x="819150" y="3384947"/>
            <a:ext cx="5168900" cy="1333897"/>
          </a:xfrm>
          <a:prstGeom prst="roundRect">
            <a:avLst>
              <a:gd name="adj" fmla="val 7141"/>
            </a:avLst>
          </a:prstGeom>
          <a:solidFill>
            <a:srgbClr val="FFFFFF"/>
          </a:solidFill>
          <a:ln w="12700">
            <a:solidFill>
              <a:srgbClr val="1E293B"/>
            </a:solidFill>
            <a:prstDash val="solid"/>
          </a:ln>
        </p:spPr>
      </p:sp>
      <p:sp>
        <p:nvSpPr>
          <p:cNvPr id="21" name="Text 18"/>
          <p:cNvSpPr/>
          <p:nvPr/>
        </p:nvSpPr>
        <p:spPr>
          <a:xfrm>
            <a:off x="1028700" y="359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Mejoró</a:t>
            </a:r>
            <a:endParaRPr lang="en-US" sz="2200" dirty="0"/>
          </a:p>
        </p:txBody>
      </p:sp>
      <p:sp>
        <p:nvSpPr>
          <p:cNvPr id="22" name="Text 19"/>
          <p:cNvSpPr/>
          <p:nvPr/>
        </p:nvSpPr>
        <p:spPr>
          <a:xfrm>
            <a:off x="1028700" y="4025702"/>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Se sostiene en dos corridas y se nombra el cambio que la produjo: se reporta como mejora.</a:t>
            </a:r>
            <a:endParaRPr lang="en-US" sz="1400" dirty="0"/>
          </a:p>
        </p:txBody>
      </p:sp>
      <p:sp>
        <p:nvSpPr>
          <p:cNvPr id="23" name="Shape 20"/>
          <p:cNvSpPr/>
          <p:nvPr/>
        </p:nvSpPr>
        <p:spPr>
          <a:xfrm>
            <a:off x="6203950" y="3384947"/>
            <a:ext cx="5168900" cy="1333897"/>
          </a:xfrm>
          <a:prstGeom prst="roundRect">
            <a:avLst>
              <a:gd name="adj" fmla="val 7141"/>
            </a:avLst>
          </a:prstGeom>
          <a:solidFill>
            <a:srgbClr val="FFFFFF"/>
          </a:solidFill>
          <a:ln w="12700">
            <a:solidFill>
              <a:srgbClr val="1E293B"/>
            </a:solidFill>
            <a:prstDash val="solid"/>
          </a:ln>
        </p:spPr>
      </p:sp>
      <p:sp>
        <p:nvSpPr>
          <p:cNvPr id="24" name="Text 21"/>
          <p:cNvSpPr/>
          <p:nvPr/>
        </p:nvSpPr>
        <p:spPr>
          <a:xfrm>
            <a:off x="6413500" y="359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mejoró</a:t>
            </a:r>
            <a:endParaRPr lang="en-US" sz="2200" dirty="0"/>
          </a:p>
        </p:txBody>
      </p:sp>
      <p:sp>
        <p:nvSpPr>
          <p:cNvPr id="25" name="Text 22"/>
          <p:cNvSpPr/>
          <p:nvPr/>
        </p:nvSpPr>
        <p:spPr>
          <a:xfrm>
            <a:off x="6413500" y="4025702"/>
            <a:ext cx="489229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Se documenta la hipótesis y por qué se descartó: vale lo mismo que un resultado positivo.</a:t>
            </a:r>
            <a:endParaRPr lang="en-US" sz="1400" dirty="0"/>
          </a:p>
        </p:txBody>
      </p:sp>
      <p:sp>
        <p:nvSpPr>
          <p:cNvPr id="26" name="Text 23"/>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29/35</a:t>
            </a:r>
            <a:endParaRPr lang="en-US" sz="1200" dirty="0"/>
          </a:p>
        </p:txBody>
      </p:sp>
      <p:pic>
        <p:nvPicPr>
          <p:cNvPr id="27"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Entregables y criterio de aceptación</a:t>
            </a:r>
            <a:endParaRPr lang="en-US" sz="3600" dirty="0"/>
          </a:p>
        </p:txBody>
      </p:sp>
      <p:sp>
        <p:nvSpPr>
          <p:cNvPr id="3" name="Shape 1"/>
          <p:cNvSpPr/>
          <p:nvPr/>
        </p:nvSpPr>
        <p:spPr>
          <a:xfrm>
            <a:off x="812800" y="1580555"/>
            <a:ext cx="10566400" cy="0"/>
          </a:xfrm>
          <a:prstGeom prst="line">
            <a:avLst/>
          </a:prstGeom>
          <a:noFill/>
          <a:ln w="12700">
            <a:solidFill>
              <a:srgbClr val="141413">
                <a:alpha val="22000"/>
              </a:srgbClr>
            </a:solidFill>
            <a:prstDash val="solid"/>
          </a:ln>
        </p:spPr>
      </p:sp>
      <p:sp>
        <p:nvSpPr>
          <p:cNvPr id="4" name="Shape 2"/>
          <p:cNvSpPr/>
          <p:nvPr/>
        </p:nvSpPr>
        <p:spPr>
          <a:xfrm>
            <a:off x="819150" y="1574205"/>
            <a:ext cx="0" cy="2094905"/>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663105"/>
          <a:ext cx="10299700" cy="1929805"/>
        </p:xfrm>
        <a:graphic>
          <a:graphicData uri="http://schemas.openxmlformats.org/drawingml/2006/table">
            <a:tbl>
              <a:tblPr/>
              <a:tblGrid>
                <a:gridCol w="5664835"/>
                <a:gridCol w="4634865"/>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Entregable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Ruta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evals/dataset.py y evals/evaluadores.py</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Repositorio del equipo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Dataset de 30 casos visible en Langfuse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Proyecto de Langfuse del equipo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INFORME-L10.md con la tabla v1 vs v2</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Avance 3 del M3</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lab/&lt;tu-track&gt;/avance-3-m3.md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6" name="Shape 3"/>
          <p:cNvSpPr/>
          <p:nvPr/>
        </p:nvSpPr>
        <p:spPr>
          <a:xfrm>
            <a:off x="819150" y="3929459"/>
            <a:ext cx="10553700" cy="1778893"/>
          </a:xfrm>
          <a:prstGeom prst="roundRect">
            <a:avLst>
              <a:gd name="adj" fmla="val 5354"/>
            </a:avLst>
          </a:prstGeom>
          <a:solidFill>
            <a:srgbClr val="FFFFFF"/>
          </a:solidFill>
          <a:ln w="12700">
            <a:solidFill>
              <a:srgbClr val="1E293B"/>
            </a:solidFill>
            <a:prstDash val="solid"/>
          </a:ln>
        </p:spPr>
      </p:sp>
      <p:sp>
        <p:nvSpPr>
          <p:cNvPr id="7" name="Text 4"/>
          <p:cNvSpPr/>
          <p:nvPr/>
        </p:nvSpPr>
        <p:spPr>
          <a:xfrm>
            <a:off x="1028700" y="4139009"/>
            <a:ext cx="1043863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Criterio de aceptación</a:t>
            </a:r>
            <a:endParaRPr lang="en-US" sz="2200" dirty="0"/>
          </a:p>
        </p:txBody>
      </p:sp>
      <p:sp>
        <p:nvSpPr>
          <p:cNvPr id="8" name="Text 5"/>
          <p:cNvSpPr/>
          <p:nvPr/>
        </p:nvSpPr>
        <p:spPr>
          <a:xfrm>
            <a:off x="1028700" y="4570214"/>
            <a:ext cx="10438638"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 Los 30 casos corriendo con los 3 evaluators.</a:t>
            </a:r>
            <a:endParaRPr lang="en-US" sz="1400" dirty="0"/>
          </a:p>
        </p:txBody>
      </p:sp>
      <p:sp>
        <p:nvSpPr>
          <p:cNvPr id="9" name="Text 6"/>
          <p:cNvSpPr/>
          <p:nvPr/>
        </p:nvSpPr>
        <p:spPr>
          <a:xfrm>
            <a:off x="1028700" y="4913610"/>
            <a:ext cx="10438638"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 Mejora medible de v1 a v2, con tabla comparativa por métrica; o, si no mejoró, la hipótesis y por qué se descartó.</a:t>
            </a:r>
            <a:endParaRPr lang="en-US" sz="1400" dirty="0"/>
          </a:p>
        </p:txBody>
      </p:sp>
      <p:sp>
        <p:nvSpPr>
          <p:cNvPr id="10" name="Text 7"/>
          <p:cNvSpPr/>
          <p:nvPr/>
        </p:nvSpPr>
        <p:spPr>
          <a:xfrm>
            <a:off x="1028700" y="5257006"/>
            <a:ext cx="10438638"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 El informe nombra el cambio (o el intento) y el cuello del L9 que atacaba.</a:t>
            </a:r>
            <a:endParaRPr lang="en-US" sz="1400" dirty="0"/>
          </a:p>
        </p:txBody>
      </p:sp>
      <p:sp>
        <p:nvSpPr>
          <p:cNvPr id="11" name="Text 8"/>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30/35</a:t>
            </a:r>
            <a:endParaRPr lang="en-US" sz="1200" dirty="0"/>
          </a:p>
        </p:txBody>
      </p:sp>
      <p:pic>
        <p:nvPicPr>
          <p:cNvPr id="12"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INFORME-L10</a:t>
            </a:r>
            <a:endParaRPr lang="en-US" sz="3600" dirty="0"/>
          </a:p>
        </p:txBody>
      </p:sp>
      <p:sp>
        <p:nvSpPr>
          <p:cNvPr id="3" name="Text 1"/>
          <p:cNvSpPr/>
          <p:nvPr/>
        </p:nvSpPr>
        <p:spPr>
          <a:xfrm>
            <a:off x="812800" y="15742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Plantilla: solucion/&lt;track&gt;/INFORME-L10.md · se completa con datos reales de v1 y v2</a:t>
            </a:r>
            <a:endParaRPr lang="en-US" sz="1400" dirty="0"/>
          </a:p>
        </p:txBody>
      </p:sp>
      <p:sp>
        <p:nvSpPr>
          <p:cNvPr id="4" name="Shape 2"/>
          <p:cNvSpPr/>
          <p:nvPr/>
        </p:nvSpPr>
        <p:spPr>
          <a:xfrm>
            <a:off x="819150" y="2049661"/>
            <a:ext cx="3289300" cy="3050977"/>
          </a:xfrm>
          <a:prstGeom prst="roundRect">
            <a:avLst>
              <a:gd name="adj" fmla="val 3122"/>
            </a:avLst>
          </a:prstGeom>
          <a:solidFill>
            <a:srgbClr val="FFFFFF"/>
          </a:solidFill>
          <a:ln w="12700">
            <a:solidFill>
              <a:srgbClr val="1E293B"/>
            </a:solidFill>
            <a:prstDash val="solid"/>
          </a:ln>
        </p:spPr>
      </p:sp>
      <p:sp>
        <p:nvSpPr>
          <p:cNvPr id="5" name="Text 3"/>
          <p:cNvSpPr/>
          <p:nvPr/>
        </p:nvSpPr>
        <p:spPr>
          <a:xfrm>
            <a:off x="1028700" y="2259211"/>
            <a:ext cx="295630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Secciones</a:t>
            </a:r>
            <a:endParaRPr lang="en-US" sz="2200" dirty="0"/>
          </a:p>
        </p:txBody>
      </p:sp>
      <p:sp>
        <p:nvSpPr>
          <p:cNvPr id="6" name="Text 4"/>
          <p:cNvSpPr/>
          <p:nvPr/>
        </p:nvSpPr>
        <p:spPr>
          <a:xfrm>
            <a:off x="1028700" y="2690416"/>
            <a:ext cx="2956306"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1. Cuello de botella atacado</a:t>
            </a:r>
            <a:endParaRPr lang="en-US" sz="1400" dirty="0"/>
          </a:p>
        </p:txBody>
      </p:sp>
      <p:sp>
        <p:nvSpPr>
          <p:cNvPr id="7" name="Text 5"/>
          <p:cNvSpPr/>
          <p:nvPr/>
        </p:nvSpPr>
        <p:spPr>
          <a:xfrm>
            <a:off x="1028700" y="3033812"/>
            <a:ext cx="2956306"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2. El cambio (uno solo)</a:t>
            </a:r>
            <a:endParaRPr lang="en-US" sz="1400" dirty="0"/>
          </a:p>
        </p:txBody>
      </p:sp>
      <p:sp>
        <p:nvSpPr>
          <p:cNvPr id="8" name="Text 6"/>
          <p:cNvSpPr/>
          <p:nvPr/>
        </p:nvSpPr>
        <p:spPr>
          <a:xfrm>
            <a:off x="1028700" y="3377208"/>
            <a:ext cx="2956306"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3. Tabla v1 vs v2</a:t>
            </a:r>
            <a:endParaRPr lang="en-US" sz="1400" dirty="0"/>
          </a:p>
        </p:txBody>
      </p:sp>
      <p:sp>
        <p:nvSpPr>
          <p:cNvPr id="9" name="Text 7"/>
          <p:cNvSpPr/>
          <p:nvPr/>
        </p:nvSpPr>
        <p:spPr>
          <a:xfrm>
            <a:off x="1028700" y="3720604"/>
            <a:ext cx="2956306"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4. ¿Se sostiene la mejora?</a:t>
            </a:r>
            <a:endParaRPr lang="en-US" sz="1400" dirty="0"/>
          </a:p>
        </p:txBody>
      </p:sp>
      <p:sp>
        <p:nvSpPr>
          <p:cNvPr id="10" name="Text 8"/>
          <p:cNvSpPr/>
          <p:nvPr/>
        </p:nvSpPr>
        <p:spPr>
          <a:xfrm>
            <a:off x="1028700" y="4064000"/>
            <a:ext cx="2956306"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5. Si v2 NO mejoró</a:t>
            </a:r>
            <a:endParaRPr lang="en-US" sz="1400" dirty="0"/>
          </a:p>
        </p:txBody>
      </p:sp>
      <p:sp>
        <p:nvSpPr>
          <p:cNvPr id="11" name="Shape 9"/>
          <p:cNvSpPr/>
          <p:nvPr/>
        </p:nvSpPr>
        <p:spPr>
          <a:xfrm>
            <a:off x="4318000" y="2049661"/>
            <a:ext cx="7061200" cy="0"/>
          </a:xfrm>
          <a:prstGeom prst="line">
            <a:avLst/>
          </a:prstGeom>
          <a:noFill/>
          <a:ln w="12700">
            <a:solidFill>
              <a:srgbClr val="141413">
                <a:alpha val="22000"/>
              </a:srgbClr>
            </a:solidFill>
            <a:prstDash val="solid"/>
          </a:ln>
        </p:spPr>
      </p:sp>
      <p:sp>
        <p:nvSpPr>
          <p:cNvPr id="12" name="Shape 10"/>
          <p:cNvSpPr/>
          <p:nvPr/>
        </p:nvSpPr>
        <p:spPr>
          <a:xfrm>
            <a:off x="4324350" y="2043311"/>
            <a:ext cx="0" cy="1602184"/>
          </a:xfrm>
          <a:prstGeom prst="line">
            <a:avLst/>
          </a:prstGeom>
          <a:noFill/>
          <a:ln w="12700">
            <a:solidFill>
              <a:srgbClr val="141413">
                <a:alpha val="22000"/>
              </a:srgbClr>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57700" y="2132211"/>
          <a:ext cx="6794500" cy="1437084"/>
        </p:xfrm>
        <a:graphic>
          <a:graphicData uri="http://schemas.openxmlformats.org/drawingml/2006/table">
            <a:tbl>
              <a:tblPr/>
              <a:tblGrid>
                <a:gridCol w="2106295"/>
                <a:gridCol w="1562735"/>
                <a:gridCol w="1562735"/>
                <a:gridCol w="1562735"/>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Métrica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v1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¿Mejoró?</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Uso correcto de tool</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&lt;sí/no/igual&gt;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Exactitud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&lt;sí/no/igual&gt;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Groundedness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&lt;N&gt;/30 = 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&lt;sí/no/igual&gt;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4" name="Shape 11"/>
          <p:cNvSpPr/>
          <p:nvPr/>
        </p:nvSpPr>
        <p:spPr>
          <a:xfrm>
            <a:off x="4324350" y="3804245"/>
            <a:ext cx="7048500" cy="1296392"/>
          </a:xfrm>
          <a:prstGeom prst="roundRect">
            <a:avLst>
              <a:gd name="adj" fmla="val 7347"/>
            </a:avLst>
          </a:prstGeom>
          <a:solidFill>
            <a:srgbClr val="FFFFFF"/>
          </a:solidFill>
          <a:ln w="12700">
            <a:solidFill>
              <a:srgbClr val="1E293B"/>
            </a:solidFill>
            <a:prstDash val="solid"/>
          </a:ln>
        </p:spPr>
      </p:sp>
      <p:sp>
        <p:nvSpPr>
          <p:cNvPr id="15" name="Text 12"/>
          <p:cNvSpPr/>
          <p:nvPr/>
        </p:nvSpPr>
        <p:spPr>
          <a:xfrm>
            <a:off x="4533900" y="4013795"/>
            <a:ext cx="682828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 ] Corrí v2 dos veces y el resultado se mantiene.</a:t>
            </a:r>
            <a:endParaRPr lang="en-US" sz="1400" dirty="0"/>
          </a:p>
        </p:txBody>
      </p:sp>
      <p:sp>
        <p:nvSpPr>
          <p:cNvPr id="16" name="Text 13"/>
          <p:cNvSpPr/>
          <p:nvPr/>
        </p:nvSpPr>
        <p:spPr>
          <a:xfrm>
            <a:off x="4533900" y="4357191"/>
            <a:ext cx="682828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 ] Puedo señalar exactamente qué cambio produjo la diferencia.</a:t>
            </a:r>
            <a:endParaRPr lang="en-US" sz="1400" dirty="0"/>
          </a:p>
        </p:txBody>
      </p:sp>
      <p:sp>
        <p:nvSpPr>
          <p:cNvPr id="17" name="Text 14"/>
          <p:cNvSpPr/>
          <p:nvPr/>
        </p:nvSpPr>
        <p:spPr>
          <a:xfrm>
            <a:off x="4533900" y="4700588"/>
            <a:ext cx="682828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Casilla sin marcar: se documenta como hipótesis pendiente, no como mejora.</a:t>
            </a:r>
            <a:endParaRPr lang="en-US" sz="1200" dirty="0"/>
          </a:p>
        </p:txBody>
      </p:sp>
      <p:sp>
        <p:nvSpPr>
          <p:cNvPr id="18" name="Text 15"/>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31/35</a:t>
            </a:r>
            <a:endParaRPr lang="en-US" sz="1200" dirty="0"/>
          </a:p>
        </p:txBody>
      </p:sp>
      <p:pic>
        <p:nvPicPr>
          <p:cNvPr id="19"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3 del Módulo 3</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Media página · lab/&lt;tu-track&gt;/avance-3-m3.md</a:t>
            </a:r>
            <a:endParaRPr lang="en-US" sz="1600" dirty="0"/>
          </a:p>
        </p:txBody>
      </p:sp>
      <p:sp>
        <p:nvSpPr>
          <p:cNvPr id="4" name="Shape 2"/>
          <p:cNvSpPr/>
          <p:nvPr/>
        </p:nvSpPr>
        <p:spPr>
          <a:xfrm>
            <a:off x="819150" y="2114947"/>
            <a:ext cx="5168900" cy="1411089"/>
          </a:xfrm>
          <a:prstGeom prst="roundRect">
            <a:avLst>
              <a:gd name="adj" fmla="val 6750"/>
            </a:avLst>
          </a:prstGeom>
          <a:solidFill>
            <a:srgbClr val="FFFFFF"/>
          </a:solidFill>
          <a:ln w="12700">
            <a:solidFill>
              <a:srgbClr val="1E293B"/>
            </a:solidFill>
            <a:prstDash val="solid"/>
          </a:ln>
        </p:spPr>
      </p:sp>
      <p:sp>
        <p:nvSpPr>
          <p:cNvPr id="5" name="Text 3"/>
          <p:cNvSpPr/>
          <p:nvPr/>
        </p:nvSpPr>
        <p:spPr>
          <a:xfrm>
            <a:off x="1028700" y="232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Resultado de la optimización</a:t>
            </a:r>
            <a:endParaRPr lang="en-US" sz="2200" dirty="0"/>
          </a:p>
        </p:txBody>
      </p:sp>
      <p:sp>
        <p:nvSpPr>
          <p:cNvPr id="6" name="Text 4"/>
          <p:cNvSpPr/>
          <p:nvPr/>
        </p:nvSpPr>
        <p:spPr>
          <a:xfrm>
            <a:off x="1028700" y="2755702"/>
            <a:ext cx="489229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v1 → v2, con el número clave y si se sostuvo.</a:t>
            </a:r>
            <a:endParaRPr lang="en-US" sz="1600" dirty="0"/>
          </a:p>
        </p:txBody>
      </p:sp>
      <p:sp>
        <p:nvSpPr>
          <p:cNvPr id="7" name="Shape 5"/>
          <p:cNvSpPr/>
          <p:nvPr/>
        </p:nvSpPr>
        <p:spPr>
          <a:xfrm>
            <a:off x="6203950" y="2114947"/>
            <a:ext cx="5168900" cy="1411089"/>
          </a:xfrm>
          <a:prstGeom prst="roundRect">
            <a:avLst>
              <a:gd name="adj" fmla="val 6750"/>
            </a:avLst>
          </a:prstGeom>
          <a:solidFill>
            <a:srgbClr val="F4F6F8"/>
          </a:solidFill>
          <a:ln w="12700">
            <a:solidFill>
              <a:srgbClr val="526277"/>
            </a:solidFill>
            <a:prstDash val="dash"/>
          </a:ln>
        </p:spPr>
      </p:sp>
      <p:sp>
        <p:nvSpPr>
          <p:cNvPr id="8" name="Text 6"/>
          <p:cNvSpPr/>
          <p:nvPr/>
        </p:nvSpPr>
        <p:spPr>
          <a:xfrm>
            <a:off x="6413500" y="2324497"/>
            <a:ext cx="4892294"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526277"/>
                </a:solidFill>
                <a:latin typeface="IBM Plex Sans" pitchFamily="34" charset="0"/>
                <a:ea typeface="IBM Plex Sans" pitchFamily="34" charset="-122"/>
                <a:cs typeface="IBM Plex Sans" pitchFamily="34" charset="-120"/>
              </a:rPr>
              <a:t>Qué queda para la S11</a:t>
            </a:r>
            <a:endParaRPr lang="en-US" sz="2200" dirty="0"/>
          </a:p>
        </p:txBody>
      </p:sp>
      <p:sp>
        <p:nvSpPr>
          <p:cNvPr id="9" name="Text 7"/>
          <p:cNvSpPr/>
          <p:nvPr/>
        </p:nvSpPr>
        <p:spPr>
          <a:xfrm>
            <a:off x="6413500" y="2755702"/>
            <a:ext cx="48922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Cliente web con streaming + documento de diseño. Nada de contenido nuevo de agentes.</a:t>
            </a:r>
            <a:endParaRPr lang="en-US" sz="1600" dirty="0"/>
          </a:p>
        </p:txBody>
      </p:sp>
      <p:sp>
        <p:nvSpPr>
          <p:cNvPr id="10" name="Text 8"/>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32/35</a:t>
            </a:r>
            <a:endParaRPr lang="en-US" sz="1200" dirty="0"/>
          </a:p>
        </p:txBody>
      </p:sp>
      <p:pic>
        <p:nvPicPr>
          <p:cNvPr id="11"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L10 en el Proyecto Integrador</a:t>
            </a:r>
            <a:endParaRPr lang="en-US" sz="3600" dirty="0"/>
          </a:p>
        </p:txBody>
      </p:sp>
      <p:pic>
        <p:nvPicPr>
          <p:cNvPr id="3" name="Image 0" descr="Proyecto acumulado: L1 a L7, L8 desplegado, L9 trazas, L10 evaluación en foco, L11 se anuncia">    </p:cNvPr>
          <p:cNvPicPr>
            <a:picLocks noChangeAspect="1"/>
          </p:cNvPicPr>
          <p:nvPr/>
        </p:nvPicPr>
        <p:blipFill>
          <a:blip r:embed="rId1"/>
          <a:srcRect l="0" r="0" t="0" b="0"/>
          <a:stretch/>
        </p:blipFill>
        <p:spPr>
          <a:xfrm>
            <a:off x="812800" y="1523405"/>
            <a:ext cx="10566400" cy="825500"/>
          </a:xfrm>
          <a:prstGeom prst="rect">
            <a:avLst/>
          </a:prstGeom>
        </p:spPr>
      </p:pic>
      <p:sp>
        <p:nvSpPr>
          <p:cNvPr id="4" name="Text 1"/>
          <p:cNvSpPr/>
          <p:nvPr/>
        </p:nvSpPr>
        <p:spPr>
          <a:xfrm>
            <a:off x="1210270" y="1625402"/>
            <a:ext cx="55116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L1–L7</a:t>
            </a:r>
            <a:endParaRPr lang="en-US" sz="1400" dirty="0"/>
          </a:p>
        </p:txBody>
      </p:sp>
      <p:sp>
        <p:nvSpPr>
          <p:cNvPr id="5" name="Text 2"/>
          <p:cNvSpPr/>
          <p:nvPr/>
        </p:nvSpPr>
        <p:spPr>
          <a:xfrm>
            <a:off x="914400" y="1865908"/>
            <a:ext cx="11430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agente endurecido</a:t>
            </a:r>
            <a:endParaRPr lang="en-US" sz="1200" dirty="0"/>
          </a:p>
        </p:txBody>
      </p:sp>
      <p:sp>
        <p:nvSpPr>
          <p:cNvPr id="6" name="Text 3"/>
          <p:cNvSpPr/>
          <p:nvPr/>
        </p:nvSpPr>
        <p:spPr>
          <a:xfrm>
            <a:off x="3666530" y="1720652"/>
            <a:ext cx="24874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L8</a:t>
            </a:r>
            <a:endParaRPr lang="en-US" sz="1400" dirty="0"/>
          </a:p>
        </p:txBody>
      </p:sp>
      <p:sp>
        <p:nvSpPr>
          <p:cNvPr id="7" name="Text 4"/>
          <p:cNvSpPr/>
          <p:nvPr/>
        </p:nvSpPr>
        <p:spPr>
          <a:xfrm>
            <a:off x="3368080" y="1961158"/>
            <a:ext cx="84574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desplegado</a:t>
            </a:r>
            <a:endParaRPr lang="en-US" sz="1200" dirty="0"/>
          </a:p>
        </p:txBody>
      </p:sp>
      <p:sp>
        <p:nvSpPr>
          <p:cNvPr id="8" name="Text 5"/>
          <p:cNvSpPr/>
          <p:nvPr/>
        </p:nvSpPr>
        <p:spPr>
          <a:xfrm>
            <a:off x="5971580" y="1720652"/>
            <a:ext cx="24874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L9</a:t>
            </a:r>
            <a:endParaRPr lang="en-US" sz="1400" dirty="0"/>
          </a:p>
        </p:txBody>
      </p:sp>
      <p:sp>
        <p:nvSpPr>
          <p:cNvPr id="9" name="Text 6"/>
          <p:cNvSpPr/>
          <p:nvPr/>
        </p:nvSpPr>
        <p:spPr>
          <a:xfrm>
            <a:off x="5667276" y="1961158"/>
            <a:ext cx="85734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trazabilidad</a:t>
            </a:r>
            <a:endParaRPr lang="en-US" sz="1200" dirty="0"/>
          </a:p>
        </p:txBody>
      </p:sp>
      <p:sp>
        <p:nvSpPr>
          <p:cNvPr id="10" name="Text 7"/>
          <p:cNvSpPr/>
          <p:nvPr/>
        </p:nvSpPr>
        <p:spPr>
          <a:xfrm>
            <a:off x="8223349" y="1625402"/>
            <a:ext cx="3554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L10</a:t>
            </a:r>
            <a:endParaRPr lang="en-US" sz="1400" dirty="0"/>
          </a:p>
        </p:txBody>
      </p:sp>
      <p:sp>
        <p:nvSpPr>
          <p:cNvPr id="11" name="Text 8"/>
          <p:cNvSpPr/>
          <p:nvPr/>
        </p:nvSpPr>
        <p:spPr>
          <a:xfrm>
            <a:off x="7829550" y="1865908"/>
            <a:ext cx="11430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evaluación v1 vs v2</a:t>
            </a:r>
            <a:endParaRPr lang="en-US" sz="1200" dirty="0"/>
          </a:p>
        </p:txBody>
      </p:sp>
      <p:sp>
        <p:nvSpPr>
          <p:cNvPr id="12" name="Text 9"/>
          <p:cNvSpPr/>
          <p:nvPr/>
        </p:nvSpPr>
        <p:spPr>
          <a:xfrm>
            <a:off x="10528399" y="1625402"/>
            <a:ext cx="3554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L11</a:t>
            </a:r>
            <a:endParaRPr lang="en-US" sz="1400" dirty="0"/>
          </a:p>
        </p:txBody>
      </p:sp>
      <p:sp>
        <p:nvSpPr>
          <p:cNvPr id="13" name="Text 10"/>
          <p:cNvSpPr/>
          <p:nvPr/>
        </p:nvSpPr>
        <p:spPr>
          <a:xfrm>
            <a:off x="10134600" y="1865908"/>
            <a:ext cx="11430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se anuncia</a:t>
            </a:r>
            <a:endParaRPr lang="en-US" sz="1200" dirty="0"/>
          </a:p>
        </p:txBody>
      </p:sp>
      <p:sp>
        <p:nvSpPr>
          <p:cNvPr id="14" name="Text 11"/>
          <p:cNvSpPr/>
          <p:nvPr/>
        </p:nvSpPr>
        <p:spPr>
          <a:xfrm>
            <a:off x="2159000" y="1669455"/>
            <a:ext cx="95885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despliega</a:t>
            </a:r>
            <a:endParaRPr lang="en-US" sz="1200" dirty="0"/>
          </a:p>
        </p:txBody>
      </p:sp>
      <p:sp>
        <p:nvSpPr>
          <p:cNvPr id="15" name="Text 12"/>
          <p:cNvSpPr/>
          <p:nvPr/>
        </p:nvSpPr>
        <p:spPr>
          <a:xfrm>
            <a:off x="4464050" y="1669455"/>
            <a:ext cx="95885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se traza</a:t>
            </a:r>
            <a:endParaRPr lang="en-US" sz="1200" dirty="0"/>
          </a:p>
        </p:txBody>
      </p:sp>
      <p:sp>
        <p:nvSpPr>
          <p:cNvPr id="16" name="Text 13"/>
          <p:cNvSpPr/>
          <p:nvPr/>
        </p:nvSpPr>
        <p:spPr>
          <a:xfrm>
            <a:off x="6769100" y="1669455"/>
            <a:ext cx="95885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cuellos</a:t>
            </a:r>
            <a:endParaRPr lang="en-US" sz="1200" dirty="0"/>
          </a:p>
        </p:txBody>
      </p:sp>
      <p:sp>
        <p:nvSpPr>
          <p:cNvPr id="17" name="Text 14"/>
          <p:cNvSpPr/>
          <p:nvPr/>
        </p:nvSpPr>
        <p:spPr>
          <a:xfrm>
            <a:off x="9074150" y="1669455"/>
            <a:ext cx="95885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evidencia</a:t>
            </a:r>
            <a:endParaRPr lang="en-US" sz="1200" dirty="0"/>
          </a:p>
        </p:txBody>
      </p:sp>
      <p:sp>
        <p:nvSpPr>
          <p:cNvPr id="18" name="Text 15"/>
          <p:cNvSpPr/>
          <p:nvPr/>
        </p:nvSpPr>
        <p:spPr>
          <a:xfrm>
            <a:off x="812800" y="255210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Entregable que aporta el L10: evaluación v1 vs v2 sobre 30 casos.</a:t>
            </a:r>
            <a:endParaRPr lang="en-US" sz="1400" dirty="0"/>
          </a:p>
        </p:txBody>
      </p:sp>
      <p:sp>
        <p:nvSpPr>
          <p:cNvPr id="19" name="Shape 16"/>
          <p:cNvSpPr/>
          <p:nvPr/>
        </p:nvSpPr>
        <p:spPr>
          <a:xfrm>
            <a:off x="812800" y="2976761"/>
            <a:ext cx="10566400" cy="0"/>
          </a:xfrm>
          <a:prstGeom prst="line">
            <a:avLst/>
          </a:prstGeom>
          <a:noFill/>
          <a:ln w="12700">
            <a:solidFill>
              <a:srgbClr val="141413">
                <a:alpha val="22000"/>
              </a:srgbClr>
            </a:solidFill>
            <a:prstDash val="solid"/>
          </a:ln>
        </p:spPr>
      </p:sp>
      <p:sp>
        <p:nvSpPr>
          <p:cNvPr id="20" name="Shape 17"/>
          <p:cNvSpPr/>
          <p:nvPr/>
        </p:nvSpPr>
        <p:spPr>
          <a:xfrm>
            <a:off x="819150" y="2970411"/>
            <a:ext cx="0" cy="2254647"/>
          </a:xfrm>
          <a:prstGeom prst="line">
            <a:avLst/>
          </a:prstGeom>
          <a:noFill/>
          <a:ln w="12700">
            <a:solidFill>
              <a:srgbClr val="141413">
                <a:alpha val="22000"/>
              </a:srgbClr>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52500" y="3059311"/>
          <a:ext cx="10299700" cy="2089547"/>
        </p:xfrm>
        <a:graphic>
          <a:graphicData uri="http://schemas.openxmlformats.org/drawingml/2006/table">
            <a:tbl>
              <a:tblPr/>
              <a:tblGrid>
                <a:gridCol w="1647952"/>
                <a:gridCol w="8651748"/>
              </a:tblGrid>
              <a:tr h="332581">
                <a:tc>
                  <a:txBody>
                    <a:bodyPr/>
                    <a:lstStyle/>
                    <a:p>
                      <a:pPr indent="0" marL="0">
                        <a:lnSpc>
                          <a:spcPts val="1680"/>
                        </a:lnSpc>
                        <a:buNone/>
                      </a:pPr>
                      <a:r>
                        <a:rPr lang="en-US" sz="1200" b="1" dirty="0">
                          <a:solidFill>
                            <a:srgbClr val="1E293B"/>
                          </a:solidFill>
                          <a:latin typeface="IBM Plex Sans" pitchFamily="34" charset="0"/>
                          <a:ea typeface="IBM Plex Sans" pitchFamily="34" charset="-122"/>
                          <a:cs typeface="IBM Plex Sans" pitchFamily="34" charset="-120"/>
                        </a:rPr>
                        <a:t>Nivel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680"/>
                        </a:lnSpc>
                        <a:buNone/>
                      </a:pPr>
                      <a:r>
                        <a:rPr lang="en-US" sz="1200" b="1" dirty="0">
                          <a:solidFill>
                            <a:srgbClr val="1E293B"/>
                          </a:solidFill>
                          <a:latin typeface="IBM Plex Sans" pitchFamily="34" charset="0"/>
                          <a:ea typeface="IBM Plex Sans" pitchFamily="34" charset="-122"/>
                          <a:cs typeface="IBM Plex Sans" pitchFamily="34" charset="-120"/>
                        </a:rPr>
                        <a:t>Observabilidad y evaluación · 20 % de la rúbrica final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332581">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Insuficiente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No hay trazas del Space real, o el golden set no corrió con los 3 evaluators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581">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En desarrollo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Hay trazas y evaluación, pero el equipo no puede nombrar qué cambio produjo la diferencia entre v1 y v2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545902">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Competente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Trazas reales del Space, 30 casos evaluados con los 3 evaluators determinísticos, y una mejora v1→v2 (o un experimento negativo) argumentada con el cambio que la causó</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45902">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Destacado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680"/>
                        </a:lnSpc>
                        <a:buNone/>
                      </a:pPr>
                      <a:r>
                        <a:rPr lang="en-US" sz="1200" dirty="0">
                          <a:solidFill>
                            <a:srgbClr val="1E293B"/>
                          </a:solidFill>
                          <a:latin typeface="IBM Plex Sans" pitchFamily="34" charset="0"/>
                          <a:ea typeface="IBM Plex Sans" pitchFamily="34" charset="-122"/>
                          <a:cs typeface="IBM Plex Sans" pitchFamily="34" charset="-120"/>
                        </a:rPr>
                        <a:t>El equipo distingue explícitamente el rol del juez (demo) del rol de los evaluators determinísticos (nota), y por qué esa distinción importa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22" name="Text 18"/>
          <p:cNvSpPr/>
          <p:nvPr/>
        </p:nvSpPr>
        <p:spPr>
          <a:xfrm>
            <a:off x="812800" y="6229350"/>
            <a:ext cx="208028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Laboratorio L10 · 33/35</a:t>
            </a:r>
            <a:endParaRPr lang="en-US" sz="1200" dirty="0"/>
          </a:p>
        </p:txBody>
      </p:sp>
      <p:pic>
        <p:nvPicPr>
          <p:cNvPr id="23" name="Image 1"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812800" y="1580555"/>
            <a:ext cx="10566400" cy="0"/>
          </a:xfrm>
          <a:prstGeom prst="line">
            <a:avLst/>
          </a:prstGeom>
          <a:noFill/>
          <a:ln w="12700">
            <a:solidFill>
              <a:srgbClr val="141413">
                <a:alpha val="22000"/>
              </a:srgbClr>
            </a:solidFill>
            <a:prstDash val="solid"/>
          </a:ln>
        </p:spPr>
      </p:sp>
      <p:sp>
        <p:nvSpPr>
          <p:cNvPr id="4" name="Shape 2"/>
          <p:cNvSpPr/>
          <p:nvPr/>
        </p:nvSpPr>
        <p:spPr>
          <a:xfrm>
            <a:off x="819150" y="1574205"/>
            <a:ext cx="0" cy="2361307"/>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500" y="1663105"/>
          <a:ext cx="10299700" cy="2196207"/>
        </p:xfrm>
        <a:graphic>
          <a:graphicData uri="http://schemas.openxmlformats.org/drawingml/2006/table">
            <a:tbl>
              <a:tblPr/>
              <a:tblGrid>
                <a:gridCol w="4634865"/>
                <a:gridCol w="5664835"/>
              </a:tblGrid>
              <a:tr h="439241">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No entra</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240"/>
                        </a:lnSpc>
                        <a:buNone/>
                      </a:pPr>
                      <a:r>
                        <a:rPr lang="en-US" sz="1600" b="1" dirty="0">
                          <a:solidFill>
                            <a:srgbClr val="1E293B"/>
                          </a:solidFill>
                          <a:latin typeface="IBM Plex Sans" pitchFamily="34" charset="0"/>
                          <a:ea typeface="IBM Plex Sans" pitchFamily="34" charset="-122"/>
                          <a:cs typeface="IBM Plex Sans" pitchFamily="34" charset="-120"/>
                        </a:rPr>
                        <a:t>Va en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0" cap="flat" cmpd="sng" algn="ctr">
                      <a:noFill/>
                    </a:lnT>
                    <a:lnB w="12700" cap="flat" cmpd="sng" algn="ctr">
                      <a:solidFill>
                        <a:srgbClr val="BAC0C5"/>
                      </a:solidFill>
                      <a:prstDash val="solid"/>
                      <a:round/>
                      <a:headEnd type="none" w="med" len="med"/>
                      <a:tailEnd type="none" w="med" len="med"/>
                    </a:lnB>
                    <a:solidFill>
                      <a:srgbClr val="E9F0F7"/>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El cliente web y la demo final</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S11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RAGAS en profundidad</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Mención y enlace · complemento opcional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Evaluación en CI / pipeline automatizado</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Se menciona como cierre, no se implementa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9241">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Fine-tuning como vía de mejora</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2240"/>
                        </a:lnSpc>
                        <a:buNone/>
                      </a:pPr>
                      <a:r>
                        <a:rPr lang="en-US" sz="1600" dirty="0">
                          <a:solidFill>
                            <a:srgbClr val="1E293B"/>
                          </a:solidFill>
                          <a:latin typeface="IBM Plex Sans" pitchFamily="34" charset="0"/>
                          <a:ea typeface="IBM Plex Sans" pitchFamily="34" charset="-122"/>
                          <a:cs typeface="IBM Plex Sans" pitchFamily="34" charset="-120"/>
                        </a:rPr>
                        <a:t>Fuera del alcance; se trabaja con prompts y RAG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6" name="Text 3"/>
          <p:cNvSpPr/>
          <p:nvPr/>
        </p:nvSpPr>
        <p:spPr>
          <a:xfrm>
            <a:off x="812800" y="418951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Documentación oficial de RAGAS: </a:t>
            </a:r>
            <a:r>
              <a:rPr lang="en-US" sz="1600" u="sng" dirty="0">
                <a:solidFill>
                  <a:srgbClr val="526277"/>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docs.ragas.io</a:t>
            </a:r>
            <a:endParaRPr lang="en-US" sz="1600" dirty="0"/>
          </a:p>
        </p:txBody>
      </p:sp>
      <p:sp>
        <p:nvSpPr>
          <p:cNvPr id="7" name="Text 4"/>
          <p:cNvSpPr/>
          <p:nvPr/>
        </p:nvSpPr>
        <p:spPr>
          <a:xfrm>
            <a:off x="812800" y="6229350"/>
            <a:ext cx="14007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Cierre · 34/35</a:t>
            </a:r>
            <a:endParaRPr lang="en-US" sz="1200" dirty="0"/>
          </a:p>
        </p:txBody>
      </p:sp>
      <p:pic>
        <p:nvPicPr>
          <p:cNvPr id="8" name="Image 0" descr="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Cierre y siguiente sesión</a:t>
            </a:r>
            <a:endParaRPr lang="en-US" sz="3600" dirty="0"/>
          </a:p>
        </p:txBody>
      </p:sp>
      <p:sp>
        <p:nvSpPr>
          <p:cNvPr id="3" name="Shape 1"/>
          <p:cNvSpPr/>
          <p:nvPr/>
        </p:nvSpPr>
        <p:spPr>
          <a:xfrm>
            <a:off x="819150" y="1580555"/>
            <a:ext cx="3373934" cy="1691481"/>
          </a:xfrm>
          <a:prstGeom prst="roundRect">
            <a:avLst>
              <a:gd name="adj" fmla="val 5631"/>
            </a:avLst>
          </a:prstGeom>
          <a:solidFill>
            <a:srgbClr val="FFFFFF"/>
          </a:solidFill>
          <a:ln w="12700">
            <a:solidFill>
              <a:srgbClr val="1E293B"/>
            </a:solidFill>
            <a:prstDash val="solid"/>
          </a:ln>
        </p:spPr>
      </p:sp>
      <p:sp>
        <p:nvSpPr>
          <p:cNvPr id="4" name="Text 2"/>
          <p:cNvSpPr/>
          <p:nvPr/>
        </p:nvSpPr>
        <p:spPr>
          <a:xfrm>
            <a:off x="1028700"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028700" y="2221309"/>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golden dataset se construye con el sistema, no al final.</a:t>
            </a:r>
            <a:endParaRPr lang="en-US" sz="1600" dirty="0"/>
          </a:p>
        </p:txBody>
      </p:sp>
      <p:sp>
        <p:nvSpPr>
          <p:cNvPr id="6" name="Shape 4"/>
          <p:cNvSpPr/>
          <p:nvPr/>
        </p:nvSpPr>
        <p:spPr>
          <a:xfrm>
            <a:off x="4408984" y="1580555"/>
            <a:ext cx="3374033" cy="1691481"/>
          </a:xfrm>
          <a:prstGeom prst="roundRect">
            <a:avLst>
              <a:gd name="adj" fmla="val 5631"/>
            </a:avLst>
          </a:prstGeom>
          <a:solidFill>
            <a:srgbClr val="FFFFFF"/>
          </a:solidFill>
          <a:ln w="12700">
            <a:solidFill>
              <a:srgbClr val="1E293B"/>
            </a:solidFill>
            <a:prstDash val="solid"/>
          </a:ln>
        </p:spPr>
      </p:sp>
      <p:sp>
        <p:nvSpPr>
          <p:cNvPr id="7" name="Text 5"/>
          <p:cNvSpPr/>
          <p:nvPr/>
        </p:nvSpPr>
        <p:spPr>
          <a:xfrm>
            <a:off x="4618534" y="1790105"/>
            <a:ext cx="3043581"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4618534" y="2221309"/>
            <a:ext cx="304358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Los evaluators determinísticos califican; el juez se enseña con sus sesgos.</a:t>
            </a:r>
            <a:endParaRPr lang="en-US" sz="1600" dirty="0"/>
          </a:p>
        </p:txBody>
      </p:sp>
      <p:sp>
        <p:nvSpPr>
          <p:cNvPr id="9" name="Shape 7"/>
          <p:cNvSpPr/>
          <p:nvPr/>
        </p:nvSpPr>
        <p:spPr>
          <a:xfrm>
            <a:off x="7998916" y="1580555"/>
            <a:ext cx="3373934" cy="1691481"/>
          </a:xfrm>
          <a:prstGeom prst="roundRect">
            <a:avLst>
              <a:gd name="adj" fmla="val 5631"/>
            </a:avLst>
          </a:prstGeom>
          <a:solidFill>
            <a:srgbClr val="FFFFFF"/>
          </a:solidFill>
          <a:ln w="12700">
            <a:solidFill>
              <a:srgbClr val="1E293B"/>
            </a:solidFill>
            <a:prstDash val="solid"/>
          </a:ln>
        </p:spPr>
      </p:sp>
      <p:sp>
        <p:nvSpPr>
          <p:cNvPr id="10" name="Text 8"/>
          <p:cNvSpPr/>
          <p:nvPr/>
        </p:nvSpPr>
        <p:spPr>
          <a:xfrm>
            <a:off x="8208466" y="17901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8208466" y="2221309"/>
            <a:ext cx="3043479"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Una mejora es real si se sostiene en dos corridas y se sabe qué la causó.</a:t>
            </a:r>
            <a:endParaRPr lang="en-US" sz="1600" dirty="0"/>
          </a:p>
        </p:txBody>
      </p:sp>
      <p:sp>
        <p:nvSpPr>
          <p:cNvPr id="12" name="Shape 10"/>
          <p:cNvSpPr/>
          <p:nvPr/>
        </p:nvSpPr>
        <p:spPr>
          <a:xfrm>
            <a:off x="819150" y="4843562"/>
            <a:ext cx="10553700" cy="992088"/>
          </a:xfrm>
          <a:prstGeom prst="roundRect">
            <a:avLst>
              <a:gd name="adj" fmla="val 9601"/>
            </a:avLst>
          </a:prstGeom>
          <a:solidFill>
            <a:srgbClr val="F4F6F8"/>
          </a:solidFill>
          <a:ln w="12700">
            <a:solidFill>
              <a:srgbClr val="526277"/>
            </a:solidFill>
            <a:prstDash val="dash"/>
          </a:ln>
        </p:spPr>
      </p:sp>
      <p:sp>
        <p:nvSpPr>
          <p:cNvPr id="13" name="Text 11"/>
          <p:cNvSpPr/>
          <p:nvPr/>
        </p:nvSpPr>
        <p:spPr>
          <a:xfrm>
            <a:off x="1028700" y="5053112"/>
            <a:ext cx="1043863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Siguiente: S11 · Cliente web y sustentación</a:t>
            </a:r>
            <a:endParaRPr lang="en-US" sz="1600" dirty="0"/>
          </a:p>
        </p:txBody>
      </p:sp>
      <p:sp>
        <p:nvSpPr>
          <p:cNvPr id="14" name="Text 12"/>
          <p:cNvSpPr/>
          <p:nvPr/>
        </p:nvSpPr>
        <p:spPr>
          <a:xfrm>
            <a:off x="1028700" y="5384304"/>
            <a:ext cx="10438638"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Antes de la S11: INFORME-L10.md y Avance 3 del M3 entregados.</a:t>
            </a:r>
            <a:endParaRPr lang="en-US" sz="1400" dirty="0"/>
          </a:p>
        </p:txBody>
      </p:sp>
      <p:sp>
        <p:nvSpPr>
          <p:cNvPr id="15" name="Text 13"/>
          <p:cNvSpPr/>
          <p:nvPr/>
        </p:nvSpPr>
        <p:spPr>
          <a:xfrm>
            <a:off x="812800" y="6229350"/>
            <a:ext cx="14007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S10 · Cierre · 35/35</a:t>
            </a:r>
            <a:endParaRPr lang="en-US" sz="1200" dirty="0"/>
          </a:p>
        </p:txBody>
      </p:sp>
      <p:pic>
        <p:nvPicPr>
          <p:cNvPr id="16" name="Image 0" descr="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S10 · Optimización continua y evaluación</dc:title>
  <dc:subject>PptxGenJS Presentation</dc:subject>
  <dc:creator>PptxGenJS</dc:creator>
  <cp:lastModifiedBy>PptxGenJS</cp:lastModifiedBy>
  <cp:revision>1</cp:revision>
  <dcterms:created xsi:type="dcterms:W3CDTF">2026-09-26T00:21:50Z</dcterms:created>
  <dcterms:modified xsi:type="dcterms:W3CDTF">2026-09-26T00:21:50Z</dcterms:modified>
</cp:coreProperties>
</file>