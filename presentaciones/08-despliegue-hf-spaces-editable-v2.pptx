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a3438f0b254656" /><Relationship Type="http://schemas.openxmlformats.org/officeDocument/2006/relationships/extended-properties" Target="/docProps/app.xml" Id="R7015f6748dc1445b" /><Relationship Type="http://schemas.openxmlformats.org/officeDocument/2006/relationships/officeDocument" Target="/ppt/presentation.xml" Id="Rf9e4f13faab44c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7393126d6d431e"/>
  </p:sldMasterIdLst>
  <p:notesMasterIdLst>
    <p:notesMasterId xmlns:r="http://schemas.openxmlformats.org/officeDocument/2006/relationships" r:id="R1960cf9cc2694094"/>
  </p:notesMasterIdLst>
  <p:sldIdLst>
    <p:sldId xmlns:r="http://schemas.openxmlformats.org/officeDocument/2006/relationships" id="256" r:id="R107de17389db40f9"/>
    <p:sldId xmlns:r="http://schemas.openxmlformats.org/officeDocument/2006/relationships" id="257" r:id="R5a707d0c6f9046af"/>
    <p:sldId xmlns:r="http://schemas.openxmlformats.org/officeDocument/2006/relationships" id="258" r:id="R24c6ebbb12294f3f"/>
    <p:sldId xmlns:r="http://schemas.openxmlformats.org/officeDocument/2006/relationships" id="259" r:id="Rc9d4e1d92c044c35"/>
    <p:sldId xmlns:r="http://schemas.openxmlformats.org/officeDocument/2006/relationships" id="260" r:id="Rd3e5746ed49342a8"/>
    <p:sldId xmlns:r="http://schemas.openxmlformats.org/officeDocument/2006/relationships" id="261" r:id="Rb22d22d79ecd4da1"/>
    <p:sldId xmlns:r="http://schemas.openxmlformats.org/officeDocument/2006/relationships" id="262" r:id="R3e9cebef86844634"/>
    <p:sldId xmlns:r="http://schemas.openxmlformats.org/officeDocument/2006/relationships" id="263" r:id="R27ea6875688d45a4"/>
    <p:sldId xmlns:r="http://schemas.openxmlformats.org/officeDocument/2006/relationships" id="264" r:id="R9fed670a21464db4"/>
    <p:sldId xmlns:r="http://schemas.openxmlformats.org/officeDocument/2006/relationships" id="265" r:id="R3f413f2443374ce6"/>
    <p:sldId xmlns:r="http://schemas.openxmlformats.org/officeDocument/2006/relationships" id="266" r:id="R27500f2352a54c38"/>
    <p:sldId xmlns:r="http://schemas.openxmlformats.org/officeDocument/2006/relationships" id="267" r:id="R5149f388a8034d92"/>
    <p:sldId xmlns:r="http://schemas.openxmlformats.org/officeDocument/2006/relationships" id="268" r:id="R7b14d0830bc44009"/>
    <p:sldId xmlns:r="http://schemas.openxmlformats.org/officeDocument/2006/relationships" id="269" r:id="Rd202bfbf8a2b47a9"/>
    <p:sldId xmlns:r="http://schemas.openxmlformats.org/officeDocument/2006/relationships" id="270" r:id="R884e223dc9d946e0"/>
    <p:sldId xmlns:r="http://schemas.openxmlformats.org/officeDocument/2006/relationships" id="271" r:id="R116594e0c921494d"/>
    <p:sldId xmlns:r="http://schemas.openxmlformats.org/officeDocument/2006/relationships" id="272" r:id="Rbbf278a052504f23"/>
    <p:sldId xmlns:r="http://schemas.openxmlformats.org/officeDocument/2006/relationships" id="273" r:id="Ra9be98aa144d48df"/>
    <p:sldId xmlns:r="http://schemas.openxmlformats.org/officeDocument/2006/relationships" id="274" r:id="R987cc6b8bbbf4d58"/>
    <p:sldId xmlns:r="http://schemas.openxmlformats.org/officeDocument/2006/relationships" id="275" r:id="R37ca5cb3c1ba4b0a"/>
    <p:sldId xmlns:r="http://schemas.openxmlformats.org/officeDocument/2006/relationships" id="276" r:id="R34e7160e426a4825"/>
    <p:sldId xmlns:r="http://schemas.openxmlformats.org/officeDocument/2006/relationships" id="277" r:id="R5c5f5879de98437e"/>
    <p:sldId xmlns:r="http://schemas.openxmlformats.org/officeDocument/2006/relationships" id="278" r:id="Rcc3943bf592b48f9"/>
    <p:sldId xmlns:r="http://schemas.openxmlformats.org/officeDocument/2006/relationships" id="279" r:id="R0b4cc96b79f9498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079dcbfa4b495a" /><Relationship Type="http://schemas.openxmlformats.org/officeDocument/2006/relationships/slideMaster" Target="/ppt/slideMasters/slideMaster1.xml" Id="Rd97393126d6d431e" /><Relationship Type="http://schemas.openxmlformats.org/officeDocument/2006/relationships/notesMaster" Target="/ppt/notesMasters/notesMaster1.xml" Id="R1960cf9cc2694094" /><Relationship Type="http://schemas.openxmlformats.org/officeDocument/2006/relationships/presProps" Target="/ppt/presProps.xml" Id="R23d7ef6e915c4b00" /><Relationship Type="http://schemas.openxmlformats.org/officeDocument/2006/relationships/tableStyles" Target="/ppt/tableStyles.xml" Id="R52f472a9dfcf4e83" /><Relationship Type="http://schemas.openxmlformats.org/officeDocument/2006/relationships/slide" Target="/ppt/slides/slide1.xml" Id="R107de17389db40f9" /><Relationship Type="http://schemas.openxmlformats.org/officeDocument/2006/relationships/slide" Target="/ppt/slides/slide2.xml" Id="R5a707d0c6f9046af" /><Relationship Type="http://schemas.openxmlformats.org/officeDocument/2006/relationships/slide" Target="/ppt/slides/slide3.xml" Id="R24c6ebbb12294f3f" /><Relationship Type="http://schemas.openxmlformats.org/officeDocument/2006/relationships/slide" Target="/ppt/slides/slide4.xml" Id="Rc9d4e1d92c044c35" /><Relationship Type="http://schemas.openxmlformats.org/officeDocument/2006/relationships/slide" Target="/ppt/slides/slide5.xml" Id="Rd3e5746ed49342a8" /><Relationship Type="http://schemas.openxmlformats.org/officeDocument/2006/relationships/slide" Target="/ppt/slides/slide6.xml" Id="Rb22d22d79ecd4da1" /><Relationship Type="http://schemas.openxmlformats.org/officeDocument/2006/relationships/slide" Target="/ppt/slides/slide7.xml" Id="R3e9cebef86844634" /><Relationship Type="http://schemas.openxmlformats.org/officeDocument/2006/relationships/slide" Target="/ppt/slides/slide8.xml" Id="R27ea6875688d45a4" /><Relationship Type="http://schemas.openxmlformats.org/officeDocument/2006/relationships/slide" Target="/ppt/slides/slide9.xml" Id="R9fed670a21464db4" /><Relationship Type="http://schemas.openxmlformats.org/officeDocument/2006/relationships/slide" Target="/ppt/slides/slide10.xml" Id="R3f413f2443374ce6" /><Relationship Type="http://schemas.openxmlformats.org/officeDocument/2006/relationships/slide" Target="/ppt/slides/slide11.xml" Id="R27500f2352a54c38" /><Relationship Type="http://schemas.openxmlformats.org/officeDocument/2006/relationships/slide" Target="/ppt/slides/slide12.xml" Id="R5149f388a8034d92" /><Relationship Type="http://schemas.openxmlformats.org/officeDocument/2006/relationships/slide" Target="/ppt/slides/slide13.xml" Id="R7b14d0830bc44009" /><Relationship Type="http://schemas.openxmlformats.org/officeDocument/2006/relationships/slide" Target="/ppt/slides/slide14.xml" Id="Rd202bfbf8a2b47a9" /><Relationship Type="http://schemas.openxmlformats.org/officeDocument/2006/relationships/slide" Target="/ppt/slides/slide15.xml" Id="R884e223dc9d946e0" /><Relationship Type="http://schemas.openxmlformats.org/officeDocument/2006/relationships/slide" Target="/ppt/slides/slide16.xml" Id="R116594e0c921494d" /><Relationship Type="http://schemas.openxmlformats.org/officeDocument/2006/relationships/slide" Target="/ppt/slides/slide17.xml" Id="Rbbf278a052504f23" /><Relationship Type="http://schemas.openxmlformats.org/officeDocument/2006/relationships/slide" Target="/ppt/slides/slide18.xml" Id="Ra9be98aa144d48df" /><Relationship Type="http://schemas.openxmlformats.org/officeDocument/2006/relationships/slide" Target="/ppt/slides/slide19.xml" Id="R987cc6b8bbbf4d58" /><Relationship Type="http://schemas.openxmlformats.org/officeDocument/2006/relationships/slide" Target="/ppt/slides/slide20.xml" Id="R37ca5cb3c1ba4b0a" /><Relationship Type="http://schemas.openxmlformats.org/officeDocument/2006/relationships/slide" Target="/ppt/slides/slide21.xml" Id="R34e7160e426a4825" /><Relationship Type="http://schemas.openxmlformats.org/officeDocument/2006/relationships/slide" Target="/ppt/slides/slide22.xml" Id="R5c5f5879de98437e" /><Relationship Type="http://schemas.openxmlformats.org/officeDocument/2006/relationships/slide" Target="/ppt/slides/slide23.xml" Id="Rcc3943bf592b48f9" /><Relationship Type="http://schemas.openxmlformats.org/officeDocument/2006/relationships/slide" Target="/ppt/slides/slide24.xml" Id="R0b4cc96b79f949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870074e8e5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48e435ea8042bd" /><Relationship Type="http://schemas.openxmlformats.org/officeDocument/2006/relationships/notesMaster" Target="/ppt/notesMasters/notesMaster1.xml" Id="R31b71d1f3adc48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14cbe6c1e447d0" /><Relationship Type="http://schemas.openxmlformats.org/officeDocument/2006/relationships/notesMaster" Target="/ppt/notesMasters/notesMaster1.xml" Id="R12c7f652684f42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e124ba5cc64ab0" /><Relationship Type="http://schemas.openxmlformats.org/officeDocument/2006/relationships/notesMaster" Target="/ppt/notesMasters/notesMaster1.xml" Id="R459b77d21d6e48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08fbe42bfc4a9f" /><Relationship Type="http://schemas.openxmlformats.org/officeDocument/2006/relationships/notesMaster" Target="/ppt/notesMasters/notesMaster1.xml" Id="R6eadc3aa7d434c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b8685abecb43f2" /><Relationship Type="http://schemas.openxmlformats.org/officeDocument/2006/relationships/notesMaster" Target="/ppt/notesMasters/notesMaster1.xml" Id="Re5a5310e78db4b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f12b4af5354efa" /><Relationship Type="http://schemas.openxmlformats.org/officeDocument/2006/relationships/notesMaster" Target="/ppt/notesMasters/notesMaster1.xml" Id="Rfedc567a9a194b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7f6dc1b8b348c2" /><Relationship Type="http://schemas.openxmlformats.org/officeDocument/2006/relationships/notesMaster" Target="/ppt/notesMasters/notesMaster1.xml" Id="R9e0c73b1b39a44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ddac655f504caf" /><Relationship Type="http://schemas.openxmlformats.org/officeDocument/2006/relationships/notesMaster" Target="/ppt/notesMasters/notesMaster1.xml" Id="Rb905560ede4c42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ca2ed57761470e" /><Relationship Type="http://schemas.openxmlformats.org/officeDocument/2006/relationships/notesMaster" Target="/ppt/notesMasters/notesMaster1.xml" Id="R4f67cfef3507460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8cb8e0e5d54d8b" /><Relationship Type="http://schemas.openxmlformats.org/officeDocument/2006/relationships/notesMaster" Target="/ppt/notesMasters/notesMaster1.xml" Id="Ree92451cfed343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fa9a7b86aa40af" /><Relationship Type="http://schemas.openxmlformats.org/officeDocument/2006/relationships/notesMaster" Target="/ppt/notesMasters/notesMaster1.xml" Id="R2fb70f8a00b240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780692dc994580" /><Relationship Type="http://schemas.openxmlformats.org/officeDocument/2006/relationships/notesMaster" Target="/ppt/notesMasters/notesMaster1.xml" Id="R27cd9e24895945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fb48e4069d46ef" /><Relationship Type="http://schemas.openxmlformats.org/officeDocument/2006/relationships/notesMaster" Target="/ppt/notesMasters/notesMaster1.xml" Id="R7d19a71bcd5341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4cdebb611d46e0" /><Relationship Type="http://schemas.openxmlformats.org/officeDocument/2006/relationships/notesMaster" Target="/ppt/notesMasters/notesMaster1.xml" Id="R0e270601fea343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c9cfd7ac3848ee" /><Relationship Type="http://schemas.openxmlformats.org/officeDocument/2006/relationships/notesMaster" Target="/ppt/notesMasters/notesMaster1.xml" Id="R75f2cb9b35354b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d30143e0fa4fcd" /><Relationship Type="http://schemas.openxmlformats.org/officeDocument/2006/relationships/notesMaster" Target="/ppt/notesMasters/notesMaster1.xml" Id="R8903cd0ebde049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b56bf18c9349ca" /><Relationship Type="http://schemas.openxmlformats.org/officeDocument/2006/relationships/notesMaster" Target="/ppt/notesMasters/notesMaster1.xml" Id="Re0922e2271d042a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7497bbdb9cf45e4" /><Relationship Type="http://schemas.openxmlformats.org/officeDocument/2006/relationships/notesMaster" Target="/ppt/notesMasters/notesMaster1.xml" Id="R5afa6fe4bfde4d2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eb17b39686e4880" /><Relationship Type="http://schemas.openxmlformats.org/officeDocument/2006/relationships/notesMaster" Target="/ppt/notesMasters/notesMaster1.xml" Id="Ra95478b3b0e14e9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9ab28d15fe4e10" /><Relationship Type="http://schemas.openxmlformats.org/officeDocument/2006/relationships/notesMaster" Target="/ppt/notesMasters/notesMaster1.xml" Id="R6073d57cff18471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d157d267a4407c" /><Relationship Type="http://schemas.openxmlformats.org/officeDocument/2006/relationships/notesMaster" Target="/ppt/notesMasters/notesMaster1.xml" Id="Ra3678a14d73142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9c76c85ad244e2" /><Relationship Type="http://schemas.openxmlformats.org/officeDocument/2006/relationships/notesMaster" Target="/ppt/notesMasters/notesMaster1.xml" Id="R7c82a1ef07c04f0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fd3a47d55be40ae" /><Relationship Type="http://schemas.openxmlformats.org/officeDocument/2006/relationships/notesMaster" Target="/ppt/notesMasters/notesMaster1.xml" Id="R76ee33e7a4174a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04ce458c77436d" /><Relationship Type="http://schemas.openxmlformats.org/officeDocument/2006/relationships/notesMaster" Target="/ppt/notesMasters/notesMaster1.xml" Id="Rf774cd760ac84d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Del script a un servicio invocable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Definir producción como una ejecución que otra persona puede invocar sin el autor presente.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script a un servicio invocable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Desplegar añade responsabilidades operativas al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dependencia local impediría que otro use el servicio?».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Cliente: Envía una solicitud a una URL conocida.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Servicio: Arranca, carga configuración y atiende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Dependencias: Modelo, simulador y Qdrant siguen fuera del proceso.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Desplegar añade responsabilidades operativas al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Cliente; Servicio; Dependencias.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evaluador consulta un pedido desde su propia computadora.</a:t>
            </a:r>
          </a:p>
          <a:p xmlns:a="http://schemas.openxmlformats.org/drawingml/2006/main">
            <a:r>
              <a:t>Conectar: Usar la URL del Space y la key del equipo.</a:t>
            </a:r>
          </a:p>
          <a:p xmlns:a="http://schemas.openxmlformats.org/drawingml/2006/main">
            <a:r>
              <a:t>Invocar: Enviar el cuerpo esperado a /chat.</a:t>
            </a:r>
          </a:p>
          <a:p xmlns:a="http://schemas.openxmlformats.org/drawingml/2006/main">
            <a:r>
              <a:t>Comprobar: Recibir una respuesta vinculada al simulador.</a:t>
            </a:r>
          </a:p>
          <a:p xmlns:a="http://schemas.openxmlformats.org/drawingml/2006/main">
            <a:r>
              <a:t>Resultado: La URL permite acceso; el comportamiento completo todavía debe probarse.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dependencia local impediría que otro use el servicio?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Desplegar añade responsabilidades operativas al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Equiparar archivo subido con servicio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Configuración por entorno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Qué cambia respecto a la laptop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Definir producción como una ejecución que otra persona puede invocar sin el autor presente.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script a un servicio invocable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Desplegar añade responsabilidades operativas al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Acceso: La invocación deja de depender de la terminal del autor.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Operación: El proceso debe arrancar con configuración disponible.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Evidencia: Otra persona comprueba una consulta completa desde fuera.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Equiparar archivo subido con servicio funcional.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Acceso; Operación; Evidencia.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evaluador consulta un pedido desde su propia computadora.</a:t>
            </a:r>
          </a:p>
          <a:p xmlns:a="http://schemas.openxmlformats.org/drawingml/2006/main">
            <a:r>
              <a:t>Conectar: Usar la URL del Space y la key del equipo.</a:t>
            </a:r>
          </a:p>
          <a:p xmlns:a="http://schemas.openxmlformats.org/drawingml/2006/main">
            <a:r>
              <a:t>Invocar: Enviar el cuerpo esperado a /chat.</a:t>
            </a:r>
          </a:p>
          <a:p xmlns:a="http://schemas.openxmlformats.org/drawingml/2006/main">
            <a:r>
              <a:t>Comprobar: Recibir una respuesta vinculada al simulador.</a:t>
            </a:r>
          </a:p>
          <a:p xmlns:a="http://schemas.openxmlformats.org/drawingml/2006/main">
            <a:r>
              <a:t>Resultado: La URL permite acceso; el comportamiento completo todavía debe probarse.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dependencia local impediría que otro use el servicio?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Desplegar añade responsabilidades operativas al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Equiparar archivo subido con servicio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Configuración por entorno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MercaSur · Del script a un servicio invocable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Definir producción como una ejecución que otra persona puede invocar sin el autor presente.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script a un servicio invocable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Desplegar añade responsabilidades operativas al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 evaluador consulta un pedido desde su propia computadora.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Conectar: Usar la URL del Space y la key del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Invocar: Enviar el cuerpo esperado a /chat.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Comprobar: Recibir una respuesta vinculada al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URL permite acceso; el comportamiento completo todavía debe probarse.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Conectar; Invocar; Comprobar.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 evaluador consulta un pedido desde su propia computadora.</a:t>
            </a:r>
          </a:p>
          <a:p xmlns:a="http://schemas.openxmlformats.org/drawingml/2006/main">
            <a:r>
              <a:t>Conectar: Usar la URL del Space y la key del equipo.</a:t>
            </a:r>
          </a:p>
          <a:p xmlns:a="http://schemas.openxmlformats.org/drawingml/2006/main">
            <a:r>
              <a:t>Invocar: Enviar el cuerpo esperado a /chat.</a:t>
            </a:r>
          </a:p>
          <a:p xmlns:a="http://schemas.openxmlformats.org/drawingml/2006/main">
            <a:r>
              <a:t>Comprobar: Recibir una respuesta vinculada al simulador.</a:t>
            </a:r>
          </a:p>
          <a:p xmlns:a="http://schemas.openxmlformats.org/drawingml/2006/main">
            <a:r>
              <a:t>Resultado: La URL permite acceso; el comportamiento completo todavía debe probarse.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dependencia local impediría que otro use el servicio?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Desplegar añade responsabilidades operativas al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Equiparar archivo subido con servicio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Configuración por entorno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Configuración por entorno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§1 · 12-Factor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Mantener el código y cambiar los valores de configuración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Configuración por entorno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Separar configuración permite mover el código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comprobarías si solo falla la versión desplegada?».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Laptop: .env proporciona variables durante desarrollo.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Space: La plataforma proporciona secretos y variables.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Aplicación: comun/settings.py lee la configuración al ejecutarse.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Separar configuración permite mover el código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Laptop; Space; Aplicación.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agente local encuentra Qdrant, pero el Space no.</a:t>
            </a:r>
          </a:p>
          <a:p xmlns:a="http://schemas.openxmlformats.org/drawingml/2006/main">
            <a:r>
              <a:t>Comparar: Revisar presencia de QDRANT_URL y credenciales en el destino.</a:t>
            </a:r>
          </a:p>
          <a:p xmlns:a="http://schemas.openxmlformats.org/drawingml/2006/main">
            <a:r>
              <a:t>Corregir: Configurar el entorno del Space.</a:t>
            </a:r>
          </a:p>
          <a:p xmlns:a="http://schemas.openxmlformats.org/drawingml/2006/main">
            <a:r>
              <a:t>Reiniciar: Volver a verificar la conexión desde el servicio desplegado.</a:t>
            </a:r>
          </a:p>
          <a:p xmlns:a="http://schemas.openxmlformats.org/drawingml/2006/main">
            <a:r>
              <a:t>Resultado: El .env de la laptop no se copia mágicamente al contenedor.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comprobarías si solo falla la versión desplegada?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Separar configuración permite mover el código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Editar el agente para pegar claves o URLs de cada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Del script a un servicio invocable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Dockerfile: describir el arranque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Revisar la configuración de destino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§1 · 12-Factor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Mantener el código y cambiar los valores de configuración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Configuración por entorno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Separar configuración permite mover el código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Inventario: Identificar variables realmente utilizadas por el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Destino: Cargar endpoint y credenciales correctos en el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Validación: Comprobar el arranque sin imprimir secretos.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Editar el agente para pegar claves o URLs de cada entorno.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Inventario; Destino; Validación.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agente local encuentra Qdrant, pero el Space no.</a:t>
            </a:r>
          </a:p>
          <a:p xmlns:a="http://schemas.openxmlformats.org/drawingml/2006/main">
            <a:r>
              <a:t>Comparar: Revisar presencia de QDRANT_URL y credenciales en el destino.</a:t>
            </a:r>
          </a:p>
          <a:p xmlns:a="http://schemas.openxmlformats.org/drawingml/2006/main">
            <a:r>
              <a:t>Corregir: Configurar el entorno del Space.</a:t>
            </a:r>
          </a:p>
          <a:p xmlns:a="http://schemas.openxmlformats.org/drawingml/2006/main">
            <a:r>
              <a:t>Reiniciar: Volver a verificar la conexión desde el servicio desplegado.</a:t>
            </a:r>
          </a:p>
          <a:p xmlns:a="http://schemas.openxmlformats.org/drawingml/2006/main">
            <a:r>
              <a:t>Resultado: El .env de la laptop no se copia mágicamente al contenedor.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comprobarías si solo falla la versión desplegada?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Separar configuración permite mover el código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Editar el agente para pegar claves o URLs de cada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Del script a un servicio invocable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Dockerfile: describir el arranque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Banco Inti · Configuración por entorno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§1 · 12-Factor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Mantener el código y cambiar los valores de configuración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Configuración por entorno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Separar configuración permite mover el código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agente local encuentra Qdrant, pero el Space no.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Comparar: Revisar presencia de QDRANT_URL y credenciales en el destino.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Corregir: Configurar el entorno del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Reiniciar: Volver a verificar la conexión desde el servicio desplegado.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.env de la laptop no se copia mágicamente al contenedor.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Comparar; Corregir; Reiniciar.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agente local encuentra Qdrant, pero el Space no.</a:t>
            </a:r>
          </a:p>
          <a:p xmlns:a="http://schemas.openxmlformats.org/drawingml/2006/main">
            <a:r>
              <a:t>Comparar: Revisar presencia de QDRANT_URL y credenciales en el destino.</a:t>
            </a:r>
          </a:p>
          <a:p xmlns:a="http://schemas.openxmlformats.org/drawingml/2006/main">
            <a:r>
              <a:t>Corregir: Configurar el entorno del Space.</a:t>
            </a:r>
          </a:p>
          <a:p xmlns:a="http://schemas.openxmlformats.org/drawingml/2006/main">
            <a:r>
              <a:t>Reiniciar: Volver a verificar la conexión desde el servicio desplegado.</a:t>
            </a:r>
          </a:p>
          <a:p xmlns:a="http://schemas.openxmlformats.org/drawingml/2006/main">
            <a:r>
              <a:t>Resultado: El .env de la laptop no se copia mágicamente al contenedor.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comprobarías si solo falla la versión desplegada?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Separar configuración permite mover el código entre entornos.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Editar el agente para pegar claves o URLs de cada entorno.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Del script a un servicio invocable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Dockerfile: describir el arranque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Dockerfile: describir el arranque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§2 y solucion/*/Dockerfile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las etapas que convierten el repositorio en un servicio ejecutable.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Dockerfile: describir el arranque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contenedor útil incluye un arranque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diferencia hay entre un fallo de build y uno al iniciar la API?».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 y dependencias: Elegir entorno Python e instalar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Código y proceso: Copiar archivos y definir directorio de trabajo.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Arranque: Iniciar la API con interfaz y puerto requeridos por la plataforma.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 contenedor útil incluye un arranque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Base y dependencias; Código y proceso; Arranque.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build termina, pero la URL no acepta conexiones.</a:t>
            </a:r>
          </a:p>
          <a:p xmlns:a="http://schemas.openxmlformats.org/drawingml/2006/main">
            <a:r>
              <a:t>Aislar: Construcción correcta no demuestra escucha correcta.</a:t>
            </a:r>
          </a:p>
          <a:p xmlns:a="http://schemas.openxmlformats.org/drawingml/2006/main">
            <a:r>
              <a:t>Revisar: Comando de arranque, interfaz y puerto del Dockerfile.</a:t>
            </a:r>
          </a:p>
          <a:p xmlns:a="http://schemas.openxmlformats.org/drawingml/2006/main">
            <a:r>
              <a:t>Verificar: Comprobar /health desde fuera después del redespliegue.</a:t>
            </a:r>
          </a:p>
          <a:p xmlns:a="http://schemas.openxmlformats.org/drawingml/2006/main">
            <a:r>
              <a:t>Resultado: HF Spaces construye el contenedor; el curso no exige ejecutar Docker localmente.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diferencia hay entre un fallo de build y uno al iniciar la API?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contenedor útil incluye un arranque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EXPOSE con abrir automáticamente cualquier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Configuración por entorno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FastAPI: health 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Leer cada instrucción por su efecto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§2 y solucion/*/Dockerfile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las etapas que convierten el repositorio en un servicio ejecutable.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Dockerfile: describir el arranque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contenedor útil incluye un arranque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Construcción: Qué se instala o copia durante el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Ejecución: Qué comando se inicia al arrancar el contenedor.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Configuración: Qué valores se reciben como variables en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EXPOSE con abrir automáticamente cualquier servicio.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Construcción; Ejecución; Configuración.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build termina, pero la URL no acepta conexiones.</a:t>
            </a:r>
          </a:p>
          <a:p xmlns:a="http://schemas.openxmlformats.org/drawingml/2006/main">
            <a:r>
              <a:t>Aislar: Construcción correcta no demuestra escucha correcta.</a:t>
            </a:r>
          </a:p>
          <a:p xmlns:a="http://schemas.openxmlformats.org/drawingml/2006/main">
            <a:r>
              <a:t>Revisar: Comando de arranque, interfaz y puerto del Dockerfile.</a:t>
            </a:r>
          </a:p>
          <a:p xmlns:a="http://schemas.openxmlformats.org/drawingml/2006/main">
            <a:r>
              <a:t>Verificar: Comprobar /health desde fuera después del redespliegue.</a:t>
            </a:r>
          </a:p>
          <a:p xmlns:a="http://schemas.openxmlformats.org/drawingml/2006/main">
            <a:r>
              <a:t>Resultado: HF Spaces construye el contenedor; el curso no exige ejecutar Docker localmente.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diferencia hay entre un fallo de build y uno al iniciar la API?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contenedor útil incluye un arranque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EXPOSE con abrir automáticamente cualquier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Configuración por entorno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FastAPI: health 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AndesMóvil · Dockerfile: describir el arranque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§2 y solucion/*/Dockerfile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las etapas que convierten el repositorio en un servicio ejecutable.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Dockerfile: describir el arranque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contenedor útil incluye un arranque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build termina, pero la URL no acepta conexiones.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Aislar: Construcción correcta no demuestra escucha correcta.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Revisar: Comando de arranque, interfaz y puerto del Dockerfile.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Comprobar /health desde fuera después del redespliegue.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HF Spaces construye el contenedor; el curso no exige ejecutar Docker localmente.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Aislar; Revisar;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build termina, pero la URL no acepta conexiones.</a:t>
            </a:r>
          </a:p>
          <a:p xmlns:a="http://schemas.openxmlformats.org/drawingml/2006/main">
            <a:r>
              <a:t>Aislar: Construcción correcta no demuestra escucha correcta.</a:t>
            </a:r>
          </a:p>
          <a:p xmlns:a="http://schemas.openxmlformats.org/drawingml/2006/main">
            <a:r>
              <a:t>Revisar: Comando de arranque, interfaz y puerto del Dockerfile.</a:t>
            </a:r>
          </a:p>
          <a:p xmlns:a="http://schemas.openxmlformats.org/drawingml/2006/main">
            <a:r>
              <a:t>Verificar: Comprobar /health desde fuera después del redespliegue.</a:t>
            </a:r>
          </a:p>
          <a:p xmlns:a="http://schemas.openxmlformats.org/drawingml/2006/main">
            <a:r>
              <a:t>Resultado: HF Spaces construye el contenedor; el curso no exige ejecutar Docker localmente.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diferencia hay entre un fallo de build y uno al iniciar la API?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contenedor útil incluye un arranque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EXPOSE con abrir automáticamente cualquier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Configuración por entorno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FastAPI: health 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FastAPI: health y chat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comprobación de vida y ejecución que consume recursos.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FastAPI: health 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Cada endpoint tiene una responsabilidad y un nivel de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«¿Por qué no proteger /health con la misma key?».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GET /health: Permite a la plataforma comprobar que el servicio vive.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POST /chat: Recibe la consulta y ejecuta 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X-API-Key: Protege /chat con la clave propia del equipo.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Cada endpoint tiene una responsabilidad y un nivel de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GET /health; POST /chat; X-API-Key.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persona conoce la URL pública pero no la clave del equipo.</a:t>
            </a:r>
          </a:p>
          <a:p xmlns:a="http://schemas.openxmlformats.org/drawingml/2006/main">
            <a:r>
              <a:t>Health: Puede comprobar si la API está viva.</a:t>
            </a:r>
          </a:p>
          <a:p xmlns:a="http://schemas.openxmlformats.org/drawingml/2006/main">
            <a:r>
              <a:t>Chat: No debe gastar cuota mediante una llamada sin autorización.</a:t>
            </a:r>
          </a:p>
          <a:p xmlns:a="http://schemas.openxmlformats.org/drawingml/2006/main">
            <a:r>
              <a:t>Evaluador: Recibe URL y key por el canal previsto para probar.</a:t>
            </a:r>
          </a:p>
          <a:p xmlns:a="http://schemas.openxmlformats.org/drawingml/2006/main">
            <a:r>
              <a:t>Resultado: Un health exitoso no demuestra que modelo, tools y RAG funcionen de extremo a extremo.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no proteger /health con la misma key?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Cada endpoint tiene una responsabilidad y un nivel de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Publicar /chat sin control o confundir la key del agente con HF_TOKEN.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Dockerfile: describir el arranque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Secretos en el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Probar las dos rutas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comprobación de vida y ejecución que consume recursos.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FastAPI: health 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Cada endpoint tiene una responsabilidad y un nivel de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Health: Debe responder sin una credencial del cliente.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Sin key: La ruta de chat debe rechazar la invocación.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 key: La solicitud válida puede ejecutar 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Publicar /chat sin control o confundir la key del agente con HF_TOKEN.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Health; Sin key; Con key.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persona conoce la URL pública pero no la clave del equipo.</a:t>
            </a:r>
          </a:p>
          <a:p xmlns:a="http://schemas.openxmlformats.org/drawingml/2006/main">
            <a:r>
              <a:t>Health: Puede comprobar si la API está viva.</a:t>
            </a:r>
          </a:p>
          <a:p xmlns:a="http://schemas.openxmlformats.org/drawingml/2006/main">
            <a:r>
              <a:t>Chat: No debe gastar cuota mediante una llamada sin autorización.</a:t>
            </a:r>
          </a:p>
          <a:p xmlns:a="http://schemas.openxmlformats.org/drawingml/2006/main">
            <a:r>
              <a:t>Evaluador: Recibe URL y key por el canal previsto para probar.</a:t>
            </a:r>
          </a:p>
          <a:p xmlns:a="http://schemas.openxmlformats.org/drawingml/2006/main">
            <a:r>
              <a:t>Resultado: Un health exitoso no demuestra que modelo, tools y RAG funcionen de extremo a extremo.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no proteger /health con la misma key?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Cada endpoint tiene una responsabilidad y un nivel de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Publicar /chat sin control o confundir la key del agente con HF_TOKEN.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Dockerfile: describir el arranque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Secretos en el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MercaSur · FastAPI: health y chat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§3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Separar comprobación de vida y ejecución que consume recursos.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FastAPI: health 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Cada endpoint tiene una responsabilidad y un nivel de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Una persona conoce la URL pública pero no la clave del equipo.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Health: Puede comprobar si la API está viva.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Chat: No debe gastar cuota mediante una llamada sin autorización.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Evaluador: Recibe URL y key por el canal previsto para 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 health exitoso no demuestra que modelo, tools y RAG funcionen de extremo a extremo.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Health; Chat; Evaluador.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Una persona conoce la URL pública pero no la clave del equipo.</a:t>
            </a:r>
          </a:p>
          <a:p xmlns:a="http://schemas.openxmlformats.org/drawingml/2006/main">
            <a:r>
              <a:t>Health: Puede comprobar si la API está viva.</a:t>
            </a:r>
          </a:p>
          <a:p xmlns:a="http://schemas.openxmlformats.org/drawingml/2006/main">
            <a:r>
              <a:t>Chat: No debe gastar cuota mediante una llamada sin autorización.</a:t>
            </a:r>
          </a:p>
          <a:p xmlns:a="http://schemas.openxmlformats.org/drawingml/2006/main">
            <a:r>
              <a:t>Evaluador: Recibe URL y key por el canal previsto para probar.</a:t>
            </a:r>
          </a:p>
          <a:p xmlns:a="http://schemas.openxmlformats.org/drawingml/2006/main">
            <a:r>
              <a:t>Resultado: Un health exitoso no demuestra que modelo, tools y RAG funcionen de extremo a extremo.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no proteger /health con la misma key?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Cada endpoint tiene una responsabilidad y un nivel de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Publicar /chat sin control o confundir la key del agente con HF_TOKEN.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Dockerfile: describir el arranque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Secretos en el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Secretos en el Space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Cargar credenciales en la plataforma y responder correctamente ante una 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Secretos en el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secretos se administran fuera del código y con capacidad de revocación.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acción hace inútil el token que alguien pudo haber copiado?».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Repositorio: Contiene código y nombres de variables, no sus valores secretos.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Plataforma: Entrega credenciales al proceso desde Space secrets.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Incidente: Una credencial publicada requiere revocación y reemplazo.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Los secretos se administran fuera del código y con capacidad de revocación.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Repositorio; Plataforma; Incidente.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equipo detecta que un token de prueba apareció en un commit.</a:t>
            </a:r>
          </a:p>
          <a:p xmlns:a="http://schemas.openxmlformats.org/drawingml/2006/main">
            <a:r>
              <a:t>Revocar: Invalidar el token comprometido.</a:t>
            </a:r>
          </a:p>
          <a:p xmlns:a="http://schemas.openxmlformats.org/drawingml/2006/main">
            <a:r>
              <a:t>Reemplazar: Configurar uno nuevo en el entorno correspondiente.</a:t>
            </a:r>
          </a:p>
          <a:p xmlns:a="http://schemas.openxmlformats.org/drawingml/2006/main">
            <a:r>
              <a:t>Revisar: Corregir el manejo del archivo y las evidencias que lo expusieron.</a:t>
            </a:r>
          </a:p>
          <a:p xmlns:a="http://schemas.openxmlformats.org/drawingml/2006/main">
            <a:r>
              <a:t>Resultado: Eliminar el archivo no invalida una credencial ya publicada.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acción hace inútil el token que alguien pudo haber copiado?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secretos se administran fuera del código y con capacidad de revocación.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Creer que borrar el último commit equivale a revocar el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FastAPI: health 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Cold start y latencia percibida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Recorrido de una clave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Cargar credenciales en la plataforma y responder correctamente ante una 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Secretos en el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secretos se administran fuera del código y con capacidad de revocación.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Crear: Obtener la credencial con permisos adecuados al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Configurar: Guardarla en el destino que ejecutará el agente.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Rotar: Invalidar la anterior si se expuso, sin confiar en borrar el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Creer que borrar el último commit equivale a revocar el acceso.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Crear; Configurar; Rotar.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equipo detecta que un token de prueba apareció en un commit.</a:t>
            </a:r>
          </a:p>
          <a:p xmlns:a="http://schemas.openxmlformats.org/drawingml/2006/main">
            <a:r>
              <a:t>Revocar: Invalidar el token comprometido.</a:t>
            </a:r>
          </a:p>
          <a:p xmlns:a="http://schemas.openxmlformats.org/drawingml/2006/main">
            <a:r>
              <a:t>Reemplazar: Configurar uno nuevo en el entorno correspondiente.</a:t>
            </a:r>
          </a:p>
          <a:p xmlns:a="http://schemas.openxmlformats.org/drawingml/2006/main">
            <a:r>
              <a:t>Revisar: Corregir el manejo del archivo y las evidencias que lo expusieron.</a:t>
            </a:r>
          </a:p>
          <a:p xmlns:a="http://schemas.openxmlformats.org/drawingml/2006/main">
            <a:r>
              <a:t>Resultado: Eliminar el archivo no invalida una credencial ya publicada.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acción hace inútil el token que alguien pudo haber copiado?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secretos se administran fuera del código y con capacidad de revocación.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Creer que borrar el último commit equivale a revocar el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FastAPI: health 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Cold start y latencia percibida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Banco Inti · Secretos en el Space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Cargar credenciales en la plataforma y responder correctamente ante una 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Secretos en el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Los secretos se administran fuera del código y con capacidad de revocación.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equipo detecta que un token de prueba apareció en un commit.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Revocar: Invalidar el token comprometido.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Reemplazar: Configurar uno nuevo en el entorno correspondiente.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Revisar: Corregir el manejo del archivo y las evidencias que lo expusieron.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Eliminar el archivo no invalida una credencial ya publicada.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Revocar; Reemplazar; Revisar.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equipo detecta que un token de prueba apareció en un commit.</a:t>
            </a:r>
          </a:p>
          <a:p xmlns:a="http://schemas.openxmlformats.org/drawingml/2006/main">
            <a:r>
              <a:t>Revocar: Invalidar el token comprometido.</a:t>
            </a:r>
          </a:p>
          <a:p xmlns:a="http://schemas.openxmlformats.org/drawingml/2006/main">
            <a:r>
              <a:t>Reemplazar: Configurar uno nuevo en el entorno correspondiente.</a:t>
            </a:r>
          </a:p>
          <a:p xmlns:a="http://schemas.openxmlformats.org/drawingml/2006/main">
            <a:r>
              <a:t>Revisar: Corregir el manejo del archivo y las evidencias que lo expusieron.</a:t>
            </a:r>
          </a:p>
          <a:p xmlns:a="http://schemas.openxmlformats.org/drawingml/2006/main">
            <a:r>
              <a:t>Resultado: Eliminar el archivo no invalida una credencial ya publicada.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acción hace inútil el token que alguien pudo haber copiado?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Los secretos se administran fuera del código y con capacidad de revocación.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Creer que borrar el último commit equivale a revocar el acceso.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FastAPI: health y chat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Cold start y latencia percibida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Cold start y latencia percibida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la primera solicitud tras inactividad de una ejecución con el servicio activo.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Cold start y latencia percibida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contexto operativo forma parte de la medición de latencia.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dato guardarías junto al tiempo de la primera llamada?».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Inactividad: El servicio puede necesitar reactivarse.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Primera solicitud: Incluye costos de arranque y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Solicitudes siguientes: Permiten observar el servicio ya activo.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El contexto operativo forma parte de la medición de latencia.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Inactividad; Primera solicitud; Solicitudes siguientes.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primera respuesta tarda más que la segunda tras inactividad.</a:t>
            </a:r>
          </a:p>
          <a:p xmlns:a="http://schemas.openxmlformats.org/drawingml/2006/main">
            <a:r>
              <a:t>Medir: Cronometrar ambas solicitudes con el mismo contenido.</a:t>
            </a:r>
          </a:p>
          <a:p xmlns:a="http://schemas.openxmlformats.org/drawingml/2006/main">
            <a:r>
              <a:t>Anotar: Identificar cuál activó el Space.</a:t>
            </a:r>
          </a:p>
          <a:p xmlns:a="http://schemas.openxmlformats.org/drawingml/2006/main">
            <a:r>
              <a:t>Explicar: No atribuir toda la diferencia al prompt sin observación adicional.</a:t>
            </a:r>
          </a:p>
          <a:p xmlns:a="http://schemas.openxmlformats.org/drawingml/2006/main">
            <a:r>
              <a:t>Resultado: Los tiempos deben medirse en el entorno real; no se prometen cifras del tier.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dato guardarías junto al tiempo de la primera llamada?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contexto operativo forma parte de la medición de latencia.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Generalizar dos mediciones como una latencia garantizada.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Secretos en el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Laboratorio L8: despliegue verificable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Medir sin confundir causas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la primera solicitud tras inactividad de una ejecución con el servicio activo.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Cold start y latencia percibida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contexto operativo forma parte de la medición de latencia.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Registrar: Anotar condición de arranque y tiempo de cada solicitud.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Comparar: Usar la misma consulta al repetir.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Interpretar: Separar arranque, red, modelo y herramientas cuando haya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Generalizar dos mediciones como una latencia garantizada.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Registrar; Comparar; Interpretar.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primera respuesta tarda más que la segunda tras inactividad.</a:t>
            </a:r>
          </a:p>
          <a:p xmlns:a="http://schemas.openxmlformats.org/drawingml/2006/main">
            <a:r>
              <a:t>Medir: Cronometrar ambas solicitudes con el mismo contenido.</a:t>
            </a:r>
          </a:p>
          <a:p xmlns:a="http://schemas.openxmlformats.org/drawingml/2006/main">
            <a:r>
              <a:t>Anotar: Identificar cuál activó el Space.</a:t>
            </a:r>
          </a:p>
          <a:p xmlns:a="http://schemas.openxmlformats.org/drawingml/2006/main">
            <a:r>
              <a:t>Explicar: No atribuir toda la diferencia al prompt sin observación adicional.</a:t>
            </a:r>
          </a:p>
          <a:p xmlns:a="http://schemas.openxmlformats.org/drawingml/2006/main">
            <a:r>
              <a:t>Resultado: Los tiempos deben medirse en el entorno real; no se prometen cifras del tier.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dato guardarías junto al tiempo de la primera llamada?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contexto operativo forma parte de la medición de latencia.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Generalizar dos mediciones como una latencia garantizada.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Secretos en el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Laboratorio L8: despliegue verificable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AndesMóvil · Cold start y latencia percibida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Distinguir la primera solicitud tras inactividad de una ejecución con el servicio activo.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Cold start y latencia percibida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El contexto operativo forma parte de la medición de latencia.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primera respuesta tarda más que la segunda tras inactividad.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Medir: Cronometrar ambas solicitudes con el mismo contenido.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Anotar: Identificar cuál activó el 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Explicar: No atribuir toda la diferencia al prompt sin observación adicional.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Los tiempos deben medirse en el entorno real; no se prometen cifras del tier.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Medir; Anotar; Explicar.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La primera respuesta tarda más que la segunda tras inactividad.</a:t>
            </a:r>
          </a:p>
          <a:p xmlns:a="http://schemas.openxmlformats.org/drawingml/2006/main">
            <a:r>
              <a:t>Medir: Cronometrar ambas solicitudes con el mismo contenido.</a:t>
            </a:r>
          </a:p>
          <a:p xmlns:a="http://schemas.openxmlformats.org/drawingml/2006/main">
            <a:r>
              <a:t>Anotar: Identificar cuál activó el Space.</a:t>
            </a:r>
          </a:p>
          <a:p xmlns:a="http://schemas.openxmlformats.org/drawingml/2006/main">
            <a:r>
              <a:t>Explicar: No atribuir toda la diferencia al prompt sin observación adicional.</a:t>
            </a:r>
          </a:p>
          <a:p xmlns:a="http://schemas.openxmlformats.org/drawingml/2006/main">
            <a:r>
              <a:t>Resultado: Los tiempos deben medirse en el entorno real; no se prometen cifras del tier.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dato guardarías junto al tiempo de la primera llamada?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El contexto operativo forma parte de la medición de latencia.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Generalizar dos mediciones como una latencia garantizada.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Secretos en el Space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Laboratorio L8: despliegue verificable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Laboratorio L8: despliegue verificable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§6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Entregar una API pública que otro integrante pueda 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L8: despliegue verificable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Verificar desde fuera revela dependencias que la laptop puede ocultar.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caso usarías para comprobar también Qdrant?».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Construir: API, Dockerfile y dependencias del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Publicar: Crear el Space, configurar secretos y enviar el código.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Verificar: Probar health, autenticación y una consulta real desde fuera.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Verificar desde fuera revela dependencias que la laptop puede ocultar.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Construir; Publicar; Verificar.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La API responde health, pero falla una consulta de póliza.</a:t>
            </a:r>
          </a:p>
          <a:p xmlns:a="http://schemas.openxmlformats.org/drawingml/2006/main">
            <a:r>
              <a:t>Distinguir: El proceso vive; una dependencia del flujo está fallando.</a:t>
            </a:r>
          </a:p>
          <a:p xmlns:a="http://schemas.openxmlformats.org/drawingml/2006/main">
            <a:r>
              <a:t>Localizar: Revisar configuración y respuesta de la tool.</a:t>
            </a:r>
          </a:p>
          <a:p xmlns:a="http://schemas.openxmlformats.org/drawingml/2006/main">
            <a:r>
              <a:t>Reprobar: Ejecutar el caso de extremo a extremo desde el cliente externo.</a:t>
            </a:r>
          </a:p>
          <a:p xmlns:a="http://schemas.openxmlformats.org/drawingml/2006/main">
            <a:r>
              <a:t>Resultado: Una evidencia de despliegue incluye el flujo real, no solo una página accesible.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caso usarías para comprobar también Qdrant?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Verificar desde fuera revela dependencias que la laptop puede ocultar.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Dar por concluido el laboratorio con una captura del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Cold start y latencia percibida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De disponibilidad a observabilidad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Evidencia del avance M3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§6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Entregar una API pública que otro integrante pueda 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L8: despliegue verificable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Verificar desde fuera revela dependencias que la laptop puede ocultar.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Acceso: URL y procedimiento de autenticación para el evaluador.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Funcionamiento: Consulta de cada capacidad núcleo del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Operación: Observaciones del arranque y sus tiempos.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Dar por concluido el laboratorio con una captura del build.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Acceso; Funcionamiento; Operación.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La API responde health, pero falla una consulta de póliza.</a:t>
            </a:r>
          </a:p>
          <a:p xmlns:a="http://schemas.openxmlformats.org/drawingml/2006/main">
            <a:r>
              <a:t>Distinguir: El proceso vive; una dependencia del flujo está fallando.</a:t>
            </a:r>
          </a:p>
          <a:p xmlns:a="http://schemas.openxmlformats.org/drawingml/2006/main">
            <a:r>
              <a:t>Localizar: Revisar configuración y respuesta de la tool.</a:t>
            </a:r>
          </a:p>
          <a:p xmlns:a="http://schemas.openxmlformats.org/drawingml/2006/main">
            <a:r>
              <a:t>Reprobar: Ejecutar el caso de extremo a extremo desde el cliente externo.</a:t>
            </a:r>
          </a:p>
          <a:p xmlns:a="http://schemas.openxmlformats.org/drawingml/2006/main">
            <a:r>
              <a:t>Resultado: Una evidencia de despliegue incluye el flujo real, no solo una página accesible.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caso usarías para comprobar también Qdrant?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Verificar desde fuera revela dependencias que la laptop puede ocultar.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Dar por concluido el laboratorio con una captura del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Cold start y latencia percibida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De disponibilidad a observabilidad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Andina Seguros · Laboratorio L8: despliegue verificable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§6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Entregar una API pública que otro integrante pueda probar.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Laboratorio L8: despliegue verificable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Verificar desde fuera revela dependencias que la laptop puede ocultar.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La API responde health, pero falla una consulta de póliza.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Distinguir: El proceso vive; una dependencia del flujo está fallando.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Localizar: Revisar configuración y respuesta de la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Reprobar: Ejecutar el caso de extremo a extremo desde el cliente externo.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Una evidencia de despliegue incluye el flujo real, no solo una página accesible.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Distinguir; Localizar; Reprobar.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La API responde health, pero falla una consulta de póliza.</a:t>
            </a:r>
          </a:p>
          <a:p xmlns:a="http://schemas.openxmlformats.org/drawingml/2006/main">
            <a:r>
              <a:t>Distinguir: El proceso vive; una dependencia del flujo está fallando.</a:t>
            </a:r>
          </a:p>
          <a:p xmlns:a="http://schemas.openxmlformats.org/drawingml/2006/main">
            <a:r>
              <a:t>Localizar: Revisar configuración y respuesta de la tool.</a:t>
            </a:r>
          </a:p>
          <a:p xmlns:a="http://schemas.openxmlformats.org/drawingml/2006/main">
            <a:r>
              <a:t>Reprobar: Ejecutar el caso de extremo a extremo desde el cliente externo.</a:t>
            </a:r>
          </a:p>
          <a:p xmlns:a="http://schemas.openxmlformats.org/drawingml/2006/main">
            <a:r>
              <a:t>Resultado: Una evidencia de despliegue incluye el flujo real, no solo una página accesible.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caso usarías para comprobar también Qdrant?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Verificar desde fuera revela dependencias que la laptop puede ocultar.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Dar por concluido el laboratorio con una captura del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Cold start y latencia percibida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 · Sigue: De disponibilidad a observabilidad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22 · CAPÍTULO 8 · CONCEPTO</a:t>
            </a:r>
          </a:p>
          <a:p xmlns:a="http://schemas.openxmlformats.org/drawingml/2006/main">
            <a:r>
              <a:t>Título: De disponibilidad a observabilidad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§7 y conexión S9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Identificar qué sigue siendo invisible después de publicar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disponibilidad a observabilidad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siguiente capa convierte ejecuciones en evidencia diagnóstica.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no puedes concluir mirando solo el tiempo total?».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Ahora: Se puede invocar y medir el tiempo total.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pendiente: ¿Dónde se consume tiempo y qué camino se ejecutó?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S9: Las trazas permitirán inspeccionar modelo, tools y recuperación.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siguiente capa convierte ejecuciones en evidencia diagnóstica.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Ahora; Pregunta pendiente; S9.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Dos consultas terminan bien, pero una tarda mucho más.</a:t>
            </a:r>
          </a:p>
          <a:p xmlns:a="http://schemas.openxmlformats.org/drawingml/2006/main">
            <a:r>
              <a:t>Observar: El tiempo total muestra una diferencia.</a:t>
            </a:r>
          </a:p>
          <a:p xmlns:a="http://schemas.openxmlformats.org/drawingml/2006/main">
            <a:r>
              <a:t>Preguntar: Puede haber llamadas extra, lentitud externa o recuperación.</a:t>
            </a:r>
          </a:p>
          <a:p xmlns:a="http://schemas.openxmlformats.org/drawingml/2006/main">
            <a:r>
              <a:t>Investigar: S9 separará los pasos mediante spans.</a:t>
            </a:r>
          </a:p>
          <a:p xmlns:a="http://schemas.openxmlformats.org/drawingml/2006/main">
            <a:r>
              <a:t>Resultado: Saber que el agente respondió no explica cómo lo hizo.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no puedes concluir mirando solo el tiempo total?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siguiente capa convierte ejecuciones en evidencia diagnóstica.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Adivinar un cuello de botella sin ver los pasos.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Laboratorio L8: despliegue verificable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23 · CAPÍTULO 8 · DESARROLLO</a:t>
            </a:r>
          </a:p>
          <a:p xmlns:a="http://schemas.openxmlformats.org/drawingml/2006/main">
            <a:r>
              <a:t>Título: Preparar la instrumentación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§7 y conexión S9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Identificar qué sigue siendo invisible después de publicar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disponibilidad a observabilidad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siguiente capa convierte ejecuciones en evidencia diagnóstica.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 completo: Conservar una consulta representativa del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Identificación: Poder relacionar solicitud y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Protección: Evitar datos sensibles en las evidencias compartidas.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Adivinar un cuello de botella sin ver los pasos.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Caso completo; Identificación; Protección.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Dos consultas terminan bien, pero una tarda mucho más.</a:t>
            </a:r>
          </a:p>
          <a:p xmlns:a="http://schemas.openxmlformats.org/drawingml/2006/main">
            <a:r>
              <a:t>Observar: El tiempo total muestra una diferencia.</a:t>
            </a:r>
          </a:p>
          <a:p xmlns:a="http://schemas.openxmlformats.org/drawingml/2006/main">
            <a:r>
              <a:t>Preguntar: Puede haber llamadas extra, lentitud externa o recuperación.</a:t>
            </a:r>
          </a:p>
          <a:p xmlns:a="http://schemas.openxmlformats.org/drawingml/2006/main">
            <a:r>
              <a:t>Investigar: S9 separará los pasos mediante spans.</a:t>
            </a:r>
          </a:p>
          <a:p xmlns:a="http://schemas.openxmlformats.org/drawingml/2006/main">
            <a:r>
              <a:t>Resultado: Saber que el agente respondió no explica cómo lo hizo.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no puedes concluir mirando solo el tiempo total?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siguiente capa convierte ejecuciones en evidencia diagnóstica.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Adivinar un cuello de botella sin ver los pasos.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Laboratorio L8: despliegue verificable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24 · CAPÍTULO 8 · EJEMPLO</a:t>
            </a:r>
          </a:p>
          <a:p xmlns:a="http://schemas.openxmlformats.org/drawingml/2006/main">
            <a:r>
              <a:t>Título: MercaSur · De disponibilidad a observabilidad</a:t>
            </a:r>
          </a:p>
          <a:p xmlns:a="http://schemas.openxmlformats.org/drawingml/2006/main">
            <a:r>
              <a:t>Sesión: Despliegue con HF Spaces</a:t>
            </a:r>
          </a:p>
          <a:p xmlns:a="http://schemas.openxmlformats.org/drawingml/2006/main">
            <a:r>
              <a:t>Archivo: 08-despliegue-hf-spaces-editable-v2.pptx</a:t>
            </a:r>
          </a:p>
          <a:p xmlns:a="http://schemas.openxmlformats.org/drawingml/2006/main">
            <a:r>
              <a:t>Sección que soporta: §7 y conexión S9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https://github.com/javierrosado/ariwalab-course-langchain/blob/27c24090f1662f9473b673d2020e7bffee04490b/modulo-3-produccion/sesion-08-despliegue-hf-spaces/README.md</a:t>
            </a:r>
          </a:p>
          <a:p xmlns:a="http://schemas.openxmlformats.org/drawingml/2006/main">
            <a:r>
              <a:t>Contexto adicional: laboratorios, demos y soluciones de modulo-3-produccion/sesion-08-despliegue-hf-spaces;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Identificar qué sigue siendo invisible después de publicar la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 disponibilidad a observabilidad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siguiente capa convierte ejecuciones en evidencia diagnóstica.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Dos consultas terminan bien, pero una tarda mucho más.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Observar: El tiempo total muestra una diferencia.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Preguntar: Puede haber llamadas extra, lentitud externa o recuperación.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Investigar: S9 separará los pasos mediante spans.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Saber que el agente respondió no explica cómo lo hizo.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Observar; Preguntar; Investigar.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Dos consultas terminan bien, pero una tarda mucho más.</a:t>
            </a:r>
          </a:p>
          <a:p xmlns:a="http://schemas.openxmlformats.org/drawingml/2006/main">
            <a:r>
              <a:t>Observar: El tiempo total muestra una diferencia.</a:t>
            </a:r>
          </a:p>
          <a:p xmlns:a="http://schemas.openxmlformats.org/drawingml/2006/main">
            <a:r>
              <a:t>Preguntar: Puede haber llamadas extra, lentitud externa o recuperación.</a:t>
            </a:r>
          </a:p>
          <a:p xmlns:a="http://schemas.openxmlformats.org/drawingml/2006/main">
            <a:r>
              <a:t>Investigar: S9 separará los pasos mediante spans.</a:t>
            </a:r>
          </a:p>
          <a:p xmlns:a="http://schemas.openxmlformats.org/drawingml/2006/main">
            <a:r>
              <a:t>Resultado: Saber que el agente respondió no explica cómo lo hizo.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no puedes concluir mirando solo el tiempo total?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siguiente capa convierte ejecuciones en evidencia diagnóstica.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Adivinar un cuello de botella sin ver los pasos.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S7: checkpoint integrado y probado · Capítulo previo: Laboratorio L8: despliegue verificable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S9: observar el servicio desplegado.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c8a4af6e64d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fa60b3b4c147fd" /><Relationship Type="http://schemas.openxmlformats.org/officeDocument/2006/relationships/slideLayout" Target="/ppt/slideLayouts/slideLayout1.xml" Id="R507723b51b4f43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7723b51b4f43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0790ce00a14b86" /><Relationship Type="http://schemas.openxmlformats.org/officeDocument/2006/relationships/notesSlide" Target="/ppt/notesSlides/notesSlide1.xml" Id="R4313aaa8f5b0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cbd6eb0ee4972" /><Relationship Type="http://schemas.openxmlformats.org/officeDocument/2006/relationships/notesSlide" Target="/ppt/notesSlides/notesSlide2.xml" Id="R4d7b329abaa742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99dfbd42148e6" /><Relationship Type="http://schemas.openxmlformats.org/officeDocument/2006/relationships/notesSlide" Target="/ppt/notesSlides/notesSlide3.xml" Id="R0bd27c246d6e4f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e3260d0bc4642" /><Relationship Type="http://schemas.openxmlformats.org/officeDocument/2006/relationships/notesSlide" Target="/ppt/notesSlides/notesSlide4.xml" Id="R543d2830b94a44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1cca057f94968" /><Relationship Type="http://schemas.openxmlformats.org/officeDocument/2006/relationships/notesSlide" Target="/ppt/notesSlides/notesSlide5.xml" Id="Rdf420c3cfddc4b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f8cd3853c4896" /><Relationship Type="http://schemas.openxmlformats.org/officeDocument/2006/relationships/notesSlide" Target="/ppt/notesSlides/notesSlide6.xml" Id="R73c5d3a03e5648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fe8fd633e40f6" /><Relationship Type="http://schemas.openxmlformats.org/officeDocument/2006/relationships/notesSlide" Target="/ppt/notesSlides/notesSlide7.xml" Id="R14766b30d3b54b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fd3dbf7c84caf" /><Relationship Type="http://schemas.openxmlformats.org/officeDocument/2006/relationships/notesSlide" Target="/ppt/notesSlides/notesSlide8.xml" Id="Rf2e2f0cef9004f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22ea4686b49ac" /><Relationship Type="http://schemas.openxmlformats.org/officeDocument/2006/relationships/notesSlide" Target="/ppt/notesSlides/notesSlide9.xml" Id="R7e149b999fff4e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4d23fa3b24ef5" /><Relationship Type="http://schemas.openxmlformats.org/officeDocument/2006/relationships/notesSlide" Target="/ppt/notesSlides/notesSlide10.xml" Id="R12c9391c290243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666fee03646e6" /><Relationship Type="http://schemas.openxmlformats.org/officeDocument/2006/relationships/notesSlide" Target="/ppt/notesSlides/notesSlide11.xml" Id="Rff7375b0495843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3b5af3f1f4fbd" /><Relationship Type="http://schemas.openxmlformats.org/officeDocument/2006/relationships/notesSlide" Target="/ppt/notesSlides/notesSlide12.xml" Id="R644beb6204374c0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7a01806d94778" /><Relationship Type="http://schemas.openxmlformats.org/officeDocument/2006/relationships/notesSlide" Target="/ppt/notesSlides/notesSlide13.xml" Id="R66bb38e136e047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c2d37d84a4231" /><Relationship Type="http://schemas.openxmlformats.org/officeDocument/2006/relationships/notesSlide" Target="/ppt/notesSlides/notesSlide14.xml" Id="Refa7ce35de3a47a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4dde7c6a04e78" /><Relationship Type="http://schemas.openxmlformats.org/officeDocument/2006/relationships/notesSlide" Target="/ppt/notesSlides/notesSlide15.xml" Id="R560b9a8c67c04d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52077b6c64844" /><Relationship Type="http://schemas.openxmlformats.org/officeDocument/2006/relationships/notesSlide" Target="/ppt/notesSlides/notesSlide16.xml" Id="Re7c5d2b070e94db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0ee98d79a4960" /><Relationship Type="http://schemas.openxmlformats.org/officeDocument/2006/relationships/notesSlide" Target="/ppt/notesSlides/notesSlide17.xml" Id="R00a4ec156c194e0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63c28c5ab4d9d" /><Relationship Type="http://schemas.openxmlformats.org/officeDocument/2006/relationships/notesSlide" Target="/ppt/notesSlides/notesSlide18.xml" Id="R0d1ec7feddac414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140a2ac874816" /><Relationship Type="http://schemas.openxmlformats.org/officeDocument/2006/relationships/notesSlide" Target="/ppt/notesSlides/notesSlide19.xml" Id="Rb55d186530d14c0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6a9c9b75e48b0" /><Relationship Type="http://schemas.openxmlformats.org/officeDocument/2006/relationships/notesSlide" Target="/ppt/notesSlides/notesSlide20.xml" Id="R27075c1c485945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bd153fcb242f0" /><Relationship Type="http://schemas.openxmlformats.org/officeDocument/2006/relationships/notesSlide" Target="/ppt/notesSlides/notesSlide21.xml" Id="Rf67805c4908f41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f23668d5b47a3" /><Relationship Type="http://schemas.openxmlformats.org/officeDocument/2006/relationships/notesSlide" Target="/ppt/notesSlides/notesSlide22.xml" Id="R9367720b1fd942d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fccc21a854950" /><Relationship Type="http://schemas.openxmlformats.org/officeDocument/2006/relationships/notesSlide" Target="/ppt/notesSlides/notesSlide23.xml" Id="Rba992d33dcfa4f3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3146dceac4723" /><Relationship Type="http://schemas.openxmlformats.org/officeDocument/2006/relationships/notesSlide" Target="/ppt/notesSlides/notesSlide24.xml" Id="R184f221a60da4e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header">
            <a:extLst xmlns:a="http://schemas.openxmlformats.org/drawingml/2006/main">
              <a:ext uri="{FF2B5EF4-FFF2-40B4-BE49-F238E27FC236}">
                <a16:creationId xmlns:a16="http://schemas.microsoft.com/office/drawing/2014/main" id="{47BB59CD-E345-43CA-8C22-F98D954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0DF0D-EBFF-4C09-B7B1-D973D770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D18F763-A8E7-4B70-A9C9-EDD4618E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E29E871-D1B4-43B2-AFC3-1FA7BB96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CE27C6-9FC8-4DA7-9303-A9AE424E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Del script a un servicio invocable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7B1B00E-E2BE-49DA-A5BE-E039D7AA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producción como una ejecución que otra persona puede invocar sin el autor presente.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A9DC0CF-44BB-4ED3-86DB-B47B2305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5D7137F-3E93-42A9-BEE6-3449CC7C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750DB7C-D3A8-4EE6-A49A-8BAD3555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9879A0E-94AE-481B-98D7-FF180F29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754C59B-BE20-4D09-BA6F-A81A6737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AD97B45-BE6B-4F38-9926-DD2168DC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5896DE6-9D56-457A-B911-5372E6B8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A3C2352-401D-4F96-9BFA-26236AB9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4D6315C-E16A-4C33-8808-F9A25C0B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FRONTERA PÚBLICA Y DEPENDENCIAS EXTERNAS</a:t>
            </a:r>
          </a:p>
        </p:txBody>
      </p:sp>
      <p:sp>
        <p:nvSpPr>
          <p:cNvPr id="16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5C18447A-4A0D-4E11-9D78-ED7E122F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239250" cy="4619625"/>
          </a:xfrm>
          <a:prstGeom xmlns:a="http://schemas.openxmlformats.org/drawingml/2006/main" prst="roundRect">
            <a:avLst>
              <a:gd name="adj" fmla="val 37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component-client">
            <a:extLst xmlns:a="http://schemas.openxmlformats.org/drawingml/2006/main">
              <a:ext uri="{FF2B5EF4-FFF2-40B4-BE49-F238E27FC236}">
                <a16:creationId xmlns:a16="http://schemas.microsoft.com/office/drawing/2014/main" id="{0A689663-68D7-42CD-A0D9-776ABF94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8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D94334D0-6709-4440-BB9D-4DCE5FCC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Cliente externo</a:t>
            </a:r>
          </a:p>
        </p:txBody>
      </p:sp>
      <p:sp>
        <p:nvSpPr>
          <p:cNvPr id="19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E2B3DA74-C4DA-49C8-B0D6-C0434F7B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URL + X-API-Key</a:t>
            </a:r>
          </a:p>
        </p:txBody>
      </p:sp>
      <p:sp>
        <p:nvSpPr>
          <p:cNvPr id="20" name="component-api">
            <a:extLst xmlns:a="http://schemas.openxmlformats.org/drawingml/2006/main">
              <a:ext uri="{FF2B5EF4-FFF2-40B4-BE49-F238E27FC236}">
                <a16:creationId xmlns:a16="http://schemas.microsoft.com/office/drawing/2014/main" id="{3413380C-D54E-4462-AA32-BC6C6AE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1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B84AB582-294B-4FE0-8D7F-95E2D25C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FastAPI en</a:t>
            </a:r>
          </a:p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Space</a:t>
            </a:r>
          </a:p>
        </p:txBody>
      </p:sp>
      <p:sp>
        <p:nvSpPr>
          <p:cNvPr id="22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B7E49ADB-BE05-4919-8651-966361A4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/health y /chat</a:t>
            </a:r>
          </a:p>
        </p:txBody>
      </p:sp>
      <p:sp>
        <p:nvSpPr>
          <p:cNvPr id="23" name="component-agent">
            <a:extLst xmlns:a="http://schemas.openxmlformats.org/drawingml/2006/main">
              <a:ext uri="{FF2B5EF4-FFF2-40B4-BE49-F238E27FC236}">
                <a16:creationId xmlns:a16="http://schemas.microsoft.com/office/drawing/2014/main" id="{68FB154B-4B73-4C8D-90E7-B393FC3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4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8B1F1B4A-0BBA-403C-B922-B20B84A0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</a:t>
            </a:r>
          </a:p>
        </p:txBody>
      </p:sp>
      <p:sp>
        <p:nvSpPr>
          <p:cNvPr id="25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6995E5E2-DE97-4B61-A6C8-DC0BFB08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Código y configuración</a:t>
            </a:r>
          </a:p>
        </p:txBody>
      </p:sp>
      <p:sp>
        <p:nvSpPr>
          <p:cNvPr id="26" name="component-model">
            <a:extLst xmlns:a="http://schemas.openxmlformats.org/drawingml/2006/main">
              <a:ext uri="{FF2B5EF4-FFF2-40B4-BE49-F238E27FC236}">
                <a16:creationId xmlns:a16="http://schemas.microsoft.com/office/drawing/2014/main" id="{948D7F3E-0565-4F98-A9AE-44842F53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7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D2D4B24F-11BA-42DC-83C9-79EF163E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 remoto</a:t>
            </a:r>
          </a:p>
        </p:txBody>
      </p:sp>
      <p:sp>
        <p:nvSpPr>
          <p:cNvPr id="28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0B5FF14C-23A0-4000-A806-D3BA36C9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Proveedor de inferencia</a:t>
            </a:r>
          </a:p>
        </p:txBody>
      </p:sp>
      <p:sp>
        <p:nvSpPr>
          <p:cNvPr id="29" name="component-sim">
            <a:extLst xmlns:a="http://schemas.openxmlformats.org/drawingml/2006/main">
              <a:ext uri="{FF2B5EF4-FFF2-40B4-BE49-F238E27FC236}">
                <a16:creationId xmlns:a16="http://schemas.microsoft.com/office/drawing/2014/main" id="{17EA9445-8FE1-436B-869A-B7A518FA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0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B4B515AF-749C-4717-B845-C14A4738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Simulador</a:t>
            </a:r>
          </a:p>
        </p:txBody>
      </p:sp>
      <p:sp>
        <p:nvSpPr>
          <p:cNvPr id="31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63CEC50B-02E0-4289-9F16-A16A1C0F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Tools de negocio</a:t>
            </a:r>
          </a:p>
        </p:txBody>
      </p:sp>
      <p:sp>
        <p:nvSpPr>
          <p:cNvPr id="32" name="component-db">
            <a:extLst xmlns:a="http://schemas.openxmlformats.org/drawingml/2006/main">
              <a:ext uri="{FF2B5EF4-FFF2-40B4-BE49-F238E27FC236}">
                <a16:creationId xmlns:a16="http://schemas.microsoft.com/office/drawing/2014/main" id="{956BC29B-8F79-48A9-A8E2-D9E3664C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381250" cy="1076325"/>
          </a:xfrm>
          <a:prstGeom xmlns:a="http://schemas.openxmlformats.org/drawingml/2006/main" prst="roundRect">
            <a:avLst>
              <a:gd name="adj" fmla="val 11504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3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2B33EE98-513D-49E4-9A6F-A3717886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24500"/>
            <a:ext cx="2114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Qdrant</a:t>
            </a:r>
          </a:p>
        </p:txBody>
      </p:sp>
      <p:sp>
        <p:nvSpPr>
          <p:cNvPr id="34" name="component-detail">
            <a:extLst xmlns:a="http://schemas.openxmlformats.org/drawingml/2006/main">
              <a:ext uri="{FF2B5EF4-FFF2-40B4-BE49-F238E27FC236}">
                <a16:creationId xmlns:a16="http://schemas.microsoft.com/office/drawing/2014/main" id="{53FD1088-5B01-4E6A-AD17-A9F6EBEC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038850"/>
            <a:ext cx="21145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Corpus vectorial</a:t>
            </a:r>
          </a:p>
        </p:txBody>
      </p:sp>
      <p:cxnSp>
        <p:nvCxnSpPr>
          <p:cNvPr id="82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333750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410325" y="3538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4" name=""/>
          <p:cNvCxnSpPr>
            <a:stCxn xmlns:a="http://schemas.openxmlformats.org/drawingml/2006/main" id="23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296275" y="4076700"/>
            <a:ext cx="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5" name=""/>
          <p:cNvCxnSpPr>
            <a:stCxn xmlns:a="http://schemas.openxmlformats.org/drawingml/2006/main" id="23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5219700" y="4076700"/>
            <a:ext cx="3076575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cxnSp>
        <p:nvCxnSpPr>
          <p:cNvPr id="86" name=""/>
          <p:cNvCxnSpPr>
            <a:stCxn xmlns:a="http://schemas.openxmlformats.org/drawingml/2006/main" id="23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2143125" y="4076700"/>
            <a:ext cx="6153150" cy="13049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E293B"/>
            </a:solidFill>
            <a:tailEnd type="triangle" w="med" len="med"/>
          </a:ln>
        </p:spPr>
      </p:cxn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26CBDD43-D77A-44E7-88EA-23F23638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4610100" cy="4619625"/>
          </a:xfrm>
          <a:prstGeom xmlns:a="http://schemas.openxmlformats.org/drawingml/2006/main" prst="roundRect">
            <a:avLst>
              <a:gd name="adj" fmla="val 371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41" name="diagram-reading-label">
            <a:extLst xmlns:a="http://schemas.openxmlformats.org/drawingml/2006/main">
              <a:ext uri="{FF2B5EF4-FFF2-40B4-BE49-F238E27FC236}">
                <a16:creationId xmlns:a16="http://schemas.microsoft.com/office/drawing/2014/main" id="{E1A71FD6-4F73-4BBB-8C72-30C2FCC9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5750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CLAVE DE LECTURA</a:t>
            </a:r>
          </a:p>
        </p:txBody>
      </p:sp>
      <p:sp>
        <p:nvSpPr>
          <p:cNvPr id="42" name="diagram-reading">
            <a:extLst xmlns:a="http://schemas.openxmlformats.org/drawingml/2006/main">
              <a:ext uri="{FF2B5EF4-FFF2-40B4-BE49-F238E27FC236}">
                <a16:creationId xmlns:a16="http://schemas.microsoft.com/office/drawing/2014/main" id="{5CFAE285-AB5A-4A0F-833D-48DC7090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86125"/>
            <a:ext cx="4143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memoria local del proceso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se vuelve duradera por</a:t>
            </a:r>
          </a:p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desplegar en un Space.</a:t>
            </a:r>
          </a:p>
        </p:txBody>
      </p:sp>
      <p:sp>
        <p:nvSpPr>
          <p:cNvPr id="43" name="diagram-question-label">
            <a:extLst xmlns:a="http://schemas.openxmlformats.org/drawingml/2006/main">
              <a:ext uri="{FF2B5EF4-FFF2-40B4-BE49-F238E27FC236}">
                <a16:creationId xmlns:a16="http://schemas.microsoft.com/office/drawing/2014/main" id="{18DD016B-1586-4153-B26E-8F6F72A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52975"/>
            <a:ext cx="414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PREGUNTA AL GRUPO</a:t>
            </a:r>
          </a:p>
        </p:txBody>
      </p:sp>
      <p:sp>
        <p:nvSpPr>
          <p:cNvPr id="44" name="diagram-question">
            <a:extLst xmlns:a="http://schemas.openxmlformats.org/drawingml/2006/main">
              <a:ext uri="{FF2B5EF4-FFF2-40B4-BE49-F238E27FC236}">
                <a16:creationId xmlns:a16="http://schemas.microsoft.com/office/drawing/2014/main" id="{791DF01F-65C7-4AEE-B546-6932F66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0"/>
            <a:ext cx="4143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dependencia local impediría</a:t>
            </a:r>
          </a:p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que otro use el servicio?</a:t>
            </a:r>
          </a:p>
        </p:txBody>
      </p:sp>
      <p:sp>
        <p:nvSpPr>
          <p:cNvPr id="45" name="diagram-caution">
            <a:extLst xmlns:a="http://schemas.openxmlformats.org/drawingml/2006/main">
              <a:ext uri="{FF2B5EF4-FFF2-40B4-BE49-F238E27FC236}">
                <a16:creationId xmlns:a16="http://schemas.microsoft.com/office/drawing/2014/main" id="{D475F36E-B7C7-419F-936F-C55E4AAF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76975"/>
            <a:ext cx="4143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Error a evitar: Equiparar archivo subido con</a:t>
            </a:r>
          </a:p>
          <a:p xmlns:a="http://schemas.openxmlformats.org/drawingml/2006/main">
            <a:pPr algn="l">
              <a:def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servicio funcional.</a:t>
            </a:r>
          </a:p>
        </p:txBody>
      </p:sp>
      <p:sp>
        <p:nvSpPr>
          <p:cNvPr id="46" name="panel">
            <a:extLst xmlns:a="http://schemas.openxmlformats.org/drawingml/2006/main">
              <a:ext uri="{FF2B5EF4-FFF2-40B4-BE49-F238E27FC236}">
                <a16:creationId xmlns:a16="http://schemas.microsoft.com/office/drawing/2014/main" id="{A3284141-C0DA-454A-A56F-81475E8B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7" name="takeaway">
            <a:extLst xmlns:a="http://schemas.openxmlformats.org/drawingml/2006/main">
              <a:ext uri="{FF2B5EF4-FFF2-40B4-BE49-F238E27FC236}">
                <a16:creationId xmlns:a16="http://schemas.microsoft.com/office/drawing/2014/main" id="{0F8F2916-D6BC-4A3A-B15B-B30AEDC8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Desplegar añade responsabilidades operativas al agente.</a:t>
            </a:r>
          </a:p>
        </p:txBody>
      </p:sp>
    </p:spTree>
    <p:extLst>
      <p:ext uri="{BB962C8B-B14F-4D97-AF65-F5344CB8AC3E}">
        <p14:creationId xmlns:p14="http://schemas.microsoft.com/office/powerpoint/2010/main" val="176564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43300173-9885-4CCA-8CBE-1BB97CE1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0C217-0692-4962-9D0B-1E598306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CA10F5A-5E0D-4D3B-BDFC-9795FC3B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E009819-A2E2-448D-B869-E8A7793F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C0FDA2-2067-465B-AF92-39A66830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cambia respecto a la laptop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7D0FF44-CC9E-44A1-AF0A-6B850A5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producción como una ejecución que otra persona puede invocar sin el autor presente.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32D0881-C225-4FD0-BD97-C5AA76B3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BD2EFEB-13F5-4637-8075-80AA81B4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503CCB6-28A6-4198-9881-3B0DA82E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C5BB346-E0B6-4B8E-9489-24FFF389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B64C328-9B24-4F97-8294-42FBC297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C3F592B-C8F2-40EE-8BC8-3C352D8F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6D759B9-ED58-482F-893B-322D21C8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B8CA1F6-26BC-4E93-83D1-BE40F56D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7388424-FAF6-449B-B08D-05276F71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Acceso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invocación deja de depender de la terminal del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proceso debe arrancar con configuración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disponible.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Evidencia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Otra persona comprueba una consulta completa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desde fuera.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0E25C47-6DD8-4F00-B20F-3B002B4F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4D53C414-6C05-45FB-A512-E9A5260D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F3B9A01D-8468-46E7-B65D-C8343856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Equiparar archivo subido con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servicio funcional.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3F380483-BE15-4306-909F-76CF7C1C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DB808FCC-5460-4ED9-B023-F44A57E9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1662DDC9-4BC6-4C0B-9B64-7E21DA3C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6AB36D29-16D3-4FA7-9DA0-3B0EB90C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dependencia local impediría que otro use el servicio?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51C375AF-8343-4573-B18B-9BB952A2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5BA977E2-6C48-4F03-AE3E-90B20576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Desplegar añade responsabilidades operativas al agente.</a:t>
            </a:r>
          </a:p>
        </p:txBody>
      </p:sp>
    </p:spTree>
    <p:extLst>
      <p:ext uri="{BB962C8B-B14F-4D97-AF65-F5344CB8AC3E}">
        <p14:creationId xmlns:p14="http://schemas.microsoft.com/office/powerpoint/2010/main" val="2044342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57D8B26-761E-4228-8703-1282CCFD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D3E2F-E665-4230-A84F-24E3F8E7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7BEAB37-4713-44F1-B5C8-4DD24C0F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6600A16-7414-4E23-968A-7498C400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FA3B4D-EF70-4322-AD0E-825221A2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Del script a un servicio invocable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12D5B1E-EA8B-4ABF-9D57-4A4E712B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producción como una ejecución que otra persona puede invocar sin el autor presente.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62D8AD7-3ECC-4372-BD3B-B9FBF26D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F7A3B2F-8AE8-465C-8DC4-D698A7D7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463C8EF-7316-4AF1-A342-890A0733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E43575E-09A1-48B0-9127-9139CA44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E4BB531-1CB3-4AE3-805D-C86FCDD3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95F4035-7A1A-4462-B154-0C1E48DE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BCD69B7-474D-46C7-A6CB-0F332FCC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F63E8E4-DCAA-4343-AD88-DDE953EB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02EBC76-4994-466A-981C-EF97D8CB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1A5A3EB-F0A9-4959-9822-D545E31A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503BCAD4-3515-4128-AB5E-0310ECF7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0D2AA77-4AA1-4C6F-8B3B-06EB191F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evaluador consulta un pedido desde su propia computadora.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57929C2-DEC9-4FA2-AA25-54F86ED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4BA5995-00F4-4D53-B701-BFC160DA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14774-E135-493E-95CE-9E6E3544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07E3750-83EF-4B55-B138-6B9F8846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732AE1B-7271-4893-8877-74E886D7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0AA47B55-73CD-4C55-81E3-36B3D7CD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la URL del Space y la key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equipo.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FA48C42-E476-4AC7-94D6-49416971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927C4DB-C062-4F87-97DE-FEE2C8D1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A66A9-2570-49F0-AA31-4088FD06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3ED5EF9-13DC-4274-9E05-B48279D9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DDEF61B-B78C-49EA-A8A0-305F250F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Invocar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134D0A68-9294-43A9-AAAC-46B679DD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Enviar el cuerpo esperado 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/chat.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6F3A2BA-B34B-4451-8A19-ADC76ECB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05C72BB-E8C3-4C1F-B80C-28F47429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F98A1D-F458-4258-A17F-33492926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24F6ED8-4C13-47CC-887A-1FE7662A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352D739-A735-4496-BCEB-13A790F8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06A3BE60-B3E9-4C5D-9177-E1A450A8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Recibir una respuesta vinculada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 simulador.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BBB0BCC-9B24-44E3-B301-6F9D542F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20C9C98-B5AE-4988-97F1-0B97F9F2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3B25F8A4-1AD1-4479-B759-5E139A39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URL permite acceso; el comportamiento completo todavía debe probarse.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6439A5B-735A-4601-B391-32FEC447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E2231425-388A-4E86-A7DF-2BAB8595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Desplegar añade responsabilidades operativas al agente.</a:t>
            </a:r>
          </a:p>
        </p:txBody>
      </p:sp>
    </p:spTree>
    <p:extLst>
      <p:ext uri="{BB962C8B-B14F-4D97-AF65-F5344CB8AC3E}">
        <p14:creationId xmlns:p14="http://schemas.microsoft.com/office/powerpoint/2010/main" val="1642549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702F3A0D-0F7F-4BA2-988F-EE1912ED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B30DD-67AD-42DB-BC3F-39733A17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1BEA330-B3BB-4E70-991A-6947AAD9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8F33F7C-C9E8-401C-952E-7E6F2B4D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70DEF2-A580-4369-B6CE-2F7D66B2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Configuración por entorno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15984CB-55C9-4E7A-AE03-FF2B203B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Mantener el código y cambiar los valores de configuración entre entornos.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D5BFF62-909B-4881-9D54-DE095371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C276C90-520D-43B0-9105-BA71D0CE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415DAC1-9FD3-4048-A799-2531B418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23B27D3-89AA-4F1A-ABDF-B421EB54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034E20B-8F34-4E53-BB7A-9EE77CF4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AB01941-375E-45AD-B3B5-B5B1B9F4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B31302F-4E5E-4850-8A1A-DC7A9A0B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C833DF07-5F7E-4E26-BE66-2C4B3B31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BEB4595-DBF0-474C-B445-8A693D80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8EC7A1D-3330-4DF9-9465-0E6A2094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E5BF4CA-0F78-4FD5-BCE3-ED613882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E525C-257A-4DAD-9D82-80B040FA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AEAA7E4-9206-466A-A7A0-5F25215E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DB1D50A-D160-411B-A077-14B975EA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Laptop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7E05726-63EC-4F53-A5F8-3074B1F4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.env proporciona variables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durante desarrollo.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1947810-9B36-4DEB-8920-6F0889DC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ADAFF3F-2B3A-4333-8AC0-36434AF6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EB567-B851-45C0-94E6-9D69405D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B27C3CF-9C97-4E3E-A63B-F72BA00E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1651B1D-089E-4DB6-8F9F-DB22BA66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Space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2ED6BA9D-9BB1-4040-940A-DB9634B4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plataforma proporciona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secretos y variables.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214C57E-B999-449A-BA59-AC450591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B6B8107-5B9D-480A-9D74-1B0C9CE4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4EB0F3-4251-46A6-9EE0-F0729414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66A7226-67FA-4502-A843-335C4A2A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200A9F7-1B1F-4028-A931-A950B40B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Aplicación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35F408A6-2E52-4B45-9026-D42151DC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comun/settings.py lee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configuración al ejecutarse.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3C78FF64-B79F-4A5D-AE9F-2713542C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32769FD-0489-42F7-A2AD-25E5FE8C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6D085A81-0A61-4C72-97F3-51635298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comprobarías si solo falla la versión desplegada?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B7DEE8D4-4A9E-4B0F-8CDE-5A0B0432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5F558F5D-9634-427F-A2D8-651ADBEC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12C24AB6-21B0-4BFA-82F9-03347E23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Editar el agente para pegar claves o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URLs de cada entorno.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054230AB-4BB5-404C-9A03-B1AEEADE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F835BA9D-2F90-4DAA-A40E-4913CD1A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Separar configuración permite mover el código entre entornos.</a:t>
            </a:r>
          </a:p>
        </p:txBody>
      </p:sp>
    </p:spTree>
    <p:extLst>
      <p:ext uri="{BB962C8B-B14F-4D97-AF65-F5344CB8AC3E}">
        <p14:creationId xmlns:p14="http://schemas.microsoft.com/office/powerpoint/2010/main" val="10970764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22DAFC1E-25FD-4D99-A1C0-06BBE9D0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44AA3-7317-4BE2-BFDF-952239A1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04568F8-C640-4DCF-89C5-E7207241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0647720-B717-4EED-95C7-29D91837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E093A5-6A86-4281-8C0D-00C5C41B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Revisar la configuración de destino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7280EB2-C085-4EDB-9AD3-552672D4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Mantener el código y cambiar los valores de configuración entre entornos.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136852E-D350-4295-943A-9449AC63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8BC0A91-E948-4C2D-8F9E-4E3ADCB3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0198301A-32F2-4B6E-9377-AE9EB6D2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E46DF46-2077-48EC-AFF1-F5D62723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C9F13F0-04C3-4B6F-B313-0DF33E2D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BDB366A-392D-4772-AA8A-DF5836B8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578007C-5C54-499E-90E1-DFC9DE4A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95E1396-3B94-4F50-BD65-0691435C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B92AFA2-71EA-4174-ADF4-7FB8C5EB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Inventario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Identificar variables realmente utilizadas por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checkpoint.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Destino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Cargar endpoint y credenciales correctos en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Space.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Comprobar el arranque sin imprimir secretos.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06B5307A-04CE-47A1-B636-C9D793E0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F58A3121-B01F-4BA9-A2C4-812C2BFA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7F678908-4CC2-4E1D-89E4-1B75208C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Editar el agente para pegar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claves o URLs de cada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entorno.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DFD74699-0281-4E39-A80A-87F0F4CB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DBE16F7F-BCC0-4A55-B340-C9B27D0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9EB74644-2073-456C-BEB1-47C6391B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B8950282-4C24-426F-8903-1BACA6ED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comprobarías si solo falla la versión desplegada?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F33C0D19-33A3-4E76-B1FE-B5CAB645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7890CBAF-4DF4-4EF2-AD2D-355FCB0D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Separar configuración permite mover el código entre entornos.</a:t>
            </a:r>
          </a:p>
        </p:txBody>
      </p:sp>
    </p:spTree>
    <p:extLst>
      <p:ext uri="{BB962C8B-B14F-4D97-AF65-F5344CB8AC3E}">
        <p14:creationId xmlns:p14="http://schemas.microsoft.com/office/powerpoint/2010/main" val="13326289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2F81AEC-BA15-4FA3-9448-21D28A62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B6E58-E64F-4E9F-BE6B-467CE921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E223933-38A4-47E6-9973-E85B4471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496C3CB-F528-451A-A767-C61275C9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1F1BB4-85CB-4132-8D5C-EB9F3C1A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Configuración por entorno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DF944C89-BF76-4DD4-8394-CA5CAC34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Mantener el código y cambiar los valores de configuración entre entornos.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C6C70D8-6B1F-4391-BB07-21A4BEA9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8905E14-596D-44BE-B56C-2C43E0E1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E29A704-42D3-4F75-8E8F-9124E7ED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955431B-2D02-4E26-8F5E-839A88AD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567BB9F-5410-48BD-B363-CAF7B1C3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AC43052-9FA0-4C4A-8414-C9700DFF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88A9CB2-2A4E-4D80-862E-DB19D9CD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3637B92-0F58-4AD4-AB20-BF2794D3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90CC3A1-B08B-4715-93F2-EBCDAF5E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9B1F3F65-8668-4516-BAC0-CADC8C4B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75C670D4-58AF-4B88-971E-FAFC2FCE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AB4B0BB4-027B-41E3-BDFB-317CBD55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agente local encuentra Qdrant, pero el Space no.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6ABA1E6-60FC-4BF2-8C79-0CCBF690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B134F56-BDE5-4673-8511-C3871AEB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BA204-1868-47AF-B5C6-C75495B9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F291B2A-C44E-4934-9C1D-0FC131F4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A558A2B-55F2-418F-8339-6B5626E8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B659CEE0-70C5-475B-B0D8-081E23EF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presencia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QDRANT_URL y credenciales en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destino.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4D21DE0-08C4-449E-B7F3-82D08A17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A2F37BE-8F80-45D4-B1D3-2E53FDDB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AEF0F5-2946-4ADC-AEB3-319D411E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9D247F5-A1CE-46FA-92F9-2131DB0C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680CEFA-F625-4AC4-B2DC-80EDEDF5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Corregir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D8FF89EE-7C58-4969-A4C7-63FFFA30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Configurar el entorno del Space.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88BF4F9-F839-4936-A0FC-0EB22ABD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89692CC-0312-4E1E-87D5-F677F22A4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CA7A49-A17D-40FC-AEC3-E25B4A42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2728613-4DA5-456B-9A09-62FFEAC6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040A128-FBA3-4A82-98C5-88D39E97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Reiniciar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390EA6CD-2670-40CD-8AC8-B2E1C377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Volver a verificar la conexión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desde el servicio desplegado.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F3895CE-D048-482F-9831-034F4110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1BE0E87-7A6C-4190-8BBC-3BD8CA3F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EBDFBE5B-512F-4D1E-AF18-3A9BD054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.env de la laptop no se copia mágicamente al contenedor.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2B60576-1554-465E-83AC-7D4060A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07997CE-9C2D-495E-A066-DC9AC499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Separar configuración permite mover el código entre entornos.</a:t>
            </a:r>
          </a:p>
        </p:txBody>
      </p:sp>
    </p:spTree>
    <p:extLst>
      <p:ext uri="{BB962C8B-B14F-4D97-AF65-F5344CB8AC3E}">
        <p14:creationId xmlns:p14="http://schemas.microsoft.com/office/powerpoint/2010/main" val="8599356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25406945-0052-4EA7-B48B-F6CBB809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019D6-B3BF-4A70-82FD-7B34B4FE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B6706F5-B3BA-4025-903A-F224A17A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CE3BE08-51E8-4E1F-A7D9-B9417EA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B5229C-CF02-460B-ADE3-F7F43378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Dockerfile: describir el arranque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F04F721-2D03-47CC-9B79-55811399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las etapas que convierten el repositorio en un servicio ejecutable.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CAEA173-D98C-4ACD-BAA5-82750241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E13686A-4295-484F-B624-3F967D5F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4A8AE7D-9A33-4C2C-8F2F-6FBB99C8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85D9145-CA56-4628-BCFF-003E3921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9B01E80-3D04-43B6-82ED-26C1FFD9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23F658A-E5D1-437C-94D2-1C1061DF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9BFD24A-C4EF-40AA-A94E-1BEA11B6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D82CDDB0-093D-4296-86AB-D8D19A61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173AB45-2E1F-4076-9B19-1984ACDE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6BA464B-C33E-4924-97B1-3219EE23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BBA1A89-3B1E-4017-A5AC-179F854D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62D4C-F0F3-477F-8911-F77FA41D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DB4EAC2-D4FC-4310-90B8-9175D689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B653B55-6FC3-400C-B0C9-DC2340E4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Base y dependencias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4DF5F070-3B1E-4056-AF60-99A27FE0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entorno Python 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instalar requirements.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0B3A2F2-4648-4510-AA6C-7057677D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2648500-7604-46AA-AEC8-8379873A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22DE0F-E3E9-4358-8864-8A108FE0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4E1544C-0399-4A42-B76F-4ADB36AB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7A54448-D950-460C-8D01-74AC8053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Código y proceso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36A70758-092D-47F5-87F0-BEC2B7C0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Copiar archivos y definir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directorio de trabajo.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E53F739-DB5B-4968-A47E-F4944209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C02B991-6EFD-4772-9261-79AB8E3F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CDDD21-7814-4B32-88F8-8CB5C13C0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499FF49-E9FD-4687-9976-32FA0ADE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4011027-6C8D-4879-BC6B-EEE8C1DD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Arranque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A9534FD9-2421-45CF-B3F0-C7A185A2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Iniciar la API con interfaz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puerto requeridos por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plataforma.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3FB3FE5F-23A1-415E-BE5D-A17657E0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BF22575-5E3C-4642-BDE5-B9FF00C2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436F83D3-2F18-4723-A2DB-EA24C8A0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diferencia hay entre un fallo de build y uno al iniciar la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API?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D8DE4202-E7C7-444E-8207-079717FC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FC3CF0BD-D804-46C5-9FD3-E9B75FC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64B8D97A-EED7-4142-B932-4DF4FE1F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EXPOSE con abrir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automáticamente cualquier servicio.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3F7C4CA-BAB6-46BB-91C8-590303BB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6509F628-E0F5-4E13-B767-C6BD6FAE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contenedor útil incluye un arranque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433495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679E13F6-679A-4203-95C9-C53F211F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B945C-3C40-4784-B938-8626299F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721771A-755D-4486-97C4-40089A16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4DBA1FD-4B3C-47A8-B7D0-1690D723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2C2C78-C1DB-4AC2-8D28-DFCF729B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Leer cada instrucción por su efecto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AC30F8A-B30F-4ABE-8B4E-FEF888B1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las etapas que convierten el repositorio en un servicio ejecutable.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0C98DB3-C0B2-4B59-9F84-7F2DB2D0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5861516-8CD0-4020-9714-8768B83E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42EEEAE-636F-44EE-827E-438D0A17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9AC879C-DFEA-4241-BEFB-F9978E44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220369E-1712-4C19-8604-7C2284A1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4ECE710-9C57-48EC-BB2D-8BB87AE4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E75E4C3-11ED-49C9-9B95-6A872535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6EBBAB9-09DA-4661-B46D-FE0F5EAE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EE1585B-D4FF-47BA-9427-A030CFB4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Construcción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se instala o copia durante el build.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comando se inicia al arrancar el contenedor.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Configuración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Qué valores se reciben como variables en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836142FF-2D88-4240-956A-A0D2BA83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C9BBAFC-A5BF-460D-B4C4-FE3FB54F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9330E071-740C-437B-8404-27FB90A1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EXPOSE con abrir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automáticamente cualquier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servicio.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0F194C7E-923E-46A5-9F0B-34D5ABEC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ED3F7AB9-B25B-47E5-9E06-35B4C8EC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F8F3F111-1622-4718-A63A-3A4AD980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18762F86-68AA-441E-B8EB-C79BF1B2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diferencia hay entre un fallo de build y uno al iniciar la API?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86A4CADA-B25F-4E74-B797-87F11BC7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520B1F87-C69F-46F2-AB49-94F4C8CF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contenedor útil incluye un arranque verificable.</a:t>
            </a:r>
          </a:p>
        </p:txBody>
      </p:sp>
    </p:spTree>
    <p:extLst>
      <p:ext uri="{BB962C8B-B14F-4D97-AF65-F5344CB8AC3E}">
        <p14:creationId xmlns:p14="http://schemas.microsoft.com/office/powerpoint/2010/main" val="8928429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E67CD950-9525-414D-96D9-1918C236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1FC42-42A2-445C-A1D4-E85A76B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F7EB037-D90D-414E-A309-7C572C8A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9C37AC7C-FEE7-49C2-A80F-D3DB1389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3472F6-7527-4AA2-934D-6039DA22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Dockerfile: describir el arranque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F1A2BE9-A913-44FA-BA78-99AFAA4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las etapas que convierten el repositorio en un servicio ejecutable.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AADBCF6-B374-4F99-A294-9A5C3719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279987E-0C8A-4D80-9F25-E3C0D01C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D44C333-CC94-44C2-BD0C-CECB2FF0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FA0CF07-2C4C-47B1-AAC5-8E414F6D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C38DDAB-6C02-40B5-8FDB-1ACCB130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3D96076-CD24-4B79-BF03-F1A7C469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09501DF-1423-45C1-B886-D048F7F2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0A70B76-0ED2-4B1F-A4BD-2828BFAC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5D26DB7-A0FA-4E1D-BB4F-CFC6EE20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36E704AD-9D83-4295-8CA9-C2E496EE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23B300C7-E316-4254-B0EF-BD97DE0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E817E33C-E68C-47BE-B38E-F0367EFE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build termina, pero la URL no acepta conexiones.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D5696CC3-8533-4974-8E77-22397EF4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D2FCDF8-1BDB-4B2B-9FF8-E6B9C226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3F993-648E-48D7-A13D-0F389DD9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B426594-E964-4F31-8A45-2F6E2B4B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4580A84-E1B2-4997-B8B2-9592AB7C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Aislar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4661894C-1609-4411-8D1D-99026417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Construcción correcta no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demuestra escucha correcta.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114E35E-1269-43D2-BD65-1CFBE503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2FC8806-1C59-46EF-BD0E-4D9D0566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A242FD-A29B-49A0-81A6-5C08561F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D38AB0C-6FED-4880-B8EF-F7E591B6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6AC5BA9-AC85-4198-B49A-7C9826CD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1E4E83D-4B34-40B0-9522-DC714B02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Comando de arranque, interfaz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puerto del Dockerfile.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71C5D22-226B-46F0-A2BA-5A8B2C67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B048A05-5C1E-488A-8A28-B0B9C679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32FEB-9381-439D-A227-749C3129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80F9513-4D48-48EA-9B7F-0EDC24F1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5A8BC30-E8A6-4B6B-9D80-A3509D41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5DC3006-02A0-4DE4-B64B-AF5F5F9F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/health desde fuera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después del redespliegue.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0D9993AB-EF75-4E91-A861-D4D90B5B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A4836739-94BE-4FA7-A5A9-94E96B10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B28A19AB-2BAF-4AE3-A79A-DED275DF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HF Spaces construye el contenedor; el curso no exige ejecutar Docker localmente.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160DF935-C21D-44BF-BFDD-C69F5DE2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B1F4E755-3F02-431C-9DE9-426C187A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contenedor útil incluye un arranque verificable.</a:t>
            </a:r>
          </a:p>
        </p:txBody>
      </p:sp>
    </p:spTree>
    <p:extLst>
      <p:ext uri="{BB962C8B-B14F-4D97-AF65-F5344CB8AC3E}">
        <p14:creationId xmlns:p14="http://schemas.microsoft.com/office/powerpoint/2010/main" val="1374247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0E0888C3-2168-49A0-81C5-C2A5E626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9DFE1-EA2F-4B5F-AD43-C00AEC94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6E22AC3-671E-4F79-93B4-0D662CFC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E7F089C-25E9-4D2B-AAE4-EBA266BA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A481A6-E2FB-4474-A93A-7245F280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FastAPI: health y chat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51D8C7B-9A7E-488A-8D0D-4B8E6ABA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comprobación de vida y ejecución que consume recursos.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64CCEA4-0BE8-4179-B947-B4175F3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6D85DC6-F3E2-4917-83FC-AEBCB868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99D9450-B56F-4BB6-B024-0B469FA4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0F3DA07-1ECB-4FE9-88BB-03224EBA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B60BDE3-ADEA-43E6-99BC-0AC2CEBD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1BBA269-1E68-4DE0-8DAF-A76B6397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D73AAC9-D5ED-44A2-B3D1-4455010E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D38663A-6712-4212-BA36-0DCC9620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40E18FD-F76F-4F2F-AF71-83C4DFF4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DBB07FE-7868-486E-BA6F-A5A1197B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4FB1427-89C2-44DD-BC61-E505361D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7E8AD-76EC-41EC-8A26-F2B7BC5F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803C34F-5B64-487B-A774-F21C13F6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69D8826-191F-4EE3-955B-045D7D67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 /health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A5EA43C-A25B-4D69-B1CE-8A71E08F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Permite a la plataforma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comprobar que el servicio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vive.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CBA249C-290D-473C-95D0-C302372C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DBD8F6B-70CB-4A69-A6B8-5B8EFE88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D350CA-95F2-48D9-9D43-6C506323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B49D086-6B93-48A2-8ECC-FB16BF3B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413B935-F524-4160-8B62-9F37CFFC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POST /chat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FE9EBFAD-166C-4806-953B-C7E027AE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Recibe la consulta y ejecuta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agente.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5158D57-35BF-41FF-9C92-4ED73F61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BDAB625-185B-409C-9468-58035A6B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EC6C1-1C64-421F-897C-2968B96A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3879647-E98F-4FE3-AFB0-CED300BD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397192D-B274-4B2A-BA32-CEE1F1EB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X-API-Key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FCFAFB8F-5729-4090-BC17-2E516588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Protege /chat con la clave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propia del equipo.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FED6BA40-FEF2-419C-8F68-29743980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00D6114-EB32-4BB8-A876-04A81176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3ADD20D0-3593-4E3E-BBB5-50A8BE71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no proteger /health con la misma key?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5F9A3BB9-08CB-4C84-973F-80C48CBD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47398084-EE45-4B4F-8F67-D9FA805B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540A4056-28E1-4D71-BBFD-DCDAFF4E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Publicar /chat sin control o confundir la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key del agente con HF_TOKEN.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80CE0857-CCAF-45F7-B91E-71BC40EB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A0418FF0-C3EB-47DC-972C-2E804301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Cada endpoint tiene una responsabilidad y un nivel de acceso.</a:t>
            </a:r>
          </a:p>
        </p:txBody>
      </p:sp>
    </p:spTree>
    <p:extLst>
      <p:ext uri="{BB962C8B-B14F-4D97-AF65-F5344CB8AC3E}">
        <p14:creationId xmlns:p14="http://schemas.microsoft.com/office/powerpoint/2010/main" val="10402658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47DC6A8F-3DDA-4CE4-A4EE-B07AE9E0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1953B-1F7A-48AD-B6FF-F429127A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AF60F4A-C1E0-4605-9235-F9CE2348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D74A63F-DB82-444C-85E6-59B60D95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702404-0416-4BD1-B560-9C10F548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Probar las dos rutas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7FB8810-7AEF-485D-A5FE-B8EEC330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comprobación de vida y ejecución que consume recursos.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113D38F-46E8-45A4-BBF3-AE483663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F955568-D1F3-4FBD-8A4A-E5023046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F2CCC32-6868-46DC-8D8A-19FCFC0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DD00ECC-4E15-4095-8E0D-9E8D4732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45E72E7-51CB-4460-AFE7-02894AD6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C373F5D-869F-4C35-B3A5-C198C288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3C9BDB1-7989-4A33-A5DA-B2872211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C68DC23-DA09-481E-9AC0-9C25DEF7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3FB0AA6-B3A4-4229-9110-14C1C39F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Health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Debe responder sin una credencial del cliente.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Sin key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ruta de chat debe rechazar la invocación.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 key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solicitud válida puede ejecutar el agente.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988929D-21D5-4035-A668-B880E8C0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A04990E5-5251-4D25-8E1B-94CFB35A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033A911E-4CBE-40BE-918D-1F9A33FB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Publicar /chat sin control 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la key del agente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HF_TOKEN.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3D70731F-A0BD-4745-B68A-C07D8E5C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72CD2B6-B4BC-4288-A507-0D44E496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33766845-BD45-40A3-AAEE-87B0BC79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AE038750-494C-48F8-B34A-5526B6AC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no proteger /health con la misma key?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1B4302ED-D2AF-4854-9596-2624FE57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0481D468-99CD-4F00-8E78-4176700C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Cada endpoint tiene una responsabilidad y un nivel de acceso.</a:t>
            </a:r>
          </a:p>
        </p:txBody>
      </p:sp>
    </p:spTree>
    <p:extLst>
      <p:ext uri="{BB962C8B-B14F-4D97-AF65-F5344CB8AC3E}">
        <p14:creationId xmlns:p14="http://schemas.microsoft.com/office/powerpoint/2010/main" val="11530748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34B0019-DDEC-4BB7-8F1D-E322C59C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9863B-13BB-49F2-AD45-E9EF773F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EC5936A-D6CB-48D7-8C74-8DFF91A6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C66BBA3-2820-4540-B074-1B7B0CB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DB9E3-C692-4CF3-8377-2CE1889D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FastAPI: health y chat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DD75D8F-CDDF-479B-A732-B01FD533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comprobación de vida y ejecución que consume recursos.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DB6142C-85AD-4485-BA1D-2E0300ED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327E7C7-D3B9-4545-8E5E-2FC32E2A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FD6D7C7-F147-4DEA-845E-D0D6C932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762D459-E978-494D-863D-C6FBA4DA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A249A5F-23EE-438A-9720-76988546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0784243-4F83-483B-9F6C-0489BFB5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70268DA-5A34-4625-88A2-0943258B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0EC983A1-A571-4D47-AAF7-C5F3B78D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1AFDB29-3FF8-4E66-85D9-C9190621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D395F2F-EB65-46DE-9517-4F20E18A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6EDB4C77-6C8B-4159-9DDE-1F2079FD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57775DBE-FC53-487C-BF30-A6C6AED8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persona conoce la URL pública pero no la clave del equipo.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30F584B-04ED-42DE-8519-0C1FCB31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81C52D6-6BC6-46B3-90C4-50F9BD89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9B217-CDE2-4B8C-AB76-2259A8A3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FE18B2A-A3E8-4D50-8FA9-F59EB789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16A26B5-0283-4490-9B04-CC0FC7F1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Health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9FFCD96E-D85C-4E44-9ED8-CDEAFF8E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comprobar si la API está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viva.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A1EAAAE-0C41-481C-9673-A7B96AF0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5D875F8-CDDA-4403-BB0F-30032C18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D91EA5-F5AA-48C0-819D-27D45C12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101A9B0-C1D3-485B-9520-A30C5B84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A70A58A-2E29-4D04-8B95-858F1495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Chat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D0BE6D50-795A-4BAD-8E4A-C5E92BEC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debe gastar cuota mediante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llamada sin autorización.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B787767-6931-40B5-BF55-8B724C40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5DDBCFD-98EF-4264-8244-82F531BB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FCB95-D1FF-435A-9B68-955519A4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C4B3196-9A56-4BEE-9F84-23FD3283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BFBBE72-57B8-4B05-BDBA-8027BC50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Evaluador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245AE8A9-919B-4AD7-87F6-45A436F8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Recibe URL y key por el canal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previsto para probar.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CBDE2BFD-4A3C-4747-906D-9F3F46A4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019EC94-18F6-4AC4-9892-BF4E5B4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BEAD0A21-AE7B-48B2-9662-52AA24A4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health exitoso no demuestra que modelo, tools y RAG funcionen de extremo a extremo.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659EDB17-2501-46CE-933B-97F1725A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8666C03C-4E08-4526-99A0-5060D633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Cada endpoint tiene una responsabilidad y un nivel de acceso.</a:t>
            </a:r>
          </a:p>
        </p:txBody>
      </p:sp>
    </p:spTree>
    <p:extLst>
      <p:ext uri="{BB962C8B-B14F-4D97-AF65-F5344CB8AC3E}">
        <p14:creationId xmlns:p14="http://schemas.microsoft.com/office/powerpoint/2010/main" val="16743532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46A8D4D-CA61-459A-8117-68108D29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39A44-7791-4656-88FB-C9DF137E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80A80A5-A11F-49C5-B70C-805E7507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F2E4BBB-D8FB-4BF4-93F3-6DA886D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7A230A-AEC5-4AE1-97A5-87B065F5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Secretos en el Space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0943025-D6BE-41AC-A402-294A7334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Cargar credenciales en la plataforma y responder correctamente ante una exposición.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2CDF0B5-679E-4EB0-8F6A-E1E78F94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0DB62CB-C51D-4266-BD04-36717EFD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BBFC7BD-3A6C-46B1-AFE9-351C472D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0688538-1AC7-4FDA-BD40-85926381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5B92F11-DF6E-4CB0-AECF-58F3E0E5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968711C-B5FC-4856-97BD-F887A059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C51175A-E319-41E4-9316-EF34E929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9BF0798-177C-4B9C-8E86-4ED1663D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3D82625-2F63-41A1-BF5E-83021ABC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B30102B-9750-482B-9B6A-280CE3A0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3F40111-2528-473C-93F3-8141B63F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9F62D-DEB2-4577-B031-461A4235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8D67766-5953-446B-B78E-D54B28AD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53560F8-78EB-47EC-BAD4-F906CC84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Repositorio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5008148D-F1C0-43E3-B53B-AD88A8DE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Contiene código y nombres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variables, no sus valores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secretos.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E8D6720-9EEC-4E43-A21D-07EAC8C3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0591EB2-42E2-4D6E-985A-1AD1FE54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C9A91-DA26-47EF-9150-1A379EDB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31DD763-A822-4B0B-BB04-E734F764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51BF2C2-5E7C-44A2-B637-81BE4A82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Plataforma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23325FB6-FE11-4EB3-8BA0-1CB9053B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Entrega credenciales al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proceso desde Space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secrets.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CF5BF03-497B-4A57-A038-0344CD6E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B1F33E5-1AAB-498F-A71F-2C45E8D5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3D28D1-6E06-4D00-83A0-ED2340C9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DBC9419-13A8-41B7-8C8E-9DB5FA72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4065F33-3F6C-48BB-A23A-AF8502F3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Incidente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438CB759-D4DC-427C-9B62-9ABA1932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credencial publicada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requiere revocación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reemplazo.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AD86889E-63FE-4742-8C94-BE50B2C8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695401B-8E9A-4AD5-918A-4B9E5AEE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8E9D617A-59FA-4400-BF40-FDA9A5CA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acción hace inútil el token que alguien pudo haber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copiado?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CBFC123-3DBB-499B-8A58-37653F3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432B4DF5-68CE-4961-9280-6DDBECCF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666D5996-AA5A-4C70-A60B-1EF33F91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Creer que borrar el último commit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equivale a revocar el acceso.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2A7589F2-34BB-481F-B1FC-80F4F510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F5C548D-FFFA-4F3A-B96D-E8C95E27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secretos se administran fuera del código y con capacidad de revocación.</a:t>
            </a:r>
          </a:p>
        </p:txBody>
      </p:sp>
    </p:spTree>
    <p:extLst>
      <p:ext uri="{BB962C8B-B14F-4D97-AF65-F5344CB8AC3E}">
        <p14:creationId xmlns:p14="http://schemas.microsoft.com/office/powerpoint/2010/main" val="18091511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FDD09D52-BF84-4D97-B334-16E591D2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4B0A1-6F4C-4BB5-83EC-2518FBD3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A7440C5-6EF3-4B7F-B1F7-B1379EC3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3064284-3411-46C2-BCC9-1CE415D6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81C4B6-3B80-48AE-B648-6372FEE5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Recorrido de una clave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470B1B9-3497-416E-A9A4-3124A997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Cargar credenciales en la plataforma y responder correctamente ante una exposición.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C9D7C50-FADB-4604-A36D-E4DACBC3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7986360-38FA-4984-AA55-139DC49A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91200EB-BC42-458B-A8D2-0761B296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2310532-9E2E-4DB0-A01F-74EC070C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5AF685D-CD90-453C-808E-F04E3258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57DF75F-1E42-4B5D-98AC-79843C5F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569C10C-454B-43D5-B71E-62FCDA75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486E36E-992B-4B3F-8E2E-86F4EF22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5EE7C67-62C2-464C-87D9-D97353F1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Crear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Obtener la credencial con permisos adecuados al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servicio.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Configurar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Guardarla en el destino que ejecutará el agente.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Invalidar la anterior si se expuso, sin confiar en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borrar el texto.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6E7375E-BB8C-4176-86B1-09E797E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C24C09B-32F9-4385-9CEC-FE745B59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6BA993BF-F8A2-48A7-960E-CA740D54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Creer que borrar el último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commit equivale a revocar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acceso.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532A6346-25BE-4C33-9678-CE7EAE6E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45287A6-AB46-4DC3-A8A8-16ADE0FE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005BBEEE-359D-45A5-86C4-9E4E1441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57637E52-D17F-47EA-814A-8F41F2C3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acción hace inútil el token que alguien pudo haber copiado?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FFE790D5-CD35-45CD-B9D2-2E16F652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D717272B-A0C7-4044-BD36-F3FCE224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secretos se administran fuera del código y con capacidad de revocación.</a:t>
            </a:r>
          </a:p>
        </p:txBody>
      </p:sp>
    </p:spTree>
    <p:extLst>
      <p:ext uri="{BB962C8B-B14F-4D97-AF65-F5344CB8AC3E}">
        <p14:creationId xmlns:p14="http://schemas.microsoft.com/office/powerpoint/2010/main" val="11426866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4091B99-9765-4BC5-A771-2FC1046F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39794-5EBF-4E8A-9CCE-F0178BDB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B49F7A8-018E-4E1E-B10E-15E2B2C1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7269E884-7682-4EF0-B812-00AB9A85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10D085E-62DA-40C7-8040-3691FAF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Secretos en el Space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E459E97-96E6-450F-806E-81C571B9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Cargar credenciales en la plataforma y responder correctamente ante una exposición.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7D57A95-F9CD-4C17-B2E8-547CD0C1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11AE5F0-D8F3-42E4-AB69-1C1CAF48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6CFEC28-6D9C-497B-B67B-3C707ECD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B729A4E-7BEE-4AFE-9BB5-25D50171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263795B-0BE2-45A9-90A9-56C39A68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3A22FEC-E12C-4178-9A63-BA2445C0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D878D6C-139C-47D9-B5B0-94D672B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23F1264-3958-4CD6-AAAC-61526C0D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949A1B2-54C6-4DB4-8A53-05092ADA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23D62227-499B-491D-A3FF-B2C636E0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8F5AEA4B-B9B6-4B6D-A03A-E36095B1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D0CCA6B2-919B-4EB6-B597-006A4AE1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equipo detecta que un token de prueba apareció en un commit.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F4E3B7D-9BBE-4460-8A23-3BD1B7BB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F3E50D4-DABD-4685-B8C6-6177E365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1547A-E66C-46E6-850E-4D9C8EC3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EFB653E-CCF9-421B-B995-ACD1F1F7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7F0BB68-860F-4635-813A-509F9CFD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Revocar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FE1E8482-DDB9-41D8-8DBC-36ADADA4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Invalidar el token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comprometido.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AEE2D51-BA03-46E2-8D56-DDA6FC7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353597C-4EAB-4FE0-B219-BDD1FBE4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55A94-D5AF-4C15-A33D-5F4FA49E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0C8D5A1-867B-480E-AB27-155EF05A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2701E15-28D4-41FF-9699-FAD19759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Reemplazar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2F3875B0-58EB-428B-9E32-7495106C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Configurar uno nuevo en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entorno correspondiente.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93E7D27-5436-4767-86B0-000E209A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46F4910-6238-45AA-9E84-14B93A27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9E2DBA-F62B-4A41-ACED-3979D8E9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CE195D5-7F5C-4D20-90C4-0425072B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7AD7DAE-6799-4ED4-AB0D-D2F5E27E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E15A1A07-A646-401F-BC28-E70A4429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Corregir el manejo del archivo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evidencias que lo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expusieron.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BEA2932F-1235-4F72-9D20-559994DC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3C325A4C-800E-4467-B4A9-73590C6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77DC5ECA-CFF8-47F4-8D02-EB0ED625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Eliminar el archivo no invalida una credencial ya publicada.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0E8ECF6-FBF9-4BED-AFC6-84DF3D1A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5F5BC51-AD48-4946-A9DA-80618276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Los secretos se administran fuera del código y con capacidad de revocación.</a:t>
            </a:r>
          </a:p>
        </p:txBody>
      </p:sp>
    </p:spTree>
    <p:extLst>
      <p:ext uri="{BB962C8B-B14F-4D97-AF65-F5344CB8AC3E}">
        <p14:creationId xmlns:p14="http://schemas.microsoft.com/office/powerpoint/2010/main" val="5528573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16AAD014-9640-4385-8FB0-5C666741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6B001-BAD3-480A-9A5F-1A13D4FC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C603F09-41A4-4D4F-A8C9-C2A9F851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B0DD970-F56A-4E9A-99C9-2FFD9B86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26F028-2F81-4760-92AE-23B09EE8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Cold start y latencia percibida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62B92DB-DD0F-4CB3-B791-A868B9A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la primera solicitud tras inactividad de una ejecución con el servicio activo.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8C766E9-FEC7-49C6-B585-560098F1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FE00283-7136-4563-A7AD-51B08394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7A737027-5C73-47D5-96AC-2C9346A9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FD814A7-1903-4823-886D-36B9A2B6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7B3AF2F-0792-4871-9218-80E3C151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854A870-8C79-456F-A3FF-74D87256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5C2CA41-748D-4910-9680-B51E84CA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3CDDA23-604D-45FC-9654-820A20D3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7213171-9E2B-4F2D-B762-F2D8CBA1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1C005C5-33AC-47AC-A5ED-CCB1B8C3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A38008D-FC5E-4D2A-8475-730A8F05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AB7F40-A12E-4AE2-AD1A-8C2F49EA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DBA6FE6-BCFC-45B0-9A5E-98E79E2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BF90E597-5D4D-410A-9B4A-F5CD7ECB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Inactividad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C32ABA13-8680-42CC-A165-0B0290CB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servicio puede necesitar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reactivarse.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F0E3F79-8D70-43B5-8521-38583957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3B6C8EC-6A94-4634-BBAE-60141452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95B36D-F76B-4C9B-8584-B062B6AE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AB3A4F3-2BC2-4B53-B8A5-48B2702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0C13FA3-345E-45F7-866F-AFA0E0E9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Primera solicitud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E122B25B-F51B-46AA-9DBA-602DC79A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Incluye costos de arranque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carga.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95F81D5-BF31-44D0-9152-BE83696E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D68145B-6312-4E25-8FC5-F3AE28F6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33B077-1920-4CAC-9690-01C3AD1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5048B72-A6D2-40A4-ABAE-948DA95A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F6C670E-52C7-4BA4-901E-6B81EF67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Solicitudes siguientes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9522F9DB-4946-412F-9DD1-19B1EC6E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Permiten observar el servicio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ya activo.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CD5AF73A-8458-40BF-A5D0-85116E40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CAD45E6-5097-4639-B8F0-56BF8178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04F7F960-636E-4E45-B066-3B6F5E8A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dato guardarías junto al tiempo de la primera llamada?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6AF4CF2F-BDAC-4CCE-8083-FDA4778C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18CCB9C2-F5C5-4548-8F28-5A0F2B6D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672B6C4B-120D-458C-AF75-642EF2D8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Generalizar dos mediciones como una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latencia garantizada.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84DAFEF5-9E8B-404E-8540-C1D22EB6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4AF98F50-7F05-4DD3-8CD6-054C3B95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contexto operativo forma parte de la medición de latencia.</a:t>
            </a:r>
          </a:p>
        </p:txBody>
      </p:sp>
    </p:spTree>
    <p:extLst>
      <p:ext uri="{BB962C8B-B14F-4D97-AF65-F5344CB8AC3E}">
        <p14:creationId xmlns:p14="http://schemas.microsoft.com/office/powerpoint/2010/main" val="10046248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08C81BE8-29E0-400B-BBC0-52A78798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02DE5-3F6A-4A83-BE64-23AB59A1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B7112C9-A259-41B6-A544-A479670D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1C7104C6-B26F-4E58-BE26-3B0B3B97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CD44B6-9355-40D2-8691-1A01BCBB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Medir sin confundir causas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D7C7ED6-79B2-48F9-9960-5532557B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la primera solicitud tras inactividad de una ejecución con el servicio activo.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C93245FB-386B-45E1-823F-6F9824D1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4F42B19-AA34-442D-89FB-D7B10E1A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6DCF12D-93E3-4A10-A147-D29D240A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36FD29D-68CD-4C7D-B876-C5F466A4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4CA298D-D6DE-4933-8DB8-E36C8B4B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A08BEE0-0F65-4F89-AD8C-97AA5591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87C1A4E-D394-4B0A-A731-1313E18E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32A4CD2-D4F3-4952-BEFC-38BC4490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0200FF9-6871-4C99-A520-D81679C0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Registrar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Anotar condición de arranque y tiempo de cada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solicitud.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Comparar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Usar la misma consulta al repetir.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Separar arranque, red, modelo y herramientas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cuando haya evidencia.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E88408C7-F29F-4D5C-A257-8311F246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3B463F9F-1ED8-4017-B780-74FF386E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DDCEED2F-93F7-46E7-973A-99A9C357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Generalizar dos mediciones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como una latencia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garantizada.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2F98AF1A-CEC3-482D-9F08-DE499825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DD6F50CA-256D-4811-8CAC-FE413F76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B71E2B3-071C-4DDE-987D-4CC4E29C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B66CC42F-83B5-4D24-8766-1F797CDC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dato guardarías junto al tiempo de la primera llamada?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C2336218-CDAA-4222-9EF8-FDA4366B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4A996E8D-B603-4109-A36C-A69CF2C3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contexto operativo forma parte de la medición de latencia.</a:t>
            </a:r>
          </a:p>
        </p:txBody>
      </p:sp>
    </p:spTree>
    <p:extLst>
      <p:ext uri="{BB962C8B-B14F-4D97-AF65-F5344CB8AC3E}">
        <p14:creationId xmlns:p14="http://schemas.microsoft.com/office/powerpoint/2010/main" val="4708477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10CB773-A1B9-4C0D-8045-43510302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964F1-AB73-49CA-9E97-8934DBDE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11EED06-4F4E-492A-922D-2853DB0C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9BA9CE0-F939-4455-B712-29865CC9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31BB0B-B6C5-44E3-9AAE-AB87A51A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Cold start y latencia percibida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C14EE46-DE64-4136-BBD4-46D8397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 la primera solicitud tras inactividad de una ejecución con el servicio activo.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BCF9857-3526-4181-97CD-19A04740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1789DCD-8901-48CE-8336-BC48FDE6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F631798-FB15-4816-B188-68608196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DF30F93-B049-45B1-9468-8AFE0A78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85A54F7-7731-43A1-944F-15E937C4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F4CFFED-78E0-4292-9C95-2A6B9A0E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10A53A4-A7A3-4E80-9CE5-D64F489D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49C2708-F8E3-40C9-84EA-65603047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D75C706-1A3E-49F7-B6AA-A9B1F656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4AF3815D-43B3-4330-8F7C-4AC8AFB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C87FE6C6-B09F-4827-A133-73AE47BE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425E3500-41EF-4EC0-B686-C79A588D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primera respuesta tarda más que la segunda tras inactividad.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E99CCBE-A6F1-4DAA-8FD6-9E321717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2CD3DF3-574F-44E1-BA2A-AFA0F68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AD1F7-9A0C-493D-AEFE-F2E86B36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2522F78-889C-4ADE-A1B8-023BE37D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3F13ECE-2F0A-4822-A85F-8CD643B1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BCE23B34-5F22-41B5-83F6-2857D558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Cronometrar ambas solicitudes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el mismo contenido.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63985E2-0329-49DC-AD6A-178AEBA5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431A08C-D417-4FDF-9EC7-F110B64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3AE01C-122D-4D5A-A0A4-A60E1597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0DC4063-937D-4414-8C03-F96227FA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7AA9A5A0-2406-41F0-9A18-7925F796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Anotar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4A0FFAF5-B60D-4FFA-9FA8-CCF81939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cuál activó el Space.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090EBF2-ED22-469D-94A0-489450BF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5D961AE-26CE-486F-BD28-D8EF0EBA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98B931-B52E-42B2-AB3E-ED7E47F1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DAB219D-A251-45DC-96D7-63FBBB87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5BA8A01-081F-4AE0-A0FF-9150D92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C12F0D6F-7148-4637-B0DA-0D8CB0B5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 atribuir toda la diferencia al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prompt sin observación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adicional.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7025626D-FEB1-47D2-BCED-65EEC420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84A164E3-EB2E-4845-9FE0-9CCA6493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9E6BC8D4-0881-4E1F-B559-1DF72664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Los tiempos deben medirse en el entorno real; no se prometen cifras del tier.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328CF58-443F-4A3E-BD12-CEFB3A8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D535AB0B-29C3-4B00-8D7A-A5B8B804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 contexto operativo forma parte de la medición de latencia.</a:t>
            </a:r>
          </a:p>
        </p:txBody>
      </p:sp>
    </p:spTree>
    <p:extLst>
      <p:ext uri="{BB962C8B-B14F-4D97-AF65-F5344CB8AC3E}">
        <p14:creationId xmlns:p14="http://schemas.microsoft.com/office/powerpoint/2010/main" val="15087836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74A03932-E8E6-4C5B-92C9-B9FFB3A9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FD2F3-3ABC-4C16-84E1-2F616673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8EB58FC-BF3E-4AB5-8C0B-A823AE75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A95DFFC-C718-43AB-9E9D-90305025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A2A295-A5F4-4547-BDD5-A386DC16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Laboratorio L8: despliegue verificable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0DAC71B-5BEC-44A2-9EBA-FCCD302A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Entregar una API pública que otro integrante pueda probar.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16319E0-6D35-4566-9065-4162F811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76EA397-4B7E-44EF-9638-B5CDF14B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6B9205EC-D5AE-4922-A6CF-47436874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9015462-76C9-4229-8ED5-E9AD67C6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D7A2A4E-060A-43E7-A897-86D79BD2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4735F24-64A0-42A9-9CF0-F9E4158D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B69B41BC-CC36-44C8-BF40-01E5D92C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668E4D9-4BF2-485A-9C59-3E496610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3808F08-54C9-4D34-9DB1-61EC6E5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37B88A5-D85A-42FA-A42C-B1D13DA0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4601F5B3-8DBB-414B-A557-1176D801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5A19D-E1B7-4999-B6B2-A1D0C96F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E16C631-FF8E-45CA-BCCF-AFDF6887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1721739-60A5-4FB5-9CD0-1DC4860D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Construir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3CDE805C-8677-4C87-ABD2-F50F97AD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API, Dockerfile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dependencias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checkpoint.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8C85312-049C-42F7-9F1F-4706831C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1FE2867-83B2-4CF3-B9EB-5D110B70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6613A-32DE-44BA-B6D1-48CDDFAD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55E43F5-A0CB-4858-AB24-B4ACF6F6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26F4D4C-AA97-435F-B439-E851FEE4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Publicar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AAB63FEE-278C-4E1A-918C-5D2BF3A5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Crear el Space, configurar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secretos y enviar el código.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531FC92-22DE-4462-A23B-986EA1AA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9D7D71E-2A71-46E8-8486-20F1CACF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CF9AC0-36C2-4F7A-9CB3-637BDBBD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CA0B1E0-607A-4404-AA1C-822E2193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C790F7B-5784-460F-8C61-70B17020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Verificar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D11C1000-CF60-464F-A24E-847B87F6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Probar health, autenticación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una consulta real desde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fuera.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BBA6AAF9-A0F1-4574-8205-6F9EEDBD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22C8D8B-4E0C-43F4-9AF6-540E75D9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A4760447-C00E-4CFB-8F2C-B7B391DC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caso usarías para comprobar también Qdrant?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6CB4664-61B2-4D77-B841-D034D637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AC34E295-D6AF-4925-B857-8FFB6390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C40FE3F4-ABFA-4180-AD7C-2748EDB0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Dar por concluido el laboratorio con una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captura del build.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3CCDA42A-7CC3-47E3-9662-3DD059B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3A494DB5-C754-468F-82D8-68489A3A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Verificar desde fuera revela dependencias que la laptop puede ocultar.</a:t>
            </a:r>
          </a:p>
        </p:txBody>
      </p:sp>
    </p:spTree>
    <p:extLst>
      <p:ext uri="{BB962C8B-B14F-4D97-AF65-F5344CB8AC3E}">
        <p14:creationId xmlns:p14="http://schemas.microsoft.com/office/powerpoint/2010/main" val="9876610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C2D32698-688A-49EE-80AD-A93D5800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9575F-C536-41A5-972C-D98D35FC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8073B5D-7A97-422A-BDBE-3F22C329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779DAF1-0DAE-44C3-8761-BB5FB1E9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40CC38-D567-461A-8B91-AC0396E9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Evidencia del avance M3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3F34B62-719D-4324-A116-799CE8B5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Entregar una API pública que otro integrante pueda probar.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3EADB54-EE0B-473E-B191-EE2FD7D4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CD6C38D-3C64-4DBD-AAD0-5A95C296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345ED2F4-A30A-4643-B3A0-09B43681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521E078-0627-4F4D-920D-4771A460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07D5145-E35B-4DEF-8D1B-FB7E940C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31EE11F-CD1D-45D7-8FDD-7602F37E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A58620E4-9A77-4B04-BA8F-9635900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C63BC8B-269C-4D5B-822A-4E0AABDC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D4FEA74-8F6F-4601-AB28-E346AD54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Acceso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URL y procedimiento de autenticación para 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evaluador.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Funcionamiento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Consulta de cada capacidad núcleo del track.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Observaciones del arranque y sus tiempos.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BFA7A6DD-BDBB-4BE6-B8A9-9DE3E65B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09653152-D1CA-4A83-9423-97B00B8D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7832BE51-DE24-4701-ADBA-2483AD35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Dar por concluido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laboratorio con una captura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build.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BDA77D40-640E-4CE1-8C5C-D83360A7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4475B89E-26B8-410A-BE27-FF176B45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4C51CB6C-150E-41D6-8543-FAFD2012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ED883928-CB2A-436A-BC03-70413E36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caso usarías para comprobar también Qdrant?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37B15A15-507A-463E-AD18-AA342568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0D309E52-C235-459C-9D99-4A229491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Verificar desde fuera revela dependencias que la laptop puede ocultar.</a:t>
            </a:r>
          </a:p>
        </p:txBody>
      </p:sp>
    </p:spTree>
    <p:extLst>
      <p:ext uri="{BB962C8B-B14F-4D97-AF65-F5344CB8AC3E}">
        <p14:creationId xmlns:p14="http://schemas.microsoft.com/office/powerpoint/2010/main" val="10182235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BDF22CA-DDD9-4186-BA09-12B687D6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B31B6-E7CA-4CBC-8CBD-7376A098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752C6C1-5C82-45F9-A54B-0CE03088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3067F08-FB29-4F75-8D5B-952C9BAF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6A08F1-F511-46C3-AF44-A431D3A8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Laboratorio L8: despliegue verificable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ADFCA84-008F-4484-8D44-2D1A0E1F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Entregar una API pública que otro integrante pueda probar.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E27BF2E-B03B-4CC2-97B2-094EFA28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58B2424-1BEC-4DF7-AF16-FAC6B181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9F7F0F2-D5D8-4024-BF80-3F37760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335A20D-98D1-40EE-84B7-65F3AA4A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274FA72-39A9-4B22-8B03-0BA6304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D2C10BF-9FD5-4A21-8864-C0887867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7F3A56A-FFB0-4AAB-AE1D-34B896E5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46366CE-4733-4EC6-B60B-720FC3E8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65602CF-2003-4ACE-905C-FA1FD543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ED463F2-53E6-41D3-8FD4-F07A5172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D535D3C3-0650-4CF2-BC0A-5C057FF4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97E42EA2-DDED-4449-BCBA-5ACF3160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API responde health, pero falla una consulta de póliza.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547AA20-8BCF-4ED8-9CC1-E415A394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205717D-5A00-4B0F-92E0-D73B6F7A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DF76E-5F8F-4175-8A19-F05A891C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FC6410D-9760-4481-A816-F60E228D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66C6B69-A2A0-4837-A774-7DDD6F1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Distinguir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95D071AB-8996-4407-A4BA-CE6FFA74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proceso vive;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dependencia del flujo está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fallando.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4381126-5D57-4AB5-9BF9-607F5829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B176403-E8ED-405B-A0A4-E2534A5A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69562-223A-4362-9557-10D1EEEA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F96567A-13F0-4942-BBC3-A0675D0F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27D1272-87F7-4789-A505-826CDB9A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Localizar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016B6C2D-84DF-4F33-A568-36C62B6E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 configuración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 de la tool.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08B9896-F0B0-4643-9B75-3C8FB79C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BC8CCD9-FEBA-4A46-92B8-0D9B50B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25DCAF-D33F-4B5F-B607-139A812D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A050BA3-4406-4B7D-ACD4-1F602E2A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A9520BB-529A-413A-B8AD-C35C3283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Reprobar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9C1F8B96-38BA-411B-A655-AF15B773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Ejecutar el caso de extremo 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extremo desde el cliente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externo.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AAD7613-B4C9-456A-8447-31C960BC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264A31AA-8ED2-4D1B-B856-4DD206C1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0B432D0B-07B4-497F-B288-404174B5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evidencia de despliegue incluye el flujo real, no solo una página accesible.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94E45A4D-0D83-4FDC-AD71-1EAD87AA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5552308-59E0-4284-A6D3-2CC22D0B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Verificar desde fuera revela dependencias que la laptop puede ocultar.</a:t>
            </a:r>
          </a:p>
        </p:txBody>
      </p:sp>
    </p:spTree>
    <p:extLst>
      <p:ext uri="{BB962C8B-B14F-4D97-AF65-F5344CB8AC3E}">
        <p14:creationId xmlns:p14="http://schemas.microsoft.com/office/powerpoint/2010/main" val="13158252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4B0C17A7-071E-4817-A7CF-449588F5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9E40F-C096-4078-B806-A6D4FC29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A7A5B48-C343-45F3-BC56-67BABC01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031EDAB-F353-4CEB-8B10-9EA03CDB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3F1188-602F-446F-87D8-D2A825ED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disponibilidad a observabilidad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00FE3E6-9CA4-4342-A504-76F81177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qué sigue siendo invisible después de publicar la API.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A4C12E5-2770-4867-8796-CF67EA12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8877700-DC8D-492C-869B-CF618D24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5F3A2DE-DFD5-45C1-AA32-C06D0641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6C20AD9-526D-45BF-8B5B-00C94F72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E0FCEF10-2554-4AEE-B02F-BC22CD1F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7D29615-5E7F-4EEB-A36C-904AB58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B03D017-0F40-45AC-B945-08AD0790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16104B1-5D72-4626-8D12-280C408F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61F1BF0-BA4F-49CB-A6CA-B1C166C1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C808850-0A81-4982-9F77-1D6E26CC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2656433-0014-40F1-A398-80180C89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E54EB-6FD5-4567-AD38-ABB84C4A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1ED9BC5-3EE6-4D96-8AE4-568BDF97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5650595-7C6F-4FC9-8C87-35A56F7C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Ahora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6CA0ACDB-37ED-4928-9B25-51D73F9F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 puede invocar y medir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tiempo total.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7C57044-8125-4DF8-90EF-86778B51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EFCD286-D7EA-4CF5-9978-476008DA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DE4E0-80EE-496E-8D5B-1CF238B9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2974715-BA94-460B-A67D-ED5C3252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9E0A044-21AF-4637-9CE6-071CBDC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 pendiente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D85EC205-C753-4D56-8A3B-50267B4D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¿Dónde se consume tiempo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y qué camino se ejecutó?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FCCB0A3-4E42-4FAA-9CE0-EE819C4F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69EA91C-9E89-47BB-8A65-FBA1FD6E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4ABCF5-52B9-46DD-92A7-C9E52763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33A1D04-1CA5-4778-9483-24D0B7E0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294FA63-7C88-416C-B275-C8794D2F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S9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D314A0A4-ED46-489F-8515-19163761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trazas permitirán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inspeccionar modelo, tools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recuperación.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E809E99D-A3B2-4A18-9212-EB12A243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23F308D-512F-438D-B66E-0E2AEF74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7A7DB573-6E74-402A-81C0-61F3509F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no puedes concluir mirando solo el tiempo total?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E3EAF3CB-3347-4476-9AC0-F5B40646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626FECA3-6E72-47B6-A4F9-B9DF7366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98140778-E84A-421D-9AB8-960B4187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Adivinar un cuello de botella sin ver los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B7133FE-9699-48D2-8468-B1FC8AA8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5EFE961-59E5-4534-8F71-C3D8C51A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siguiente capa convierte ejecuciones en evidencia diagnóstica.</a:t>
            </a:r>
          </a:p>
        </p:txBody>
      </p:sp>
    </p:spTree>
    <p:extLst>
      <p:ext uri="{BB962C8B-B14F-4D97-AF65-F5344CB8AC3E}">
        <p14:creationId xmlns:p14="http://schemas.microsoft.com/office/powerpoint/2010/main" val="2751809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0BC3AD8C-E269-432A-B101-7904F2E2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A97B1-876F-418C-9F0A-098CCAE8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4D3D2DC-8066-44AC-B9A7-BF13F937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B0FF7B0-3280-4AAA-A0B3-9BD3990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12890A-1CD5-4107-B535-D5F56295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Preparar la instrumentación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201F108-7CA1-4C99-BBD2-8AFC46CC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qué sigue siendo invisible después de publicar la API.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EA026C69-6227-4925-A9A9-82F35FC7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334AB1A-0100-4762-8CCB-A3229191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EC2C4A2C-7C09-444D-AB83-878C2E14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6713707-0F5C-4F87-A2D7-A4F46FA5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B4D659C-6627-4CFB-9A1F-FB52AB7A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96B6272-8880-49CA-A185-FD4B7BF6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4C06E44-845C-4771-ACB7-BC117F13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DF1C7D2-BAB9-48A8-8FAE-B4D77A95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F7F1A55-3F28-4A88-AFE8-34D48B09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Caso completo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Conservar una consulta representativa del track.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Poder relacionar solicitud y ejecución.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Protección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Evitar datos sensibles en las evidencias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compartidas.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CED6EE8B-CDCE-4B88-B292-3BE3DFDD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80E5260C-F51C-4E38-853B-2A776A44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313525A8-5546-4DBC-8439-04B9C277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Adivinar un cuello de botella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sin ver los pasos.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DDB6C4D7-7596-4B85-A767-B109C6A2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453941A0-9E71-4E67-9777-1D4F501F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0AC4B39E-B6F1-498C-8D58-5C1C01B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F4C6B0CD-9793-4E51-B4C5-945819E8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no puedes concluir mirando solo el tiempo total?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2114D7E2-C6A3-401D-B427-76821EA3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E3BA1D23-00EE-4C3E-ABB7-0FCCDE45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siguiente capa convierte ejecuciones en evidencia diagnóstica.</a:t>
            </a:r>
          </a:p>
        </p:txBody>
      </p:sp>
    </p:spTree>
    <p:extLst>
      <p:ext uri="{BB962C8B-B14F-4D97-AF65-F5344CB8AC3E}">
        <p14:creationId xmlns:p14="http://schemas.microsoft.com/office/powerpoint/2010/main" val="1395572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AD22DEA9-AA70-44F4-843A-665101DC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4E5D1-1AA1-4FAF-9AD7-8BFC2C1A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51D7D05-A9A1-41C3-9554-E62FA29A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5363D1F-91CC-4E29-B9AB-43A095D0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08 · Despliegue con HF Spaces / CAPÍTULO 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A74544-1D21-4FE5-8BF2-02EB4936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 disponibilidad a observabilidad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5A475C0-FE0C-4530-9F69-6AAAFA8A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Identificar qué sigue siendo invisible después de publicar la API.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FECA4FE-3E11-430E-884B-87E94E08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DAF8290-8F58-4A61-BA66-6117BF83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E2B79E6-9E2A-4024-B036-2835501E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FA1EDC8-6708-43A5-B50D-44554CBA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75DFADA-D1F0-49A4-81D9-6B513B54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F8C66EA-82B9-4B4E-BE5E-5321687A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4AC2487-3EF6-4192-B581-401E0535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08 / C08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C9CE081-0879-439F-956C-DFB153E4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C78ED4D-A64F-4872-AF81-AEB1C367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5910193-B6F6-4083-A932-72A23AF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B29F85CE-88FD-42A3-A2A8-C817FDA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A33A834B-B240-4960-A108-97FDAFF6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Dos consultas terminan bien, pero una tarda mucho más.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79DFA1A-D03A-4102-A6F9-F4424876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0644875-BC5E-4619-B5BF-67E4B7F1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D111F-8816-4804-8064-5D7421F4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ECEFC88-9573-47E4-B9CB-5A02CA6B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9AA3606-6881-47C0-9B37-B01AAE20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Observar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A0F47500-33AB-4519-8BFB-8C83A723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tiempo total muestra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diferencia.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D754453-5B4A-4431-9A15-E2BBA72E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7DC38624-0930-401E-AC50-ED4E765B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F49BD2-16CE-40CE-867D-688A467B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8AF5FEC-700E-4C1D-AB52-BFC14A4D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0D4CE81-435C-4DBB-9CAD-90E8EB67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Preguntar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765A9879-5815-4CB0-A3E8-D9DE48A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Puede haber llamadas extra,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lentitud externa o recuperación.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3058A6C-FDC7-4EC8-918B-B6BCB7DA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72DDF91-1C6E-457B-8F51-DEB779F3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2FD009-31C7-4FF3-B9BF-D69EC1D3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A790EBA-64E3-42BE-827E-5BC8766F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985E8A9-9860-4CAA-B81D-57C22F08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Investigar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5FF3D376-063E-44F6-8050-51665167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S9 separará los pasos mediante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spans.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6C8842D-C010-45B7-8D93-C6D7E8BA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AFAE05B-A932-46F2-ADDF-50FFECD0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5861F979-7923-4B62-8F53-4A7D2F2C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Saber que el agente respondió no explica cómo lo hizo.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6AE26476-BA88-42AE-9605-11127459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B50B705C-DA86-4BD0-BB85-1131E76D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siguiente capa convierte ejecuciones en evidencia diagnóstica.</a:t>
            </a:r>
          </a:p>
        </p:txBody>
      </p:sp>
    </p:spTree>
    <p:extLst>
      <p:ext uri="{BB962C8B-B14F-4D97-AF65-F5344CB8AC3E}">
        <p14:creationId xmlns:p14="http://schemas.microsoft.com/office/powerpoint/2010/main" val="235142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2026-09-23T04:09:10.1750000Z</dcterms:created>
  <dcterms:modified xsi:type="dcterms:W3CDTF">2026-09-23T04:09:10.1750000Z</dcterms:modified>
</coreProperties>
</file>