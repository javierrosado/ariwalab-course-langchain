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82edeaf7dbb485e" /><Relationship Type="http://schemas.openxmlformats.org/officeDocument/2006/relationships/extended-properties" Target="/docProps/app.xml" Id="R0e395e53906647dc" /><Relationship Type="http://schemas.openxmlformats.org/officeDocument/2006/relationships/officeDocument" Target="/ppt/presentation.xml" Id="R3076f6ae6d6348d5" /></Relationships>
</file>

<file path=ppt/presentation.xml><?xml version="1.0" encoding="utf-8"?>
<p:presentation xmlns:p="http://schemas.openxmlformats.org/presentationml/2006/main">
  <p:sldMasterIdLst>
    <p:sldMasterId xmlns:r="http://schemas.openxmlformats.org/officeDocument/2006/relationships" id="2147483648" r:id="R79f2dc2942f84500"/>
  </p:sldMasterIdLst>
  <p:notesMasterIdLst>
    <p:notesMasterId xmlns:r="http://schemas.openxmlformats.org/officeDocument/2006/relationships" r:id="R663058bf598b4ed0"/>
  </p:notesMasterIdLst>
  <p:sldIdLst>
    <p:sldId xmlns:r="http://schemas.openxmlformats.org/officeDocument/2006/relationships" id="256" r:id="R373d154dee7d4d91"/>
    <p:sldId xmlns:r="http://schemas.openxmlformats.org/officeDocument/2006/relationships" id="257" r:id="Ra78d7426b11f4f39"/>
    <p:sldId xmlns:r="http://schemas.openxmlformats.org/officeDocument/2006/relationships" id="258" r:id="R6fe72921b6014b9f"/>
    <p:sldId xmlns:r="http://schemas.openxmlformats.org/officeDocument/2006/relationships" id="259" r:id="Re67cb0412e83403f"/>
    <p:sldId xmlns:r="http://schemas.openxmlformats.org/officeDocument/2006/relationships" id="260" r:id="Rf1303e76000b482b"/>
    <p:sldId xmlns:r="http://schemas.openxmlformats.org/officeDocument/2006/relationships" id="261" r:id="R6695f465ad8c40bf"/>
    <p:sldId xmlns:r="http://schemas.openxmlformats.org/officeDocument/2006/relationships" id="262" r:id="Rf9658a0130484139"/>
    <p:sldId xmlns:r="http://schemas.openxmlformats.org/officeDocument/2006/relationships" id="263" r:id="R51c162253cb44648"/>
    <p:sldId xmlns:r="http://schemas.openxmlformats.org/officeDocument/2006/relationships" id="264" r:id="Re6a4279ac67a4159"/>
    <p:sldId xmlns:r="http://schemas.openxmlformats.org/officeDocument/2006/relationships" id="265" r:id="R124f5fd7def14e8e"/>
    <p:sldId xmlns:r="http://schemas.openxmlformats.org/officeDocument/2006/relationships" id="266" r:id="R93a650fb606f4344"/>
    <p:sldId xmlns:r="http://schemas.openxmlformats.org/officeDocument/2006/relationships" id="267" r:id="R83aa34475c864ee1"/>
    <p:sldId xmlns:r="http://schemas.openxmlformats.org/officeDocument/2006/relationships" id="268" r:id="Rd820710348b24f6d"/>
    <p:sldId xmlns:r="http://schemas.openxmlformats.org/officeDocument/2006/relationships" id="269" r:id="Re2085387a0f34b10"/>
    <p:sldId xmlns:r="http://schemas.openxmlformats.org/officeDocument/2006/relationships" id="270" r:id="R3092b17a903c40a3"/>
    <p:sldId xmlns:r="http://schemas.openxmlformats.org/officeDocument/2006/relationships" id="271" r:id="Rfa8e048735524e8d"/>
    <p:sldId xmlns:r="http://schemas.openxmlformats.org/officeDocument/2006/relationships" id="272" r:id="R3a7d379abf9c42b1"/>
    <p:sldId xmlns:r="http://schemas.openxmlformats.org/officeDocument/2006/relationships" id="273" r:id="Rf17f879c89be4628"/>
    <p:sldId xmlns:r="http://schemas.openxmlformats.org/officeDocument/2006/relationships" id="274" r:id="R34b57778512c4808"/>
    <p:sldId xmlns:r="http://schemas.openxmlformats.org/officeDocument/2006/relationships" id="275" r:id="R5909b8bf9dd04e8a"/>
    <p:sldId xmlns:r="http://schemas.openxmlformats.org/officeDocument/2006/relationships" id="276" r:id="R1a3288ac218341f3"/>
    <p:sldId xmlns:r="http://schemas.openxmlformats.org/officeDocument/2006/relationships" id="277" r:id="R8ffa27a496af4157"/>
    <p:sldId xmlns:r="http://schemas.openxmlformats.org/officeDocument/2006/relationships" id="278" r:id="R1dc50b2fda9b461e"/>
    <p:sldId xmlns:r="http://schemas.openxmlformats.org/officeDocument/2006/relationships" id="279" r:id="R1fb55d7c90e24008"/>
    <p:sldId xmlns:r="http://schemas.openxmlformats.org/officeDocument/2006/relationships" id="280" r:id="R92e38cd3e9224950"/>
    <p:sldId xmlns:r="http://schemas.openxmlformats.org/officeDocument/2006/relationships" id="281" r:id="Rbdc621aa5b8746d8"/>
    <p:sldId xmlns:r="http://schemas.openxmlformats.org/officeDocument/2006/relationships" id="282" r:id="R333c5c6e26664e18"/>
    <p:sldId xmlns:r="http://schemas.openxmlformats.org/officeDocument/2006/relationships" id="283" r:id="R0bb2ae1e6e2840d1"/>
    <p:sldId xmlns:r="http://schemas.openxmlformats.org/officeDocument/2006/relationships" id="284" r:id="R8aa1c77eabaf40b7"/>
    <p:sldId xmlns:r="http://schemas.openxmlformats.org/officeDocument/2006/relationships" id="285" r:id="R0e9c9baa96204beb"/>
    <p:sldId xmlns:r="http://schemas.openxmlformats.org/officeDocument/2006/relationships" id="286" r:id="R5edbccc8777446a2"/>
    <p:sldId xmlns:r="http://schemas.openxmlformats.org/officeDocument/2006/relationships" id="287" r:id="R6e5d22541599438b"/>
    <p:sldId xmlns:r="http://schemas.openxmlformats.org/officeDocument/2006/relationships" id="288" r:id="R3cfbd07abfe04354"/>
    <p:sldId xmlns:r="http://schemas.openxmlformats.org/officeDocument/2006/relationships" id="289" r:id="Rc19e09859c634870"/>
    <p:sldId xmlns:r="http://schemas.openxmlformats.org/officeDocument/2006/relationships" id="290" r:id="R91d383d683584598"/>
    <p:sldId xmlns:r="http://schemas.openxmlformats.org/officeDocument/2006/relationships" id="291" r:id="Re71a4915246a4be7"/>
    <p:sldId xmlns:r="http://schemas.openxmlformats.org/officeDocument/2006/relationships" id="292" r:id="R8e99390cb0034457"/>
    <p:sldId xmlns:r="http://schemas.openxmlformats.org/officeDocument/2006/relationships" id="293" r:id="Rfdaba48f32214274"/>
    <p:sldId xmlns:r="http://schemas.openxmlformats.org/officeDocument/2006/relationships" id="294" r:id="R53cab1920690461d"/>
    <p:sldId xmlns:r="http://schemas.openxmlformats.org/officeDocument/2006/relationships" id="295" r:id="R10f1ce9f80774a2e"/>
    <p:sldId xmlns:r="http://schemas.openxmlformats.org/officeDocument/2006/relationships" id="296" r:id="R7646860599f74316"/>
    <p:sldId xmlns:r="http://schemas.openxmlformats.org/officeDocument/2006/relationships" id="297" r:id="Rcf4d4176df4d413d"/>
    <p:sldId xmlns:r="http://schemas.openxmlformats.org/officeDocument/2006/relationships" id="298" r:id="Re85c2a867b7a44fb"/>
    <p:sldId xmlns:r="http://schemas.openxmlformats.org/officeDocument/2006/relationships" id="299" r:id="R29e579fe52f24136"/>
    <p:sldId xmlns:r="http://schemas.openxmlformats.org/officeDocument/2006/relationships" id="300" r:id="R5eb36e03350e40e2"/>
    <p:sldId xmlns:r="http://schemas.openxmlformats.org/officeDocument/2006/relationships" id="301" r:id="R80656f3cc2c64232"/>
    <p:sldId xmlns:r="http://schemas.openxmlformats.org/officeDocument/2006/relationships" id="302" r:id="Rf838e6cac31b471e"/>
    <p:sldId xmlns:r="http://schemas.openxmlformats.org/officeDocument/2006/relationships" id="303" r:id="Rbecfca3f03ee410d"/>
    <p:sldId xmlns:r="http://schemas.openxmlformats.org/officeDocument/2006/relationships" id="304" r:id="R001138d33de8438a"/>
    <p:sldId xmlns:r="http://schemas.openxmlformats.org/officeDocument/2006/relationships" id="305" r:id="Rf99df42b505d4dfc"/>
    <p:sldId xmlns:r="http://schemas.openxmlformats.org/officeDocument/2006/relationships" id="306" r:id="R734815edf4224dff"/>
    <p:sldId xmlns:r="http://schemas.openxmlformats.org/officeDocument/2006/relationships" id="307" r:id="R962ec1de0a8f4158"/>
    <p:sldId xmlns:r="http://schemas.openxmlformats.org/officeDocument/2006/relationships" id="308" r:id="Rb829394441f346e2"/>
    <p:sldId xmlns:r="http://schemas.openxmlformats.org/officeDocument/2006/relationships" id="309" r:id="R237c2b3454e5452f"/>
    <p:sldId xmlns:r="http://schemas.openxmlformats.org/officeDocument/2006/relationships" id="310" r:id="Rf70e94f6a6a04907"/>
    <p:sldId xmlns:r="http://schemas.openxmlformats.org/officeDocument/2006/relationships" id="311" r:id="R290c100ac905413c"/>
    <p:sldId xmlns:r="http://schemas.openxmlformats.org/officeDocument/2006/relationships" id="312" r:id="R5a99009ebc0849f8"/>
    <p:sldId xmlns:r="http://schemas.openxmlformats.org/officeDocument/2006/relationships" id="313" r:id="R099886f200904998"/>
    <p:sldId xmlns:r="http://schemas.openxmlformats.org/officeDocument/2006/relationships" id="314" r:id="Rfd573a6b7aa54ff1"/>
    <p:sldId xmlns:r="http://schemas.openxmlformats.org/officeDocument/2006/relationships" id="315" r:id="R2c6a03f72e874eea"/>
    <p:sldId xmlns:r="http://schemas.openxmlformats.org/officeDocument/2006/relationships" id="316" r:id="R4974979cbf92486f"/>
    <p:sldId xmlns:r="http://schemas.openxmlformats.org/officeDocument/2006/relationships" id="317" r:id="R9a66c9bccf8e4950"/>
    <p:sldId xmlns:r="http://schemas.openxmlformats.org/officeDocument/2006/relationships" id="318" r:id="R6faa6fe759234a2f"/>
    <p:sldId xmlns:r="http://schemas.openxmlformats.org/officeDocument/2006/relationships" id="319" r:id="R6297a22c3f8249ab"/>
    <p:sldId xmlns:r="http://schemas.openxmlformats.org/officeDocument/2006/relationships" id="320" r:id="R201a2bde294740cc"/>
    <p:sldId xmlns:r="http://schemas.openxmlformats.org/officeDocument/2006/relationships" id="321" r:id="R96486d33854845b2"/>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b778816cca4a85" /><Relationship Type="http://schemas.openxmlformats.org/officeDocument/2006/relationships/slideMaster" Target="/ppt/slideMasters/slideMaster1.xml" Id="R79f2dc2942f84500" /><Relationship Type="http://schemas.openxmlformats.org/officeDocument/2006/relationships/notesMaster" Target="/ppt/notesMasters/notesMaster1.xml" Id="R663058bf598b4ed0" /><Relationship Type="http://schemas.openxmlformats.org/officeDocument/2006/relationships/presProps" Target="/ppt/presProps.xml" Id="Rcfa1cc26fe1d4289" /><Relationship Type="http://schemas.openxmlformats.org/officeDocument/2006/relationships/tableStyles" Target="/ppt/tableStyles.xml" Id="Ref85f98f2a33411d" /><Relationship Type="http://schemas.openxmlformats.org/officeDocument/2006/relationships/slide" Target="/ppt/slides/slide1.xml" Id="R373d154dee7d4d91" /><Relationship Type="http://schemas.openxmlformats.org/officeDocument/2006/relationships/slide" Target="/ppt/slides/slide2.xml" Id="Ra78d7426b11f4f39" /><Relationship Type="http://schemas.openxmlformats.org/officeDocument/2006/relationships/slide" Target="/ppt/slides/slide3.xml" Id="R6fe72921b6014b9f" /><Relationship Type="http://schemas.openxmlformats.org/officeDocument/2006/relationships/slide" Target="/ppt/slides/slide4.xml" Id="Re67cb0412e83403f" /><Relationship Type="http://schemas.openxmlformats.org/officeDocument/2006/relationships/slide" Target="/ppt/slides/slide5.xml" Id="Rf1303e76000b482b" /><Relationship Type="http://schemas.openxmlformats.org/officeDocument/2006/relationships/slide" Target="/ppt/slides/slide6.xml" Id="R6695f465ad8c40bf" /><Relationship Type="http://schemas.openxmlformats.org/officeDocument/2006/relationships/slide" Target="/ppt/slides/slide7.xml" Id="Rf9658a0130484139" /><Relationship Type="http://schemas.openxmlformats.org/officeDocument/2006/relationships/slide" Target="/ppt/slides/slide8.xml" Id="R51c162253cb44648" /><Relationship Type="http://schemas.openxmlformats.org/officeDocument/2006/relationships/slide" Target="/ppt/slides/slide9.xml" Id="Re6a4279ac67a4159" /><Relationship Type="http://schemas.openxmlformats.org/officeDocument/2006/relationships/slide" Target="/ppt/slides/slide10.xml" Id="R124f5fd7def14e8e" /><Relationship Type="http://schemas.openxmlformats.org/officeDocument/2006/relationships/slide" Target="/ppt/slides/slide11.xml" Id="R93a650fb606f4344" /><Relationship Type="http://schemas.openxmlformats.org/officeDocument/2006/relationships/slide" Target="/ppt/slides/slide12.xml" Id="R83aa34475c864ee1" /><Relationship Type="http://schemas.openxmlformats.org/officeDocument/2006/relationships/slide" Target="/ppt/slides/slide13.xml" Id="Rd820710348b24f6d" /><Relationship Type="http://schemas.openxmlformats.org/officeDocument/2006/relationships/slide" Target="/ppt/slides/slide14.xml" Id="Re2085387a0f34b10" /><Relationship Type="http://schemas.openxmlformats.org/officeDocument/2006/relationships/slide" Target="/ppt/slides/slide15.xml" Id="R3092b17a903c40a3" /><Relationship Type="http://schemas.openxmlformats.org/officeDocument/2006/relationships/slide" Target="/ppt/slides/slide16.xml" Id="Rfa8e048735524e8d" /><Relationship Type="http://schemas.openxmlformats.org/officeDocument/2006/relationships/slide" Target="/ppt/slides/slide17.xml" Id="R3a7d379abf9c42b1" /><Relationship Type="http://schemas.openxmlformats.org/officeDocument/2006/relationships/slide" Target="/ppt/slides/slide18.xml" Id="Rf17f879c89be4628" /><Relationship Type="http://schemas.openxmlformats.org/officeDocument/2006/relationships/slide" Target="/ppt/slides/slide19.xml" Id="R34b57778512c4808" /><Relationship Type="http://schemas.openxmlformats.org/officeDocument/2006/relationships/slide" Target="/ppt/slides/slide20.xml" Id="R5909b8bf9dd04e8a" /><Relationship Type="http://schemas.openxmlformats.org/officeDocument/2006/relationships/slide" Target="/ppt/slides/slide21.xml" Id="R1a3288ac218341f3" /><Relationship Type="http://schemas.openxmlformats.org/officeDocument/2006/relationships/slide" Target="/ppt/slides/slide22.xml" Id="R8ffa27a496af4157" /><Relationship Type="http://schemas.openxmlformats.org/officeDocument/2006/relationships/slide" Target="/ppt/slides/slide23.xml" Id="R1dc50b2fda9b461e" /><Relationship Type="http://schemas.openxmlformats.org/officeDocument/2006/relationships/slide" Target="/ppt/slides/slide24.xml" Id="R1fb55d7c90e24008" /><Relationship Type="http://schemas.openxmlformats.org/officeDocument/2006/relationships/slide" Target="/ppt/slides/slide25.xml" Id="R92e38cd3e9224950" /><Relationship Type="http://schemas.openxmlformats.org/officeDocument/2006/relationships/slide" Target="/ppt/slides/slide26.xml" Id="Rbdc621aa5b8746d8" /><Relationship Type="http://schemas.openxmlformats.org/officeDocument/2006/relationships/slide" Target="/ppt/slides/slide27.xml" Id="R333c5c6e26664e18" /><Relationship Type="http://schemas.openxmlformats.org/officeDocument/2006/relationships/slide" Target="/ppt/slides/slide28.xml" Id="R0bb2ae1e6e2840d1" /><Relationship Type="http://schemas.openxmlformats.org/officeDocument/2006/relationships/slide" Target="/ppt/slides/slide29.xml" Id="R8aa1c77eabaf40b7" /><Relationship Type="http://schemas.openxmlformats.org/officeDocument/2006/relationships/slide" Target="/ppt/slides/slide30.xml" Id="R0e9c9baa96204beb" /><Relationship Type="http://schemas.openxmlformats.org/officeDocument/2006/relationships/slide" Target="/ppt/slides/slide31.xml" Id="R5edbccc8777446a2" /><Relationship Type="http://schemas.openxmlformats.org/officeDocument/2006/relationships/slide" Target="/ppt/slides/slide32.xml" Id="R6e5d22541599438b" /><Relationship Type="http://schemas.openxmlformats.org/officeDocument/2006/relationships/slide" Target="/ppt/slides/slide33.xml" Id="R3cfbd07abfe04354" /><Relationship Type="http://schemas.openxmlformats.org/officeDocument/2006/relationships/slide" Target="/ppt/slides/slide34.xml" Id="Rc19e09859c634870" /><Relationship Type="http://schemas.openxmlformats.org/officeDocument/2006/relationships/slide" Target="/ppt/slides/slide35.xml" Id="R91d383d683584598" /><Relationship Type="http://schemas.openxmlformats.org/officeDocument/2006/relationships/slide" Target="/ppt/slides/slide36.xml" Id="Re71a4915246a4be7" /><Relationship Type="http://schemas.openxmlformats.org/officeDocument/2006/relationships/slide" Target="/ppt/slides/slide37.xml" Id="R8e99390cb0034457" /><Relationship Type="http://schemas.openxmlformats.org/officeDocument/2006/relationships/slide" Target="/ppt/slides/slide38.xml" Id="Rfdaba48f32214274" /><Relationship Type="http://schemas.openxmlformats.org/officeDocument/2006/relationships/slide" Target="/ppt/slides/slide39.xml" Id="R53cab1920690461d" /><Relationship Type="http://schemas.openxmlformats.org/officeDocument/2006/relationships/slide" Target="/ppt/slides/slide40.xml" Id="R10f1ce9f80774a2e" /><Relationship Type="http://schemas.openxmlformats.org/officeDocument/2006/relationships/slide" Target="/ppt/slides/slide41.xml" Id="R7646860599f74316" /><Relationship Type="http://schemas.openxmlformats.org/officeDocument/2006/relationships/slide" Target="/ppt/slides/slide42.xml" Id="Rcf4d4176df4d413d" /><Relationship Type="http://schemas.openxmlformats.org/officeDocument/2006/relationships/slide" Target="/ppt/slides/slide43.xml" Id="Re85c2a867b7a44fb" /><Relationship Type="http://schemas.openxmlformats.org/officeDocument/2006/relationships/slide" Target="/ppt/slides/slide44.xml" Id="R29e579fe52f24136" /><Relationship Type="http://schemas.openxmlformats.org/officeDocument/2006/relationships/slide" Target="/ppt/slides/slide45.xml" Id="R5eb36e03350e40e2" /><Relationship Type="http://schemas.openxmlformats.org/officeDocument/2006/relationships/slide" Target="/ppt/slides/slide46.xml" Id="R80656f3cc2c64232" /><Relationship Type="http://schemas.openxmlformats.org/officeDocument/2006/relationships/slide" Target="/ppt/slides/slide47.xml" Id="Rf838e6cac31b471e" /><Relationship Type="http://schemas.openxmlformats.org/officeDocument/2006/relationships/slide" Target="/ppt/slides/slide48.xml" Id="Rbecfca3f03ee410d" /><Relationship Type="http://schemas.openxmlformats.org/officeDocument/2006/relationships/slide" Target="/ppt/slides/slide49.xml" Id="R001138d33de8438a" /><Relationship Type="http://schemas.openxmlformats.org/officeDocument/2006/relationships/slide" Target="/ppt/slides/slide50.xml" Id="Rf99df42b505d4dfc" /><Relationship Type="http://schemas.openxmlformats.org/officeDocument/2006/relationships/slide" Target="/ppt/slides/slide51.xml" Id="R734815edf4224dff" /><Relationship Type="http://schemas.openxmlformats.org/officeDocument/2006/relationships/slide" Target="/ppt/slides/slide52.xml" Id="R962ec1de0a8f4158" /><Relationship Type="http://schemas.openxmlformats.org/officeDocument/2006/relationships/slide" Target="/ppt/slides/slide53.xml" Id="Rb829394441f346e2" /><Relationship Type="http://schemas.openxmlformats.org/officeDocument/2006/relationships/slide" Target="/ppt/slides/slide54.xml" Id="R237c2b3454e5452f" /><Relationship Type="http://schemas.openxmlformats.org/officeDocument/2006/relationships/slide" Target="/ppt/slides/slide55.xml" Id="Rf70e94f6a6a04907" /><Relationship Type="http://schemas.openxmlformats.org/officeDocument/2006/relationships/slide" Target="/ppt/slides/slide56.xml" Id="R290c100ac905413c" /><Relationship Type="http://schemas.openxmlformats.org/officeDocument/2006/relationships/slide" Target="/ppt/slides/slide57.xml" Id="R5a99009ebc0849f8" /><Relationship Type="http://schemas.openxmlformats.org/officeDocument/2006/relationships/slide" Target="/ppt/slides/slide58.xml" Id="R099886f200904998" /><Relationship Type="http://schemas.openxmlformats.org/officeDocument/2006/relationships/slide" Target="/ppt/slides/slide59.xml" Id="Rfd573a6b7aa54ff1" /><Relationship Type="http://schemas.openxmlformats.org/officeDocument/2006/relationships/slide" Target="/ppt/slides/slide60.xml" Id="R2c6a03f72e874eea" /><Relationship Type="http://schemas.openxmlformats.org/officeDocument/2006/relationships/slide" Target="/ppt/slides/slide61.xml" Id="R4974979cbf92486f" /><Relationship Type="http://schemas.openxmlformats.org/officeDocument/2006/relationships/slide" Target="/ppt/slides/slide62.xml" Id="R9a66c9bccf8e4950" /><Relationship Type="http://schemas.openxmlformats.org/officeDocument/2006/relationships/slide" Target="/ppt/slides/slide63.xml" Id="R6faa6fe759234a2f" /><Relationship Type="http://schemas.openxmlformats.org/officeDocument/2006/relationships/slide" Target="/ppt/slides/slide64.xml" Id="R6297a22c3f8249ab" /><Relationship Type="http://schemas.openxmlformats.org/officeDocument/2006/relationships/slide" Target="/ppt/slides/slide65.xml" Id="R201a2bde294740cc" /><Relationship Type="http://schemas.openxmlformats.org/officeDocument/2006/relationships/slide" Target="/ppt/slides/slide66.xml" Id="R96486d33854845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1cde45dd2d24e1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437e08bd2a409a" /><Relationship Type="http://schemas.openxmlformats.org/officeDocument/2006/relationships/notesMaster" Target="/ppt/notesMasters/notesMaster1.xml" Id="Ra52ada0896b34c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99e87088034ff8" /><Relationship Type="http://schemas.openxmlformats.org/officeDocument/2006/relationships/notesMaster" Target="/ppt/notesMasters/notesMaster1.xml" Id="Rfbba7f58cd414b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d7703a7579540db" /><Relationship Type="http://schemas.openxmlformats.org/officeDocument/2006/relationships/notesMaster" Target="/ppt/notesMasters/notesMaster1.xml" Id="R8343331e4a7043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94b13bb4754922" /><Relationship Type="http://schemas.openxmlformats.org/officeDocument/2006/relationships/notesMaster" Target="/ppt/notesMasters/notesMaster1.xml" Id="Re6d9cbf1ca844a5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619aad82d02424e" /><Relationship Type="http://schemas.openxmlformats.org/officeDocument/2006/relationships/notesMaster" Target="/ppt/notesMasters/notesMaster1.xml" Id="Rfe3439c3b0e2408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18450833974b60" /><Relationship Type="http://schemas.openxmlformats.org/officeDocument/2006/relationships/notesMaster" Target="/ppt/notesMasters/notesMaster1.xml" Id="R552a89af92b243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02d669e7bfb4f16" /><Relationship Type="http://schemas.openxmlformats.org/officeDocument/2006/relationships/notesMaster" Target="/ppt/notesMasters/notesMaster1.xml" Id="R3a0c466b5c5b43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2cb1d567e564773" /><Relationship Type="http://schemas.openxmlformats.org/officeDocument/2006/relationships/notesMaster" Target="/ppt/notesMasters/notesMaster1.xml" Id="R3287c85b7a9546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6949613da04ccc" /><Relationship Type="http://schemas.openxmlformats.org/officeDocument/2006/relationships/notesMaster" Target="/ppt/notesMasters/notesMaster1.xml" Id="Rff28dec153f1496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d7fe07124094615" /><Relationship Type="http://schemas.openxmlformats.org/officeDocument/2006/relationships/notesMaster" Target="/ppt/notesMasters/notesMaster1.xml" Id="Ra1b7951ddcff4f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649a2a988774ac6" /><Relationship Type="http://schemas.openxmlformats.org/officeDocument/2006/relationships/notesMaster" Target="/ppt/notesMasters/notesMaster1.xml" Id="Rb21b58588136436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fbfe799a5624c15" /><Relationship Type="http://schemas.openxmlformats.org/officeDocument/2006/relationships/notesMaster" Target="/ppt/notesMasters/notesMaster1.xml" Id="Reae95adf7c2d46d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7705a4b45a549db" /><Relationship Type="http://schemas.openxmlformats.org/officeDocument/2006/relationships/notesMaster" Target="/ppt/notesMasters/notesMaster1.xml" Id="R6bfeccc53520403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f198c526f1d4857" /><Relationship Type="http://schemas.openxmlformats.org/officeDocument/2006/relationships/notesMaster" Target="/ppt/notesMasters/notesMaster1.xml" Id="R8ae0d2749e0c46c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6c5e12b939a4503" /><Relationship Type="http://schemas.openxmlformats.org/officeDocument/2006/relationships/notesMaster" Target="/ppt/notesMasters/notesMaster1.xml" Id="R1b2ffd6a1436417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93e4e7f7cd94b83" /><Relationship Type="http://schemas.openxmlformats.org/officeDocument/2006/relationships/notesMaster" Target="/ppt/notesMasters/notesMaster1.xml" Id="R6eaa229c59804b2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ba3c60b6ccf4995" /><Relationship Type="http://schemas.openxmlformats.org/officeDocument/2006/relationships/notesMaster" Target="/ppt/notesMasters/notesMaster1.xml" Id="R4518417ffb7243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ec4fb3a29144819" /><Relationship Type="http://schemas.openxmlformats.org/officeDocument/2006/relationships/notesMaster" Target="/ppt/notesMasters/notesMaster1.xml" Id="R393a333c01314d70"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af282cd9e7342e0" /><Relationship Type="http://schemas.openxmlformats.org/officeDocument/2006/relationships/notesMaster" Target="/ppt/notesMasters/notesMaster1.xml" Id="Re13b4cc640c54c6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9581c54d295472f" /><Relationship Type="http://schemas.openxmlformats.org/officeDocument/2006/relationships/notesMaster" Target="/ppt/notesMasters/notesMaster1.xml" Id="R7482cd3c0b1d4f8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7b5d43b6bf442da" /><Relationship Type="http://schemas.openxmlformats.org/officeDocument/2006/relationships/notesMaster" Target="/ppt/notesMasters/notesMaster1.xml" Id="Rfb4935ef4656492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47f4d0967644308" /><Relationship Type="http://schemas.openxmlformats.org/officeDocument/2006/relationships/notesMaster" Target="/ppt/notesMasters/notesMaster1.xml" Id="Rd4c8e9f49d46444e"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09ad730036b4028" /><Relationship Type="http://schemas.openxmlformats.org/officeDocument/2006/relationships/notesMaster" Target="/ppt/notesMasters/notesMaster1.xml" Id="R8f9944721bc742d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a900de827894295" /><Relationship Type="http://schemas.openxmlformats.org/officeDocument/2006/relationships/notesMaster" Target="/ppt/notesMasters/notesMaster1.xml" Id="R5e8d22ff89ab40d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8f2d66247294ea0" /><Relationship Type="http://schemas.openxmlformats.org/officeDocument/2006/relationships/notesMaster" Target="/ppt/notesMasters/notesMaster1.xml" Id="R281889bb40e2475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ff2ad149dcc49a2" /><Relationship Type="http://schemas.openxmlformats.org/officeDocument/2006/relationships/notesMaster" Target="/ppt/notesMasters/notesMaster1.xml" Id="Rcaebf5ae89a9451f"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88282c5f75444bf" /><Relationship Type="http://schemas.openxmlformats.org/officeDocument/2006/relationships/notesMaster" Target="/ppt/notesMasters/notesMaster1.xml" Id="Ra3ff1e4b2fa541b8"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85f017f783541d9" /><Relationship Type="http://schemas.openxmlformats.org/officeDocument/2006/relationships/notesMaster" Target="/ppt/notesMasters/notesMaster1.xml" Id="Rd99bfa966e5c457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e929b2574344ef4" /><Relationship Type="http://schemas.openxmlformats.org/officeDocument/2006/relationships/notesMaster" Target="/ppt/notesMasters/notesMaster1.xml" Id="R1aca9d98456e4b0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27b11251cd34ca5" /><Relationship Type="http://schemas.openxmlformats.org/officeDocument/2006/relationships/notesMaster" Target="/ppt/notesMasters/notesMaster1.xml" Id="R7b3d268facce458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cab2ae3bb4cb4b6d" /><Relationship Type="http://schemas.openxmlformats.org/officeDocument/2006/relationships/notesMaster" Target="/ppt/notesMasters/notesMaster1.xml" Id="R65b23e3ddb1c4e48"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ef1c2a9f3a84bdd" /><Relationship Type="http://schemas.openxmlformats.org/officeDocument/2006/relationships/notesMaster" Target="/ppt/notesMasters/notesMaster1.xml" Id="R7e4183c9ec60412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7eb1737685f4828" /><Relationship Type="http://schemas.openxmlformats.org/officeDocument/2006/relationships/notesMaster" Target="/ppt/notesMasters/notesMaster1.xml" Id="R4b82ed4503654c0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21bb0a33ba5d4eb2" /><Relationship Type="http://schemas.openxmlformats.org/officeDocument/2006/relationships/notesMaster" Target="/ppt/notesMasters/notesMaster1.xml" Id="R4a540b5728f944f8"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668ae3995814f40" /><Relationship Type="http://schemas.openxmlformats.org/officeDocument/2006/relationships/notesMaster" Target="/ppt/notesMasters/notesMaster1.xml" Id="R74950fac19804a4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2cc368be02d4788" /><Relationship Type="http://schemas.openxmlformats.org/officeDocument/2006/relationships/notesMaster" Target="/ppt/notesMasters/notesMaster1.xml" Id="Rc21bd6caf98b4f34"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0a4027da73194d66" /><Relationship Type="http://schemas.openxmlformats.org/officeDocument/2006/relationships/notesMaster" Target="/ppt/notesMasters/notesMaster1.xml" Id="Reb2b614bf823478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eee19b76013f4adf" /><Relationship Type="http://schemas.openxmlformats.org/officeDocument/2006/relationships/notesMaster" Target="/ppt/notesMasters/notesMaster1.xml" Id="R30ae3b98ad7f4b3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8c79f00e22d4acf" /><Relationship Type="http://schemas.openxmlformats.org/officeDocument/2006/relationships/notesMaster" Target="/ppt/notesMasters/notesMaster1.xml" Id="R392bf4738f3b492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9eb65a3ebc734552" /><Relationship Type="http://schemas.openxmlformats.org/officeDocument/2006/relationships/notesMaster" Target="/ppt/notesMasters/notesMaster1.xml" Id="Rf307d7b6c73d445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fcbed75a32f14ec1" /><Relationship Type="http://schemas.openxmlformats.org/officeDocument/2006/relationships/notesMaster" Target="/ppt/notesMasters/notesMaster1.xml" Id="Rc284fe91189c4747"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ef2292371754d3f" /><Relationship Type="http://schemas.openxmlformats.org/officeDocument/2006/relationships/notesMaster" Target="/ppt/notesMasters/notesMaster1.xml" Id="R926ec86463c84ad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5e376dee77a747be" /><Relationship Type="http://schemas.openxmlformats.org/officeDocument/2006/relationships/notesMaster" Target="/ppt/notesMasters/notesMaster1.xml" Id="Rd348f3d2d77b4ab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334a3a3533241c7" /><Relationship Type="http://schemas.openxmlformats.org/officeDocument/2006/relationships/notesMaster" Target="/ppt/notesMasters/notesMaster1.xml" Id="R39a12d0fcae64f5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04d37a3e355c4ff0" /><Relationship Type="http://schemas.openxmlformats.org/officeDocument/2006/relationships/notesMaster" Target="/ppt/notesMasters/notesMaster1.xml" Id="R85db00cb45364d9d"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45bd3bfd4dd241aa" /><Relationship Type="http://schemas.openxmlformats.org/officeDocument/2006/relationships/notesMaster" Target="/ppt/notesMasters/notesMaster1.xml" Id="Ra31e051562c5491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afd3e6c7bca477d" /><Relationship Type="http://schemas.openxmlformats.org/officeDocument/2006/relationships/notesMaster" Target="/ppt/notesMasters/notesMaster1.xml" Id="Rf9c5d8c4b287401f"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c263f7e21ebc47d8" /><Relationship Type="http://schemas.openxmlformats.org/officeDocument/2006/relationships/notesMaster" Target="/ppt/notesMasters/notesMaster1.xml" Id="R0fd96424db9c4a32"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ce7eefadec4e4b95" /><Relationship Type="http://schemas.openxmlformats.org/officeDocument/2006/relationships/notesMaster" Target="/ppt/notesMasters/notesMaster1.xml" Id="R25d75006ead84d54"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fb2a1107e3d4a70" /><Relationship Type="http://schemas.openxmlformats.org/officeDocument/2006/relationships/notesMaster" Target="/ppt/notesMasters/notesMaster1.xml" Id="Ra716266a31eb42c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8c8752d18c2476a" /><Relationship Type="http://schemas.openxmlformats.org/officeDocument/2006/relationships/notesMaster" Target="/ppt/notesMasters/notesMaster1.xml" Id="Re64e8d2d73ab420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7d7c53e18624e55" /><Relationship Type="http://schemas.openxmlformats.org/officeDocument/2006/relationships/notesMaster" Target="/ppt/notesMasters/notesMaster1.xml" Id="R3beef393c7d54f8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513d138c3454aae" /><Relationship Type="http://schemas.openxmlformats.org/officeDocument/2006/relationships/notesMaster" Target="/ppt/notesMasters/notesMaster1.xml" Id="R18ef6b37483d47a8"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a045d76f9e04f8e" /><Relationship Type="http://schemas.openxmlformats.org/officeDocument/2006/relationships/notesMaster" Target="/ppt/notesMasters/notesMaster1.xml" Id="Re9ba783cfa12434a"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7e6a6cbeb1a24ee7" /><Relationship Type="http://schemas.openxmlformats.org/officeDocument/2006/relationships/notesMaster" Target="/ppt/notesMasters/notesMaster1.xml" Id="R3ac2e9e00bb4494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aad4290e32547d8" /><Relationship Type="http://schemas.openxmlformats.org/officeDocument/2006/relationships/notesMaster" Target="/ppt/notesMasters/notesMaster1.xml" Id="R961a858c36fa40e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28eb19d26eda408c" /><Relationship Type="http://schemas.openxmlformats.org/officeDocument/2006/relationships/notesMaster" Target="/ppt/notesMasters/notesMaster1.xml" Id="R455252ea8f30467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62388a4ed95444e" /><Relationship Type="http://schemas.openxmlformats.org/officeDocument/2006/relationships/notesMaster" Target="/ppt/notesMasters/notesMaster1.xml" Id="R6950455d16f9416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3798869119c459f" /><Relationship Type="http://schemas.openxmlformats.org/officeDocument/2006/relationships/notesMaster" Target="/ppt/notesMasters/notesMaster1.xml" Id="R722cf75ee0b64dde"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7211de5974514571" /><Relationship Type="http://schemas.openxmlformats.org/officeDocument/2006/relationships/notesMaster" Target="/ppt/notesMasters/notesMaster1.xml" Id="R6ef0b041e48444ae"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2d7ec83418a64a00" /><Relationship Type="http://schemas.openxmlformats.org/officeDocument/2006/relationships/notesMaster" Target="/ppt/notesMasters/notesMaster1.xml" Id="Rff354c640acb47f9"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d5538b6c7d774f4b" /><Relationship Type="http://schemas.openxmlformats.org/officeDocument/2006/relationships/notesMaster" Target="/ppt/notesMasters/notesMaster1.xml" Id="R2b4329a0c62b4ad6"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20ae74689fb24b88" /><Relationship Type="http://schemas.openxmlformats.org/officeDocument/2006/relationships/notesMaster" Target="/ppt/notesMasters/notesMaster1.xml" Id="R08b767a7271f4116"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f30ba5c5b402494e" /><Relationship Type="http://schemas.openxmlformats.org/officeDocument/2006/relationships/notesMaster" Target="/ppt/notesMasters/notesMaster1.xml" Id="R707799c7a63d4f85"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113a3fadf83144d1" /><Relationship Type="http://schemas.openxmlformats.org/officeDocument/2006/relationships/notesMaster" Target="/ppt/notesMasters/notesMaster1.xml" Id="R81c40166287b4943"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78b21561a7404138" /><Relationship Type="http://schemas.openxmlformats.org/officeDocument/2006/relationships/notesMaster" Target="/ppt/notesMasters/notesMaster1.xml" Id="R0cbbf4f5aa7a48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 · CAPÍTULO 1 · CONCEPTO</a:t>
            </a:r>
          </a:p>
          <a:p xmlns:a="http://schemas.openxmlformats.org/drawingml/2006/main">
            <a:r>
              <a:t>Título: Ruta de preparación</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Ruta de estudio y resultados</a:t>
            </a:r>
          </a:p>
          <a:p xmlns:a="http://schemas.openxmlformats.org/drawingml/2006/main">
            <a:r>
              <a:t>Fuente principal: https://github.com/javierrosado/ariwalab-course-langchain/blob/27c24090f1662f9473b673d2020e7bffee04490b/00-preparacion/README.md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Relacionar cada actividad previa con una evidencia de aprendizaje.</a:t>
            </a:r>
          </a:p>
          <a:p xmlns:a="http://schemas.openxmlformats.org/drawingml/2006/main">
            <a:r>
              <a:t/>
            </a:r>
          </a:p>
          <a:p xmlns:a="http://schemas.openxmlformats.org/drawingml/2006/main">
            <a:r>
              <a:t>CONCEPTO PRINCIPAL</a:t>
            </a:r>
          </a:p>
          <a:p xmlns:a="http://schemas.openxmlformats.org/drawingml/2006/main">
            <a:r>
              <a:t>Ruta de preparación</a:t>
            </a:r>
          </a:p>
          <a:p xmlns:a="http://schemas.openxmlformats.org/drawingml/2006/main">
            <a:r>
              <a:t/>
            </a:r>
          </a:p>
          <a:p xmlns:a="http://schemas.openxmlformats.org/drawingml/2006/main">
            <a:r>
              <a:t>MENSAJE QUE DEBE LLEVARSE EL ALUMNO</a:t>
            </a:r>
          </a:p>
          <a:p xmlns:a="http://schemas.openxmlformats.org/drawingml/2006/main">
            <a:r>
              <a:t>Las cuentas habilitan acceso; las demos y la autoevaluación evidencian aprendizaje.</a:t>
            </a:r>
          </a:p>
          <a:p xmlns:a="http://schemas.openxmlformats.org/drawingml/2006/main">
            <a:r>
              <a:t/>
            </a:r>
          </a:p>
          <a:p xmlns:a="http://schemas.openxmlformats.org/drawingml/2006/main">
            <a:r>
              <a:t>EXPLICACIÓN SUGERIDA PARA EL DOCENTE</a:t>
            </a:r>
          </a:p>
          <a:p xmlns:a="http://schemas.openxmlformats.org/drawingml/2006/main">
            <a:r>
              <a:t>Abra con la pregunta «¿Qué evidencia falta si solo creé las cuentas?».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Comprender: Fundamentos de LLM, tokens, contexto y límites.</a:t>
            </a:r>
          </a:p>
          <a:p xmlns:a="http://schemas.openxmlformats.org/drawingml/2006/main">
            <a:r>
              <a:t/>
            </a:r>
          </a:p>
          <a:p xmlns:a="http://schemas.openxmlformats.org/drawingml/2006/main">
            <a:r>
              <a:t>Preparar: Python, entorno aislado y acceso a servicios.</a:t>
            </a:r>
          </a:p>
          <a:p xmlns:a="http://schemas.openxmlformats.org/drawingml/2006/main">
            <a:r>
              <a:t/>
            </a:r>
          </a:p>
          <a:p xmlns:a="http://schemas.openxmlformats.org/drawingml/2006/main">
            <a:r>
              <a:t>Comprobar: Cuatro demos y autoevaluación antes de S1.</a:t>
            </a:r>
          </a:p>
          <a:p xmlns:a="http://schemas.openxmlformats.org/drawingml/2006/main">
            <a:r>
              <a:t/>
            </a:r>
          </a:p>
          <a:p xmlns:a="http://schemas.openxmlformats.org/drawingml/2006/main">
            <a:r>
              <a:t>Cierre con la distinción: Las cuentas habilitan acceso; las demos y la autoevaluación evidencian aprendizaje.</a:t>
            </a:r>
          </a:p>
          <a:p xmlns:a="http://schemas.openxmlformats.org/drawingml/2006/main">
            <a:r>
              <a:t/>
            </a:r>
          </a:p>
          <a:p xmlns:a="http://schemas.openxmlformats.org/drawingml/2006/main">
            <a:r>
              <a:t>AMPLIACIÓN DEL MATERIAL APROBADO</a:t>
            </a:r>
          </a:p>
          <a:p xmlns:a="http://schemas.openxmlformats.org/drawingml/2006/main">
            <a:r>
              <a:t>Abra preguntando qué partes de un sistema de IA el grupo considera ya conocidas por su experiencia con APIs. Escuche dos respuestas y anuncie que S0 trabaja precisamente las diferencias que pueden volver frágil un agente. Lea la ruta de izquierda a derecha: los fundamentos dan vocabulario; el entorno permite ejecutar; las cuentas dan acceso; las demos convierten afirmaciones en observaciones; la autoevaluación verifica comprensión individual.</a:t>
            </a:r>
          </a:p>
          <a:p xmlns:a="http://schemas.openxmlformats.org/drawingml/2006/main">
            <a:r>
              <a:t/>
            </a:r>
          </a:p>
          <a:p xmlns:a="http://schemas.openxmlformats.org/drawingml/2006/main">
            <a:r>
              <a:t>Los tiempos de actividades indicados por el README suman 235 minutos; la estimación global de cuatro a cinco horas incluye margen para configuración y repaso. No presente los cinco bloques como una clase síncrona. El glosario es una ayuda transversal que se consulta cuando haga falta. Cierre indicando que tener cuentas no demuestra comprender un LLM y que aprobar teoría no reemplaza un entorno funcional.</a:t>
            </a:r>
          </a:p>
          <a:p xmlns:a="http://schemas.openxmlformats.org/drawingml/2006/main">
            <a:r>
              <a:t/>
            </a:r>
          </a:p>
          <a:p xmlns:a="http://schemas.openxmlformats.org/drawingml/2006/main">
            <a:r>
              <a:t>ELEMENTOS QUE CONVIENE EXPLICAR</a:t>
            </a:r>
          </a:p>
          <a:p xmlns:a="http://schemas.openxmlformats.org/drawingml/2006/main">
            <a:r>
              <a:t>Comprender; Preparar; Comprobar.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El equipo tiene Python instalado, pero nunca llamó a un modelo.</a:t>
            </a:r>
          </a:p>
          <a:p xmlns:a="http://schemas.openxmlformats.org/drawingml/2006/main">
            <a:r>
              <a:t>Detectar: Saben programar; les falta observar al LLM.</a:t>
            </a:r>
          </a:p>
          <a:p xmlns:a="http://schemas.openxmlformats.org/drawingml/2006/main">
            <a:r>
              <a:t>Ejecutar: Comparan tokens y variación en las demos.</a:t>
            </a:r>
          </a:p>
          <a:p xmlns:a="http://schemas.openxmlformats.org/drawingml/2006/main">
            <a:r>
              <a:t>Explicar: Identifican qué resultado depende de una fuente externa.</a:t>
            </a:r>
          </a:p>
          <a:p xmlns:a="http://schemas.openxmlformats.org/drawingml/2006/main">
            <a:r>
              <a:t>Resultado: Preparación completa = comprensión, entorno funcional y evidencia.</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evidencia falta si solo creé las cuentas?</a:t>
            </a:r>
          </a:p>
          <a:p xmlns:a="http://schemas.openxmlformats.org/drawingml/2006/main">
            <a:r>
              <a:t>Orientación para el docente: contraste la respuesta con los criterios del desarrollo y pida evidencia. La conclusión debe respetar: Las cuentas habilitan acceso; las demos y la autoevaluación evidencian aprendizaje.</a:t>
            </a:r>
          </a:p>
          <a:p xmlns:a="http://schemas.openxmlformats.org/drawingml/2006/main">
            <a:r>
              <a:t/>
            </a:r>
          </a:p>
          <a:p xmlns:a="http://schemas.openxmlformats.org/drawingml/2006/main">
            <a:r>
              <a:t>ERRORES CONCEPTUALES FRECUENTES</a:t>
            </a:r>
          </a:p>
          <a:p xmlns:a="http://schemas.openxmlformats.org/drawingml/2006/main">
            <a:r>
              <a:t>Confundir completar registros con dominar los conceptos.</a:t>
            </a:r>
          </a:p>
          <a:p xmlns:a="http://schemas.openxmlformats.org/drawingml/2006/main">
            <a:r>
              <a:t/>
            </a:r>
          </a:p>
          <a:p xmlns:a="http://schemas.openxmlformats.org/drawingml/2006/main">
            <a:r>
              <a:t>CONEXIÓN ANTERIOR</a:t>
            </a:r>
          </a:p>
          <a:p xmlns:a="http://schemas.openxmlformats.org/drawingml/2006/main">
            <a:r>
              <a:t>Perfil de ingreso: Python, REST, Git y terminal..</a:t>
            </a:r>
          </a:p>
          <a:p xmlns:a="http://schemas.openxmlformats.org/drawingml/2006/main">
            <a:r>
              <a:t/>
            </a:r>
          </a:p>
          <a:p xmlns:a="http://schemas.openxmlformats.org/drawingml/2006/main">
            <a:r>
              <a:t>CONEXIÓN POSTERIOR</a:t>
            </a:r>
          </a:p>
          <a:p xmlns:a="http://schemas.openxmlformats.org/drawingml/2006/main">
            <a:r>
              <a:t>Láminas 02–15: fundamentos. S1 reutiliza esta base para distinguir LLM y agente. · Sigue: API y LLM: qué puedes verificar</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 · CAPÍTULO 1 · DESARROLLO</a:t>
            </a:r>
          </a:p>
          <a:p xmlns:a="http://schemas.openxmlformats.org/drawingml/2006/main">
            <a:r>
              <a:t>Título: Qué demuestra estar listo</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Ruta de estudio y resultados</a:t>
            </a:r>
          </a:p>
          <a:p xmlns:a="http://schemas.openxmlformats.org/drawingml/2006/main">
            <a:r>
              <a:t>Fuente principal: https://github.com/javierrosado/ariwalab-course-langchain/blob/27c24090f1662f9473b673d2020e7bffee04490b/00-preparacion/README.md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Relacionar cada actividad previa con una evidencia de aprendizaje.</a:t>
            </a:r>
          </a:p>
          <a:p xmlns:a="http://schemas.openxmlformats.org/drawingml/2006/main">
            <a:r>
              <a:t/>
            </a:r>
          </a:p>
          <a:p xmlns:a="http://schemas.openxmlformats.org/drawingml/2006/main">
            <a:r>
              <a:t>CONCEPTO PRINCIPAL</a:t>
            </a:r>
          </a:p>
          <a:p xmlns:a="http://schemas.openxmlformats.org/drawingml/2006/main">
            <a:r>
              <a:t>Ruta de preparación</a:t>
            </a:r>
          </a:p>
          <a:p xmlns:a="http://schemas.openxmlformats.org/drawingml/2006/main">
            <a:r>
              <a:t/>
            </a:r>
          </a:p>
          <a:p xmlns:a="http://schemas.openxmlformats.org/drawingml/2006/main">
            <a:r>
              <a:t>MENSAJE QUE DEBE LLEVARSE EL ALUMNO</a:t>
            </a:r>
          </a:p>
          <a:p xmlns:a="http://schemas.openxmlformats.org/drawingml/2006/main">
            <a:r>
              <a:t>Las cuentas habilitan acceso; las demos y la autoevaluación evidencian aprendizaje.</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Conceptos: Explicar por qué una respuesta plausible puede ser falsa.</a:t>
            </a:r>
          </a:p>
          <a:p xmlns:a="http://schemas.openxmlformats.org/drawingml/2006/main">
            <a:r>
              <a:t/>
            </a:r>
          </a:p>
          <a:p xmlns:a="http://schemas.openxmlformats.org/drawingml/2006/main">
            <a:r>
              <a:t>Entorno: Ejecutar desde la raíz con dependencias instaladas.</a:t>
            </a:r>
          </a:p>
          <a:p xmlns:a="http://schemas.openxmlformats.org/drawingml/2006/main">
            <a:r>
              <a:t/>
            </a:r>
          </a:p>
          <a:p xmlns:a="http://schemas.openxmlformats.org/drawingml/2006/main">
            <a:r>
              <a:t>Evidencias: Conservar observaciones y lograr al menos 8 de 10 aciertos.</a:t>
            </a:r>
          </a:p>
          <a:p xmlns:a="http://schemas.openxmlformats.org/drawingml/2006/main">
            <a:r>
              <a:t/>
            </a:r>
          </a:p>
          <a:p xmlns:a="http://schemas.openxmlformats.org/drawingml/2006/main">
            <a:r>
              <a:t>Contraste la regla con este error: Confundir completar registros con dominar los conceptos.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Abra preguntando qué partes de un sistema de IA el grupo considera ya conocidas por su experiencia con APIs. Escuche dos respuestas y anuncie que S0 trabaja precisamente las diferencias que pueden volver frágil un agente. Lea la ruta de izquierda a derecha: los fundamentos dan vocabulario; el entorno permite ejecutar; las cuentas dan acceso; las demos convierten afirmaciones en observaciones; la autoevaluación verifica comprensión individual.</a:t>
            </a:r>
          </a:p>
          <a:p xmlns:a="http://schemas.openxmlformats.org/drawingml/2006/main">
            <a:r>
              <a:t/>
            </a:r>
          </a:p>
          <a:p xmlns:a="http://schemas.openxmlformats.org/drawingml/2006/main">
            <a:r>
              <a:t>Los tiempos de actividades indicados por el README suman 235 minutos; la estimación global de cuatro a cinco horas incluye margen para configuración y repaso. No presente los cinco bloques como una clase síncrona. El glosario es una ayuda transversal que se consulta cuando haga falta. Cierre indicando que tener cuentas no demuestra comprender un LLM y que aprobar teoría no reemplaza un entorno funcional.</a:t>
            </a:r>
          </a:p>
          <a:p xmlns:a="http://schemas.openxmlformats.org/drawingml/2006/main">
            <a:r>
              <a:t/>
            </a:r>
          </a:p>
          <a:p xmlns:a="http://schemas.openxmlformats.org/drawingml/2006/main">
            <a:r>
              <a:t>ELEMENTOS QUE CONVIENE EXPLICAR</a:t>
            </a:r>
          </a:p>
          <a:p xmlns:a="http://schemas.openxmlformats.org/drawingml/2006/main">
            <a:r>
              <a:t>Conceptos; Entorno; Evidencias.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El equipo tiene Python instalado, pero nunca llamó a un modelo.</a:t>
            </a:r>
          </a:p>
          <a:p xmlns:a="http://schemas.openxmlformats.org/drawingml/2006/main">
            <a:r>
              <a:t>Detectar: Saben programar; les falta observar al LLM.</a:t>
            </a:r>
          </a:p>
          <a:p xmlns:a="http://schemas.openxmlformats.org/drawingml/2006/main">
            <a:r>
              <a:t>Ejecutar: Comparan tokens y variación en las demos.</a:t>
            </a:r>
          </a:p>
          <a:p xmlns:a="http://schemas.openxmlformats.org/drawingml/2006/main">
            <a:r>
              <a:t>Explicar: Identifican qué resultado depende de una fuente externa.</a:t>
            </a:r>
          </a:p>
          <a:p xmlns:a="http://schemas.openxmlformats.org/drawingml/2006/main">
            <a:r>
              <a:t>Resultado: Preparación completa = comprensión, entorno funcional y evidencia.</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evidencia falta si solo creé las cuentas?</a:t>
            </a:r>
          </a:p>
          <a:p xmlns:a="http://schemas.openxmlformats.org/drawingml/2006/main">
            <a:r>
              <a:t>Orientación para el docente: contraste la respuesta con los criterios del desarrollo y pida evidencia. La conclusión debe respetar: Las cuentas habilitan acceso; las demos y la autoevaluación evidencian aprendizaje.</a:t>
            </a:r>
          </a:p>
          <a:p xmlns:a="http://schemas.openxmlformats.org/drawingml/2006/main">
            <a:r>
              <a:t/>
            </a:r>
          </a:p>
          <a:p xmlns:a="http://schemas.openxmlformats.org/drawingml/2006/main">
            <a:r>
              <a:t>ERRORES CONCEPTUALES FRECUENTES</a:t>
            </a:r>
          </a:p>
          <a:p xmlns:a="http://schemas.openxmlformats.org/drawingml/2006/main">
            <a:r>
              <a:t>Confundir completar registros con dominar los conceptos.</a:t>
            </a:r>
          </a:p>
          <a:p xmlns:a="http://schemas.openxmlformats.org/drawingml/2006/main">
            <a:r>
              <a:t/>
            </a:r>
          </a:p>
          <a:p xmlns:a="http://schemas.openxmlformats.org/drawingml/2006/main">
            <a:r>
              <a:t>CONEXIÓN ANTERIOR</a:t>
            </a:r>
          </a:p>
          <a:p xmlns:a="http://schemas.openxmlformats.org/drawingml/2006/main">
            <a:r>
              <a:t>Perfil de ingreso: Python, REST, Git y terminal..</a:t>
            </a:r>
          </a:p>
          <a:p xmlns:a="http://schemas.openxmlformats.org/drawingml/2006/main">
            <a:r>
              <a:t/>
            </a:r>
          </a:p>
          <a:p xmlns:a="http://schemas.openxmlformats.org/drawingml/2006/main">
            <a:r>
              <a:t>CONEXIÓN POSTERIOR</a:t>
            </a:r>
          </a:p>
          <a:p xmlns:a="http://schemas.openxmlformats.org/drawingml/2006/main">
            <a:r>
              <a:t>Láminas 02–15: fundamentos. S1 reutiliza esta base para distinguir LLM y agente. · Sigue: API y LLM: qué puedes verificar</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 · CAPÍTULO 1 · EJEMPLO</a:t>
            </a:r>
          </a:p>
          <a:p xmlns:a="http://schemas.openxmlformats.org/drawingml/2006/main">
            <a:r>
              <a:t>Título: AndesMóvil · Ruta de preparación</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Ruta de estudio y resultados</a:t>
            </a:r>
          </a:p>
          <a:p xmlns:a="http://schemas.openxmlformats.org/drawingml/2006/main">
            <a:r>
              <a:t>Fuente principal: https://github.com/javierrosado/ariwalab-course-langchain/blob/27c24090f1662f9473b673d2020e7bffee04490b/00-preparacion/README.md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Relacionar cada actividad previa con una evidencia de aprendizaje.</a:t>
            </a:r>
          </a:p>
          <a:p xmlns:a="http://schemas.openxmlformats.org/drawingml/2006/main">
            <a:r>
              <a:t/>
            </a:r>
          </a:p>
          <a:p xmlns:a="http://schemas.openxmlformats.org/drawingml/2006/main">
            <a:r>
              <a:t>CONCEPTO PRINCIPAL</a:t>
            </a:r>
          </a:p>
          <a:p xmlns:a="http://schemas.openxmlformats.org/drawingml/2006/main">
            <a:r>
              <a:t>Ruta de preparación</a:t>
            </a:r>
          </a:p>
          <a:p xmlns:a="http://schemas.openxmlformats.org/drawingml/2006/main">
            <a:r>
              <a:t/>
            </a:r>
          </a:p>
          <a:p xmlns:a="http://schemas.openxmlformats.org/drawingml/2006/main">
            <a:r>
              <a:t>MENSAJE QUE DEBE LLEVARSE EL ALUMNO</a:t>
            </a:r>
          </a:p>
          <a:p xmlns:a="http://schemas.openxmlformats.org/drawingml/2006/main">
            <a:r>
              <a:t>Las cuentas habilitan acceso; las demos y la autoevaluación evidencian aprendizaje.</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El equipo tiene Python instalado, pero nunca llamó a un modelo. Pida una predicción.</a:t>
            </a:r>
          </a:p>
          <a:p xmlns:a="http://schemas.openxmlformats.org/drawingml/2006/main">
            <a:r>
              <a:t/>
            </a:r>
          </a:p>
          <a:p xmlns:a="http://schemas.openxmlformats.org/drawingml/2006/main">
            <a:r>
              <a:t>Detectar: Saben programar; les falta observar al LLM.</a:t>
            </a:r>
          </a:p>
          <a:p xmlns:a="http://schemas.openxmlformats.org/drawingml/2006/main">
            <a:r>
              <a:t/>
            </a:r>
          </a:p>
          <a:p xmlns:a="http://schemas.openxmlformats.org/drawingml/2006/main">
            <a:r>
              <a:t>Ejecutar: Comparan tokens y variación en las demos.</a:t>
            </a:r>
          </a:p>
          <a:p xmlns:a="http://schemas.openxmlformats.org/drawingml/2006/main">
            <a:r>
              <a:t/>
            </a:r>
          </a:p>
          <a:p xmlns:a="http://schemas.openxmlformats.org/drawingml/2006/main">
            <a:r>
              <a:t>Explicar: Identifican qué resultado depende de una fuente externa.</a:t>
            </a:r>
          </a:p>
          <a:p xmlns:a="http://schemas.openxmlformats.org/drawingml/2006/main">
            <a:r>
              <a:t/>
            </a:r>
          </a:p>
          <a:p xmlns:a="http://schemas.openxmlformats.org/drawingml/2006/main">
            <a:r>
              <a:t>Resultado esperado: Preparación completa = comprensión, entorno funcional y evidencia.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Abra preguntando qué partes de un sistema de IA el grupo considera ya conocidas por su experiencia con APIs. Escuche dos respuestas y anuncie que S0 trabaja precisamente las diferencias que pueden volver frágil un agente. Lea la ruta de izquierda a derecha: los fundamentos dan vocabulario; el entorno permite ejecutar; las cuentas dan acceso; las demos convierten afirmaciones en observaciones; la autoevaluación verifica comprensión individual.</a:t>
            </a:r>
          </a:p>
          <a:p xmlns:a="http://schemas.openxmlformats.org/drawingml/2006/main">
            <a:r>
              <a:t/>
            </a:r>
          </a:p>
          <a:p xmlns:a="http://schemas.openxmlformats.org/drawingml/2006/main">
            <a:r>
              <a:t>Los tiempos de actividades indicados por el README suman 235 minutos; la estimación global de cuatro a cinco horas incluye margen para configuración y repaso. No presente los cinco bloques como una clase síncrona. El glosario es una ayuda transversal que se consulta cuando haga falta. Cierre indicando que tener cuentas no demuestra comprender un LLM y que aprobar teoría no reemplaza un entorno funcional.</a:t>
            </a:r>
          </a:p>
          <a:p xmlns:a="http://schemas.openxmlformats.org/drawingml/2006/main">
            <a:r>
              <a:t/>
            </a:r>
          </a:p>
          <a:p xmlns:a="http://schemas.openxmlformats.org/drawingml/2006/main">
            <a:r>
              <a:t>ELEMENTOS QUE CONVIENE EXPLICAR</a:t>
            </a:r>
          </a:p>
          <a:p xmlns:a="http://schemas.openxmlformats.org/drawingml/2006/main">
            <a:r>
              <a:t>Detectar; Ejecutar; Explicar.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El equipo tiene Python instalado, pero nunca llamó a un modelo.</a:t>
            </a:r>
          </a:p>
          <a:p xmlns:a="http://schemas.openxmlformats.org/drawingml/2006/main">
            <a:r>
              <a:t>Detectar: Saben programar; les falta observar al LLM.</a:t>
            </a:r>
          </a:p>
          <a:p xmlns:a="http://schemas.openxmlformats.org/drawingml/2006/main">
            <a:r>
              <a:t>Ejecutar: Comparan tokens y variación en las demos.</a:t>
            </a:r>
          </a:p>
          <a:p xmlns:a="http://schemas.openxmlformats.org/drawingml/2006/main">
            <a:r>
              <a:t>Explicar: Identifican qué resultado depende de una fuente externa.</a:t>
            </a:r>
          </a:p>
          <a:p xmlns:a="http://schemas.openxmlformats.org/drawingml/2006/main">
            <a:r>
              <a:t>Resultado: Preparación completa = comprensión, entorno funcional y evidencia.</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evidencia falta si solo creé las cuentas?</a:t>
            </a:r>
          </a:p>
          <a:p xmlns:a="http://schemas.openxmlformats.org/drawingml/2006/main">
            <a:r>
              <a:t>Orientación para el docente: contraste la respuesta con los criterios del desarrollo y pida evidencia. La conclusión debe respetar: Las cuentas habilitan acceso; las demos y la autoevaluación evidencian aprendizaje.</a:t>
            </a:r>
          </a:p>
          <a:p xmlns:a="http://schemas.openxmlformats.org/drawingml/2006/main">
            <a:r>
              <a:t/>
            </a:r>
          </a:p>
          <a:p xmlns:a="http://schemas.openxmlformats.org/drawingml/2006/main">
            <a:r>
              <a:t>ERRORES CONCEPTUALES FRECUENTES</a:t>
            </a:r>
          </a:p>
          <a:p xmlns:a="http://schemas.openxmlformats.org/drawingml/2006/main">
            <a:r>
              <a:t>Confundir completar registros con dominar los conceptos.</a:t>
            </a:r>
          </a:p>
          <a:p xmlns:a="http://schemas.openxmlformats.org/drawingml/2006/main">
            <a:r>
              <a:t/>
            </a:r>
          </a:p>
          <a:p xmlns:a="http://schemas.openxmlformats.org/drawingml/2006/main">
            <a:r>
              <a:t>CONEXIÓN ANTERIOR</a:t>
            </a:r>
          </a:p>
          <a:p xmlns:a="http://schemas.openxmlformats.org/drawingml/2006/main">
            <a:r>
              <a:t>Perfil de ingreso: Python, REST, Git y terminal..</a:t>
            </a:r>
          </a:p>
          <a:p xmlns:a="http://schemas.openxmlformats.org/drawingml/2006/main">
            <a:r>
              <a:t/>
            </a:r>
          </a:p>
          <a:p xmlns:a="http://schemas.openxmlformats.org/drawingml/2006/main">
            <a:r>
              <a:t>CONEXIÓN POSTERIOR</a:t>
            </a:r>
          </a:p>
          <a:p xmlns:a="http://schemas.openxmlformats.org/drawingml/2006/main">
            <a:r>
              <a:t>Láminas 02–15: fundamentos. S1 reutiliza esta base para distinguir LLM y agente. · Sigue: API y LLM: qué puedes verificar</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 · CAPÍTULO 2 · CONCEPTO</a:t>
            </a:r>
          </a:p>
          <a:p xmlns:a="http://schemas.openxmlformats.org/drawingml/2006/main">
            <a:r>
              <a:t>Título: API y LLM: qué puedes verificar</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§1</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Distinguir transporte correcto, formato válido y contenido verdadero.</a:t>
            </a:r>
          </a:p>
          <a:p xmlns:a="http://schemas.openxmlformats.org/drawingml/2006/main">
            <a:r>
              <a:t/>
            </a:r>
          </a:p>
          <a:p xmlns:a="http://schemas.openxmlformats.org/drawingml/2006/main">
            <a:r>
              <a:t>CONCEPTO PRINCIPAL</a:t>
            </a:r>
          </a:p>
          <a:p xmlns:a="http://schemas.openxmlformats.org/drawingml/2006/main">
            <a:r>
              <a:t>API y LLM: qué puedes verificar</a:t>
            </a:r>
          </a:p>
          <a:p xmlns:a="http://schemas.openxmlformats.org/drawingml/2006/main">
            <a:r>
              <a:t/>
            </a:r>
          </a:p>
          <a:p xmlns:a="http://schemas.openxmlformats.org/drawingml/2006/main">
            <a:r>
              <a:t>MENSAJE QUE DEBE LLEVARSE EL ALUMNO</a:t>
            </a:r>
          </a:p>
          <a:p xmlns:a="http://schemas.openxmlformats.org/drawingml/2006/main">
            <a:r>
              <a:t>Validar la forma no valida los hechos.</a:t>
            </a:r>
          </a:p>
          <a:p xmlns:a="http://schemas.openxmlformats.org/drawingml/2006/main">
            <a:r>
              <a:t/>
            </a:r>
          </a:p>
          <a:p xmlns:a="http://schemas.openxmlformats.org/drawingml/2006/main">
            <a:r>
              <a:t>EXPLICACIÓN SUGERIDA PARA EL DOCENTE</a:t>
            </a:r>
          </a:p>
          <a:p xmlns:a="http://schemas.openxmlformats.org/drawingml/2006/main">
            <a:r>
              <a:t>Abra con la pregunta «¿Qué capa detecta la diferencia de tarifa?».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API de negocio: Consulta o calcula sobre reglas y datos del sistema.</a:t>
            </a:r>
          </a:p>
          <a:p xmlns:a="http://schemas.openxmlformats.org/drawingml/2006/main">
            <a:r>
              <a:t/>
            </a:r>
          </a:p>
          <a:p xmlns:a="http://schemas.openxmlformats.org/drawingml/2006/main">
            <a:r>
              <a:t>Modelo de lenguaje: Genera una respuesta condicionada por sus mensajes.</a:t>
            </a:r>
          </a:p>
          <a:p xmlns:a="http://schemas.openxmlformats.org/drawingml/2006/main">
            <a:r>
              <a:t/>
            </a:r>
          </a:p>
          <a:p xmlns:a="http://schemas.openxmlformats.org/drawingml/2006/main">
            <a:r>
              <a:t>Verificación: Contrastar la afirmación con la fuente pertinente.</a:t>
            </a:r>
          </a:p>
          <a:p xmlns:a="http://schemas.openxmlformats.org/drawingml/2006/main">
            <a:r>
              <a:t/>
            </a:r>
          </a:p>
          <a:p xmlns:a="http://schemas.openxmlformats.org/drawingml/2006/main">
            <a:r>
              <a:t>Cierre con la distinción: Validar la forma no valida los hechos.</a:t>
            </a:r>
          </a:p>
          <a:p xmlns:a="http://schemas.openxmlformats.org/drawingml/2006/main">
            <a:r>
              <a:t/>
            </a:r>
          </a:p>
          <a:p xmlns:a="http://schemas.openxmlformats.org/drawingml/2006/main">
            <a:r>
              <a:t>AMPLIACIÓN DEL MATERIAL APROBADO</a:t>
            </a:r>
          </a:p>
          <a:p xmlns:a="http://schemas.openxmlformats.org/drawingml/2006/main">
            <a:r>
              <a:t>Presente la consulta de AndesMóvil y pregunte de dónde debería salir una tarifa específica de un cliente. Una API de negocio consulta o calcula con reglas y datos definidos; la corrección se contrasta con ese sistema. Un LLM genera una continuación condicionada por los mensajes. Si no recibió ni consultó la tarifa, podría proponer una plausible.</a:t>
            </a:r>
          </a:p>
          <a:p xmlns:a="http://schemas.openxmlformats.org/drawingml/2006/main">
            <a:r>
              <a:t/>
            </a:r>
          </a:p>
          <a:p xmlns:a="http://schemas.openxmlformats.org/drawingml/2006/main">
            <a:r>
              <a:t>Explique las dos columnas por filas, sin afirmar que toda API REST es determinista: una API puede depender del tiempo o de datos cambiantes, y también puede contener errores de negocio. El contraste útil es la responsabilidad del contrato y la verificación. Distinga además una salida mal formada de una salida válida pero falsa. En S2 se trabaja el formato; en S3 y S5 se añaden fuentes externas. Cierre pidiendo tres verificaciones: transporte correcto, estructura válida y dato respaldado.</a:t>
            </a:r>
          </a:p>
          <a:p xmlns:a="http://schemas.openxmlformats.org/drawingml/2006/main">
            <a:r>
              <a:t/>
            </a:r>
          </a:p>
          <a:p xmlns:a="http://schemas.openxmlformats.org/drawingml/2006/main">
            <a:r>
              <a:t>ELEMENTOS QUE CONVIENE EXPLICAR</a:t>
            </a:r>
          </a:p>
          <a:p xmlns:a="http://schemas.openxmlformats.org/drawingml/2006/main">
            <a:r>
              <a:t>API de negocio; Modelo de lenguaje; Verificación.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El modelo devuelve {"tarifa":49.90}; el sistema registra S/ 59.90.</a:t>
            </a:r>
          </a:p>
          <a:p xmlns:a="http://schemas.openxmlformats.org/drawingml/2006/main">
            <a:r>
              <a:t>Recibir: La petición terminó sin error de transporte.</a:t>
            </a:r>
          </a:p>
          <a:p xmlns:a="http://schemas.openxmlformats.org/drawingml/2006/main">
            <a:r>
              <a:t>Validar: El campo tarifa contiene un número válido.</a:t>
            </a:r>
          </a:p>
          <a:p xmlns:a="http://schemas.openxmlformats.org/drawingml/2006/main">
            <a:r>
              <a:t>Contrastar: El dato difiere del sistema: la respuesta es incorrecta.</a:t>
            </a:r>
          </a:p>
          <a:p xmlns:a="http://schemas.openxmlformats.org/drawingml/2006/main">
            <a:r>
              <a:t>Resultado: Un JSON válido puede contener una tarifa falsa. Cifras didácticas.</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capa detecta la diferencia de tarifa?</a:t>
            </a:r>
          </a:p>
          <a:p xmlns:a="http://schemas.openxmlformats.org/drawingml/2006/main">
            <a:r>
              <a:t>Orientación para el docente: contraste la respuesta con los criterios del desarrollo y pida evidencia. La conclusión debe respetar: Validar la forma no valida los hechos.</a:t>
            </a:r>
          </a:p>
          <a:p xmlns:a="http://schemas.openxmlformats.org/drawingml/2006/main">
            <a:r>
              <a:t/>
            </a:r>
          </a:p>
          <a:p xmlns:a="http://schemas.openxmlformats.org/drawingml/2006/main">
            <a:r>
              <a:t>ERRORES CONCEPTUALES FRECUENTES</a:t>
            </a:r>
          </a:p>
          <a:p xmlns:a="http://schemas.openxmlformats.org/drawingml/2006/main">
            <a:r>
              <a:t>Afirmar que toda API REST es determinista.</a:t>
            </a:r>
          </a:p>
          <a:p xmlns:a="http://schemas.openxmlformats.org/drawingml/2006/main">
            <a:r>
              <a:t/>
            </a:r>
          </a:p>
          <a:p xmlns:a="http://schemas.openxmlformats.org/drawingml/2006/main">
            <a:r>
              <a:t>CONEXIÓN ANTERIOR</a:t>
            </a:r>
          </a:p>
          <a:p xmlns:a="http://schemas.openxmlformats.org/drawingml/2006/main">
            <a:r>
              <a:t>Ruta de preparación y experiencia previa construyendo APIs. · Capítulo previo: Ruta de preparación</a:t>
            </a:r>
          </a:p>
          <a:p xmlns:a="http://schemas.openxmlformats.org/drawingml/2006/main">
            <a:r>
              <a:t/>
            </a:r>
          </a:p>
          <a:p xmlns:a="http://schemas.openxmlformats.org/drawingml/2006/main">
            <a:r>
              <a:t>CONEXIÓN POSTERIOR</a:t>
            </a:r>
          </a:p>
          <a:p xmlns:a="http://schemas.openxmlformats.org/drawingml/2006/main">
            <a:r>
              <a:t>03 explica cómo se genera una continuación; 08 muestra una alucinación; S2 estudia contratos. · Sigue: Generación token a token</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 · CAPÍTULO 2 · DESARROLLO</a:t>
            </a:r>
          </a:p>
          <a:p xmlns:a="http://schemas.openxmlformats.org/drawingml/2006/main">
            <a:r>
              <a:t>Título: Tres comprobaciones independientes</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§1</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Distinguir transporte correcto, formato válido y contenido verdadero.</a:t>
            </a:r>
          </a:p>
          <a:p xmlns:a="http://schemas.openxmlformats.org/drawingml/2006/main">
            <a:r>
              <a:t/>
            </a:r>
          </a:p>
          <a:p xmlns:a="http://schemas.openxmlformats.org/drawingml/2006/main">
            <a:r>
              <a:t>CONCEPTO PRINCIPAL</a:t>
            </a:r>
          </a:p>
          <a:p xmlns:a="http://schemas.openxmlformats.org/drawingml/2006/main">
            <a:r>
              <a:t>API y LLM: qué puedes verificar</a:t>
            </a:r>
          </a:p>
          <a:p xmlns:a="http://schemas.openxmlformats.org/drawingml/2006/main">
            <a:r>
              <a:t/>
            </a:r>
          </a:p>
          <a:p xmlns:a="http://schemas.openxmlformats.org/drawingml/2006/main">
            <a:r>
              <a:t>MENSAJE QUE DEBE LLEVARSE EL ALUMNO</a:t>
            </a:r>
          </a:p>
          <a:p xmlns:a="http://schemas.openxmlformats.org/drawingml/2006/main">
            <a:r>
              <a:t>Validar la forma no valida los hechos.</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Transporte: La llamada terminó; un HTTP 200 solo confirma esta capa.</a:t>
            </a:r>
          </a:p>
          <a:p xmlns:a="http://schemas.openxmlformats.org/drawingml/2006/main">
            <a:r>
              <a:t/>
            </a:r>
          </a:p>
          <a:p xmlns:a="http://schemas.openxmlformats.org/drawingml/2006/main">
            <a:r>
              <a:t>Estructura: El objeto cumple el contrato de campos y tipos.</a:t>
            </a:r>
          </a:p>
          <a:p xmlns:a="http://schemas.openxmlformats.org/drawingml/2006/main">
            <a:r>
              <a:t/>
            </a:r>
          </a:p>
          <a:p xmlns:a="http://schemas.openxmlformats.org/drawingml/2006/main">
            <a:r>
              <a:t>Contenido: La tarifa coincide con el sistema que la administra.</a:t>
            </a:r>
          </a:p>
          <a:p xmlns:a="http://schemas.openxmlformats.org/drawingml/2006/main">
            <a:r>
              <a:t/>
            </a:r>
          </a:p>
          <a:p xmlns:a="http://schemas.openxmlformats.org/drawingml/2006/main">
            <a:r>
              <a:t>Contraste la regla con este error: Afirmar que toda API REST es determinista.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Presente la consulta de AndesMóvil y pregunte de dónde debería salir una tarifa específica de un cliente. Una API de negocio consulta o calcula con reglas y datos definidos; la corrección se contrasta con ese sistema. Un LLM genera una continuación condicionada por los mensajes. Si no recibió ni consultó la tarifa, podría proponer una plausible.</a:t>
            </a:r>
          </a:p>
          <a:p xmlns:a="http://schemas.openxmlformats.org/drawingml/2006/main">
            <a:r>
              <a:t/>
            </a:r>
          </a:p>
          <a:p xmlns:a="http://schemas.openxmlformats.org/drawingml/2006/main">
            <a:r>
              <a:t>Explique las dos columnas por filas, sin afirmar que toda API REST es determinista: una API puede depender del tiempo o de datos cambiantes, y también puede contener errores de negocio. El contraste útil es la responsabilidad del contrato y la verificación. Distinga además una salida mal formada de una salida válida pero falsa. En S2 se trabaja el formato; en S3 y S5 se añaden fuentes externas. Cierre pidiendo tres verificaciones: transporte correcto, estructura válida y dato respaldado.</a:t>
            </a:r>
          </a:p>
          <a:p xmlns:a="http://schemas.openxmlformats.org/drawingml/2006/main">
            <a:r>
              <a:t/>
            </a:r>
          </a:p>
          <a:p xmlns:a="http://schemas.openxmlformats.org/drawingml/2006/main">
            <a:r>
              <a:t>ELEMENTOS QUE CONVIENE EXPLICAR</a:t>
            </a:r>
          </a:p>
          <a:p xmlns:a="http://schemas.openxmlformats.org/drawingml/2006/main">
            <a:r>
              <a:t>Transporte; Estructura; Contenido.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El modelo devuelve {"tarifa":49.90}; el sistema registra S/ 59.90.</a:t>
            </a:r>
          </a:p>
          <a:p xmlns:a="http://schemas.openxmlformats.org/drawingml/2006/main">
            <a:r>
              <a:t>Recibir: La petición terminó sin error de transporte.</a:t>
            </a:r>
          </a:p>
          <a:p xmlns:a="http://schemas.openxmlformats.org/drawingml/2006/main">
            <a:r>
              <a:t>Validar: El campo tarifa contiene un número válido.</a:t>
            </a:r>
          </a:p>
          <a:p xmlns:a="http://schemas.openxmlformats.org/drawingml/2006/main">
            <a:r>
              <a:t>Contrastar: El dato difiere del sistema: la respuesta es incorrecta.</a:t>
            </a:r>
          </a:p>
          <a:p xmlns:a="http://schemas.openxmlformats.org/drawingml/2006/main">
            <a:r>
              <a:t>Resultado: Un JSON válido puede contener una tarifa falsa. Cifras didácticas.</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capa detecta la diferencia de tarifa?</a:t>
            </a:r>
          </a:p>
          <a:p xmlns:a="http://schemas.openxmlformats.org/drawingml/2006/main">
            <a:r>
              <a:t>Orientación para el docente: contraste la respuesta con los criterios del desarrollo y pida evidencia. La conclusión debe respetar: Validar la forma no valida los hechos.</a:t>
            </a:r>
          </a:p>
          <a:p xmlns:a="http://schemas.openxmlformats.org/drawingml/2006/main">
            <a:r>
              <a:t/>
            </a:r>
          </a:p>
          <a:p xmlns:a="http://schemas.openxmlformats.org/drawingml/2006/main">
            <a:r>
              <a:t>ERRORES CONCEPTUALES FRECUENTES</a:t>
            </a:r>
          </a:p>
          <a:p xmlns:a="http://schemas.openxmlformats.org/drawingml/2006/main">
            <a:r>
              <a:t>Afirmar que toda API REST es determinista.</a:t>
            </a:r>
          </a:p>
          <a:p xmlns:a="http://schemas.openxmlformats.org/drawingml/2006/main">
            <a:r>
              <a:t/>
            </a:r>
          </a:p>
          <a:p xmlns:a="http://schemas.openxmlformats.org/drawingml/2006/main">
            <a:r>
              <a:t>CONEXIÓN ANTERIOR</a:t>
            </a:r>
          </a:p>
          <a:p xmlns:a="http://schemas.openxmlformats.org/drawingml/2006/main">
            <a:r>
              <a:t>Ruta de preparación y experiencia previa construyendo APIs. · Capítulo previo: Ruta de preparación</a:t>
            </a:r>
          </a:p>
          <a:p xmlns:a="http://schemas.openxmlformats.org/drawingml/2006/main">
            <a:r>
              <a:t/>
            </a:r>
          </a:p>
          <a:p xmlns:a="http://schemas.openxmlformats.org/drawingml/2006/main">
            <a:r>
              <a:t>CONEXIÓN POSTERIOR</a:t>
            </a:r>
          </a:p>
          <a:p xmlns:a="http://schemas.openxmlformats.org/drawingml/2006/main">
            <a:r>
              <a:t>03 explica cómo se genera una continuación; 08 muestra una alucinación; S2 estudia contratos. · Sigue: Generación token a token</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6 · CAPÍTULO 2 · EJEMPLO</a:t>
            </a:r>
          </a:p>
          <a:p xmlns:a="http://schemas.openxmlformats.org/drawingml/2006/main">
            <a:r>
              <a:t>Título: AndesMóvil · API y LLM: qué puedes verificar</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§1</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Distinguir transporte correcto, formato válido y contenido verdadero.</a:t>
            </a:r>
          </a:p>
          <a:p xmlns:a="http://schemas.openxmlformats.org/drawingml/2006/main">
            <a:r>
              <a:t/>
            </a:r>
          </a:p>
          <a:p xmlns:a="http://schemas.openxmlformats.org/drawingml/2006/main">
            <a:r>
              <a:t>CONCEPTO PRINCIPAL</a:t>
            </a:r>
          </a:p>
          <a:p xmlns:a="http://schemas.openxmlformats.org/drawingml/2006/main">
            <a:r>
              <a:t>API y LLM: qué puedes verificar</a:t>
            </a:r>
          </a:p>
          <a:p xmlns:a="http://schemas.openxmlformats.org/drawingml/2006/main">
            <a:r>
              <a:t/>
            </a:r>
          </a:p>
          <a:p xmlns:a="http://schemas.openxmlformats.org/drawingml/2006/main">
            <a:r>
              <a:t>MENSAJE QUE DEBE LLEVARSE EL ALUMNO</a:t>
            </a:r>
          </a:p>
          <a:p xmlns:a="http://schemas.openxmlformats.org/drawingml/2006/main">
            <a:r>
              <a:t>Validar la forma no valida los hechos.</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El modelo devuelve {"tarifa":49.90}; el sistema registra S/ 59.90. Pida una predicción.</a:t>
            </a:r>
          </a:p>
          <a:p xmlns:a="http://schemas.openxmlformats.org/drawingml/2006/main">
            <a:r>
              <a:t/>
            </a:r>
          </a:p>
          <a:p xmlns:a="http://schemas.openxmlformats.org/drawingml/2006/main">
            <a:r>
              <a:t>Recibir: La petición terminó sin error de transporte.</a:t>
            </a:r>
          </a:p>
          <a:p xmlns:a="http://schemas.openxmlformats.org/drawingml/2006/main">
            <a:r>
              <a:t/>
            </a:r>
          </a:p>
          <a:p xmlns:a="http://schemas.openxmlformats.org/drawingml/2006/main">
            <a:r>
              <a:t>Validar: El campo tarifa contiene un número válido.</a:t>
            </a:r>
          </a:p>
          <a:p xmlns:a="http://schemas.openxmlformats.org/drawingml/2006/main">
            <a:r>
              <a:t/>
            </a:r>
          </a:p>
          <a:p xmlns:a="http://schemas.openxmlformats.org/drawingml/2006/main">
            <a:r>
              <a:t>Contrastar: El dato difiere del sistema: la respuesta es incorrecta.</a:t>
            </a:r>
          </a:p>
          <a:p xmlns:a="http://schemas.openxmlformats.org/drawingml/2006/main">
            <a:r>
              <a:t/>
            </a:r>
          </a:p>
          <a:p xmlns:a="http://schemas.openxmlformats.org/drawingml/2006/main">
            <a:r>
              <a:t>Resultado esperado: Un JSON válido puede contener una tarifa falsa. Cifras didácticas.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Presente la consulta de AndesMóvil y pregunte de dónde debería salir una tarifa específica de un cliente. Una API de negocio consulta o calcula con reglas y datos definidos; la corrección se contrasta con ese sistema. Un LLM genera una continuación condicionada por los mensajes. Si no recibió ni consultó la tarifa, podría proponer una plausible.</a:t>
            </a:r>
          </a:p>
          <a:p xmlns:a="http://schemas.openxmlformats.org/drawingml/2006/main">
            <a:r>
              <a:t/>
            </a:r>
          </a:p>
          <a:p xmlns:a="http://schemas.openxmlformats.org/drawingml/2006/main">
            <a:r>
              <a:t>Explique las dos columnas por filas, sin afirmar que toda API REST es determinista: una API puede depender del tiempo o de datos cambiantes, y también puede contener errores de negocio. El contraste útil es la responsabilidad del contrato y la verificación. Distinga además una salida mal formada de una salida válida pero falsa. En S2 se trabaja el formato; en S3 y S5 se añaden fuentes externas. Cierre pidiendo tres verificaciones: transporte correcto, estructura válida y dato respaldado.</a:t>
            </a:r>
          </a:p>
          <a:p xmlns:a="http://schemas.openxmlformats.org/drawingml/2006/main">
            <a:r>
              <a:t/>
            </a:r>
          </a:p>
          <a:p xmlns:a="http://schemas.openxmlformats.org/drawingml/2006/main">
            <a:r>
              <a:t>ELEMENTOS QUE CONVIENE EXPLICAR</a:t>
            </a:r>
          </a:p>
          <a:p xmlns:a="http://schemas.openxmlformats.org/drawingml/2006/main">
            <a:r>
              <a:t>Recibir; Validar; Contrastar.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El modelo devuelve {"tarifa":49.90}; el sistema registra S/ 59.90.</a:t>
            </a:r>
          </a:p>
          <a:p xmlns:a="http://schemas.openxmlformats.org/drawingml/2006/main">
            <a:r>
              <a:t>Recibir: La petición terminó sin error de transporte.</a:t>
            </a:r>
          </a:p>
          <a:p xmlns:a="http://schemas.openxmlformats.org/drawingml/2006/main">
            <a:r>
              <a:t>Validar: El campo tarifa contiene un número válido.</a:t>
            </a:r>
          </a:p>
          <a:p xmlns:a="http://schemas.openxmlformats.org/drawingml/2006/main">
            <a:r>
              <a:t>Contrastar: El dato difiere del sistema: la respuesta es incorrecta.</a:t>
            </a:r>
          </a:p>
          <a:p xmlns:a="http://schemas.openxmlformats.org/drawingml/2006/main">
            <a:r>
              <a:t>Resultado: Un JSON válido puede contener una tarifa falsa. Cifras didácticas.</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capa detecta la diferencia de tarifa?</a:t>
            </a:r>
          </a:p>
          <a:p xmlns:a="http://schemas.openxmlformats.org/drawingml/2006/main">
            <a:r>
              <a:t>Orientación para el docente: contraste la respuesta con los criterios del desarrollo y pida evidencia. La conclusión debe respetar: Validar la forma no valida los hechos.</a:t>
            </a:r>
          </a:p>
          <a:p xmlns:a="http://schemas.openxmlformats.org/drawingml/2006/main">
            <a:r>
              <a:t/>
            </a:r>
          </a:p>
          <a:p xmlns:a="http://schemas.openxmlformats.org/drawingml/2006/main">
            <a:r>
              <a:t>ERRORES CONCEPTUALES FRECUENTES</a:t>
            </a:r>
          </a:p>
          <a:p xmlns:a="http://schemas.openxmlformats.org/drawingml/2006/main">
            <a:r>
              <a:t>Afirmar que toda API REST es determinista.</a:t>
            </a:r>
          </a:p>
          <a:p xmlns:a="http://schemas.openxmlformats.org/drawingml/2006/main">
            <a:r>
              <a:t/>
            </a:r>
          </a:p>
          <a:p xmlns:a="http://schemas.openxmlformats.org/drawingml/2006/main">
            <a:r>
              <a:t>CONEXIÓN ANTERIOR</a:t>
            </a:r>
          </a:p>
          <a:p xmlns:a="http://schemas.openxmlformats.org/drawingml/2006/main">
            <a:r>
              <a:t>Ruta de preparación y experiencia previa construyendo APIs. · Capítulo previo: Ruta de preparación</a:t>
            </a:r>
          </a:p>
          <a:p xmlns:a="http://schemas.openxmlformats.org/drawingml/2006/main">
            <a:r>
              <a:t/>
            </a:r>
          </a:p>
          <a:p xmlns:a="http://schemas.openxmlformats.org/drawingml/2006/main">
            <a:r>
              <a:t>CONEXIÓN POSTERIOR</a:t>
            </a:r>
          </a:p>
          <a:p xmlns:a="http://schemas.openxmlformats.org/drawingml/2006/main">
            <a:r>
              <a:t>03 explica cómo se genera una continuación; 08 muestra una alucinación; S2 estudia contratos. · Sigue: Generación token a token</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7 · CAPÍTULO 3 · CONCEPTO</a:t>
            </a:r>
          </a:p>
          <a:p xmlns:a="http://schemas.openxmlformats.org/drawingml/2006/main">
            <a:r>
              <a:t>Título: Generación token a token</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§2</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Explicar cómo una continuación se añade al contexto de generación.</a:t>
            </a:r>
          </a:p>
          <a:p xmlns:a="http://schemas.openxmlformats.org/drawingml/2006/main">
            <a:r>
              <a:t/>
            </a:r>
          </a:p>
          <a:p xmlns:a="http://schemas.openxmlformats.org/drawingml/2006/main">
            <a:r>
              <a:t>CONCEPTO PRINCIPAL</a:t>
            </a:r>
          </a:p>
          <a:p xmlns:a="http://schemas.openxmlformats.org/drawingml/2006/main">
            <a:r>
              <a:t>Generación token a token</a:t>
            </a:r>
          </a:p>
          <a:p xmlns:a="http://schemas.openxmlformats.org/drawingml/2006/main">
            <a:r>
              <a:t/>
            </a:r>
          </a:p>
          <a:p xmlns:a="http://schemas.openxmlformats.org/drawingml/2006/main">
            <a:r>
              <a:t>MENSAJE QUE DEBE LLEVARSE EL ALUMNO</a:t>
            </a:r>
          </a:p>
          <a:p xmlns:a="http://schemas.openxmlformats.org/drawingml/2006/main">
            <a:r>
              <a:t>Probabilidad del texto y verdad de una afirmación son cosas distintas.</a:t>
            </a:r>
          </a:p>
          <a:p xmlns:a="http://schemas.openxmlformats.org/drawingml/2006/main">
            <a:r>
              <a:t/>
            </a:r>
          </a:p>
          <a:p xmlns:a="http://schemas.openxmlformats.org/drawingml/2006/main">
            <a:r>
              <a:t>EXPLICACIÓN SUGERIDA PARA EL DOCENTE</a:t>
            </a:r>
          </a:p>
          <a:p xmlns:a="http://schemas.openxmlformats.org/drawingml/2006/main">
            <a:r>
              <a:t>Abra con la pregunta «¿Qué información falta para elegir el estado correcto?».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Contexto: El pedido P-104 se encuentra…</a:t>
            </a:r>
          </a:p>
          <a:p xmlns:a="http://schemas.openxmlformats.org/drawingml/2006/main">
            <a:r>
              <a:t/>
            </a:r>
          </a:p>
          <a:p xmlns:a="http://schemas.openxmlformats.org/drawingml/2006/main">
            <a:r>
              <a:t>Alternativas: El modelo asigna probabilidades a posibles tokens.</a:t>
            </a:r>
          </a:p>
          <a:p xmlns:a="http://schemas.openxmlformats.org/drawingml/2006/main">
            <a:r>
              <a:t/>
            </a:r>
          </a:p>
          <a:p xmlns:a="http://schemas.openxmlformats.org/drawingml/2006/main">
            <a:r>
              <a:t>Continuación: Selecciona un token, lo añade y vuelve a calcular.</a:t>
            </a:r>
          </a:p>
          <a:p xmlns:a="http://schemas.openxmlformats.org/drawingml/2006/main">
            <a:r>
              <a:t/>
            </a:r>
          </a:p>
          <a:p xmlns:a="http://schemas.openxmlformats.org/drawingml/2006/main">
            <a:r>
              <a:t>Cierre con la distinción: Probabilidad del texto y verdad de una afirmación son cosas distintas.</a:t>
            </a:r>
          </a:p>
          <a:p xmlns:a="http://schemas.openxmlformats.org/drawingml/2006/main">
            <a:r>
              <a:t/>
            </a:r>
          </a:p>
          <a:p xmlns:a="http://schemas.openxmlformats.org/drawingml/2006/main">
            <a:r>
              <a:t>AMPLIACIÓN DEL MATERIAL APROBADO</a:t>
            </a:r>
          </a:p>
          <a:p xmlns:a="http://schemas.openxmlformats.org/drawingml/2006/main">
            <a:r>
              <a:t>Lea el contexto incompleto de la izquierda y solicite tres posibles continuaciones al aula. Use sus propuestas para explicar que el modelo calcula alternativas condicionadas por lo anterior. Las barras de la lámina solo ilustran una distribución: no son resultados de una ejecución de Qwen ni probabilidades medidas.</a:t>
            </a:r>
          </a:p>
          <a:p xmlns:a="http://schemas.openxmlformats.org/drawingml/2006/main">
            <a:r>
              <a:t/>
            </a:r>
          </a:p>
          <a:p xmlns:a="http://schemas.openxmlformats.org/drawingml/2006/main">
            <a:r>
              <a:t>Siga la flecha hasta el token elegido y después la flecha de retorno: el token se añade al contexto y el cálculo se repite. La respuesta termina cuando se cumple un criterio de parada. No describa la flecha como aprendizaje o actualización de pesos durante la conversación. La generación de lenguaje puede participar en tareas de razonamiento, pero este diagrama muestra únicamente el mecanismo de generación. En el ejemplo MercaSur, completar la palabra «pedido» no equivale a consultar su fecha de entrega. Ese dato necesitará una fuente externa.</a:t>
            </a:r>
          </a:p>
          <a:p xmlns:a="http://schemas.openxmlformats.org/drawingml/2006/main">
            <a:r>
              <a:t/>
            </a:r>
          </a:p>
          <a:p xmlns:a="http://schemas.openxmlformats.org/drawingml/2006/main">
            <a:r>
              <a:t>ELEMENTOS QUE CONVIENE EXPLICAR</a:t>
            </a:r>
          </a:p>
          <a:p xmlns:a="http://schemas.openxmlformats.org/drawingml/2006/main">
            <a:r>
              <a:t>Contexto; Alternativas; Continuación.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Completa «El pedido P-104 se encuentra…» sin consultar pedidos.</a:t>
            </a:r>
          </a:p>
          <a:p xmlns:a="http://schemas.openxmlformats.org/drawingml/2006/main">
            <a:r>
              <a:t>Proponer: Podría continuar con «en tránsito».</a:t>
            </a:r>
          </a:p>
          <a:p xmlns:a="http://schemas.openxmlformats.org/drawingml/2006/main">
            <a:r>
              <a:t>Cuestionar: También podría generar «entregado».</a:t>
            </a:r>
          </a:p>
          <a:p xmlns:a="http://schemas.openxmlformats.org/drawingml/2006/main">
            <a:r>
              <a:t>Verificar: Solo el sistema de pedidos decide cuál dato corresponde.</a:t>
            </a:r>
          </a:p>
          <a:p xmlns:a="http://schemas.openxmlformats.org/drawingml/2006/main">
            <a:r>
              <a:t>Resultado: La continuación no acredita el estado real del pedido.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información falta para elegir el estado correcto?</a:t>
            </a:r>
          </a:p>
          <a:p xmlns:a="http://schemas.openxmlformats.org/drawingml/2006/main">
            <a:r>
              <a:t>Orientación para el docente: contraste la respuesta con los criterios del desarrollo y pida evidencia. La conclusión debe respetar: Probabilidad del texto y verdad de una afirmación son cosas distintas.</a:t>
            </a:r>
          </a:p>
          <a:p xmlns:a="http://schemas.openxmlformats.org/drawingml/2006/main">
            <a:r>
              <a:t/>
            </a:r>
          </a:p>
          <a:p xmlns:a="http://schemas.openxmlformats.org/drawingml/2006/main">
            <a:r>
              <a:t>ERRORES CONCEPTUALES FRECUENTES</a:t>
            </a:r>
          </a:p>
          <a:p xmlns:a="http://schemas.openxmlformats.org/drawingml/2006/main">
            <a:r>
              <a:t>Interpretar la generación como consulta de base de datos o entrenamiento.</a:t>
            </a:r>
          </a:p>
          <a:p xmlns:a="http://schemas.openxmlformats.org/drawingml/2006/main">
            <a:r>
              <a:t/>
            </a:r>
          </a:p>
          <a:p xmlns:a="http://schemas.openxmlformats.org/drawingml/2006/main">
            <a:r>
              <a:t>CONEXIÓN ANTERIOR</a:t>
            </a:r>
          </a:p>
          <a:p xmlns:a="http://schemas.openxmlformats.org/drawingml/2006/main">
            <a:r>
              <a:t>02 distingue producción de texto y verificación del dato. · Capítulo previo: API y LLM: qué puedes verificar</a:t>
            </a:r>
          </a:p>
          <a:p xmlns:a="http://schemas.openxmlformats.org/drawingml/2006/main">
            <a:r>
              <a:t/>
            </a:r>
          </a:p>
          <a:p xmlns:a="http://schemas.openxmlformats.org/drawingml/2006/main">
            <a:r>
              <a:t>CONEXIÓN POSTERIOR</a:t>
            </a:r>
          </a:p>
          <a:p xmlns:a="http://schemas.openxmlformats.org/drawingml/2006/main">
            <a:r>
              <a:t>04 explica la unidad token; 07 aborda la selección de continuaciones con temperatura. · Sigue: Tokens: unidades del texto</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8 · CAPÍTULO 3 · DESARROLLO</a:t>
            </a:r>
          </a:p>
          <a:p xmlns:a="http://schemas.openxmlformats.org/drawingml/2006/main">
            <a:r>
              <a:t>Título: Generar no equivale a consultar</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§2</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Explicar cómo una continuación se añade al contexto de generación.</a:t>
            </a:r>
          </a:p>
          <a:p xmlns:a="http://schemas.openxmlformats.org/drawingml/2006/main">
            <a:r>
              <a:t/>
            </a:r>
          </a:p>
          <a:p xmlns:a="http://schemas.openxmlformats.org/drawingml/2006/main">
            <a:r>
              <a:t>CONCEPTO PRINCIPAL</a:t>
            </a:r>
          </a:p>
          <a:p xmlns:a="http://schemas.openxmlformats.org/drawingml/2006/main">
            <a:r>
              <a:t>Generación token a token</a:t>
            </a:r>
          </a:p>
          <a:p xmlns:a="http://schemas.openxmlformats.org/drawingml/2006/main">
            <a:r>
              <a:t/>
            </a:r>
          </a:p>
          <a:p xmlns:a="http://schemas.openxmlformats.org/drawingml/2006/main">
            <a:r>
              <a:t>MENSAJE QUE DEBE LLEVARSE EL ALUMNO</a:t>
            </a:r>
          </a:p>
          <a:p xmlns:a="http://schemas.openxmlformats.org/drawingml/2006/main">
            <a:r>
              <a:t>Probabilidad del texto y verdad de una afirmación son cosas distintas.</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Condicionar: La distribución depende de lo recibido y de los parámetros del modelo.</a:t>
            </a:r>
          </a:p>
          <a:p xmlns:a="http://schemas.openxmlformats.org/drawingml/2006/main">
            <a:r>
              <a:t/>
            </a:r>
          </a:p>
          <a:p xmlns:a="http://schemas.openxmlformats.org/drawingml/2006/main">
            <a:r>
              <a:t>Seleccionar: La configuración de generación influye en la elección.</a:t>
            </a:r>
          </a:p>
          <a:p xmlns:a="http://schemas.openxmlformats.org/drawingml/2006/main">
            <a:r>
              <a:t/>
            </a:r>
          </a:p>
          <a:p xmlns:a="http://schemas.openxmlformats.org/drawingml/2006/main">
            <a:r>
              <a:t>Detener: La salida termina al alcanzar una condición de parada.</a:t>
            </a:r>
          </a:p>
          <a:p xmlns:a="http://schemas.openxmlformats.org/drawingml/2006/main">
            <a:r>
              <a:t/>
            </a:r>
          </a:p>
          <a:p xmlns:a="http://schemas.openxmlformats.org/drawingml/2006/main">
            <a:r>
              <a:t>Contraste la regla con este error: Interpretar la generación como consulta de base de datos o entrenamiento.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Lea el contexto incompleto de la izquierda y solicite tres posibles continuaciones al aula. Use sus propuestas para explicar que el modelo calcula alternativas condicionadas por lo anterior. Las barras de la lámina solo ilustran una distribución: no son resultados de una ejecución de Qwen ni probabilidades medidas.</a:t>
            </a:r>
          </a:p>
          <a:p xmlns:a="http://schemas.openxmlformats.org/drawingml/2006/main">
            <a:r>
              <a:t/>
            </a:r>
          </a:p>
          <a:p xmlns:a="http://schemas.openxmlformats.org/drawingml/2006/main">
            <a:r>
              <a:t>Siga la flecha hasta el token elegido y después la flecha de retorno: el token se añade al contexto y el cálculo se repite. La respuesta termina cuando se cumple un criterio de parada. No describa la flecha como aprendizaje o actualización de pesos durante la conversación. La generación de lenguaje puede participar en tareas de razonamiento, pero este diagrama muestra únicamente el mecanismo de generación. En el ejemplo MercaSur, completar la palabra «pedido» no equivale a consultar su fecha de entrega. Ese dato necesitará una fuente externa.</a:t>
            </a:r>
          </a:p>
          <a:p xmlns:a="http://schemas.openxmlformats.org/drawingml/2006/main">
            <a:r>
              <a:t/>
            </a:r>
          </a:p>
          <a:p xmlns:a="http://schemas.openxmlformats.org/drawingml/2006/main">
            <a:r>
              <a:t>ELEMENTOS QUE CONVIENE EXPLICAR</a:t>
            </a:r>
          </a:p>
          <a:p xmlns:a="http://schemas.openxmlformats.org/drawingml/2006/main">
            <a:r>
              <a:t>Condicionar; Seleccionar; Detener.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Completa «El pedido P-104 se encuentra…» sin consultar pedidos.</a:t>
            </a:r>
          </a:p>
          <a:p xmlns:a="http://schemas.openxmlformats.org/drawingml/2006/main">
            <a:r>
              <a:t>Proponer: Podría continuar con «en tránsito».</a:t>
            </a:r>
          </a:p>
          <a:p xmlns:a="http://schemas.openxmlformats.org/drawingml/2006/main">
            <a:r>
              <a:t>Cuestionar: También podría generar «entregado».</a:t>
            </a:r>
          </a:p>
          <a:p xmlns:a="http://schemas.openxmlformats.org/drawingml/2006/main">
            <a:r>
              <a:t>Verificar: Solo el sistema de pedidos decide cuál dato corresponde.</a:t>
            </a:r>
          </a:p>
          <a:p xmlns:a="http://schemas.openxmlformats.org/drawingml/2006/main">
            <a:r>
              <a:t>Resultado: La continuación no acredita el estado real del pedido.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información falta para elegir el estado correcto?</a:t>
            </a:r>
          </a:p>
          <a:p xmlns:a="http://schemas.openxmlformats.org/drawingml/2006/main">
            <a:r>
              <a:t>Orientación para el docente: contraste la respuesta con los criterios del desarrollo y pida evidencia. La conclusión debe respetar: Probabilidad del texto y verdad de una afirmación son cosas distintas.</a:t>
            </a:r>
          </a:p>
          <a:p xmlns:a="http://schemas.openxmlformats.org/drawingml/2006/main">
            <a:r>
              <a:t/>
            </a:r>
          </a:p>
          <a:p xmlns:a="http://schemas.openxmlformats.org/drawingml/2006/main">
            <a:r>
              <a:t>ERRORES CONCEPTUALES FRECUENTES</a:t>
            </a:r>
          </a:p>
          <a:p xmlns:a="http://schemas.openxmlformats.org/drawingml/2006/main">
            <a:r>
              <a:t>Interpretar la generación como consulta de base de datos o entrenamiento.</a:t>
            </a:r>
          </a:p>
          <a:p xmlns:a="http://schemas.openxmlformats.org/drawingml/2006/main">
            <a:r>
              <a:t/>
            </a:r>
          </a:p>
          <a:p xmlns:a="http://schemas.openxmlformats.org/drawingml/2006/main">
            <a:r>
              <a:t>CONEXIÓN ANTERIOR</a:t>
            </a:r>
          </a:p>
          <a:p xmlns:a="http://schemas.openxmlformats.org/drawingml/2006/main">
            <a:r>
              <a:t>02 distingue producción de texto y verificación del dato. · Capítulo previo: API y LLM: qué puedes verificar</a:t>
            </a:r>
          </a:p>
          <a:p xmlns:a="http://schemas.openxmlformats.org/drawingml/2006/main">
            <a:r>
              <a:t/>
            </a:r>
          </a:p>
          <a:p xmlns:a="http://schemas.openxmlformats.org/drawingml/2006/main">
            <a:r>
              <a:t>CONEXIÓN POSTERIOR</a:t>
            </a:r>
          </a:p>
          <a:p xmlns:a="http://schemas.openxmlformats.org/drawingml/2006/main">
            <a:r>
              <a:t>04 explica la unidad token; 07 aborda la selección de continuaciones con temperatura. · Sigue: Tokens: unidades del texto</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9 · CAPÍTULO 3 · EJEMPLO</a:t>
            </a:r>
          </a:p>
          <a:p xmlns:a="http://schemas.openxmlformats.org/drawingml/2006/main">
            <a:r>
              <a:t>Título: MercaSur · Generación token a token</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§2</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Explicar cómo una continuación se añade al contexto de generación.</a:t>
            </a:r>
          </a:p>
          <a:p xmlns:a="http://schemas.openxmlformats.org/drawingml/2006/main">
            <a:r>
              <a:t/>
            </a:r>
          </a:p>
          <a:p xmlns:a="http://schemas.openxmlformats.org/drawingml/2006/main">
            <a:r>
              <a:t>CONCEPTO PRINCIPAL</a:t>
            </a:r>
          </a:p>
          <a:p xmlns:a="http://schemas.openxmlformats.org/drawingml/2006/main">
            <a:r>
              <a:t>Generación token a token</a:t>
            </a:r>
          </a:p>
          <a:p xmlns:a="http://schemas.openxmlformats.org/drawingml/2006/main">
            <a:r>
              <a:t/>
            </a:r>
          </a:p>
          <a:p xmlns:a="http://schemas.openxmlformats.org/drawingml/2006/main">
            <a:r>
              <a:t>MENSAJE QUE DEBE LLEVARSE EL ALUMNO</a:t>
            </a:r>
          </a:p>
          <a:p xmlns:a="http://schemas.openxmlformats.org/drawingml/2006/main">
            <a:r>
              <a:t>Probabilidad del texto y verdad de una afirmación son cosas distintas.</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Completa «El pedido P-104 se encuentra…» sin consultar pedidos. Pida una predicción.</a:t>
            </a:r>
          </a:p>
          <a:p xmlns:a="http://schemas.openxmlformats.org/drawingml/2006/main">
            <a:r>
              <a:t/>
            </a:r>
          </a:p>
          <a:p xmlns:a="http://schemas.openxmlformats.org/drawingml/2006/main">
            <a:r>
              <a:t>Proponer: Podría continuar con «en tránsito».</a:t>
            </a:r>
          </a:p>
          <a:p xmlns:a="http://schemas.openxmlformats.org/drawingml/2006/main">
            <a:r>
              <a:t/>
            </a:r>
          </a:p>
          <a:p xmlns:a="http://schemas.openxmlformats.org/drawingml/2006/main">
            <a:r>
              <a:t>Cuestionar: También podría generar «entregado».</a:t>
            </a:r>
          </a:p>
          <a:p xmlns:a="http://schemas.openxmlformats.org/drawingml/2006/main">
            <a:r>
              <a:t/>
            </a:r>
          </a:p>
          <a:p xmlns:a="http://schemas.openxmlformats.org/drawingml/2006/main">
            <a:r>
              <a:t>Verificar: Solo el sistema de pedidos decide cuál dato corresponde.</a:t>
            </a:r>
          </a:p>
          <a:p xmlns:a="http://schemas.openxmlformats.org/drawingml/2006/main">
            <a:r>
              <a:t/>
            </a:r>
          </a:p>
          <a:p xmlns:a="http://schemas.openxmlformats.org/drawingml/2006/main">
            <a:r>
              <a:t>Resultado esperado: La continuación no acredita el estado real del pedido.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Lea el contexto incompleto de la izquierda y solicite tres posibles continuaciones al aula. Use sus propuestas para explicar que el modelo calcula alternativas condicionadas por lo anterior. Las barras de la lámina solo ilustran una distribución: no son resultados de una ejecución de Qwen ni probabilidades medidas.</a:t>
            </a:r>
          </a:p>
          <a:p xmlns:a="http://schemas.openxmlformats.org/drawingml/2006/main">
            <a:r>
              <a:t/>
            </a:r>
          </a:p>
          <a:p xmlns:a="http://schemas.openxmlformats.org/drawingml/2006/main">
            <a:r>
              <a:t>Siga la flecha hasta el token elegido y después la flecha de retorno: el token se añade al contexto y el cálculo se repite. La respuesta termina cuando se cumple un criterio de parada. No describa la flecha como aprendizaje o actualización de pesos durante la conversación. La generación de lenguaje puede participar en tareas de razonamiento, pero este diagrama muestra únicamente el mecanismo de generación. En el ejemplo MercaSur, completar la palabra «pedido» no equivale a consultar su fecha de entrega. Ese dato necesitará una fuente externa.</a:t>
            </a:r>
          </a:p>
          <a:p xmlns:a="http://schemas.openxmlformats.org/drawingml/2006/main">
            <a:r>
              <a:t/>
            </a:r>
          </a:p>
          <a:p xmlns:a="http://schemas.openxmlformats.org/drawingml/2006/main">
            <a:r>
              <a:t>ELEMENTOS QUE CONVIENE EXPLICAR</a:t>
            </a:r>
          </a:p>
          <a:p xmlns:a="http://schemas.openxmlformats.org/drawingml/2006/main">
            <a:r>
              <a:t>Proponer; Cuestionar; Verificar.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Completa «El pedido P-104 se encuentra…» sin consultar pedidos.</a:t>
            </a:r>
          </a:p>
          <a:p xmlns:a="http://schemas.openxmlformats.org/drawingml/2006/main">
            <a:r>
              <a:t>Proponer: Podría continuar con «en tránsito».</a:t>
            </a:r>
          </a:p>
          <a:p xmlns:a="http://schemas.openxmlformats.org/drawingml/2006/main">
            <a:r>
              <a:t>Cuestionar: También podría generar «entregado».</a:t>
            </a:r>
          </a:p>
          <a:p xmlns:a="http://schemas.openxmlformats.org/drawingml/2006/main">
            <a:r>
              <a:t>Verificar: Solo el sistema de pedidos decide cuál dato corresponde.</a:t>
            </a:r>
          </a:p>
          <a:p xmlns:a="http://schemas.openxmlformats.org/drawingml/2006/main">
            <a:r>
              <a:t>Resultado: La continuación no acredita el estado real del pedido.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información falta para elegir el estado correcto?</a:t>
            </a:r>
          </a:p>
          <a:p xmlns:a="http://schemas.openxmlformats.org/drawingml/2006/main">
            <a:r>
              <a:t>Orientación para el docente: contraste la respuesta con los criterios del desarrollo y pida evidencia. La conclusión debe respetar: Probabilidad del texto y verdad de una afirmación son cosas distintas.</a:t>
            </a:r>
          </a:p>
          <a:p xmlns:a="http://schemas.openxmlformats.org/drawingml/2006/main">
            <a:r>
              <a:t/>
            </a:r>
          </a:p>
          <a:p xmlns:a="http://schemas.openxmlformats.org/drawingml/2006/main">
            <a:r>
              <a:t>ERRORES CONCEPTUALES FRECUENTES</a:t>
            </a:r>
          </a:p>
          <a:p xmlns:a="http://schemas.openxmlformats.org/drawingml/2006/main">
            <a:r>
              <a:t>Interpretar la generación como consulta de base de datos o entrenamiento.</a:t>
            </a:r>
          </a:p>
          <a:p xmlns:a="http://schemas.openxmlformats.org/drawingml/2006/main">
            <a:r>
              <a:t/>
            </a:r>
          </a:p>
          <a:p xmlns:a="http://schemas.openxmlformats.org/drawingml/2006/main">
            <a:r>
              <a:t>CONEXIÓN ANTERIOR</a:t>
            </a:r>
          </a:p>
          <a:p xmlns:a="http://schemas.openxmlformats.org/drawingml/2006/main">
            <a:r>
              <a:t>02 distingue producción de texto y verificación del dato. · Capítulo previo: API y LLM: qué puedes verificar</a:t>
            </a:r>
          </a:p>
          <a:p xmlns:a="http://schemas.openxmlformats.org/drawingml/2006/main">
            <a:r>
              <a:t/>
            </a:r>
          </a:p>
          <a:p xmlns:a="http://schemas.openxmlformats.org/drawingml/2006/main">
            <a:r>
              <a:t>CONEXIÓN POSTERIOR</a:t>
            </a:r>
          </a:p>
          <a:p xmlns:a="http://schemas.openxmlformats.org/drawingml/2006/main">
            <a:r>
              <a:t>04 explica la unidad token; 07 aborda la selección de continuaciones con temperatura. · Sigue: Tokens: unidades del texto</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10 · CAPÍTULO 4 · CONCEPTO</a:t>
            </a:r>
          </a:p>
          <a:p xmlns:a="http://schemas.openxmlformats.org/drawingml/2006/main">
            <a:r>
              <a:t>Título: Tokens: unidades del texto</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§3</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Reconocer que el tokenizador determina fragmentos y cantidad.</a:t>
            </a:r>
          </a:p>
          <a:p xmlns:a="http://schemas.openxmlformats.org/drawingml/2006/main">
            <a:r>
              <a:t/>
            </a:r>
          </a:p>
          <a:p xmlns:a="http://schemas.openxmlformats.org/drawingml/2006/main">
            <a:r>
              <a:t>CONCEPTO PRINCIPAL</a:t>
            </a:r>
          </a:p>
          <a:p xmlns:a="http://schemas.openxmlformats.org/drawingml/2006/main">
            <a:r>
              <a:t>Tokens: unidades del texto</a:t>
            </a:r>
          </a:p>
          <a:p xmlns:a="http://schemas.openxmlformats.org/drawingml/2006/main">
            <a:r>
              <a:t/>
            </a:r>
          </a:p>
          <a:p xmlns:a="http://schemas.openxmlformats.org/drawingml/2006/main">
            <a:r>
              <a:t>MENSAJE QUE DEBE LLEVARSE EL ALUMNO</a:t>
            </a:r>
          </a:p>
          <a:p xmlns:a="http://schemas.openxmlformats.org/drawingml/2006/main">
            <a:r>
              <a:t>Un token no es necesariamente una palabra.</a:t>
            </a:r>
          </a:p>
          <a:p xmlns:a="http://schemas.openxmlformats.org/drawingml/2006/main">
            <a:r>
              <a:t/>
            </a:r>
          </a:p>
          <a:p xmlns:a="http://schemas.openxmlformats.org/drawingml/2006/main">
            <a:r>
              <a:t>EXPLICACIÓN SUGERIDA PARA EL DOCENTE</a:t>
            </a:r>
          </a:p>
          <a:p xmlns:a="http://schemas.openxmlformats.org/drawingml/2006/main">
            <a:r>
              <a:t>Abra con la pregunta «¿Es suficiente dividir caracteres entre cuatro para facturar?».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Texto: Palabras, signos, números y nombres propios.</a:t>
            </a:r>
          </a:p>
          <a:p xmlns:a="http://schemas.openxmlformats.org/drawingml/2006/main">
            <a:r>
              <a:t/>
            </a:r>
          </a:p>
          <a:p xmlns:a="http://schemas.openxmlformats.org/drawingml/2006/main">
            <a:r>
              <a:t>Tokenizador: Convierte el texto en unidades específicas del modelo.</a:t>
            </a:r>
          </a:p>
          <a:p xmlns:a="http://schemas.openxmlformats.org/drawingml/2006/main">
            <a:r>
              <a:t/>
            </a:r>
          </a:p>
          <a:p xmlns:a="http://schemas.openxmlformats.org/drawingml/2006/main">
            <a:r>
              <a:t>Uso: Los tokens afectan contexto, costo y generación.</a:t>
            </a:r>
          </a:p>
          <a:p xmlns:a="http://schemas.openxmlformats.org/drawingml/2006/main">
            <a:r>
              <a:t/>
            </a:r>
          </a:p>
          <a:p xmlns:a="http://schemas.openxmlformats.org/drawingml/2006/main">
            <a:r>
              <a:t>Cierre con la distinción: Un token no es necesariamente una palabra.</a:t>
            </a:r>
          </a:p>
          <a:p xmlns:a="http://schemas.openxmlformats.org/drawingml/2006/main">
            <a:r>
              <a:t/>
            </a:r>
          </a:p>
          <a:p xmlns:a="http://schemas.openxmlformats.org/drawingml/2006/main">
            <a:r>
              <a:t>AMPLIACIÓN DEL MATERIAL APROBADO</a:t>
            </a:r>
          </a:p>
          <a:p xmlns:a="http://schemas.openxmlformats.org/drawingml/2006/main">
            <a:r>
              <a:t>Comience pidiendo cuántos tokens tiene «portabilidad numérica». No confirme ninguna cifra hasta explicar que depende del tokenizador. El desglose en cinco fragmentos reproduce una ilustración del material; no se presenta como una salida ejecutada de Qwen. La demo 01 usa AutoTokenizer si está disponible y puede descargarlo en la primera ejecución. Cuando no puede cargarlo, usa una estimación por caracteres y lo avisa.</a:t>
            </a:r>
          </a:p>
          <a:p xmlns:a="http://schemas.openxmlformats.org/drawingml/2006/main">
            <a:r>
              <a:t/>
            </a:r>
          </a:p>
          <a:p xmlns:a="http://schemas.openxmlformats.org/drawingml/2006/main">
            <a:r>
              <a:t>Dirija la atención a los tres efectos: costo, presupuesto de contexto y tiempo de generación. Compare una frase en español y su traducción usando el script, sin convertir el porcentaje observado en una ley de todos los idiomas o tokenizadores. Nombres propios, números y signos también cambian el conteo. Cierre solicitando que cada equipo anote el modo de la demo junto al resultado: TOKENIZACIÓN REAL o ESTIMACIÓN.</a:t>
            </a:r>
          </a:p>
          <a:p xmlns:a="http://schemas.openxmlformats.org/drawingml/2006/main">
            <a:r>
              <a:t/>
            </a:r>
          </a:p>
          <a:p xmlns:a="http://schemas.openxmlformats.org/drawingml/2006/main">
            <a:r>
              <a:t>ELEMENTOS QUE CONVIENE EXPLICAR</a:t>
            </a:r>
          </a:p>
          <a:p xmlns:a="http://schemas.openxmlformats.org/drawingml/2006/main">
            <a:r>
              <a:t>Texto; Tokenizador; Uso.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Compara «portabilidad numérica» y un identificador de línea.</a:t>
            </a:r>
          </a:p>
          <a:p xmlns:a="http://schemas.openxmlformats.org/drawingml/2006/main">
            <a:r>
              <a:t>Ejecutar: Usa 01_tokens.py con ambas entradas.</a:t>
            </a:r>
          </a:p>
          <a:p xmlns:a="http://schemas.openxmlformats.org/drawingml/2006/main">
            <a:r>
              <a:t>Leer: Revisa si informa conteo real o estimación.</a:t>
            </a:r>
          </a:p>
          <a:p xmlns:a="http://schemas.openxmlformats.org/drawingml/2006/main">
            <a:r>
              <a:t>Comparar: Explica diferencias sin imponer un token por palabra.</a:t>
            </a:r>
          </a:p>
          <a:p xmlns:a="http://schemas.openxmlformats.org/drawingml/2006/main">
            <a:r>
              <a:t>Resultado: Dos textos de similar longitud pueden tener conteos distintos.</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¿Es suficiente dividir caracteres entre cuatro para facturar?</a:t>
            </a:r>
          </a:p>
          <a:p xmlns:a="http://schemas.openxmlformats.org/drawingml/2006/main">
            <a:r>
              <a:t>Orientación para el docente: contraste la respuesta con los criterios del desarrollo y pida evidencia. La conclusión debe respetar: Un token no es necesariamente una palabra.</a:t>
            </a:r>
          </a:p>
          <a:p xmlns:a="http://schemas.openxmlformats.org/drawingml/2006/main">
            <a:r>
              <a:t/>
            </a:r>
          </a:p>
          <a:p xmlns:a="http://schemas.openxmlformats.org/drawingml/2006/main">
            <a:r>
              <a:t>ERRORES CONCEPTUALES FRECUENTES</a:t>
            </a:r>
          </a:p>
          <a:p xmlns:a="http://schemas.openxmlformats.org/drawingml/2006/main">
            <a:r>
              <a:t>Convertir una aproximación en un conteo exacto.</a:t>
            </a:r>
          </a:p>
          <a:p xmlns:a="http://schemas.openxmlformats.org/drawingml/2006/main">
            <a:r>
              <a:t/>
            </a:r>
          </a:p>
          <a:p xmlns:a="http://schemas.openxmlformats.org/drawingml/2006/main">
            <a:r>
              <a:t>CONEXIÓN ANTERIOR</a:t>
            </a:r>
          </a:p>
          <a:p xmlns:a="http://schemas.openxmlformats.org/drawingml/2006/main">
            <a:r>
              <a:t>03 presenta tokens como unidades sucesivas de generación. · Capítulo previo: Generación token a token</a:t>
            </a:r>
          </a:p>
          <a:p xmlns:a="http://schemas.openxmlformats.org/drawingml/2006/main">
            <a:r>
              <a:t/>
            </a:r>
          </a:p>
          <a:p xmlns:a="http://schemas.openxmlformats.org/drawingml/2006/main">
            <a:r>
              <a:t>CONEXIÓN POSTERIOR</a:t>
            </a:r>
          </a:p>
          <a:p xmlns:a="http://schemas.openxmlformats.org/drawingml/2006/main">
            <a:r>
              <a:t>05 suma los componentes de una llamada; 12 calcula su costo. · Sigue: Contexto: presupuesto por llamada</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11 · CAPÍTULO 4 · DESARROLLO</a:t>
            </a:r>
          </a:p>
          <a:p xmlns:a="http://schemas.openxmlformats.org/drawingml/2006/main">
            <a:r>
              <a:t>Título: Conteo real frente a estimación</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§3</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Reconocer que el tokenizador determina fragmentos y cantidad.</a:t>
            </a:r>
          </a:p>
          <a:p xmlns:a="http://schemas.openxmlformats.org/drawingml/2006/main">
            <a:r>
              <a:t/>
            </a:r>
          </a:p>
          <a:p xmlns:a="http://schemas.openxmlformats.org/drawingml/2006/main">
            <a:r>
              <a:t>CONCEPTO PRINCIPAL</a:t>
            </a:r>
          </a:p>
          <a:p xmlns:a="http://schemas.openxmlformats.org/drawingml/2006/main">
            <a:r>
              <a:t>Tokens: unidades del texto</a:t>
            </a:r>
          </a:p>
          <a:p xmlns:a="http://schemas.openxmlformats.org/drawingml/2006/main">
            <a:r>
              <a:t/>
            </a:r>
          </a:p>
          <a:p xmlns:a="http://schemas.openxmlformats.org/drawingml/2006/main">
            <a:r>
              <a:t>MENSAJE QUE DEBE LLEVARSE EL ALUMNO</a:t>
            </a:r>
          </a:p>
          <a:p xmlns:a="http://schemas.openxmlformats.org/drawingml/2006/main">
            <a:r>
              <a:t>Un token no es necesariamente una palabra.</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Real: La demo intenta cargar AutoTokenizer y contar sus unidades.</a:t>
            </a:r>
          </a:p>
          <a:p xmlns:a="http://schemas.openxmlformats.org/drawingml/2006/main">
            <a:r>
              <a:t/>
            </a:r>
          </a:p>
          <a:p xmlns:a="http://schemas.openxmlformats.org/drawingml/2006/main">
            <a:r>
              <a:t>Estimado: Si falla, usa una aproximación por caracteres y lo indica.</a:t>
            </a:r>
          </a:p>
          <a:p xmlns:a="http://schemas.openxmlformats.org/drawingml/2006/main">
            <a:r>
              <a:t/>
            </a:r>
          </a:p>
          <a:p xmlns:a="http://schemas.openxmlformats.org/drawingml/2006/main">
            <a:r>
              <a:t>Registro: Anotar el modo utilizado junto con el resultado.</a:t>
            </a:r>
          </a:p>
          <a:p xmlns:a="http://schemas.openxmlformats.org/drawingml/2006/main">
            <a:r>
              <a:t/>
            </a:r>
          </a:p>
          <a:p xmlns:a="http://schemas.openxmlformats.org/drawingml/2006/main">
            <a:r>
              <a:t>Contraste la regla con este error: Convertir una aproximación en un conteo exacto.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Comience pidiendo cuántos tokens tiene «portabilidad numérica». No confirme ninguna cifra hasta explicar que depende del tokenizador. El desglose en cinco fragmentos reproduce una ilustración del material; no se presenta como una salida ejecutada de Qwen. La demo 01 usa AutoTokenizer si está disponible y puede descargarlo en la primera ejecución. Cuando no puede cargarlo, usa una estimación por caracteres y lo avisa.</a:t>
            </a:r>
          </a:p>
          <a:p xmlns:a="http://schemas.openxmlformats.org/drawingml/2006/main">
            <a:r>
              <a:t/>
            </a:r>
          </a:p>
          <a:p xmlns:a="http://schemas.openxmlformats.org/drawingml/2006/main">
            <a:r>
              <a:t>Dirija la atención a los tres efectos: costo, presupuesto de contexto y tiempo de generación. Compare una frase en español y su traducción usando el script, sin convertir el porcentaje observado en una ley de todos los idiomas o tokenizadores. Nombres propios, números y signos también cambian el conteo. Cierre solicitando que cada equipo anote el modo de la demo junto al resultado: TOKENIZACIÓN REAL o ESTIMACIÓN.</a:t>
            </a:r>
          </a:p>
          <a:p xmlns:a="http://schemas.openxmlformats.org/drawingml/2006/main">
            <a:r>
              <a:t/>
            </a:r>
          </a:p>
          <a:p xmlns:a="http://schemas.openxmlformats.org/drawingml/2006/main">
            <a:r>
              <a:t>ELEMENTOS QUE CONVIENE EXPLICAR</a:t>
            </a:r>
          </a:p>
          <a:p xmlns:a="http://schemas.openxmlformats.org/drawingml/2006/main">
            <a:r>
              <a:t>Real; Estimado; Registro.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Compara «portabilidad numérica» y un identificador de línea.</a:t>
            </a:r>
          </a:p>
          <a:p xmlns:a="http://schemas.openxmlformats.org/drawingml/2006/main">
            <a:r>
              <a:t>Ejecutar: Usa 01_tokens.py con ambas entradas.</a:t>
            </a:r>
          </a:p>
          <a:p xmlns:a="http://schemas.openxmlformats.org/drawingml/2006/main">
            <a:r>
              <a:t>Leer: Revisa si informa conteo real o estimación.</a:t>
            </a:r>
          </a:p>
          <a:p xmlns:a="http://schemas.openxmlformats.org/drawingml/2006/main">
            <a:r>
              <a:t>Comparar: Explica diferencias sin imponer un token por palabra.</a:t>
            </a:r>
          </a:p>
          <a:p xmlns:a="http://schemas.openxmlformats.org/drawingml/2006/main">
            <a:r>
              <a:t>Resultado: Dos textos de similar longitud pueden tener conteos distintos.</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¿Es suficiente dividir caracteres entre cuatro para facturar?</a:t>
            </a:r>
          </a:p>
          <a:p xmlns:a="http://schemas.openxmlformats.org/drawingml/2006/main">
            <a:r>
              <a:t>Orientación para el docente: contraste la respuesta con los criterios del desarrollo y pida evidencia. La conclusión debe respetar: Un token no es necesariamente una palabra.</a:t>
            </a:r>
          </a:p>
          <a:p xmlns:a="http://schemas.openxmlformats.org/drawingml/2006/main">
            <a:r>
              <a:t/>
            </a:r>
          </a:p>
          <a:p xmlns:a="http://schemas.openxmlformats.org/drawingml/2006/main">
            <a:r>
              <a:t>ERRORES CONCEPTUALES FRECUENTES</a:t>
            </a:r>
          </a:p>
          <a:p xmlns:a="http://schemas.openxmlformats.org/drawingml/2006/main">
            <a:r>
              <a:t>Convertir una aproximación en un conteo exacto.</a:t>
            </a:r>
          </a:p>
          <a:p xmlns:a="http://schemas.openxmlformats.org/drawingml/2006/main">
            <a:r>
              <a:t/>
            </a:r>
          </a:p>
          <a:p xmlns:a="http://schemas.openxmlformats.org/drawingml/2006/main">
            <a:r>
              <a:t>CONEXIÓN ANTERIOR</a:t>
            </a:r>
          </a:p>
          <a:p xmlns:a="http://schemas.openxmlformats.org/drawingml/2006/main">
            <a:r>
              <a:t>03 presenta tokens como unidades sucesivas de generación. · Capítulo previo: Generación token a token</a:t>
            </a:r>
          </a:p>
          <a:p xmlns:a="http://schemas.openxmlformats.org/drawingml/2006/main">
            <a:r>
              <a:t/>
            </a:r>
          </a:p>
          <a:p xmlns:a="http://schemas.openxmlformats.org/drawingml/2006/main">
            <a:r>
              <a:t>CONEXIÓN POSTERIOR</a:t>
            </a:r>
          </a:p>
          <a:p xmlns:a="http://schemas.openxmlformats.org/drawingml/2006/main">
            <a:r>
              <a:t>05 suma los componentes de una llamada; 12 calcula su costo. · Sigue: Contexto: presupuesto por llamada</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12 · CAPÍTULO 4 · EJEMPLO</a:t>
            </a:r>
          </a:p>
          <a:p xmlns:a="http://schemas.openxmlformats.org/drawingml/2006/main">
            <a:r>
              <a:t>Título: AndesMóvil · Tokens: unidades del texto</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§3</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Reconocer que el tokenizador determina fragmentos y cantidad.</a:t>
            </a:r>
          </a:p>
          <a:p xmlns:a="http://schemas.openxmlformats.org/drawingml/2006/main">
            <a:r>
              <a:t/>
            </a:r>
          </a:p>
          <a:p xmlns:a="http://schemas.openxmlformats.org/drawingml/2006/main">
            <a:r>
              <a:t>CONCEPTO PRINCIPAL</a:t>
            </a:r>
          </a:p>
          <a:p xmlns:a="http://schemas.openxmlformats.org/drawingml/2006/main">
            <a:r>
              <a:t>Tokens: unidades del texto</a:t>
            </a:r>
          </a:p>
          <a:p xmlns:a="http://schemas.openxmlformats.org/drawingml/2006/main">
            <a:r>
              <a:t/>
            </a:r>
          </a:p>
          <a:p xmlns:a="http://schemas.openxmlformats.org/drawingml/2006/main">
            <a:r>
              <a:t>MENSAJE QUE DEBE LLEVARSE EL ALUMNO</a:t>
            </a:r>
          </a:p>
          <a:p xmlns:a="http://schemas.openxmlformats.org/drawingml/2006/main">
            <a:r>
              <a:t>Un token no es necesariamente una palabra.</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Compara «portabilidad numérica» y un identificador de línea. Pida una predicción.</a:t>
            </a:r>
          </a:p>
          <a:p xmlns:a="http://schemas.openxmlformats.org/drawingml/2006/main">
            <a:r>
              <a:t/>
            </a:r>
          </a:p>
          <a:p xmlns:a="http://schemas.openxmlformats.org/drawingml/2006/main">
            <a:r>
              <a:t>Ejecutar: Usa 01_tokens.py con ambas entradas.</a:t>
            </a:r>
          </a:p>
          <a:p xmlns:a="http://schemas.openxmlformats.org/drawingml/2006/main">
            <a:r>
              <a:t/>
            </a:r>
          </a:p>
          <a:p xmlns:a="http://schemas.openxmlformats.org/drawingml/2006/main">
            <a:r>
              <a:t>Leer: Revisa si informa conteo real o estimación.</a:t>
            </a:r>
          </a:p>
          <a:p xmlns:a="http://schemas.openxmlformats.org/drawingml/2006/main">
            <a:r>
              <a:t/>
            </a:r>
          </a:p>
          <a:p xmlns:a="http://schemas.openxmlformats.org/drawingml/2006/main">
            <a:r>
              <a:t>Comparar: Explica diferencias sin imponer un token por palabra.</a:t>
            </a:r>
          </a:p>
          <a:p xmlns:a="http://schemas.openxmlformats.org/drawingml/2006/main">
            <a:r>
              <a:t/>
            </a:r>
          </a:p>
          <a:p xmlns:a="http://schemas.openxmlformats.org/drawingml/2006/main">
            <a:r>
              <a:t>Resultado esperado: Dos textos de similar longitud pueden tener conteos distintos.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Comience pidiendo cuántos tokens tiene «portabilidad numérica». No confirme ninguna cifra hasta explicar que depende del tokenizador. El desglose en cinco fragmentos reproduce una ilustración del material; no se presenta como una salida ejecutada de Qwen. La demo 01 usa AutoTokenizer si está disponible y puede descargarlo en la primera ejecución. Cuando no puede cargarlo, usa una estimación por caracteres y lo avisa.</a:t>
            </a:r>
          </a:p>
          <a:p xmlns:a="http://schemas.openxmlformats.org/drawingml/2006/main">
            <a:r>
              <a:t/>
            </a:r>
          </a:p>
          <a:p xmlns:a="http://schemas.openxmlformats.org/drawingml/2006/main">
            <a:r>
              <a:t>Dirija la atención a los tres efectos: costo, presupuesto de contexto y tiempo de generación. Compare una frase en español y su traducción usando el script, sin convertir el porcentaje observado en una ley de todos los idiomas o tokenizadores. Nombres propios, números y signos también cambian el conteo. Cierre solicitando que cada equipo anote el modo de la demo junto al resultado: TOKENIZACIÓN REAL o ESTIMACIÓN.</a:t>
            </a:r>
          </a:p>
          <a:p xmlns:a="http://schemas.openxmlformats.org/drawingml/2006/main">
            <a:r>
              <a:t/>
            </a:r>
          </a:p>
          <a:p xmlns:a="http://schemas.openxmlformats.org/drawingml/2006/main">
            <a:r>
              <a:t>ELEMENTOS QUE CONVIENE EXPLICAR</a:t>
            </a:r>
          </a:p>
          <a:p xmlns:a="http://schemas.openxmlformats.org/drawingml/2006/main">
            <a:r>
              <a:t>Ejecutar; Leer; Comparar.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Compara «portabilidad numérica» y un identificador de línea.</a:t>
            </a:r>
          </a:p>
          <a:p xmlns:a="http://schemas.openxmlformats.org/drawingml/2006/main">
            <a:r>
              <a:t>Ejecutar: Usa 01_tokens.py con ambas entradas.</a:t>
            </a:r>
          </a:p>
          <a:p xmlns:a="http://schemas.openxmlformats.org/drawingml/2006/main">
            <a:r>
              <a:t>Leer: Revisa si informa conteo real o estimación.</a:t>
            </a:r>
          </a:p>
          <a:p xmlns:a="http://schemas.openxmlformats.org/drawingml/2006/main">
            <a:r>
              <a:t>Comparar: Explica diferencias sin imponer un token por palabra.</a:t>
            </a:r>
          </a:p>
          <a:p xmlns:a="http://schemas.openxmlformats.org/drawingml/2006/main">
            <a:r>
              <a:t>Resultado: Dos textos de similar longitud pueden tener conteos distintos.</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¿Es suficiente dividir caracteres entre cuatro para facturar?</a:t>
            </a:r>
          </a:p>
          <a:p xmlns:a="http://schemas.openxmlformats.org/drawingml/2006/main">
            <a:r>
              <a:t>Orientación para el docente: contraste la respuesta con los criterios del desarrollo y pida evidencia. La conclusión debe respetar: Un token no es necesariamente una palabra.</a:t>
            </a:r>
          </a:p>
          <a:p xmlns:a="http://schemas.openxmlformats.org/drawingml/2006/main">
            <a:r>
              <a:t/>
            </a:r>
          </a:p>
          <a:p xmlns:a="http://schemas.openxmlformats.org/drawingml/2006/main">
            <a:r>
              <a:t>ERRORES CONCEPTUALES FRECUENTES</a:t>
            </a:r>
          </a:p>
          <a:p xmlns:a="http://schemas.openxmlformats.org/drawingml/2006/main">
            <a:r>
              <a:t>Convertir una aproximación en un conteo exacto.</a:t>
            </a:r>
          </a:p>
          <a:p xmlns:a="http://schemas.openxmlformats.org/drawingml/2006/main">
            <a:r>
              <a:t/>
            </a:r>
          </a:p>
          <a:p xmlns:a="http://schemas.openxmlformats.org/drawingml/2006/main">
            <a:r>
              <a:t>CONEXIÓN ANTERIOR</a:t>
            </a:r>
          </a:p>
          <a:p xmlns:a="http://schemas.openxmlformats.org/drawingml/2006/main">
            <a:r>
              <a:t>03 presenta tokens como unidades sucesivas de generación. · Capítulo previo: Generación token a token</a:t>
            </a:r>
          </a:p>
          <a:p xmlns:a="http://schemas.openxmlformats.org/drawingml/2006/main">
            <a:r>
              <a:t/>
            </a:r>
          </a:p>
          <a:p xmlns:a="http://schemas.openxmlformats.org/drawingml/2006/main">
            <a:r>
              <a:t>CONEXIÓN POSTERIOR</a:t>
            </a:r>
          </a:p>
          <a:p xmlns:a="http://schemas.openxmlformats.org/drawingml/2006/main">
            <a:r>
              <a:t>05 suma los componentes de una llamada; 12 calcula su costo. · Sigue: Contexto: presupuesto por llamada</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13 · CAPÍTULO 5 · CONCEPTO</a:t>
            </a:r>
          </a:p>
          <a:p xmlns:a="http://schemas.openxmlformats.org/drawingml/2006/main">
            <a:r>
              <a:t>Título: Contexto: presupuesto por llamada</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§4 · A</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Contar todos los componentes de entrada y reservar capacidad de salida.</a:t>
            </a:r>
          </a:p>
          <a:p xmlns:a="http://schemas.openxmlformats.org/drawingml/2006/main">
            <a:r>
              <a:t/>
            </a:r>
          </a:p>
          <a:p xmlns:a="http://schemas.openxmlformats.org/drawingml/2006/main">
            <a:r>
              <a:t>CONCEPTO PRINCIPAL</a:t>
            </a:r>
          </a:p>
          <a:p xmlns:a="http://schemas.openxmlformats.org/drawingml/2006/main">
            <a:r>
              <a:t>Contexto: presupuesto por llamada</a:t>
            </a:r>
          </a:p>
          <a:p xmlns:a="http://schemas.openxmlformats.org/drawingml/2006/main">
            <a:r>
              <a:t/>
            </a:r>
          </a:p>
          <a:p xmlns:a="http://schemas.openxmlformats.org/drawingml/2006/main">
            <a:r>
              <a:t>MENSAJE QUE DEBE LLEVARSE EL ALUMNO</a:t>
            </a:r>
          </a:p>
          <a:p xmlns:a="http://schemas.openxmlformats.org/drawingml/2006/main">
            <a:r>
              <a:t>La ventana de contexto es un presupuesto, no una memoria permanente.</a:t>
            </a:r>
          </a:p>
          <a:p xmlns:a="http://schemas.openxmlformats.org/drawingml/2006/main">
            <a:r>
              <a:t/>
            </a:r>
          </a:p>
          <a:p xmlns:a="http://schemas.openxmlformats.org/drawingml/2006/main">
            <a:r>
              <a:t>EXPLICACIÓN SUGERIDA PARA EL DOCENTE</a:t>
            </a:r>
          </a:p>
          <a:p xmlns:a="http://schemas.openxmlformats.org/drawingml/2006/main">
            <a:r>
              <a:t>Abra con la pregunta «¿Qué componentes contarías antes de enviar la llamada?».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Instrucciones e historial: También consumen tokens aunque el usuario escriba poco.</a:t>
            </a:r>
          </a:p>
          <a:p xmlns:a="http://schemas.openxmlformats.org/drawingml/2006/main">
            <a:r>
              <a:t/>
            </a:r>
          </a:p>
          <a:p xmlns:a="http://schemas.openxmlformats.org/drawingml/2006/main">
            <a:r>
              <a:t>Tools y documentos: Sus esquemas y resultados pueden entrar en el contexto.</a:t>
            </a:r>
          </a:p>
          <a:p xmlns:a="http://schemas.openxmlformats.org/drawingml/2006/main">
            <a:r>
              <a:t/>
            </a:r>
          </a:p>
          <a:p xmlns:a="http://schemas.openxmlformats.org/drawingml/2006/main">
            <a:r>
              <a:t>Respuesta: La generación necesita margen dentro de los límites del endpoint.</a:t>
            </a:r>
          </a:p>
          <a:p xmlns:a="http://schemas.openxmlformats.org/drawingml/2006/main">
            <a:r>
              <a:t/>
            </a:r>
          </a:p>
          <a:p xmlns:a="http://schemas.openxmlformats.org/drawingml/2006/main">
            <a:r>
              <a:t>Cierre con la distinción: La ventana de contexto es un presupuesto, no una memoria permanente.</a:t>
            </a:r>
          </a:p>
          <a:p xmlns:a="http://schemas.openxmlformats.org/drawingml/2006/main">
            <a:r>
              <a:t/>
            </a:r>
          </a:p>
          <a:p xmlns:a="http://schemas.openxmlformats.org/drawingml/2006/main">
            <a:r>
              <a:t>AMPLIACIÓN DEL MATERIAL APROBADO</a:t>
            </a:r>
          </a:p>
          <a:p xmlns:a="http://schemas.openxmlformats.org/drawingml/2006/main">
            <a:r>
              <a:t>Pregunte qué envía el programa cuando el usuario escribe «¿y el mes pasado?». Recorra las cuatro tarjetas: instrucciones, historial, esquemas de tools y documentos recuperados. Son categorías de un futuro agente del curso; en S0 solo se anticipa su costo de contexto. Sume los valores de la ilustración: 1.000 + 1.500 + 1.200 + 2.000 = 5.700. No atribuya esta distribución a una llamada real.</a:t>
            </a:r>
          </a:p>
          <a:p xmlns:a="http://schemas.openxmlformats.org/drawingml/2006/main">
            <a:r>
              <a:t/>
            </a:r>
          </a:p>
          <a:p xmlns:a="http://schemas.openxmlformats.org/drawingml/2006/main">
            <a:r>
              <a:t>Explique la barra de capacidad y la reserva de salida. El repositorio usa una ventana de referencia de 32.768 tokens, pero la capacidad efectiva depende del endpoint y su configuración. La reserva es esquemática, no una cantidad medida. Si crece el historial, la aplicación decide qué preservar; no conviene esperar que el modelo recuerde contenido que no recibió. Mencione seleccionar, resumir o recuperar menos documentos y posponga su implementación a las sesiones correspondientes.</a:t>
            </a:r>
          </a:p>
          <a:p xmlns:a="http://schemas.openxmlformats.org/drawingml/2006/main">
            <a:r>
              <a:t/>
            </a:r>
          </a:p>
          <a:p xmlns:a="http://schemas.openxmlformats.org/drawingml/2006/main">
            <a:r>
              <a:t>ELEMENTOS QUE CONVIENE EXPLICAR</a:t>
            </a:r>
          </a:p>
          <a:p xmlns:a="http://schemas.openxmlformats.org/drawingml/2006/main">
            <a:r>
              <a:t>Instrucciones e historial; Tools y documentos; Respuesta.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Una nueva pregunta tiene 12 tokens; el historial añade 2.000.</a:t>
            </a:r>
          </a:p>
          <a:p xmlns:a="http://schemas.openxmlformats.org/drawingml/2006/main">
            <a:r>
              <a:t>Partir: La entrada anterior era de 5.700 tokens.</a:t>
            </a:r>
          </a:p>
          <a:p xmlns:a="http://schemas.openxmlformats.org/drawingml/2006/main">
            <a:r>
              <a:t>Añadir: El nuevo historial eleva la entrada a 7.700.</a:t>
            </a:r>
          </a:p>
          <a:p xmlns:a="http://schemas.openxmlformats.org/drawingml/2006/main">
            <a:r>
              <a:t>Decidir: Seleccionar contexto antes de exceder el límite configurado.</a:t>
            </a:r>
          </a:p>
          <a:p xmlns:a="http://schemas.openxmlformats.org/drawingml/2006/main">
            <a:r>
              <a:t>Resultado: La entrada crece aunque la pregunta siga siendo corta. Valores ilustrativos.</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componentes contarías antes de enviar la llamada?</a:t>
            </a:r>
          </a:p>
          <a:p xmlns:a="http://schemas.openxmlformats.org/drawingml/2006/main">
            <a:r>
              <a:t>Orientación para el docente: contraste la respuesta con los criterios del desarrollo y pida evidencia. La conclusión debe respetar: La ventana de contexto es un presupuesto, no una memoria permanente.</a:t>
            </a:r>
          </a:p>
          <a:p xmlns:a="http://schemas.openxmlformats.org/drawingml/2006/main">
            <a:r>
              <a:t/>
            </a:r>
          </a:p>
          <a:p xmlns:a="http://schemas.openxmlformats.org/drawingml/2006/main">
            <a:r>
              <a:t>ERRORES CONCEPTUALES FRECUENTES</a:t>
            </a:r>
          </a:p>
          <a:p xmlns:a="http://schemas.openxmlformats.org/drawingml/2006/main">
            <a:r>
              <a:t>Contar solo el último mensaje o asumir la misma ventana en cualquier endpoint.</a:t>
            </a:r>
          </a:p>
          <a:p xmlns:a="http://schemas.openxmlformats.org/drawingml/2006/main">
            <a:r>
              <a:t/>
            </a:r>
          </a:p>
          <a:p xmlns:a="http://schemas.openxmlformats.org/drawingml/2006/main">
            <a:r>
              <a:t>CONEXIÓN ANTERIOR</a:t>
            </a:r>
          </a:p>
          <a:p xmlns:a="http://schemas.openxmlformats.org/drawingml/2006/main">
            <a:r>
              <a:t>04 enseña cómo contar tokens. · Capítulo previo: Tokens: unidades del texto</a:t>
            </a:r>
          </a:p>
          <a:p xmlns:a="http://schemas.openxmlformats.org/drawingml/2006/main">
            <a:r>
              <a:t/>
            </a:r>
          </a:p>
          <a:p xmlns:a="http://schemas.openxmlformats.org/drawingml/2006/main">
            <a:r>
              <a:t>CONEXIÓN POSTERIOR</a:t>
            </a:r>
          </a:p>
          <a:p xmlns:a="http://schemas.openxmlformats.org/drawingml/2006/main">
            <a:r>
              <a:t>06 explica quién conserva el historial; 12 muestra cómo su reenvío impacta el costo. · Sigue: Dónde vive la conversación</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14 · CAPÍTULO 5 · DESARROLLO</a:t>
            </a:r>
          </a:p>
          <a:p xmlns:a="http://schemas.openxmlformats.org/drawingml/2006/main">
            <a:r>
              <a:t>Título: Cómo revisar el presupuesto</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§4 · A</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Contar todos los componentes de entrada y reservar capacidad de salida.</a:t>
            </a:r>
          </a:p>
          <a:p xmlns:a="http://schemas.openxmlformats.org/drawingml/2006/main">
            <a:r>
              <a:t/>
            </a:r>
          </a:p>
          <a:p xmlns:a="http://schemas.openxmlformats.org/drawingml/2006/main">
            <a:r>
              <a:t>CONCEPTO PRINCIPAL</a:t>
            </a:r>
          </a:p>
          <a:p xmlns:a="http://schemas.openxmlformats.org/drawingml/2006/main">
            <a:r>
              <a:t>Contexto: presupuesto por llamada</a:t>
            </a:r>
          </a:p>
          <a:p xmlns:a="http://schemas.openxmlformats.org/drawingml/2006/main">
            <a:r>
              <a:t/>
            </a:r>
          </a:p>
          <a:p xmlns:a="http://schemas.openxmlformats.org/drawingml/2006/main">
            <a:r>
              <a:t>MENSAJE QUE DEBE LLEVARSE EL ALUMNO</a:t>
            </a:r>
          </a:p>
          <a:p xmlns:a="http://schemas.openxmlformats.org/drawingml/2006/main">
            <a:r>
              <a:t>La ventana de contexto es un presupuesto, no una memoria permanente.</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Inventariar: Separar instrucciones, historial, esquemas y documentos.</a:t>
            </a:r>
          </a:p>
          <a:p xmlns:a="http://schemas.openxmlformats.org/drawingml/2006/main">
            <a:r>
              <a:t/>
            </a:r>
          </a:p>
          <a:p xmlns:a="http://schemas.openxmlformats.org/drawingml/2006/main">
            <a:r>
              <a:t>Sumar: Ejemplo: 1.000 + 1.500 + 1.200 + 2.000 = 5.700 de entrada.</a:t>
            </a:r>
          </a:p>
          <a:p xmlns:a="http://schemas.openxmlformats.org/drawingml/2006/main">
            <a:r>
              <a:t/>
            </a:r>
          </a:p>
          <a:p xmlns:a="http://schemas.openxmlformats.org/drawingml/2006/main">
            <a:r>
              <a:t>Reservar: Asignar margen de respuesta según la configuración real.</a:t>
            </a:r>
          </a:p>
          <a:p xmlns:a="http://schemas.openxmlformats.org/drawingml/2006/main">
            <a:r>
              <a:t/>
            </a:r>
          </a:p>
          <a:p xmlns:a="http://schemas.openxmlformats.org/drawingml/2006/main">
            <a:r>
              <a:t>Contraste la regla con este error: Contar solo el último mensaje o asumir la misma ventana en cualquier endpoint.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Pregunte qué envía el programa cuando el usuario escribe «¿y el mes pasado?». Recorra las cuatro tarjetas: instrucciones, historial, esquemas de tools y documentos recuperados. Son categorías de un futuro agente del curso; en S0 solo se anticipa su costo de contexto. Sume los valores de la ilustración: 1.000 + 1.500 + 1.200 + 2.000 = 5.700. No atribuya esta distribución a una llamada real.</a:t>
            </a:r>
          </a:p>
          <a:p xmlns:a="http://schemas.openxmlformats.org/drawingml/2006/main">
            <a:r>
              <a:t/>
            </a:r>
          </a:p>
          <a:p xmlns:a="http://schemas.openxmlformats.org/drawingml/2006/main">
            <a:r>
              <a:t>Explique la barra de capacidad y la reserva de salida. El repositorio usa una ventana de referencia de 32.768 tokens, pero la capacidad efectiva depende del endpoint y su configuración. La reserva es esquemática, no una cantidad medida. Si crece el historial, la aplicación decide qué preservar; no conviene esperar que el modelo recuerde contenido que no recibió. Mencione seleccionar, resumir o recuperar menos documentos y posponga su implementación a las sesiones correspondientes.</a:t>
            </a:r>
          </a:p>
          <a:p xmlns:a="http://schemas.openxmlformats.org/drawingml/2006/main">
            <a:r>
              <a:t/>
            </a:r>
          </a:p>
          <a:p xmlns:a="http://schemas.openxmlformats.org/drawingml/2006/main">
            <a:r>
              <a:t>ELEMENTOS QUE CONVIENE EXPLICAR</a:t>
            </a:r>
          </a:p>
          <a:p xmlns:a="http://schemas.openxmlformats.org/drawingml/2006/main">
            <a:r>
              <a:t>Inventariar; Sumar; Reservar.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Una nueva pregunta tiene 12 tokens; el historial añade 2.000.</a:t>
            </a:r>
          </a:p>
          <a:p xmlns:a="http://schemas.openxmlformats.org/drawingml/2006/main">
            <a:r>
              <a:t>Partir: La entrada anterior era de 5.700 tokens.</a:t>
            </a:r>
          </a:p>
          <a:p xmlns:a="http://schemas.openxmlformats.org/drawingml/2006/main">
            <a:r>
              <a:t>Añadir: El nuevo historial eleva la entrada a 7.700.</a:t>
            </a:r>
          </a:p>
          <a:p xmlns:a="http://schemas.openxmlformats.org/drawingml/2006/main">
            <a:r>
              <a:t>Decidir: Seleccionar contexto antes de exceder el límite configurado.</a:t>
            </a:r>
          </a:p>
          <a:p xmlns:a="http://schemas.openxmlformats.org/drawingml/2006/main">
            <a:r>
              <a:t>Resultado: La entrada crece aunque la pregunta siga siendo corta. Valores ilustrativos.</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componentes contarías antes de enviar la llamada?</a:t>
            </a:r>
          </a:p>
          <a:p xmlns:a="http://schemas.openxmlformats.org/drawingml/2006/main">
            <a:r>
              <a:t>Orientación para el docente: contraste la respuesta con los criterios del desarrollo y pida evidencia. La conclusión debe respetar: La ventana de contexto es un presupuesto, no una memoria permanente.</a:t>
            </a:r>
          </a:p>
          <a:p xmlns:a="http://schemas.openxmlformats.org/drawingml/2006/main">
            <a:r>
              <a:t/>
            </a:r>
          </a:p>
          <a:p xmlns:a="http://schemas.openxmlformats.org/drawingml/2006/main">
            <a:r>
              <a:t>ERRORES CONCEPTUALES FRECUENTES</a:t>
            </a:r>
          </a:p>
          <a:p xmlns:a="http://schemas.openxmlformats.org/drawingml/2006/main">
            <a:r>
              <a:t>Contar solo el último mensaje o asumir la misma ventana en cualquier endpoint.</a:t>
            </a:r>
          </a:p>
          <a:p xmlns:a="http://schemas.openxmlformats.org/drawingml/2006/main">
            <a:r>
              <a:t/>
            </a:r>
          </a:p>
          <a:p xmlns:a="http://schemas.openxmlformats.org/drawingml/2006/main">
            <a:r>
              <a:t>CONEXIÓN ANTERIOR</a:t>
            </a:r>
          </a:p>
          <a:p xmlns:a="http://schemas.openxmlformats.org/drawingml/2006/main">
            <a:r>
              <a:t>04 enseña cómo contar tokens. · Capítulo previo: Tokens: unidades del texto</a:t>
            </a:r>
          </a:p>
          <a:p xmlns:a="http://schemas.openxmlformats.org/drawingml/2006/main">
            <a:r>
              <a:t/>
            </a:r>
          </a:p>
          <a:p xmlns:a="http://schemas.openxmlformats.org/drawingml/2006/main">
            <a:r>
              <a:t>CONEXIÓN POSTERIOR</a:t>
            </a:r>
          </a:p>
          <a:p xmlns:a="http://schemas.openxmlformats.org/drawingml/2006/main">
            <a:r>
              <a:t>06 explica quién conserva el historial; 12 muestra cómo su reenvío impacta el costo. · Sigue: Dónde vive la conversación</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15 · CAPÍTULO 5 · EJEMPLO</a:t>
            </a:r>
          </a:p>
          <a:p xmlns:a="http://schemas.openxmlformats.org/drawingml/2006/main">
            <a:r>
              <a:t>Título: Banco Inti · Contexto: presupuesto por llamada</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§4 · A</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Contar todos los componentes de entrada y reservar capacidad de salida.</a:t>
            </a:r>
          </a:p>
          <a:p xmlns:a="http://schemas.openxmlformats.org/drawingml/2006/main">
            <a:r>
              <a:t/>
            </a:r>
          </a:p>
          <a:p xmlns:a="http://schemas.openxmlformats.org/drawingml/2006/main">
            <a:r>
              <a:t>CONCEPTO PRINCIPAL</a:t>
            </a:r>
          </a:p>
          <a:p xmlns:a="http://schemas.openxmlformats.org/drawingml/2006/main">
            <a:r>
              <a:t>Contexto: presupuesto por llamada</a:t>
            </a:r>
          </a:p>
          <a:p xmlns:a="http://schemas.openxmlformats.org/drawingml/2006/main">
            <a:r>
              <a:t/>
            </a:r>
          </a:p>
          <a:p xmlns:a="http://schemas.openxmlformats.org/drawingml/2006/main">
            <a:r>
              <a:t>MENSAJE QUE DEBE LLEVARSE EL ALUMNO</a:t>
            </a:r>
          </a:p>
          <a:p xmlns:a="http://schemas.openxmlformats.org/drawingml/2006/main">
            <a:r>
              <a:t>La ventana de contexto es un presupuesto, no una memoria permanente.</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Una nueva pregunta tiene 12 tokens; el historial añade 2.000. Pida una predicción.</a:t>
            </a:r>
          </a:p>
          <a:p xmlns:a="http://schemas.openxmlformats.org/drawingml/2006/main">
            <a:r>
              <a:t/>
            </a:r>
          </a:p>
          <a:p xmlns:a="http://schemas.openxmlformats.org/drawingml/2006/main">
            <a:r>
              <a:t>Partir: La entrada anterior era de 5.700 tokens.</a:t>
            </a:r>
          </a:p>
          <a:p xmlns:a="http://schemas.openxmlformats.org/drawingml/2006/main">
            <a:r>
              <a:t/>
            </a:r>
          </a:p>
          <a:p xmlns:a="http://schemas.openxmlformats.org/drawingml/2006/main">
            <a:r>
              <a:t>Añadir: El nuevo historial eleva la entrada a 7.700.</a:t>
            </a:r>
          </a:p>
          <a:p xmlns:a="http://schemas.openxmlformats.org/drawingml/2006/main">
            <a:r>
              <a:t/>
            </a:r>
          </a:p>
          <a:p xmlns:a="http://schemas.openxmlformats.org/drawingml/2006/main">
            <a:r>
              <a:t>Decidir: Seleccionar contexto antes de exceder el límite configurado.</a:t>
            </a:r>
          </a:p>
          <a:p xmlns:a="http://schemas.openxmlformats.org/drawingml/2006/main">
            <a:r>
              <a:t/>
            </a:r>
          </a:p>
          <a:p xmlns:a="http://schemas.openxmlformats.org/drawingml/2006/main">
            <a:r>
              <a:t>Resultado esperado: La entrada crece aunque la pregunta siga siendo corta. Valores ilustrativos.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Pregunte qué envía el programa cuando el usuario escribe «¿y el mes pasado?». Recorra las cuatro tarjetas: instrucciones, historial, esquemas de tools y documentos recuperados. Son categorías de un futuro agente del curso; en S0 solo se anticipa su costo de contexto. Sume los valores de la ilustración: 1.000 + 1.500 + 1.200 + 2.000 = 5.700. No atribuya esta distribución a una llamada real.</a:t>
            </a:r>
          </a:p>
          <a:p xmlns:a="http://schemas.openxmlformats.org/drawingml/2006/main">
            <a:r>
              <a:t/>
            </a:r>
          </a:p>
          <a:p xmlns:a="http://schemas.openxmlformats.org/drawingml/2006/main">
            <a:r>
              <a:t>Explique la barra de capacidad y la reserva de salida. El repositorio usa una ventana de referencia de 32.768 tokens, pero la capacidad efectiva depende del endpoint y su configuración. La reserva es esquemática, no una cantidad medida. Si crece el historial, la aplicación decide qué preservar; no conviene esperar que el modelo recuerde contenido que no recibió. Mencione seleccionar, resumir o recuperar menos documentos y posponga su implementación a las sesiones correspondientes.</a:t>
            </a:r>
          </a:p>
          <a:p xmlns:a="http://schemas.openxmlformats.org/drawingml/2006/main">
            <a:r>
              <a:t/>
            </a:r>
          </a:p>
          <a:p xmlns:a="http://schemas.openxmlformats.org/drawingml/2006/main">
            <a:r>
              <a:t>ELEMENTOS QUE CONVIENE EXPLICAR</a:t>
            </a:r>
          </a:p>
          <a:p xmlns:a="http://schemas.openxmlformats.org/drawingml/2006/main">
            <a:r>
              <a:t>Partir; Añadir; Decidir.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Una nueva pregunta tiene 12 tokens; el historial añade 2.000.</a:t>
            </a:r>
          </a:p>
          <a:p xmlns:a="http://schemas.openxmlformats.org/drawingml/2006/main">
            <a:r>
              <a:t>Partir: La entrada anterior era de 5.700 tokens.</a:t>
            </a:r>
          </a:p>
          <a:p xmlns:a="http://schemas.openxmlformats.org/drawingml/2006/main">
            <a:r>
              <a:t>Añadir: El nuevo historial eleva la entrada a 7.700.</a:t>
            </a:r>
          </a:p>
          <a:p xmlns:a="http://schemas.openxmlformats.org/drawingml/2006/main">
            <a:r>
              <a:t>Decidir: Seleccionar contexto antes de exceder el límite configurado.</a:t>
            </a:r>
          </a:p>
          <a:p xmlns:a="http://schemas.openxmlformats.org/drawingml/2006/main">
            <a:r>
              <a:t>Resultado: La entrada crece aunque la pregunta siga siendo corta. Valores ilustrativos.</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componentes contarías antes de enviar la llamada?</a:t>
            </a:r>
          </a:p>
          <a:p xmlns:a="http://schemas.openxmlformats.org/drawingml/2006/main">
            <a:r>
              <a:t>Orientación para el docente: contraste la respuesta con los criterios del desarrollo y pida evidencia. La conclusión debe respetar: La ventana de contexto es un presupuesto, no una memoria permanente.</a:t>
            </a:r>
          </a:p>
          <a:p xmlns:a="http://schemas.openxmlformats.org/drawingml/2006/main">
            <a:r>
              <a:t/>
            </a:r>
          </a:p>
          <a:p xmlns:a="http://schemas.openxmlformats.org/drawingml/2006/main">
            <a:r>
              <a:t>ERRORES CONCEPTUALES FRECUENTES</a:t>
            </a:r>
          </a:p>
          <a:p xmlns:a="http://schemas.openxmlformats.org/drawingml/2006/main">
            <a:r>
              <a:t>Contar solo el último mensaje o asumir la misma ventana en cualquier endpoint.</a:t>
            </a:r>
          </a:p>
          <a:p xmlns:a="http://schemas.openxmlformats.org/drawingml/2006/main">
            <a:r>
              <a:t/>
            </a:r>
          </a:p>
          <a:p xmlns:a="http://schemas.openxmlformats.org/drawingml/2006/main">
            <a:r>
              <a:t>CONEXIÓN ANTERIOR</a:t>
            </a:r>
          </a:p>
          <a:p xmlns:a="http://schemas.openxmlformats.org/drawingml/2006/main">
            <a:r>
              <a:t>04 enseña cómo contar tokens. · Capítulo previo: Tokens: unidades del texto</a:t>
            </a:r>
          </a:p>
          <a:p xmlns:a="http://schemas.openxmlformats.org/drawingml/2006/main">
            <a:r>
              <a:t/>
            </a:r>
          </a:p>
          <a:p xmlns:a="http://schemas.openxmlformats.org/drawingml/2006/main">
            <a:r>
              <a:t>CONEXIÓN POSTERIOR</a:t>
            </a:r>
          </a:p>
          <a:p xmlns:a="http://schemas.openxmlformats.org/drawingml/2006/main">
            <a:r>
              <a:t>06 explica quién conserva el historial; 12 muestra cómo su reenvío impacta el costo. · Sigue: Dónde vive la conversación</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16 · CAPÍTULO 6 · CONCEPTO</a:t>
            </a:r>
          </a:p>
          <a:p xmlns:a="http://schemas.openxmlformats.org/drawingml/2006/main">
            <a:r>
              <a:t>Título: Dónde vive la conversación</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§4 · B</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Ubicar el historial en la aplicación que prepara cada llamada.</a:t>
            </a:r>
          </a:p>
          <a:p xmlns:a="http://schemas.openxmlformats.org/drawingml/2006/main">
            <a:r>
              <a:t/>
            </a:r>
          </a:p>
          <a:p xmlns:a="http://schemas.openxmlformats.org/drawingml/2006/main">
            <a:r>
              <a:t>CONCEPTO PRINCIPAL</a:t>
            </a:r>
          </a:p>
          <a:p xmlns:a="http://schemas.openxmlformats.org/drawingml/2006/main">
            <a:r>
              <a:t>Dónde vive la conversación</a:t>
            </a:r>
          </a:p>
          <a:p xmlns:a="http://schemas.openxmlformats.org/drawingml/2006/main">
            <a:r>
              <a:t/>
            </a:r>
          </a:p>
          <a:p xmlns:a="http://schemas.openxmlformats.org/drawingml/2006/main">
            <a:r>
              <a:t>MENSAJE QUE DEBE LLEVARSE EL ALUMNO</a:t>
            </a:r>
          </a:p>
          <a:p xmlns:a="http://schemas.openxmlformats.org/drawingml/2006/main">
            <a:r>
              <a:t>La aplicación administra contexto y aislamiento de conversaciones.</a:t>
            </a:r>
          </a:p>
          <a:p xmlns:a="http://schemas.openxmlformats.org/drawingml/2006/main">
            <a:r>
              <a:t/>
            </a:r>
          </a:p>
          <a:p xmlns:a="http://schemas.openxmlformats.org/drawingml/2006/main">
            <a:r>
              <a:t>EXPLICACIÓN SUGERIDA PARA EL DOCENTE</a:t>
            </a:r>
          </a:p>
          <a:p xmlns:a="http://schemas.openxmlformats.org/drawingml/2006/main">
            <a:r>
              <a:t>Abra con la pregunta «¿Qué ocurriría si dos clientes compartieran el mismo historial?».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Usuario: «Mi pedido es P-104». Luego: «¿Cuándo llega?».</a:t>
            </a:r>
          </a:p>
          <a:p xmlns:a="http://schemas.openxmlformats.org/drawingml/2006/main">
            <a:r>
              <a:t/>
            </a:r>
          </a:p>
          <a:p xmlns:a="http://schemas.openxmlformats.org/drawingml/2006/main">
            <a:r>
              <a:t>Aplicación: Guarda mensajes y selecciona el historial que reenvía.</a:t>
            </a:r>
          </a:p>
          <a:p xmlns:a="http://schemas.openxmlformats.org/drawingml/2006/main">
            <a:r>
              <a:t/>
            </a:r>
          </a:p>
          <a:p xmlns:a="http://schemas.openxmlformats.org/drawingml/2006/main">
            <a:r>
              <a:t>Modelo: Recibe la nueva entrada; no conserva por sí solo la sesión.</a:t>
            </a:r>
          </a:p>
          <a:p xmlns:a="http://schemas.openxmlformats.org/drawingml/2006/main">
            <a:r>
              <a:t/>
            </a:r>
          </a:p>
          <a:p xmlns:a="http://schemas.openxmlformats.org/drawingml/2006/main">
            <a:r>
              <a:t>Cierre con la distinción: La aplicación administra contexto y aislamiento de conversaciones.</a:t>
            </a:r>
          </a:p>
          <a:p xmlns:a="http://schemas.openxmlformats.org/drawingml/2006/main">
            <a:r>
              <a:t/>
            </a:r>
          </a:p>
          <a:p xmlns:a="http://schemas.openxmlformats.org/drawingml/2006/main">
            <a:r>
              <a:t>AMPLIACIÓN DEL MATERIAL APROBADO</a:t>
            </a:r>
          </a:p>
          <a:p xmlns:a="http://schemas.openxmlformats.org/drawingml/2006/main">
            <a:r>
              <a:t>Lea la primera intervención del cliente MercaSur: «Mi pedido es P-104». Recorra usuario, aplicación y modelo. La aplicación guarda los mensajes que decide conservar, incluida la respuesta. Después presente «¿Cuándo llega?». Esa frase aislada no contiene el número de pedido. La segunda llamada incluye la información anterior y la nueva pregunta.</a:t>
            </a:r>
          </a:p>
          <a:p xmlns:a="http://schemas.openxmlformats.org/drawingml/2006/main">
            <a:r>
              <a:t/>
            </a:r>
          </a:p>
          <a:p xmlns:a="http://schemas.openxmlformats.org/drawingml/2006/main">
            <a:r>
              <a:t>Pida identificar qué caja tiene responsabilidad de almacenamiento. Explique que el cliente o plataforma puede ofrecer sesiones y gestionar ese estado, pero la llamada al modelo recibe el contexto que la aplicación o plataforma prepare. El curso evolucionará hacia thread_id y checkpoints en S5. No prometa persistencia entre reinicios con cualquier memoria: depende de su implementación. Use la flecha de la segunda fila para vincular memoria y tokens: reenviar información consume entrada de nuevo.</a:t>
            </a:r>
          </a:p>
          <a:p xmlns:a="http://schemas.openxmlformats.org/drawingml/2006/main">
            <a:r>
              <a:t/>
            </a:r>
          </a:p>
          <a:p xmlns:a="http://schemas.openxmlformats.org/drawingml/2006/main">
            <a:r>
              <a:t>ELEMENTOS QUE CONVIENE EXPLICAR</a:t>
            </a:r>
          </a:p>
          <a:p xmlns:a="http://schemas.openxmlformats.org/drawingml/2006/main">
            <a:r>
              <a:t>Usuario; Aplicación; Modelo.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El cliente pregunta «¿Cuándo llega?» después de dar su pedido.</a:t>
            </a:r>
          </a:p>
          <a:p xmlns:a="http://schemas.openxmlformats.org/drawingml/2006/main">
            <a:r>
              <a:t>Sin historial: La pregunta no identifica ningún pedido.</a:t>
            </a:r>
          </a:p>
          <a:p xmlns:a="http://schemas.openxmlformats.org/drawingml/2006/main">
            <a:r>
              <a:t>Con historial: La aplicación incorpora P-104.</a:t>
            </a:r>
          </a:p>
          <a:p xmlns:a="http://schemas.openxmlformats.org/drawingml/2006/main">
            <a:r>
              <a:t>Con fuente: El estado real todavía debe consultarse al sistema.</a:t>
            </a:r>
          </a:p>
          <a:p xmlns:a="http://schemas.openxmlformats.org/drawingml/2006/main">
            <a:r>
              <a:t>Resultado: Recordar el identificador permite consultar; no inventa el estado.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ocurriría si dos clientes compartieran el mismo historial?</a:t>
            </a:r>
          </a:p>
          <a:p xmlns:a="http://schemas.openxmlformats.org/drawingml/2006/main">
            <a:r>
              <a:t>Orientación para el docente: contraste la respuesta con los criterios del desarrollo y pida evidencia. La conclusión debe respetar: La aplicación administra contexto y aislamiento de conversaciones.</a:t>
            </a:r>
          </a:p>
          <a:p xmlns:a="http://schemas.openxmlformats.org/drawingml/2006/main">
            <a:r>
              <a:t/>
            </a:r>
          </a:p>
          <a:p xmlns:a="http://schemas.openxmlformats.org/drawingml/2006/main">
            <a:r>
              <a:t>ERRORES CONCEPTUALES FRECUENTES</a:t>
            </a:r>
          </a:p>
          <a:p xmlns:a="http://schemas.openxmlformats.org/drawingml/2006/main">
            <a:r>
              <a:t>Confundir recordar el pedido con conocer su estado actual.</a:t>
            </a:r>
          </a:p>
          <a:p xmlns:a="http://schemas.openxmlformats.org/drawingml/2006/main">
            <a:r>
              <a:t/>
            </a:r>
          </a:p>
          <a:p xmlns:a="http://schemas.openxmlformats.org/drawingml/2006/main">
            <a:r>
              <a:t>CONEXIÓN ANTERIOR</a:t>
            </a:r>
          </a:p>
          <a:p xmlns:a="http://schemas.openxmlformats.org/drawingml/2006/main">
            <a:r>
              <a:t>05 presenta el espacio ocupado por el historial. · Capítulo previo: Contexto: presupuesto por llamada</a:t>
            </a:r>
          </a:p>
          <a:p xmlns:a="http://schemas.openxmlformats.org/drawingml/2006/main">
            <a:r>
              <a:t/>
            </a:r>
          </a:p>
          <a:p xmlns:a="http://schemas.openxmlformats.org/drawingml/2006/main">
            <a:r>
              <a:t>CONEXIÓN POSTERIOR</a:t>
            </a:r>
          </a:p>
          <a:p xmlns:a="http://schemas.openxmlformats.org/drawingml/2006/main">
            <a:r>
              <a:t>S2: roles y mensajes. S5: thread_id y estado. 12: costo acumulado. · Sigue: Temperatura y variación</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17 · CAPÍTULO 6 · DESARROLLO</a:t>
            </a:r>
          </a:p>
          <a:p xmlns:a="http://schemas.openxmlformats.org/drawingml/2006/main">
            <a:r>
              <a:t>Título: Dos llamadas, dos entradas</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§4 · B</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Ubicar el historial en la aplicación que prepara cada llamada.</a:t>
            </a:r>
          </a:p>
          <a:p xmlns:a="http://schemas.openxmlformats.org/drawingml/2006/main">
            <a:r>
              <a:t/>
            </a:r>
          </a:p>
          <a:p xmlns:a="http://schemas.openxmlformats.org/drawingml/2006/main">
            <a:r>
              <a:t>CONCEPTO PRINCIPAL</a:t>
            </a:r>
          </a:p>
          <a:p xmlns:a="http://schemas.openxmlformats.org/drawingml/2006/main">
            <a:r>
              <a:t>Dónde vive la conversación</a:t>
            </a:r>
          </a:p>
          <a:p xmlns:a="http://schemas.openxmlformats.org/drawingml/2006/main">
            <a:r>
              <a:t/>
            </a:r>
          </a:p>
          <a:p xmlns:a="http://schemas.openxmlformats.org/drawingml/2006/main">
            <a:r>
              <a:t>MENSAJE QUE DEBE LLEVARSE EL ALUMNO</a:t>
            </a:r>
          </a:p>
          <a:p xmlns:a="http://schemas.openxmlformats.org/drawingml/2006/main">
            <a:r>
              <a:t>La aplicación administra contexto y aislamiento de conversaciones.</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Primera: Enviar identificador y pregunta; conservar los mensajes necesarios.</a:t>
            </a:r>
          </a:p>
          <a:p xmlns:a="http://schemas.openxmlformats.org/drawingml/2006/main">
            <a:r>
              <a:t/>
            </a:r>
          </a:p>
          <a:p xmlns:a="http://schemas.openxmlformats.org/drawingml/2006/main">
            <a:r>
              <a:t>Segunda: Reenviar el contexto relevante junto con la nueva pregunta.</a:t>
            </a:r>
          </a:p>
          <a:p xmlns:a="http://schemas.openxmlformats.org/drawingml/2006/main">
            <a:r>
              <a:t/>
            </a:r>
          </a:p>
          <a:p xmlns:a="http://schemas.openxmlformats.org/drawingml/2006/main">
            <a:r>
              <a:t>Aislamiento: Evitar mezclar historiales de personas o conversaciones.</a:t>
            </a:r>
          </a:p>
          <a:p xmlns:a="http://schemas.openxmlformats.org/drawingml/2006/main">
            <a:r>
              <a:t/>
            </a:r>
          </a:p>
          <a:p xmlns:a="http://schemas.openxmlformats.org/drawingml/2006/main">
            <a:r>
              <a:t>Contraste la regla con este error: Confundir recordar el pedido con conocer su estado actual.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Lea la primera intervención del cliente MercaSur: «Mi pedido es P-104». Recorra usuario, aplicación y modelo. La aplicación guarda los mensajes que decide conservar, incluida la respuesta. Después presente «¿Cuándo llega?». Esa frase aislada no contiene el número de pedido. La segunda llamada incluye la información anterior y la nueva pregunta.</a:t>
            </a:r>
          </a:p>
          <a:p xmlns:a="http://schemas.openxmlformats.org/drawingml/2006/main">
            <a:r>
              <a:t/>
            </a:r>
          </a:p>
          <a:p xmlns:a="http://schemas.openxmlformats.org/drawingml/2006/main">
            <a:r>
              <a:t>Pida identificar qué caja tiene responsabilidad de almacenamiento. Explique que el cliente o plataforma puede ofrecer sesiones y gestionar ese estado, pero la llamada al modelo recibe el contexto que la aplicación o plataforma prepare. El curso evolucionará hacia thread_id y checkpoints en S5. No prometa persistencia entre reinicios con cualquier memoria: depende de su implementación. Use la flecha de la segunda fila para vincular memoria y tokens: reenviar información consume entrada de nuevo.</a:t>
            </a:r>
          </a:p>
          <a:p xmlns:a="http://schemas.openxmlformats.org/drawingml/2006/main">
            <a:r>
              <a:t/>
            </a:r>
          </a:p>
          <a:p xmlns:a="http://schemas.openxmlformats.org/drawingml/2006/main">
            <a:r>
              <a:t>ELEMENTOS QUE CONVIENE EXPLICAR</a:t>
            </a:r>
          </a:p>
          <a:p xmlns:a="http://schemas.openxmlformats.org/drawingml/2006/main">
            <a:r>
              <a:t>Primera; Segunda; Aislamiento.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El cliente pregunta «¿Cuándo llega?» después de dar su pedido.</a:t>
            </a:r>
          </a:p>
          <a:p xmlns:a="http://schemas.openxmlformats.org/drawingml/2006/main">
            <a:r>
              <a:t>Sin historial: La pregunta no identifica ningún pedido.</a:t>
            </a:r>
          </a:p>
          <a:p xmlns:a="http://schemas.openxmlformats.org/drawingml/2006/main">
            <a:r>
              <a:t>Con historial: La aplicación incorpora P-104.</a:t>
            </a:r>
          </a:p>
          <a:p xmlns:a="http://schemas.openxmlformats.org/drawingml/2006/main">
            <a:r>
              <a:t>Con fuente: El estado real todavía debe consultarse al sistema.</a:t>
            </a:r>
          </a:p>
          <a:p xmlns:a="http://schemas.openxmlformats.org/drawingml/2006/main">
            <a:r>
              <a:t>Resultado: Recordar el identificador permite consultar; no inventa el estado.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ocurriría si dos clientes compartieran el mismo historial?</a:t>
            </a:r>
          </a:p>
          <a:p xmlns:a="http://schemas.openxmlformats.org/drawingml/2006/main">
            <a:r>
              <a:t>Orientación para el docente: contraste la respuesta con los criterios del desarrollo y pida evidencia. La conclusión debe respetar: La aplicación administra contexto y aislamiento de conversaciones.</a:t>
            </a:r>
          </a:p>
          <a:p xmlns:a="http://schemas.openxmlformats.org/drawingml/2006/main">
            <a:r>
              <a:t/>
            </a:r>
          </a:p>
          <a:p xmlns:a="http://schemas.openxmlformats.org/drawingml/2006/main">
            <a:r>
              <a:t>ERRORES CONCEPTUALES FRECUENTES</a:t>
            </a:r>
          </a:p>
          <a:p xmlns:a="http://schemas.openxmlformats.org/drawingml/2006/main">
            <a:r>
              <a:t>Confundir recordar el pedido con conocer su estado actual.</a:t>
            </a:r>
          </a:p>
          <a:p xmlns:a="http://schemas.openxmlformats.org/drawingml/2006/main">
            <a:r>
              <a:t/>
            </a:r>
          </a:p>
          <a:p xmlns:a="http://schemas.openxmlformats.org/drawingml/2006/main">
            <a:r>
              <a:t>CONEXIÓN ANTERIOR</a:t>
            </a:r>
          </a:p>
          <a:p xmlns:a="http://schemas.openxmlformats.org/drawingml/2006/main">
            <a:r>
              <a:t>05 presenta el espacio ocupado por el historial. · Capítulo previo: Contexto: presupuesto por llamada</a:t>
            </a:r>
          </a:p>
          <a:p xmlns:a="http://schemas.openxmlformats.org/drawingml/2006/main">
            <a:r>
              <a:t/>
            </a:r>
          </a:p>
          <a:p xmlns:a="http://schemas.openxmlformats.org/drawingml/2006/main">
            <a:r>
              <a:t>CONEXIÓN POSTERIOR</a:t>
            </a:r>
          </a:p>
          <a:p xmlns:a="http://schemas.openxmlformats.org/drawingml/2006/main">
            <a:r>
              <a:t>S2: roles y mensajes. S5: thread_id y estado. 12: costo acumulado. · Sigue: Temperatura y variación</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18 · CAPÍTULO 6 · EJEMPLO</a:t>
            </a:r>
          </a:p>
          <a:p xmlns:a="http://schemas.openxmlformats.org/drawingml/2006/main">
            <a:r>
              <a:t>Título: MercaSur · Dónde vive la conversación</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§4 · B</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Ubicar el historial en la aplicación que prepara cada llamada.</a:t>
            </a:r>
          </a:p>
          <a:p xmlns:a="http://schemas.openxmlformats.org/drawingml/2006/main">
            <a:r>
              <a:t/>
            </a:r>
          </a:p>
          <a:p xmlns:a="http://schemas.openxmlformats.org/drawingml/2006/main">
            <a:r>
              <a:t>CONCEPTO PRINCIPAL</a:t>
            </a:r>
          </a:p>
          <a:p xmlns:a="http://schemas.openxmlformats.org/drawingml/2006/main">
            <a:r>
              <a:t>Dónde vive la conversación</a:t>
            </a:r>
          </a:p>
          <a:p xmlns:a="http://schemas.openxmlformats.org/drawingml/2006/main">
            <a:r>
              <a:t/>
            </a:r>
          </a:p>
          <a:p xmlns:a="http://schemas.openxmlformats.org/drawingml/2006/main">
            <a:r>
              <a:t>MENSAJE QUE DEBE LLEVARSE EL ALUMNO</a:t>
            </a:r>
          </a:p>
          <a:p xmlns:a="http://schemas.openxmlformats.org/drawingml/2006/main">
            <a:r>
              <a:t>La aplicación administra contexto y aislamiento de conversaciones.</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El cliente pregunta «¿Cuándo llega?» después de dar su pedido. Pida una predicción.</a:t>
            </a:r>
          </a:p>
          <a:p xmlns:a="http://schemas.openxmlformats.org/drawingml/2006/main">
            <a:r>
              <a:t/>
            </a:r>
          </a:p>
          <a:p xmlns:a="http://schemas.openxmlformats.org/drawingml/2006/main">
            <a:r>
              <a:t>Sin historial: La pregunta no identifica ningún pedido.</a:t>
            </a:r>
          </a:p>
          <a:p xmlns:a="http://schemas.openxmlformats.org/drawingml/2006/main">
            <a:r>
              <a:t/>
            </a:r>
          </a:p>
          <a:p xmlns:a="http://schemas.openxmlformats.org/drawingml/2006/main">
            <a:r>
              <a:t>Con historial: La aplicación incorpora P-104.</a:t>
            </a:r>
          </a:p>
          <a:p xmlns:a="http://schemas.openxmlformats.org/drawingml/2006/main">
            <a:r>
              <a:t/>
            </a:r>
          </a:p>
          <a:p xmlns:a="http://schemas.openxmlformats.org/drawingml/2006/main">
            <a:r>
              <a:t>Con fuente: El estado real todavía debe consultarse al sistema.</a:t>
            </a:r>
          </a:p>
          <a:p xmlns:a="http://schemas.openxmlformats.org/drawingml/2006/main">
            <a:r>
              <a:t/>
            </a:r>
          </a:p>
          <a:p xmlns:a="http://schemas.openxmlformats.org/drawingml/2006/main">
            <a:r>
              <a:t>Resultado esperado: Recordar el identificador permite consultar; no inventa el estado.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Lea la primera intervención del cliente MercaSur: «Mi pedido es P-104». Recorra usuario, aplicación y modelo. La aplicación guarda los mensajes que decide conservar, incluida la respuesta. Después presente «¿Cuándo llega?». Esa frase aislada no contiene el número de pedido. La segunda llamada incluye la información anterior y la nueva pregunta.</a:t>
            </a:r>
          </a:p>
          <a:p xmlns:a="http://schemas.openxmlformats.org/drawingml/2006/main">
            <a:r>
              <a:t/>
            </a:r>
          </a:p>
          <a:p xmlns:a="http://schemas.openxmlformats.org/drawingml/2006/main">
            <a:r>
              <a:t>Pida identificar qué caja tiene responsabilidad de almacenamiento. Explique que el cliente o plataforma puede ofrecer sesiones y gestionar ese estado, pero la llamada al modelo recibe el contexto que la aplicación o plataforma prepare. El curso evolucionará hacia thread_id y checkpoints en S5. No prometa persistencia entre reinicios con cualquier memoria: depende de su implementación. Use la flecha de la segunda fila para vincular memoria y tokens: reenviar información consume entrada de nuevo.</a:t>
            </a:r>
          </a:p>
          <a:p xmlns:a="http://schemas.openxmlformats.org/drawingml/2006/main">
            <a:r>
              <a:t/>
            </a:r>
          </a:p>
          <a:p xmlns:a="http://schemas.openxmlformats.org/drawingml/2006/main">
            <a:r>
              <a:t>ELEMENTOS QUE CONVIENE EXPLICAR</a:t>
            </a:r>
          </a:p>
          <a:p xmlns:a="http://schemas.openxmlformats.org/drawingml/2006/main">
            <a:r>
              <a:t>Sin historial; Con historial; Con fuente.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El cliente pregunta «¿Cuándo llega?» después de dar su pedido.</a:t>
            </a:r>
          </a:p>
          <a:p xmlns:a="http://schemas.openxmlformats.org/drawingml/2006/main">
            <a:r>
              <a:t>Sin historial: La pregunta no identifica ningún pedido.</a:t>
            </a:r>
          </a:p>
          <a:p xmlns:a="http://schemas.openxmlformats.org/drawingml/2006/main">
            <a:r>
              <a:t>Con historial: La aplicación incorpora P-104.</a:t>
            </a:r>
          </a:p>
          <a:p xmlns:a="http://schemas.openxmlformats.org/drawingml/2006/main">
            <a:r>
              <a:t>Con fuente: El estado real todavía debe consultarse al sistema.</a:t>
            </a:r>
          </a:p>
          <a:p xmlns:a="http://schemas.openxmlformats.org/drawingml/2006/main">
            <a:r>
              <a:t>Resultado: Recordar el identificador permite consultar; no inventa el estado.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ocurriría si dos clientes compartieran el mismo historial?</a:t>
            </a:r>
          </a:p>
          <a:p xmlns:a="http://schemas.openxmlformats.org/drawingml/2006/main">
            <a:r>
              <a:t>Orientación para el docente: contraste la respuesta con los criterios del desarrollo y pida evidencia. La conclusión debe respetar: La aplicación administra contexto y aislamiento de conversaciones.</a:t>
            </a:r>
          </a:p>
          <a:p xmlns:a="http://schemas.openxmlformats.org/drawingml/2006/main">
            <a:r>
              <a:t/>
            </a:r>
          </a:p>
          <a:p xmlns:a="http://schemas.openxmlformats.org/drawingml/2006/main">
            <a:r>
              <a:t>ERRORES CONCEPTUALES FRECUENTES</a:t>
            </a:r>
          </a:p>
          <a:p xmlns:a="http://schemas.openxmlformats.org/drawingml/2006/main">
            <a:r>
              <a:t>Confundir recordar el pedido con conocer su estado actual.</a:t>
            </a:r>
          </a:p>
          <a:p xmlns:a="http://schemas.openxmlformats.org/drawingml/2006/main">
            <a:r>
              <a:t/>
            </a:r>
          </a:p>
          <a:p xmlns:a="http://schemas.openxmlformats.org/drawingml/2006/main">
            <a:r>
              <a:t>CONEXIÓN ANTERIOR</a:t>
            </a:r>
          </a:p>
          <a:p xmlns:a="http://schemas.openxmlformats.org/drawingml/2006/main">
            <a:r>
              <a:t>05 presenta el espacio ocupado por el historial. · Capítulo previo: Contexto: presupuesto por llamada</a:t>
            </a:r>
          </a:p>
          <a:p xmlns:a="http://schemas.openxmlformats.org/drawingml/2006/main">
            <a:r>
              <a:t/>
            </a:r>
          </a:p>
          <a:p xmlns:a="http://schemas.openxmlformats.org/drawingml/2006/main">
            <a:r>
              <a:t>CONEXIÓN POSTERIOR</a:t>
            </a:r>
          </a:p>
          <a:p xmlns:a="http://schemas.openxmlformats.org/drawingml/2006/main">
            <a:r>
              <a:t>S2: roles y mensajes. S5: thread_id y estado. 12: costo acumulado. · Sigue: Temperatura y variación</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19 · CAPÍTULO 7 · CONCEPTO</a:t>
            </a:r>
          </a:p>
          <a:p xmlns:a="http://schemas.openxmlformats.org/drawingml/2006/main">
            <a:r>
              <a:t>Título: Temperatura y variación</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§5</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Observar cómo cambia la selección de continuaciones al variar la temperatura.</a:t>
            </a:r>
          </a:p>
          <a:p xmlns:a="http://schemas.openxmlformats.org/drawingml/2006/main">
            <a:r>
              <a:t/>
            </a:r>
          </a:p>
          <a:p xmlns:a="http://schemas.openxmlformats.org/drawingml/2006/main">
            <a:r>
              <a:t>CONCEPTO PRINCIPAL</a:t>
            </a:r>
          </a:p>
          <a:p xmlns:a="http://schemas.openxmlformats.org/drawingml/2006/main">
            <a:r>
              <a:t>Temperatura y variación</a:t>
            </a:r>
          </a:p>
          <a:p xmlns:a="http://schemas.openxmlformats.org/drawingml/2006/main">
            <a:r>
              <a:t/>
            </a:r>
          </a:p>
          <a:p xmlns:a="http://schemas.openxmlformats.org/drawingml/2006/main">
            <a:r>
              <a:t>MENSAJE QUE DEBE LLEVARSE EL ALUMNO</a:t>
            </a:r>
          </a:p>
          <a:p xmlns:a="http://schemas.openxmlformats.org/drawingml/2006/main">
            <a:r>
              <a:t>Temperatura baja no es un certificado de exactitud.</a:t>
            </a:r>
          </a:p>
          <a:p xmlns:a="http://schemas.openxmlformats.org/drawingml/2006/main">
            <a:r>
              <a:t/>
            </a:r>
          </a:p>
          <a:p xmlns:a="http://schemas.openxmlformats.org/drawingml/2006/main">
            <a:r>
              <a:t>EXPLICACIÓN SUGERIDA PARA EL DOCENTE</a:t>
            </a:r>
          </a:p>
          <a:p xmlns:a="http://schemas.openxmlformats.org/drawingml/2006/main">
            <a:r>
              <a:t>Abra con la pregunta «¿Una respuesta repetible demuestra que la póliza cubre el caso?».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Baja temperatura: Favorece continuaciones de mayor probabilidad.</a:t>
            </a:r>
          </a:p>
          <a:p xmlns:a="http://schemas.openxmlformats.org/drawingml/2006/main">
            <a:r>
              <a:t/>
            </a:r>
          </a:p>
          <a:p xmlns:a="http://schemas.openxmlformats.org/drawingml/2006/main">
            <a:r>
              <a:t>Mayor temperatura: Permite más diversidad en las continuaciones.</a:t>
            </a:r>
          </a:p>
          <a:p xmlns:a="http://schemas.openxmlformats.org/drawingml/2006/main">
            <a:r>
              <a:t/>
            </a:r>
          </a:p>
          <a:p xmlns:a="http://schemas.openxmlformats.org/drawingml/2006/main">
            <a:r>
              <a:t>Límite: Ninguna configuración garantiza verdad factual.</a:t>
            </a:r>
          </a:p>
          <a:p xmlns:a="http://schemas.openxmlformats.org/drawingml/2006/main">
            <a:r>
              <a:t/>
            </a:r>
          </a:p>
          <a:p xmlns:a="http://schemas.openxmlformats.org/drawingml/2006/main">
            <a:r>
              <a:t>Cierre con la distinción: Temperatura baja no es un certificado de exactitud.</a:t>
            </a:r>
          </a:p>
          <a:p xmlns:a="http://schemas.openxmlformats.org/drawingml/2006/main">
            <a:r>
              <a:t/>
            </a:r>
          </a:p>
          <a:p xmlns:a="http://schemas.openxmlformats.org/drawingml/2006/main">
            <a:r>
              <a:t>AMPLIACIÓN DEL MATERIAL APROBADO</a:t>
            </a:r>
          </a:p>
          <a:p xmlns:a="http://schemas.openxmlformats.org/drawingml/2006/main">
            <a:r>
              <a:t>Presente la pregunta real de la demo: explicar en una frase qué es un agente de IA a un ingeniero. Pida anticipar qué pasará a 0.0, 0.7 y 1.5. Cada columna muestra de manera conceptual cuán concentrada puede quedar la selección; las barras no contienen probabilidades medidas. Ejecute la demo y compare las tres respuestas de cada grupo.</a:t>
            </a:r>
          </a:p>
          <a:p xmlns:a="http://schemas.openxmlformats.org/drawingml/2006/main">
            <a:r>
              <a:t/>
            </a:r>
          </a:p>
          <a:p xmlns:a="http://schemas.openxmlformats.org/drawingml/2006/main">
            <a:r>
              <a:t>El script calcula si las cadenas son idénticas y un solapamiento de conjuntos de palabras. Explique que esa métrica de palabras no equivale a calidad semántica ni a evaluación completa. Dos redacciones diferentes pueden expresar lo mismo. El curso fija temperatura cero para sus laboratorios buscando menor variación, pero debe evaluar resultados reales y contemplar diferencias del servidor. Cierre distinguiendo tres preguntas: ¿se repite?, ¿cumple la tarea?, ¿es correcta?</a:t>
            </a:r>
          </a:p>
          <a:p xmlns:a="http://schemas.openxmlformats.org/drawingml/2006/main">
            <a:r>
              <a:t/>
            </a:r>
          </a:p>
          <a:p xmlns:a="http://schemas.openxmlformats.org/drawingml/2006/main">
            <a:r>
              <a:t>ELEMENTOS QUE CONVIENE EXPLICAR</a:t>
            </a:r>
          </a:p>
          <a:p xmlns:a="http://schemas.openxmlformats.org/drawingml/2006/main">
            <a:r>
              <a:t>Baja temperatura; Mayor temperatura; Límite.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Andina Seguros. Pide tres versiones de un saludo sin prometer coberturas.</a:t>
            </a:r>
          </a:p>
          <a:p xmlns:a="http://schemas.openxmlformats.org/drawingml/2006/main">
            <a:r>
              <a:t>Fijar: La tarea y los límites son los mismos.</a:t>
            </a:r>
          </a:p>
          <a:p xmlns:a="http://schemas.openxmlformats.org/drawingml/2006/main">
            <a:r>
              <a:t>Repetir: Ejecutar 02_temperatura.py y observar variación.</a:t>
            </a:r>
          </a:p>
          <a:p xmlns:a="http://schemas.openxmlformats.org/drawingml/2006/main">
            <a:r>
              <a:t>Evaluar: Separar diversidad de redacción y cumplimiento del límite.</a:t>
            </a:r>
          </a:p>
          <a:p xmlns:a="http://schemas.openxmlformats.org/drawingml/2006/main">
            <a:r>
              <a:t>Resultado: Más variedad puede ser útil para redactar; la cobertura requiere fuente.</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¿Una respuesta repetible demuestra que la póliza cubre el caso?</a:t>
            </a:r>
          </a:p>
          <a:p xmlns:a="http://schemas.openxmlformats.org/drawingml/2006/main">
            <a:r>
              <a:t>Orientación para el docente: contraste la respuesta con los criterios del desarrollo y pida evidencia. La conclusión debe respetar: Temperatura baja no es un certificado de exactitud.</a:t>
            </a:r>
          </a:p>
          <a:p xmlns:a="http://schemas.openxmlformats.org/drawingml/2006/main">
            <a:r>
              <a:t/>
            </a:r>
          </a:p>
          <a:p xmlns:a="http://schemas.openxmlformats.org/drawingml/2006/main">
            <a:r>
              <a:t>ERRORES CONCEPTUALES FRECUENTES</a:t>
            </a:r>
          </a:p>
          <a:p xmlns:a="http://schemas.openxmlformats.org/drawingml/2006/main">
            <a:r>
              <a:t>Prometer determinismo absoluto con temperatura cero.</a:t>
            </a:r>
          </a:p>
          <a:p xmlns:a="http://schemas.openxmlformats.org/drawingml/2006/main">
            <a:r>
              <a:t/>
            </a:r>
          </a:p>
          <a:p xmlns:a="http://schemas.openxmlformats.org/drawingml/2006/main">
            <a:r>
              <a:t>CONEXIÓN ANTERIOR</a:t>
            </a:r>
          </a:p>
          <a:p xmlns:a="http://schemas.openxmlformats.org/drawingml/2006/main">
            <a:r>
              <a:t>03: selección del siguiente token; 04–06: entrada y contexto. · Capítulo previo: Dónde vive la conversación</a:t>
            </a:r>
          </a:p>
          <a:p xmlns:a="http://schemas.openxmlformats.org/drawingml/2006/main">
            <a:r>
              <a:t/>
            </a:r>
          </a:p>
          <a:p xmlns:a="http://schemas.openxmlformats.org/drawingml/2006/main">
            <a:r>
              <a:t>CONEXIÓN POSTERIOR</a:t>
            </a:r>
          </a:p>
          <a:p xmlns:a="http://schemas.openxmlformats.org/drawingml/2006/main">
            <a:r>
              <a:t>S7 y S10 evalúan invariantes y métricas en lugar de igualdad exacta de redacción. · Sigue: Alucinación: plausible y falsa</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20 · CAPÍTULO 7 · DESARROLLO</a:t>
            </a:r>
          </a:p>
          <a:p xmlns:a="http://schemas.openxmlformats.org/drawingml/2006/main">
            <a:r>
              <a:t>Título: Diseñar una comparación útil</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§5</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Observar cómo cambia la selección de continuaciones al variar la temperatura.</a:t>
            </a:r>
          </a:p>
          <a:p xmlns:a="http://schemas.openxmlformats.org/drawingml/2006/main">
            <a:r>
              <a:t/>
            </a:r>
          </a:p>
          <a:p xmlns:a="http://schemas.openxmlformats.org/drawingml/2006/main">
            <a:r>
              <a:t>CONCEPTO PRINCIPAL</a:t>
            </a:r>
          </a:p>
          <a:p xmlns:a="http://schemas.openxmlformats.org/drawingml/2006/main">
            <a:r>
              <a:t>Temperatura y variación</a:t>
            </a:r>
          </a:p>
          <a:p xmlns:a="http://schemas.openxmlformats.org/drawingml/2006/main">
            <a:r>
              <a:t/>
            </a:r>
          </a:p>
          <a:p xmlns:a="http://schemas.openxmlformats.org/drawingml/2006/main">
            <a:r>
              <a:t>MENSAJE QUE DEBE LLEVARSE EL ALUMNO</a:t>
            </a:r>
          </a:p>
          <a:p xmlns:a="http://schemas.openxmlformats.org/drawingml/2006/main">
            <a:r>
              <a:t>Temperatura baja no es un certificado de exactitud.</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Mantener: Usar el mismo prompt y modelo en las repeticiones.</a:t>
            </a:r>
          </a:p>
          <a:p xmlns:a="http://schemas.openxmlformats.org/drawingml/2006/main">
            <a:r>
              <a:t/>
            </a:r>
          </a:p>
          <a:p xmlns:a="http://schemas.openxmlformats.org/drawingml/2006/main">
            <a:r>
              <a:t>Variar: Cambiar solo la temperatura en la demo.</a:t>
            </a:r>
          </a:p>
          <a:p xmlns:a="http://schemas.openxmlformats.org/drawingml/2006/main">
            <a:r>
              <a:t/>
            </a:r>
          </a:p>
          <a:p xmlns:a="http://schemas.openxmlformats.org/drawingml/2006/main">
            <a:r>
              <a:t>Registrar: Comparar forma, diversidad y consistencia de las respuestas.</a:t>
            </a:r>
          </a:p>
          <a:p xmlns:a="http://schemas.openxmlformats.org/drawingml/2006/main">
            <a:r>
              <a:t/>
            </a:r>
          </a:p>
          <a:p xmlns:a="http://schemas.openxmlformats.org/drawingml/2006/main">
            <a:r>
              <a:t>Contraste la regla con este error: Prometer determinismo absoluto con temperatura cero.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Presente la pregunta real de la demo: explicar en una frase qué es un agente de IA a un ingeniero. Pida anticipar qué pasará a 0.0, 0.7 y 1.5. Cada columna muestra de manera conceptual cuán concentrada puede quedar la selección; las barras no contienen probabilidades medidas. Ejecute la demo y compare las tres respuestas de cada grupo.</a:t>
            </a:r>
          </a:p>
          <a:p xmlns:a="http://schemas.openxmlformats.org/drawingml/2006/main">
            <a:r>
              <a:t/>
            </a:r>
          </a:p>
          <a:p xmlns:a="http://schemas.openxmlformats.org/drawingml/2006/main">
            <a:r>
              <a:t>El script calcula si las cadenas son idénticas y un solapamiento de conjuntos de palabras. Explique que esa métrica de palabras no equivale a calidad semántica ni a evaluación completa. Dos redacciones diferentes pueden expresar lo mismo. El curso fija temperatura cero para sus laboratorios buscando menor variación, pero debe evaluar resultados reales y contemplar diferencias del servidor. Cierre distinguiendo tres preguntas: ¿se repite?, ¿cumple la tarea?, ¿es correcta?</a:t>
            </a:r>
          </a:p>
          <a:p xmlns:a="http://schemas.openxmlformats.org/drawingml/2006/main">
            <a:r>
              <a:t/>
            </a:r>
          </a:p>
          <a:p xmlns:a="http://schemas.openxmlformats.org/drawingml/2006/main">
            <a:r>
              <a:t>ELEMENTOS QUE CONVIENE EXPLICAR</a:t>
            </a:r>
          </a:p>
          <a:p xmlns:a="http://schemas.openxmlformats.org/drawingml/2006/main">
            <a:r>
              <a:t>Mantener; Variar; Registrar.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Andina Seguros. Pide tres versiones de un saludo sin prometer coberturas.</a:t>
            </a:r>
          </a:p>
          <a:p xmlns:a="http://schemas.openxmlformats.org/drawingml/2006/main">
            <a:r>
              <a:t>Fijar: La tarea y los límites son los mismos.</a:t>
            </a:r>
          </a:p>
          <a:p xmlns:a="http://schemas.openxmlformats.org/drawingml/2006/main">
            <a:r>
              <a:t>Repetir: Ejecutar 02_temperatura.py y observar variación.</a:t>
            </a:r>
          </a:p>
          <a:p xmlns:a="http://schemas.openxmlformats.org/drawingml/2006/main">
            <a:r>
              <a:t>Evaluar: Separar diversidad de redacción y cumplimiento del límite.</a:t>
            </a:r>
          </a:p>
          <a:p xmlns:a="http://schemas.openxmlformats.org/drawingml/2006/main">
            <a:r>
              <a:t>Resultado: Más variedad puede ser útil para redactar; la cobertura requiere fuente.</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¿Una respuesta repetible demuestra que la póliza cubre el caso?</a:t>
            </a:r>
          </a:p>
          <a:p xmlns:a="http://schemas.openxmlformats.org/drawingml/2006/main">
            <a:r>
              <a:t>Orientación para el docente: contraste la respuesta con los criterios del desarrollo y pida evidencia. La conclusión debe respetar: Temperatura baja no es un certificado de exactitud.</a:t>
            </a:r>
          </a:p>
          <a:p xmlns:a="http://schemas.openxmlformats.org/drawingml/2006/main">
            <a:r>
              <a:t/>
            </a:r>
          </a:p>
          <a:p xmlns:a="http://schemas.openxmlformats.org/drawingml/2006/main">
            <a:r>
              <a:t>ERRORES CONCEPTUALES FRECUENTES</a:t>
            </a:r>
          </a:p>
          <a:p xmlns:a="http://schemas.openxmlformats.org/drawingml/2006/main">
            <a:r>
              <a:t>Prometer determinismo absoluto con temperatura cero.</a:t>
            </a:r>
          </a:p>
          <a:p xmlns:a="http://schemas.openxmlformats.org/drawingml/2006/main">
            <a:r>
              <a:t/>
            </a:r>
          </a:p>
          <a:p xmlns:a="http://schemas.openxmlformats.org/drawingml/2006/main">
            <a:r>
              <a:t>CONEXIÓN ANTERIOR</a:t>
            </a:r>
          </a:p>
          <a:p xmlns:a="http://schemas.openxmlformats.org/drawingml/2006/main">
            <a:r>
              <a:t>03: selección del siguiente token; 04–06: entrada y contexto. · Capítulo previo: Dónde vive la conversación</a:t>
            </a:r>
          </a:p>
          <a:p xmlns:a="http://schemas.openxmlformats.org/drawingml/2006/main">
            <a:r>
              <a:t/>
            </a:r>
          </a:p>
          <a:p xmlns:a="http://schemas.openxmlformats.org/drawingml/2006/main">
            <a:r>
              <a:t>CONEXIÓN POSTERIOR</a:t>
            </a:r>
          </a:p>
          <a:p xmlns:a="http://schemas.openxmlformats.org/drawingml/2006/main">
            <a:r>
              <a:t>S7 y S10 evalúan invariantes y métricas en lugar de igualdad exacta de redacción. · Sigue: Alucinación: plausible y falsa</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21 · CAPÍTULO 7 · EJEMPLO</a:t>
            </a:r>
          </a:p>
          <a:p xmlns:a="http://schemas.openxmlformats.org/drawingml/2006/main">
            <a:r>
              <a:t>Título: Andina Seguros · Temperatura y variación</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§5</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Observar cómo cambia la selección de continuaciones al variar la temperatura.</a:t>
            </a:r>
          </a:p>
          <a:p xmlns:a="http://schemas.openxmlformats.org/drawingml/2006/main">
            <a:r>
              <a:t/>
            </a:r>
          </a:p>
          <a:p xmlns:a="http://schemas.openxmlformats.org/drawingml/2006/main">
            <a:r>
              <a:t>CONCEPTO PRINCIPAL</a:t>
            </a:r>
          </a:p>
          <a:p xmlns:a="http://schemas.openxmlformats.org/drawingml/2006/main">
            <a:r>
              <a:t>Temperatura y variación</a:t>
            </a:r>
          </a:p>
          <a:p xmlns:a="http://schemas.openxmlformats.org/drawingml/2006/main">
            <a:r>
              <a:t/>
            </a:r>
          </a:p>
          <a:p xmlns:a="http://schemas.openxmlformats.org/drawingml/2006/main">
            <a:r>
              <a:t>MENSAJE QUE DEBE LLEVARSE EL ALUMNO</a:t>
            </a:r>
          </a:p>
          <a:p xmlns:a="http://schemas.openxmlformats.org/drawingml/2006/main">
            <a:r>
              <a:t>Temperatura baja no es un certificado de exactitud.</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Pide tres versiones de un saludo sin prometer coberturas. Pida una predicción.</a:t>
            </a:r>
          </a:p>
          <a:p xmlns:a="http://schemas.openxmlformats.org/drawingml/2006/main">
            <a:r>
              <a:t/>
            </a:r>
          </a:p>
          <a:p xmlns:a="http://schemas.openxmlformats.org/drawingml/2006/main">
            <a:r>
              <a:t>Fijar: La tarea y los límites son los mismos.</a:t>
            </a:r>
          </a:p>
          <a:p xmlns:a="http://schemas.openxmlformats.org/drawingml/2006/main">
            <a:r>
              <a:t/>
            </a:r>
          </a:p>
          <a:p xmlns:a="http://schemas.openxmlformats.org/drawingml/2006/main">
            <a:r>
              <a:t>Repetir: Ejecutar 02_temperatura.py y observar variación.</a:t>
            </a:r>
          </a:p>
          <a:p xmlns:a="http://schemas.openxmlformats.org/drawingml/2006/main">
            <a:r>
              <a:t/>
            </a:r>
          </a:p>
          <a:p xmlns:a="http://schemas.openxmlformats.org/drawingml/2006/main">
            <a:r>
              <a:t>Evaluar: Separar diversidad de redacción y cumplimiento del límite.</a:t>
            </a:r>
          </a:p>
          <a:p xmlns:a="http://schemas.openxmlformats.org/drawingml/2006/main">
            <a:r>
              <a:t/>
            </a:r>
          </a:p>
          <a:p xmlns:a="http://schemas.openxmlformats.org/drawingml/2006/main">
            <a:r>
              <a:t>Resultado esperado: Más variedad puede ser útil para redactar; la cobertura requiere fuente.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Presente la pregunta real de la demo: explicar en una frase qué es un agente de IA a un ingeniero. Pida anticipar qué pasará a 0.0, 0.7 y 1.5. Cada columna muestra de manera conceptual cuán concentrada puede quedar la selección; las barras no contienen probabilidades medidas. Ejecute la demo y compare las tres respuestas de cada grupo.</a:t>
            </a:r>
          </a:p>
          <a:p xmlns:a="http://schemas.openxmlformats.org/drawingml/2006/main">
            <a:r>
              <a:t/>
            </a:r>
          </a:p>
          <a:p xmlns:a="http://schemas.openxmlformats.org/drawingml/2006/main">
            <a:r>
              <a:t>El script calcula si las cadenas son idénticas y un solapamiento de conjuntos de palabras. Explique que esa métrica de palabras no equivale a calidad semántica ni a evaluación completa. Dos redacciones diferentes pueden expresar lo mismo. El curso fija temperatura cero para sus laboratorios buscando menor variación, pero debe evaluar resultados reales y contemplar diferencias del servidor. Cierre distinguiendo tres preguntas: ¿se repite?, ¿cumple la tarea?, ¿es correcta?</a:t>
            </a:r>
          </a:p>
          <a:p xmlns:a="http://schemas.openxmlformats.org/drawingml/2006/main">
            <a:r>
              <a:t/>
            </a:r>
          </a:p>
          <a:p xmlns:a="http://schemas.openxmlformats.org/drawingml/2006/main">
            <a:r>
              <a:t>ELEMENTOS QUE CONVIENE EXPLICAR</a:t>
            </a:r>
          </a:p>
          <a:p xmlns:a="http://schemas.openxmlformats.org/drawingml/2006/main">
            <a:r>
              <a:t>Fijar; Repetir; Evaluar.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Andina Seguros. Pide tres versiones de un saludo sin prometer coberturas.</a:t>
            </a:r>
          </a:p>
          <a:p xmlns:a="http://schemas.openxmlformats.org/drawingml/2006/main">
            <a:r>
              <a:t>Fijar: La tarea y los límites son los mismos.</a:t>
            </a:r>
          </a:p>
          <a:p xmlns:a="http://schemas.openxmlformats.org/drawingml/2006/main">
            <a:r>
              <a:t>Repetir: Ejecutar 02_temperatura.py y observar variación.</a:t>
            </a:r>
          </a:p>
          <a:p xmlns:a="http://schemas.openxmlformats.org/drawingml/2006/main">
            <a:r>
              <a:t>Evaluar: Separar diversidad de redacción y cumplimiento del límite.</a:t>
            </a:r>
          </a:p>
          <a:p xmlns:a="http://schemas.openxmlformats.org/drawingml/2006/main">
            <a:r>
              <a:t>Resultado: Más variedad puede ser útil para redactar; la cobertura requiere fuente.</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¿Una respuesta repetible demuestra que la póliza cubre el caso?</a:t>
            </a:r>
          </a:p>
          <a:p xmlns:a="http://schemas.openxmlformats.org/drawingml/2006/main">
            <a:r>
              <a:t>Orientación para el docente: contraste la respuesta con los criterios del desarrollo y pida evidencia. La conclusión debe respetar: Temperatura baja no es un certificado de exactitud.</a:t>
            </a:r>
          </a:p>
          <a:p xmlns:a="http://schemas.openxmlformats.org/drawingml/2006/main">
            <a:r>
              <a:t/>
            </a:r>
          </a:p>
          <a:p xmlns:a="http://schemas.openxmlformats.org/drawingml/2006/main">
            <a:r>
              <a:t>ERRORES CONCEPTUALES FRECUENTES</a:t>
            </a:r>
          </a:p>
          <a:p xmlns:a="http://schemas.openxmlformats.org/drawingml/2006/main">
            <a:r>
              <a:t>Prometer determinismo absoluto con temperatura cero.</a:t>
            </a:r>
          </a:p>
          <a:p xmlns:a="http://schemas.openxmlformats.org/drawingml/2006/main">
            <a:r>
              <a:t/>
            </a:r>
          </a:p>
          <a:p xmlns:a="http://schemas.openxmlformats.org/drawingml/2006/main">
            <a:r>
              <a:t>CONEXIÓN ANTERIOR</a:t>
            </a:r>
          </a:p>
          <a:p xmlns:a="http://schemas.openxmlformats.org/drawingml/2006/main">
            <a:r>
              <a:t>03: selección del siguiente token; 04–06: entrada y contexto. · Capítulo previo: Dónde vive la conversación</a:t>
            </a:r>
          </a:p>
          <a:p xmlns:a="http://schemas.openxmlformats.org/drawingml/2006/main">
            <a:r>
              <a:t/>
            </a:r>
          </a:p>
          <a:p xmlns:a="http://schemas.openxmlformats.org/drawingml/2006/main">
            <a:r>
              <a:t>CONEXIÓN POSTERIOR</a:t>
            </a:r>
          </a:p>
          <a:p xmlns:a="http://schemas.openxmlformats.org/drawingml/2006/main">
            <a:r>
              <a:t>S7 y S10 evalúan invariantes y métricas en lugar de igualdad exacta de redacción. · Sigue: Alucinación: plausible y falsa</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22 · CAPÍTULO 8 · CONCEPTO</a:t>
            </a:r>
          </a:p>
          <a:p xmlns:a="http://schemas.openxmlformats.org/drawingml/2006/main">
            <a:r>
              <a:t>Título: Alucinación: plausible y falsa</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§6 · A</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Detectar afirmaciones sin respaldo aunque parezcan convincentes.</a:t>
            </a:r>
          </a:p>
          <a:p xmlns:a="http://schemas.openxmlformats.org/drawingml/2006/main">
            <a:r>
              <a:t/>
            </a:r>
          </a:p>
          <a:p xmlns:a="http://schemas.openxmlformats.org/drawingml/2006/main">
            <a:r>
              <a:t>CONCEPTO PRINCIPAL</a:t>
            </a:r>
          </a:p>
          <a:p xmlns:a="http://schemas.openxmlformats.org/drawingml/2006/main">
            <a:r>
              <a:t>Alucinación: plausible y falsa</a:t>
            </a:r>
          </a:p>
          <a:p xmlns:a="http://schemas.openxmlformats.org/drawingml/2006/main">
            <a:r>
              <a:t/>
            </a:r>
          </a:p>
          <a:p xmlns:a="http://schemas.openxmlformats.org/drawingml/2006/main">
            <a:r>
              <a:t>MENSAJE QUE DEBE LLEVARSE EL ALUMNO</a:t>
            </a:r>
          </a:p>
          <a:p xmlns:a="http://schemas.openxmlformats.org/drawingml/2006/main">
            <a:r>
              <a:t>Una afirmación necesita evidencia proporcional a su consecuencia.</a:t>
            </a:r>
          </a:p>
          <a:p xmlns:a="http://schemas.openxmlformats.org/drawingml/2006/main">
            <a:r>
              <a:t/>
            </a:r>
          </a:p>
          <a:p xmlns:a="http://schemas.openxmlformats.org/drawingml/2006/main">
            <a:r>
              <a:t>EXPLICACIÓN SUGERIDA PARA EL DOCENTE</a:t>
            </a:r>
          </a:p>
          <a:p xmlns:a="http://schemas.openxmlformats.org/drawingml/2006/main">
            <a:r>
              <a:t>Abra con la pregunta «¿Qué evidencia pedirías antes de aceptar la cobertura?».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Petición: El usuario solicita una condición concreta del servicio.</a:t>
            </a:r>
          </a:p>
          <a:p xmlns:a="http://schemas.openxmlformats.org/drawingml/2006/main">
            <a:r>
              <a:t/>
            </a:r>
          </a:p>
          <a:p xmlns:a="http://schemas.openxmlformats.org/drawingml/2006/main">
            <a:r>
              <a:t>Respuesta plausible: El modelo produce un número o regla sin consultar.</a:t>
            </a:r>
          </a:p>
          <a:p xmlns:a="http://schemas.openxmlformats.org/drawingml/2006/main">
            <a:r>
              <a:t/>
            </a:r>
          </a:p>
          <a:p xmlns:a="http://schemas.openxmlformats.org/drawingml/2006/main">
            <a:r>
              <a:t>Contraste: El documento vigente no respalda esa afirmación.</a:t>
            </a:r>
          </a:p>
          <a:p xmlns:a="http://schemas.openxmlformats.org/drawingml/2006/main">
            <a:r>
              <a:t/>
            </a:r>
          </a:p>
          <a:p xmlns:a="http://schemas.openxmlformats.org/drawingml/2006/main">
            <a:r>
              <a:t>Cierre con la distinción: Una afirmación necesita evidencia proporcional a su consecuencia.</a:t>
            </a:r>
          </a:p>
          <a:p xmlns:a="http://schemas.openxmlformats.org/drawingml/2006/main">
            <a:r>
              <a:t/>
            </a:r>
          </a:p>
          <a:p xmlns:a="http://schemas.openxmlformats.org/drawingml/2006/main">
            <a:r>
              <a:t>AMPLIACIÓN DEL MATERIAL APROBADO</a:t>
            </a:r>
          </a:p>
          <a:p xmlns:a="http://schemas.openxmlformats.org/drawingml/2006/main">
            <a:r>
              <a:t>Indique expresamente que las condiciones de MercaSur de esta lámina son ficticias para el ejercicio. Lea primero la respuesta «30 días» y pregunte si la redacción permite detectar un fallo. Después revele el documento que fija siete días. El problema no está en la sintaxis de la frase ni necesariamente en HTTP, sino en la afirmación sobre la política.</a:t>
            </a:r>
          </a:p>
          <a:p xmlns:a="http://schemas.openxmlformats.org/drawingml/2006/main">
            <a:r>
              <a:t/>
            </a:r>
          </a:p>
          <a:p xmlns:a="http://schemas.openxmlformats.org/drawingml/2006/main">
            <a:r>
              <a:t>Evite trasladar el ejemplo a una regla de comercio real. El objetivo es enseñar cómo detectar falta de respaldo documental. Una respuesta falsa puede sonar tan segura como una correcta. Pregunte si bajar la temperatura solucionaría el desacuerdo; conecte con la lámina anterior: repetir una cifra equivocada no la vuelve válida. Prepare la siguiente imagen planteando de dónde obtener el dato y dónde impedir una promesa fuera de política.</a:t>
            </a:r>
          </a:p>
          <a:p xmlns:a="http://schemas.openxmlformats.org/drawingml/2006/main">
            <a:r>
              <a:t/>
            </a:r>
          </a:p>
          <a:p xmlns:a="http://schemas.openxmlformats.org/drawingml/2006/main">
            <a:r>
              <a:t>ELEMENTOS QUE CONVIENE EXPLICAR</a:t>
            </a:r>
          </a:p>
          <a:p xmlns:a="http://schemas.openxmlformats.org/drawingml/2006/main">
            <a:r>
              <a:t>Petición; Respuesta plausible; Contraste.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Andina Seguros. El asistente afirma que una exclusión está cubierta sin leer la póliza.</a:t>
            </a:r>
          </a:p>
          <a:p xmlns:a="http://schemas.openxmlformats.org/drawingml/2006/main">
            <a:r>
              <a:t>Identificar: La cobertura es una afirmación verificable.</a:t>
            </a:r>
          </a:p>
          <a:p xmlns:a="http://schemas.openxmlformats.org/drawingml/2006/main">
            <a:r>
              <a:t>Buscar: Revisar la cláusula aplicable de la póliza.</a:t>
            </a:r>
          </a:p>
          <a:p xmlns:a="http://schemas.openxmlformats.org/drawingml/2006/main">
            <a:r>
              <a:t>Responder: Si no hay respaldo, reconocer el límite y derivar.</a:t>
            </a:r>
          </a:p>
          <a:p xmlns:a="http://schemas.openxmlformats.org/drawingml/2006/main">
            <a:r>
              <a:t>Resultado: No se debe prometer cobertura a partir de una continuación plausible.</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evidencia pedirías antes de aceptar la cobertura?</a:t>
            </a:r>
          </a:p>
          <a:p xmlns:a="http://schemas.openxmlformats.org/drawingml/2006/main">
            <a:r>
              <a:t>Orientación para el docente: contraste la respuesta con los criterios del desarrollo y pida evidencia. La conclusión debe respetar: Una afirmación necesita evidencia proporcional a su consecuencia.</a:t>
            </a:r>
          </a:p>
          <a:p xmlns:a="http://schemas.openxmlformats.org/drawingml/2006/main">
            <a:r>
              <a:t/>
            </a:r>
          </a:p>
          <a:p xmlns:a="http://schemas.openxmlformats.org/drawingml/2006/main">
            <a:r>
              <a:t>ERRORES CONCEPTUALES FRECUENTES</a:t>
            </a:r>
          </a:p>
          <a:p xmlns:a="http://schemas.openxmlformats.org/drawingml/2006/main">
            <a:r>
              <a:t>Confundir detalle o seguridad verbal con respaldo.</a:t>
            </a:r>
          </a:p>
          <a:p xmlns:a="http://schemas.openxmlformats.org/drawingml/2006/main">
            <a:r>
              <a:t/>
            </a:r>
          </a:p>
          <a:p xmlns:a="http://schemas.openxmlformats.org/drawingml/2006/main">
            <a:r>
              <a:t>CONEXIÓN ANTERIOR</a:t>
            </a:r>
          </a:p>
          <a:p xmlns:a="http://schemas.openxmlformats.org/drawingml/2006/main">
            <a:r>
              <a:t>02 distingue transporte y contenido; 07 muestra que repetibilidad no equivale a verdad. · Capítulo previo: Temperatura y variación</a:t>
            </a:r>
          </a:p>
          <a:p xmlns:a="http://schemas.openxmlformats.org/drawingml/2006/main">
            <a:r>
              <a:t/>
            </a:r>
          </a:p>
          <a:p xmlns:a="http://schemas.openxmlformats.org/drawingml/2006/main">
            <a:r>
              <a:t>CONEXIÓN POSTERIOR</a:t>
            </a:r>
          </a:p>
          <a:p xmlns:a="http://schemas.openxmlformats.org/drawingml/2006/main">
            <a:r>
              <a:t>09 presenta defensas complementarias; S5 implementa recuperación y citas. · Sigue: Tres defensas complementarias</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23 · CAPÍTULO 8 · DESARROLLO</a:t>
            </a:r>
          </a:p>
          <a:p xmlns:a="http://schemas.openxmlformats.org/drawingml/2006/main">
            <a:r>
              <a:t>Título: Separar apariencia de evidencia</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§6 · A</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Detectar afirmaciones sin respaldo aunque parezcan convincentes.</a:t>
            </a:r>
          </a:p>
          <a:p xmlns:a="http://schemas.openxmlformats.org/drawingml/2006/main">
            <a:r>
              <a:t/>
            </a:r>
          </a:p>
          <a:p xmlns:a="http://schemas.openxmlformats.org/drawingml/2006/main">
            <a:r>
              <a:t>CONCEPTO PRINCIPAL</a:t>
            </a:r>
          </a:p>
          <a:p xmlns:a="http://schemas.openxmlformats.org/drawingml/2006/main">
            <a:r>
              <a:t>Alucinación: plausible y falsa</a:t>
            </a:r>
          </a:p>
          <a:p xmlns:a="http://schemas.openxmlformats.org/drawingml/2006/main">
            <a:r>
              <a:t/>
            </a:r>
          </a:p>
          <a:p xmlns:a="http://schemas.openxmlformats.org/drawingml/2006/main">
            <a:r>
              <a:t>MENSAJE QUE DEBE LLEVARSE EL ALUMNO</a:t>
            </a:r>
          </a:p>
          <a:p xmlns:a="http://schemas.openxmlformats.org/drawingml/2006/main">
            <a:r>
              <a:t>Una afirmación necesita evidencia proporcional a su consecuencia.</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Fluidez: Una explicación clara puede ocultar un dato inventado.</a:t>
            </a:r>
          </a:p>
          <a:p xmlns:a="http://schemas.openxmlformats.org/drawingml/2006/main">
            <a:r>
              <a:t/>
            </a:r>
          </a:p>
          <a:p xmlns:a="http://schemas.openxmlformats.org/drawingml/2006/main">
            <a:r>
              <a:t>Confianza: El tono seguro no mide la verdad de la respuesta.</a:t>
            </a:r>
          </a:p>
          <a:p xmlns:a="http://schemas.openxmlformats.org/drawingml/2006/main">
            <a:r>
              <a:t/>
            </a:r>
          </a:p>
          <a:p xmlns:a="http://schemas.openxmlformats.org/drawingml/2006/main">
            <a:r>
              <a:t>Fuente: Verificar el dato y la vigencia del documento usado.</a:t>
            </a:r>
          </a:p>
          <a:p xmlns:a="http://schemas.openxmlformats.org/drawingml/2006/main">
            <a:r>
              <a:t/>
            </a:r>
          </a:p>
          <a:p xmlns:a="http://schemas.openxmlformats.org/drawingml/2006/main">
            <a:r>
              <a:t>Contraste la regla con este error: Confundir detalle o seguridad verbal con respaldo.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Indique expresamente que las condiciones de MercaSur de esta lámina son ficticias para el ejercicio. Lea primero la respuesta «30 días» y pregunte si la redacción permite detectar un fallo. Después revele el documento que fija siete días. El problema no está en la sintaxis de la frase ni necesariamente en HTTP, sino en la afirmación sobre la política.</a:t>
            </a:r>
          </a:p>
          <a:p xmlns:a="http://schemas.openxmlformats.org/drawingml/2006/main">
            <a:r>
              <a:t/>
            </a:r>
          </a:p>
          <a:p xmlns:a="http://schemas.openxmlformats.org/drawingml/2006/main">
            <a:r>
              <a:t>Evite trasladar el ejemplo a una regla de comercio real. El objetivo es enseñar cómo detectar falta de respaldo documental. Una respuesta falsa puede sonar tan segura como una correcta. Pregunte si bajar la temperatura solucionaría el desacuerdo; conecte con la lámina anterior: repetir una cifra equivocada no la vuelve válida. Prepare la siguiente imagen planteando de dónde obtener el dato y dónde impedir una promesa fuera de política.</a:t>
            </a:r>
          </a:p>
          <a:p xmlns:a="http://schemas.openxmlformats.org/drawingml/2006/main">
            <a:r>
              <a:t/>
            </a:r>
          </a:p>
          <a:p xmlns:a="http://schemas.openxmlformats.org/drawingml/2006/main">
            <a:r>
              <a:t>ELEMENTOS QUE CONVIENE EXPLICAR</a:t>
            </a:r>
          </a:p>
          <a:p xmlns:a="http://schemas.openxmlformats.org/drawingml/2006/main">
            <a:r>
              <a:t>Fluidez; Confianza; Fuente.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Andina Seguros. El asistente afirma que una exclusión está cubierta sin leer la póliza.</a:t>
            </a:r>
          </a:p>
          <a:p xmlns:a="http://schemas.openxmlformats.org/drawingml/2006/main">
            <a:r>
              <a:t>Identificar: La cobertura es una afirmación verificable.</a:t>
            </a:r>
          </a:p>
          <a:p xmlns:a="http://schemas.openxmlformats.org/drawingml/2006/main">
            <a:r>
              <a:t>Buscar: Revisar la cláusula aplicable de la póliza.</a:t>
            </a:r>
          </a:p>
          <a:p xmlns:a="http://schemas.openxmlformats.org/drawingml/2006/main">
            <a:r>
              <a:t>Responder: Si no hay respaldo, reconocer el límite y derivar.</a:t>
            </a:r>
          </a:p>
          <a:p xmlns:a="http://schemas.openxmlformats.org/drawingml/2006/main">
            <a:r>
              <a:t>Resultado: No se debe prometer cobertura a partir de una continuación plausible.</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evidencia pedirías antes de aceptar la cobertura?</a:t>
            </a:r>
          </a:p>
          <a:p xmlns:a="http://schemas.openxmlformats.org/drawingml/2006/main">
            <a:r>
              <a:t>Orientación para el docente: contraste la respuesta con los criterios del desarrollo y pida evidencia. La conclusión debe respetar: Una afirmación necesita evidencia proporcional a su consecuencia.</a:t>
            </a:r>
          </a:p>
          <a:p xmlns:a="http://schemas.openxmlformats.org/drawingml/2006/main">
            <a:r>
              <a:t/>
            </a:r>
          </a:p>
          <a:p xmlns:a="http://schemas.openxmlformats.org/drawingml/2006/main">
            <a:r>
              <a:t>ERRORES CONCEPTUALES FRECUENTES</a:t>
            </a:r>
          </a:p>
          <a:p xmlns:a="http://schemas.openxmlformats.org/drawingml/2006/main">
            <a:r>
              <a:t>Confundir detalle o seguridad verbal con respaldo.</a:t>
            </a:r>
          </a:p>
          <a:p xmlns:a="http://schemas.openxmlformats.org/drawingml/2006/main">
            <a:r>
              <a:t/>
            </a:r>
          </a:p>
          <a:p xmlns:a="http://schemas.openxmlformats.org/drawingml/2006/main">
            <a:r>
              <a:t>CONEXIÓN ANTERIOR</a:t>
            </a:r>
          </a:p>
          <a:p xmlns:a="http://schemas.openxmlformats.org/drawingml/2006/main">
            <a:r>
              <a:t>02 distingue transporte y contenido; 07 muestra que repetibilidad no equivale a verdad. · Capítulo previo: Temperatura y variación</a:t>
            </a:r>
          </a:p>
          <a:p xmlns:a="http://schemas.openxmlformats.org/drawingml/2006/main">
            <a:r>
              <a:t/>
            </a:r>
          </a:p>
          <a:p xmlns:a="http://schemas.openxmlformats.org/drawingml/2006/main">
            <a:r>
              <a:t>CONEXIÓN POSTERIOR</a:t>
            </a:r>
          </a:p>
          <a:p xmlns:a="http://schemas.openxmlformats.org/drawingml/2006/main">
            <a:r>
              <a:t>09 presenta defensas complementarias; S5 implementa recuperación y citas. · Sigue: Tres defensas complementarias</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24 · CAPÍTULO 8 · EJEMPLO</a:t>
            </a:r>
          </a:p>
          <a:p xmlns:a="http://schemas.openxmlformats.org/drawingml/2006/main">
            <a:r>
              <a:t>Título: Andina Seguros · Alucinación: plausible y falsa</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§6 · A</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Detectar afirmaciones sin respaldo aunque parezcan convincentes.</a:t>
            </a:r>
          </a:p>
          <a:p xmlns:a="http://schemas.openxmlformats.org/drawingml/2006/main">
            <a:r>
              <a:t/>
            </a:r>
          </a:p>
          <a:p xmlns:a="http://schemas.openxmlformats.org/drawingml/2006/main">
            <a:r>
              <a:t>CONCEPTO PRINCIPAL</a:t>
            </a:r>
          </a:p>
          <a:p xmlns:a="http://schemas.openxmlformats.org/drawingml/2006/main">
            <a:r>
              <a:t>Alucinación: plausible y falsa</a:t>
            </a:r>
          </a:p>
          <a:p xmlns:a="http://schemas.openxmlformats.org/drawingml/2006/main">
            <a:r>
              <a:t/>
            </a:r>
          </a:p>
          <a:p xmlns:a="http://schemas.openxmlformats.org/drawingml/2006/main">
            <a:r>
              <a:t>MENSAJE QUE DEBE LLEVARSE EL ALUMNO</a:t>
            </a:r>
          </a:p>
          <a:p xmlns:a="http://schemas.openxmlformats.org/drawingml/2006/main">
            <a:r>
              <a:t>Una afirmación necesita evidencia proporcional a su consecuencia.</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El asistente afirma que una exclusión está cubierta sin leer la póliza. Pida una predicción.</a:t>
            </a:r>
          </a:p>
          <a:p xmlns:a="http://schemas.openxmlformats.org/drawingml/2006/main">
            <a:r>
              <a:t/>
            </a:r>
          </a:p>
          <a:p xmlns:a="http://schemas.openxmlformats.org/drawingml/2006/main">
            <a:r>
              <a:t>Identificar: La cobertura es una afirmación verificable.</a:t>
            </a:r>
          </a:p>
          <a:p xmlns:a="http://schemas.openxmlformats.org/drawingml/2006/main">
            <a:r>
              <a:t/>
            </a:r>
          </a:p>
          <a:p xmlns:a="http://schemas.openxmlformats.org/drawingml/2006/main">
            <a:r>
              <a:t>Buscar: Revisar la cláusula aplicable de la póliza.</a:t>
            </a:r>
          </a:p>
          <a:p xmlns:a="http://schemas.openxmlformats.org/drawingml/2006/main">
            <a:r>
              <a:t/>
            </a:r>
          </a:p>
          <a:p xmlns:a="http://schemas.openxmlformats.org/drawingml/2006/main">
            <a:r>
              <a:t>Responder: Si no hay respaldo, reconocer el límite y derivar.</a:t>
            </a:r>
          </a:p>
          <a:p xmlns:a="http://schemas.openxmlformats.org/drawingml/2006/main">
            <a:r>
              <a:t/>
            </a:r>
          </a:p>
          <a:p xmlns:a="http://schemas.openxmlformats.org/drawingml/2006/main">
            <a:r>
              <a:t>Resultado esperado: No se debe prometer cobertura a partir de una continuación plausible.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Indique expresamente que las condiciones de MercaSur de esta lámina son ficticias para el ejercicio. Lea primero la respuesta «30 días» y pregunte si la redacción permite detectar un fallo. Después revele el documento que fija siete días. El problema no está en la sintaxis de la frase ni necesariamente en HTTP, sino en la afirmación sobre la política.</a:t>
            </a:r>
          </a:p>
          <a:p xmlns:a="http://schemas.openxmlformats.org/drawingml/2006/main">
            <a:r>
              <a:t/>
            </a:r>
          </a:p>
          <a:p xmlns:a="http://schemas.openxmlformats.org/drawingml/2006/main">
            <a:r>
              <a:t>Evite trasladar el ejemplo a una regla de comercio real. El objetivo es enseñar cómo detectar falta de respaldo documental. Una respuesta falsa puede sonar tan segura como una correcta. Pregunte si bajar la temperatura solucionaría el desacuerdo; conecte con la lámina anterior: repetir una cifra equivocada no la vuelve válida. Prepare la siguiente imagen planteando de dónde obtener el dato y dónde impedir una promesa fuera de política.</a:t>
            </a:r>
          </a:p>
          <a:p xmlns:a="http://schemas.openxmlformats.org/drawingml/2006/main">
            <a:r>
              <a:t/>
            </a:r>
          </a:p>
          <a:p xmlns:a="http://schemas.openxmlformats.org/drawingml/2006/main">
            <a:r>
              <a:t>ELEMENTOS QUE CONVIENE EXPLICAR</a:t>
            </a:r>
          </a:p>
          <a:p xmlns:a="http://schemas.openxmlformats.org/drawingml/2006/main">
            <a:r>
              <a:t>Identificar; Buscar; Responder.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Andina Seguros. El asistente afirma que una exclusión está cubierta sin leer la póliza.</a:t>
            </a:r>
          </a:p>
          <a:p xmlns:a="http://schemas.openxmlformats.org/drawingml/2006/main">
            <a:r>
              <a:t>Identificar: La cobertura es una afirmación verificable.</a:t>
            </a:r>
          </a:p>
          <a:p xmlns:a="http://schemas.openxmlformats.org/drawingml/2006/main">
            <a:r>
              <a:t>Buscar: Revisar la cláusula aplicable de la póliza.</a:t>
            </a:r>
          </a:p>
          <a:p xmlns:a="http://schemas.openxmlformats.org/drawingml/2006/main">
            <a:r>
              <a:t>Responder: Si no hay respaldo, reconocer el límite y derivar.</a:t>
            </a:r>
          </a:p>
          <a:p xmlns:a="http://schemas.openxmlformats.org/drawingml/2006/main">
            <a:r>
              <a:t>Resultado: No se debe prometer cobertura a partir de una continuación plausible.</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evidencia pedirías antes de aceptar la cobertura?</a:t>
            </a:r>
          </a:p>
          <a:p xmlns:a="http://schemas.openxmlformats.org/drawingml/2006/main">
            <a:r>
              <a:t>Orientación para el docente: contraste la respuesta con los criterios del desarrollo y pida evidencia. La conclusión debe respetar: Una afirmación necesita evidencia proporcional a su consecuencia.</a:t>
            </a:r>
          </a:p>
          <a:p xmlns:a="http://schemas.openxmlformats.org/drawingml/2006/main">
            <a:r>
              <a:t/>
            </a:r>
          </a:p>
          <a:p xmlns:a="http://schemas.openxmlformats.org/drawingml/2006/main">
            <a:r>
              <a:t>ERRORES CONCEPTUALES FRECUENTES</a:t>
            </a:r>
          </a:p>
          <a:p xmlns:a="http://schemas.openxmlformats.org/drawingml/2006/main">
            <a:r>
              <a:t>Confundir detalle o seguridad verbal con respaldo.</a:t>
            </a:r>
          </a:p>
          <a:p xmlns:a="http://schemas.openxmlformats.org/drawingml/2006/main">
            <a:r>
              <a:t/>
            </a:r>
          </a:p>
          <a:p xmlns:a="http://schemas.openxmlformats.org/drawingml/2006/main">
            <a:r>
              <a:t>CONEXIÓN ANTERIOR</a:t>
            </a:r>
          </a:p>
          <a:p xmlns:a="http://schemas.openxmlformats.org/drawingml/2006/main">
            <a:r>
              <a:t>02 distingue transporte y contenido; 07 muestra que repetibilidad no equivale a verdad. · Capítulo previo: Temperatura y variación</a:t>
            </a:r>
          </a:p>
          <a:p xmlns:a="http://schemas.openxmlformats.org/drawingml/2006/main">
            <a:r>
              <a:t/>
            </a:r>
          </a:p>
          <a:p xmlns:a="http://schemas.openxmlformats.org/drawingml/2006/main">
            <a:r>
              <a:t>CONEXIÓN POSTERIOR</a:t>
            </a:r>
          </a:p>
          <a:p xmlns:a="http://schemas.openxmlformats.org/drawingml/2006/main">
            <a:r>
              <a:t>09 presenta defensas complementarias; S5 implementa recuperación y citas. · Sigue: Tres defensas complementarias</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25 · CAPÍTULO 9 · CONCEPTO</a:t>
            </a:r>
          </a:p>
          <a:p xmlns:a="http://schemas.openxmlformats.org/drawingml/2006/main">
            <a:r>
              <a:t>Título: Tres defensas complementarias</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§6 · B</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Distinguir instrucciones, fuentes y comprobaciones de salida.</a:t>
            </a:r>
          </a:p>
          <a:p xmlns:a="http://schemas.openxmlformats.org/drawingml/2006/main">
            <a:r>
              <a:t/>
            </a:r>
          </a:p>
          <a:p xmlns:a="http://schemas.openxmlformats.org/drawingml/2006/main">
            <a:r>
              <a:t>CONCEPTO PRINCIPAL</a:t>
            </a:r>
          </a:p>
          <a:p xmlns:a="http://schemas.openxmlformats.org/drawingml/2006/main">
            <a:r>
              <a:t>Tres defensas complementarias</a:t>
            </a:r>
          </a:p>
          <a:p xmlns:a="http://schemas.openxmlformats.org/drawingml/2006/main">
            <a:r>
              <a:t/>
            </a:r>
          </a:p>
          <a:p xmlns:a="http://schemas.openxmlformats.org/drawingml/2006/main">
            <a:r>
              <a:t>MENSAJE QUE DEBE LLEVARSE EL ALUMNO</a:t>
            </a:r>
          </a:p>
          <a:p xmlns:a="http://schemas.openxmlformats.org/drawingml/2006/main">
            <a:r>
              <a:t>Ninguna defensa aislada elimina todos los errores.</a:t>
            </a:r>
          </a:p>
          <a:p xmlns:a="http://schemas.openxmlformats.org/drawingml/2006/main">
            <a:r>
              <a:t/>
            </a:r>
          </a:p>
          <a:p xmlns:a="http://schemas.openxmlformats.org/drawingml/2006/main">
            <a:r>
              <a:t>EXPLICACIÓN SUGERIDA PARA EL DOCENTE</a:t>
            </a:r>
          </a:p>
          <a:p xmlns:a="http://schemas.openxmlformats.org/drawingml/2006/main">
            <a:r>
              <a:t>Abra con la pregunta «¿Qué defensa faltaría si el JSON es correcto pero el dato es inventado?».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Prompt: Define tarea, límites y cómo expresar incertidumbre.</a:t>
            </a:r>
          </a:p>
          <a:p xmlns:a="http://schemas.openxmlformats.org/drawingml/2006/main">
            <a:r>
              <a:t/>
            </a:r>
          </a:p>
          <a:p xmlns:a="http://schemas.openxmlformats.org/drawingml/2006/main">
            <a:r>
              <a:t>Fuente externa: Tools o RAG aportan datos pertinentes al caso.</a:t>
            </a:r>
          </a:p>
          <a:p xmlns:a="http://schemas.openxmlformats.org/drawingml/2006/main">
            <a:r>
              <a:t/>
            </a:r>
          </a:p>
          <a:p xmlns:a="http://schemas.openxmlformats.org/drawingml/2006/main">
            <a:r>
              <a:t>Validación: Comprueba formato, restricciones y evidencia requerida.</a:t>
            </a:r>
          </a:p>
          <a:p xmlns:a="http://schemas.openxmlformats.org/drawingml/2006/main">
            <a:r>
              <a:t/>
            </a:r>
          </a:p>
          <a:p xmlns:a="http://schemas.openxmlformats.org/drawingml/2006/main">
            <a:r>
              <a:t>Cierre con la distinción: Ninguna defensa aislada elimina todos los errores.</a:t>
            </a:r>
          </a:p>
          <a:p xmlns:a="http://schemas.openxmlformats.org/drawingml/2006/main">
            <a:r>
              <a:t/>
            </a:r>
          </a:p>
          <a:p xmlns:a="http://schemas.openxmlformats.org/drawingml/2006/main">
            <a:r>
              <a:t>AMPLIACIÓN DEL MATERIAL APROBADO</a:t>
            </a:r>
          </a:p>
          <a:p xmlns:a="http://schemas.openxmlformats.org/drawingml/2006/main">
            <a:r>
              <a:t>Retome el caso de MercaSur. Para saber si el pedido fue entregado, se consulta una tool. Para conocer las condiciones de devolución, se recupera la política por RAG. Para impedir una autorización fuera de límites, se aplica una regla de código. Las tres cajas responden preguntas distintas; no son sinónimos ni sustitutos automáticos.</a:t>
            </a:r>
          </a:p>
          <a:p xmlns:a="http://schemas.openxmlformats.org/drawingml/2006/main">
            <a:r>
              <a:t/>
            </a:r>
          </a:p>
          <a:p xmlns:a="http://schemas.openxmlformats.org/drawingml/2006/main">
            <a:r>
              <a:t>Explique que el diagrama combina contribuciones y no obliga a ejecutar las tres en serie en cada consulta. Una herramienta puede fallar, un documento puede estar desactualizado y un guardrail puede ser incompleto. Por eso se evalúa el conjunto. Este es un anticipo para reconocer conceptos, no una instrucción para implementar RAG en S0. Señale las etiquetas S3–S4, S5 y S6 para situar cuándo se profundiza cada mecanismo.</a:t>
            </a:r>
          </a:p>
          <a:p xmlns:a="http://schemas.openxmlformats.org/drawingml/2006/main">
            <a:r>
              <a:t/>
            </a:r>
          </a:p>
          <a:p xmlns:a="http://schemas.openxmlformats.org/drawingml/2006/main">
            <a:r>
              <a:t>ELEMENTOS QUE CONVIENE EXPLICAR</a:t>
            </a:r>
          </a:p>
          <a:p xmlns:a="http://schemas.openxmlformats.org/drawingml/2006/main">
            <a:r>
              <a:t>Prompt; Fuente externa; Validación.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El cliente pregunta una comisión que depende de su producto.</a:t>
            </a:r>
          </a:p>
          <a:p xmlns:a="http://schemas.openxmlformats.org/drawingml/2006/main">
            <a:r>
              <a:t>Instruir: No inventar importes ni condiciones.</a:t>
            </a:r>
          </a:p>
          <a:p xmlns:a="http://schemas.openxmlformats.org/drawingml/2006/main">
            <a:r>
              <a:t>Consultar: Obtener información del producto y la norma pertinente.</a:t>
            </a:r>
          </a:p>
          <a:p xmlns:a="http://schemas.openxmlformats.org/drawingml/2006/main">
            <a:r>
              <a:t>Comprobar: La respuesta debe coincidir con lo recuperado.</a:t>
            </a:r>
          </a:p>
          <a:p xmlns:a="http://schemas.openxmlformats.org/drawingml/2006/main">
            <a:r>
              <a:t>Resultado: Si no se obtiene la fuente, se informa el límite; no se rellena el vacío.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defensa faltaría si el JSON es correcto pero el dato es inventado?</a:t>
            </a:r>
          </a:p>
          <a:p xmlns:a="http://schemas.openxmlformats.org/drawingml/2006/main">
            <a:r>
              <a:t>Orientación para el docente: contraste la respuesta con los criterios del desarrollo y pida evidencia. La conclusión debe respetar: Ninguna defensa aislada elimina todos los errores.</a:t>
            </a:r>
          </a:p>
          <a:p xmlns:a="http://schemas.openxmlformats.org/drawingml/2006/main">
            <a:r>
              <a:t/>
            </a:r>
          </a:p>
          <a:p xmlns:a="http://schemas.openxmlformats.org/drawingml/2006/main">
            <a:r>
              <a:t>ERRORES CONCEPTUALES FRECUENTES</a:t>
            </a:r>
          </a:p>
          <a:p xmlns:a="http://schemas.openxmlformats.org/drawingml/2006/main">
            <a:r>
              <a:t>Creer que una instrucción de no alucinar basta.</a:t>
            </a:r>
          </a:p>
          <a:p xmlns:a="http://schemas.openxmlformats.org/drawingml/2006/main">
            <a:r>
              <a:t/>
            </a:r>
          </a:p>
          <a:p xmlns:a="http://schemas.openxmlformats.org/drawingml/2006/main">
            <a:r>
              <a:t>CONEXIÓN ANTERIOR</a:t>
            </a:r>
          </a:p>
          <a:p xmlns:a="http://schemas.openxmlformats.org/drawingml/2006/main">
            <a:r>
              <a:t>08 identifica una afirmación sin respaldo. · Capítulo previo: Alucinación: plausible y falsa</a:t>
            </a:r>
          </a:p>
          <a:p xmlns:a="http://schemas.openxmlformats.org/drawingml/2006/main">
            <a:r>
              <a:t/>
            </a:r>
          </a:p>
          <a:p xmlns:a="http://schemas.openxmlformats.org/drawingml/2006/main">
            <a:r>
              <a:t>CONEXIÓN POSTERIOR</a:t>
            </a:r>
          </a:p>
          <a:p xmlns:a="http://schemas.openxmlformats.org/drawingml/2006/main">
            <a:r>
              <a:t>S3: ejecución de tools. S5: RAG. S6: políticas y controles en código. · Sigue: Embeddings: representación vectorial</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26 · CAPÍTULO 9 · DESARROLLO</a:t>
            </a:r>
          </a:p>
          <a:p xmlns:a="http://schemas.openxmlformats.org/drawingml/2006/main">
            <a:r>
              <a:t>Título: Qué protege cada defensa</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§6 · B</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Distinguir instrucciones, fuentes y comprobaciones de salida.</a:t>
            </a:r>
          </a:p>
          <a:p xmlns:a="http://schemas.openxmlformats.org/drawingml/2006/main">
            <a:r>
              <a:t/>
            </a:r>
          </a:p>
          <a:p xmlns:a="http://schemas.openxmlformats.org/drawingml/2006/main">
            <a:r>
              <a:t>CONCEPTO PRINCIPAL</a:t>
            </a:r>
          </a:p>
          <a:p xmlns:a="http://schemas.openxmlformats.org/drawingml/2006/main">
            <a:r>
              <a:t>Tres defensas complementarias</a:t>
            </a:r>
          </a:p>
          <a:p xmlns:a="http://schemas.openxmlformats.org/drawingml/2006/main">
            <a:r>
              <a:t/>
            </a:r>
          </a:p>
          <a:p xmlns:a="http://schemas.openxmlformats.org/drawingml/2006/main">
            <a:r>
              <a:t>MENSAJE QUE DEBE LLEVARSE EL ALUMNO</a:t>
            </a:r>
          </a:p>
          <a:p xmlns:a="http://schemas.openxmlformats.org/drawingml/2006/main">
            <a:r>
              <a:t>Ninguna defensa aislada elimina todos los errores.</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Antes: Delimitar la tarea y la información que puede usar.</a:t>
            </a:r>
          </a:p>
          <a:p xmlns:a="http://schemas.openxmlformats.org/drawingml/2006/main">
            <a:r>
              <a:t/>
            </a:r>
          </a:p>
          <a:p xmlns:a="http://schemas.openxmlformats.org/drawingml/2006/main">
            <a:r>
              <a:t>Durante: Consultar el sistema o documento correcto.</a:t>
            </a:r>
          </a:p>
          <a:p xmlns:a="http://schemas.openxmlformats.org/drawingml/2006/main">
            <a:r>
              <a:t/>
            </a:r>
          </a:p>
          <a:p xmlns:a="http://schemas.openxmlformats.org/drawingml/2006/main">
            <a:r>
              <a:t>Después: Revisar dato, cita y límites antes de mostrar la respuesta.</a:t>
            </a:r>
          </a:p>
          <a:p xmlns:a="http://schemas.openxmlformats.org/drawingml/2006/main">
            <a:r>
              <a:t/>
            </a:r>
          </a:p>
          <a:p xmlns:a="http://schemas.openxmlformats.org/drawingml/2006/main">
            <a:r>
              <a:t>Contraste la regla con este error: Creer que una instrucción de no alucinar basta.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Retome el caso de MercaSur. Para saber si el pedido fue entregado, se consulta una tool. Para conocer las condiciones de devolución, se recupera la política por RAG. Para impedir una autorización fuera de límites, se aplica una regla de código. Las tres cajas responden preguntas distintas; no son sinónimos ni sustitutos automáticos.</a:t>
            </a:r>
          </a:p>
          <a:p xmlns:a="http://schemas.openxmlformats.org/drawingml/2006/main">
            <a:r>
              <a:t/>
            </a:r>
          </a:p>
          <a:p xmlns:a="http://schemas.openxmlformats.org/drawingml/2006/main">
            <a:r>
              <a:t>Explique que el diagrama combina contribuciones y no obliga a ejecutar las tres en serie en cada consulta. Una herramienta puede fallar, un documento puede estar desactualizado y un guardrail puede ser incompleto. Por eso se evalúa el conjunto. Este es un anticipo para reconocer conceptos, no una instrucción para implementar RAG en S0. Señale las etiquetas S3–S4, S5 y S6 para situar cuándo se profundiza cada mecanismo.</a:t>
            </a:r>
          </a:p>
          <a:p xmlns:a="http://schemas.openxmlformats.org/drawingml/2006/main">
            <a:r>
              <a:t/>
            </a:r>
          </a:p>
          <a:p xmlns:a="http://schemas.openxmlformats.org/drawingml/2006/main">
            <a:r>
              <a:t>ELEMENTOS QUE CONVIENE EXPLICAR</a:t>
            </a:r>
          </a:p>
          <a:p xmlns:a="http://schemas.openxmlformats.org/drawingml/2006/main">
            <a:r>
              <a:t>Antes; Durante; Después.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El cliente pregunta una comisión que depende de su producto.</a:t>
            </a:r>
          </a:p>
          <a:p xmlns:a="http://schemas.openxmlformats.org/drawingml/2006/main">
            <a:r>
              <a:t>Instruir: No inventar importes ni condiciones.</a:t>
            </a:r>
          </a:p>
          <a:p xmlns:a="http://schemas.openxmlformats.org/drawingml/2006/main">
            <a:r>
              <a:t>Consultar: Obtener información del producto y la norma pertinente.</a:t>
            </a:r>
          </a:p>
          <a:p xmlns:a="http://schemas.openxmlformats.org/drawingml/2006/main">
            <a:r>
              <a:t>Comprobar: La respuesta debe coincidir con lo recuperado.</a:t>
            </a:r>
          </a:p>
          <a:p xmlns:a="http://schemas.openxmlformats.org/drawingml/2006/main">
            <a:r>
              <a:t>Resultado: Si no se obtiene la fuente, se informa el límite; no se rellena el vacío.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defensa faltaría si el JSON es correcto pero el dato es inventado?</a:t>
            </a:r>
          </a:p>
          <a:p xmlns:a="http://schemas.openxmlformats.org/drawingml/2006/main">
            <a:r>
              <a:t>Orientación para el docente: contraste la respuesta con los criterios del desarrollo y pida evidencia. La conclusión debe respetar: Ninguna defensa aislada elimina todos los errores.</a:t>
            </a:r>
          </a:p>
          <a:p xmlns:a="http://schemas.openxmlformats.org/drawingml/2006/main">
            <a:r>
              <a:t/>
            </a:r>
          </a:p>
          <a:p xmlns:a="http://schemas.openxmlformats.org/drawingml/2006/main">
            <a:r>
              <a:t>ERRORES CONCEPTUALES FRECUENTES</a:t>
            </a:r>
          </a:p>
          <a:p xmlns:a="http://schemas.openxmlformats.org/drawingml/2006/main">
            <a:r>
              <a:t>Creer que una instrucción de no alucinar basta.</a:t>
            </a:r>
          </a:p>
          <a:p xmlns:a="http://schemas.openxmlformats.org/drawingml/2006/main">
            <a:r>
              <a:t/>
            </a:r>
          </a:p>
          <a:p xmlns:a="http://schemas.openxmlformats.org/drawingml/2006/main">
            <a:r>
              <a:t>CONEXIÓN ANTERIOR</a:t>
            </a:r>
          </a:p>
          <a:p xmlns:a="http://schemas.openxmlformats.org/drawingml/2006/main">
            <a:r>
              <a:t>08 identifica una afirmación sin respaldo. · Capítulo previo: Alucinación: plausible y falsa</a:t>
            </a:r>
          </a:p>
          <a:p xmlns:a="http://schemas.openxmlformats.org/drawingml/2006/main">
            <a:r>
              <a:t/>
            </a:r>
          </a:p>
          <a:p xmlns:a="http://schemas.openxmlformats.org/drawingml/2006/main">
            <a:r>
              <a:t>CONEXIÓN POSTERIOR</a:t>
            </a:r>
          </a:p>
          <a:p xmlns:a="http://schemas.openxmlformats.org/drawingml/2006/main">
            <a:r>
              <a:t>S3: ejecución de tools. S5: RAG. S6: políticas y controles en código. · Sigue: Embeddings: representación vectorial</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27 · CAPÍTULO 9 · EJEMPLO</a:t>
            </a:r>
          </a:p>
          <a:p xmlns:a="http://schemas.openxmlformats.org/drawingml/2006/main">
            <a:r>
              <a:t>Título: Banco Inti · Tres defensas complementarias</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§6 · B</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Distinguir instrucciones, fuentes y comprobaciones de salida.</a:t>
            </a:r>
          </a:p>
          <a:p xmlns:a="http://schemas.openxmlformats.org/drawingml/2006/main">
            <a:r>
              <a:t/>
            </a:r>
          </a:p>
          <a:p xmlns:a="http://schemas.openxmlformats.org/drawingml/2006/main">
            <a:r>
              <a:t>CONCEPTO PRINCIPAL</a:t>
            </a:r>
          </a:p>
          <a:p xmlns:a="http://schemas.openxmlformats.org/drawingml/2006/main">
            <a:r>
              <a:t>Tres defensas complementarias</a:t>
            </a:r>
          </a:p>
          <a:p xmlns:a="http://schemas.openxmlformats.org/drawingml/2006/main">
            <a:r>
              <a:t/>
            </a:r>
          </a:p>
          <a:p xmlns:a="http://schemas.openxmlformats.org/drawingml/2006/main">
            <a:r>
              <a:t>MENSAJE QUE DEBE LLEVARSE EL ALUMNO</a:t>
            </a:r>
          </a:p>
          <a:p xmlns:a="http://schemas.openxmlformats.org/drawingml/2006/main">
            <a:r>
              <a:t>Ninguna defensa aislada elimina todos los errores.</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El cliente pregunta una comisión que depende de su producto. Pida una predicción.</a:t>
            </a:r>
          </a:p>
          <a:p xmlns:a="http://schemas.openxmlformats.org/drawingml/2006/main">
            <a:r>
              <a:t/>
            </a:r>
          </a:p>
          <a:p xmlns:a="http://schemas.openxmlformats.org/drawingml/2006/main">
            <a:r>
              <a:t>Instruir: No inventar importes ni condiciones.</a:t>
            </a:r>
          </a:p>
          <a:p xmlns:a="http://schemas.openxmlformats.org/drawingml/2006/main">
            <a:r>
              <a:t/>
            </a:r>
          </a:p>
          <a:p xmlns:a="http://schemas.openxmlformats.org/drawingml/2006/main">
            <a:r>
              <a:t>Consultar: Obtener información del producto y la norma pertinente.</a:t>
            </a:r>
          </a:p>
          <a:p xmlns:a="http://schemas.openxmlformats.org/drawingml/2006/main">
            <a:r>
              <a:t/>
            </a:r>
          </a:p>
          <a:p xmlns:a="http://schemas.openxmlformats.org/drawingml/2006/main">
            <a:r>
              <a:t>Comprobar: La respuesta debe coincidir con lo recuperado.</a:t>
            </a:r>
          </a:p>
          <a:p xmlns:a="http://schemas.openxmlformats.org/drawingml/2006/main">
            <a:r>
              <a:t/>
            </a:r>
          </a:p>
          <a:p xmlns:a="http://schemas.openxmlformats.org/drawingml/2006/main">
            <a:r>
              <a:t>Resultado esperado: Si no se obtiene la fuente, se informa el límite; no se rellena el vacío.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Retome el caso de MercaSur. Para saber si el pedido fue entregado, se consulta una tool. Para conocer las condiciones de devolución, se recupera la política por RAG. Para impedir una autorización fuera de límites, se aplica una regla de código. Las tres cajas responden preguntas distintas; no son sinónimos ni sustitutos automáticos.</a:t>
            </a:r>
          </a:p>
          <a:p xmlns:a="http://schemas.openxmlformats.org/drawingml/2006/main">
            <a:r>
              <a:t/>
            </a:r>
          </a:p>
          <a:p xmlns:a="http://schemas.openxmlformats.org/drawingml/2006/main">
            <a:r>
              <a:t>Explique que el diagrama combina contribuciones y no obliga a ejecutar las tres en serie en cada consulta. Una herramienta puede fallar, un documento puede estar desactualizado y un guardrail puede ser incompleto. Por eso se evalúa el conjunto. Este es un anticipo para reconocer conceptos, no una instrucción para implementar RAG en S0. Señale las etiquetas S3–S4, S5 y S6 para situar cuándo se profundiza cada mecanismo.</a:t>
            </a:r>
          </a:p>
          <a:p xmlns:a="http://schemas.openxmlformats.org/drawingml/2006/main">
            <a:r>
              <a:t/>
            </a:r>
          </a:p>
          <a:p xmlns:a="http://schemas.openxmlformats.org/drawingml/2006/main">
            <a:r>
              <a:t>ELEMENTOS QUE CONVIENE EXPLICAR</a:t>
            </a:r>
          </a:p>
          <a:p xmlns:a="http://schemas.openxmlformats.org/drawingml/2006/main">
            <a:r>
              <a:t>Instruir; Consultar; Comprobar.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El cliente pregunta una comisión que depende de su producto.</a:t>
            </a:r>
          </a:p>
          <a:p xmlns:a="http://schemas.openxmlformats.org/drawingml/2006/main">
            <a:r>
              <a:t>Instruir: No inventar importes ni condiciones.</a:t>
            </a:r>
          </a:p>
          <a:p xmlns:a="http://schemas.openxmlformats.org/drawingml/2006/main">
            <a:r>
              <a:t>Consultar: Obtener información del producto y la norma pertinente.</a:t>
            </a:r>
          </a:p>
          <a:p xmlns:a="http://schemas.openxmlformats.org/drawingml/2006/main">
            <a:r>
              <a:t>Comprobar: La respuesta debe coincidir con lo recuperado.</a:t>
            </a:r>
          </a:p>
          <a:p xmlns:a="http://schemas.openxmlformats.org/drawingml/2006/main">
            <a:r>
              <a:t>Resultado: Si no se obtiene la fuente, se informa el límite; no se rellena el vacío.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defensa faltaría si el JSON es correcto pero el dato es inventado?</a:t>
            </a:r>
          </a:p>
          <a:p xmlns:a="http://schemas.openxmlformats.org/drawingml/2006/main">
            <a:r>
              <a:t>Orientación para el docente: contraste la respuesta con los criterios del desarrollo y pida evidencia. La conclusión debe respetar: Ninguna defensa aislada elimina todos los errores.</a:t>
            </a:r>
          </a:p>
          <a:p xmlns:a="http://schemas.openxmlformats.org/drawingml/2006/main">
            <a:r>
              <a:t/>
            </a:r>
          </a:p>
          <a:p xmlns:a="http://schemas.openxmlformats.org/drawingml/2006/main">
            <a:r>
              <a:t>ERRORES CONCEPTUALES FRECUENTES</a:t>
            </a:r>
          </a:p>
          <a:p xmlns:a="http://schemas.openxmlformats.org/drawingml/2006/main">
            <a:r>
              <a:t>Creer que una instrucción de no alucinar basta.</a:t>
            </a:r>
          </a:p>
          <a:p xmlns:a="http://schemas.openxmlformats.org/drawingml/2006/main">
            <a:r>
              <a:t/>
            </a:r>
          </a:p>
          <a:p xmlns:a="http://schemas.openxmlformats.org/drawingml/2006/main">
            <a:r>
              <a:t>CONEXIÓN ANTERIOR</a:t>
            </a:r>
          </a:p>
          <a:p xmlns:a="http://schemas.openxmlformats.org/drawingml/2006/main">
            <a:r>
              <a:t>08 identifica una afirmación sin respaldo. · Capítulo previo: Alucinación: plausible y falsa</a:t>
            </a:r>
          </a:p>
          <a:p xmlns:a="http://schemas.openxmlformats.org/drawingml/2006/main">
            <a:r>
              <a:t/>
            </a:r>
          </a:p>
          <a:p xmlns:a="http://schemas.openxmlformats.org/drawingml/2006/main">
            <a:r>
              <a:t>CONEXIÓN POSTERIOR</a:t>
            </a:r>
          </a:p>
          <a:p xmlns:a="http://schemas.openxmlformats.org/drawingml/2006/main">
            <a:r>
              <a:t>S3: ejecución de tools. S5: RAG. S6: políticas y controles en código. · Sigue: Embeddings: representación vectorial</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28 · CAPÍTULO 10 · CONCEPTO</a:t>
            </a:r>
          </a:p>
          <a:p xmlns:a="http://schemas.openxmlformats.org/drawingml/2006/main">
            <a:r>
              <a:t>Título: Embeddings: representación vectorial</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§7 · A</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Relacionar texto y vector sin atribuir significado humano a cada coordenada.</a:t>
            </a:r>
          </a:p>
          <a:p xmlns:a="http://schemas.openxmlformats.org/drawingml/2006/main">
            <a:r>
              <a:t/>
            </a:r>
          </a:p>
          <a:p xmlns:a="http://schemas.openxmlformats.org/drawingml/2006/main">
            <a:r>
              <a:t>CONCEPTO PRINCIPAL</a:t>
            </a:r>
          </a:p>
          <a:p xmlns:a="http://schemas.openxmlformats.org/drawingml/2006/main">
            <a:r>
              <a:t>Embeddings: representación vectorial</a:t>
            </a:r>
          </a:p>
          <a:p xmlns:a="http://schemas.openxmlformats.org/drawingml/2006/main">
            <a:r>
              <a:t/>
            </a:r>
          </a:p>
          <a:p xmlns:a="http://schemas.openxmlformats.org/drawingml/2006/main">
            <a:r>
              <a:t>MENSAJE QUE DEBE LLEVARSE EL ALUMNO</a:t>
            </a:r>
          </a:p>
          <a:p xmlns:a="http://schemas.openxmlformats.org/drawingml/2006/main">
            <a:r>
              <a:t>El vector representa patrones útiles para recuperar información.</a:t>
            </a:r>
          </a:p>
          <a:p xmlns:a="http://schemas.openxmlformats.org/drawingml/2006/main">
            <a:r>
              <a:t/>
            </a:r>
          </a:p>
          <a:p xmlns:a="http://schemas.openxmlformats.org/drawingml/2006/main">
            <a:r>
              <a:t>EXPLICACIÓN SUGERIDA PARA EL DOCENTE</a:t>
            </a:r>
          </a:p>
          <a:p xmlns:a="http://schemas.openxmlformats.org/drawingml/2006/main">
            <a:r>
              <a:t>Abra con la pregunta «¿Una coordenada representa directamente el precio del producto?».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Texto: Una consulta o fragmento que se quiere representar.</a:t>
            </a:r>
          </a:p>
          <a:p xmlns:a="http://schemas.openxmlformats.org/drawingml/2006/main">
            <a:r>
              <a:t/>
            </a:r>
          </a:p>
          <a:p xmlns:a="http://schemas.openxmlformats.org/drawingml/2006/main">
            <a:r>
              <a:t>Modelo de embeddings: Transforma el texto en un vector de dimensión fija.</a:t>
            </a:r>
          </a:p>
          <a:p xmlns:a="http://schemas.openxmlformats.org/drawingml/2006/main">
            <a:r>
              <a:t/>
            </a:r>
          </a:p>
          <a:p xmlns:a="http://schemas.openxmlformats.org/drawingml/2006/main">
            <a:r>
              <a:t>Vector: Permite comparar representaciones dentro del mismo espacio.</a:t>
            </a:r>
          </a:p>
          <a:p xmlns:a="http://schemas.openxmlformats.org/drawingml/2006/main">
            <a:r>
              <a:t/>
            </a:r>
          </a:p>
          <a:p xmlns:a="http://schemas.openxmlformats.org/drawingml/2006/main">
            <a:r>
              <a:t>Cierre con la distinción: El vector representa patrones útiles para recuperar información.</a:t>
            </a:r>
          </a:p>
          <a:p xmlns:a="http://schemas.openxmlformats.org/drawingml/2006/main">
            <a:r>
              <a:t/>
            </a:r>
          </a:p>
          <a:p xmlns:a="http://schemas.openxmlformats.org/drawingml/2006/main">
            <a:r>
              <a:t>AMPLIACIÓN DEL MATERIAL APROBADO</a:t>
            </a:r>
          </a:p>
          <a:p xmlns:a="http://schemas.openxmlformats.org/drawingml/2006/main">
            <a:r>
              <a:t>Compare las dos frases sobre datos móviles y pregunte qué tienen en común aunque cambien las palabras. El encoder produce vectores numéricos que permiten comparar representaciones. Los números de la izquierda vienen del ejemplo ilustrativo del material; no son una ejecución del endpoint. El gráfico de la derecha es una proyección conceptual en dos dimensiones, no el espacio real completo.</a:t>
            </a:r>
          </a:p>
          <a:p xmlns:a="http://schemas.openxmlformats.org/drawingml/2006/main">
            <a:r>
              <a:t/>
            </a:r>
          </a:p>
          <a:p xmlns:a="http://schemas.openxmlformats.org/drawingml/2006/main">
            <a:r>
              <a:t>Señale el tercer punto, cancelar el contrato, para distinguir intención. No diga que la distancia del dibujo es la similitud coseno: el dibujo ayuda a formar la intuición y la demo calcula una medida concreta. Tampoco asigne una coordenada a una propiedad humana como «urgencia» sin un análisis que lo pruebe. Cierre advirtiendo que textos relacionados pueden diferir en hechos: similitud alta no implica equivalencia ni veracidad.</a:t>
            </a:r>
          </a:p>
          <a:p xmlns:a="http://schemas.openxmlformats.org/drawingml/2006/main">
            <a:r>
              <a:t/>
            </a:r>
          </a:p>
          <a:p xmlns:a="http://schemas.openxmlformats.org/drawingml/2006/main">
            <a:r>
              <a:t>ELEMENTOS QUE CONVIENE EXPLICAR</a:t>
            </a:r>
          </a:p>
          <a:p xmlns:a="http://schemas.openxmlformats.org/drawingml/2006/main">
            <a:r>
              <a:t>Texto; Modelo de embeddings; Vector.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Compara «devolver una compra» con «política de devoluciones».</a:t>
            </a:r>
          </a:p>
          <a:p xmlns:a="http://schemas.openxmlformats.org/drawingml/2006/main">
            <a:r>
              <a:t>Representar: Generar embeddings para consulta y fragmentos.</a:t>
            </a:r>
          </a:p>
          <a:p xmlns:a="http://schemas.openxmlformats.org/drawingml/2006/main">
            <a:r>
              <a:t>Comparar: Medir similitud dentro del mismo espacio vectorial.</a:t>
            </a:r>
          </a:p>
          <a:p xmlns:a="http://schemas.openxmlformats.org/drawingml/2006/main">
            <a:r>
              <a:t>Revisar: Confirmar que el fragmento encontrado responde al caso.</a:t>
            </a:r>
          </a:p>
          <a:p xmlns:a="http://schemas.openxmlformats.org/drawingml/2006/main">
            <a:r>
              <a:t>Resultado: La similitud ayuda a encontrar texto pertinente; no decide la política.</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¿Una coordenada representa directamente el precio del producto?</a:t>
            </a:r>
          </a:p>
          <a:p xmlns:a="http://schemas.openxmlformats.org/drawingml/2006/main">
            <a:r>
              <a:t>Orientación para el docente: contraste la respuesta con los criterios del desarrollo y pida evidencia. La conclusión debe respetar: El vector representa patrones útiles para recuperar información.</a:t>
            </a:r>
          </a:p>
          <a:p xmlns:a="http://schemas.openxmlformats.org/drawingml/2006/main">
            <a:r>
              <a:t/>
            </a:r>
          </a:p>
          <a:p xmlns:a="http://schemas.openxmlformats.org/drawingml/2006/main">
            <a:r>
              <a:t>ERRORES CONCEPTUALES FRECUENTES</a:t>
            </a:r>
          </a:p>
          <a:p xmlns:a="http://schemas.openxmlformats.org/drawingml/2006/main">
            <a:r>
              <a:t>Tratar dimensiones como etiquetas humanas o mezclar modelos incompatibles.</a:t>
            </a:r>
          </a:p>
          <a:p xmlns:a="http://schemas.openxmlformats.org/drawingml/2006/main">
            <a:r>
              <a:t/>
            </a:r>
          </a:p>
          <a:p xmlns:a="http://schemas.openxmlformats.org/drawingml/2006/main">
            <a:r>
              <a:t>CONEXIÓN ANTERIOR</a:t>
            </a:r>
          </a:p>
          <a:p xmlns:a="http://schemas.openxmlformats.org/drawingml/2006/main">
            <a:r>
              <a:t>04: un token representa una unidad de texto; esta lámina introduce otro tipo de representación con otra finalidad. · Capítulo previo: Tres defensas complementarias</a:t>
            </a:r>
          </a:p>
          <a:p xmlns:a="http://schemas.openxmlformats.org/drawingml/2006/main">
            <a:r>
              <a:t/>
            </a:r>
          </a:p>
          <a:p xmlns:a="http://schemas.openxmlformats.org/drawingml/2006/main">
            <a:r>
              <a:t>CONEXIÓN POSTERIOR</a:t>
            </a:r>
          </a:p>
          <a:p xmlns:a="http://schemas.openxmlformats.org/drawingml/2006/main">
            <a:r>
              <a:t>11 transforma similitud en ranking; S5 usa embeddings para recuperación documental. · Sigue: Búsqueda semántica</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29 · CAPÍTULO 10 · DESARROLLO</a:t>
            </a:r>
          </a:p>
          <a:p xmlns:a="http://schemas.openxmlformats.org/drawingml/2006/main">
            <a:r>
              <a:t>Título: Cómo interpretar el dibujo</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§7 · A</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Relacionar texto y vector sin atribuir significado humano a cada coordenada.</a:t>
            </a:r>
          </a:p>
          <a:p xmlns:a="http://schemas.openxmlformats.org/drawingml/2006/main">
            <a:r>
              <a:t/>
            </a:r>
          </a:p>
          <a:p xmlns:a="http://schemas.openxmlformats.org/drawingml/2006/main">
            <a:r>
              <a:t>CONCEPTO PRINCIPAL</a:t>
            </a:r>
          </a:p>
          <a:p xmlns:a="http://schemas.openxmlformats.org/drawingml/2006/main">
            <a:r>
              <a:t>Embeddings: representación vectorial</a:t>
            </a:r>
          </a:p>
          <a:p xmlns:a="http://schemas.openxmlformats.org/drawingml/2006/main">
            <a:r>
              <a:t/>
            </a:r>
          </a:p>
          <a:p xmlns:a="http://schemas.openxmlformats.org/drawingml/2006/main">
            <a:r>
              <a:t>MENSAJE QUE DEBE LLEVARSE EL ALUMNO</a:t>
            </a:r>
          </a:p>
          <a:p xmlns:a="http://schemas.openxmlformats.org/drawingml/2006/main">
            <a:r>
              <a:t>El vector representa patrones útiles para recuperar información.</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Proyección: Dos dimensiones son una ilustración, no el vector completo.</a:t>
            </a:r>
          </a:p>
          <a:p xmlns:a="http://schemas.openxmlformats.org/drawingml/2006/main">
            <a:r>
              <a:t/>
            </a:r>
          </a:p>
          <a:p xmlns:a="http://schemas.openxmlformats.org/drawingml/2006/main">
            <a:r>
              <a:t>Compatibilidad: Usar el mismo modelo y configuración para comparar.</a:t>
            </a:r>
          </a:p>
          <a:p xmlns:a="http://schemas.openxmlformats.org/drawingml/2006/main">
            <a:r>
              <a:t/>
            </a:r>
          </a:p>
          <a:p xmlns:a="http://schemas.openxmlformats.org/drawingml/2006/main">
            <a:r>
              <a:t>Alcance: Cercanía semántica no equivale a verdad ni autorización.</a:t>
            </a:r>
          </a:p>
          <a:p xmlns:a="http://schemas.openxmlformats.org/drawingml/2006/main">
            <a:r>
              <a:t/>
            </a:r>
          </a:p>
          <a:p xmlns:a="http://schemas.openxmlformats.org/drawingml/2006/main">
            <a:r>
              <a:t>Contraste la regla con este error: Tratar dimensiones como etiquetas humanas o mezclar modelos incompatibles.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Compare las dos frases sobre datos móviles y pregunte qué tienen en común aunque cambien las palabras. El encoder produce vectores numéricos que permiten comparar representaciones. Los números de la izquierda vienen del ejemplo ilustrativo del material; no son una ejecución del endpoint. El gráfico de la derecha es una proyección conceptual en dos dimensiones, no el espacio real completo.</a:t>
            </a:r>
          </a:p>
          <a:p xmlns:a="http://schemas.openxmlformats.org/drawingml/2006/main">
            <a:r>
              <a:t/>
            </a:r>
          </a:p>
          <a:p xmlns:a="http://schemas.openxmlformats.org/drawingml/2006/main">
            <a:r>
              <a:t>Señale el tercer punto, cancelar el contrato, para distinguir intención. No diga que la distancia del dibujo es la similitud coseno: el dibujo ayuda a formar la intuición y la demo calcula una medida concreta. Tampoco asigne una coordenada a una propiedad humana como «urgencia» sin un análisis que lo pruebe. Cierre advirtiendo que textos relacionados pueden diferir en hechos: similitud alta no implica equivalencia ni veracidad.</a:t>
            </a:r>
          </a:p>
          <a:p xmlns:a="http://schemas.openxmlformats.org/drawingml/2006/main">
            <a:r>
              <a:t/>
            </a:r>
          </a:p>
          <a:p xmlns:a="http://schemas.openxmlformats.org/drawingml/2006/main">
            <a:r>
              <a:t>ELEMENTOS QUE CONVIENE EXPLICAR</a:t>
            </a:r>
          </a:p>
          <a:p xmlns:a="http://schemas.openxmlformats.org/drawingml/2006/main">
            <a:r>
              <a:t>Proyección; Compatibilidad; Alcance.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Compara «devolver una compra» con «política de devoluciones».</a:t>
            </a:r>
          </a:p>
          <a:p xmlns:a="http://schemas.openxmlformats.org/drawingml/2006/main">
            <a:r>
              <a:t>Representar: Generar embeddings para consulta y fragmentos.</a:t>
            </a:r>
          </a:p>
          <a:p xmlns:a="http://schemas.openxmlformats.org/drawingml/2006/main">
            <a:r>
              <a:t>Comparar: Medir similitud dentro del mismo espacio vectorial.</a:t>
            </a:r>
          </a:p>
          <a:p xmlns:a="http://schemas.openxmlformats.org/drawingml/2006/main">
            <a:r>
              <a:t>Revisar: Confirmar que el fragmento encontrado responde al caso.</a:t>
            </a:r>
          </a:p>
          <a:p xmlns:a="http://schemas.openxmlformats.org/drawingml/2006/main">
            <a:r>
              <a:t>Resultado: La similitud ayuda a encontrar texto pertinente; no decide la política.</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¿Una coordenada representa directamente el precio del producto?</a:t>
            </a:r>
          </a:p>
          <a:p xmlns:a="http://schemas.openxmlformats.org/drawingml/2006/main">
            <a:r>
              <a:t>Orientación para el docente: contraste la respuesta con los criterios del desarrollo y pida evidencia. La conclusión debe respetar: El vector representa patrones útiles para recuperar información.</a:t>
            </a:r>
          </a:p>
          <a:p xmlns:a="http://schemas.openxmlformats.org/drawingml/2006/main">
            <a:r>
              <a:t/>
            </a:r>
          </a:p>
          <a:p xmlns:a="http://schemas.openxmlformats.org/drawingml/2006/main">
            <a:r>
              <a:t>ERRORES CONCEPTUALES FRECUENTES</a:t>
            </a:r>
          </a:p>
          <a:p xmlns:a="http://schemas.openxmlformats.org/drawingml/2006/main">
            <a:r>
              <a:t>Tratar dimensiones como etiquetas humanas o mezclar modelos incompatibles.</a:t>
            </a:r>
          </a:p>
          <a:p xmlns:a="http://schemas.openxmlformats.org/drawingml/2006/main">
            <a:r>
              <a:t/>
            </a:r>
          </a:p>
          <a:p xmlns:a="http://schemas.openxmlformats.org/drawingml/2006/main">
            <a:r>
              <a:t>CONEXIÓN ANTERIOR</a:t>
            </a:r>
          </a:p>
          <a:p xmlns:a="http://schemas.openxmlformats.org/drawingml/2006/main">
            <a:r>
              <a:t>04: un token representa una unidad de texto; esta lámina introduce otro tipo de representación con otra finalidad. · Capítulo previo: Tres defensas complementarias</a:t>
            </a:r>
          </a:p>
          <a:p xmlns:a="http://schemas.openxmlformats.org/drawingml/2006/main">
            <a:r>
              <a:t/>
            </a:r>
          </a:p>
          <a:p xmlns:a="http://schemas.openxmlformats.org/drawingml/2006/main">
            <a:r>
              <a:t>CONEXIÓN POSTERIOR</a:t>
            </a:r>
          </a:p>
          <a:p xmlns:a="http://schemas.openxmlformats.org/drawingml/2006/main">
            <a:r>
              <a:t>11 transforma similitud en ranking; S5 usa embeddings para recuperación documental. · Sigue: Búsqueda semántica</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30 · CAPÍTULO 10 · EJEMPLO</a:t>
            </a:r>
          </a:p>
          <a:p xmlns:a="http://schemas.openxmlformats.org/drawingml/2006/main">
            <a:r>
              <a:t>Título: MercaSur · Embeddings: representación vectorial</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§7 · A</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Relacionar texto y vector sin atribuir significado humano a cada coordenada.</a:t>
            </a:r>
          </a:p>
          <a:p xmlns:a="http://schemas.openxmlformats.org/drawingml/2006/main">
            <a:r>
              <a:t/>
            </a:r>
          </a:p>
          <a:p xmlns:a="http://schemas.openxmlformats.org/drawingml/2006/main">
            <a:r>
              <a:t>CONCEPTO PRINCIPAL</a:t>
            </a:r>
          </a:p>
          <a:p xmlns:a="http://schemas.openxmlformats.org/drawingml/2006/main">
            <a:r>
              <a:t>Embeddings: representación vectorial</a:t>
            </a:r>
          </a:p>
          <a:p xmlns:a="http://schemas.openxmlformats.org/drawingml/2006/main">
            <a:r>
              <a:t/>
            </a:r>
          </a:p>
          <a:p xmlns:a="http://schemas.openxmlformats.org/drawingml/2006/main">
            <a:r>
              <a:t>MENSAJE QUE DEBE LLEVARSE EL ALUMNO</a:t>
            </a:r>
          </a:p>
          <a:p xmlns:a="http://schemas.openxmlformats.org/drawingml/2006/main">
            <a:r>
              <a:t>El vector representa patrones útiles para recuperar información.</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Compara «devolver una compra» con «política de devoluciones». Pida una predicción.</a:t>
            </a:r>
          </a:p>
          <a:p xmlns:a="http://schemas.openxmlformats.org/drawingml/2006/main">
            <a:r>
              <a:t/>
            </a:r>
          </a:p>
          <a:p xmlns:a="http://schemas.openxmlformats.org/drawingml/2006/main">
            <a:r>
              <a:t>Representar: Generar embeddings para consulta y fragmentos.</a:t>
            </a:r>
          </a:p>
          <a:p xmlns:a="http://schemas.openxmlformats.org/drawingml/2006/main">
            <a:r>
              <a:t/>
            </a:r>
          </a:p>
          <a:p xmlns:a="http://schemas.openxmlformats.org/drawingml/2006/main">
            <a:r>
              <a:t>Comparar: Medir similitud dentro del mismo espacio vectorial.</a:t>
            </a:r>
          </a:p>
          <a:p xmlns:a="http://schemas.openxmlformats.org/drawingml/2006/main">
            <a:r>
              <a:t/>
            </a:r>
          </a:p>
          <a:p xmlns:a="http://schemas.openxmlformats.org/drawingml/2006/main">
            <a:r>
              <a:t>Revisar: Confirmar que el fragmento encontrado responde al caso.</a:t>
            </a:r>
          </a:p>
          <a:p xmlns:a="http://schemas.openxmlformats.org/drawingml/2006/main">
            <a:r>
              <a:t/>
            </a:r>
          </a:p>
          <a:p xmlns:a="http://schemas.openxmlformats.org/drawingml/2006/main">
            <a:r>
              <a:t>Resultado esperado: La similitud ayuda a encontrar texto pertinente; no decide la política.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Compare las dos frases sobre datos móviles y pregunte qué tienen en común aunque cambien las palabras. El encoder produce vectores numéricos que permiten comparar representaciones. Los números de la izquierda vienen del ejemplo ilustrativo del material; no son una ejecución del endpoint. El gráfico de la derecha es una proyección conceptual en dos dimensiones, no el espacio real completo.</a:t>
            </a:r>
          </a:p>
          <a:p xmlns:a="http://schemas.openxmlformats.org/drawingml/2006/main">
            <a:r>
              <a:t/>
            </a:r>
          </a:p>
          <a:p xmlns:a="http://schemas.openxmlformats.org/drawingml/2006/main">
            <a:r>
              <a:t>Señale el tercer punto, cancelar el contrato, para distinguir intención. No diga que la distancia del dibujo es la similitud coseno: el dibujo ayuda a formar la intuición y la demo calcula una medida concreta. Tampoco asigne una coordenada a una propiedad humana como «urgencia» sin un análisis que lo pruebe. Cierre advirtiendo que textos relacionados pueden diferir en hechos: similitud alta no implica equivalencia ni veracidad.</a:t>
            </a:r>
          </a:p>
          <a:p xmlns:a="http://schemas.openxmlformats.org/drawingml/2006/main">
            <a:r>
              <a:t/>
            </a:r>
          </a:p>
          <a:p xmlns:a="http://schemas.openxmlformats.org/drawingml/2006/main">
            <a:r>
              <a:t>ELEMENTOS QUE CONVIENE EXPLICAR</a:t>
            </a:r>
          </a:p>
          <a:p xmlns:a="http://schemas.openxmlformats.org/drawingml/2006/main">
            <a:r>
              <a:t>Representar; Comparar; Revisar.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Compara «devolver una compra» con «política de devoluciones».</a:t>
            </a:r>
          </a:p>
          <a:p xmlns:a="http://schemas.openxmlformats.org/drawingml/2006/main">
            <a:r>
              <a:t>Representar: Generar embeddings para consulta y fragmentos.</a:t>
            </a:r>
          </a:p>
          <a:p xmlns:a="http://schemas.openxmlformats.org/drawingml/2006/main">
            <a:r>
              <a:t>Comparar: Medir similitud dentro del mismo espacio vectorial.</a:t>
            </a:r>
          </a:p>
          <a:p xmlns:a="http://schemas.openxmlformats.org/drawingml/2006/main">
            <a:r>
              <a:t>Revisar: Confirmar que el fragmento encontrado responde al caso.</a:t>
            </a:r>
          </a:p>
          <a:p xmlns:a="http://schemas.openxmlformats.org/drawingml/2006/main">
            <a:r>
              <a:t>Resultado: La similitud ayuda a encontrar texto pertinente; no decide la política.</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¿Una coordenada representa directamente el precio del producto?</a:t>
            </a:r>
          </a:p>
          <a:p xmlns:a="http://schemas.openxmlformats.org/drawingml/2006/main">
            <a:r>
              <a:t>Orientación para el docente: contraste la respuesta con los criterios del desarrollo y pida evidencia. La conclusión debe respetar: El vector representa patrones útiles para recuperar información.</a:t>
            </a:r>
          </a:p>
          <a:p xmlns:a="http://schemas.openxmlformats.org/drawingml/2006/main">
            <a:r>
              <a:t/>
            </a:r>
          </a:p>
          <a:p xmlns:a="http://schemas.openxmlformats.org/drawingml/2006/main">
            <a:r>
              <a:t>ERRORES CONCEPTUALES FRECUENTES</a:t>
            </a:r>
          </a:p>
          <a:p xmlns:a="http://schemas.openxmlformats.org/drawingml/2006/main">
            <a:r>
              <a:t>Tratar dimensiones como etiquetas humanas o mezclar modelos incompatibles.</a:t>
            </a:r>
          </a:p>
          <a:p xmlns:a="http://schemas.openxmlformats.org/drawingml/2006/main">
            <a:r>
              <a:t/>
            </a:r>
          </a:p>
          <a:p xmlns:a="http://schemas.openxmlformats.org/drawingml/2006/main">
            <a:r>
              <a:t>CONEXIÓN ANTERIOR</a:t>
            </a:r>
          </a:p>
          <a:p xmlns:a="http://schemas.openxmlformats.org/drawingml/2006/main">
            <a:r>
              <a:t>04: un token representa una unidad de texto; esta lámina introduce otro tipo de representación con otra finalidad. · Capítulo previo: Tres defensas complementarias</a:t>
            </a:r>
          </a:p>
          <a:p xmlns:a="http://schemas.openxmlformats.org/drawingml/2006/main">
            <a:r>
              <a:t/>
            </a:r>
          </a:p>
          <a:p xmlns:a="http://schemas.openxmlformats.org/drawingml/2006/main">
            <a:r>
              <a:t>CONEXIÓN POSTERIOR</a:t>
            </a:r>
          </a:p>
          <a:p xmlns:a="http://schemas.openxmlformats.org/drawingml/2006/main">
            <a:r>
              <a:t>11 transforma similitud en ranking; S5 usa embeddings para recuperación documental. · Sigue: Búsqueda semántica</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31 · CAPÍTULO 11 · CONCEPTO</a:t>
            </a:r>
          </a:p>
          <a:p xmlns:a="http://schemas.openxmlformats.org/drawingml/2006/main">
            <a:r>
              <a:t>Título: Búsqueda semántica</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§7 · B</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Entender por qué se recuperan candidatos antes de responder.</a:t>
            </a:r>
          </a:p>
          <a:p xmlns:a="http://schemas.openxmlformats.org/drawingml/2006/main">
            <a:r>
              <a:t/>
            </a:r>
          </a:p>
          <a:p xmlns:a="http://schemas.openxmlformats.org/drawingml/2006/main">
            <a:r>
              <a:t>CONCEPTO PRINCIPAL</a:t>
            </a:r>
          </a:p>
          <a:p xmlns:a="http://schemas.openxmlformats.org/drawingml/2006/main">
            <a:r>
              <a:t>Búsqueda semántica</a:t>
            </a:r>
          </a:p>
          <a:p xmlns:a="http://schemas.openxmlformats.org/drawingml/2006/main">
            <a:r>
              <a:t/>
            </a:r>
          </a:p>
          <a:p xmlns:a="http://schemas.openxmlformats.org/drawingml/2006/main">
            <a:r>
              <a:t>MENSAJE QUE DEBE LLEVARSE EL ALUMNO</a:t>
            </a:r>
          </a:p>
          <a:p xmlns:a="http://schemas.openxmlformats.org/drawingml/2006/main">
            <a:r>
              <a:t>Recuperar no sustituye verificar el ámbito de la fuente.</a:t>
            </a:r>
          </a:p>
          <a:p xmlns:a="http://schemas.openxmlformats.org/drawingml/2006/main">
            <a:r>
              <a:t/>
            </a:r>
          </a:p>
          <a:p xmlns:a="http://schemas.openxmlformats.org/drawingml/2006/main">
            <a:r>
              <a:t>EXPLICACIÓN SUGERIDA PARA EL DOCENTE</a:t>
            </a:r>
          </a:p>
          <a:p xmlns:a="http://schemas.openxmlformats.org/drawingml/2006/main">
            <a:r>
              <a:t>Abra con la pregunta «¿Aceptarías el primer resultado si corresponde a otra póliza?».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Consulta: La pregunta se convierte en vector.</a:t>
            </a:r>
          </a:p>
          <a:p xmlns:a="http://schemas.openxmlformats.org/drawingml/2006/main">
            <a:r>
              <a:t/>
            </a:r>
          </a:p>
          <a:p xmlns:a="http://schemas.openxmlformats.org/drawingml/2006/main">
            <a:r>
              <a:t>Búsqueda: Se comparan representaciones y se recuperan candidatos.</a:t>
            </a:r>
          </a:p>
          <a:p xmlns:a="http://schemas.openxmlformats.org/drawingml/2006/main">
            <a:r>
              <a:t/>
            </a:r>
          </a:p>
          <a:p xmlns:a="http://schemas.openxmlformats.org/drawingml/2006/main">
            <a:r>
              <a:t>Revisión: Se usa el texto de los candidatos para fundamentar la respuesta.</a:t>
            </a:r>
          </a:p>
          <a:p xmlns:a="http://schemas.openxmlformats.org/drawingml/2006/main">
            <a:r>
              <a:t/>
            </a:r>
          </a:p>
          <a:p xmlns:a="http://schemas.openxmlformats.org/drawingml/2006/main">
            <a:r>
              <a:t>Cierre con la distinción: Recuperar no sustituye verificar el ámbito de la fuente.</a:t>
            </a:r>
          </a:p>
          <a:p xmlns:a="http://schemas.openxmlformats.org/drawingml/2006/main">
            <a:r>
              <a:t/>
            </a:r>
          </a:p>
          <a:p xmlns:a="http://schemas.openxmlformats.org/drawingml/2006/main">
            <a:r>
              <a:t>AMPLIACIÓN DEL MATERIAL APROBADO</a:t>
            </a:r>
          </a:p>
          <a:p xmlns:a="http://schemas.openxmlformats.org/drawingml/2006/main">
            <a:r>
              <a:t>Presente la consulta exacta de la demo y explique que se generan embeddings para ella y para cinco candidatas. El script calcula coseno, ordena y muestra palabras comunes. Las tres filas de la lámina son ejemplos para discutir; no anticipan un orden garantizado ni un resultado medido.</a:t>
            </a:r>
          </a:p>
          <a:p xmlns:a="http://schemas.openxmlformats.org/drawingml/2006/main">
            <a:r>
              <a:t/>
            </a:r>
          </a:p>
          <a:p xmlns:a="http://schemas.openxmlformats.org/drawingml/2006/main">
            <a:r>
              <a:t>Al ejecutar, pregunte por qué una paráfrasis con pocas palabras comunes puede ocupar una posición alta. No afirme que todas las búsquedas léxicas fallan siempre: esta comparación enseña una ventaja posible de la representación semántica. Los umbrales 0.8 y 0.5 del texto fuente son orientativos para ese material, no reglas universales; esta lámina evita fijarlos como clasificación general. Use el cierre para anticipar RAG: el ranking ayuda a seleccionar fragmentos que luego se dan al modelo, no responde automáticamente la pregunta.</a:t>
            </a:r>
          </a:p>
          <a:p xmlns:a="http://schemas.openxmlformats.org/drawingml/2006/main">
            <a:r>
              <a:t/>
            </a:r>
          </a:p>
          <a:p xmlns:a="http://schemas.openxmlformats.org/drawingml/2006/main">
            <a:r>
              <a:t>ELEMENTOS QUE CONVIENE EXPLICAR</a:t>
            </a:r>
          </a:p>
          <a:p xmlns:a="http://schemas.openxmlformats.org/drawingml/2006/main">
            <a:r>
              <a:t>Consulta; Búsqueda; Revisión.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Andina Seguros. Busca condiciones de cobertura para una póliza concreta.</a:t>
            </a:r>
          </a:p>
          <a:p xmlns:a="http://schemas.openxmlformats.org/drawingml/2006/main">
            <a:r>
              <a:t>Recuperar: Aparece un fragmento sobre un producto parecido.</a:t>
            </a:r>
          </a:p>
          <a:p xmlns:a="http://schemas.openxmlformats.org/drawingml/2006/main">
            <a:r>
              <a:t>Filtrar: El producto no coincide: no basta la similitud.</a:t>
            </a:r>
          </a:p>
          <a:p xmlns:a="http://schemas.openxmlformats.org/drawingml/2006/main">
            <a:r>
              <a:t>Resolver: Buscar la fuente correcta o declarar que no está disponible.</a:t>
            </a:r>
          </a:p>
          <a:p xmlns:a="http://schemas.openxmlformats.org/drawingml/2006/main">
            <a:r>
              <a:t>Resultado: Un resultado cercano puede pertenecer a otro producto.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¿Aceptarías el primer resultado si corresponde a otra póliza?</a:t>
            </a:r>
          </a:p>
          <a:p xmlns:a="http://schemas.openxmlformats.org/drawingml/2006/main">
            <a:r>
              <a:t>Orientación para el docente: contraste la respuesta con los criterios del desarrollo y pida evidencia. La conclusión debe respetar: Recuperar no sustituye verificar el ámbito de la fuente.</a:t>
            </a:r>
          </a:p>
          <a:p xmlns:a="http://schemas.openxmlformats.org/drawingml/2006/main">
            <a:r>
              <a:t/>
            </a:r>
          </a:p>
          <a:p xmlns:a="http://schemas.openxmlformats.org/drawingml/2006/main">
            <a:r>
              <a:t>ERRORES CONCEPTUALES FRECUENTES</a:t>
            </a:r>
          </a:p>
          <a:p xmlns:a="http://schemas.openxmlformats.org/drawingml/2006/main">
            <a:r>
              <a:t>Confundir top-1 con respuesta automáticamente correcta.</a:t>
            </a:r>
          </a:p>
          <a:p xmlns:a="http://schemas.openxmlformats.org/drawingml/2006/main">
            <a:r>
              <a:t/>
            </a:r>
          </a:p>
          <a:p xmlns:a="http://schemas.openxmlformats.org/drawingml/2006/main">
            <a:r>
              <a:t>CONEXIÓN ANTERIOR</a:t>
            </a:r>
          </a:p>
          <a:p xmlns:a="http://schemas.openxmlformats.org/drawingml/2006/main">
            <a:r>
              <a:t>10 presenta el vector y la intuición de cercanía. · Capítulo previo: Embeddings: representación vectorial</a:t>
            </a:r>
          </a:p>
          <a:p xmlns:a="http://schemas.openxmlformats.org/drawingml/2006/main">
            <a:r>
              <a:t/>
            </a:r>
          </a:p>
          <a:p xmlns:a="http://schemas.openxmlformats.org/drawingml/2006/main">
            <a:r>
              <a:t>CONEXIÓN POSTERIOR</a:t>
            </a:r>
          </a:p>
          <a:p xmlns:a="http://schemas.openxmlformats.org/drawingml/2006/main">
            <a:r>
              <a:t>S5: chunking, embeddings, Qdrant y respuesta con fuente. · Sigue: Costo de una conversación</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32 · CAPÍTULO 11 · DESARROLLO</a:t>
            </a:r>
          </a:p>
          <a:p xmlns:a="http://schemas.openxmlformats.org/drawingml/2006/main">
            <a:r>
              <a:t>Título: Del candidato a la evidencia</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§7 · B</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Entender por qué se recuperan candidatos antes de responder.</a:t>
            </a:r>
          </a:p>
          <a:p xmlns:a="http://schemas.openxmlformats.org/drawingml/2006/main">
            <a:r>
              <a:t/>
            </a:r>
          </a:p>
          <a:p xmlns:a="http://schemas.openxmlformats.org/drawingml/2006/main">
            <a:r>
              <a:t>CONCEPTO PRINCIPAL</a:t>
            </a:r>
          </a:p>
          <a:p xmlns:a="http://schemas.openxmlformats.org/drawingml/2006/main">
            <a:r>
              <a:t>Búsqueda semántica</a:t>
            </a:r>
          </a:p>
          <a:p xmlns:a="http://schemas.openxmlformats.org/drawingml/2006/main">
            <a:r>
              <a:t/>
            </a:r>
          </a:p>
          <a:p xmlns:a="http://schemas.openxmlformats.org/drawingml/2006/main">
            <a:r>
              <a:t>MENSAJE QUE DEBE LLEVARSE EL ALUMNO</a:t>
            </a:r>
          </a:p>
          <a:p xmlns:a="http://schemas.openxmlformats.org/drawingml/2006/main">
            <a:r>
              <a:t>Recuperar no sustituye verificar el ámbito de la fuente.</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Pertinencia: Comprobar que el fragmento trata la intención de la consulta.</a:t>
            </a:r>
          </a:p>
          <a:p xmlns:a="http://schemas.openxmlformats.org/drawingml/2006/main">
            <a:r>
              <a:t/>
            </a:r>
          </a:p>
          <a:p xmlns:a="http://schemas.openxmlformats.org/drawingml/2006/main">
            <a:r>
              <a:t>Ámbito: Revisar industria, producto y vigencia mediante metadatos.</a:t>
            </a:r>
          </a:p>
          <a:p xmlns:a="http://schemas.openxmlformats.org/drawingml/2006/main">
            <a:r>
              <a:t/>
            </a:r>
          </a:p>
          <a:p xmlns:a="http://schemas.openxmlformats.org/drawingml/2006/main">
            <a:r>
              <a:t>Respuesta: Afirmar solo lo que el texto seleccionado permite sostener.</a:t>
            </a:r>
          </a:p>
          <a:p xmlns:a="http://schemas.openxmlformats.org/drawingml/2006/main">
            <a:r>
              <a:t/>
            </a:r>
          </a:p>
          <a:p xmlns:a="http://schemas.openxmlformats.org/drawingml/2006/main">
            <a:r>
              <a:t>Contraste la regla con este error: Confundir top-1 con respuesta automáticamente correcta.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Presente la consulta exacta de la demo y explique que se generan embeddings para ella y para cinco candidatas. El script calcula coseno, ordena y muestra palabras comunes. Las tres filas de la lámina son ejemplos para discutir; no anticipan un orden garantizado ni un resultado medido.</a:t>
            </a:r>
          </a:p>
          <a:p xmlns:a="http://schemas.openxmlformats.org/drawingml/2006/main">
            <a:r>
              <a:t/>
            </a:r>
          </a:p>
          <a:p xmlns:a="http://schemas.openxmlformats.org/drawingml/2006/main">
            <a:r>
              <a:t>Al ejecutar, pregunte por qué una paráfrasis con pocas palabras comunes puede ocupar una posición alta. No afirme que todas las búsquedas léxicas fallan siempre: esta comparación enseña una ventaja posible de la representación semántica. Los umbrales 0.8 y 0.5 del texto fuente son orientativos para ese material, no reglas universales; esta lámina evita fijarlos como clasificación general. Use el cierre para anticipar RAG: el ranking ayuda a seleccionar fragmentos que luego se dan al modelo, no responde automáticamente la pregunta.</a:t>
            </a:r>
          </a:p>
          <a:p xmlns:a="http://schemas.openxmlformats.org/drawingml/2006/main">
            <a:r>
              <a:t/>
            </a:r>
          </a:p>
          <a:p xmlns:a="http://schemas.openxmlformats.org/drawingml/2006/main">
            <a:r>
              <a:t>ELEMENTOS QUE CONVIENE EXPLICAR</a:t>
            </a:r>
          </a:p>
          <a:p xmlns:a="http://schemas.openxmlformats.org/drawingml/2006/main">
            <a:r>
              <a:t>Pertinencia; Ámbito; Respuesta.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Andina Seguros. Busca condiciones de cobertura para una póliza concreta.</a:t>
            </a:r>
          </a:p>
          <a:p xmlns:a="http://schemas.openxmlformats.org/drawingml/2006/main">
            <a:r>
              <a:t>Recuperar: Aparece un fragmento sobre un producto parecido.</a:t>
            </a:r>
          </a:p>
          <a:p xmlns:a="http://schemas.openxmlformats.org/drawingml/2006/main">
            <a:r>
              <a:t>Filtrar: El producto no coincide: no basta la similitud.</a:t>
            </a:r>
          </a:p>
          <a:p xmlns:a="http://schemas.openxmlformats.org/drawingml/2006/main">
            <a:r>
              <a:t>Resolver: Buscar la fuente correcta o declarar que no está disponible.</a:t>
            </a:r>
          </a:p>
          <a:p xmlns:a="http://schemas.openxmlformats.org/drawingml/2006/main">
            <a:r>
              <a:t>Resultado: Un resultado cercano puede pertenecer a otro producto.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¿Aceptarías el primer resultado si corresponde a otra póliza?</a:t>
            </a:r>
          </a:p>
          <a:p xmlns:a="http://schemas.openxmlformats.org/drawingml/2006/main">
            <a:r>
              <a:t>Orientación para el docente: contraste la respuesta con los criterios del desarrollo y pida evidencia. La conclusión debe respetar: Recuperar no sustituye verificar el ámbito de la fuente.</a:t>
            </a:r>
          </a:p>
          <a:p xmlns:a="http://schemas.openxmlformats.org/drawingml/2006/main">
            <a:r>
              <a:t/>
            </a:r>
          </a:p>
          <a:p xmlns:a="http://schemas.openxmlformats.org/drawingml/2006/main">
            <a:r>
              <a:t>ERRORES CONCEPTUALES FRECUENTES</a:t>
            </a:r>
          </a:p>
          <a:p xmlns:a="http://schemas.openxmlformats.org/drawingml/2006/main">
            <a:r>
              <a:t>Confundir top-1 con respuesta automáticamente correcta.</a:t>
            </a:r>
          </a:p>
          <a:p xmlns:a="http://schemas.openxmlformats.org/drawingml/2006/main">
            <a:r>
              <a:t/>
            </a:r>
          </a:p>
          <a:p xmlns:a="http://schemas.openxmlformats.org/drawingml/2006/main">
            <a:r>
              <a:t>CONEXIÓN ANTERIOR</a:t>
            </a:r>
          </a:p>
          <a:p xmlns:a="http://schemas.openxmlformats.org/drawingml/2006/main">
            <a:r>
              <a:t>10 presenta el vector y la intuición de cercanía. · Capítulo previo: Embeddings: representación vectorial</a:t>
            </a:r>
          </a:p>
          <a:p xmlns:a="http://schemas.openxmlformats.org/drawingml/2006/main">
            <a:r>
              <a:t/>
            </a:r>
          </a:p>
          <a:p xmlns:a="http://schemas.openxmlformats.org/drawingml/2006/main">
            <a:r>
              <a:t>CONEXIÓN POSTERIOR</a:t>
            </a:r>
          </a:p>
          <a:p xmlns:a="http://schemas.openxmlformats.org/drawingml/2006/main">
            <a:r>
              <a:t>S5: chunking, embeddings, Qdrant y respuesta con fuente. · Sigue: Costo de una conversación</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33 · CAPÍTULO 11 · EJEMPLO</a:t>
            </a:r>
          </a:p>
          <a:p xmlns:a="http://schemas.openxmlformats.org/drawingml/2006/main">
            <a:r>
              <a:t>Título: Andina Seguros · Búsqueda semántica</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§7 · B</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Entender por qué se recuperan candidatos antes de responder.</a:t>
            </a:r>
          </a:p>
          <a:p xmlns:a="http://schemas.openxmlformats.org/drawingml/2006/main">
            <a:r>
              <a:t/>
            </a:r>
          </a:p>
          <a:p xmlns:a="http://schemas.openxmlformats.org/drawingml/2006/main">
            <a:r>
              <a:t>CONCEPTO PRINCIPAL</a:t>
            </a:r>
          </a:p>
          <a:p xmlns:a="http://schemas.openxmlformats.org/drawingml/2006/main">
            <a:r>
              <a:t>Búsqueda semántica</a:t>
            </a:r>
          </a:p>
          <a:p xmlns:a="http://schemas.openxmlformats.org/drawingml/2006/main">
            <a:r>
              <a:t/>
            </a:r>
          </a:p>
          <a:p xmlns:a="http://schemas.openxmlformats.org/drawingml/2006/main">
            <a:r>
              <a:t>MENSAJE QUE DEBE LLEVARSE EL ALUMNO</a:t>
            </a:r>
          </a:p>
          <a:p xmlns:a="http://schemas.openxmlformats.org/drawingml/2006/main">
            <a:r>
              <a:t>Recuperar no sustituye verificar el ámbito de la fuente.</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Busca condiciones de cobertura para una póliza concreta. Pida una predicción.</a:t>
            </a:r>
          </a:p>
          <a:p xmlns:a="http://schemas.openxmlformats.org/drawingml/2006/main">
            <a:r>
              <a:t/>
            </a:r>
          </a:p>
          <a:p xmlns:a="http://schemas.openxmlformats.org/drawingml/2006/main">
            <a:r>
              <a:t>Recuperar: Aparece un fragmento sobre un producto parecido.</a:t>
            </a:r>
          </a:p>
          <a:p xmlns:a="http://schemas.openxmlformats.org/drawingml/2006/main">
            <a:r>
              <a:t/>
            </a:r>
          </a:p>
          <a:p xmlns:a="http://schemas.openxmlformats.org/drawingml/2006/main">
            <a:r>
              <a:t>Filtrar: El producto no coincide: no basta la similitud.</a:t>
            </a:r>
          </a:p>
          <a:p xmlns:a="http://schemas.openxmlformats.org/drawingml/2006/main">
            <a:r>
              <a:t/>
            </a:r>
          </a:p>
          <a:p xmlns:a="http://schemas.openxmlformats.org/drawingml/2006/main">
            <a:r>
              <a:t>Resolver: Buscar la fuente correcta o declarar que no está disponible.</a:t>
            </a:r>
          </a:p>
          <a:p xmlns:a="http://schemas.openxmlformats.org/drawingml/2006/main">
            <a:r>
              <a:t/>
            </a:r>
          </a:p>
          <a:p xmlns:a="http://schemas.openxmlformats.org/drawingml/2006/main">
            <a:r>
              <a:t>Resultado esperado: Un resultado cercano puede pertenecer a otro producto.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Presente la consulta exacta de la demo y explique que se generan embeddings para ella y para cinco candidatas. El script calcula coseno, ordena y muestra palabras comunes. Las tres filas de la lámina son ejemplos para discutir; no anticipan un orden garantizado ni un resultado medido.</a:t>
            </a:r>
          </a:p>
          <a:p xmlns:a="http://schemas.openxmlformats.org/drawingml/2006/main">
            <a:r>
              <a:t/>
            </a:r>
          </a:p>
          <a:p xmlns:a="http://schemas.openxmlformats.org/drawingml/2006/main">
            <a:r>
              <a:t>Al ejecutar, pregunte por qué una paráfrasis con pocas palabras comunes puede ocupar una posición alta. No afirme que todas las búsquedas léxicas fallan siempre: esta comparación enseña una ventaja posible de la representación semántica. Los umbrales 0.8 y 0.5 del texto fuente son orientativos para ese material, no reglas universales; esta lámina evita fijarlos como clasificación general. Use el cierre para anticipar RAG: el ranking ayuda a seleccionar fragmentos que luego se dan al modelo, no responde automáticamente la pregunta.</a:t>
            </a:r>
          </a:p>
          <a:p xmlns:a="http://schemas.openxmlformats.org/drawingml/2006/main">
            <a:r>
              <a:t/>
            </a:r>
          </a:p>
          <a:p xmlns:a="http://schemas.openxmlformats.org/drawingml/2006/main">
            <a:r>
              <a:t>ELEMENTOS QUE CONVIENE EXPLICAR</a:t>
            </a:r>
          </a:p>
          <a:p xmlns:a="http://schemas.openxmlformats.org/drawingml/2006/main">
            <a:r>
              <a:t>Recuperar; Filtrar; Resolver.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Andina Seguros. Busca condiciones de cobertura para una póliza concreta.</a:t>
            </a:r>
          </a:p>
          <a:p xmlns:a="http://schemas.openxmlformats.org/drawingml/2006/main">
            <a:r>
              <a:t>Recuperar: Aparece un fragmento sobre un producto parecido.</a:t>
            </a:r>
          </a:p>
          <a:p xmlns:a="http://schemas.openxmlformats.org/drawingml/2006/main">
            <a:r>
              <a:t>Filtrar: El producto no coincide: no basta la similitud.</a:t>
            </a:r>
          </a:p>
          <a:p xmlns:a="http://schemas.openxmlformats.org/drawingml/2006/main">
            <a:r>
              <a:t>Resolver: Buscar la fuente correcta o declarar que no está disponible.</a:t>
            </a:r>
          </a:p>
          <a:p xmlns:a="http://schemas.openxmlformats.org/drawingml/2006/main">
            <a:r>
              <a:t>Resultado: Un resultado cercano puede pertenecer a otro producto.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¿Aceptarías el primer resultado si corresponde a otra póliza?</a:t>
            </a:r>
          </a:p>
          <a:p xmlns:a="http://schemas.openxmlformats.org/drawingml/2006/main">
            <a:r>
              <a:t>Orientación para el docente: contraste la respuesta con los criterios del desarrollo y pida evidencia. La conclusión debe respetar: Recuperar no sustituye verificar el ámbito de la fuente.</a:t>
            </a:r>
          </a:p>
          <a:p xmlns:a="http://schemas.openxmlformats.org/drawingml/2006/main">
            <a:r>
              <a:t/>
            </a:r>
          </a:p>
          <a:p xmlns:a="http://schemas.openxmlformats.org/drawingml/2006/main">
            <a:r>
              <a:t>ERRORES CONCEPTUALES FRECUENTES</a:t>
            </a:r>
          </a:p>
          <a:p xmlns:a="http://schemas.openxmlformats.org/drawingml/2006/main">
            <a:r>
              <a:t>Confundir top-1 con respuesta automáticamente correcta.</a:t>
            </a:r>
          </a:p>
          <a:p xmlns:a="http://schemas.openxmlformats.org/drawingml/2006/main">
            <a:r>
              <a:t/>
            </a:r>
          </a:p>
          <a:p xmlns:a="http://schemas.openxmlformats.org/drawingml/2006/main">
            <a:r>
              <a:t>CONEXIÓN ANTERIOR</a:t>
            </a:r>
          </a:p>
          <a:p xmlns:a="http://schemas.openxmlformats.org/drawingml/2006/main">
            <a:r>
              <a:t>10 presenta el vector y la intuición de cercanía. · Capítulo previo: Embeddings: representación vectorial</a:t>
            </a:r>
          </a:p>
          <a:p xmlns:a="http://schemas.openxmlformats.org/drawingml/2006/main">
            <a:r>
              <a:t/>
            </a:r>
          </a:p>
          <a:p xmlns:a="http://schemas.openxmlformats.org/drawingml/2006/main">
            <a:r>
              <a:t>CONEXIÓN POSTERIOR</a:t>
            </a:r>
          </a:p>
          <a:p xmlns:a="http://schemas.openxmlformats.org/drawingml/2006/main">
            <a:r>
              <a:t>S5: chunking, embeddings, Qdrant y respuesta con fuente. · Sigue: Costo de una conversación</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34 · CAPÍTULO 12 · CONCEPTO</a:t>
            </a:r>
          </a:p>
          <a:p xmlns:a="http://schemas.openxmlformats.org/drawingml/2006/main">
            <a:r>
              <a:t>Título: Costo de una conversación</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§8 · A</a:t>
            </a:r>
          </a:p>
          <a:p xmlns:a="http://schemas.openxmlformats.org/drawingml/2006/main">
            <a:r>
              <a:t>Fuente principal: https://github.com/javierrosado/ariwalab-course-langchain/blob/27c24090f1662f9473b673d2020e7bffee04490b/00-preparacion/code/04_costo.py</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Calcular el costo a partir de entrada y salida de cada llamada.</a:t>
            </a:r>
          </a:p>
          <a:p xmlns:a="http://schemas.openxmlformats.org/drawingml/2006/main">
            <a:r>
              <a:t/>
            </a:r>
          </a:p>
          <a:p xmlns:a="http://schemas.openxmlformats.org/drawingml/2006/main">
            <a:r>
              <a:t>CONCEPTO PRINCIPAL</a:t>
            </a:r>
          </a:p>
          <a:p xmlns:a="http://schemas.openxmlformats.org/drawingml/2006/main">
            <a:r>
              <a:t>Costo de una conversación</a:t>
            </a:r>
          </a:p>
          <a:p xmlns:a="http://schemas.openxmlformats.org/drawingml/2006/main">
            <a:r>
              <a:t/>
            </a:r>
          </a:p>
          <a:p xmlns:a="http://schemas.openxmlformats.org/drawingml/2006/main">
            <a:r>
              <a:t>MENSAJE QUE DEBE LLEVARSE EL ALUMNO</a:t>
            </a:r>
          </a:p>
          <a:p xmlns:a="http://schemas.openxmlformats.org/drawingml/2006/main">
            <a:r>
              <a:t>El historial reenviado se vuelve a contar en cada entrada.</a:t>
            </a:r>
          </a:p>
          <a:p xmlns:a="http://schemas.openxmlformats.org/drawingml/2006/main">
            <a:r>
              <a:t/>
            </a:r>
          </a:p>
          <a:p xmlns:a="http://schemas.openxmlformats.org/drawingml/2006/main">
            <a:r>
              <a:t>EXPLICACIÓN SUGERIDA PARA EL DOCENTE</a:t>
            </a:r>
          </a:p>
          <a:p xmlns:a="http://schemas.openxmlformats.org/drawingml/2006/main">
            <a:r>
              <a:t>Abra con la pregunta «¿Por qué dos turnos cortos pueden consumir más que uno largo?».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Entrada: Prompt, historial, herramientas y documentos reenviados.</a:t>
            </a:r>
          </a:p>
          <a:p xmlns:a="http://schemas.openxmlformats.org/drawingml/2006/main">
            <a:r>
              <a:t/>
            </a:r>
          </a:p>
          <a:p xmlns:a="http://schemas.openxmlformats.org/drawingml/2006/main">
            <a:r>
              <a:t>Salida: Tokens generados durante esa llamada.</a:t>
            </a:r>
          </a:p>
          <a:p xmlns:a="http://schemas.openxmlformats.org/drawingml/2006/main">
            <a:r>
              <a:t/>
            </a:r>
          </a:p>
          <a:p xmlns:a="http://schemas.openxmlformats.org/drawingml/2006/main">
            <a:r>
              <a:t>Total: Sumar el costo de todas las llamadas del flujo.</a:t>
            </a:r>
          </a:p>
          <a:p xmlns:a="http://schemas.openxmlformats.org/drawingml/2006/main">
            <a:r>
              <a:t/>
            </a:r>
          </a:p>
          <a:p xmlns:a="http://schemas.openxmlformats.org/drawingml/2006/main">
            <a:r>
              <a:t>Cierre con la distinción: El historial reenviado se vuelve a contar en cada entrada.</a:t>
            </a:r>
          </a:p>
          <a:p xmlns:a="http://schemas.openxmlformats.org/drawingml/2006/main">
            <a:r>
              <a:t/>
            </a:r>
          </a:p>
          <a:p xmlns:a="http://schemas.openxmlformats.org/drawingml/2006/main">
            <a:r>
              <a:t>AMPLIACIÓN DEL MATERIAL APROBADO</a:t>
            </a:r>
          </a:p>
          <a:p xmlns:a="http://schemas.openxmlformats.org/drawingml/2006/main">
            <a:r>
              <a:t>Lea los supuestos antes de mostrar el gráfico: 1.000 tokens de prompt, 1.200 de tools y 2.000 de documentos suman 4.200 fijos. El usuario añade 40; el modelo responde 160. El primer turno usa 4.240 de entrada. Cada turno previo incorpora 200 al historial. Así, la entrada del turno t es 4.240 + 200 × (t−1), y el turno doce llega a 6.440.</a:t>
            </a:r>
          </a:p>
          <a:p xmlns:a="http://schemas.openxmlformats.org/drawingml/2006/main">
            <a:r>
              <a:t/>
            </a:r>
          </a:p>
          <a:p xmlns:a="http://schemas.openxmlformats.org/drawingml/2006/main">
            <a:r>
              <a:t>Explique los precios ilustrativos de la simulación: USD 0,20 por millón de entrada y USD 0,60 por millón de salida. No son una cotización comercial. La suma de entradas de los doce turnos es 64.080 y la de salidas es 1.920; el total calculado es USD 0,013968. Los valores de la lámina se derivan del código, mientras otras cifras del texto de fundamentos son ejemplos distintos. La pregunta permanece igual de corta; el componente variable que crece es el historial.</a:t>
            </a:r>
          </a:p>
          <a:p xmlns:a="http://schemas.openxmlformats.org/drawingml/2006/main">
            <a:r>
              <a:t/>
            </a:r>
          </a:p>
          <a:p xmlns:a="http://schemas.openxmlformats.org/drawingml/2006/main">
            <a:r>
              <a:t>ELEMENTOS QUE CONVIENE EXPLICAR</a:t>
            </a:r>
          </a:p>
          <a:p xmlns:a="http://schemas.openxmlformats.org/drawingml/2006/main">
            <a:r>
              <a:t>Entrada; Salida; Total.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Dos llamadas consumen 1.000/200 y 2.000/300 tokens de entrada/salida.</a:t>
            </a:r>
          </a:p>
          <a:p xmlns:a="http://schemas.openxmlformats.org/drawingml/2006/main">
            <a:r>
              <a:t>Sumar: 3.000 tokens de entrada y 500 de salida.</a:t>
            </a:r>
          </a:p>
          <a:p xmlns:a="http://schemas.openxmlformats.org/drawingml/2006/main">
            <a:r>
              <a:t>Sustituir: Usar p_in y p_out por millón de tokens.</a:t>
            </a:r>
          </a:p>
          <a:p xmlns:a="http://schemas.openxmlformats.org/drawingml/2006/main">
            <a:r>
              <a:t>Calcular: Costo = 0,003 × p_in + 0,0005 × p_out.</a:t>
            </a:r>
          </a:p>
          <a:p xmlns:a="http://schemas.openxmlformats.org/drawingml/2006/main">
            <a:r>
              <a:t>Resultado: Fórmula didáctica: usa precios vigentes del endpoint, no una tarifa fija del curso.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¿Por qué dos turnos cortos pueden consumir más que uno largo?</a:t>
            </a:r>
          </a:p>
          <a:p xmlns:a="http://schemas.openxmlformats.org/drawingml/2006/main">
            <a:r>
              <a:t>Orientación para el docente: contraste la respuesta con los criterios del desarrollo y pida evidencia. La conclusión debe respetar: El historial reenviado se vuelve a contar en cada entrada.</a:t>
            </a:r>
          </a:p>
          <a:p xmlns:a="http://schemas.openxmlformats.org/drawingml/2006/main">
            <a:r>
              <a:t/>
            </a:r>
          </a:p>
          <a:p xmlns:a="http://schemas.openxmlformats.org/drawingml/2006/main">
            <a:r>
              <a:t>ERRORES CONCEPTUALES FRECUENTES</a:t>
            </a:r>
          </a:p>
          <a:p xmlns:a="http://schemas.openxmlformats.org/drawingml/2006/main">
            <a:r>
              <a:t>Mezclar precio por mil y por millón o olvidar llamadas internas.</a:t>
            </a:r>
          </a:p>
          <a:p xmlns:a="http://schemas.openxmlformats.org/drawingml/2006/main">
            <a:r>
              <a:t/>
            </a:r>
          </a:p>
          <a:p xmlns:a="http://schemas.openxmlformats.org/drawingml/2006/main">
            <a:r>
              <a:t>CONEXIÓN ANTERIOR</a:t>
            </a:r>
          </a:p>
          <a:p xmlns:a="http://schemas.openxmlformats.org/drawingml/2006/main">
            <a:r>
              <a:t>05: presupuesto. 06: reenvío del historial. · Capítulo previo: Búsqueda semántica</a:t>
            </a:r>
          </a:p>
          <a:p xmlns:a="http://schemas.openxmlformats.org/drawingml/2006/main">
            <a:r>
              <a:t/>
            </a:r>
          </a:p>
          <a:p xmlns:a="http://schemas.openxmlformats.org/drawingml/2006/main">
            <a:r>
              <a:t>CONEXIÓN POSTERIOR</a:t>
            </a:r>
          </a:p>
          <a:p xmlns:a="http://schemas.openxmlformats.org/drawingml/2006/main">
            <a:r>
              <a:t>13: palancas de ahorro. S9–S10: medir con trazas y evaluar impacto. · Sigue: Reducir contexto con criterio</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35 · CAPÍTULO 12 · DESARROLLO</a:t>
            </a:r>
          </a:p>
          <a:p xmlns:a="http://schemas.openxmlformats.org/drawingml/2006/main">
            <a:r>
              <a:t>Título: Aplicar la fórmula con unidades</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§8 · A</a:t>
            </a:r>
          </a:p>
          <a:p xmlns:a="http://schemas.openxmlformats.org/drawingml/2006/main">
            <a:r>
              <a:t>Fuente principal: https://github.com/javierrosado/ariwalab-course-langchain/blob/27c24090f1662f9473b673d2020e7bffee04490b/00-preparacion/code/04_costo.py</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Calcular el costo a partir de entrada y salida de cada llamada.</a:t>
            </a:r>
          </a:p>
          <a:p xmlns:a="http://schemas.openxmlformats.org/drawingml/2006/main">
            <a:r>
              <a:t/>
            </a:r>
          </a:p>
          <a:p xmlns:a="http://schemas.openxmlformats.org/drawingml/2006/main">
            <a:r>
              <a:t>CONCEPTO PRINCIPAL</a:t>
            </a:r>
          </a:p>
          <a:p xmlns:a="http://schemas.openxmlformats.org/drawingml/2006/main">
            <a:r>
              <a:t>Costo de una conversación</a:t>
            </a:r>
          </a:p>
          <a:p xmlns:a="http://schemas.openxmlformats.org/drawingml/2006/main">
            <a:r>
              <a:t/>
            </a:r>
          </a:p>
          <a:p xmlns:a="http://schemas.openxmlformats.org/drawingml/2006/main">
            <a:r>
              <a:t>MENSAJE QUE DEBE LLEVARSE EL ALUMNO</a:t>
            </a:r>
          </a:p>
          <a:p xmlns:a="http://schemas.openxmlformats.org/drawingml/2006/main">
            <a:r>
              <a:t>El historial reenviado se vuelve a contar en cada entrada.</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Entrada: tokens_in × precio_in / unidad de precio.</a:t>
            </a:r>
          </a:p>
          <a:p xmlns:a="http://schemas.openxmlformats.org/drawingml/2006/main">
            <a:r>
              <a:t/>
            </a:r>
          </a:p>
          <a:p xmlns:a="http://schemas.openxmlformats.org/drawingml/2006/main">
            <a:r>
              <a:t>Salida: tokens_out × precio_out / la misma unidad publicada.</a:t>
            </a:r>
          </a:p>
          <a:p xmlns:a="http://schemas.openxmlformats.org/drawingml/2006/main">
            <a:r>
              <a:t/>
            </a:r>
          </a:p>
          <a:p xmlns:a="http://schemas.openxmlformats.org/drawingml/2006/main">
            <a:r>
              <a:t>Conversación: Sumar ambas partes en cada turno y cada llamada interna.</a:t>
            </a:r>
          </a:p>
          <a:p xmlns:a="http://schemas.openxmlformats.org/drawingml/2006/main">
            <a:r>
              <a:t/>
            </a:r>
          </a:p>
          <a:p xmlns:a="http://schemas.openxmlformats.org/drawingml/2006/main">
            <a:r>
              <a:t>Contraste la regla con este error: Mezclar precio por mil y por millón o olvidar llamadas internas.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Lea los supuestos antes de mostrar el gráfico: 1.000 tokens de prompt, 1.200 de tools y 2.000 de documentos suman 4.200 fijos. El usuario añade 40; el modelo responde 160. El primer turno usa 4.240 de entrada. Cada turno previo incorpora 200 al historial. Así, la entrada del turno t es 4.240 + 200 × (t−1), y el turno doce llega a 6.440.</a:t>
            </a:r>
          </a:p>
          <a:p xmlns:a="http://schemas.openxmlformats.org/drawingml/2006/main">
            <a:r>
              <a:t/>
            </a:r>
          </a:p>
          <a:p xmlns:a="http://schemas.openxmlformats.org/drawingml/2006/main">
            <a:r>
              <a:t>Explique los precios ilustrativos de la simulación: USD 0,20 por millón de entrada y USD 0,60 por millón de salida. No son una cotización comercial. La suma de entradas de los doce turnos es 64.080 y la de salidas es 1.920; el total calculado es USD 0,013968. Los valores de la lámina se derivan del código, mientras otras cifras del texto de fundamentos son ejemplos distintos. La pregunta permanece igual de corta; el componente variable que crece es el historial.</a:t>
            </a:r>
          </a:p>
          <a:p xmlns:a="http://schemas.openxmlformats.org/drawingml/2006/main">
            <a:r>
              <a:t/>
            </a:r>
          </a:p>
          <a:p xmlns:a="http://schemas.openxmlformats.org/drawingml/2006/main">
            <a:r>
              <a:t>ELEMENTOS QUE CONVIENE EXPLICAR</a:t>
            </a:r>
          </a:p>
          <a:p xmlns:a="http://schemas.openxmlformats.org/drawingml/2006/main">
            <a:r>
              <a:t>Entrada; Salida; Conversación.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Dos llamadas consumen 1.000/200 y 2.000/300 tokens de entrada/salida.</a:t>
            </a:r>
          </a:p>
          <a:p xmlns:a="http://schemas.openxmlformats.org/drawingml/2006/main">
            <a:r>
              <a:t>Sumar: 3.000 tokens de entrada y 500 de salida.</a:t>
            </a:r>
          </a:p>
          <a:p xmlns:a="http://schemas.openxmlformats.org/drawingml/2006/main">
            <a:r>
              <a:t>Sustituir: Usar p_in y p_out por millón de tokens.</a:t>
            </a:r>
          </a:p>
          <a:p xmlns:a="http://schemas.openxmlformats.org/drawingml/2006/main">
            <a:r>
              <a:t>Calcular: Costo = 0,003 × p_in + 0,0005 × p_out.</a:t>
            </a:r>
          </a:p>
          <a:p xmlns:a="http://schemas.openxmlformats.org/drawingml/2006/main">
            <a:r>
              <a:t>Resultado: Fórmula didáctica: usa precios vigentes del endpoint, no una tarifa fija del curso.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¿Por qué dos turnos cortos pueden consumir más que uno largo?</a:t>
            </a:r>
          </a:p>
          <a:p xmlns:a="http://schemas.openxmlformats.org/drawingml/2006/main">
            <a:r>
              <a:t>Orientación para el docente: contraste la respuesta con los criterios del desarrollo y pida evidencia. La conclusión debe respetar: El historial reenviado se vuelve a contar en cada entrada.</a:t>
            </a:r>
          </a:p>
          <a:p xmlns:a="http://schemas.openxmlformats.org/drawingml/2006/main">
            <a:r>
              <a:t/>
            </a:r>
          </a:p>
          <a:p xmlns:a="http://schemas.openxmlformats.org/drawingml/2006/main">
            <a:r>
              <a:t>ERRORES CONCEPTUALES FRECUENTES</a:t>
            </a:r>
          </a:p>
          <a:p xmlns:a="http://schemas.openxmlformats.org/drawingml/2006/main">
            <a:r>
              <a:t>Mezclar precio por mil y por millón o olvidar llamadas internas.</a:t>
            </a:r>
          </a:p>
          <a:p xmlns:a="http://schemas.openxmlformats.org/drawingml/2006/main">
            <a:r>
              <a:t/>
            </a:r>
          </a:p>
          <a:p xmlns:a="http://schemas.openxmlformats.org/drawingml/2006/main">
            <a:r>
              <a:t>CONEXIÓN ANTERIOR</a:t>
            </a:r>
          </a:p>
          <a:p xmlns:a="http://schemas.openxmlformats.org/drawingml/2006/main">
            <a:r>
              <a:t>05: presupuesto. 06: reenvío del historial. · Capítulo previo: Búsqueda semántica</a:t>
            </a:r>
          </a:p>
          <a:p xmlns:a="http://schemas.openxmlformats.org/drawingml/2006/main">
            <a:r>
              <a:t/>
            </a:r>
          </a:p>
          <a:p xmlns:a="http://schemas.openxmlformats.org/drawingml/2006/main">
            <a:r>
              <a:t>CONEXIÓN POSTERIOR</a:t>
            </a:r>
          </a:p>
          <a:p xmlns:a="http://schemas.openxmlformats.org/drawingml/2006/main">
            <a:r>
              <a:t>13: palancas de ahorro. S9–S10: medir con trazas y evaluar impacto. · Sigue: Reducir contexto con criterio</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36 · CAPÍTULO 12 · EJEMPLO</a:t>
            </a:r>
          </a:p>
          <a:p xmlns:a="http://schemas.openxmlformats.org/drawingml/2006/main">
            <a:r>
              <a:t>Título: AndesMóvil · Costo de una conversación</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§8 · A</a:t>
            </a:r>
          </a:p>
          <a:p xmlns:a="http://schemas.openxmlformats.org/drawingml/2006/main">
            <a:r>
              <a:t>Fuente principal: https://github.com/javierrosado/ariwalab-course-langchain/blob/27c24090f1662f9473b673d2020e7bffee04490b/00-preparacion/code/04_costo.py</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Calcular el costo a partir de entrada y salida de cada llamada.</a:t>
            </a:r>
          </a:p>
          <a:p xmlns:a="http://schemas.openxmlformats.org/drawingml/2006/main">
            <a:r>
              <a:t/>
            </a:r>
          </a:p>
          <a:p xmlns:a="http://schemas.openxmlformats.org/drawingml/2006/main">
            <a:r>
              <a:t>CONCEPTO PRINCIPAL</a:t>
            </a:r>
          </a:p>
          <a:p xmlns:a="http://schemas.openxmlformats.org/drawingml/2006/main">
            <a:r>
              <a:t>Costo de una conversación</a:t>
            </a:r>
          </a:p>
          <a:p xmlns:a="http://schemas.openxmlformats.org/drawingml/2006/main">
            <a:r>
              <a:t/>
            </a:r>
          </a:p>
          <a:p xmlns:a="http://schemas.openxmlformats.org/drawingml/2006/main">
            <a:r>
              <a:t>MENSAJE QUE DEBE LLEVARSE EL ALUMNO</a:t>
            </a:r>
          </a:p>
          <a:p xmlns:a="http://schemas.openxmlformats.org/drawingml/2006/main">
            <a:r>
              <a:t>El historial reenviado se vuelve a contar en cada entrada.</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Dos llamadas consumen 1.000/200 y 2.000/300 tokens de entrada/salida. Pida una predicción.</a:t>
            </a:r>
          </a:p>
          <a:p xmlns:a="http://schemas.openxmlformats.org/drawingml/2006/main">
            <a:r>
              <a:t/>
            </a:r>
          </a:p>
          <a:p xmlns:a="http://schemas.openxmlformats.org/drawingml/2006/main">
            <a:r>
              <a:t>Sumar: 3.000 tokens de entrada y 500 de salida.</a:t>
            </a:r>
          </a:p>
          <a:p xmlns:a="http://schemas.openxmlformats.org/drawingml/2006/main">
            <a:r>
              <a:t/>
            </a:r>
          </a:p>
          <a:p xmlns:a="http://schemas.openxmlformats.org/drawingml/2006/main">
            <a:r>
              <a:t>Sustituir: Usar p_in y p_out por millón de tokens.</a:t>
            </a:r>
          </a:p>
          <a:p xmlns:a="http://schemas.openxmlformats.org/drawingml/2006/main">
            <a:r>
              <a:t/>
            </a:r>
          </a:p>
          <a:p xmlns:a="http://schemas.openxmlformats.org/drawingml/2006/main">
            <a:r>
              <a:t>Calcular: Costo = 0,003 × p_in + 0,0005 × p_out.</a:t>
            </a:r>
          </a:p>
          <a:p xmlns:a="http://schemas.openxmlformats.org/drawingml/2006/main">
            <a:r>
              <a:t/>
            </a:r>
          </a:p>
          <a:p xmlns:a="http://schemas.openxmlformats.org/drawingml/2006/main">
            <a:r>
              <a:t>Resultado esperado: Fórmula didáctica: usa precios vigentes del endpoint, no una tarifa fija del curso.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Lea los supuestos antes de mostrar el gráfico: 1.000 tokens de prompt, 1.200 de tools y 2.000 de documentos suman 4.200 fijos. El usuario añade 40; el modelo responde 160. El primer turno usa 4.240 de entrada. Cada turno previo incorpora 200 al historial. Así, la entrada del turno t es 4.240 + 200 × (t−1), y el turno doce llega a 6.440.</a:t>
            </a:r>
          </a:p>
          <a:p xmlns:a="http://schemas.openxmlformats.org/drawingml/2006/main">
            <a:r>
              <a:t/>
            </a:r>
          </a:p>
          <a:p xmlns:a="http://schemas.openxmlformats.org/drawingml/2006/main">
            <a:r>
              <a:t>Explique los precios ilustrativos de la simulación: USD 0,20 por millón de entrada y USD 0,60 por millón de salida. No son una cotización comercial. La suma de entradas de los doce turnos es 64.080 y la de salidas es 1.920; el total calculado es USD 0,013968. Los valores de la lámina se derivan del código, mientras otras cifras del texto de fundamentos son ejemplos distintos. La pregunta permanece igual de corta; el componente variable que crece es el historial.</a:t>
            </a:r>
          </a:p>
          <a:p xmlns:a="http://schemas.openxmlformats.org/drawingml/2006/main">
            <a:r>
              <a:t/>
            </a:r>
          </a:p>
          <a:p xmlns:a="http://schemas.openxmlformats.org/drawingml/2006/main">
            <a:r>
              <a:t>ELEMENTOS QUE CONVIENE EXPLICAR</a:t>
            </a:r>
          </a:p>
          <a:p xmlns:a="http://schemas.openxmlformats.org/drawingml/2006/main">
            <a:r>
              <a:t>Sumar; Sustituir; Calcular.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Dos llamadas consumen 1.000/200 y 2.000/300 tokens de entrada/salida.</a:t>
            </a:r>
          </a:p>
          <a:p xmlns:a="http://schemas.openxmlformats.org/drawingml/2006/main">
            <a:r>
              <a:t>Sumar: 3.000 tokens de entrada y 500 de salida.</a:t>
            </a:r>
          </a:p>
          <a:p xmlns:a="http://schemas.openxmlformats.org/drawingml/2006/main">
            <a:r>
              <a:t>Sustituir: Usar p_in y p_out por millón de tokens.</a:t>
            </a:r>
          </a:p>
          <a:p xmlns:a="http://schemas.openxmlformats.org/drawingml/2006/main">
            <a:r>
              <a:t>Calcular: Costo = 0,003 × p_in + 0,0005 × p_out.</a:t>
            </a:r>
          </a:p>
          <a:p xmlns:a="http://schemas.openxmlformats.org/drawingml/2006/main">
            <a:r>
              <a:t>Resultado: Fórmula didáctica: usa precios vigentes del endpoint, no una tarifa fija del curso.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¿Por qué dos turnos cortos pueden consumir más que uno largo?</a:t>
            </a:r>
          </a:p>
          <a:p xmlns:a="http://schemas.openxmlformats.org/drawingml/2006/main">
            <a:r>
              <a:t>Orientación para el docente: contraste la respuesta con los criterios del desarrollo y pida evidencia. La conclusión debe respetar: El historial reenviado se vuelve a contar en cada entrada.</a:t>
            </a:r>
          </a:p>
          <a:p xmlns:a="http://schemas.openxmlformats.org/drawingml/2006/main">
            <a:r>
              <a:t/>
            </a:r>
          </a:p>
          <a:p xmlns:a="http://schemas.openxmlformats.org/drawingml/2006/main">
            <a:r>
              <a:t>ERRORES CONCEPTUALES FRECUENTES</a:t>
            </a:r>
          </a:p>
          <a:p xmlns:a="http://schemas.openxmlformats.org/drawingml/2006/main">
            <a:r>
              <a:t>Mezclar precio por mil y por millón o olvidar llamadas internas.</a:t>
            </a:r>
          </a:p>
          <a:p xmlns:a="http://schemas.openxmlformats.org/drawingml/2006/main">
            <a:r>
              <a:t/>
            </a:r>
          </a:p>
          <a:p xmlns:a="http://schemas.openxmlformats.org/drawingml/2006/main">
            <a:r>
              <a:t>CONEXIÓN ANTERIOR</a:t>
            </a:r>
          </a:p>
          <a:p xmlns:a="http://schemas.openxmlformats.org/drawingml/2006/main">
            <a:r>
              <a:t>05: presupuesto. 06: reenvío del historial. · Capítulo previo: Búsqueda semántica</a:t>
            </a:r>
          </a:p>
          <a:p xmlns:a="http://schemas.openxmlformats.org/drawingml/2006/main">
            <a:r>
              <a:t/>
            </a:r>
          </a:p>
          <a:p xmlns:a="http://schemas.openxmlformats.org/drawingml/2006/main">
            <a:r>
              <a:t>CONEXIÓN POSTERIOR</a:t>
            </a:r>
          </a:p>
          <a:p xmlns:a="http://schemas.openxmlformats.org/drawingml/2006/main">
            <a:r>
              <a:t>13: palancas de ahorro. S9–S10: medir con trazas y evaluar impacto. · Sigue: Reducir contexto con criterio</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37 · CAPÍTULO 13 · CONCEPTO</a:t>
            </a:r>
          </a:p>
          <a:p xmlns:a="http://schemas.openxmlformats.org/drawingml/2006/main">
            <a:r>
              <a:t>Título: Reducir contexto con criterio</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§8 · B</a:t>
            </a:r>
          </a:p>
          <a:p xmlns:a="http://schemas.openxmlformats.org/drawingml/2006/main">
            <a:r>
              <a:t>Fuente principal: https://github.com/javierrosado/ariwalab-course-langchain/blob/27c24090f1662f9473b673d2020e7bffee04490b/00-preparacion/code/04_costo.py</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Reducir tokens preservando información necesaria para responder bien.</a:t>
            </a:r>
          </a:p>
          <a:p xmlns:a="http://schemas.openxmlformats.org/drawingml/2006/main">
            <a:r>
              <a:t/>
            </a:r>
          </a:p>
          <a:p xmlns:a="http://schemas.openxmlformats.org/drawingml/2006/main">
            <a:r>
              <a:t>CONCEPTO PRINCIPAL</a:t>
            </a:r>
          </a:p>
          <a:p xmlns:a="http://schemas.openxmlformats.org/drawingml/2006/main">
            <a:r>
              <a:t>Reducir contexto con criterio</a:t>
            </a:r>
          </a:p>
          <a:p xmlns:a="http://schemas.openxmlformats.org/drawingml/2006/main">
            <a:r>
              <a:t/>
            </a:r>
          </a:p>
          <a:p xmlns:a="http://schemas.openxmlformats.org/drawingml/2006/main">
            <a:r>
              <a:t>MENSAJE QUE DEBE LLEVARSE EL ALUMNO</a:t>
            </a:r>
          </a:p>
          <a:p xmlns:a="http://schemas.openxmlformats.org/drawingml/2006/main">
            <a:r>
              <a:t>Optimiza contexto con pruebas, no borrando información a ciegas.</a:t>
            </a:r>
          </a:p>
          <a:p xmlns:a="http://schemas.openxmlformats.org/drawingml/2006/main">
            <a:r>
              <a:t/>
            </a:r>
          </a:p>
          <a:p xmlns:a="http://schemas.openxmlformats.org/drawingml/2006/main">
            <a:r>
              <a:t>EXPLICACIÓN SUGERIDA PARA EL DOCENTE</a:t>
            </a:r>
          </a:p>
          <a:p xmlns:a="http://schemas.openxmlformats.org/drawingml/2006/main">
            <a:r>
              <a:t>Abra con la pregunta «¿Qué dato conservarías aunque ocupe tokens?».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Seleccionar: Enviar solo historial y documentos pertinentes.</a:t>
            </a:r>
          </a:p>
          <a:p xmlns:a="http://schemas.openxmlformats.org/drawingml/2006/main">
            <a:r>
              <a:t/>
            </a:r>
          </a:p>
          <a:p xmlns:a="http://schemas.openxmlformats.org/drawingml/2006/main">
            <a:r>
              <a:t>Resumir: Conservar hechos, identificadores y restricciones relevantes.</a:t>
            </a:r>
          </a:p>
          <a:p xmlns:a="http://schemas.openxmlformats.org/drawingml/2006/main">
            <a:r>
              <a:t/>
            </a:r>
          </a:p>
          <a:p xmlns:a="http://schemas.openxmlformats.org/drawingml/2006/main">
            <a:r>
              <a:t>Medir: Comprobar ahorro y calidad sobre las mismas consultas.</a:t>
            </a:r>
          </a:p>
          <a:p xmlns:a="http://schemas.openxmlformats.org/drawingml/2006/main">
            <a:r>
              <a:t/>
            </a:r>
          </a:p>
          <a:p xmlns:a="http://schemas.openxmlformats.org/drawingml/2006/main">
            <a:r>
              <a:t>Cierre con la distinción: Optimiza contexto con pruebas, no borrando información a ciegas.</a:t>
            </a:r>
          </a:p>
          <a:p xmlns:a="http://schemas.openxmlformats.org/drawingml/2006/main">
            <a:r>
              <a:t/>
            </a:r>
          </a:p>
          <a:p xmlns:a="http://schemas.openxmlformats.org/drawingml/2006/main">
            <a:r>
              <a:t>AMPLIACIÓN DEL MATERIAL APROBADO</a:t>
            </a:r>
          </a:p>
          <a:p xmlns:a="http://schemas.openxmlformats.org/drawingml/2006/main">
            <a:r>
              <a:t>Use las cuatro tarjetas como decisiones, no como recetas universales. Un historial puede resumirse, pero debe conservar referencias como el pedido del cliente. Reducir documentos puede ahorrar tokens, pero omitir la excepción que determina la respuesta. Limitar tools simplifica el catálogo, pero no debe retirar una capacidad necesaria. Acortar el prompt exige mantener instrucciones y límites importantes.</a:t>
            </a:r>
          </a:p>
          <a:p xmlns:a="http://schemas.openxmlformats.org/drawingml/2006/main">
            <a:r>
              <a:t/>
            </a:r>
          </a:p>
          <a:p xmlns:a="http://schemas.openxmlformats.org/drawingml/2006/main">
            <a:r>
              <a:t>En la simulación, reducir de cuatro a dos fragmentos ahorra aproximadamente mil tokens de entrada por llamada porque el código asigna dos mil a los cuatro fragmentos. Esta cifra solo pertenece a esos supuestos. Proponga variar una palanca, registrar el ahorro y volver a pasar los mismos casos. No añada cachés ni arquitecturas nuevas a S0. Concluya recordando que la demo se centra en la entrada; en otros escenarios también importan tokens de salida y llamadas adicionales.</a:t>
            </a:r>
          </a:p>
          <a:p xmlns:a="http://schemas.openxmlformats.org/drawingml/2006/main">
            <a:r>
              <a:t/>
            </a:r>
          </a:p>
          <a:p xmlns:a="http://schemas.openxmlformats.org/drawingml/2006/main">
            <a:r>
              <a:t>ELEMENTOS QUE CONVIENE EXPLICAR</a:t>
            </a:r>
          </a:p>
          <a:p xmlns:a="http://schemas.openxmlformats.org/drawingml/2006/main">
            <a:r>
              <a:t>Seleccionar; Resumir; Medir.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Un historial repite saludos y contiene el identificador del producto.</a:t>
            </a:r>
          </a:p>
          <a:p xmlns:a="http://schemas.openxmlformats.org/drawingml/2006/main">
            <a:r>
              <a:t>Eliminar: Quitar saludos repetidos sin efecto en la tarea.</a:t>
            </a:r>
          </a:p>
          <a:p xmlns:a="http://schemas.openxmlformats.org/drawingml/2006/main">
            <a:r>
              <a:t>Preservar: Mantener producto, pregunta vigente y restricciones.</a:t>
            </a:r>
          </a:p>
          <a:p xmlns:a="http://schemas.openxmlformats.org/drawingml/2006/main">
            <a:r>
              <a:t>Validar: Comparar la respuesta y los tokens antes y después.</a:t>
            </a:r>
          </a:p>
          <a:p xmlns:a="http://schemas.openxmlformats.org/drawingml/2006/main">
            <a:r>
              <a:t>Resultado: El ahorro deja de ser mejora si se pierde la información decisiva.</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dato conservarías aunque ocupe tokens?</a:t>
            </a:r>
          </a:p>
          <a:p xmlns:a="http://schemas.openxmlformats.org/drawingml/2006/main">
            <a:r>
              <a:t>Orientación para el docente: contraste la respuesta con los criterios del desarrollo y pida evidencia. La conclusión debe respetar: Optimiza contexto con pruebas, no borrando información a ciegas.</a:t>
            </a:r>
          </a:p>
          <a:p xmlns:a="http://schemas.openxmlformats.org/drawingml/2006/main">
            <a:r>
              <a:t/>
            </a:r>
          </a:p>
          <a:p xmlns:a="http://schemas.openxmlformats.org/drawingml/2006/main">
            <a:r>
              <a:t>ERRORES CONCEPTUALES FRECUENTES</a:t>
            </a:r>
          </a:p>
          <a:p xmlns:a="http://schemas.openxmlformats.org/drawingml/2006/main">
            <a:r>
              <a:t>Eliminar instrucciones de seguridad para abaratar llamadas.</a:t>
            </a:r>
          </a:p>
          <a:p xmlns:a="http://schemas.openxmlformats.org/drawingml/2006/main">
            <a:r>
              <a:t/>
            </a:r>
          </a:p>
          <a:p xmlns:a="http://schemas.openxmlformats.org/drawingml/2006/main">
            <a:r>
              <a:t>CONEXIÓN ANTERIOR</a:t>
            </a:r>
          </a:p>
          <a:p xmlns:a="http://schemas.openxmlformats.org/drawingml/2006/main">
            <a:r>
              <a:t>12 muestra el crecimiento y su costo. · Capítulo previo: Costo de una conversación</a:t>
            </a:r>
          </a:p>
          <a:p xmlns:a="http://schemas.openxmlformats.org/drawingml/2006/main">
            <a:r>
              <a:t/>
            </a:r>
          </a:p>
          <a:p xmlns:a="http://schemas.openxmlformats.org/drawingml/2006/main">
            <a:r>
              <a:t>CONEXIÓN POSTERIOR</a:t>
            </a:r>
          </a:p>
          <a:p xmlns:a="http://schemas.openxmlformats.org/drawingml/2006/main">
            <a:r>
              <a:t>S5: tamaño y selección de fragmentos; S10: comparación de versiones con evidencia. · Sigue: Pesos abiertos e inferencia en nube</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38 · CAPÍTULO 13 · DESARROLLO</a:t>
            </a:r>
          </a:p>
          <a:p xmlns:a="http://schemas.openxmlformats.org/drawingml/2006/main">
            <a:r>
              <a:t>Título: Cuatro palancas, una restricción</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§8 · B</a:t>
            </a:r>
          </a:p>
          <a:p xmlns:a="http://schemas.openxmlformats.org/drawingml/2006/main">
            <a:r>
              <a:t>Fuente principal: https://github.com/javierrosado/ariwalab-course-langchain/blob/27c24090f1662f9473b673d2020e7bffee04490b/00-preparacion/code/04_costo.py</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Reducir tokens preservando información necesaria para responder bien.</a:t>
            </a:r>
          </a:p>
          <a:p xmlns:a="http://schemas.openxmlformats.org/drawingml/2006/main">
            <a:r>
              <a:t/>
            </a:r>
          </a:p>
          <a:p xmlns:a="http://schemas.openxmlformats.org/drawingml/2006/main">
            <a:r>
              <a:t>CONCEPTO PRINCIPAL</a:t>
            </a:r>
          </a:p>
          <a:p xmlns:a="http://schemas.openxmlformats.org/drawingml/2006/main">
            <a:r>
              <a:t>Reducir contexto con criterio</a:t>
            </a:r>
          </a:p>
          <a:p xmlns:a="http://schemas.openxmlformats.org/drawingml/2006/main">
            <a:r>
              <a:t/>
            </a:r>
          </a:p>
          <a:p xmlns:a="http://schemas.openxmlformats.org/drawingml/2006/main">
            <a:r>
              <a:t>MENSAJE QUE DEBE LLEVARSE EL ALUMNO</a:t>
            </a:r>
          </a:p>
          <a:p xmlns:a="http://schemas.openxmlformats.org/drawingml/2006/main">
            <a:r>
              <a:t>Optimiza contexto con pruebas, no borrando información a ciegas.</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Instrucciones: Quitar repeticiones sin borrar límites.</a:t>
            </a:r>
          </a:p>
          <a:p xmlns:a="http://schemas.openxmlformats.org/drawingml/2006/main">
            <a:r>
              <a:t/>
            </a:r>
          </a:p>
          <a:p xmlns:a="http://schemas.openxmlformats.org/drawingml/2006/main">
            <a:r>
              <a:t>Historial: Recortar o resumir preservando referencias necesarias.</a:t>
            </a:r>
          </a:p>
          <a:p xmlns:a="http://schemas.openxmlformats.org/drawingml/2006/main">
            <a:r>
              <a:t/>
            </a:r>
          </a:p>
          <a:p xmlns:a="http://schemas.openxmlformats.org/drawingml/2006/main">
            <a:r>
              <a:t>Recuperación y salida: Reducir fragmentos irrelevantes y limitar extensión útil.</a:t>
            </a:r>
          </a:p>
          <a:p xmlns:a="http://schemas.openxmlformats.org/drawingml/2006/main">
            <a:r>
              <a:t/>
            </a:r>
          </a:p>
          <a:p xmlns:a="http://schemas.openxmlformats.org/drawingml/2006/main">
            <a:r>
              <a:t>Contraste la regla con este error: Eliminar instrucciones de seguridad para abaratar llamadas.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Use las cuatro tarjetas como decisiones, no como recetas universales. Un historial puede resumirse, pero debe conservar referencias como el pedido del cliente. Reducir documentos puede ahorrar tokens, pero omitir la excepción que determina la respuesta. Limitar tools simplifica el catálogo, pero no debe retirar una capacidad necesaria. Acortar el prompt exige mantener instrucciones y límites importantes.</a:t>
            </a:r>
          </a:p>
          <a:p xmlns:a="http://schemas.openxmlformats.org/drawingml/2006/main">
            <a:r>
              <a:t/>
            </a:r>
          </a:p>
          <a:p xmlns:a="http://schemas.openxmlformats.org/drawingml/2006/main">
            <a:r>
              <a:t>En la simulación, reducir de cuatro a dos fragmentos ahorra aproximadamente mil tokens de entrada por llamada porque el código asigna dos mil a los cuatro fragmentos. Esta cifra solo pertenece a esos supuestos. Proponga variar una palanca, registrar el ahorro y volver a pasar los mismos casos. No añada cachés ni arquitecturas nuevas a S0. Concluya recordando que la demo se centra en la entrada; en otros escenarios también importan tokens de salida y llamadas adicionales.</a:t>
            </a:r>
          </a:p>
          <a:p xmlns:a="http://schemas.openxmlformats.org/drawingml/2006/main">
            <a:r>
              <a:t/>
            </a:r>
          </a:p>
          <a:p xmlns:a="http://schemas.openxmlformats.org/drawingml/2006/main">
            <a:r>
              <a:t>ELEMENTOS QUE CONVIENE EXPLICAR</a:t>
            </a:r>
          </a:p>
          <a:p xmlns:a="http://schemas.openxmlformats.org/drawingml/2006/main">
            <a:r>
              <a:t>Instrucciones; Historial; Recuperación y salida.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Un historial repite saludos y contiene el identificador del producto.</a:t>
            </a:r>
          </a:p>
          <a:p xmlns:a="http://schemas.openxmlformats.org/drawingml/2006/main">
            <a:r>
              <a:t>Eliminar: Quitar saludos repetidos sin efecto en la tarea.</a:t>
            </a:r>
          </a:p>
          <a:p xmlns:a="http://schemas.openxmlformats.org/drawingml/2006/main">
            <a:r>
              <a:t>Preservar: Mantener producto, pregunta vigente y restricciones.</a:t>
            </a:r>
          </a:p>
          <a:p xmlns:a="http://schemas.openxmlformats.org/drawingml/2006/main">
            <a:r>
              <a:t>Validar: Comparar la respuesta y los tokens antes y después.</a:t>
            </a:r>
          </a:p>
          <a:p xmlns:a="http://schemas.openxmlformats.org/drawingml/2006/main">
            <a:r>
              <a:t>Resultado: El ahorro deja de ser mejora si se pierde la información decisiva.</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dato conservarías aunque ocupe tokens?</a:t>
            </a:r>
          </a:p>
          <a:p xmlns:a="http://schemas.openxmlformats.org/drawingml/2006/main">
            <a:r>
              <a:t>Orientación para el docente: contraste la respuesta con los criterios del desarrollo y pida evidencia. La conclusión debe respetar: Optimiza contexto con pruebas, no borrando información a ciegas.</a:t>
            </a:r>
          </a:p>
          <a:p xmlns:a="http://schemas.openxmlformats.org/drawingml/2006/main">
            <a:r>
              <a:t/>
            </a:r>
          </a:p>
          <a:p xmlns:a="http://schemas.openxmlformats.org/drawingml/2006/main">
            <a:r>
              <a:t>ERRORES CONCEPTUALES FRECUENTES</a:t>
            </a:r>
          </a:p>
          <a:p xmlns:a="http://schemas.openxmlformats.org/drawingml/2006/main">
            <a:r>
              <a:t>Eliminar instrucciones de seguridad para abaratar llamadas.</a:t>
            </a:r>
          </a:p>
          <a:p xmlns:a="http://schemas.openxmlformats.org/drawingml/2006/main">
            <a:r>
              <a:t/>
            </a:r>
          </a:p>
          <a:p xmlns:a="http://schemas.openxmlformats.org/drawingml/2006/main">
            <a:r>
              <a:t>CONEXIÓN ANTERIOR</a:t>
            </a:r>
          </a:p>
          <a:p xmlns:a="http://schemas.openxmlformats.org/drawingml/2006/main">
            <a:r>
              <a:t>12 muestra el crecimiento y su costo. · Capítulo previo: Costo de una conversación</a:t>
            </a:r>
          </a:p>
          <a:p xmlns:a="http://schemas.openxmlformats.org/drawingml/2006/main">
            <a:r>
              <a:t/>
            </a:r>
          </a:p>
          <a:p xmlns:a="http://schemas.openxmlformats.org/drawingml/2006/main">
            <a:r>
              <a:t>CONEXIÓN POSTERIOR</a:t>
            </a:r>
          </a:p>
          <a:p xmlns:a="http://schemas.openxmlformats.org/drawingml/2006/main">
            <a:r>
              <a:t>S5: tamaño y selección de fragmentos; S10: comparación de versiones con evidencia. · Sigue: Pesos abiertos e inferencia en nube</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39 · CAPÍTULO 13 · EJEMPLO</a:t>
            </a:r>
          </a:p>
          <a:p xmlns:a="http://schemas.openxmlformats.org/drawingml/2006/main">
            <a:r>
              <a:t>Título: Banco Inti · Reducir contexto con criterio</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§8 · B</a:t>
            </a:r>
          </a:p>
          <a:p xmlns:a="http://schemas.openxmlformats.org/drawingml/2006/main">
            <a:r>
              <a:t>Fuente principal: https://github.com/javierrosado/ariwalab-course-langchain/blob/27c24090f1662f9473b673d2020e7bffee04490b/00-preparacion/code/04_costo.py</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Reducir tokens preservando información necesaria para responder bien.</a:t>
            </a:r>
          </a:p>
          <a:p xmlns:a="http://schemas.openxmlformats.org/drawingml/2006/main">
            <a:r>
              <a:t/>
            </a:r>
          </a:p>
          <a:p xmlns:a="http://schemas.openxmlformats.org/drawingml/2006/main">
            <a:r>
              <a:t>CONCEPTO PRINCIPAL</a:t>
            </a:r>
          </a:p>
          <a:p xmlns:a="http://schemas.openxmlformats.org/drawingml/2006/main">
            <a:r>
              <a:t>Reducir contexto con criterio</a:t>
            </a:r>
          </a:p>
          <a:p xmlns:a="http://schemas.openxmlformats.org/drawingml/2006/main">
            <a:r>
              <a:t/>
            </a:r>
          </a:p>
          <a:p xmlns:a="http://schemas.openxmlformats.org/drawingml/2006/main">
            <a:r>
              <a:t>MENSAJE QUE DEBE LLEVARSE EL ALUMNO</a:t>
            </a:r>
          </a:p>
          <a:p xmlns:a="http://schemas.openxmlformats.org/drawingml/2006/main">
            <a:r>
              <a:t>Optimiza contexto con pruebas, no borrando información a ciegas.</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Un historial repite saludos y contiene el identificador del producto. Pida una predicción.</a:t>
            </a:r>
          </a:p>
          <a:p xmlns:a="http://schemas.openxmlformats.org/drawingml/2006/main">
            <a:r>
              <a:t/>
            </a:r>
          </a:p>
          <a:p xmlns:a="http://schemas.openxmlformats.org/drawingml/2006/main">
            <a:r>
              <a:t>Eliminar: Quitar saludos repetidos sin efecto en la tarea.</a:t>
            </a:r>
          </a:p>
          <a:p xmlns:a="http://schemas.openxmlformats.org/drawingml/2006/main">
            <a:r>
              <a:t/>
            </a:r>
          </a:p>
          <a:p xmlns:a="http://schemas.openxmlformats.org/drawingml/2006/main">
            <a:r>
              <a:t>Preservar: Mantener producto, pregunta vigente y restricciones.</a:t>
            </a:r>
          </a:p>
          <a:p xmlns:a="http://schemas.openxmlformats.org/drawingml/2006/main">
            <a:r>
              <a:t/>
            </a:r>
          </a:p>
          <a:p xmlns:a="http://schemas.openxmlformats.org/drawingml/2006/main">
            <a:r>
              <a:t>Validar: Comparar la respuesta y los tokens antes y después.</a:t>
            </a:r>
          </a:p>
          <a:p xmlns:a="http://schemas.openxmlformats.org/drawingml/2006/main">
            <a:r>
              <a:t/>
            </a:r>
          </a:p>
          <a:p xmlns:a="http://schemas.openxmlformats.org/drawingml/2006/main">
            <a:r>
              <a:t>Resultado esperado: El ahorro deja de ser mejora si se pierde la información decisiva.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Use las cuatro tarjetas como decisiones, no como recetas universales. Un historial puede resumirse, pero debe conservar referencias como el pedido del cliente. Reducir documentos puede ahorrar tokens, pero omitir la excepción que determina la respuesta. Limitar tools simplifica el catálogo, pero no debe retirar una capacidad necesaria. Acortar el prompt exige mantener instrucciones y límites importantes.</a:t>
            </a:r>
          </a:p>
          <a:p xmlns:a="http://schemas.openxmlformats.org/drawingml/2006/main">
            <a:r>
              <a:t/>
            </a:r>
          </a:p>
          <a:p xmlns:a="http://schemas.openxmlformats.org/drawingml/2006/main">
            <a:r>
              <a:t>En la simulación, reducir de cuatro a dos fragmentos ahorra aproximadamente mil tokens de entrada por llamada porque el código asigna dos mil a los cuatro fragmentos. Esta cifra solo pertenece a esos supuestos. Proponga variar una palanca, registrar el ahorro y volver a pasar los mismos casos. No añada cachés ni arquitecturas nuevas a S0. Concluya recordando que la demo se centra en la entrada; en otros escenarios también importan tokens de salida y llamadas adicionales.</a:t>
            </a:r>
          </a:p>
          <a:p xmlns:a="http://schemas.openxmlformats.org/drawingml/2006/main">
            <a:r>
              <a:t/>
            </a:r>
          </a:p>
          <a:p xmlns:a="http://schemas.openxmlformats.org/drawingml/2006/main">
            <a:r>
              <a:t>ELEMENTOS QUE CONVIENE EXPLICAR</a:t>
            </a:r>
          </a:p>
          <a:p xmlns:a="http://schemas.openxmlformats.org/drawingml/2006/main">
            <a:r>
              <a:t>Eliminar; Preservar; Validar.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Un historial repite saludos y contiene el identificador del producto.</a:t>
            </a:r>
          </a:p>
          <a:p xmlns:a="http://schemas.openxmlformats.org/drawingml/2006/main">
            <a:r>
              <a:t>Eliminar: Quitar saludos repetidos sin efecto en la tarea.</a:t>
            </a:r>
          </a:p>
          <a:p xmlns:a="http://schemas.openxmlformats.org/drawingml/2006/main">
            <a:r>
              <a:t>Preservar: Mantener producto, pregunta vigente y restricciones.</a:t>
            </a:r>
          </a:p>
          <a:p xmlns:a="http://schemas.openxmlformats.org/drawingml/2006/main">
            <a:r>
              <a:t>Validar: Comparar la respuesta y los tokens antes y después.</a:t>
            </a:r>
          </a:p>
          <a:p xmlns:a="http://schemas.openxmlformats.org/drawingml/2006/main">
            <a:r>
              <a:t>Resultado: El ahorro deja de ser mejora si se pierde la información decisiva.</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dato conservarías aunque ocupe tokens?</a:t>
            </a:r>
          </a:p>
          <a:p xmlns:a="http://schemas.openxmlformats.org/drawingml/2006/main">
            <a:r>
              <a:t>Orientación para el docente: contraste la respuesta con los criterios del desarrollo y pida evidencia. La conclusión debe respetar: Optimiza contexto con pruebas, no borrando información a ciegas.</a:t>
            </a:r>
          </a:p>
          <a:p xmlns:a="http://schemas.openxmlformats.org/drawingml/2006/main">
            <a:r>
              <a:t/>
            </a:r>
          </a:p>
          <a:p xmlns:a="http://schemas.openxmlformats.org/drawingml/2006/main">
            <a:r>
              <a:t>ERRORES CONCEPTUALES FRECUENTES</a:t>
            </a:r>
          </a:p>
          <a:p xmlns:a="http://schemas.openxmlformats.org/drawingml/2006/main">
            <a:r>
              <a:t>Eliminar instrucciones de seguridad para abaratar llamadas.</a:t>
            </a:r>
          </a:p>
          <a:p xmlns:a="http://schemas.openxmlformats.org/drawingml/2006/main">
            <a:r>
              <a:t/>
            </a:r>
          </a:p>
          <a:p xmlns:a="http://schemas.openxmlformats.org/drawingml/2006/main">
            <a:r>
              <a:t>CONEXIÓN ANTERIOR</a:t>
            </a:r>
          </a:p>
          <a:p xmlns:a="http://schemas.openxmlformats.org/drawingml/2006/main">
            <a:r>
              <a:t>12 muestra el crecimiento y su costo. · Capítulo previo: Costo de una conversación</a:t>
            </a:r>
          </a:p>
          <a:p xmlns:a="http://schemas.openxmlformats.org/drawingml/2006/main">
            <a:r>
              <a:t/>
            </a:r>
          </a:p>
          <a:p xmlns:a="http://schemas.openxmlformats.org/drawingml/2006/main">
            <a:r>
              <a:t>CONEXIÓN POSTERIOR</a:t>
            </a:r>
          </a:p>
          <a:p xmlns:a="http://schemas.openxmlformats.org/drawingml/2006/main">
            <a:r>
              <a:t>S5: tamaño y selección de fragmentos; S10: comparación de versiones con evidencia. · Sigue: Pesos abiertos e inferencia en nube</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40 · CAPÍTULO 14 · CONCEPTO</a:t>
            </a:r>
          </a:p>
          <a:p xmlns:a="http://schemas.openxmlformats.org/drawingml/2006/main">
            <a:r>
              <a:t>Título: Pesos abiertos e inferencia en nube</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§9</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Separar disponibilidad de pesos y lugar donde se ejecuta el modelo.</a:t>
            </a:r>
          </a:p>
          <a:p xmlns:a="http://schemas.openxmlformats.org/drawingml/2006/main">
            <a:r>
              <a:t/>
            </a:r>
          </a:p>
          <a:p xmlns:a="http://schemas.openxmlformats.org/drawingml/2006/main">
            <a:r>
              <a:t>CONCEPTO PRINCIPAL</a:t>
            </a:r>
          </a:p>
          <a:p xmlns:a="http://schemas.openxmlformats.org/drawingml/2006/main">
            <a:r>
              <a:t>Pesos abiertos e inferencia en nube</a:t>
            </a:r>
          </a:p>
          <a:p xmlns:a="http://schemas.openxmlformats.org/drawingml/2006/main">
            <a:r>
              <a:t/>
            </a:r>
          </a:p>
          <a:p xmlns:a="http://schemas.openxmlformats.org/drawingml/2006/main">
            <a:r>
              <a:t>MENSAJE QUE DEBE LLEVARSE EL ALUMNO</a:t>
            </a:r>
          </a:p>
          <a:p xmlns:a="http://schemas.openxmlformats.org/drawingml/2006/main">
            <a:r>
              <a:t>Modelo y servicio de inferencia son decisiones distintas.</a:t>
            </a:r>
          </a:p>
          <a:p xmlns:a="http://schemas.openxmlformats.org/drawingml/2006/main">
            <a:r>
              <a:t/>
            </a:r>
          </a:p>
          <a:p xmlns:a="http://schemas.openxmlformats.org/drawingml/2006/main">
            <a:r>
              <a:t>EXPLICACIÓN SUGERIDA PARA EL DOCENTE</a:t>
            </a:r>
          </a:p>
          <a:p xmlns:a="http://schemas.openxmlformats.org/drawingml/2006/main">
            <a:r>
              <a:t>Abra con la pregunta «¿Necesito una GPU local para llamar al endpoint del curso?».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Pesos abiertos: Puede haber acceso a los parámetros bajo su licencia.</a:t>
            </a:r>
          </a:p>
          <a:p xmlns:a="http://schemas.openxmlformats.org/drawingml/2006/main">
            <a:r>
              <a:t/>
            </a:r>
          </a:p>
          <a:p xmlns:a="http://schemas.openxmlformats.org/drawingml/2006/main">
            <a:r>
              <a:t>Inferencia remota: Una API ejecuta el modelo en infraestructura externa.</a:t>
            </a:r>
          </a:p>
          <a:p xmlns:a="http://schemas.openxmlformats.org/drawingml/2006/main">
            <a:r>
              <a:t/>
            </a:r>
          </a:p>
          <a:p xmlns:a="http://schemas.openxmlformats.org/drawingml/2006/main">
            <a:r>
              <a:t>Curso: Python local llama al proveedor configurado.</a:t>
            </a:r>
          </a:p>
          <a:p xmlns:a="http://schemas.openxmlformats.org/drawingml/2006/main">
            <a:r>
              <a:t/>
            </a:r>
          </a:p>
          <a:p xmlns:a="http://schemas.openxmlformats.org/drawingml/2006/main">
            <a:r>
              <a:t>Cierre con la distinción: Modelo y servicio de inferencia son decisiones distintas.</a:t>
            </a:r>
          </a:p>
          <a:p xmlns:a="http://schemas.openxmlformats.org/drawingml/2006/main">
            <a:r>
              <a:t/>
            </a:r>
          </a:p>
          <a:p xmlns:a="http://schemas.openxmlformats.org/drawingml/2006/main">
            <a:r>
              <a:t>AMPLIACIÓN DEL MATERIAL APROBADO</a:t>
            </a:r>
          </a:p>
          <a:p xmlns:a="http://schemas.openxmlformats.org/drawingml/2006/main">
            <a:r>
              <a:t>Empiece por la columna izquierda: el alumno necesita Python, editor, Git y credenciales. La flecha cruza hacia la inferencia remota que usa el curso. Qwen3-32B es el modelo base seleccionado por las pruebas del repositorio; esta afirmación se refiere a su evaluación documentada, no a un benchmark universal ni a disponibilidad garantizada del proveedor.</a:t>
            </a:r>
          </a:p>
          <a:p xmlns:a="http://schemas.openxmlformats.org/drawingml/2006/main">
            <a:r>
              <a:t/>
            </a:r>
          </a:p>
          <a:p xmlns:a="http://schemas.openxmlformats.org/drawingml/2006/main">
            <a:r>
              <a:t>La columna derecha explica que disponer de pesos y licencia permite evaluar descarga y autohospedaje, pero ese no es el camino de los laboratorios. Evite asociar «abierto» con costo cero, infraestructura local o privacidad automática. El dato sale hacia un servicio remoto en este montaje. Descargar el tokenizador en la demo uno tampoco descarga y ejecuta los pesos del modelo. En S1 se profundiza provider.py, que evita acoplar cada script a un proveedor concreto.</a:t>
            </a:r>
          </a:p>
          <a:p xmlns:a="http://schemas.openxmlformats.org/drawingml/2006/main">
            <a:r>
              <a:t/>
            </a:r>
          </a:p>
          <a:p xmlns:a="http://schemas.openxmlformats.org/drawingml/2006/main">
            <a:r>
              <a:t>ELEMENTOS QUE CONVIENE EXPLICAR</a:t>
            </a:r>
          </a:p>
          <a:p xmlns:a="http://schemas.openxmlformats.org/drawingml/2006/main">
            <a:r>
              <a:t>Pesos abiertos; Inferencia remota; Curso.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Un equipo usa un modelo de pesos abiertos desde Hugging Face.</a:t>
            </a:r>
          </a:p>
          <a:p xmlns:a="http://schemas.openxmlformats.org/drawingml/2006/main">
            <a:r>
              <a:t>Local: Ejecuta su script Python en una laptop.</a:t>
            </a:r>
          </a:p>
          <a:p xmlns:a="http://schemas.openxmlformats.org/drawingml/2006/main">
            <a:r>
              <a:t>Remoto: La solicitud llega al servicio de inferencia.</a:t>
            </a:r>
          </a:p>
          <a:p xmlns:a="http://schemas.openxmlformats.org/drawingml/2006/main">
            <a:r>
              <a:t>Consecuencia: No necesita descargar los pesos completos para esa demo.</a:t>
            </a:r>
          </a:p>
          <a:p xmlns:a="http://schemas.openxmlformats.org/drawingml/2006/main">
            <a:r>
              <a:t>Resultado: Pesos abiertos no implica ejecución local ni ausencia de costo.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¿Necesito una GPU local para llamar al endpoint del curso?</a:t>
            </a:r>
          </a:p>
          <a:p xmlns:a="http://schemas.openxmlformats.org/drawingml/2006/main">
            <a:r>
              <a:t>Orientación para el docente: contraste la respuesta con los criterios del desarrollo y pida evidencia. La conclusión debe respetar: Modelo y servicio de inferencia son decisiones distintas.</a:t>
            </a:r>
          </a:p>
          <a:p xmlns:a="http://schemas.openxmlformats.org/drawingml/2006/main">
            <a:r>
              <a:t/>
            </a:r>
          </a:p>
          <a:p xmlns:a="http://schemas.openxmlformats.org/drawingml/2006/main">
            <a:r>
              <a:t>ERRORES CONCEPTUALES FRECUENTES</a:t>
            </a:r>
          </a:p>
          <a:p xmlns:a="http://schemas.openxmlformats.org/drawingml/2006/main">
            <a:r>
              <a:t>Equiparar abierto con gratis o afirmar que el modelo corre en la laptop.</a:t>
            </a:r>
          </a:p>
          <a:p xmlns:a="http://schemas.openxmlformats.org/drawingml/2006/main">
            <a:r>
              <a:t/>
            </a:r>
          </a:p>
          <a:p xmlns:a="http://schemas.openxmlformats.org/drawingml/2006/main">
            <a:r>
              <a:t>CONEXIÓN ANTERIOR</a:t>
            </a:r>
          </a:p>
          <a:p xmlns:a="http://schemas.openxmlformats.org/drawingml/2006/main">
            <a:r>
              <a:t>16–19 llevarán a la práctica la conexión y configuración; los fundamentos anteriores describen su comportamiento. · Capítulo previo: Reducir contexto con criterio</a:t>
            </a:r>
          </a:p>
          <a:p xmlns:a="http://schemas.openxmlformats.org/drawingml/2006/main">
            <a:r>
              <a:t/>
            </a:r>
          </a:p>
          <a:p xmlns:a="http://schemas.openxmlformats.org/drawingml/2006/main">
            <a:r>
              <a:t>CONEXIÓN POSTERIOR</a:t>
            </a:r>
          </a:p>
          <a:p xmlns:a="http://schemas.openxmlformats.org/drawingml/2006/main">
            <a:r>
              <a:t>S1: selección y provider.py. Bonus: cambio de proveedor. · Sigue: Prompt, RAG y fine-tuning</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41 · CAPÍTULO 14 · DESARROLLO</a:t>
            </a:r>
          </a:p>
          <a:p xmlns:a="http://schemas.openxmlformats.org/drawingml/2006/main">
            <a:r>
              <a:t>Título: Dos decisiones diferentes</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§9</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Separar disponibilidad de pesos y lugar donde se ejecuta el modelo.</a:t>
            </a:r>
          </a:p>
          <a:p xmlns:a="http://schemas.openxmlformats.org/drawingml/2006/main">
            <a:r>
              <a:t/>
            </a:r>
          </a:p>
          <a:p xmlns:a="http://schemas.openxmlformats.org/drawingml/2006/main">
            <a:r>
              <a:t>CONCEPTO PRINCIPAL</a:t>
            </a:r>
          </a:p>
          <a:p xmlns:a="http://schemas.openxmlformats.org/drawingml/2006/main">
            <a:r>
              <a:t>Pesos abiertos e inferencia en nube</a:t>
            </a:r>
          </a:p>
          <a:p xmlns:a="http://schemas.openxmlformats.org/drawingml/2006/main">
            <a:r>
              <a:t/>
            </a:r>
          </a:p>
          <a:p xmlns:a="http://schemas.openxmlformats.org/drawingml/2006/main">
            <a:r>
              <a:t>MENSAJE QUE DEBE LLEVARSE EL ALUMNO</a:t>
            </a:r>
          </a:p>
          <a:p xmlns:a="http://schemas.openxmlformats.org/drawingml/2006/main">
            <a:r>
              <a:t>Modelo y servicio de inferencia son decisiones distintas.</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Licencia: Revisar qué permite el modelo concreto.</a:t>
            </a:r>
          </a:p>
          <a:p xmlns:a="http://schemas.openxmlformats.org/drawingml/2006/main">
            <a:r>
              <a:t/>
            </a:r>
          </a:p>
          <a:p xmlns:a="http://schemas.openxmlformats.org/drawingml/2006/main">
            <a:r>
              <a:t>Operación: Elegir quién ejecuta y mantiene la inferencia.</a:t>
            </a:r>
          </a:p>
          <a:p xmlns:a="http://schemas.openxmlformats.org/drawingml/2006/main">
            <a:r>
              <a:t/>
            </a:r>
          </a:p>
          <a:p xmlns:a="http://schemas.openxmlformats.org/drawingml/2006/main">
            <a:r>
              <a:t>Acceso: Configurar endpoint y credenciales según el proveedor.</a:t>
            </a:r>
          </a:p>
          <a:p xmlns:a="http://schemas.openxmlformats.org/drawingml/2006/main">
            <a:r>
              <a:t/>
            </a:r>
          </a:p>
          <a:p xmlns:a="http://schemas.openxmlformats.org/drawingml/2006/main">
            <a:r>
              <a:t>Contraste la regla con este error: Equiparar abierto con gratis o afirmar que el modelo corre en la laptop.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Empiece por la columna izquierda: el alumno necesita Python, editor, Git y credenciales. La flecha cruza hacia la inferencia remota que usa el curso. Qwen3-32B es el modelo base seleccionado por las pruebas del repositorio; esta afirmación se refiere a su evaluación documentada, no a un benchmark universal ni a disponibilidad garantizada del proveedor.</a:t>
            </a:r>
          </a:p>
          <a:p xmlns:a="http://schemas.openxmlformats.org/drawingml/2006/main">
            <a:r>
              <a:t/>
            </a:r>
          </a:p>
          <a:p xmlns:a="http://schemas.openxmlformats.org/drawingml/2006/main">
            <a:r>
              <a:t>La columna derecha explica que disponer de pesos y licencia permite evaluar descarga y autohospedaje, pero ese no es el camino de los laboratorios. Evite asociar «abierto» con costo cero, infraestructura local o privacidad automática. El dato sale hacia un servicio remoto en este montaje. Descargar el tokenizador en la demo uno tampoco descarga y ejecuta los pesos del modelo. En S1 se profundiza provider.py, que evita acoplar cada script a un proveedor concreto.</a:t>
            </a:r>
          </a:p>
          <a:p xmlns:a="http://schemas.openxmlformats.org/drawingml/2006/main">
            <a:r>
              <a:t/>
            </a:r>
          </a:p>
          <a:p xmlns:a="http://schemas.openxmlformats.org/drawingml/2006/main">
            <a:r>
              <a:t>ELEMENTOS QUE CONVIENE EXPLICAR</a:t>
            </a:r>
          </a:p>
          <a:p xmlns:a="http://schemas.openxmlformats.org/drawingml/2006/main">
            <a:r>
              <a:t>Licencia; Operación; Acceso.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Un equipo usa un modelo de pesos abiertos desde Hugging Face.</a:t>
            </a:r>
          </a:p>
          <a:p xmlns:a="http://schemas.openxmlformats.org/drawingml/2006/main">
            <a:r>
              <a:t>Local: Ejecuta su script Python en una laptop.</a:t>
            </a:r>
          </a:p>
          <a:p xmlns:a="http://schemas.openxmlformats.org/drawingml/2006/main">
            <a:r>
              <a:t>Remoto: La solicitud llega al servicio de inferencia.</a:t>
            </a:r>
          </a:p>
          <a:p xmlns:a="http://schemas.openxmlformats.org/drawingml/2006/main">
            <a:r>
              <a:t>Consecuencia: No necesita descargar los pesos completos para esa demo.</a:t>
            </a:r>
          </a:p>
          <a:p xmlns:a="http://schemas.openxmlformats.org/drawingml/2006/main">
            <a:r>
              <a:t>Resultado: Pesos abiertos no implica ejecución local ni ausencia de costo.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¿Necesito una GPU local para llamar al endpoint del curso?</a:t>
            </a:r>
          </a:p>
          <a:p xmlns:a="http://schemas.openxmlformats.org/drawingml/2006/main">
            <a:r>
              <a:t>Orientación para el docente: contraste la respuesta con los criterios del desarrollo y pida evidencia. La conclusión debe respetar: Modelo y servicio de inferencia son decisiones distintas.</a:t>
            </a:r>
          </a:p>
          <a:p xmlns:a="http://schemas.openxmlformats.org/drawingml/2006/main">
            <a:r>
              <a:t/>
            </a:r>
          </a:p>
          <a:p xmlns:a="http://schemas.openxmlformats.org/drawingml/2006/main">
            <a:r>
              <a:t>ERRORES CONCEPTUALES FRECUENTES</a:t>
            </a:r>
          </a:p>
          <a:p xmlns:a="http://schemas.openxmlformats.org/drawingml/2006/main">
            <a:r>
              <a:t>Equiparar abierto con gratis o afirmar que el modelo corre en la laptop.</a:t>
            </a:r>
          </a:p>
          <a:p xmlns:a="http://schemas.openxmlformats.org/drawingml/2006/main">
            <a:r>
              <a:t/>
            </a:r>
          </a:p>
          <a:p xmlns:a="http://schemas.openxmlformats.org/drawingml/2006/main">
            <a:r>
              <a:t>CONEXIÓN ANTERIOR</a:t>
            </a:r>
          </a:p>
          <a:p xmlns:a="http://schemas.openxmlformats.org/drawingml/2006/main">
            <a:r>
              <a:t>16–19 llevarán a la práctica la conexión y configuración; los fundamentos anteriores describen su comportamiento. · Capítulo previo: Reducir contexto con criterio</a:t>
            </a:r>
          </a:p>
          <a:p xmlns:a="http://schemas.openxmlformats.org/drawingml/2006/main">
            <a:r>
              <a:t/>
            </a:r>
          </a:p>
          <a:p xmlns:a="http://schemas.openxmlformats.org/drawingml/2006/main">
            <a:r>
              <a:t>CONEXIÓN POSTERIOR</a:t>
            </a:r>
          </a:p>
          <a:p xmlns:a="http://schemas.openxmlformats.org/drawingml/2006/main">
            <a:r>
              <a:t>S1: selección y provider.py. Bonus: cambio de proveedor. · Sigue: Prompt, RAG y fine-tuning</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42 · CAPÍTULO 14 · EJEMPLO</a:t>
            </a:r>
          </a:p>
          <a:p xmlns:a="http://schemas.openxmlformats.org/drawingml/2006/main">
            <a:r>
              <a:t>Título: AndesMóvil · Pesos abiertos e inferencia en nube</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§9</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Separar disponibilidad de pesos y lugar donde se ejecuta el modelo.</a:t>
            </a:r>
          </a:p>
          <a:p xmlns:a="http://schemas.openxmlformats.org/drawingml/2006/main">
            <a:r>
              <a:t/>
            </a:r>
          </a:p>
          <a:p xmlns:a="http://schemas.openxmlformats.org/drawingml/2006/main">
            <a:r>
              <a:t>CONCEPTO PRINCIPAL</a:t>
            </a:r>
          </a:p>
          <a:p xmlns:a="http://schemas.openxmlformats.org/drawingml/2006/main">
            <a:r>
              <a:t>Pesos abiertos e inferencia en nube</a:t>
            </a:r>
          </a:p>
          <a:p xmlns:a="http://schemas.openxmlformats.org/drawingml/2006/main">
            <a:r>
              <a:t/>
            </a:r>
          </a:p>
          <a:p xmlns:a="http://schemas.openxmlformats.org/drawingml/2006/main">
            <a:r>
              <a:t>MENSAJE QUE DEBE LLEVARSE EL ALUMNO</a:t>
            </a:r>
          </a:p>
          <a:p xmlns:a="http://schemas.openxmlformats.org/drawingml/2006/main">
            <a:r>
              <a:t>Modelo y servicio de inferencia son decisiones distintas.</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Un equipo usa un modelo de pesos abiertos desde Hugging Face. Pida una predicción.</a:t>
            </a:r>
          </a:p>
          <a:p xmlns:a="http://schemas.openxmlformats.org/drawingml/2006/main">
            <a:r>
              <a:t/>
            </a:r>
          </a:p>
          <a:p xmlns:a="http://schemas.openxmlformats.org/drawingml/2006/main">
            <a:r>
              <a:t>Local: Ejecuta su script Python en una laptop.</a:t>
            </a:r>
          </a:p>
          <a:p xmlns:a="http://schemas.openxmlformats.org/drawingml/2006/main">
            <a:r>
              <a:t/>
            </a:r>
          </a:p>
          <a:p xmlns:a="http://schemas.openxmlformats.org/drawingml/2006/main">
            <a:r>
              <a:t>Remoto: La solicitud llega al servicio de inferencia.</a:t>
            </a:r>
          </a:p>
          <a:p xmlns:a="http://schemas.openxmlformats.org/drawingml/2006/main">
            <a:r>
              <a:t/>
            </a:r>
          </a:p>
          <a:p xmlns:a="http://schemas.openxmlformats.org/drawingml/2006/main">
            <a:r>
              <a:t>Consecuencia: No necesita descargar los pesos completos para esa demo.</a:t>
            </a:r>
          </a:p>
          <a:p xmlns:a="http://schemas.openxmlformats.org/drawingml/2006/main">
            <a:r>
              <a:t/>
            </a:r>
          </a:p>
          <a:p xmlns:a="http://schemas.openxmlformats.org/drawingml/2006/main">
            <a:r>
              <a:t>Resultado esperado: Pesos abiertos no implica ejecución local ni ausencia de costo.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Empiece por la columna izquierda: el alumno necesita Python, editor, Git y credenciales. La flecha cruza hacia la inferencia remota que usa el curso. Qwen3-32B es el modelo base seleccionado por las pruebas del repositorio; esta afirmación se refiere a su evaluación documentada, no a un benchmark universal ni a disponibilidad garantizada del proveedor.</a:t>
            </a:r>
          </a:p>
          <a:p xmlns:a="http://schemas.openxmlformats.org/drawingml/2006/main">
            <a:r>
              <a:t/>
            </a:r>
          </a:p>
          <a:p xmlns:a="http://schemas.openxmlformats.org/drawingml/2006/main">
            <a:r>
              <a:t>La columna derecha explica que disponer de pesos y licencia permite evaluar descarga y autohospedaje, pero ese no es el camino de los laboratorios. Evite asociar «abierto» con costo cero, infraestructura local o privacidad automática. El dato sale hacia un servicio remoto en este montaje. Descargar el tokenizador en la demo uno tampoco descarga y ejecuta los pesos del modelo. En S1 se profundiza provider.py, que evita acoplar cada script a un proveedor concreto.</a:t>
            </a:r>
          </a:p>
          <a:p xmlns:a="http://schemas.openxmlformats.org/drawingml/2006/main">
            <a:r>
              <a:t/>
            </a:r>
          </a:p>
          <a:p xmlns:a="http://schemas.openxmlformats.org/drawingml/2006/main">
            <a:r>
              <a:t>ELEMENTOS QUE CONVIENE EXPLICAR</a:t>
            </a:r>
          </a:p>
          <a:p xmlns:a="http://schemas.openxmlformats.org/drawingml/2006/main">
            <a:r>
              <a:t>Local; Remoto; Consecuencia.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Un equipo usa un modelo de pesos abiertos desde Hugging Face.</a:t>
            </a:r>
          </a:p>
          <a:p xmlns:a="http://schemas.openxmlformats.org/drawingml/2006/main">
            <a:r>
              <a:t>Local: Ejecuta su script Python en una laptop.</a:t>
            </a:r>
          </a:p>
          <a:p xmlns:a="http://schemas.openxmlformats.org/drawingml/2006/main">
            <a:r>
              <a:t>Remoto: La solicitud llega al servicio de inferencia.</a:t>
            </a:r>
          </a:p>
          <a:p xmlns:a="http://schemas.openxmlformats.org/drawingml/2006/main">
            <a:r>
              <a:t>Consecuencia: No necesita descargar los pesos completos para esa demo.</a:t>
            </a:r>
          </a:p>
          <a:p xmlns:a="http://schemas.openxmlformats.org/drawingml/2006/main">
            <a:r>
              <a:t>Resultado: Pesos abiertos no implica ejecución local ni ausencia de costo.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¿Necesito una GPU local para llamar al endpoint del curso?</a:t>
            </a:r>
          </a:p>
          <a:p xmlns:a="http://schemas.openxmlformats.org/drawingml/2006/main">
            <a:r>
              <a:t>Orientación para el docente: contraste la respuesta con los criterios del desarrollo y pida evidencia. La conclusión debe respetar: Modelo y servicio de inferencia son decisiones distintas.</a:t>
            </a:r>
          </a:p>
          <a:p xmlns:a="http://schemas.openxmlformats.org/drawingml/2006/main">
            <a:r>
              <a:t/>
            </a:r>
          </a:p>
          <a:p xmlns:a="http://schemas.openxmlformats.org/drawingml/2006/main">
            <a:r>
              <a:t>ERRORES CONCEPTUALES FRECUENTES</a:t>
            </a:r>
          </a:p>
          <a:p xmlns:a="http://schemas.openxmlformats.org/drawingml/2006/main">
            <a:r>
              <a:t>Equiparar abierto con gratis o afirmar que el modelo corre en la laptop.</a:t>
            </a:r>
          </a:p>
          <a:p xmlns:a="http://schemas.openxmlformats.org/drawingml/2006/main">
            <a:r>
              <a:t/>
            </a:r>
          </a:p>
          <a:p xmlns:a="http://schemas.openxmlformats.org/drawingml/2006/main">
            <a:r>
              <a:t>CONEXIÓN ANTERIOR</a:t>
            </a:r>
          </a:p>
          <a:p xmlns:a="http://schemas.openxmlformats.org/drawingml/2006/main">
            <a:r>
              <a:t>16–19 llevarán a la práctica la conexión y configuración; los fundamentos anteriores describen su comportamiento. · Capítulo previo: Reducir contexto con criterio</a:t>
            </a:r>
          </a:p>
          <a:p xmlns:a="http://schemas.openxmlformats.org/drawingml/2006/main">
            <a:r>
              <a:t/>
            </a:r>
          </a:p>
          <a:p xmlns:a="http://schemas.openxmlformats.org/drawingml/2006/main">
            <a:r>
              <a:t>CONEXIÓN POSTERIOR</a:t>
            </a:r>
          </a:p>
          <a:p xmlns:a="http://schemas.openxmlformats.org/drawingml/2006/main">
            <a:r>
              <a:t>S1: selección y provider.py. Bonus: cambio de proveedor. · Sigue: Prompt, RAG y fine-tuning</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43 · CAPÍTULO 15 · CONCEPTO</a:t>
            </a:r>
          </a:p>
          <a:p xmlns:a="http://schemas.openxmlformats.org/drawingml/2006/main">
            <a:r>
              <a:t>Título: Prompt, RAG y fine-tuning</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§10</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Distinguir qué cambia cada técnica y por qué el curso usa conocimiento externo.</a:t>
            </a:r>
          </a:p>
          <a:p xmlns:a="http://schemas.openxmlformats.org/drawingml/2006/main">
            <a:r>
              <a:t/>
            </a:r>
          </a:p>
          <a:p xmlns:a="http://schemas.openxmlformats.org/drawingml/2006/main">
            <a:r>
              <a:t>CONCEPTO PRINCIPAL</a:t>
            </a:r>
          </a:p>
          <a:p xmlns:a="http://schemas.openxmlformats.org/drawingml/2006/main">
            <a:r>
              <a:t>Prompt, RAG y fine-tuning</a:t>
            </a:r>
          </a:p>
          <a:p xmlns:a="http://schemas.openxmlformats.org/drawingml/2006/main">
            <a:r>
              <a:t/>
            </a:r>
          </a:p>
          <a:p xmlns:a="http://schemas.openxmlformats.org/drawingml/2006/main">
            <a:r>
              <a:t>MENSAJE QUE DEBE LLEVARSE EL ALUMNO</a:t>
            </a:r>
          </a:p>
          <a:p xmlns:a="http://schemas.openxmlformats.org/drawingml/2006/main">
            <a:r>
              <a:t>RAG aporta conocimiento en contexto; no modifica los pesos.</a:t>
            </a:r>
          </a:p>
          <a:p xmlns:a="http://schemas.openxmlformats.org/drawingml/2006/main">
            <a:r>
              <a:t/>
            </a:r>
          </a:p>
          <a:p xmlns:a="http://schemas.openxmlformats.org/drawingml/2006/main">
            <a:r>
              <a:t>EXPLICACIÓN SUGERIDA PARA EL DOCENTE</a:t>
            </a:r>
          </a:p>
          <a:p xmlns:a="http://schemas.openxmlformats.org/drawingml/2006/main">
            <a:r>
              <a:t>Abra con la pregunta «¿Qué cambia al incorporar un nuevo tarifario al índice?».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Prompt: Cambia instrucciones y contexto de una llamada.</a:t>
            </a:r>
          </a:p>
          <a:p xmlns:a="http://schemas.openxmlformats.org/drawingml/2006/main">
            <a:r>
              <a:t/>
            </a:r>
          </a:p>
          <a:p xmlns:a="http://schemas.openxmlformats.org/drawingml/2006/main">
            <a:r>
              <a:t>RAG: Recupera información externa y la aporta al contexto.</a:t>
            </a:r>
          </a:p>
          <a:p xmlns:a="http://schemas.openxmlformats.org/drawingml/2006/main">
            <a:r>
              <a:t/>
            </a:r>
          </a:p>
          <a:p xmlns:a="http://schemas.openxmlformats.org/drawingml/2006/main">
            <a:r>
              <a:t>Fine-tuning: Actualiza parámetros mediante un proceso de entrenamiento.</a:t>
            </a:r>
          </a:p>
          <a:p xmlns:a="http://schemas.openxmlformats.org/drawingml/2006/main">
            <a:r>
              <a:t/>
            </a:r>
          </a:p>
          <a:p xmlns:a="http://schemas.openxmlformats.org/drawingml/2006/main">
            <a:r>
              <a:t>Cierre con la distinción: RAG aporta conocimiento en contexto; no modifica los pesos.</a:t>
            </a:r>
          </a:p>
          <a:p xmlns:a="http://schemas.openxmlformats.org/drawingml/2006/main">
            <a:r>
              <a:t/>
            </a:r>
          </a:p>
          <a:p xmlns:a="http://schemas.openxmlformats.org/drawingml/2006/main">
            <a:r>
              <a:t>AMPLIACIÓN DEL MATERIAL APROBADO</a:t>
            </a:r>
          </a:p>
          <a:p xmlns:a="http://schemas.openxmlformats.org/drawingml/2006/main">
            <a:r>
              <a:t>Recorra las columnas por el mecanismo que cambia. Un prompt cambia instrucciones y contexto; RAG cambia qué documentos se recuperan para responder; fine-tuning modifica parámetros mediante entrenamiento. Pueden combinarse en otros sistemas, pero el repositorio eligió no afinar modelos en esta edición.</a:t>
            </a:r>
          </a:p>
          <a:p xmlns:a="http://schemas.openxmlformats.org/drawingml/2006/main">
            <a:r>
              <a:t/>
            </a:r>
          </a:p>
          <a:p xmlns:a="http://schemas.openxmlformats.org/drawingml/2006/main">
            <a:r>
              <a:t>Use AndesMóvil: el system prompt define rol, tono y límites; los documentos contienen tarifas y condiciones que deben poder actualizarse y citarse. La composición inferior representa esos elementos, no una fórmula matemática de calidad. No reproduzca absolutos del material como «fine-tuning solo sirve para estilo», «no puede citar» o «RAG garantiza control de acceso». La idea pedagógica válida es que aquí el conocimiento cambiante se mantiene externo y recuperable, y los permisos deben implementarse. El bonus conserva la abstracción del proveedor; cambiar de modelo puede alterar comportamiento aunque el código se reutilice.</a:t>
            </a:r>
          </a:p>
          <a:p xmlns:a="http://schemas.openxmlformats.org/drawingml/2006/main">
            <a:r>
              <a:t/>
            </a:r>
          </a:p>
          <a:p xmlns:a="http://schemas.openxmlformats.org/drawingml/2006/main">
            <a:r>
              <a:t>ELEMENTOS QUE CONVIENE EXPLICAR</a:t>
            </a:r>
          </a:p>
          <a:p xmlns:a="http://schemas.openxmlformats.org/drawingml/2006/main">
            <a:r>
              <a:t>Prompt; RAG; Fine-tuning.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El tarifario cambia cada mes y debe poder citarse.</a:t>
            </a:r>
          </a:p>
          <a:p xmlns:a="http://schemas.openxmlformats.org/drawingml/2006/main">
            <a:r>
              <a:t>Necesidad: Actualizar datos y conservar trazabilidad.</a:t>
            </a:r>
          </a:p>
          <a:p xmlns:a="http://schemas.openxmlformats.org/drawingml/2006/main">
            <a:r>
              <a:t>Decisión: Actualizar el corpus y recuperar la tarifa aplicable.</a:t>
            </a:r>
          </a:p>
          <a:p xmlns:a="http://schemas.openxmlformats.org/drawingml/2006/main">
            <a:r>
              <a:t>Comprobar: La respuesta cita el documento vigente.</a:t>
            </a:r>
          </a:p>
          <a:p xmlns:a="http://schemas.openxmlformats.org/drawingml/2006/main">
            <a:r>
              <a:t>Resultado: El corpus puede cambiar sin entrenar de nuevo el modelo.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cambia al incorporar un nuevo tarifario al índice?</a:t>
            </a:r>
          </a:p>
          <a:p xmlns:a="http://schemas.openxmlformats.org/drawingml/2006/main">
            <a:r>
              <a:t>Orientación para el docente: contraste la respuesta con los criterios del desarrollo y pida evidencia. La conclusión debe respetar: RAG aporta conocimiento en contexto; no modifica los pesos.</a:t>
            </a:r>
          </a:p>
          <a:p xmlns:a="http://schemas.openxmlformats.org/drawingml/2006/main">
            <a:r>
              <a:t/>
            </a:r>
          </a:p>
          <a:p xmlns:a="http://schemas.openxmlformats.org/drawingml/2006/main">
            <a:r>
              <a:t>ERRORES CONCEPTUALES FRECUENTES</a:t>
            </a:r>
          </a:p>
          <a:p xmlns:a="http://schemas.openxmlformats.org/drawingml/2006/main">
            <a:r>
              <a:t>Llamar entrenamiento a cualquier carga de documentos.</a:t>
            </a:r>
          </a:p>
          <a:p xmlns:a="http://schemas.openxmlformats.org/drawingml/2006/main">
            <a:r>
              <a:t/>
            </a:r>
          </a:p>
          <a:p xmlns:a="http://schemas.openxmlformats.org/drawingml/2006/main">
            <a:r>
              <a:t>CONEXIÓN ANTERIOR</a:t>
            </a:r>
          </a:p>
          <a:p xmlns:a="http://schemas.openxmlformats.org/drawingml/2006/main">
            <a:r>
              <a:t>09: defensas. 10–11: recuperación semántica. 14: modelo base del curso. · Capítulo previo: Pesos abiertos e inferencia en nube</a:t>
            </a:r>
          </a:p>
          <a:p xmlns:a="http://schemas.openxmlformats.org/drawingml/2006/main">
            <a:r>
              <a:t/>
            </a:r>
          </a:p>
          <a:p xmlns:a="http://schemas.openxmlformats.org/drawingml/2006/main">
            <a:r>
              <a:t>CONEXIÓN POSTERIOR</a:t>
            </a:r>
          </a:p>
          <a:p xmlns:a="http://schemas.openxmlformats.org/drawingml/2006/main">
            <a:r>
              <a:t>S2 implementa prompts; S5 implementa colecciones y recuperación. · Sigue: Python: aislar y verificar</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44 · CAPÍTULO 15 · DESARROLLO</a:t>
            </a:r>
          </a:p>
          <a:p xmlns:a="http://schemas.openxmlformats.org/drawingml/2006/main">
            <a:r>
              <a:t>Título: Elegir por la necesidad</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§10</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Distinguir qué cambia cada técnica y por qué el curso usa conocimiento externo.</a:t>
            </a:r>
          </a:p>
          <a:p xmlns:a="http://schemas.openxmlformats.org/drawingml/2006/main">
            <a:r>
              <a:t/>
            </a:r>
          </a:p>
          <a:p xmlns:a="http://schemas.openxmlformats.org/drawingml/2006/main">
            <a:r>
              <a:t>CONCEPTO PRINCIPAL</a:t>
            </a:r>
          </a:p>
          <a:p xmlns:a="http://schemas.openxmlformats.org/drawingml/2006/main">
            <a:r>
              <a:t>Prompt, RAG y fine-tuning</a:t>
            </a:r>
          </a:p>
          <a:p xmlns:a="http://schemas.openxmlformats.org/drawingml/2006/main">
            <a:r>
              <a:t/>
            </a:r>
          </a:p>
          <a:p xmlns:a="http://schemas.openxmlformats.org/drawingml/2006/main">
            <a:r>
              <a:t>MENSAJE QUE DEBE LLEVARSE EL ALUMNO</a:t>
            </a:r>
          </a:p>
          <a:p xmlns:a="http://schemas.openxmlformats.org/drawingml/2006/main">
            <a:r>
              <a:t>RAG aporta conocimiento en contexto; no modifica los pesos.</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Comportamiento: Empezar por instrucciones claras y ejemplos.</a:t>
            </a:r>
          </a:p>
          <a:p xmlns:a="http://schemas.openxmlformats.org/drawingml/2006/main">
            <a:r>
              <a:t/>
            </a:r>
          </a:p>
          <a:p xmlns:a="http://schemas.openxmlformats.org/drawingml/2006/main">
            <a:r>
              <a:t>Conocimiento cambiante: Recuperar documentos vigentes y citar fuentes.</a:t>
            </a:r>
          </a:p>
          <a:p xmlns:a="http://schemas.openxmlformats.org/drawingml/2006/main">
            <a:r>
              <a:t/>
            </a:r>
          </a:p>
          <a:p xmlns:a="http://schemas.openxmlformats.org/drawingml/2006/main">
            <a:r>
              <a:t>Entrenamiento: Es otro mecanismo; no es el camino por industria de este curso.</a:t>
            </a:r>
          </a:p>
          <a:p xmlns:a="http://schemas.openxmlformats.org/drawingml/2006/main">
            <a:r>
              <a:t/>
            </a:r>
          </a:p>
          <a:p xmlns:a="http://schemas.openxmlformats.org/drawingml/2006/main">
            <a:r>
              <a:t>Contraste la regla con este error: Llamar entrenamiento a cualquier carga de documentos.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Recorra las columnas por el mecanismo que cambia. Un prompt cambia instrucciones y contexto; RAG cambia qué documentos se recuperan para responder; fine-tuning modifica parámetros mediante entrenamiento. Pueden combinarse en otros sistemas, pero el repositorio eligió no afinar modelos en esta edición.</a:t>
            </a:r>
          </a:p>
          <a:p xmlns:a="http://schemas.openxmlformats.org/drawingml/2006/main">
            <a:r>
              <a:t/>
            </a:r>
          </a:p>
          <a:p xmlns:a="http://schemas.openxmlformats.org/drawingml/2006/main">
            <a:r>
              <a:t>Use AndesMóvil: el system prompt define rol, tono y límites; los documentos contienen tarifas y condiciones que deben poder actualizarse y citarse. La composición inferior representa esos elementos, no una fórmula matemática de calidad. No reproduzca absolutos del material como «fine-tuning solo sirve para estilo», «no puede citar» o «RAG garantiza control de acceso». La idea pedagógica válida es que aquí el conocimiento cambiante se mantiene externo y recuperable, y los permisos deben implementarse. El bonus conserva la abstracción del proveedor; cambiar de modelo puede alterar comportamiento aunque el código se reutilice.</a:t>
            </a:r>
          </a:p>
          <a:p xmlns:a="http://schemas.openxmlformats.org/drawingml/2006/main">
            <a:r>
              <a:t/>
            </a:r>
          </a:p>
          <a:p xmlns:a="http://schemas.openxmlformats.org/drawingml/2006/main">
            <a:r>
              <a:t>ELEMENTOS QUE CONVIENE EXPLICAR</a:t>
            </a:r>
          </a:p>
          <a:p xmlns:a="http://schemas.openxmlformats.org/drawingml/2006/main">
            <a:r>
              <a:t>Comportamiento; Conocimiento cambiante; Entrenamiento.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El tarifario cambia cada mes y debe poder citarse.</a:t>
            </a:r>
          </a:p>
          <a:p xmlns:a="http://schemas.openxmlformats.org/drawingml/2006/main">
            <a:r>
              <a:t>Necesidad: Actualizar datos y conservar trazabilidad.</a:t>
            </a:r>
          </a:p>
          <a:p xmlns:a="http://schemas.openxmlformats.org/drawingml/2006/main">
            <a:r>
              <a:t>Decisión: Actualizar el corpus y recuperar la tarifa aplicable.</a:t>
            </a:r>
          </a:p>
          <a:p xmlns:a="http://schemas.openxmlformats.org/drawingml/2006/main">
            <a:r>
              <a:t>Comprobar: La respuesta cita el documento vigente.</a:t>
            </a:r>
          </a:p>
          <a:p xmlns:a="http://schemas.openxmlformats.org/drawingml/2006/main">
            <a:r>
              <a:t>Resultado: El corpus puede cambiar sin entrenar de nuevo el modelo.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cambia al incorporar un nuevo tarifario al índice?</a:t>
            </a:r>
          </a:p>
          <a:p xmlns:a="http://schemas.openxmlformats.org/drawingml/2006/main">
            <a:r>
              <a:t>Orientación para el docente: contraste la respuesta con los criterios del desarrollo y pida evidencia. La conclusión debe respetar: RAG aporta conocimiento en contexto; no modifica los pesos.</a:t>
            </a:r>
          </a:p>
          <a:p xmlns:a="http://schemas.openxmlformats.org/drawingml/2006/main">
            <a:r>
              <a:t/>
            </a:r>
          </a:p>
          <a:p xmlns:a="http://schemas.openxmlformats.org/drawingml/2006/main">
            <a:r>
              <a:t>ERRORES CONCEPTUALES FRECUENTES</a:t>
            </a:r>
          </a:p>
          <a:p xmlns:a="http://schemas.openxmlformats.org/drawingml/2006/main">
            <a:r>
              <a:t>Llamar entrenamiento a cualquier carga de documentos.</a:t>
            </a:r>
          </a:p>
          <a:p xmlns:a="http://schemas.openxmlformats.org/drawingml/2006/main">
            <a:r>
              <a:t/>
            </a:r>
          </a:p>
          <a:p xmlns:a="http://schemas.openxmlformats.org/drawingml/2006/main">
            <a:r>
              <a:t>CONEXIÓN ANTERIOR</a:t>
            </a:r>
          </a:p>
          <a:p xmlns:a="http://schemas.openxmlformats.org/drawingml/2006/main">
            <a:r>
              <a:t>09: defensas. 10–11: recuperación semántica. 14: modelo base del curso. · Capítulo previo: Pesos abiertos e inferencia en nube</a:t>
            </a:r>
          </a:p>
          <a:p xmlns:a="http://schemas.openxmlformats.org/drawingml/2006/main">
            <a:r>
              <a:t/>
            </a:r>
          </a:p>
          <a:p xmlns:a="http://schemas.openxmlformats.org/drawingml/2006/main">
            <a:r>
              <a:t>CONEXIÓN POSTERIOR</a:t>
            </a:r>
          </a:p>
          <a:p xmlns:a="http://schemas.openxmlformats.org/drawingml/2006/main">
            <a:r>
              <a:t>S2 implementa prompts; S5 implementa colecciones y recuperación. · Sigue: Python: aislar y verificar</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45 · CAPÍTULO 15 · EJEMPLO</a:t>
            </a:r>
          </a:p>
          <a:p xmlns:a="http://schemas.openxmlformats.org/drawingml/2006/main">
            <a:r>
              <a:t>Título: AndesMóvil · Prompt, RAG y fine-tuning</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Fundamentos §10</a:t>
            </a:r>
          </a:p>
          <a:p xmlns:a="http://schemas.openxmlformats.org/drawingml/2006/main">
            <a:r>
              <a:t>Fuente principal: https://github.com/javierrosado/ariwalab-course-langchain/blob/27c24090f1662f9473b673d2020e7bffee04490b/00-preparacion/conceptos-previos/fundamentos-llm.md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Distinguir qué cambia cada técnica y por qué el curso usa conocimiento externo.</a:t>
            </a:r>
          </a:p>
          <a:p xmlns:a="http://schemas.openxmlformats.org/drawingml/2006/main">
            <a:r>
              <a:t/>
            </a:r>
          </a:p>
          <a:p xmlns:a="http://schemas.openxmlformats.org/drawingml/2006/main">
            <a:r>
              <a:t>CONCEPTO PRINCIPAL</a:t>
            </a:r>
          </a:p>
          <a:p xmlns:a="http://schemas.openxmlformats.org/drawingml/2006/main">
            <a:r>
              <a:t>Prompt, RAG y fine-tuning</a:t>
            </a:r>
          </a:p>
          <a:p xmlns:a="http://schemas.openxmlformats.org/drawingml/2006/main">
            <a:r>
              <a:t/>
            </a:r>
          </a:p>
          <a:p xmlns:a="http://schemas.openxmlformats.org/drawingml/2006/main">
            <a:r>
              <a:t>MENSAJE QUE DEBE LLEVARSE EL ALUMNO</a:t>
            </a:r>
          </a:p>
          <a:p xmlns:a="http://schemas.openxmlformats.org/drawingml/2006/main">
            <a:r>
              <a:t>RAG aporta conocimiento en contexto; no modifica los pesos.</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El tarifario cambia cada mes y debe poder citarse. Pida una predicción.</a:t>
            </a:r>
          </a:p>
          <a:p xmlns:a="http://schemas.openxmlformats.org/drawingml/2006/main">
            <a:r>
              <a:t/>
            </a:r>
          </a:p>
          <a:p xmlns:a="http://schemas.openxmlformats.org/drawingml/2006/main">
            <a:r>
              <a:t>Necesidad: Actualizar datos y conservar trazabilidad.</a:t>
            </a:r>
          </a:p>
          <a:p xmlns:a="http://schemas.openxmlformats.org/drawingml/2006/main">
            <a:r>
              <a:t/>
            </a:r>
          </a:p>
          <a:p xmlns:a="http://schemas.openxmlformats.org/drawingml/2006/main">
            <a:r>
              <a:t>Decisión: Actualizar el corpus y recuperar la tarifa aplicable.</a:t>
            </a:r>
          </a:p>
          <a:p xmlns:a="http://schemas.openxmlformats.org/drawingml/2006/main">
            <a:r>
              <a:t/>
            </a:r>
          </a:p>
          <a:p xmlns:a="http://schemas.openxmlformats.org/drawingml/2006/main">
            <a:r>
              <a:t>Comprobar: La respuesta cita el documento vigente.</a:t>
            </a:r>
          </a:p>
          <a:p xmlns:a="http://schemas.openxmlformats.org/drawingml/2006/main">
            <a:r>
              <a:t/>
            </a:r>
          </a:p>
          <a:p xmlns:a="http://schemas.openxmlformats.org/drawingml/2006/main">
            <a:r>
              <a:t>Resultado esperado: El corpus puede cambiar sin entrenar de nuevo el modelo.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Recorra las columnas por el mecanismo que cambia. Un prompt cambia instrucciones y contexto; RAG cambia qué documentos se recuperan para responder; fine-tuning modifica parámetros mediante entrenamiento. Pueden combinarse en otros sistemas, pero el repositorio eligió no afinar modelos en esta edición.</a:t>
            </a:r>
          </a:p>
          <a:p xmlns:a="http://schemas.openxmlformats.org/drawingml/2006/main">
            <a:r>
              <a:t/>
            </a:r>
          </a:p>
          <a:p xmlns:a="http://schemas.openxmlformats.org/drawingml/2006/main">
            <a:r>
              <a:t>Use AndesMóvil: el system prompt define rol, tono y límites; los documentos contienen tarifas y condiciones que deben poder actualizarse y citarse. La composición inferior representa esos elementos, no una fórmula matemática de calidad. No reproduzca absolutos del material como «fine-tuning solo sirve para estilo», «no puede citar» o «RAG garantiza control de acceso». La idea pedagógica válida es que aquí el conocimiento cambiante se mantiene externo y recuperable, y los permisos deben implementarse. El bonus conserva la abstracción del proveedor; cambiar de modelo puede alterar comportamiento aunque el código se reutilice.</a:t>
            </a:r>
          </a:p>
          <a:p xmlns:a="http://schemas.openxmlformats.org/drawingml/2006/main">
            <a:r>
              <a:t/>
            </a:r>
          </a:p>
          <a:p xmlns:a="http://schemas.openxmlformats.org/drawingml/2006/main">
            <a:r>
              <a:t>ELEMENTOS QUE CONVIENE EXPLICAR</a:t>
            </a:r>
          </a:p>
          <a:p xmlns:a="http://schemas.openxmlformats.org/drawingml/2006/main">
            <a:r>
              <a:t>Necesidad; Decisión; Comprobar.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El tarifario cambia cada mes y debe poder citarse.</a:t>
            </a:r>
          </a:p>
          <a:p xmlns:a="http://schemas.openxmlformats.org/drawingml/2006/main">
            <a:r>
              <a:t>Necesidad: Actualizar datos y conservar trazabilidad.</a:t>
            </a:r>
          </a:p>
          <a:p xmlns:a="http://schemas.openxmlformats.org/drawingml/2006/main">
            <a:r>
              <a:t>Decisión: Actualizar el corpus y recuperar la tarifa aplicable.</a:t>
            </a:r>
          </a:p>
          <a:p xmlns:a="http://schemas.openxmlformats.org/drawingml/2006/main">
            <a:r>
              <a:t>Comprobar: La respuesta cita el documento vigente.</a:t>
            </a:r>
          </a:p>
          <a:p xmlns:a="http://schemas.openxmlformats.org/drawingml/2006/main">
            <a:r>
              <a:t>Resultado: El corpus puede cambiar sin entrenar de nuevo el modelo.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cambia al incorporar un nuevo tarifario al índice?</a:t>
            </a:r>
          </a:p>
          <a:p xmlns:a="http://schemas.openxmlformats.org/drawingml/2006/main">
            <a:r>
              <a:t>Orientación para el docente: contraste la respuesta con los criterios del desarrollo y pida evidencia. La conclusión debe respetar: RAG aporta conocimiento en contexto; no modifica los pesos.</a:t>
            </a:r>
          </a:p>
          <a:p xmlns:a="http://schemas.openxmlformats.org/drawingml/2006/main">
            <a:r>
              <a:t/>
            </a:r>
          </a:p>
          <a:p xmlns:a="http://schemas.openxmlformats.org/drawingml/2006/main">
            <a:r>
              <a:t>ERRORES CONCEPTUALES FRECUENTES</a:t>
            </a:r>
          </a:p>
          <a:p xmlns:a="http://schemas.openxmlformats.org/drawingml/2006/main">
            <a:r>
              <a:t>Llamar entrenamiento a cualquier carga de documentos.</a:t>
            </a:r>
          </a:p>
          <a:p xmlns:a="http://schemas.openxmlformats.org/drawingml/2006/main">
            <a:r>
              <a:t/>
            </a:r>
          </a:p>
          <a:p xmlns:a="http://schemas.openxmlformats.org/drawingml/2006/main">
            <a:r>
              <a:t>CONEXIÓN ANTERIOR</a:t>
            </a:r>
          </a:p>
          <a:p xmlns:a="http://schemas.openxmlformats.org/drawingml/2006/main">
            <a:r>
              <a:t>09: defensas. 10–11: recuperación semántica. 14: modelo base del curso. · Capítulo previo: Pesos abiertos e inferencia en nube</a:t>
            </a:r>
          </a:p>
          <a:p xmlns:a="http://schemas.openxmlformats.org/drawingml/2006/main">
            <a:r>
              <a:t/>
            </a:r>
          </a:p>
          <a:p xmlns:a="http://schemas.openxmlformats.org/drawingml/2006/main">
            <a:r>
              <a:t>CONEXIÓN POSTERIOR</a:t>
            </a:r>
          </a:p>
          <a:p xmlns:a="http://schemas.openxmlformats.org/drawingml/2006/main">
            <a:r>
              <a:t>S2 implementa prompts; S5 implementa colecciones y recuperación. · Sigue: Python: aislar y verificar</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46 · CAPÍTULO 16 · CONCEPTO</a:t>
            </a:r>
          </a:p>
          <a:p xmlns:a="http://schemas.openxmlformats.org/drawingml/2006/main">
            <a:r>
              <a:t>Título: Python: aislar y verificar</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Python y entorno §§1–2</a:t>
            </a:r>
          </a:p>
          <a:p xmlns:a="http://schemas.openxmlformats.org/drawingml/2006/main">
            <a:r>
              <a:t>Fuente principal: https://github.com/javierrosado/ariwalab-course-langchain/blob/27c24090f1662f9473b673d2020e7bffee04490b/00-preparacion/conceptos-previos/python-y-entorno.md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Preparar un entorno reproducible para ejecutar los ejemplos del repositorio.</a:t>
            </a:r>
          </a:p>
          <a:p xmlns:a="http://schemas.openxmlformats.org/drawingml/2006/main">
            <a:r>
              <a:t/>
            </a:r>
          </a:p>
          <a:p xmlns:a="http://schemas.openxmlformats.org/drawingml/2006/main">
            <a:r>
              <a:t>CONCEPTO PRINCIPAL</a:t>
            </a:r>
          </a:p>
          <a:p xmlns:a="http://schemas.openxmlformats.org/drawingml/2006/main">
            <a:r>
              <a:t>Python: aislar y verificar</a:t>
            </a:r>
          </a:p>
          <a:p xmlns:a="http://schemas.openxmlformats.org/drawingml/2006/main">
            <a:r>
              <a:t/>
            </a:r>
          </a:p>
          <a:p xmlns:a="http://schemas.openxmlformats.org/drawingml/2006/main">
            <a:r>
              <a:t>MENSAJE QUE DEBE LLEVARSE EL ALUMNO</a:t>
            </a:r>
          </a:p>
          <a:p xmlns:a="http://schemas.openxmlformats.org/drawingml/2006/main">
            <a:r>
              <a:t>Instalar un paquete en otro intérprete no resuelve el entorno activo.</a:t>
            </a:r>
          </a:p>
          <a:p xmlns:a="http://schemas.openxmlformats.org/drawingml/2006/main">
            <a:r>
              <a:t/>
            </a:r>
          </a:p>
          <a:p xmlns:a="http://schemas.openxmlformats.org/drawingml/2006/main">
            <a:r>
              <a:t>EXPLICACIÓN SUGERIDA PARA EL DOCENTE</a:t>
            </a:r>
          </a:p>
          <a:p xmlns:a="http://schemas.openxmlformats.org/drawingml/2006/main">
            <a:r>
              <a:t>Abra con la pregunta «¿Qué comprobarías antes de reinstalar todo?».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Repositorio: Trabajar desde la raíz del proyecto.</a:t>
            </a:r>
          </a:p>
          <a:p xmlns:a="http://schemas.openxmlformats.org/drawingml/2006/main">
            <a:r>
              <a:t/>
            </a:r>
          </a:p>
          <a:p xmlns:a="http://schemas.openxmlformats.org/drawingml/2006/main">
            <a:r>
              <a:t>Entorno virtual: Aislar dependencias del Python global.</a:t>
            </a:r>
          </a:p>
          <a:p xmlns:a="http://schemas.openxmlformats.org/drawingml/2006/main">
            <a:r>
              <a:t/>
            </a:r>
          </a:p>
          <a:p xmlns:a="http://schemas.openxmlformats.org/drawingml/2006/main">
            <a:r>
              <a:t>Instalación: Instalar requirements y verificar imports.</a:t>
            </a:r>
          </a:p>
          <a:p xmlns:a="http://schemas.openxmlformats.org/drawingml/2006/main">
            <a:r>
              <a:t/>
            </a:r>
          </a:p>
          <a:p xmlns:a="http://schemas.openxmlformats.org/drawingml/2006/main">
            <a:r>
              <a:t>Cierre con la distinción: Instalar un paquete en otro intérprete no resuelve el entorno activo.</a:t>
            </a:r>
          </a:p>
          <a:p xmlns:a="http://schemas.openxmlformats.org/drawingml/2006/main">
            <a:r>
              <a:t/>
            </a:r>
          </a:p>
          <a:p xmlns:a="http://schemas.openxmlformats.org/drawingml/2006/main">
            <a:r>
              <a:t>AMPLIACIÓN DEL MATERIAL APROBADO</a:t>
            </a:r>
          </a:p>
          <a:p xmlns:a="http://schemas.openxmlformats.org/drawingml/2006/main">
            <a:r>
              <a:t>Antes de copiar comandos, pida ubicar la raíz del repositorio. Verifique Python, pip y Git. El documento indica Python 3.10 o superior y recomienda 3.13; la compatibilidad definitiva debe contrastarse con las dependencias del proyecto. Cree .venv y explique que separa paquetes de otros proyectos, no es una máquina virtual ni un contenedor.</a:t>
            </a:r>
          </a:p>
          <a:p xmlns:a="http://schemas.openxmlformats.org/drawingml/2006/main">
            <a:r>
              <a:t/>
            </a:r>
          </a:p>
          <a:p xmlns:a="http://schemas.openxmlformats.org/drawingml/2006/main">
            <a:r>
              <a:t>La columna derecha distingue activación en PowerShell y en macOS/Linux. Solo se ejecuta el comando del sistema del alumno. La marca (.venv) es una pista visible; si hay dudas, confirme también el intérprete que usa la terminal o el editor. Instale requirements.txt dentro de ese entorno y vuelva a activarlo en cada terminal nueva. Cierre conectando ModuleNotFoundError con diagnóstico de intérprete, instalación y directorio, sin atribuir cualquier error de importación únicamente a activación.</a:t>
            </a:r>
          </a:p>
          <a:p xmlns:a="http://schemas.openxmlformats.org/drawingml/2006/main">
            <a:r>
              <a:t/>
            </a:r>
          </a:p>
          <a:p xmlns:a="http://schemas.openxmlformats.org/drawingml/2006/main">
            <a:r>
              <a:t>ELEMENTOS QUE CONVIENE EXPLICAR</a:t>
            </a:r>
          </a:p>
          <a:p xmlns:a="http://schemas.openxmlformats.org/drawingml/2006/main">
            <a:r>
              <a:t>Repositorio; Entorno virtual; Instalación.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El import funciona en un notebook, pero falla en la terminal.</a:t>
            </a:r>
          </a:p>
          <a:p xmlns:a="http://schemas.openxmlformats.org/drawingml/2006/main">
            <a:r>
              <a:t>Identificar: Notebook y terminal usan intérpretes distintos.</a:t>
            </a:r>
          </a:p>
          <a:p xmlns:a="http://schemas.openxmlformats.org/drawingml/2006/main">
            <a:r>
              <a:t>Alinear: Activar el entorno del curso en la terminal.</a:t>
            </a:r>
          </a:p>
          <a:p xmlns:a="http://schemas.openxmlformats.org/drawingml/2006/main">
            <a:r>
              <a:t>Repetir: Ejecutar desde la raíz con las dependencias instaladas.</a:t>
            </a:r>
          </a:p>
          <a:p xmlns:a="http://schemas.openxmlformats.org/drawingml/2006/main">
            <a:r>
              <a:t>Resultado: El mismo código necesita un entorno coherente para ser reproducible.</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comprobarías antes de reinstalar todo?</a:t>
            </a:r>
          </a:p>
          <a:p xmlns:a="http://schemas.openxmlformats.org/drawingml/2006/main">
            <a:r>
              <a:t>Orientación para el docente: contraste la respuesta con los criterios del desarrollo y pida evidencia. La conclusión debe respetar: Instalar un paquete en otro intérprete no resuelve el entorno activo.</a:t>
            </a:r>
          </a:p>
          <a:p xmlns:a="http://schemas.openxmlformats.org/drawingml/2006/main">
            <a:r>
              <a:t/>
            </a:r>
          </a:p>
          <a:p xmlns:a="http://schemas.openxmlformats.org/drawingml/2006/main">
            <a:r>
              <a:t>ERRORES CONCEPTUALES FRECUENTES</a:t>
            </a:r>
          </a:p>
          <a:p xmlns:a="http://schemas.openxmlformats.org/drawingml/2006/main">
            <a:r>
              <a:t>Usar pip de un Python y ejecutar con otro.</a:t>
            </a:r>
          </a:p>
          <a:p xmlns:a="http://schemas.openxmlformats.org/drawingml/2006/main">
            <a:r>
              <a:t/>
            </a:r>
          </a:p>
          <a:p xmlns:a="http://schemas.openxmlformats.org/drawingml/2006/main">
            <a:r>
              <a:t>CONEXIÓN ANTERIOR</a:t>
            </a:r>
          </a:p>
          <a:p xmlns:a="http://schemas.openxmlformats.org/drawingml/2006/main">
            <a:r>
              <a:t>01 fija esta tarea como parte de la preparación; 14 distingue código local e inferencia remota. · Capítulo previo: Prompt, RAG y fine-tuning</a:t>
            </a:r>
          </a:p>
          <a:p xmlns:a="http://schemas.openxmlformats.org/drawingml/2006/main">
            <a:r>
              <a:t/>
            </a:r>
          </a:p>
          <a:p xmlns:a="http://schemas.openxmlformats.org/drawingml/2006/main">
            <a:r>
              <a:t>CONEXIÓN POSTERIOR</a:t>
            </a:r>
          </a:p>
          <a:p xmlns:a="http://schemas.openxmlformats.org/drawingml/2006/main">
            <a:r>
              <a:t>17: configuración privada. 20: diagnóstico por síntomas. · Sigue: Configuración y secretos</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47 · CAPÍTULO 16 · DESARROLLO</a:t>
            </a:r>
          </a:p>
          <a:p xmlns:a="http://schemas.openxmlformats.org/drawingml/2006/main">
            <a:r>
              <a:t>Título: Orden de comprobación</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Python y entorno §§1–2</a:t>
            </a:r>
          </a:p>
          <a:p xmlns:a="http://schemas.openxmlformats.org/drawingml/2006/main">
            <a:r>
              <a:t>Fuente principal: https://github.com/javierrosado/ariwalab-course-langchain/blob/27c24090f1662f9473b673d2020e7bffee04490b/00-preparacion/conceptos-previos/python-y-entorno.md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Preparar un entorno reproducible para ejecutar los ejemplos del repositorio.</a:t>
            </a:r>
          </a:p>
          <a:p xmlns:a="http://schemas.openxmlformats.org/drawingml/2006/main">
            <a:r>
              <a:t/>
            </a:r>
          </a:p>
          <a:p xmlns:a="http://schemas.openxmlformats.org/drawingml/2006/main">
            <a:r>
              <a:t>CONCEPTO PRINCIPAL</a:t>
            </a:r>
          </a:p>
          <a:p xmlns:a="http://schemas.openxmlformats.org/drawingml/2006/main">
            <a:r>
              <a:t>Python: aislar y verificar</a:t>
            </a:r>
          </a:p>
          <a:p xmlns:a="http://schemas.openxmlformats.org/drawingml/2006/main">
            <a:r>
              <a:t/>
            </a:r>
          </a:p>
          <a:p xmlns:a="http://schemas.openxmlformats.org/drawingml/2006/main">
            <a:r>
              <a:t>MENSAJE QUE DEBE LLEVARSE EL ALUMNO</a:t>
            </a:r>
          </a:p>
          <a:p xmlns:a="http://schemas.openxmlformats.org/drawingml/2006/main">
            <a:r>
              <a:t>Instalar un paquete en otro intérprete no resuelve el entorno activo.</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Intérprete: Confirmar la versión requerida por el repositorio.</a:t>
            </a:r>
          </a:p>
          <a:p xmlns:a="http://schemas.openxmlformats.org/drawingml/2006/main">
            <a:r>
              <a:t/>
            </a:r>
          </a:p>
          <a:p xmlns:a="http://schemas.openxmlformats.org/drawingml/2006/main">
            <a:r>
              <a:t>Entorno: Activar .venv y revisar qué Python se está usando.</a:t>
            </a:r>
          </a:p>
          <a:p xmlns:a="http://schemas.openxmlformats.org/drawingml/2006/main">
            <a:r>
              <a:t/>
            </a:r>
          </a:p>
          <a:p xmlns:a="http://schemas.openxmlformats.org/drawingml/2006/main">
            <a:r>
              <a:t>Dependencias: Instalar desde requirements.txt en ese mismo entorno.</a:t>
            </a:r>
          </a:p>
          <a:p xmlns:a="http://schemas.openxmlformats.org/drawingml/2006/main">
            <a:r>
              <a:t/>
            </a:r>
          </a:p>
          <a:p xmlns:a="http://schemas.openxmlformats.org/drawingml/2006/main">
            <a:r>
              <a:t>Contraste la regla con este error: Usar pip de un Python y ejecutar con otro.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Antes de copiar comandos, pida ubicar la raíz del repositorio. Verifique Python, pip y Git. El documento indica Python 3.10 o superior y recomienda 3.13; la compatibilidad definitiva debe contrastarse con las dependencias del proyecto. Cree .venv y explique que separa paquetes de otros proyectos, no es una máquina virtual ni un contenedor.</a:t>
            </a:r>
          </a:p>
          <a:p xmlns:a="http://schemas.openxmlformats.org/drawingml/2006/main">
            <a:r>
              <a:t/>
            </a:r>
          </a:p>
          <a:p xmlns:a="http://schemas.openxmlformats.org/drawingml/2006/main">
            <a:r>
              <a:t>La columna derecha distingue activación en PowerShell y en macOS/Linux. Solo se ejecuta el comando del sistema del alumno. La marca (.venv) es una pista visible; si hay dudas, confirme también el intérprete que usa la terminal o el editor. Instale requirements.txt dentro de ese entorno y vuelva a activarlo en cada terminal nueva. Cierre conectando ModuleNotFoundError con diagnóstico de intérprete, instalación y directorio, sin atribuir cualquier error de importación únicamente a activación.</a:t>
            </a:r>
          </a:p>
          <a:p xmlns:a="http://schemas.openxmlformats.org/drawingml/2006/main">
            <a:r>
              <a:t/>
            </a:r>
          </a:p>
          <a:p xmlns:a="http://schemas.openxmlformats.org/drawingml/2006/main">
            <a:r>
              <a:t>ELEMENTOS QUE CONVIENE EXPLICAR</a:t>
            </a:r>
          </a:p>
          <a:p xmlns:a="http://schemas.openxmlformats.org/drawingml/2006/main">
            <a:r>
              <a:t>Intérprete; Entorno; Dependencias.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El import funciona en un notebook, pero falla en la terminal.</a:t>
            </a:r>
          </a:p>
          <a:p xmlns:a="http://schemas.openxmlformats.org/drawingml/2006/main">
            <a:r>
              <a:t>Identificar: Notebook y terminal usan intérpretes distintos.</a:t>
            </a:r>
          </a:p>
          <a:p xmlns:a="http://schemas.openxmlformats.org/drawingml/2006/main">
            <a:r>
              <a:t>Alinear: Activar el entorno del curso en la terminal.</a:t>
            </a:r>
          </a:p>
          <a:p xmlns:a="http://schemas.openxmlformats.org/drawingml/2006/main">
            <a:r>
              <a:t>Repetir: Ejecutar desde la raíz con las dependencias instaladas.</a:t>
            </a:r>
          </a:p>
          <a:p xmlns:a="http://schemas.openxmlformats.org/drawingml/2006/main">
            <a:r>
              <a:t>Resultado: El mismo código necesita un entorno coherente para ser reproducible.</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comprobarías antes de reinstalar todo?</a:t>
            </a:r>
          </a:p>
          <a:p xmlns:a="http://schemas.openxmlformats.org/drawingml/2006/main">
            <a:r>
              <a:t>Orientación para el docente: contraste la respuesta con los criterios del desarrollo y pida evidencia. La conclusión debe respetar: Instalar un paquete en otro intérprete no resuelve el entorno activo.</a:t>
            </a:r>
          </a:p>
          <a:p xmlns:a="http://schemas.openxmlformats.org/drawingml/2006/main">
            <a:r>
              <a:t/>
            </a:r>
          </a:p>
          <a:p xmlns:a="http://schemas.openxmlformats.org/drawingml/2006/main">
            <a:r>
              <a:t>ERRORES CONCEPTUALES FRECUENTES</a:t>
            </a:r>
          </a:p>
          <a:p xmlns:a="http://schemas.openxmlformats.org/drawingml/2006/main">
            <a:r>
              <a:t>Usar pip de un Python y ejecutar con otro.</a:t>
            </a:r>
          </a:p>
          <a:p xmlns:a="http://schemas.openxmlformats.org/drawingml/2006/main">
            <a:r>
              <a:t/>
            </a:r>
          </a:p>
          <a:p xmlns:a="http://schemas.openxmlformats.org/drawingml/2006/main">
            <a:r>
              <a:t>CONEXIÓN ANTERIOR</a:t>
            </a:r>
          </a:p>
          <a:p xmlns:a="http://schemas.openxmlformats.org/drawingml/2006/main">
            <a:r>
              <a:t>01 fija esta tarea como parte de la preparación; 14 distingue código local e inferencia remota. · Capítulo previo: Prompt, RAG y fine-tuning</a:t>
            </a:r>
          </a:p>
          <a:p xmlns:a="http://schemas.openxmlformats.org/drawingml/2006/main">
            <a:r>
              <a:t/>
            </a:r>
          </a:p>
          <a:p xmlns:a="http://schemas.openxmlformats.org/drawingml/2006/main">
            <a:r>
              <a:t>CONEXIÓN POSTERIOR</a:t>
            </a:r>
          </a:p>
          <a:p xmlns:a="http://schemas.openxmlformats.org/drawingml/2006/main">
            <a:r>
              <a:t>17: configuración privada. 20: diagnóstico por síntomas. · Sigue: Configuración y secretos</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48 · CAPÍTULO 16 · EJEMPLO</a:t>
            </a:r>
          </a:p>
          <a:p xmlns:a="http://schemas.openxmlformats.org/drawingml/2006/main">
            <a:r>
              <a:t>Título: MercaSur · Python: aislar y verificar</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Python y entorno §§1–2</a:t>
            </a:r>
          </a:p>
          <a:p xmlns:a="http://schemas.openxmlformats.org/drawingml/2006/main">
            <a:r>
              <a:t>Fuente principal: https://github.com/javierrosado/ariwalab-course-langchain/blob/27c24090f1662f9473b673d2020e7bffee04490b/00-preparacion/conceptos-previos/python-y-entorno.md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Preparar un entorno reproducible para ejecutar los ejemplos del repositorio.</a:t>
            </a:r>
          </a:p>
          <a:p xmlns:a="http://schemas.openxmlformats.org/drawingml/2006/main">
            <a:r>
              <a:t/>
            </a:r>
          </a:p>
          <a:p xmlns:a="http://schemas.openxmlformats.org/drawingml/2006/main">
            <a:r>
              <a:t>CONCEPTO PRINCIPAL</a:t>
            </a:r>
          </a:p>
          <a:p xmlns:a="http://schemas.openxmlformats.org/drawingml/2006/main">
            <a:r>
              <a:t>Python: aislar y verificar</a:t>
            </a:r>
          </a:p>
          <a:p xmlns:a="http://schemas.openxmlformats.org/drawingml/2006/main">
            <a:r>
              <a:t/>
            </a:r>
          </a:p>
          <a:p xmlns:a="http://schemas.openxmlformats.org/drawingml/2006/main">
            <a:r>
              <a:t>MENSAJE QUE DEBE LLEVARSE EL ALUMNO</a:t>
            </a:r>
          </a:p>
          <a:p xmlns:a="http://schemas.openxmlformats.org/drawingml/2006/main">
            <a:r>
              <a:t>Instalar un paquete en otro intérprete no resuelve el entorno activo.</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El import funciona en un notebook, pero falla en la terminal. Pida una predicción.</a:t>
            </a:r>
          </a:p>
          <a:p xmlns:a="http://schemas.openxmlformats.org/drawingml/2006/main">
            <a:r>
              <a:t/>
            </a:r>
          </a:p>
          <a:p xmlns:a="http://schemas.openxmlformats.org/drawingml/2006/main">
            <a:r>
              <a:t>Identificar: Notebook y terminal usan intérpretes distintos.</a:t>
            </a:r>
          </a:p>
          <a:p xmlns:a="http://schemas.openxmlformats.org/drawingml/2006/main">
            <a:r>
              <a:t/>
            </a:r>
          </a:p>
          <a:p xmlns:a="http://schemas.openxmlformats.org/drawingml/2006/main">
            <a:r>
              <a:t>Alinear: Activar el entorno del curso en la terminal.</a:t>
            </a:r>
          </a:p>
          <a:p xmlns:a="http://schemas.openxmlformats.org/drawingml/2006/main">
            <a:r>
              <a:t/>
            </a:r>
          </a:p>
          <a:p xmlns:a="http://schemas.openxmlformats.org/drawingml/2006/main">
            <a:r>
              <a:t>Repetir: Ejecutar desde la raíz con las dependencias instaladas.</a:t>
            </a:r>
          </a:p>
          <a:p xmlns:a="http://schemas.openxmlformats.org/drawingml/2006/main">
            <a:r>
              <a:t/>
            </a:r>
          </a:p>
          <a:p xmlns:a="http://schemas.openxmlformats.org/drawingml/2006/main">
            <a:r>
              <a:t>Resultado esperado: El mismo código necesita un entorno coherente para ser reproducible.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Antes de copiar comandos, pida ubicar la raíz del repositorio. Verifique Python, pip y Git. El documento indica Python 3.10 o superior y recomienda 3.13; la compatibilidad definitiva debe contrastarse con las dependencias del proyecto. Cree .venv y explique que separa paquetes de otros proyectos, no es una máquina virtual ni un contenedor.</a:t>
            </a:r>
          </a:p>
          <a:p xmlns:a="http://schemas.openxmlformats.org/drawingml/2006/main">
            <a:r>
              <a:t/>
            </a:r>
          </a:p>
          <a:p xmlns:a="http://schemas.openxmlformats.org/drawingml/2006/main">
            <a:r>
              <a:t>La columna derecha distingue activación en PowerShell y en macOS/Linux. Solo se ejecuta el comando del sistema del alumno. La marca (.venv) es una pista visible; si hay dudas, confirme también el intérprete que usa la terminal o el editor. Instale requirements.txt dentro de ese entorno y vuelva a activarlo en cada terminal nueva. Cierre conectando ModuleNotFoundError con diagnóstico de intérprete, instalación y directorio, sin atribuir cualquier error de importación únicamente a activación.</a:t>
            </a:r>
          </a:p>
          <a:p xmlns:a="http://schemas.openxmlformats.org/drawingml/2006/main">
            <a:r>
              <a:t/>
            </a:r>
          </a:p>
          <a:p xmlns:a="http://schemas.openxmlformats.org/drawingml/2006/main">
            <a:r>
              <a:t>ELEMENTOS QUE CONVIENE EXPLICAR</a:t>
            </a:r>
          </a:p>
          <a:p xmlns:a="http://schemas.openxmlformats.org/drawingml/2006/main">
            <a:r>
              <a:t>Identificar; Alinear; Repetir.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El import funciona en un notebook, pero falla en la terminal.</a:t>
            </a:r>
          </a:p>
          <a:p xmlns:a="http://schemas.openxmlformats.org/drawingml/2006/main">
            <a:r>
              <a:t>Identificar: Notebook y terminal usan intérpretes distintos.</a:t>
            </a:r>
          </a:p>
          <a:p xmlns:a="http://schemas.openxmlformats.org/drawingml/2006/main">
            <a:r>
              <a:t>Alinear: Activar el entorno del curso en la terminal.</a:t>
            </a:r>
          </a:p>
          <a:p xmlns:a="http://schemas.openxmlformats.org/drawingml/2006/main">
            <a:r>
              <a:t>Repetir: Ejecutar desde la raíz con las dependencias instaladas.</a:t>
            </a:r>
          </a:p>
          <a:p xmlns:a="http://schemas.openxmlformats.org/drawingml/2006/main">
            <a:r>
              <a:t>Resultado: El mismo código necesita un entorno coherente para ser reproducible.</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comprobarías antes de reinstalar todo?</a:t>
            </a:r>
          </a:p>
          <a:p xmlns:a="http://schemas.openxmlformats.org/drawingml/2006/main">
            <a:r>
              <a:t>Orientación para el docente: contraste la respuesta con los criterios del desarrollo y pida evidencia. La conclusión debe respetar: Instalar un paquete en otro intérprete no resuelve el entorno activo.</a:t>
            </a:r>
          </a:p>
          <a:p xmlns:a="http://schemas.openxmlformats.org/drawingml/2006/main">
            <a:r>
              <a:t/>
            </a:r>
          </a:p>
          <a:p xmlns:a="http://schemas.openxmlformats.org/drawingml/2006/main">
            <a:r>
              <a:t>ERRORES CONCEPTUALES FRECUENTES</a:t>
            </a:r>
          </a:p>
          <a:p xmlns:a="http://schemas.openxmlformats.org/drawingml/2006/main">
            <a:r>
              <a:t>Usar pip de un Python y ejecutar con otro.</a:t>
            </a:r>
          </a:p>
          <a:p xmlns:a="http://schemas.openxmlformats.org/drawingml/2006/main">
            <a:r>
              <a:t/>
            </a:r>
          </a:p>
          <a:p xmlns:a="http://schemas.openxmlformats.org/drawingml/2006/main">
            <a:r>
              <a:t>CONEXIÓN ANTERIOR</a:t>
            </a:r>
          </a:p>
          <a:p xmlns:a="http://schemas.openxmlformats.org/drawingml/2006/main">
            <a:r>
              <a:t>01 fija esta tarea como parte de la preparación; 14 distingue código local e inferencia remota. · Capítulo previo: Prompt, RAG y fine-tuning</a:t>
            </a:r>
          </a:p>
          <a:p xmlns:a="http://schemas.openxmlformats.org/drawingml/2006/main">
            <a:r>
              <a:t/>
            </a:r>
          </a:p>
          <a:p xmlns:a="http://schemas.openxmlformats.org/drawingml/2006/main">
            <a:r>
              <a:t>CONEXIÓN POSTERIOR</a:t>
            </a:r>
          </a:p>
          <a:p xmlns:a="http://schemas.openxmlformats.org/drawingml/2006/main">
            <a:r>
              <a:t>17: configuración privada. 20: diagnóstico por síntomas. · Sigue: Configuración y secretos</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49 · CAPÍTULO 17 · CONCEPTO</a:t>
            </a:r>
          </a:p>
          <a:p xmlns:a="http://schemas.openxmlformats.org/drawingml/2006/main">
            <a:r>
              <a:t>Título: Configuración y secretos</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Python y entorno §§3–4</a:t>
            </a:r>
          </a:p>
          <a:p xmlns:a="http://schemas.openxmlformats.org/drawingml/2006/main">
            <a:r>
              <a:t>Fuente principal: https://github.com/javierrosado/ariwalab-course-langchain/blob/27c24090f1662f9473b673d2020e7bffee04490b/00-preparacion/conceptos-previos/python-y-entorno.md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Seguir una credencial desde el entorno hasta el proveedor sin publicarla.</a:t>
            </a:r>
          </a:p>
          <a:p xmlns:a="http://schemas.openxmlformats.org/drawingml/2006/main">
            <a:r>
              <a:t/>
            </a:r>
          </a:p>
          <a:p xmlns:a="http://schemas.openxmlformats.org/drawingml/2006/main">
            <a:r>
              <a:t>CONCEPTO PRINCIPAL</a:t>
            </a:r>
          </a:p>
          <a:p xmlns:a="http://schemas.openxmlformats.org/drawingml/2006/main">
            <a:r>
              <a:t>Configuración y secretos</a:t>
            </a:r>
          </a:p>
          <a:p xmlns:a="http://schemas.openxmlformats.org/drawingml/2006/main">
            <a:r>
              <a:t/>
            </a:r>
          </a:p>
          <a:p xmlns:a="http://schemas.openxmlformats.org/drawingml/2006/main">
            <a:r>
              <a:t>MENSAJE QUE DEBE LLEVARSE EL ALUMNO</a:t>
            </a:r>
          </a:p>
          <a:p xmlns:a="http://schemas.openxmlformats.org/drawingml/2006/main">
            <a:r>
              <a:t>Una credencial habilita acceso y debe mantenerse fuera de evidencias públicas.</a:t>
            </a:r>
          </a:p>
          <a:p xmlns:a="http://schemas.openxmlformats.org/drawingml/2006/main">
            <a:r>
              <a:t/>
            </a:r>
          </a:p>
          <a:p xmlns:a="http://schemas.openxmlformats.org/drawingml/2006/main">
            <a:r>
              <a:t>EXPLICACIÓN SUGERIDA PARA EL DOCENTE</a:t>
            </a:r>
          </a:p>
          <a:p xmlns:a="http://schemas.openxmlformats.org/drawingml/2006/main">
            <a:r>
              <a:t>Abra con la pregunta «¿Qué compartirías para diagnosticar un 401 sin revelar el token?».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Configuración local: .env conserva valores fuera del código fuente.</a:t>
            </a:r>
          </a:p>
          <a:p xmlns:a="http://schemas.openxmlformats.org/drawingml/2006/main">
            <a:r>
              <a:t/>
            </a:r>
          </a:p>
          <a:p xmlns:a="http://schemas.openxmlformats.org/drawingml/2006/main">
            <a:r>
              <a:t>Carga: settings lee variables y configura el proveedor.</a:t>
            </a:r>
          </a:p>
          <a:p xmlns:a="http://schemas.openxmlformats.org/drawingml/2006/main">
            <a:r>
              <a:t/>
            </a:r>
          </a:p>
          <a:p xmlns:a="http://schemas.openxmlformats.org/drawingml/2006/main">
            <a:r>
              <a:t>Petición: El cliente usa la credencial para autenticar la llamada.</a:t>
            </a:r>
          </a:p>
          <a:p xmlns:a="http://schemas.openxmlformats.org/drawingml/2006/main">
            <a:r>
              <a:t/>
            </a:r>
          </a:p>
          <a:p xmlns:a="http://schemas.openxmlformats.org/drawingml/2006/main">
            <a:r>
              <a:t>Cierre con la distinción: Una credencial habilita acceso y debe mantenerse fuera de evidencias públicas.</a:t>
            </a:r>
          </a:p>
          <a:p xmlns:a="http://schemas.openxmlformats.org/drawingml/2006/main">
            <a:r>
              <a:t/>
            </a:r>
          </a:p>
          <a:p xmlns:a="http://schemas.openxmlformats.org/drawingml/2006/main">
            <a:r>
              <a:t>AMPLIACIÓN DEL MATERIAL APROBADO</a:t>
            </a:r>
          </a:p>
          <a:p xmlns:a="http://schemas.openxmlformats.org/drawingml/2006/main">
            <a:r>
              <a:t>Distinga .env.example, que documenta nombres y valores de ejemplo, de .env, que contiene valores privados de cada alumno. El marcador de token de la imagen no es una credencial funcional. Lea las variables y siga el recorrido desde settings.py hacia provider.py y el script. El archivo privado permite configurar el proveedor sin repartir credenciales por el código.</a:t>
            </a:r>
          </a:p>
          <a:p xmlns:a="http://schemas.openxmlformats.org/drawingml/2006/main">
            <a:r>
              <a:t/>
            </a:r>
          </a:p>
          <a:p xmlns:a="http://schemas.openxmlformats.org/drawingml/2006/main">
            <a:r>
              <a:t>Antes de un commit, compruebe que .env esté ignorado y no haya sido agregado previamente al seguimiento de Git. Agregar una ruta a .gitignore no borra un secreto que ya se publicó. Si un token se expuso, se revoca y se reemplaza. La regla también aplica a capturas y chats. No convierta la clase en un intercambio de claves: cada estudiante confirma el resultado de su prueba, no muestra el secreto. En S8 la configuración pasa al gestor de secretos de la plataforma.</a:t>
            </a:r>
          </a:p>
          <a:p xmlns:a="http://schemas.openxmlformats.org/drawingml/2006/main">
            <a:r>
              <a:t/>
            </a:r>
          </a:p>
          <a:p xmlns:a="http://schemas.openxmlformats.org/drawingml/2006/main">
            <a:r>
              <a:t>ELEMENTOS QUE CONVIENE EXPLICAR</a:t>
            </a:r>
          </a:p>
          <a:p xmlns:a="http://schemas.openxmlformats.org/drawingml/2006/main">
            <a:r>
              <a:t>Configuración local; Carga; Petición.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Una llamada falla porque HF_TOKEN conserva un valor de ejemplo.</a:t>
            </a:r>
          </a:p>
          <a:p xmlns:a="http://schemas.openxmlformats.org/drawingml/2006/main">
            <a:r>
              <a:t>Detectar: El modelo no recibió una credencial válida.</a:t>
            </a:r>
          </a:p>
          <a:p xmlns:a="http://schemas.openxmlformats.org/drawingml/2006/main">
            <a:r>
              <a:t>Corregir: Configurar el token en el entorno local.</a:t>
            </a:r>
          </a:p>
          <a:p xmlns:a="http://schemas.openxmlformats.org/drawingml/2006/main">
            <a:r>
              <a:t>Verificar: Reintentar sin imprimir la clave en la terminal.</a:t>
            </a:r>
          </a:p>
          <a:p xmlns:a="http://schemas.openxmlformats.org/drawingml/2006/main">
            <a:r>
              <a:t>Resultado: La configuración cambia entre entornos; el secreto no debe viajar en el código.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compartirías para diagnosticar un 401 sin revelar el token?</a:t>
            </a:r>
          </a:p>
          <a:p xmlns:a="http://schemas.openxmlformats.org/drawingml/2006/main">
            <a:r>
              <a:t>Orientación para el docente: contraste la respuesta con los criterios del desarrollo y pida evidencia. La conclusión debe respetar: Una credencial habilita acceso y debe mantenerse fuera de evidencias públicas.</a:t>
            </a:r>
          </a:p>
          <a:p xmlns:a="http://schemas.openxmlformats.org/drawingml/2006/main">
            <a:r>
              <a:t/>
            </a:r>
          </a:p>
          <a:p xmlns:a="http://schemas.openxmlformats.org/drawingml/2006/main">
            <a:r>
              <a:t>ERRORES CONCEPTUALES FRECUENTES</a:t>
            </a:r>
          </a:p>
          <a:p xmlns:a="http://schemas.openxmlformats.org/drawingml/2006/main">
            <a:r>
              <a:t>Pegar secretos en una diapositiva, captura o repositorio.</a:t>
            </a:r>
          </a:p>
          <a:p xmlns:a="http://schemas.openxmlformats.org/drawingml/2006/main">
            <a:r>
              <a:t/>
            </a:r>
          </a:p>
          <a:p xmlns:a="http://schemas.openxmlformats.org/drawingml/2006/main">
            <a:r>
              <a:t>CONEXIÓN ANTERIOR</a:t>
            </a:r>
          </a:p>
          <a:p xmlns:a="http://schemas.openxmlformats.org/drawingml/2006/main">
            <a:r>
              <a:t>16: entorno de ejecución; 14: llamada al proveedor remoto. · Capítulo previo: Python: aislar y verificar</a:t>
            </a:r>
          </a:p>
          <a:p xmlns:a="http://schemas.openxmlformats.org/drawingml/2006/main">
            <a:r>
              <a:t/>
            </a:r>
          </a:p>
          <a:p xmlns:a="http://schemas.openxmlformats.org/drawingml/2006/main">
            <a:r>
              <a:t>CONEXIÓN POSTERIOR</a:t>
            </a:r>
          </a:p>
          <a:p xmlns:a="http://schemas.openxmlformats.org/drawingml/2006/main">
            <a:r>
              <a:t>19: claves por servicio. S1: provider.py. S8: secretos en la plataforma. · Sigue: Pydantic y el contrato de salida</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50 · CAPÍTULO 17 · DESARROLLO</a:t>
            </a:r>
          </a:p>
          <a:p xmlns:a="http://schemas.openxmlformats.org/drawingml/2006/main">
            <a:r>
              <a:t>Título: Qué revisar antes de ejecutar</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Python y entorno §§3–4</a:t>
            </a:r>
          </a:p>
          <a:p xmlns:a="http://schemas.openxmlformats.org/drawingml/2006/main">
            <a:r>
              <a:t>Fuente principal: https://github.com/javierrosado/ariwalab-course-langchain/blob/27c24090f1662f9473b673d2020e7bffee04490b/00-preparacion/conceptos-previos/python-y-entorno.md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Seguir una credencial desde el entorno hasta el proveedor sin publicarla.</a:t>
            </a:r>
          </a:p>
          <a:p xmlns:a="http://schemas.openxmlformats.org/drawingml/2006/main">
            <a:r>
              <a:t/>
            </a:r>
          </a:p>
          <a:p xmlns:a="http://schemas.openxmlformats.org/drawingml/2006/main">
            <a:r>
              <a:t>CONCEPTO PRINCIPAL</a:t>
            </a:r>
          </a:p>
          <a:p xmlns:a="http://schemas.openxmlformats.org/drawingml/2006/main">
            <a:r>
              <a:t>Configuración y secretos</a:t>
            </a:r>
          </a:p>
          <a:p xmlns:a="http://schemas.openxmlformats.org/drawingml/2006/main">
            <a:r>
              <a:t/>
            </a:r>
          </a:p>
          <a:p xmlns:a="http://schemas.openxmlformats.org/drawingml/2006/main">
            <a:r>
              <a:t>MENSAJE QUE DEBE LLEVARSE EL ALUMNO</a:t>
            </a:r>
          </a:p>
          <a:p xmlns:a="http://schemas.openxmlformats.org/drawingml/2006/main">
            <a:r>
              <a:t>Una credencial habilita acceso y debe mantenerse fuera de evidencias públicas.</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Nombre: La variable coincide con lo que lee el repositorio.</a:t>
            </a:r>
          </a:p>
          <a:p xmlns:a="http://schemas.openxmlformats.org/drawingml/2006/main">
            <a:r>
              <a:t/>
            </a:r>
          </a:p>
          <a:p xmlns:a="http://schemas.openxmlformats.org/drawingml/2006/main">
            <a:r>
              <a:t>Valor: No está vacía ni contiene marcadores de ejemplo.</a:t>
            </a:r>
          </a:p>
          <a:p xmlns:a="http://schemas.openxmlformats.org/drawingml/2006/main">
            <a:r>
              <a:t/>
            </a:r>
          </a:p>
          <a:p xmlns:a="http://schemas.openxmlformats.org/drawingml/2006/main">
            <a:r>
              <a:t>Exposición: No aparece en capturas, logs ni commits.</a:t>
            </a:r>
          </a:p>
          <a:p xmlns:a="http://schemas.openxmlformats.org/drawingml/2006/main">
            <a:r>
              <a:t/>
            </a:r>
          </a:p>
          <a:p xmlns:a="http://schemas.openxmlformats.org/drawingml/2006/main">
            <a:r>
              <a:t>Contraste la regla con este error: Pegar secretos en una diapositiva, captura o repositorio.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Distinga .env.example, que documenta nombres y valores de ejemplo, de .env, que contiene valores privados de cada alumno. El marcador de token de la imagen no es una credencial funcional. Lea las variables y siga el recorrido desde settings.py hacia provider.py y el script. El archivo privado permite configurar el proveedor sin repartir credenciales por el código.</a:t>
            </a:r>
          </a:p>
          <a:p xmlns:a="http://schemas.openxmlformats.org/drawingml/2006/main">
            <a:r>
              <a:t/>
            </a:r>
          </a:p>
          <a:p xmlns:a="http://schemas.openxmlformats.org/drawingml/2006/main">
            <a:r>
              <a:t>Antes de un commit, compruebe que .env esté ignorado y no haya sido agregado previamente al seguimiento de Git. Agregar una ruta a .gitignore no borra un secreto que ya se publicó. Si un token se expuso, se revoca y se reemplaza. La regla también aplica a capturas y chats. No convierta la clase en un intercambio de claves: cada estudiante confirma el resultado de su prueba, no muestra el secreto. En S8 la configuración pasa al gestor de secretos de la plataforma.</a:t>
            </a:r>
          </a:p>
          <a:p xmlns:a="http://schemas.openxmlformats.org/drawingml/2006/main">
            <a:r>
              <a:t/>
            </a:r>
          </a:p>
          <a:p xmlns:a="http://schemas.openxmlformats.org/drawingml/2006/main">
            <a:r>
              <a:t>ELEMENTOS QUE CONVIENE EXPLICAR</a:t>
            </a:r>
          </a:p>
          <a:p xmlns:a="http://schemas.openxmlformats.org/drawingml/2006/main">
            <a:r>
              <a:t>Nombre; Valor; Exposición.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Una llamada falla porque HF_TOKEN conserva un valor de ejemplo.</a:t>
            </a:r>
          </a:p>
          <a:p xmlns:a="http://schemas.openxmlformats.org/drawingml/2006/main">
            <a:r>
              <a:t>Detectar: El modelo no recibió una credencial válida.</a:t>
            </a:r>
          </a:p>
          <a:p xmlns:a="http://schemas.openxmlformats.org/drawingml/2006/main">
            <a:r>
              <a:t>Corregir: Configurar el token en el entorno local.</a:t>
            </a:r>
          </a:p>
          <a:p xmlns:a="http://schemas.openxmlformats.org/drawingml/2006/main">
            <a:r>
              <a:t>Verificar: Reintentar sin imprimir la clave en la terminal.</a:t>
            </a:r>
          </a:p>
          <a:p xmlns:a="http://schemas.openxmlformats.org/drawingml/2006/main">
            <a:r>
              <a:t>Resultado: La configuración cambia entre entornos; el secreto no debe viajar en el código.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compartirías para diagnosticar un 401 sin revelar el token?</a:t>
            </a:r>
          </a:p>
          <a:p xmlns:a="http://schemas.openxmlformats.org/drawingml/2006/main">
            <a:r>
              <a:t>Orientación para el docente: contraste la respuesta con los criterios del desarrollo y pida evidencia. La conclusión debe respetar: Una credencial habilita acceso y debe mantenerse fuera de evidencias públicas.</a:t>
            </a:r>
          </a:p>
          <a:p xmlns:a="http://schemas.openxmlformats.org/drawingml/2006/main">
            <a:r>
              <a:t/>
            </a:r>
          </a:p>
          <a:p xmlns:a="http://schemas.openxmlformats.org/drawingml/2006/main">
            <a:r>
              <a:t>ERRORES CONCEPTUALES FRECUENTES</a:t>
            </a:r>
          </a:p>
          <a:p xmlns:a="http://schemas.openxmlformats.org/drawingml/2006/main">
            <a:r>
              <a:t>Pegar secretos en una diapositiva, captura o repositorio.</a:t>
            </a:r>
          </a:p>
          <a:p xmlns:a="http://schemas.openxmlformats.org/drawingml/2006/main">
            <a:r>
              <a:t/>
            </a:r>
          </a:p>
          <a:p xmlns:a="http://schemas.openxmlformats.org/drawingml/2006/main">
            <a:r>
              <a:t>CONEXIÓN ANTERIOR</a:t>
            </a:r>
          </a:p>
          <a:p xmlns:a="http://schemas.openxmlformats.org/drawingml/2006/main">
            <a:r>
              <a:t>16: entorno de ejecución; 14: llamada al proveedor remoto. · Capítulo previo: Python: aislar y verificar</a:t>
            </a:r>
          </a:p>
          <a:p xmlns:a="http://schemas.openxmlformats.org/drawingml/2006/main">
            <a:r>
              <a:t/>
            </a:r>
          </a:p>
          <a:p xmlns:a="http://schemas.openxmlformats.org/drawingml/2006/main">
            <a:r>
              <a:t>CONEXIÓN POSTERIOR</a:t>
            </a:r>
          </a:p>
          <a:p xmlns:a="http://schemas.openxmlformats.org/drawingml/2006/main">
            <a:r>
              <a:t>19: claves por servicio. S1: provider.py. S8: secretos en la plataforma. · Sigue: Pydantic y el contrato de salida</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51 · CAPÍTULO 17 · EJEMPLO</a:t>
            </a:r>
          </a:p>
          <a:p xmlns:a="http://schemas.openxmlformats.org/drawingml/2006/main">
            <a:r>
              <a:t>Título: Banco Inti · Configuración y secretos</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Python y entorno §§3–4</a:t>
            </a:r>
          </a:p>
          <a:p xmlns:a="http://schemas.openxmlformats.org/drawingml/2006/main">
            <a:r>
              <a:t>Fuente principal: https://github.com/javierrosado/ariwalab-course-langchain/blob/27c24090f1662f9473b673d2020e7bffee04490b/00-preparacion/conceptos-previos/python-y-entorno.md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Seguir una credencial desde el entorno hasta el proveedor sin publicarla.</a:t>
            </a:r>
          </a:p>
          <a:p xmlns:a="http://schemas.openxmlformats.org/drawingml/2006/main">
            <a:r>
              <a:t/>
            </a:r>
          </a:p>
          <a:p xmlns:a="http://schemas.openxmlformats.org/drawingml/2006/main">
            <a:r>
              <a:t>CONCEPTO PRINCIPAL</a:t>
            </a:r>
          </a:p>
          <a:p xmlns:a="http://schemas.openxmlformats.org/drawingml/2006/main">
            <a:r>
              <a:t>Configuración y secretos</a:t>
            </a:r>
          </a:p>
          <a:p xmlns:a="http://schemas.openxmlformats.org/drawingml/2006/main">
            <a:r>
              <a:t/>
            </a:r>
          </a:p>
          <a:p xmlns:a="http://schemas.openxmlformats.org/drawingml/2006/main">
            <a:r>
              <a:t>MENSAJE QUE DEBE LLEVARSE EL ALUMNO</a:t>
            </a:r>
          </a:p>
          <a:p xmlns:a="http://schemas.openxmlformats.org/drawingml/2006/main">
            <a:r>
              <a:t>Una credencial habilita acceso y debe mantenerse fuera de evidencias públicas.</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Una llamada falla porque HF_TOKEN conserva un valor de ejemplo. Pida una predicción.</a:t>
            </a:r>
          </a:p>
          <a:p xmlns:a="http://schemas.openxmlformats.org/drawingml/2006/main">
            <a:r>
              <a:t/>
            </a:r>
          </a:p>
          <a:p xmlns:a="http://schemas.openxmlformats.org/drawingml/2006/main">
            <a:r>
              <a:t>Detectar: El modelo no recibió una credencial válida.</a:t>
            </a:r>
          </a:p>
          <a:p xmlns:a="http://schemas.openxmlformats.org/drawingml/2006/main">
            <a:r>
              <a:t/>
            </a:r>
          </a:p>
          <a:p xmlns:a="http://schemas.openxmlformats.org/drawingml/2006/main">
            <a:r>
              <a:t>Corregir: Configurar el token en el entorno local.</a:t>
            </a:r>
          </a:p>
          <a:p xmlns:a="http://schemas.openxmlformats.org/drawingml/2006/main">
            <a:r>
              <a:t/>
            </a:r>
          </a:p>
          <a:p xmlns:a="http://schemas.openxmlformats.org/drawingml/2006/main">
            <a:r>
              <a:t>Verificar: Reintentar sin imprimir la clave en la terminal.</a:t>
            </a:r>
          </a:p>
          <a:p xmlns:a="http://schemas.openxmlformats.org/drawingml/2006/main">
            <a:r>
              <a:t/>
            </a:r>
          </a:p>
          <a:p xmlns:a="http://schemas.openxmlformats.org/drawingml/2006/main">
            <a:r>
              <a:t>Resultado esperado: La configuración cambia entre entornos; el secreto no debe viajar en el código.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Distinga .env.example, que documenta nombres y valores de ejemplo, de .env, que contiene valores privados de cada alumno. El marcador de token de la imagen no es una credencial funcional. Lea las variables y siga el recorrido desde settings.py hacia provider.py y el script. El archivo privado permite configurar el proveedor sin repartir credenciales por el código.</a:t>
            </a:r>
          </a:p>
          <a:p xmlns:a="http://schemas.openxmlformats.org/drawingml/2006/main">
            <a:r>
              <a:t/>
            </a:r>
          </a:p>
          <a:p xmlns:a="http://schemas.openxmlformats.org/drawingml/2006/main">
            <a:r>
              <a:t>Antes de un commit, compruebe que .env esté ignorado y no haya sido agregado previamente al seguimiento de Git. Agregar una ruta a .gitignore no borra un secreto que ya se publicó. Si un token se expuso, se revoca y se reemplaza. La regla también aplica a capturas y chats. No convierta la clase en un intercambio de claves: cada estudiante confirma el resultado de su prueba, no muestra el secreto. En S8 la configuración pasa al gestor de secretos de la plataforma.</a:t>
            </a:r>
          </a:p>
          <a:p xmlns:a="http://schemas.openxmlformats.org/drawingml/2006/main">
            <a:r>
              <a:t/>
            </a:r>
          </a:p>
          <a:p xmlns:a="http://schemas.openxmlformats.org/drawingml/2006/main">
            <a:r>
              <a:t>ELEMENTOS QUE CONVIENE EXPLICAR</a:t>
            </a:r>
          </a:p>
          <a:p xmlns:a="http://schemas.openxmlformats.org/drawingml/2006/main">
            <a:r>
              <a:t>Detectar; Corregir; Verificar.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Una llamada falla porque HF_TOKEN conserva un valor de ejemplo.</a:t>
            </a:r>
          </a:p>
          <a:p xmlns:a="http://schemas.openxmlformats.org/drawingml/2006/main">
            <a:r>
              <a:t>Detectar: El modelo no recibió una credencial válida.</a:t>
            </a:r>
          </a:p>
          <a:p xmlns:a="http://schemas.openxmlformats.org/drawingml/2006/main">
            <a:r>
              <a:t>Corregir: Configurar el token en el entorno local.</a:t>
            </a:r>
          </a:p>
          <a:p xmlns:a="http://schemas.openxmlformats.org/drawingml/2006/main">
            <a:r>
              <a:t>Verificar: Reintentar sin imprimir la clave en la terminal.</a:t>
            </a:r>
          </a:p>
          <a:p xmlns:a="http://schemas.openxmlformats.org/drawingml/2006/main">
            <a:r>
              <a:t>Resultado: La configuración cambia entre entornos; el secreto no debe viajar en el código.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compartirías para diagnosticar un 401 sin revelar el token?</a:t>
            </a:r>
          </a:p>
          <a:p xmlns:a="http://schemas.openxmlformats.org/drawingml/2006/main">
            <a:r>
              <a:t>Orientación para el docente: contraste la respuesta con los criterios del desarrollo y pida evidencia. La conclusión debe respetar: Una credencial habilita acceso y debe mantenerse fuera de evidencias públicas.</a:t>
            </a:r>
          </a:p>
          <a:p xmlns:a="http://schemas.openxmlformats.org/drawingml/2006/main">
            <a:r>
              <a:t/>
            </a:r>
          </a:p>
          <a:p xmlns:a="http://schemas.openxmlformats.org/drawingml/2006/main">
            <a:r>
              <a:t>ERRORES CONCEPTUALES FRECUENTES</a:t>
            </a:r>
          </a:p>
          <a:p xmlns:a="http://schemas.openxmlformats.org/drawingml/2006/main">
            <a:r>
              <a:t>Pegar secretos en una diapositiva, captura o repositorio.</a:t>
            </a:r>
          </a:p>
          <a:p xmlns:a="http://schemas.openxmlformats.org/drawingml/2006/main">
            <a:r>
              <a:t/>
            </a:r>
          </a:p>
          <a:p xmlns:a="http://schemas.openxmlformats.org/drawingml/2006/main">
            <a:r>
              <a:t>CONEXIÓN ANTERIOR</a:t>
            </a:r>
          </a:p>
          <a:p xmlns:a="http://schemas.openxmlformats.org/drawingml/2006/main">
            <a:r>
              <a:t>16: entorno de ejecución; 14: llamada al proveedor remoto. · Capítulo previo: Python: aislar y verificar</a:t>
            </a:r>
          </a:p>
          <a:p xmlns:a="http://schemas.openxmlformats.org/drawingml/2006/main">
            <a:r>
              <a:t/>
            </a:r>
          </a:p>
          <a:p xmlns:a="http://schemas.openxmlformats.org/drawingml/2006/main">
            <a:r>
              <a:t>CONEXIÓN POSTERIOR</a:t>
            </a:r>
          </a:p>
          <a:p xmlns:a="http://schemas.openxmlformats.org/drawingml/2006/main">
            <a:r>
              <a:t>19: claves por servicio. S1: provider.py. S8: secretos en la plataforma. · Sigue: Pydantic y el contrato de salida</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52 · CAPÍTULO 18 · CONCEPTO</a:t>
            </a:r>
          </a:p>
          <a:p xmlns:a="http://schemas.openxmlformats.org/drawingml/2006/main">
            <a:r>
              <a:t>Título: Pydantic y el contrato de salida</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Python y entorno §5</a:t>
            </a:r>
          </a:p>
          <a:p xmlns:a="http://schemas.openxmlformats.org/drawingml/2006/main">
            <a:r>
              <a:t>Fuente principal: https://github.com/javierrosado/ariwalab-course-langchain/blob/27c24090f1662f9473b673d2020e7bffee04490b/00-preparacion/conceptos-previos/python-y-entorno.md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Usar tipos y restricciones para comprobar la estructura recibida.</a:t>
            </a:r>
          </a:p>
          <a:p xmlns:a="http://schemas.openxmlformats.org/drawingml/2006/main">
            <a:r>
              <a:t/>
            </a:r>
          </a:p>
          <a:p xmlns:a="http://schemas.openxmlformats.org/drawingml/2006/main">
            <a:r>
              <a:t>CONCEPTO PRINCIPAL</a:t>
            </a:r>
          </a:p>
          <a:p xmlns:a="http://schemas.openxmlformats.org/drawingml/2006/main">
            <a:r>
              <a:t>Pydantic y el contrato de salida</a:t>
            </a:r>
          </a:p>
          <a:p xmlns:a="http://schemas.openxmlformats.org/drawingml/2006/main">
            <a:r>
              <a:t/>
            </a:r>
          </a:p>
          <a:p xmlns:a="http://schemas.openxmlformats.org/drawingml/2006/main">
            <a:r>
              <a:t>MENSAJE QUE DEBE LLEVARSE EL ALUMNO</a:t>
            </a:r>
          </a:p>
          <a:p xmlns:a="http://schemas.openxmlformats.org/drawingml/2006/main">
            <a:r>
              <a:t>Pydantic verifica el contrato que definiste, no toda la realidad.</a:t>
            </a:r>
          </a:p>
          <a:p xmlns:a="http://schemas.openxmlformats.org/drawingml/2006/main">
            <a:r>
              <a:t/>
            </a:r>
          </a:p>
          <a:p xmlns:a="http://schemas.openxmlformats.org/drawingml/2006/main">
            <a:r>
              <a:t>EXPLICACIÓN SUGERIDA PARA EL DOCENTE</a:t>
            </a:r>
          </a:p>
          <a:p xmlns:a="http://schemas.openxmlformats.org/drawingml/2006/main">
            <a:r>
              <a:t>Abra con la pregunta «¿Un importe numérico válido demuestra que es el saldo real?».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Requisito: Definir campos, tipos y valores permitidos.</a:t>
            </a:r>
          </a:p>
          <a:p xmlns:a="http://schemas.openxmlformats.org/drawingml/2006/main">
            <a:r>
              <a:t/>
            </a:r>
          </a:p>
          <a:p xmlns:a="http://schemas.openxmlformats.org/drawingml/2006/main">
            <a:r>
              <a:t>Esquema: Representarlo mediante un modelo Pydantic.</a:t>
            </a:r>
          </a:p>
          <a:p xmlns:a="http://schemas.openxmlformats.org/drawingml/2006/main">
            <a:r>
              <a:t/>
            </a:r>
          </a:p>
          <a:p xmlns:a="http://schemas.openxmlformats.org/drawingml/2006/main">
            <a:r>
              <a:t>Validación: Aceptar estructura compatible o producir un error explícito.</a:t>
            </a:r>
          </a:p>
          <a:p xmlns:a="http://schemas.openxmlformats.org/drawingml/2006/main">
            <a:r>
              <a:t/>
            </a:r>
          </a:p>
          <a:p xmlns:a="http://schemas.openxmlformats.org/drawingml/2006/main">
            <a:r>
              <a:t>Cierre con la distinción: Pydantic verifica el contrato que definiste, no toda la realidad.</a:t>
            </a:r>
          </a:p>
          <a:p xmlns:a="http://schemas.openxmlformats.org/drawingml/2006/main">
            <a:r>
              <a:t/>
            </a:r>
          </a:p>
          <a:p xmlns:a="http://schemas.openxmlformats.org/drawingml/2006/main">
            <a:r>
              <a:t>AMPLIACIÓN DEL MATERIAL APROBADO</a:t>
            </a:r>
          </a:p>
          <a:p xmlns:a="http://schemas.openxmlformats.org/drawingml/2006/main">
            <a:r>
              <a:t>Lea cada requisito antes de hablar de código: tipo enumerado, descripción de longitud acotada, línea de nueve dígitos y booleano por defecto. Pida distinguir exactamente nueve caracteres de exactamente nueve dígitos. Para el ejemplo válido, AVERIA pertenece al enum, la descripción tiene longitud admisible y la línea cumple el formato. Al omitir requiere_tecnico, se usa False.</a:t>
            </a:r>
          </a:p>
          <a:p xmlns:a="http://schemas.openxmlformats.org/drawingml/2006/main">
            <a:r>
              <a:t/>
            </a:r>
          </a:p>
          <a:p xmlns:a="http://schemas.openxmlformats.org/drawingml/2006/main">
            <a:r>
              <a:t>El ejemplo inválido usa cinco dígitos: debe producir error antes de ejecutar una acción dependiente de esos datos. Explique model_json_schema() como representación del contrato y Field(description=...) como explicación semántica que puede ayudar al modelo. Pydantic no garantiza que el cliente exista ni que el reclamo sea verdadero: eso necesita verificación de dominio o herramientas. Este ejercicio es requisito antes de S2, aunque se presenta en la preparación.</a:t>
            </a:r>
          </a:p>
          <a:p xmlns:a="http://schemas.openxmlformats.org/drawingml/2006/main">
            <a:r>
              <a:t/>
            </a:r>
          </a:p>
          <a:p xmlns:a="http://schemas.openxmlformats.org/drawingml/2006/main">
            <a:r>
              <a:t>ELEMENTOS QUE CONVIENE EXPLICAR</a:t>
            </a:r>
          </a:p>
          <a:p xmlns:a="http://schemas.openxmlformats.org/drawingml/2006/main">
            <a:r>
              <a:t>Requisito; Esquema; Validación.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El clasificador debe producir una categoría permitida.</a:t>
            </a:r>
          </a:p>
          <a:p xmlns:a="http://schemas.openxmlformats.org/drawingml/2006/main">
            <a:r>
              <a:t>Recibir: El modelo devuelve una categoría inventada.</a:t>
            </a:r>
          </a:p>
          <a:p xmlns:a="http://schemas.openxmlformats.org/drawingml/2006/main">
            <a:r>
              <a:t>Rechazar: El esquema detecta que no pertenece al conjunto permitido.</a:t>
            </a:r>
          </a:p>
          <a:p xmlns:a="http://schemas.openxmlformats.org/drawingml/2006/main">
            <a:r>
              <a:t>Recuperar: S2 añadirá corrección y un reintento acotado.</a:t>
            </a:r>
          </a:p>
          <a:p xmlns:a="http://schemas.openxmlformats.org/drawingml/2006/main">
            <a:r>
              <a:t>Resultado: El error de contrato se detecta antes de que otras piezas consuman el dato.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¿Un importe numérico válido demuestra que es el saldo real?</a:t>
            </a:r>
          </a:p>
          <a:p xmlns:a="http://schemas.openxmlformats.org/drawingml/2006/main">
            <a:r>
              <a:t>Orientación para el docente: contraste la respuesta con los criterios del desarrollo y pida evidencia. La conclusión debe respetar: Pydantic verifica el contrato que definiste, no toda la realidad.</a:t>
            </a:r>
          </a:p>
          <a:p xmlns:a="http://schemas.openxmlformats.org/drawingml/2006/main">
            <a:r>
              <a:t/>
            </a:r>
          </a:p>
          <a:p xmlns:a="http://schemas.openxmlformats.org/drawingml/2006/main">
            <a:r>
              <a:t>ERRORES CONCEPTUALES FRECUENTES</a:t>
            </a:r>
          </a:p>
          <a:p xmlns:a="http://schemas.openxmlformats.org/drawingml/2006/main">
            <a:r>
              <a:t>Atribuir a la validación de tipos una comprobación factual.</a:t>
            </a:r>
          </a:p>
          <a:p xmlns:a="http://schemas.openxmlformats.org/drawingml/2006/main">
            <a:r>
              <a:t/>
            </a:r>
          </a:p>
          <a:p xmlns:a="http://schemas.openxmlformats.org/drawingml/2006/main">
            <a:r>
              <a:t>CONEXIÓN ANTERIOR</a:t>
            </a:r>
          </a:p>
          <a:p xmlns:a="http://schemas.openxmlformats.org/drawingml/2006/main">
            <a:r>
              <a:t>16–17: entorno y configuración permiten ejecutar el ejercicio. · Capítulo previo: Configuración y secretos</a:t>
            </a:r>
          </a:p>
          <a:p xmlns:a="http://schemas.openxmlformats.org/drawingml/2006/main">
            <a:r>
              <a:t/>
            </a:r>
          </a:p>
          <a:p xmlns:a="http://schemas.openxmlformats.org/drawingml/2006/main">
            <a:r>
              <a:t>CONEXIÓN POSTERIOR</a:t>
            </a:r>
          </a:p>
          <a:p xmlns:a="http://schemas.openxmlformats.org/drawingml/2006/main">
            <a:r>
              <a:t>S2: salida estructurada. S3–S4: args_schema de herramientas. · Sigue: Tres cuentas, tres funciones</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53 · CAPÍTULO 18 · DESARROLLO</a:t>
            </a:r>
          </a:p>
          <a:p xmlns:a="http://schemas.openxmlformats.org/drawingml/2006/main">
            <a:r>
              <a:t>Título: Formato correcto no es hecho correcto</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Python y entorno §5</a:t>
            </a:r>
          </a:p>
          <a:p xmlns:a="http://schemas.openxmlformats.org/drawingml/2006/main">
            <a:r>
              <a:t>Fuente principal: https://github.com/javierrosado/ariwalab-course-langchain/blob/27c24090f1662f9473b673d2020e7bffee04490b/00-preparacion/conceptos-previos/python-y-entorno.md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Usar tipos y restricciones para comprobar la estructura recibida.</a:t>
            </a:r>
          </a:p>
          <a:p xmlns:a="http://schemas.openxmlformats.org/drawingml/2006/main">
            <a:r>
              <a:t/>
            </a:r>
          </a:p>
          <a:p xmlns:a="http://schemas.openxmlformats.org/drawingml/2006/main">
            <a:r>
              <a:t>CONCEPTO PRINCIPAL</a:t>
            </a:r>
          </a:p>
          <a:p xmlns:a="http://schemas.openxmlformats.org/drawingml/2006/main">
            <a:r>
              <a:t>Pydantic y el contrato de salida</a:t>
            </a:r>
          </a:p>
          <a:p xmlns:a="http://schemas.openxmlformats.org/drawingml/2006/main">
            <a:r>
              <a:t/>
            </a:r>
          </a:p>
          <a:p xmlns:a="http://schemas.openxmlformats.org/drawingml/2006/main">
            <a:r>
              <a:t>MENSAJE QUE DEBE LLEVARSE EL ALUMNO</a:t>
            </a:r>
          </a:p>
          <a:p xmlns:a="http://schemas.openxmlformats.org/drawingml/2006/main">
            <a:r>
              <a:t>Pydantic verifica el contrato que definiste, no toda la realidad.</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Tipos: Comprobar que los valores tienen la forma esperada.</a:t>
            </a:r>
          </a:p>
          <a:p xmlns:a="http://schemas.openxmlformats.org/drawingml/2006/main">
            <a:r>
              <a:t/>
            </a:r>
          </a:p>
          <a:p xmlns:a="http://schemas.openxmlformats.org/drawingml/2006/main">
            <a:r>
              <a:t>Restricciones: Validar categorías y campos obligatorios.</a:t>
            </a:r>
          </a:p>
          <a:p xmlns:a="http://schemas.openxmlformats.org/drawingml/2006/main">
            <a:r>
              <a:t/>
            </a:r>
          </a:p>
          <a:p xmlns:a="http://schemas.openxmlformats.org/drawingml/2006/main">
            <a:r>
              <a:t>Semántica: La verdad del dato necesita otra comprobación.</a:t>
            </a:r>
          </a:p>
          <a:p xmlns:a="http://schemas.openxmlformats.org/drawingml/2006/main">
            <a:r>
              <a:t/>
            </a:r>
          </a:p>
          <a:p xmlns:a="http://schemas.openxmlformats.org/drawingml/2006/main">
            <a:r>
              <a:t>Contraste la regla con este error: Atribuir a la validación de tipos una comprobación factual.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Lea cada requisito antes de hablar de código: tipo enumerado, descripción de longitud acotada, línea de nueve dígitos y booleano por defecto. Pida distinguir exactamente nueve caracteres de exactamente nueve dígitos. Para el ejemplo válido, AVERIA pertenece al enum, la descripción tiene longitud admisible y la línea cumple el formato. Al omitir requiere_tecnico, se usa False.</a:t>
            </a:r>
          </a:p>
          <a:p xmlns:a="http://schemas.openxmlformats.org/drawingml/2006/main">
            <a:r>
              <a:t/>
            </a:r>
          </a:p>
          <a:p xmlns:a="http://schemas.openxmlformats.org/drawingml/2006/main">
            <a:r>
              <a:t>El ejemplo inválido usa cinco dígitos: debe producir error antes de ejecutar una acción dependiente de esos datos. Explique model_json_schema() como representación del contrato y Field(description=...) como explicación semántica que puede ayudar al modelo. Pydantic no garantiza que el cliente exista ni que el reclamo sea verdadero: eso necesita verificación de dominio o herramientas. Este ejercicio es requisito antes de S2, aunque se presenta en la preparación.</a:t>
            </a:r>
          </a:p>
          <a:p xmlns:a="http://schemas.openxmlformats.org/drawingml/2006/main">
            <a:r>
              <a:t/>
            </a:r>
          </a:p>
          <a:p xmlns:a="http://schemas.openxmlformats.org/drawingml/2006/main">
            <a:r>
              <a:t>ELEMENTOS QUE CONVIENE EXPLICAR</a:t>
            </a:r>
          </a:p>
          <a:p xmlns:a="http://schemas.openxmlformats.org/drawingml/2006/main">
            <a:r>
              <a:t>Tipos; Restricciones; Semántica.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El clasificador debe producir una categoría permitida.</a:t>
            </a:r>
          </a:p>
          <a:p xmlns:a="http://schemas.openxmlformats.org/drawingml/2006/main">
            <a:r>
              <a:t>Recibir: El modelo devuelve una categoría inventada.</a:t>
            </a:r>
          </a:p>
          <a:p xmlns:a="http://schemas.openxmlformats.org/drawingml/2006/main">
            <a:r>
              <a:t>Rechazar: El esquema detecta que no pertenece al conjunto permitido.</a:t>
            </a:r>
          </a:p>
          <a:p xmlns:a="http://schemas.openxmlformats.org/drawingml/2006/main">
            <a:r>
              <a:t>Recuperar: S2 añadirá corrección y un reintento acotado.</a:t>
            </a:r>
          </a:p>
          <a:p xmlns:a="http://schemas.openxmlformats.org/drawingml/2006/main">
            <a:r>
              <a:t>Resultado: El error de contrato se detecta antes de que otras piezas consuman el dato.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¿Un importe numérico válido demuestra que es el saldo real?</a:t>
            </a:r>
          </a:p>
          <a:p xmlns:a="http://schemas.openxmlformats.org/drawingml/2006/main">
            <a:r>
              <a:t>Orientación para el docente: contraste la respuesta con los criterios del desarrollo y pida evidencia. La conclusión debe respetar: Pydantic verifica el contrato que definiste, no toda la realidad.</a:t>
            </a:r>
          </a:p>
          <a:p xmlns:a="http://schemas.openxmlformats.org/drawingml/2006/main">
            <a:r>
              <a:t/>
            </a:r>
          </a:p>
          <a:p xmlns:a="http://schemas.openxmlformats.org/drawingml/2006/main">
            <a:r>
              <a:t>ERRORES CONCEPTUALES FRECUENTES</a:t>
            </a:r>
          </a:p>
          <a:p xmlns:a="http://schemas.openxmlformats.org/drawingml/2006/main">
            <a:r>
              <a:t>Atribuir a la validación de tipos una comprobación factual.</a:t>
            </a:r>
          </a:p>
          <a:p xmlns:a="http://schemas.openxmlformats.org/drawingml/2006/main">
            <a:r>
              <a:t/>
            </a:r>
          </a:p>
          <a:p xmlns:a="http://schemas.openxmlformats.org/drawingml/2006/main">
            <a:r>
              <a:t>CONEXIÓN ANTERIOR</a:t>
            </a:r>
          </a:p>
          <a:p xmlns:a="http://schemas.openxmlformats.org/drawingml/2006/main">
            <a:r>
              <a:t>16–17: entorno y configuración permiten ejecutar el ejercicio. · Capítulo previo: Configuración y secretos</a:t>
            </a:r>
          </a:p>
          <a:p xmlns:a="http://schemas.openxmlformats.org/drawingml/2006/main">
            <a:r>
              <a:t/>
            </a:r>
          </a:p>
          <a:p xmlns:a="http://schemas.openxmlformats.org/drawingml/2006/main">
            <a:r>
              <a:t>CONEXIÓN POSTERIOR</a:t>
            </a:r>
          </a:p>
          <a:p xmlns:a="http://schemas.openxmlformats.org/drawingml/2006/main">
            <a:r>
              <a:t>S2: salida estructurada. S3–S4: args_schema de herramientas. · Sigue: Tres cuentas, tres funciones</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54 · CAPÍTULO 18 · EJEMPLO</a:t>
            </a:r>
          </a:p>
          <a:p xmlns:a="http://schemas.openxmlformats.org/drawingml/2006/main">
            <a:r>
              <a:t>Título: Banco Inti · Pydantic y el contrato de salida</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Python y entorno §5</a:t>
            </a:r>
          </a:p>
          <a:p xmlns:a="http://schemas.openxmlformats.org/drawingml/2006/main">
            <a:r>
              <a:t>Fuente principal: https://github.com/javierrosado/ariwalab-course-langchain/blob/27c24090f1662f9473b673d2020e7bffee04490b/00-preparacion/conceptos-previos/python-y-entorno.md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Usar tipos y restricciones para comprobar la estructura recibida.</a:t>
            </a:r>
          </a:p>
          <a:p xmlns:a="http://schemas.openxmlformats.org/drawingml/2006/main">
            <a:r>
              <a:t/>
            </a:r>
          </a:p>
          <a:p xmlns:a="http://schemas.openxmlformats.org/drawingml/2006/main">
            <a:r>
              <a:t>CONCEPTO PRINCIPAL</a:t>
            </a:r>
          </a:p>
          <a:p xmlns:a="http://schemas.openxmlformats.org/drawingml/2006/main">
            <a:r>
              <a:t>Pydantic y el contrato de salida</a:t>
            </a:r>
          </a:p>
          <a:p xmlns:a="http://schemas.openxmlformats.org/drawingml/2006/main">
            <a:r>
              <a:t/>
            </a:r>
          </a:p>
          <a:p xmlns:a="http://schemas.openxmlformats.org/drawingml/2006/main">
            <a:r>
              <a:t>MENSAJE QUE DEBE LLEVARSE EL ALUMNO</a:t>
            </a:r>
          </a:p>
          <a:p xmlns:a="http://schemas.openxmlformats.org/drawingml/2006/main">
            <a:r>
              <a:t>Pydantic verifica el contrato que definiste, no toda la realidad.</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El clasificador debe producir una categoría permitida. Pida una predicción.</a:t>
            </a:r>
          </a:p>
          <a:p xmlns:a="http://schemas.openxmlformats.org/drawingml/2006/main">
            <a:r>
              <a:t/>
            </a:r>
          </a:p>
          <a:p xmlns:a="http://schemas.openxmlformats.org/drawingml/2006/main">
            <a:r>
              <a:t>Recibir: El modelo devuelve una categoría inventada.</a:t>
            </a:r>
          </a:p>
          <a:p xmlns:a="http://schemas.openxmlformats.org/drawingml/2006/main">
            <a:r>
              <a:t/>
            </a:r>
          </a:p>
          <a:p xmlns:a="http://schemas.openxmlformats.org/drawingml/2006/main">
            <a:r>
              <a:t>Rechazar: El esquema detecta que no pertenece al conjunto permitido.</a:t>
            </a:r>
          </a:p>
          <a:p xmlns:a="http://schemas.openxmlformats.org/drawingml/2006/main">
            <a:r>
              <a:t/>
            </a:r>
          </a:p>
          <a:p xmlns:a="http://schemas.openxmlformats.org/drawingml/2006/main">
            <a:r>
              <a:t>Recuperar: S2 añadirá corrección y un reintento acotado.</a:t>
            </a:r>
          </a:p>
          <a:p xmlns:a="http://schemas.openxmlformats.org/drawingml/2006/main">
            <a:r>
              <a:t/>
            </a:r>
          </a:p>
          <a:p xmlns:a="http://schemas.openxmlformats.org/drawingml/2006/main">
            <a:r>
              <a:t>Resultado esperado: El error de contrato se detecta antes de que otras piezas consuman el dato.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Lea cada requisito antes de hablar de código: tipo enumerado, descripción de longitud acotada, línea de nueve dígitos y booleano por defecto. Pida distinguir exactamente nueve caracteres de exactamente nueve dígitos. Para el ejemplo válido, AVERIA pertenece al enum, la descripción tiene longitud admisible y la línea cumple el formato. Al omitir requiere_tecnico, se usa False.</a:t>
            </a:r>
          </a:p>
          <a:p xmlns:a="http://schemas.openxmlformats.org/drawingml/2006/main">
            <a:r>
              <a:t/>
            </a:r>
          </a:p>
          <a:p xmlns:a="http://schemas.openxmlformats.org/drawingml/2006/main">
            <a:r>
              <a:t>El ejemplo inválido usa cinco dígitos: debe producir error antes de ejecutar una acción dependiente de esos datos. Explique model_json_schema() como representación del contrato y Field(description=...) como explicación semántica que puede ayudar al modelo. Pydantic no garantiza que el cliente exista ni que el reclamo sea verdadero: eso necesita verificación de dominio o herramientas. Este ejercicio es requisito antes de S2, aunque se presenta en la preparación.</a:t>
            </a:r>
          </a:p>
          <a:p xmlns:a="http://schemas.openxmlformats.org/drawingml/2006/main">
            <a:r>
              <a:t/>
            </a:r>
          </a:p>
          <a:p xmlns:a="http://schemas.openxmlformats.org/drawingml/2006/main">
            <a:r>
              <a:t>ELEMENTOS QUE CONVIENE EXPLICAR</a:t>
            </a:r>
          </a:p>
          <a:p xmlns:a="http://schemas.openxmlformats.org/drawingml/2006/main">
            <a:r>
              <a:t>Recibir; Rechazar; Recuperar.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El clasificador debe producir una categoría permitida.</a:t>
            </a:r>
          </a:p>
          <a:p xmlns:a="http://schemas.openxmlformats.org/drawingml/2006/main">
            <a:r>
              <a:t>Recibir: El modelo devuelve una categoría inventada.</a:t>
            </a:r>
          </a:p>
          <a:p xmlns:a="http://schemas.openxmlformats.org/drawingml/2006/main">
            <a:r>
              <a:t>Rechazar: El esquema detecta que no pertenece al conjunto permitido.</a:t>
            </a:r>
          </a:p>
          <a:p xmlns:a="http://schemas.openxmlformats.org/drawingml/2006/main">
            <a:r>
              <a:t>Recuperar: S2 añadirá corrección y un reintento acotado.</a:t>
            </a:r>
          </a:p>
          <a:p xmlns:a="http://schemas.openxmlformats.org/drawingml/2006/main">
            <a:r>
              <a:t>Resultado: El error de contrato se detecta antes de que otras piezas consuman el dato.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¿Un importe numérico válido demuestra que es el saldo real?</a:t>
            </a:r>
          </a:p>
          <a:p xmlns:a="http://schemas.openxmlformats.org/drawingml/2006/main">
            <a:r>
              <a:t>Orientación para el docente: contraste la respuesta con los criterios del desarrollo y pida evidencia. La conclusión debe respetar: Pydantic verifica el contrato que definiste, no toda la realidad.</a:t>
            </a:r>
          </a:p>
          <a:p xmlns:a="http://schemas.openxmlformats.org/drawingml/2006/main">
            <a:r>
              <a:t/>
            </a:r>
          </a:p>
          <a:p xmlns:a="http://schemas.openxmlformats.org/drawingml/2006/main">
            <a:r>
              <a:t>ERRORES CONCEPTUALES FRECUENTES</a:t>
            </a:r>
          </a:p>
          <a:p xmlns:a="http://schemas.openxmlformats.org/drawingml/2006/main">
            <a:r>
              <a:t>Atribuir a la validación de tipos una comprobación factual.</a:t>
            </a:r>
          </a:p>
          <a:p xmlns:a="http://schemas.openxmlformats.org/drawingml/2006/main">
            <a:r>
              <a:t/>
            </a:r>
          </a:p>
          <a:p xmlns:a="http://schemas.openxmlformats.org/drawingml/2006/main">
            <a:r>
              <a:t>CONEXIÓN ANTERIOR</a:t>
            </a:r>
          </a:p>
          <a:p xmlns:a="http://schemas.openxmlformats.org/drawingml/2006/main">
            <a:r>
              <a:t>16–17: entorno y configuración permiten ejecutar el ejercicio. · Capítulo previo: Configuración y secretos</a:t>
            </a:r>
          </a:p>
          <a:p xmlns:a="http://schemas.openxmlformats.org/drawingml/2006/main">
            <a:r>
              <a:t/>
            </a:r>
          </a:p>
          <a:p xmlns:a="http://schemas.openxmlformats.org/drawingml/2006/main">
            <a:r>
              <a:t>CONEXIÓN POSTERIOR</a:t>
            </a:r>
          </a:p>
          <a:p xmlns:a="http://schemas.openxmlformats.org/drawingml/2006/main">
            <a:r>
              <a:t>S2: salida estructurada. S3–S4: args_schema de herramientas. · Sigue: Tres cuentas, tres funciones</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55 · CAPÍTULO 19 · CONCEPTO</a:t>
            </a:r>
          </a:p>
          <a:p xmlns:a="http://schemas.openxmlformats.org/drawingml/2006/main">
            <a:r>
              <a:t>Título: Tres cuentas, tres funciones</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Alta de cuentas §§1–3</a:t>
            </a:r>
          </a:p>
          <a:p xmlns:a="http://schemas.openxmlformats.org/drawingml/2006/main">
            <a:r>
              <a:t>Fuente principal: https://github.com/javierrosado/ariwalab-course-langchain/blob/27c24090f1662f9473b673d2020e7bffee04490b/00-preparacion/conceptos-previos/alta-de-cuentas.md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Relacionar cada servicio del curso con su responsabilidad.</a:t>
            </a:r>
          </a:p>
          <a:p xmlns:a="http://schemas.openxmlformats.org/drawingml/2006/main">
            <a:r>
              <a:t/>
            </a:r>
          </a:p>
          <a:p xmlns:a="http://schemas.openxmlformats.org/drawingml/2006/main">
            <a:r>
              <a:t>CONCEPTO PRINCIPAL</a:t>
            </a:r>
          </a:p>
          <a:p xmlns:a="http://schemas.openxmlformats.org/drawingml/2006/main">
            <a:r>
              <a:t>Tres cuentas, tres funciones</a:t>
            </a:r>
          </a:p>
          <a:p xmlns:a="http://schemas.openxmlformats.org/drawingml/2006/main">
            <a:r>
              <a:t/>
            </a:r>
          </a:p>
          <a:p xmlns:a="http://schemas.openxmlformats.org/drawingml/2006/main">
            <a:r>
              <a:t>MENSAJE QUE DEBE LLEVARSE EL ALUMNO</a:t>
            </a:r>
          </a:p>
          <a:p xmlns:a="http://schemas.openxmlformats.org/drawingml/2006/main">
            <a:r>
              <a:t>Preparar accesos ahora evita bloquear los laboratorios posteriores.</a:t>
            </a:r>
          </a:p>
          <a:p xmlns:a="http://schemas.openxmlformats.org/drawingml/2006/main">
            <a:r>
              <a:t/>
            </a:r>
          </a:p>
          <a:p xmlns:a="http://schemas.openxmlformats.org/drawingml/2006/main">
            <a:r>
              <a:t>EXPLICACIÓN SUGERIDA PARA EL DOCENTE</a:t>
            </a:r>
          </a:p>
          <a:p xmlns:a="http://schemas.openxmlformats.org/drawingml/2006/main">
            <a:r>
              <a:t>Abra con la pregunta «¿En qué servicio buscarías los fragmentos del corpus?».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Hugging Face: Acceso a modelos y, más adelante, despliegue del Space.</a:t>
            </a:r>
          </a:p>
          <a:p xmlns:a="http://schemas.openxmlformats.org/drawingml/2006/main">
            <a:r>
              <a:t/>
            </a:r>
          </a:p>
          <a:p xmlns:a="http://schemas.openxmlformats.org/drawingml/2006/main">
            <a:r>
              <a:t>Qdrant Cloud: Almacena vectores y metadatos del corpus.</a:t>
            </a:r>
          </a:p>
          <a:p xmlns:a="http://schemas.openxmlformats.org/drawingml/2006/main">
            <a:r>
              <a:t/>
            </a:r>
          </a:p>
          <a:p xmlns:a="http://schemas.openxmlformats.org/drawingml/2006/main">
            <a:r>
              <a:t>Langfuse Cloud: Recibe trazas y permite examinar ejecuciones.</a:t>
            </a:r>
          </a:p>
          <a:p xmlns:a="http://schemas.openxmlformats.org/drawingml/2006/main">
            <a:r>
              <a:t/>
            </a:r>
          </a:p>
          <a:p xmlns:a="http://schemas.openxmlformats.org/drawingml/2006/main">
            <a:r>
              <a:t>Cierre con la distinción: Preparar accesos ahora evita bloquear los laboratorios posteriores.</a:t>
            </a:r>
          </a:p>
          <a:p xmlns:a="http://schemas.openxmlformats.org/drawingml/2006/main">
            <a:r>
              <a:t/>
            </a:r>
          </a:p>
          <a:p xmlns:a="http://schemas.openxmlformats.org/drawingml/2006/main">
            <a:r>
              <a:t>AMPLIACIÓN DEL MATERIAL APROBADO</a:t>
            </a:r>
          </a:p>
          <a:p xmlns:a="http://schemas.openxmlformats.org/drawingml/2006/main">
            <a:r>
              <a:t>Presente Hugging Face como acceso al chat y a embeddings: se necesita ya para las demos dos y tres, aunque el README sitúe el inicio lectivo en S1. Qdrant será la base vectorial del RAG en S5. Langfuse permitirá trazabilidad y evaluación desde S9. Crear las cuentas antes evita convertir una clase posterior en una sesión de alta y permisos.</a:t>
            </a:r>
          </a:p>
          <a:p xmlns:a="http://schemas.openxmlformats.org/drawingml/2006/main">
            <a:r>
              <a:t/>
            </a:r>
          </a:p>
          <a:p xmlns:a="http://schemas.openxmlformats.org/drawingml/2006/main">
            <a:r>
              <a:t>Recorra las variables de cada columna y explique que no son intercambiables. No revele valores reales. Para Qdrant, la URL y colección identifican el destino; para Langfuse se necesitan host y el par de claves; para HF se configura token y modelos. Las cuotas, gratuidad y condiciones de cuenta pueden cambiar, por lo que esta imagen no fija cifras comerciales. Siga los pasos del repositorio y confirme las condiciones al crear las cuentas. El curso documenta equipos de dos personas y organización compartida en Langfuse.</a:t>
            </a:r>
          </a:p>
          <a:p xmlns:a="http://schemas.openxmlformats.org/drawingml/2006/main">
            <a:r>
              <a:t/>
            </a:r>
          </a:p>
          <a:p xmlns:a="http://schemas.openxmlformats.org/drawingml/2006/main">
            <a:r>
              <a:t>ELEMENTOS QUE CONVIENE EXPLICAR</a:t>
            </a:r>
          </a:p>
          <a:p xmlns:a="http://schemas.openxmlformats.org/drawingml/2006/main">
            <a:r>
              <a:t>Hugging Face; Qdrant Cloud; Langfuse Cloud.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El equipo pregunta si necesita Azure para el laboratorio inicial.</a:t>
            </a:r>
          </a:p>
          <a:p xmlns:a="http://schemas.openxmlformats.org/drawingml/2006/main">
            <a:r>
              <a:t>Ubicar: S0 prepara el stack principal del curso.</a:t>
            </a:r>
          </a:p>
          <a:p xmlns:a="http://schemas.openxmlformats.org/drawingml/2006/main">
            <a:r>
              <a:t>Diferenciar: Foundry pertenece al bonus asíncrono.</a:t>
            </a:r>
          </a:p>
          <a:p xmlns:a="http://schemas.openxmlformats.org/drawingml/2006/main">
            <a:r>
              <a:t>Continuar: Completar las cuentas y verificaciones requeridas para S1.</a:t>
            </a:r>
          </a:p>
          <a:p xmlns:a="http://schemas.openxmlformats.org/drawingml/2006/main">
            <a:r>
              <a:t>Resultado: Las tres cuentas tienen responsabilidades distintas; no son intercambiables.</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¿En qué servicio buscarías los fragmentos del corpus?</a:t>
            </a:r>
          </a:p>
          <a:p xmlns:a="http://schemas.openxmlformats.org/drawingml/2006/main">
            <a:r>
              <a:t>Orientación para el docente: contraste la respuesta con los criterios del desarrollo y pida evidencia. La conclusión debe respetar: Preparar accesos ahora evita bloquear los laboratorios posteriores.</a:t>
            </a:r>
          </a:p>
          <a:p xmlns:a="http://schemas.openxmlformats.org/drawingml/2006/main">
            <a:r>
              <a:t/>
            </a:r>
          </a:p>
          <a:p xmlns:a="http://schemas.openxmlformats.org/drawingml/2006/main">
            <a:r>
              <a:t>ERRORES CONCEPTUALES FRECUENTES</a:t>
            </a:r>
          </a:p>
          <a:p xmlns:a="http://schemas.openxmlformats.org/drawingml/2006/main">
            <a:r>
              <a:t>Confundir la base vectorial con el proveedor de chat.</a:t>
            </a:r>
          </a:p>
          <a:p xmlns:a="http://schemas.openxmlformats.org/drawingml/2006/main">
            <a:r>
              <a:t/>
            </a:r>
          </a:p>
          <a:p xmlns:a="http://schemas.openxmlformats.org/drawingml/2006/main">
            <a:r>
              <a:t>CONEXIÓN ANTERIOR</a:t>
            </a:r>
          </a:p>
          <a:p xmlns:a="http://schemas.openxmlformats.org/drawingml/2006/main">
            <a:r>
              <a:t>17: gestión privada de variables; 14: proveedor de inferencia. · Capítulo previo: Pydantic y el contrato de salida</a:t>
            </a:r>
          </a:p>
          <a:p xmlns:a="http://schemas.openxmlformats.org/drawingml/2006/main">
            <a:r>
              <a:t/>
            </a:r>
          </a:p>
          <a:p xmlns:a="http://schemas.openxmlformats.org/drawingml/2006/main">
            <a:r>
              <a:t>CONEXIÓN POSTERIOR</a:t>
            </a:r>
          </a:p>
          <a:p xmlns:a="http://schemas.openxmlformats.org/drawingml/2006/main">
            <a:r>
              <a:t>20: leer fallos. S5: Qdrant. S9–S10: Langfuse. · Sigue: Diagnóstico por capas</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56 · CAPÍTULO 19 · DESARROLLO</a:t>
            </a:r>
          </a:p>
          <a:p xmlns:a="http://schemas.openxmlformats.org/drawingml/2006/main">
            <a:r>
              <a:t>Título: Cuándo entra cada servicio</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Alta de cuentas §§1–3</a:t>
            </a:r>
          </a:p>
          <a:p xmlns:a="http://schemas.openxmlformats.org/drawingml/2006/main">
            <a:r>
              <a:t>Fuente principal: https://github.com/javierrosado/ariwalab-course-langchain/blob/27c24090f1662f9473b673d2020e7bffee04490b/00-preparacion/conceptos-previos/alta-de-cuentas.md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Relacionar cada servicio del curso con su responsabilidad.</a:t>
            </a:r>
          </a:p>
          <a:p xmlns:a="http://schemas.openxmlformats.org/drawingml/2006/main">
            <a:r>
              <a:t/>
            </a:r>
          </a:p>
          <a:p xmlns:a="http://schemas.openxmlformats.org/drawingml/2006/main">
            <a:r>
              <a:t>CONCEPTO PRINCIPAL</a:t>
            </a:r>
          </a:p>
          <a:p xmlns:a="http://schemas.openxmlformats.org/drawingml/2006/main">
            <a:r>
              <a:t>Tres cuentas, tres funciones</a:t>
            </a:r>
          </a:p>
          <a:p xmlns:a="http://schemas.openxmlformats.org/drawingml/2006/main">
            <a:r>
              <a:t/>
            </a:r>
          </a:p>
          <a:p xmlns:a="http://schemas.openxmlformats.org/drawingml/2006/main">
            <a:r>
              <a:t>MENSAJE QUE DEBE LLEVARSE EL ALUMNO</a:t>
            </a:r>
          </a:p>
          <a:p xmlns:a="http://schemas.openxmlformats.org/drawingml/2006/main">
            <a:r>
              <a:t>Preparar accesos ahora evita bloquear los laboratorios posteriores.</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Inicio: Preparar acceso al proveedor del modelo.</a:t>
            </a:r>
          </a:p>
          <a:p xmlns:a="http://schemas.openxmlformats.org/drawingml/2006/main">
            <a:r>
              <a:t/>
            </a:r>
          </a:p>
          <a:p xmlns:a="http://schemas.openxmlformats.org/drawingml/2006/main">
            <a:r>
              <a:t>S5: Configurar colección y credenciales de Qdrant.</a:t>
            </a:r>
          </a:p>
          <a:p xmlns:a="http://schemas.openxmlformats.org/drawingml/2006/main">
            <a:r>
              <a:t/>
            </a:r>
          </a:p>
          <a:p xmlns:a="http://schemas.openxmlformats.org/drawingml/2006/main">
            <a:r>
              <a:t>S9: Configurar trazabilidad y protección de datos en Langfuse.</a:t>
            </a:r>
          </a:p>
          <a:p xmlns:a="http://schemas.openxmlformats.org/drawingml/2006/main">
            <a:r>
              <a:t/>
            </a:r>
          </a:p>
          <a:p xmlns:a="http://schemas.openxmlformats.org/drawingml/2006/main">
            <a:r>
              <a:t>Contraste la regla con este error: Confundir la base vectorial con el proveedor de chat.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Presente Hugging Face como acceso al chat y a embeddings: se necesita ya para las demos dos y tres, aunque el README sitúe el inicio lectivo en S1. Qdrant será la base vectorial del RAG en S5. Langfuse permitirá trazabilidad y evaluación desde S9. Crear las cuentas antes evita convertir una clase posterior en una sesión de alta y permisos.</a:t>
            </a:r>
          </a:p>
          <a:p xmlns:a="http://schemas.openxmlformats.org/drawingml/2006/main">
            <a:r>
              <a:t/>
            </a:r>
          </a:p>
          <a:p xmlns:a="http://schemas.openxmlformats.org/drawingml/2006/main">
            <a:r>
              <a:t>Recorra las variables de cada columna y explique que no son intercambiables. No revele valores reales. Para Qdrant, la URL y colección identifican el destino; para Langfuse se necesitan host y el par de claves; para HF se configura token y modelos. Las cuotas, gratuidad y condiciones de cuenta pueden cambiar, por lo que esta imagen no fija cifras comerciales. Siga los pasos del repositorio y confirme las condiciones al crear las cuentas. El curso documenta equipos de dos personas y organización compartida en Langfuse.</a:t>
            </a:r>
          </a:p>
          <a:p xmlns:a="http://schemas.openxmlformats.org/drawingml/2006/main">
            <a:r>
              <a:t/>
            </a:r>
          </a:p>
          <a:p xmlns:a="http://schemas.openxmlformats.org/drawingml/2006/main">
            <a:r>
              <a:t>ELEMENTOS QUE CONVIENE EXPLICAR</a:t>
            </a:r>
          </a:p>
          <a:p xmlns:a="http://schemas.openxmlformats.org/drawingml/2006/main">
            <a:r>
              <a:t>Inicio; S5; S9.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El equipo pregunta si necesita Azure para el laboratorio inicial.</a:t>
            </a:r>
          </a:p>
          <a:p xmlns:a="http://schemas.openxmlformats.org/drawingml/2006/main">
            <a:r>
              <a:t>Ubicar: S0 prepara el stack principal del curso.</a:t>
            </a:r>
          </a:p>
          <a:p xmlns:a="http://schemas.openxmlformats.org/drawingml/2006/main">
            <a:r>
              <a:t>Diferenciar: Foundry pertenece al bonus asíncrono.</a:t>
            </a:r>
          </a:p>
          <a:p xmlns:a="http://schemas.openxmlformats.org/drawingml/2006/main">
            <a:r>
              <a:t>Continuar: Completar las cuentas y verificaciones requeridas para S1.</a:t>
            </a:r>
          </a:p>
          <a:p xmlns:a="http://schemas.openxmlformats.org/drawingml/2006/main">
            <a:r>
              <a:t>Resultado: Las tres cuentas tienen responsabilidades distintas; no son intercambiables.</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¿En qué servicio buscarías los fragmentos del corpus?</a:t>
            </a:r>
          </a:p>
          <a:p xmlns:a="http://schemas.openxmlformats.org/drawingml/2006/main">
            <a:r>
              <a:t>Orientación para el docente: contraste la respuesta con los criterios del desarrollo y pida evidencia. La conclusión debe respetar: Preparar accesos ahora evita bloquear los laboratorios posteriores.</a:t>
            </a:r>
          </a:p>
          <a:p xmlns:a="http://schemas.openxmlformats.org/drawingml/2006/main">
            <a:r>
              <a:t/>
            </a:r>
          </a:p>
          <a:p xmlns:a="http://schemas.openxmlformats.org/drawingml/2006/main">
            <a:r>
              <a:t>ERRORES CONCEPTUALES FRECUENTES</a:t>
            </a:r>
          </a:p>
          <a:p xmlns:a="http://schemas.openxmlformats.org/drawingml/2006/main">
            <a:r>
              <a:t>Confundir la base vectorial con el proveedor de chat.</a:t>
            </a:r>
          </a:p>
          <a:p xmlns:a="http://schemas.openxmlformats.org/drawingml/2006/main">
            <a:r>
              <a:t/>
            </a:r>
          </a:p>
          <a:p xmlns:a="http://schemas.openxmlformats.org/drawingml/2006/main">
            <a:r>
              <a:t>CONEXIÓN ANTERIOR</a:t>
            </a:r>
          </a:p>
          <a:p xmlns:a="http://schemas.openxmlformats.org/drawingml/2006/main">
            <a:r>
              <a:t>17: gestión privada de variables; 14: proveedor de inferencia. · Capítulo previo: Pydantic y el contrato de salida</a:t>
            </a:r>
          </a:p>
          <a:p xmlns:a="http://schemas.openxmlformats.org/drawingml/2006/main">
            <a:r>
              <a:t/>
            </a:r>
          </a:p>
          <a:p xmlns:a="http://schemas.openxmlformats.org/drawingml/2006/main">
            <a:r>
              <a:t>CONEXIÓN POSTERIOR</a:t>
            </a:r>
          </a:p>
          <a:p xmlns:a="http://schemas.openxmlformats.org/drawingml/2006/main">
            <a:r>
              <a:t>20: leer fallos. S5: Qdrant. S9–S10: Langfuse. · Sigue: Diagnóstico por capas</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57 · CAPÍTULO 19 · EJEMPLO</a:t>
            </a:r>
          </a:p>
          <a:p xmlns:a="http://schemas.openxmlformats.org/drawingml/2006/main">
            <a:r>
              <a:t>Título: MercaSur · Tres cuentas, tres funciones</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Alta de cuentas §§1–3</a:t>
            </a:r>
          </a:p>
          <a:p xmlns:a="http://schemas.openxmlformats.org/drawingml/2006/main">
            <a:r>
              <a:t>Fuente principal: https://github.com/javierrosado/ariwalab-course-langchain/blob/27c24090f1662f9473b673d2020e7bffee04490b/00-preparacion/conceptos-previos/alta-de-cuentas.md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Relacionar cada servicio del curso con su responsabilidad.</a:t>
            </a:r>
          </a:p>
          <a:p xmlns:a="http://schemas.openxmlformats.org/drawingml/2006/main">
            <a:r>
              <a:t/>
            </a:r>
          </a:p>
          <a:p xmlns:a="http://schemas.openxmlformats.org/drawingml/2006/main">
            <a:r>
              <a:t>CONCEPTO PRINCIPAL</a:t>
            </a:r>
          </a:p>
          <a:p xmlns:a="http://schemas.openxmlformats.org/drawingml/2006/main">
            <a:r>
              <a:t>Tres cuentas, tres funciones</a:t>
            </a:r>
          </a:p>
          <a:p xmlns:a="http://schemas.openxmlformats.org/drawingml/2006/main">
            <a:r>
              <a:t/>
            </a:r>
          </a:p>
          <a:p xmlns:a="http://schemas.openxmlformats.org/drawingml/2006/main">
            <a:r>
              <a:t>MENSAJE QUE DEBE LLEVARSE EL ALUMNO</a:t>
            </a:r>
          </a:p>
          <a:p xmlns:a="http://schemas.openxmlformats.org/drawingml/2006/main">
            <a:r>
              <a:t>Preparar accesos ahora evita bloquear los laboratorios posteriores.</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El equipo pregunta si necesita Azure para el laboratorio inicial. Pida una predicción.</a:t>
            </a:r>
          </a:p>
          <a:p xmlns:a="http://schemas.openxmlformats.org/drawingml/2006/main">
            <a:r>
              <a:t/>
            </a:r>
          </a:p>
          <a:p xmlns:a="http://schemas.openxmlformats.org/drawingml/2006/main">
            <a:r>
              <a:t>Ubicar: S0 prepara el stack principal del curso.</a:t>
            </a:r>
          </a:p>
          <a:p xmlns:a="http://schemas.openxmlformats.org/drawingml/2006/main">
            <a:r>
              <a:t/>
            </a:r>
          </a:p>
          <a:p xmlns:a="http://schemas.openxmlformats.org/drawingml/2006/main">
            <a:r>
              <a:t>Diferenciar: Foundry pertenece al bonus asíncrono.</a:t>
            </a:r>
          </a:p>
          <a:p xmlns:a="http://schemas.openxmlformats.org/drawingml/2006/main">
            <a:r>
              <a:t/>
            </a:r>
          </a:p>
          <a:p xmlns:a="http://schemas.openxmlformats.org/drawingml/2006/main">
            <a:r>
              <a:t>Continuar: Completar las cuentas y verificaciones requeridas para S1.</a:t>
            </a:r>
          </a:p>
          <a:p xmlns:a="http://schemas.openxmlformats.org/drawingml/2006/main">
            <a:r>
              <a:t/>
            </a:r>
          </a:p>
          <a:p xmlns:a="http://schemas.openxmlformats.org/drawingml/2006/main">
            <a:r>
              <a:t>Resultado esperado: Las tres cuentas tienen responsabilidades distintas; no son intercambiables.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Presente Hugging Face como acceso al chat y a embeddings: se necesita ya para las demos dos y tres, aunque el README sitúe el inicio lectivo en S1. Qdrant será la base vectorial del RAG en S5. Langfuse permitirá trazabilidad y evaluación desde S9. Crear las cuentas antes evita convertir una clase posterior en una sesión de alta y permisos.</a:t>
            </a:r>
          </a:p>
          <a:p xmlns:a="http://schemas.openxmlformats.org/drawingml/2006/main">
            <a:r>
              <a:t/>
            </a:r>
          </a:p>
          <a:p xmlns:a="http://schemas.openxmlformats.org/drawingml/2006/main">
            <a:r>
              <a:t>Recorra las variables de cada columna y explique que no son intercambiables. No revele valores reales. Para Qdrant, la URL y colección identifican el destino; para Langfuse se necesitan host y el par de claves; para HF se configura token y modelos. Las cuotas, gratuidad y condiciones de cuenta pueden cambiar, por lo que esta imagen no fija cifras comerciales. Siga los pasos del repositorio y confirme las condiciones al crear las cuentas. El curso documenta equipos de dos personas y organización compartida en Langfuse.</a:t>
            </a:r>
          </a:p>
          <a:p xmlns:a="http://schemas.openxmlformats.org/drawingml/2006/main">
            <a:r>
              <a:t/>
            </a:r>
          </a:p>
          <a:p xmlns:a="http://schemas.openxmlformats.org/drawingml/2006/main">
            <a:r>
              <a:t>ELEMENTOS QUE CONVIENE EXPLICAR</a:t>
            </a:r>
          </a:p>
          <a:p xmlns:a="http://schemas.openxmlformats.org/drawingml/2006/main">
            <a:r>
              <a:t>Ubicar; Diferenciar; Continuar.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MercaSur. El equipo pregunta si necesita Azure para el laboratorio inicial.</a:t>
            </a:r>
          </a:p>
          <a:p xmlns:a="http://schemas.openxmlformats.org/drawingml/2006/main">
            <a:r>
              <a:t>Ubicar: S0 prepara el stack principal del curso.</a:t>
            </a:r>
          </a:p>
          <a:p xmlns:a="http://schemas.openxmlformats.org/drawingml/2006/main">
            <a:r>
              <a:t>Diferenciar: Foundry pertenece al bonus asíncrono.</a:t>
            </a:r>
          </a:p>
          <a:p xmlns:a="http://schemas.openxmlformats.org/drawingml/2006/main">
            <a:r>
              <a:t>Continuar: Completar las cuentas y verificaciones requeridas para S1.</a:t>
            </a:r>
          </a:p>
          <a:p xmlns:a="http://schemas.openxmlformats.org/drawingml/2006/main">
            <a:r>
              <a:t>Resultado: Las tres cuentas tienen responsabilidades distintas; no son intercambiables.</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¿En qué servicio buscarías los fragmentos del corpus?</a:t>
            </a:r>
          </a:p>
          <a:p xmlns:a="http://schemas.openxmlformats.org/drawingml/2006/main">
            <a:r>
              <a:t>Orientación para el docente: contraste la respuesta con los criterios del desarrollo y pida evidencia. La conclusión debe respetar: Preparar accesos ahora evita bloquear los laboratorios posteriores.</a:t>
            </a:r>
          </a:p>
          <a:p xmlns:a="http://schemas.openxmlformats.org/drawingml/2006/main">
            <a:r>
              <a:t/>
            </a:r>
          </a:p>
          <a:p xmlns:a="http://schemas.openxmlformats.org/drawingml/2006/main">
            <a:r>
              <a:t>ERRORES CONCEPTUALES FRECUENTES</a:t>
            </a:r>
          </a:p>
          <a:p xmlns:a="http://schemas.openxmlformats.org/drawingml/2006/main">
            <a:r>
              <a:t>Confundir la base vectorial con el proveedor de chat.</a:t>
            </a:r>
          </a:p>
          <a:p xmlns:a="http://schemas.openxmlformats.org/drawingml/2006/main">
            <a:r>
              <a:t/>
            </a:r>
          </a:p>
          <a:p xmlns:a="http://schemas.openxmlformats.org/drawingml/2006/main">
            <a:r>
              <a:t>CONEXIÓN ANTERIOR</a:t>
            </a:r>
          </a:p>
          <a:p xmlns:a="http://schemas.openxmlformats.org/drawingml/2006/main">
            <a:r>
              <a:t>17: gestión privada de variables; 14: proveedor de inferencia. · Capítulo previo: Pydantic y el contrato de salida</a:t>
            </a:r>
          </a:p>
          <a:p xmlns:a="http://schemas.openxmlformats.org/drawingml/2006/main">
            <a:r>
              <a:t/>
            </a:r>
          </a:p>
          <a:p xmlns:a="http://schemas.openxmlformats.org/drawingml/2006/main">
            <a:r>
              <a:t>CONEXIÓN POSTERIOR</a:t>
            </a:r>
          </a:p>
          <a:p xmlns:a="http://schemas.openxmlformats.org/drawingml/2006/main">
            <a:r>
              <a:t>20: leer fallos. S5: Qdrant. S9–S10: Langfuse. · Sigue: Diagnóstico por capas</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58 · CAPÍTULO 20 · CONCEPTO</a:t>
            </a:r>
          </a:p>
          <a:p xmlns:a="http://schemas.openxmlformats.org/drawingml/2006/main">
            <a:r>
              <a:t>Título: Diagnóstico por capas</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Errores frecuentes y verificación</a:t>
            </a:r>
          </a:p>
          <a:p xmlns:a="http://schemas.openxmlformats.org/drawingml/2006/main">
            <a:r>
              <a:t>Fuente principal: https://github.com/javierrosado/ariwalab-course-langchain/blob/27c24090f1662f9473b673d2020e7bffee04490b/00-preparacion/conceptos-previos/python-y-entorno.md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Pasar del síntoma a una comprobación específica antes de cambiar código.</a:t>
            </a:r>
          </a:p>
          <a:p xmlns:a="http://schemas.openxmlformats.org/drawingml/2006/main">
            <a:r>
              <a:t/>
            </a:r>
          </a:p>
          <a:p xmlns:a="http://schemas.openxmlformats.org/drawingml/2006/main">
            <a:r>
              <a:t>CONCEPTO PRINCIPAL</a:t>
            </a:r>
          </a:p>
          <a:p xmlns:a="http://schemas.openxmlformats.org/drawingml/2006/main">
            <a:r>
              <a:t>Diagnóstico por capas</a:t>
            </a:r>
          </a:p>
          <a:p xmlns:a="http://schemas.openxmlformats.org/drawingml/2006/main">
            <a:r>
              <a:t/>
            </a:r>
          </a:p>
          <a:p xmlns:a="http://schemas.openxmlformats.org/drawingml/2006/main">
            <a:r>
              <a:t>MENSAJE QUE DEBE LLEVARSE EL ALUMNO</a:t>
            </a:r>
          </a:p>
          <a:p xmlns:a="http://schemas.openxmlformats.org/drawingml/2006/main">
            <a:r>
              <a:t>Diagnosticar por capas reduce cambios innecesarios.</a:t>
            </a:r>
          </a:p>
          <a:p xmlns:a="http://schemas.openxmlformats.org/drawingml/2006/main">
            <a:r>
              <a:t/>
            </a:r>
          </a:p>
          <a:p xmlns:a="http://schemas.openxmlformats.org/drawingml/2006/main">
            <a:r>
              <a:t>EXPLICACIÓN SUGERIDA PARA EL DOCENTE</a:t>
            </a:r>
          </a:p>
          <a:p xmlns:a="http://schemas.openxmlformats.org/drawingml/2006/main">
            <a:r>
              <a:t>Abra con la pregunta «¿Qué prueba permite saber si el modelo llegó a recibir una llamada?».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Entorno: Imports, directorio actual y dependencias.</a:t>
            </a:r>
          </a:p>
          <a:p xmlns:a="http://schemas.openxmlformats.org/drawingml/2006/main">
            <a:r>
              <a:t/>
            </a:r>
          </a:p>
          <a:p xmlns:a="http://schemas.openxmlformats.org/drawingml/2006/main">
            <a:r>
              <a:t>Configuración: Variables, credenciales y selección de proveedor.</a:t>
            </a:r>
          </a:p>
          <a:p xmlns:a="http://schemas.openxmlformats.org/drawingml/2006/main">
            <a:r>
              <a:t/>
            </a:r>
          </a:p>
          <a:p xmlns:a="http://schemas.openxmlformats.org/drawingml/2006/main">
            <a:r>
              <a:t>Servicio: Permisos, conectividad, cuota o disponibilidad.</a:t>
            </a:r>
          </a:p>
          <a:p xmlns:a="http://schemas.openxmlformats.org/drawingml/2006/main">
            <a:r>
              <a:t/>
            </a:r>
          </a:p>
          <a:p xmlns:a="http://schemas.openxmlformats.org/drawingml/2006/main">
            <a:r>
              <a:t>Cierre con la distinción: Diagnosticar por capas reduce cambios innecesarios.</a:t>
            </a:r>
          </a:p>
          <a:p xmlns:a="http://schemas.openxmlformats.org/drawingml/2006/main">
            <a:r>
              <a:t/>
            </a:r>
          </a:p>
          <a:p xmlns:a="http://schemas.openxmlformats.org/drawingml/2006/main">
            <a:r>
              <a:t>AMPLIACIÓN DEL MATERIAL APROBADO</a:t>
            </a:r>
          </a:p>
          <a:p xmlns:a="http://schemas.openxmlformats.org/drawingml/2006/main">
            <a:r>
              <a:t>Use la tabla por filas y no como checklist que se ejecuta completo ante cualquier error. Para ModuleNotFoundError, compruebe intérprete, paquetes y directorio. Si falta HF_TOKEN, primero revise dónde está .env y si tiene valor. Un 401 requiere revisar autenticación y permisos, pero no demuestra una única causa. Una respuesta lenta puede relacionarse con red, disponibilidad o arranque en frío; no se resuelve rotando claves al azar.</a:t>
            </a:r>
          </a:p>
          <a:p xmlns:a="http://schemas.openxmlformats.org/drawingml/2006/main">
            <a:r>
              <a:t/>
            </a:r>
          </a:p>
          <a:p xmlns:a="http://schemas.openxmlformats.org/drawingml/2006/main">
            <a:r>
              <a:t>Explique la diferencia entre check_stack --solo-modelo y la verificación completa. La guía de cuentas define códigos 0, 1 y 2: correcto, fallo de servicio secundario y fallo crítico. Ante un fallo crítico, se entrega al docente el mensaje sanitizado y el paso que falló. Evite diagnosticar capacidad del modelo si el problema es una librería ausente. El cambio chcp 65001 corresponde a problemas de codificación en terminal Windows, no a la calidad del español del modelo.</a:t>
            </a:r>
          </a:p>
          <a:p xmlns:a="http://schemas.openxmlformats.org/drawingml/2006/main">
            <a:r>
              <a:t/>
            </a:r>
          </a:p>
          <a:p xmlns:a="http://schemas.openxmlformats.org/drawingml/2006/main">
            <a:r>
              <a:t>ELEMENTOS QUE CONVIENE EXPLICAR</a:t>
            </a:r>
          </a:p>
          <a:p xmlns:a="http://schemas.openxmlformats.org/drawingml/2006/main">
            <a:r>
              <a:t>Entorno; Configuración; Servicio.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El script devuelve ModuleNotFoundError antes de llamar al modelo.</a:t>
            </a:r>
          </a:p>
          <a:p xmlns:a="http://schemas.openxmlformats.org/drawingml/2006/main">
            <a:r>
              <a:t>Localizar: El fallo ocurre en un import local.</a:t>
            </a:r>
          </a:p>
          <a:p xmlns:a="http://schemas.openxmlformats.org/drawingml/2006/main">
            <a:r>
              <a:t>Corregir: Revisar raíz, intérprete y requirements.</a:t>
            </a:r>
          </a:p>
          <a:p xmlns:a="http://schemas.openxmlformats.org/drawingml/2006/main">
            <a:r>
              <a:t>Confirmar: Volver a ejecutar antes de tocar la configuración del modelo.</a:t>
            </a:r>
          </a:p>
          <a:p xmlns:a="http://schemas.openxmlformats.org/drawingml/2006/main">
            <a:r>
              <a:t>Resultado: Un error anterior a la llamada no se resuelve cambiando la temperatura.</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prueba permite saber si el modelo llegó a recibir una llamada?</a:t>
            </a:r>
          </a:p>
          <a:p xmlns:a="http://schemas.openxmlformats.org/drawingml/2006/main">
            <a:r>
              <a:t>Orientación para el docente: contraste la respuesta con los criterios del desarrollo y pida evidencia. La conclusión debe respetar: Diagnosticar por capas reduce cambios innecesarios.</a:t>
            </a:r>
          </a:p>
          <a:p xmlns:a="http://schemas.openxmlformats.org/drawingml/2006/main">
            <a:r>
              <a:t/>
            </a:r>
          </a:p>
          <a:p xmlns:a="http://schemas.openxmlformats.org/drawingml/2006/main">
            <a:r>
              <a:t>ERRORES CONCEPTUALES FRECUENTES</a:t>
            </a:r>
          </a:p>
          <a:p xmlns:a="http://schemas.openxmlformats.org/drawingml/2006/main">
            <a:r>
              <a:t>Atribuir cualquier error al proveedor externo.</a:t>
            </a:r>
          </a:p>
          <a:p xmlns:a="http://schemas.openxmlformats.org/drawingml/2006/main">
            <a:r>
              <a:t/>
            </a:r>
          </a:p>
          <a:p xmlns:a="http://schemas.openxmlformats.org/drawingml/2006/main">
            <a:r>
              <a:t>CONEXIÓN ANTERIOR</a:t>
            </a:r>
          </a:p>
          <a:p xmlns:a="http://schemas.openxmlformats.org/drawingml/2006/main">
            <a:r>
              <a:t>16–19: entorno, configuración y servicios. · Capítulo previo: Tres cuentas, tres funciones</a:t>
            </a:r>
          </a:p>
          <a:p xmlns:a="http://schemas.openxmlformats.org/drawingml/2006/main">
            <a:r>
              <a:t/>
            </a:r>
          </a:p>
          <a:p xmlns:a="http://schemas.openxmlformats.org/drawingml/2006/main">
            <a:r>
              <a:t>CONEXIÓN POSTERIOR</a:t>
            </a:r>
          </a:p>
          <a:p xmlns:a="http://schemas.openxmlformats.org/drawingml/2006/main">
            <a:r>
              <a:t>21: demos. 22: salida de preparación sin errores críticos. · Sigue: Cuatro demos para observar</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59 · CAPÍTULO 20 · DESARROLLO</a:t>
            </a:r>
          </a:p>
          <a:p xmlns:a="http://schemas.openxmlformats.org/drawingml/2006/main">
            <a:r>
              <a:t>Título: Una hipótesis por vez</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Errores frecuentes y verificación</a:t>
            </a:r>
          </a:p>
          <a:p xmlns:a="http://schemas.openxmlformats.org/drawingml/2006/main">
            <a:r>
              <a:t>Fuente principal: https://github.com/javierrosado/ariwalab-course-langchain/blob/27c24090f1662f9473b673d2020e7bffee04490b/00-preparacion/conceptos-previos/python-y-entorno.md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Pasar del síntoma a una comprobación específica antes de cambiar código.</a:t>
            </a:r>
          </a:p>
          <a:p xmlns:a="http://schemas.openxmlformats.org/drawingml/2006/main">
            <a:r>
              <a:t/>
            </a:r>
          </a:p>
          <a:p xmlns:a="http://schemas.openxmlformats.org/drawingml/2006/main">
            <a:r>
              <a:t>CONCEPTO PRINCIPAL</a:t>
            </a:r>
          </a:p>
          <a:p xmlns:a="http://schemas.openxmlformats.org/drawingml/2006/main">
            <a:r>
              <a:t>Diagnóstico por capas</a:t>
            </a:r>
          </a:p>
          <a:p xmlns:a="http://schemas.openxmlformats.org/drawingml/2006/main">
            <a:r>
              <a:t/>
            </a:r>
          </a:p>
          <a:p xmlns:a="http://schemas.openxmlformats.org/drawingml/2006/main">
            <a:r>
              <a:t>MENSAJE QUE DEBE LLEVARSE EL ALUMNO</a:t>
            </a:r>
          </a:p>
          <a:p xmlns:a="http://schemas.openxmlformats.org/drawingml/2006/main">
            <a:r>
              <a:t>Diagnosticar por capas reduce cambios innecesarios.</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Observar: Copiar el tipo de error sin secretos.</a:t>
            </a:r>
          </a:p>
          <a:p xmlns:a="http://schemas.openxmlformats.org/drawingml/2006/main">
            <a:r>
              <a:t/>
            </a:r>
          </a:p>
          <a:p xmlns:a="http://schemas.openxmlformats.org/drawingml/2006/main">
            <a:r>
              <a:t>Aislar: Comprobar la capa más próxima al síntoma.</a:t>
            </a:r>
          </a:p>
          <a:p xmlns:a="http://schemas.openxmlformats.org/drawingml/2006/main">
            <a:r>
              <a:t/>
            </a:r>
          </a:p>
          <a:p xmlns:a="http://schemas.openxmlformats.org/drawingml/2006/main">
            <a:r>
              <a:t>Repetir: Cambiar una causa y ejecutar la misma prueba.</a:t>
            </a:r>
          </a:p>
          <a:p xmlns:a="http://schemas.openxmlformats.org/drawingml/2006/main">
            <a:r>
              <a:t/>
            </a:r>
          </a:p>
          <a:p xmlns:a="http://schemas.openxmlformats.org/drawingml/2006/main">
            <a:r>
              <a:t>Contraste la regla con este error: Atribuir cualquier error al proveedor externo.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Use la tabla por filas y no como checklist que se ejecuta completo ante cualquier error. Para ModuleNotFoundError, compruebe intérprete, paquetes y directorio. Si falta HF_TOKEN, primero revise dónde está .env y si tiene valor. Un 401 requiere revisar autenticación y permisos, pero no demuestra una única causa. Una respuesta lenta puede relacionarse con red, disponibilidad o arranque en frío; no se resuelve rotando claves al azar.</a:t>
            </a:r>
          </a:p>
          <a:p xmlns:a="http://schemas.openxmlformats.org/drawingml/2006/main">
            <a:r>
              <a:t/>
            </a:r>
          </a:p>
          <a:p xmlns:a="http://schemas.openxmlformats.org/drawingml/2006/main">
            <a:r>
              <a:t>Explique la diferencia entre check_stack --solo-modelo y la verificación completa. La guía de cuentas define códigos 0, 1 y 2: correcto, fallo de servicio secundario y fallo crítico. Ante un fallo crítico, se entrega al docente el mensaje sanitizado y el paso que falló. Evite diagnosticar capacidad del modelo si el problema es una librería ausente. El cambio chcp 65001 corresponde a problemas de codificación en terminal Windows, no a la calidad del español del modelo.</a:t>
            </a:r>
          </a:p>
          <a:p xmlns:a="http://schemas.openxmlformats.org/drawingml/2006/main">
            <a:r>
              <a:t/>
            </a:r>
          </a:p>
          <a:p xmlns:a="http://schemas.openxmlformats.org/drawingml/2006/main">
            <a:r>
              <a:t>ELEMENTOS QUE CONVIENE EXPLICAR</a:t>
            </a:r>
          </a:p>
          <a:p xmlns:a="http://schemas.openxmlformats.org/drawingml/2006/main">
            <a:r>
              <a:t>Observar; Aislar; Repetir.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El script devuelve ModuleNotFoundError antes de llamar al modelo.</a:t>
            </a:r>
          </a:p>
          <a:p xmlns:a="http://schemas.openxmlformats.org/drawingml/2006/main">
            <a:r>
              <a:t>Localizar: El fallo ocurre en un import local.</a:t>
            </a:r>
          </a:p>
          <a:p xmlns:a="http://schemas.openxmlformats.org/drawingml/2006/main">
            <a:r>
              <a:t>Corregir: Revisar raíz, intérprete y requirements.</a:t>
            </a:r>
          </a:p>
          <a:p xmlns:a="http://schemas.openxmlformats.org/drawingml/2006/main">
            <a:r>
              <a:t>Confirmar: Volver a ejecutar antes de tocar la configuración del modelo.</a:t>
            </a:r>
          </a:p>
          <a:p xmlns:a="http://schemas.openxmlformats.org/drawingml/2006/main">
            <a:r>
              <a:t>Resultado: Un error anterior a la llamada no se resuelve cambiando la temperatura.</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prueba permite saber si el modelo llegó a recibir una llamada?</a:t>
            </a:r>
          </a:p>
          <a:p xmlns:a="http://schemas.openxmlformats.org/drawingml/2006/main">
            <a:r>
              <a:t>Orientación para el docente: contraste la respuesta con los criterios del desarrollo y pida evidencia. La conclusión debe respetar: Diagnosticar por capas reduce cambios innecesarios.</a:t>
            </a:r>
          </a:p>
          <a:p xmlns:a="http://schemas.openxmlformats.org/drawingml/2006/main">
            <a:r>
              <a:t/>
            </a:r>
          </a:p>
          <a:p xmlns:a="http://schemas.openxmlformats.org/drawingml/2006/main">
            <a:r>
              <a:t>ERRORES CONCEPTUALES FRECUENTES</a:t>
            </a:r>
          </a:p>
          <a:p xmlns:a="http://schemas.openxmlformats.org/drawingml/2006/main">
            <a:r>
              <a:t>Atribuir cualquier error al proveedor externo.</a:t>
            </a:r>
          </a:p>
          <a:p xmlns:a="http://schemas.openxmlformats.org/drawingml/2006/main">
            <a:r>
              <a:t/>
            </a:r>
          </a:p>
          <a:p xmlns:a="http://schemas.openxmlformats.org/drawingml/2006/main">
            <a:r>
              <a:t>CONEXIÓN ANTERIOR</a:t>
            </a:r>
          </a:p>
          <a:p xmlns:a="http://schemas.openxmlformats.org/drawingml/2006/main">
            <a:r>
              <a:t>16–19: entorno, configuración y servicios. · Capítulo previo: Tres cuentas, tres funciones</a:t>
            </a:r>
          </a:p>
          <a:p xmlns:a="http://schemas.openxmlformats.org/drawingml/2006/main">
            <a:r>
              <a:t/>
            </a:r>
          </a:p>
          <a:p xmlns:a="http://schemas.openxmlformats.org/drawingml/2006/main">
            <a:r>
              <a:t>CONEXIÓN POSTERIOR</a:t>
            </a:r>
          </a:p>
          <a:p xmlns:a="http://schemas.openxmlformats.org/drawingml/2006/main">
            <a:r>
              <a:t>21: demos. 22: salida de preparación sin errores críticos. · Sigue: Cuatro demos para observar</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60 · CAPÍTULO 20 · EJEMPLO</a:t>
            </a:r>
          </a:p>
          <a:p xmlns:a="http://schemas.openxmlformats.org/drawingml/2006/main">
            <a:r>
              <a:t>Título: AndesMóvil · Diagnóstico por capas</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Errores frecuentes y verificación</a:t>
            </a:r>
          </a:p>
          <a:p xmlns:a="http://schemas.openxmlformats.org/drawingml/2006/main">
            <a:r>
              <a:t>Fuente principal: https://github.com/javierrosado/ariwalab-course-langchain/blob/27c24090f1662f9473b673d2020e7bffee04490b/00-preparacion/conceptos-previos/python-y-entorno.md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Pasar del síntoma a una comprobación específica antes de cambiar código.</a:t>
            </a:r>
          </a:p>
          <a:p xmlns:a="http://schemas.openxmlformats.org/drawingml/2006/main">
            <a:r>
              <a:t/>
            </a:r>
          </a:p>
          <a:p xmlns:a="http://schemas.openxmlformats.org/drawingml/2006/main">
            <a:r>
              <a:t>CONCEPTO PRINCIPAL</a:t>
            </a:r>
          </a:p>
          <a:p xmlns:a="http://schemas.openxmlformats.org/drawingml/2006/main">
            <a:r>
              <a:t>Diagnóstico por capas</a:t>
            </a:r>
          </a:p>
          <a:p xmlns:a="http://schemas.openxmlformats.org/drawingml/2006/main">
            <a:r>
              <a:t/>
            </a:r>
          </a:p>
          <a:p xmlns:a="http://schemas.openxmlformats.org/drawingml/2006/main">
            <a:r>
              <a:t>MENSAJE QUE DEBE LLEVARSE EL ALUMNO</a:t>
            </a:r>
          </a:p>
          <a:p xmlns:a="http://schemas.openxmlformats.org/drawingml/2006/main">
            <a:r>
              <a:t>Diagnosticar por capas reduce cambios innecesarios.</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El script devuelve ModuleNotFoundError antes de llamar al modelo. Pida una predicción.</a:t>
            </a:r>
          </a:p>
          <a:p xmlns:a="http://schemas.openxmlformats.org/drawingml/2006/main">
            <a:r>
              <a:t/>
            </a:r>
          </a:p>
          <a:p xmlns:a="http://schemas.openxmlformats.org/drawingml/2006/main">
            <a:r>
              <a:t>Localizar: El fallo ocurre en un import local.</a:t>
            </a:r>
          </a:p>
          <a:p xmlns:a="http://schemas.openxmlformats.org/drawingml/2006/main">
            <a:r>
              <a:t/>
            </a:r>
          </a:p>
          <a:p xmlns:a="http://schemas.openxmlformats.org/drawingml/2006/main">
            <a:r>
              <a:t>Corregir: Revisar raíz, intérprete y requirements.</a:t>
            </a:r>
          </a:p>
          <a:p xmlns:a="http://schemas.openxmlformats.org/drawingml/2006/main">
            <a:r>
              <a:t/>
            </a:r>
          </a:p>
          <a:p xmlns:a="http://schemas.openxmlformats.org/drawingml/2006/main">
            <a:r>
              <a:t>Confirmar: Volver a ejecutar antes de tocar la configuración del modelo.</a:t>
            </a:r>
          </a:p>
          <a:p xmlns:a="http://schemas.openxmlformats.org/drawingml/2006/main">
            <a:r>
              <a:t/>
            </a:r>
          </a:p>
          <a:p xmlns:a="http://schemas.openxmlformats.org/drawingml/2006/main">
            <a:r>
              <a:t>Resultado esperado: Un error anterior a la llamada no se resuelve cambiando la temperatura.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Use la tabla por filas y no como checklist que se ejecuta completo ante cualquier error. Para ModuleNotFoundError, compruebe intérprete, paquetes y directorio. Si falta HF_TOKEN, primero revise dónde está .env y si tiene valor. Un 401 requiere revisar autenticación y permisos, pero no demuestra una única causa. Una respuesta lenta puede relacionarse con red, disponibilidad o arranque en frío; no se resuelve rotando claves al azar.</a:t>
            </a:r>
          </a:p>
          <a:p xmlns:a="http://schemas.openxmlformats.org/drawingml/2006/main">
            <a:r>
              <a:t/>
            </a:r>
          </a:p>
          <a:p xmlns:a="http://schemas.openxmlformats.org/drawingml/2006/main">
            <a:r>
              <a:t>Explique la diferencia entre check_stack --solo-modelo y la verificación completa. La guía de cuentas define códigos 0, 1 y 2: correcto, fallo de servicio secundario y fallo crítico. Ante un fallo crítico, se entrega al docente el mensaje sanitizado y el paso que falló. Evite diagnosticar capacidad del modelo si el problema es una librería ausente. El cambio chcp 65001 corresponde a problemas de codificación en terminal Windows, no a la calidad del español del modelo.</a:t>
            </a:r>
          </a:p>
          <a:p xmlns:a="http://schemas.openxmlformats.org/drawingml/2006/main">
            <a:r>
              <a:t/>
            </a:r>
          </a:p>
          <a:p xmlns:a="http://schemas.openxmlformats.org/drawingml/2006/main">
            <a:r>
              <a:t>ELEMENTOS QUE CONVIENE EXPLICAR</a:t>
            </a:r>
          </a:p>
          <a:p xmlns:a="http://schemas.openxmlformats.org/drawingml/2006/main">
            <a:r>
              <a:t>Localizar; Corregir; Confirmar.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AndesMóvil. El script devuelve ModuleNotFoundError antes de llamar al modelo.</a:t>
            </a:r>
          </a:p>
          <a:p xmlns:a="http://schemas.openxmlformats.org/drawingml/2006/main">
            <a:r>
              <a:t>Localizar: El fallo ocurre en un import local.</a:t>
            </a:r>
          </a:p>
          <a:p xmlns:a="http://schemas.openxmlformats.org/drawingml/2006/main">
            <a:r>
              <a:t>Corregir: Revisar raíz, intérprete y requirements.</a:t>
            </a:r>
          </a:p>
          <a:p xmlns:a="http://schemas.openxmlformats.org/drawingml/2006/main">
            <a:r>
              <a:t>Confirmar: Volver a ejecutar antes de tocar la configuración del modelo.</a:t>
            </a:r>
          </a:p>
          <a:p xmlns:a="http://schemas.openxmlformats.org/drawingml/2006/main">
            <a:r>
              <a:t>Resultado: Un error anterior a la llamada no se resuelve cambiando la temperatura.</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prueba permite saber si el modelo llegó a recibir una llamada?</a:t>
            </a:r>
          </a:p>
          <a:p xmlns:a="http://schemas.openxmlformats.org/drawingml/2006/main">
            <a:r>
              <a:t>Orientación para el docente: contraste la respuesta con los criterios del desarrollo y pida evidencia. La conclusión debe respetar: Diagnosticar por capas reduce cambios innecesarios.</a:t>
            </a:r>
          </a:p>
          <a:p xmlns:a="http://schemas.openxmlformats.org/drawingml/2006/main">
            <a:r>
              <a:t/>
            </a:r>
          </a:p>
          <a:p xmlns:a="http://schemas.openxmlformats.org/drawingml/2006/main">
            <a:r>
              <a:t>ERRORES CONCEPTUALES FRECUENTES</a:t>
            </a:r>
          </a:p>
          <a:p xmlns:a="http://schemas.openxmlformats.org/drawingml/2006/main">
            <a:r>
              <a:t>Atribuir cualquier error al proveedor externo.</a:t>
            </a:r>
          </a:p>
          <a:p xmlns:a="http://schemas.openxmlformats.org/drawingml/2006/main">
            <a:r>
              <a:t/>
            </a:r>
          </a:p>
          <a:p xmlns:a="http://schemas.openxmlformats.org/drawingml/2006/main">
            <a:r>
              <a:t>CONEXIÓN ANTERIOR</a:t>
            </a:r>
          </a:p>
          <a:p xmlns:a="http://schemas.openxmlformats.org/drawingml/2006/main">
            <a:r>
              <a:t>16–19: entorno, configuración y servicios. · Capítulo previo: Tres cuentas, tres funciones</a:t>
            </a:r>
          </a:p>
          <a:p xmlns:a="http://schemas.openxmlformats.org/drawingml/2006/main">
            <a:r>
              <a:t/>
            </a:r>
          </a:p>
          <a:p xmlns:a="http://schemas.openxmlformats.org/drawingml/2006/main">
            <a:r>
              <a:t>CONEXIÓN POSTERIOR</a:t>
            </a:r>
          </a:p>
          <a:p xmlns:a="http://schemas.openxmlformats.org/drawingml/2006/main">
            <a:r>
              <a:t>21: demos. 22: salida de preparación sin errores críticos. · Sigue: Cuatro demos para observar</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61 · CAPÍTULO 21 · CONCEPTO</a:t>
            </a:r>
          </a:p>
          <a:p xmlns:a="http://schemas.openxmlformats.org/drawingml/2006/main">
            <a:r>
              <a:t>Título: Cuatro demos para observar</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code/README.md</a:t>
            </a:r>
          </a:p>
          <a:p xmlns:a="http://schemas.openxmlformats.org/drawingml/2006/main">
            <a:r>
              <a:t>Fuente principal: https://github.com/javierrosado/ariwalab-course-langchain/blob/27c24090f1662f9473b673d2020e7bffee04490b/00-preparacion/code/README.md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Transformar conceptos en observaciones reproducibles y anotadas.</a:t>
            </a:r>
          </a:p>
          <a:p xmlns:a="http://schemas.openxmlformats.org/drawingml/2006/main">
            <a:r>
              <a:t/>
            </a:r>
          </a:p>
          <a:p xmlns:a="http://schemas.openxmlformats.org/drawingml/2006/main">
            <a:r>
              <a:t>CONCEPTO PRINCIPAL</a:t>
            </a:r>
          </a:p>
          <a:p xmlns:a="http://schemas.openxmlformats.org/drawingml/2006/main">
            <a:r>
              <a:t>Cuatro demos para observar</a:t>
            </a:r>
          </a:p>
          <a:p xmlns:a="http://schemas.openxmlformats.org/drawingml/2006/main">
            <a:r>
              <a:t/>
            </a:r>
          </a:p>
          <a:p xmlns:a="http://schemas.openxmlformats.org/drawingml/2006/main">
            <a:r>
              <a:t>MENSAJE QUE DEBE LLEVARSE EL ALUMNO</a:t>
            </a:r>
          </a:p>
          <a:p xmlns:a="http://schemas.openxmlformats.org/drawingml/2006/main">
            <a:r>
              <a:t>Ejecutar una demo es el inicio; explicar lo observado completa la actividad.</a:t>
            </a:r>
          </a:p>
          <a:p xmlns:a="http://schemas.openxmlformats.org/drawingml/2006/main">
            <a:r>
              <a:t/>
            </a:r>
          </a:p>
          <a:p xmlns:a="http://schemas.openxmlformats.org/drawingml/2006/main">
            <a:r>
              <a:t>EXPLICACIÓN SUGERIDA PARA EL DOCENTE</a:t>
            </a:r>
          </a:p>
          <a:p xmlns:a="http://schemas.openxmlformats.org/drawingml/2006/main">
            <a:r>
              <a:t>Abra con la pregunta «¿Qué conclusión sería excesiva a partir de una sola ejecución?».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Tokens y temperatura: Observar conteo y variación de generación.</a:t>
            </a:r>
          </a:p>
          <a:p xmlns:a="http://schemas.openxmlformats.org/drawingml/2006/main">
            <a:r>
              <a:t/>
            </a:r>
          </a:p>
          <a:p xmlns:a="http://schemas.openxmlformats.org/drawingml/2006/main">
            <a:r>
              <a:t>Embeddings: Comparar representaciones semánticas.</a:t>
            </a:r>
          </a:p>
          <a:p xmlns:a="http://schemas.openxmlformats.org/drawingml/2006/main">
            <a:r>
              <a:t/>
            </a:r>
          </a:p>
          <a:p xmlns:a="http://schemas.openxmlformats.org/drawingml/2006/main">
            <a:r>
              <a:t>Costo: Sumar entradas y salidas con unidades explícitas.</a:t>
            </a:r>
          </a:p>
          <a:p xmlns:a="http://schemas.openxmlformats.org/drawingml/2006/main">
            <a:r>
              <a:t/>
            </a:r>
          </a:p>
          <a:p xmlns:a="http://schemas.openxmlformats.org/drawingml/2006/main">
            <a:r>
              <a:t>Cierre con la distinción: Ejecutar una demo es el inicio; explicar lo observado completa la actividad.</a:t>
            </a:r>
          </a:p>
          <a:p xmlns:a="http://schemas.openxmlformats.org/drawingml/2006/main">
            <a:r>
              <a:t/>
            </a:r>
          </a:p>
          <a:p xmlns:a="http://schemas.openxmlformats.org/drawingml/2006/main">
            <a:r>
              <a:t>AMPLIACIÓN DEL MATERIAL APROBADO</a:t>
            </a:r>
          </a:p>
          <a:p xmlns:a="http://schemas.openxmlformats.org/drawingml/2006/main">
            <a:r>
              <a:t>Pida una predicción antes de cada experimento. En tokens, anotar si se usa el tokenizador real o una estimación; la primera descarga requiere red, pero no token de inferencia. En temperatura, comparar nueve respuestas, tres por cada valor. En embeddings, registrar la relación entre coseno y palabras comunes. En costo, recordar que se ejecuta aritmética local sin credenciales ni consumo de inferencia.</a:t>
            </a:r>
          </a:p>
          <a:p xmlns:a="http://schemas.openxmlformats.org/drawingml/2006/main">
            <a:r>
              <a:t/>
            </a:r>
          </a:p>
          <a:p xmlns:a="http://schemas.openxmlformats.org/drawingml/2006/main">
            <a:r>
              <a:t>Los comandos se lanzan desde la raíz del curso: python 00-preparacion/code/&lt;archivo&gt;. La imagen muestra nombres cortos para facilitar lectura; el prefijo completo está en las notas. Si falla una demo remota, registrar el error y volver al diagnóstico. No inventar resultados para completar una tabla. Cierre pidiendo a cada alumno una observación y una limitación de cada experimento; esto prepara una autoevaluación basada en comprensión.</a:t>
            </a:r>
          </a:p>
          <a:p xmlns:a="http://schemas.openxmlformats.org/drawingml/2006/main">
            <a:r>
              <a:t/>
            </a:r>
          </a:p>
          <a:p xmlns:a="http://schemas.openxmlformats.org/drawingml/2006/main">
            <a:r>
              <a:t>ELEMENTOS QUE CONVIENE EXPLICAR</a:t>
            </a:r>
          </a:p>
          <a:p xmlns:a="http://schemas.openxmlformats.org/drawingml/2006/main">
            <a:r>
              <a:t>Tokens y temperatura; Embeddings; Costo.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Andina Seguros. Dos frases de seguros aparecen próximas en la demo de embeddings.</a:t>
            </a:r>
          </a:p>
          <a:p xmlns:a="http://schemas.openxmlformats.org/drawingml/2006/main">
            <a:r>
              <a:t>Observar: La medida indica cercanía en esa representación.</a:t>
            </a:r>
          </a:p>
          <a:p xmlns:a="http://schemas.openxmlformats.org/drawingml/2006/main">
            <a:r>
              <a:t>Interpretar: Puede ayudar a recuperar texto relacionado.</a:t>
            </a:r>
          </a:p>
          <a:p xmlns:a="http://schemas.openxmlformats.org/drawingml/2006/main">
            <a:r>
              <a:t>Limitar: No demuestra que ambas pólizas tengan igual cobertura.</a:t>
            </a:r>
          </a:p>
          <a:p xmlns:a="http://schemas.openxmlformats.org/drawingml/2006/main">
            <a:r>
              <a:t>Resultado: La anotación útil explica tanto el hallazgo como su límite.</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conclusión sería excesiva a partir de una sola ejecución?</a:t>
            </a:r>
          </a:p>
          <a:p xmlns:a="http://schemas.openxmlformats.org/drawingml/2006/main">
            <a:r>
              <a:t>Orientación para el docente: contraste la respuesta con los criterios del desarrollo y pida evidencia. La conclusión debe respetar: Ejecutar una demo es el inicio; explicar lo observado completa la actividad.</a:t>
            </a:r>
          </a:p>
          <a:p xmlns:a="http://schemas.openxmlformats.org/drawingml/2006/main">
            <a:r>
              <a:t/>
            </a:r>
          </a:p>
          <a:p xmlns:a="http://schemas.openxmlformats.org/drawingml/2006/main">
            <a:r>
              <a:t>ERRORES CONCEPTUALES FRECUENTES</a:t>
            </a:r>
          </a:p>
          <a:p xmlns:a="http://schemas.openxmlformats.org/drawingml/2006/main">
            <a:r>
              <a:t>Reportar resultados simulados o estimados como mediciones reales.</a:t>
            </a:r>
          </a:p>
          <a:p xmlns:a="http://schemas.openxmlformats.org/drawingml/2006/main">
            <a:r>
              <a:t/>
            </a:r>
          </a:p>
          <a:p xmlns:a="http://schemas.openxmlformats.org/drawingml/2006/main">
            <a:r>
              <a:t>CONEXIÓN ANTERIOR</a:t>
            </a:r>
          </a:p>
          <a:p xmlns:a="http://schemas.openxmlformats.org/drawingml/2006/main">
            <a:r>
              <a:t>04, 07, 10–12 explican los fenómenos; 16–20 preparan y verifican el entorno. · Capítulo previo: Diagnóstico por capas</a:t>
            </a:r>
          </a:p>
          <a:p xmlns:a="http://schemas.openxmlformats.org/drawingml/2006/main">
            <a:r>
              <a:t/>
            </a:r>
          </a:p>
          <a:p xmlns:a="http://schemas.openxmlformats.org/drawingml/2006/main">
            <a:r>
              <a:t>CONEXIÓN POSTERIOR</a:t>
            </a:r>
          </a:p>
          <a:p xmlns:a="http://schemas.openxmlformats.org/drawingml/2006/main">
            <a:r>
              <a:t>22: autoevaluación. S1 reutiliza las observaciones del comportamiento del modelo. · Sigue: Salida de S0 y siguiente paso</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62 · CAPÍTULO 21 · DESARROLLO</a:t>
            </a:r>
          </a:p>
          <a:p xmlns:a="http://schemas.openxmlformats.org/drawingml/2006/main">
            <a:r>
              <a:t>Título: Qué registrar en cada demo</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code/README.md</a:t>
            </a:r>
          </a:p>
          <a:p xmlns:a="http://schemas.openxmlformats.org/drawingml/2006/main">
            <a:r>
              <a:t>Fuente principal: https://github.com/javierrosado/ariwalab-course-langchain/blob/27c24090f1662f9473b673d2020e7bffee04490b/00-preparacion/code/README.md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Transformar conceptos en observaciones reproducibles y anotadas.</a:t>
            </a:r>
          </a:p>
          <a:p xmlns:a="http://schemas.openxmlformats.org/drawingml/2006/main">
            <a:r>
              <a:t/>
            </a:r>
          </a:p>
          <a:p xmlns:a="http://schemas.openxmlformats.org/drawingml/2006/main">
            <a:r>
              <a:t>CONCEPTO PRINCIPAL</a:t>
            </a:r>
          </a:p>
          <a:p xmlns:a="http://schemas.openxmlformats.org/drawingml/2006/main">
            <a:r>
              <a:t>Cuatro demos para observar</a:t>
            </a:r>
          </a:p>
          <a:p xmlns:a="http://schemas.openxmlformats.org/drawingml/2006/main">
            <a:r>
              <a:t/>
            </a:r>
          </a:p>
          <a:p xmlns:a="http://schemas.openxmlformats.org/drawingml/2006/main">
            <a:r>
              <a:t>MENSAJE QUE DEBE LLEVARSE EL ALUMNO</a:t>
            </a:r>
          </a:p>
          <a:p xmlns:a="http://schemas.openxmlformats.org/drawingml/2006/main">
            <a:r>
              <a:t>Ejecutar una demo es el inicio; explicar lo observado completa la actividad.</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Configuración: Modelo, parámetros y modo real o estimado.</a:t>
            </a:r>
          </a:p>
          <a:p xmlns:a="http://schemas.openxmlformats.org/drawingml/2006/main">
            <a:r>
              <a:t/>
            </a:r>
          </a:p>
          <a:p xmlns:a="http://schemas.openxmlformats.org/drawingml/2006/main">
            <a:r>
              <a:t>Resultado: Salida observada sin convertirla en regla universal.</a:t>
            </a:r>
          </a:p>
          <a:p xmlns:a="http://schemas.openxmlformats.org/drawingml/2006/main">
            <a:r>
              <a:t/>
            </a:r>
          </a:p>
          <a:p xmlns:a="http://schemas.openxmlformats.org/drawingml/2006/main">
            <a:r>
              <a:t>Interpretación: Una conclusión y un límite de lo demostrado.</a:t>
            </a:r>
          </a:p>
          <a:p xmlns:a="http://schemas.openxmlformats.org/drawingml/2006/main">
            <a:r>
              <a:t/>
            </a:r>
          </a:p>
          <a:p xmlns:a="http://schemas.openxmlformats.org/drawingml/2006/main">
            <a:r>
              <a:t>Contraste la regla con este error: Reportar resultados simulados o estimados como mediciones reales.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Pida una predicción antes de cada experimento. En tokens, anotar si se usa el tokenizador real o una estimación; la primera descarga requiere red, pero no token de inferencia. En temperatura, comparar nueve respuestas, tres por cada valor. En embeddings, registrar la relación entre coseno y palabras comunes. En costo, recordar que se ejecuta aritmética local sin credenciales ni consumo de inferencia.</a:t>
            </a:r>
          </a:p>
          <a:p xmlns:a="http://schemas.openxmlformats.org/drawingml/2006/main">
            <a:r>
              <a:t/>
            </a:r>
          </a:p>
          <a:p xmlns:a="http://schemas.openxmlformats.org/drawingml/2006/main">
            <a:r>
              <a:t>Los comandos se lanzan desde la raíz del curso: python 00-preparacion/code/&lt;archivo&gt;. La imagen muestra nombres cortos para facilitar lectura; el prefijo completo está en las notas. Si falla una demo remota, registrar el error y volver al diagnóstico. No inventar resultados para completar una tabla. Cierre pidiendo a cada alumno una observación y una limitación de cada experimento; esto prepara una autoevaluación basada en comprensión.</a:t>
            </a:r>
          </a:p>
          <a:p xmlns:a="http://schemas.openxmlformats.org/drawingml/2006/main">
            <a:r>
              <a:t/>
            </a:r>
          </a:p>
          <a:p xmlns:a="http://schemas.openxmlformats.org/drawingml/2006/main">
            <a:r>
              <a:t>ELEMENTOS QUE CONVIENE EXPLICAR</a:t>
            </a:r>
          </a:p>
          <a:p xmlns:a="http://schemas.openxmlformats.org/drawingml/2006/main">
            <a:r>
              <a:t>Configuración; Resultado; Interpretación.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Andina Seguros. Dos frases de seguros aparecen próximas en la demo de embeddings.</a:t>
            </a:r>
          </a:p>
          <a:p xmlns:a="http://schemas.openxmlformats.org/drawingml/2006/main">
            <a:r>
              <a:t>Observar: La medida indica cercanía en esa representación.</a:t>
            </a:r>
          </a:p>
          <a:p xmlns:a="http://schemas.openxmlformats.org/drawingml/2006/main">
            <a:r>
              <a:t>Interpretar: Puede ayudar a recuperar texto relacionado.</a:t>
            </a:r>
          </a:p>
          <a:p xmlns:a="http://schemas.openxmlformats.org/drawingml/2006/main">
            <a:r>
              <a:t>Limitar: No demuestra que ambas pólizas tengan igual cobertura.</a:t>
            </a:r>
          </a:p>
          <a:p xmlns:a="http://schemas.openxmlformats.org/drawingml/2006/main">
            <a:r>
              <a:t>Resultado: La anotación útil explica tanto el hallazgo como su límite.</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conclusión sería excesiva a partir de una sola ejecución?</a:t>
            </a:r>
          </a:p>
          <a:p xmlns:a="http://schemas.openxmlformats.org/drawingml/2006/main">
            <a:r>
              <a:t>Orientación para el docente: contraste la respuesta con los criterios del desarrollo y pida evidencia. La conclusión debe respetar: Ejecutar una demo es el inicio; explicar lo observado completa la actividad.</a:t>
            </a:r>
          </a:p>
          <a:p xmlns:a="http://schemas.openxmlformats.org/drawingml/2006/main">
            <a:r>
              <a:t/>
            </a:r>
          </a:p>
          <a:p xmlns:a="http://schemas.openxmlformats.org/drawingml/2006/main">
            <a:r>
              <a:t>ERRORES CONCEPTUALES FRECUENTES</a:t>
            </a:r>
          </a:p>
          <a:p xmlns:a="http://schemas.openxmlformats.org/drawingml/2006/main">
            <a:r>
              <a:t>Reportar resultados simulados o estimados como mediciones reales.</a:t>
            </a:r>
          </a:p>
          <a:p xmlns:a="http://schemas.openxmlformats.org/drawingml/2006/main">
            <a:r>
              <a:t/>
            </a:r>
          </a:p>
          <a:p xmlns:a="http://schemas.openxmlformats.org/drawingml/2006/main">
            <a:r>
              <a:t>CONEXIÓN ANTERIOR</a:t>
            </a:r>
          </a:p>
          <a:p xmlns:a="http://schemas.openxmlformats.org/drawingml/2006/main">
            <a:r>
              <a:t>04, 07, 10–12 explican los fenómenos; 16–20 preparan y verifican el entorno. · Capítulo previo: Diagnóstico por capas</a:t>
            </a:r>
          </a:p>
          <a:p xmlns:a="http://schemas.openxmlformats.org/drawingml/2006/main">
            <a:r>
              <a:t/>
            </a:r>
          </a:p>
          <a:p xmlns:a="http://schemas.openxmlformats.org/drawingml/2006/main">
            <a:r>
              <a:t>CONEXIÓN POSTERIOR</a:t>
            </a:r>
          </a:p>
          <a:p xmlns:a="http://schemas.openxmlformats.org/drawingml/2006/main">
            <a:r>
              <a:t>22: autoevaluación. S1 reutiliza las observaciones del comportamiento del modelo. · Sigue: Salida de S0 y siguiente paso</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63 · CAPÍTULO 21 · EJEMPLO</a:t>
            </a:r>
          </a:p>
          <a:p xmlns:a="http://schemas.openxmlformats.org/drawingml/2006/main">
            <a:r>
              <a:t>Título: Andina Seguros · Cuatro demos para observar</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code/README.md</a:t>
            </a:r>
          </a:p>
          <a:p xmlns:a="http://schemas.openxmlformats.org/drawingml/2006/main">
            <a:r>
              <a:t>Fuente principal: https://github.com/javierrosado/ariwalab-course-langchain/blob/27c24090f1662f9473b673d2020e7bffee04490b/00-preparacion/code/README.md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Transformar conceptos en observaciones reproducibles y anotadas.</a:t>
            </a:r>
          </a:p>
          <a:p xmlns:a="http://schemas.openxmlformats.org/drawingml/2006/main">
            <a:r>
              <a:t/>
            </a:r>
          </a:p>
          <a:p xmlns:a="http://schemas.openxmlformats.org/drawingml/2006/main">
            <a:r>
              <a:t>CONCEPTO PRINCIPAL</a:t>
            </a:r>
          </a:p>
          <a:p xmlns:a="http://schemas.openxmlformats.org/drawingml/2006/main">
            <a:r>
              <a:t>Cuatro demos para observar</a:t>
            </a:r>
          </a:p>
          <a:p xmlns:a="http://schemas.openxmlformats.org/drawingml/2006/main">
            <a:r>
              <a:t/>
            </a:r>
          </a:p>
          <a:p xmlns:a="http://schemas.openxmlformats.org/drawingml/2006/main">
            <a:r>
              <a:t>MENSAJE QUE DEBE LLEVARSE EL ALUMNO</a:t>
            </a:r>
          </a:p>
          <a:p xmlns:a="http://schemas.openxmlformats.org/drawingml/2006/main">
            <a:r>
              <a:t>Ejecutar una demo es el inicio; explicar lo observado completa la actividad.</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Dos frases de seguros aparecen próximas en la demo de embeddings. Pida una predicción.</a:t>
            </a:r>
          </a:p>
          <a:p xmlns:a="http://schemas.openxmlformats.org/drawingml/2006/main">
            <a:r>
              <a:t/>
            </a:r>
          </a:p>
          <a:p xmlns:a="http://schemas.openxmlformats.org/drawingml/2006/main">
            <a:r>
              <a:t>Observar: La medida indica cercanía en esa representación.</a:t>
            </a:r>
          </a:p>
          <a:p xmlns:a="http://schemas.openxmlformats.org/drawingml/2006/main">
            <a:r>
              <a:t/>
            </a:r>
          </a:p>
          <a:p xmlns:a="http://schemas.openxmlformats.org/drawingml/2006/main">
            <a:r>
              <a:t>Interpretar: Puede ayudar a recuperar texto relacionado.</a:t>
            </a:r>
          </a:p>
          <a:p xmlns:a="http://schemas.openxmlformats.org/drawingml/2006/main">
            <a:r>
              <a:t/>
            </a:r>
          </a:p>
          <a:p xmlns:a="http://schemas.openxmlformats.org/drawingml/2006/main">
            <a:r>
              <a:t>Limitar: No demuestra que ambas pólizas tengan igual cobertura.</a:t>
            </a:r>
          </a:p>
          <a:p xmlns:a="http://schemas.openxmlformats.org/drawingml/2006/main">
            <a:r>
              <a:t/>
            </a:r>
          </a:p>
          <a:p xmlns:a="http://schemas.openxmlformats.org/drawingml/2006/main">
            <a:r>
              <a:t>Resultado esperado: La anotación útil explica tanto el hallazgo como su límite.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Pida una predicción antes de cada experimento. En tokens, anotar si se usa el tokenizador real o una estimación; la primera descarga requiere red, pero no token de inferencia. En temperatura, comparar nueve respuestas, tres por cada valor. En embeddings, registrar la relación entre coseno y palabras comunes. En costo, recordar que se ejecuta aritmética local sin credenciales ni consumo de inferencia.</a:t>
            </a:r>
          </a:p>
          <a:p xmlns:a="http://schemas.openxmlformats.org/drawingml/2006/main">
            <a:r>
              <a:t/>
            </a:r>
          </a:p>
          <a:p xmlns:a="http://schemas.openxmlformats.org/drawingml/2006/main">
            <a:r>
              <a:t>Los comandos se lanzan desde la raíz del curso: python 00-preparacion/code/&lt;archivo&gt;. La imagen muestra nombres cortos para facilitar lectura; el prefijo completo está en las notas. Si falla una demo remota, registrar el error y volver al diagnóstico. No inventar resultados para completar una tabla. Cierre pidiendo a cada alumno una observación y una limitación de cada experimento; esto prepara una autoevaluación basada en comprensión.</a:t>
            </a:r>
          </a:p>
          <a:p xmlns:a="http://schemas.openxmlformats.org/drawingml/2006/main">
            <a:r>
              <a:t/>
            </a:r>
          </a:p>
          <a:p xmlns:a="http://schemas.openxmlformats.org/drawingml/2006/main">
            <a:r>
              <a:t>ELEMENTOS QUE CONVIENE EXPLICAR</a:t>
            </a:r>
          </a:p>
          <a:p xmlns:a="http://schemas.openxmlformats.org/drawingml/2006/main">
            <a:r>
              <a:t>Observar; Interpretar; Limitar.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Andina Seguros. Dos frases de seguros aparecen próximas en la demo de embeddings.</a:t>
            </a:r>
          </a:p>
          <a:p xmlns:a="http://schemas.openxmlformats.org/drawingml/2006/main">
            <a:r>
              <a:t>Observar: La medida indica cercanía en esa representación.</a:t>
            </a:r>
          </a:p>
          <a:p xmlns:a="http://schemas.openxmlformats.org/drawingml/2006/main">
            <a:r>
              <a:t>Interpretar: Puede ayudar a recuperar texto relacionado.</a:t>
            </a:r>
          </a:p>
          <a:p xmlns:a="http://schemas.openxmlformats.org/drawingml/2006/main">
            <a:r>
              <a:t>Limitar: No demuestra que ambas pólizas tengan igual cobertura.</a:t>
            </a:r>
          </a:p>
          <a:p xmlns:a="http://schemas.openxmlformats.org/drawingml/2006/main">
            <a:r>
              <a:t>Resultado: La anotación útil explica tanto el hallazgo como su límite.</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¿Qué conclusión sería excesiva a partir de una sola ejecución?</a:t>
            </a:r>
          </a:p>
          <a:p xmlns:a="http://schemas.openxmlformats.org/drawingml/2006/main">
            <a:r>
              <a:t>Orientación para el docente: contraste la respuesta con los criterios del desarrollo y pida evidencia. La conclusión debe respetar: Ejecutar una demo es el inicio; explicar lo observado completa la actividad.</a:t>
            </a:r>
          </a:p>
          <a:p xmlns:a="http://schemas.openxmlformats.org/drawingml/2006/main">
            <a:r>
              <a:t/>
            </a:r>
          </a:p>
          <a:p xmlns:a="http://schemas.openxmlformats.org/drawingml/2006/main">
            <a:r>
              <a:t>ERRORES CONCEPTUALES FRECUENTES</a:t>
            </a:r>
          </a:p>
          <a:p xmlns:a="http://schemas.openxmlformats.org/drawingml/2006/main">
            <a:r>
              <a:t>Reportar resultados simulados o estimados como mediciones reales.</a:t>
            </a:r>
          </a:p>
          <a:p xmlns:a="http://schemas.openxmlformats.org/drawingml/2006/main">
            <a:r>
              <a:t/>
            </a:r>
          </a:p>
          <a:p xmlns:a="http://schemas.openxmlformats.org/drawingml/2006/main">
            <a:r>
              <a:t>CONEXIÓN ANTERIOR</a:t>
            </a:r>
          </a:p>
          <a:p xmlns:a="http://schemas.openxmlformats.org/drawingml/2006/main">
            <a:r>
              <a:t>04, 07, 10–12 explican los fenómenos; 16–20 preparan y verifican el entorno. · Capítulo previo: Diagnóstico por capas</a:t>
            </a:r>
          </a:p>
          <a:p xmlns:a="http://schemas.openxmlformats.org/drawingml/2006/main">
            <a:r>
              <a:t/>
            </a:r>
          </a:p>
          <a:p xmlns:a="http://schemas.openxmlformats.org/drawingml/2006/main">
            <a:r>
              <a:t>CONEXIÓN POSTERIOR</a:t>
            </a:r>
          </a:p>
          <a:p xmlns:a="http://schemas.openxmlformats.org/drawingml/2006/main">
            <a:r>
              <a:t>22: autoevaluación. S1 reutiliza las observaciones del comportamiento del modelo. · Sigue: Salida de S0 y siguiente paso</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64 · CAPÍTULO 22 · CONCEPTO</a:t>
            </a:r>
          </a:p>
          <a:p xmlns:a="http://schemas.openxmlformats.org/drawingml/2006/main">
            <a:r>
              <a:t>Título: Salida de S0 y siguiente paso</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Autoevaluación y checklist</a:t>
            </a:r>
          </a:p>
          <a:p xmlns:a="http://schemas.openxmlformats.org/drawingml/2006/main">
            <a:r>
              <a:t>Fuente principal: https://github.com/javierrosado/ariwalab-course-langchain/blob/27c24090f1662f9473b673d2020e7bffee04490b/00-preparacion/autoevaluacion.md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Comprobar comprensión y corregir vacíos antes de construir agentes.</a:t>
            </a:r>
          </a:p>
          <a:p xmlns:a="http://schemas.openxmlformats.org/drawingml/2006/main">
            <a:r>
              <a:t/>
            </a:r>
          </a:p>
          <a:p xmlns:a="http://schemas.openxmlformats.org/drawingml/2006/main">
            <a:r>
              <a:t>CONCEPTO PRINCIPAL</a:t>
            </a:r>
          </a:p>
          <a:p xmlns:a="http://schemas.openxmlformats.org/drawingml/2006/main">
            <a:r>
              <a:t>Salida de S0 y siguiente paso</a:t>
            </a:r>
          </a:p>
          <a:p xmlns:a="http://schemas.openxmlformats.org/drawingml/2006/main">
            <a:r>
              <a:t/>
            </a:r>
          </a:p>
          <a:p xmlns:a="http://schemas.openxmlformats.org/drawingml/2006/main">
            <a:r>
              <a:t>MENSAJE QUE DEBE LLEVARSE EL ALUMNO</a:t>
            </a:r>
          </a:p>
          <a:p xmlns:a="http://schemas.openxmlformats.org/drawingml/2006/main">
            <a:r>
              <a:t>Corregir el razonamiento vale más que memorizar la opción correcta.</a:t>
            </a:r>
          </a:p>
          <a:p xmlns:a="http://schemas.openxmlformats.org/drawingml/2006/main">
            <a:r>
              <a:t/>
            </a:r>
          </a:p>
          <a:p xmlns:a="http://schemas.openxmlformats.org/drawingml/2006/main">
            <a:r>
              <a:t>EXPLICACIÓN SUGERIDA PARA EL DOCENTE</a:t>
            </a:r>
          </a:p>
          <a:p xmlns:a="http://schemas.openxmlformats.org/drawingml/2006/main">
            <a:r>
              <a:t>Abra con la pregunta «¿Cómo explicarías a un compañero por qué un LLM necesita tools?». Escuche una respuesta antes de revelar la conclusión. Explique las tres responsabilidades y pida al grupo que señale cuál aporta la evidencia y cuál solo transforma o presenta información.</a:t>
            </a:r>
          </a:p>
          <a:p xmlns:a="http://schemas.openxmlformats.org/drawingml/2006/main">
            <a:r>
              <a:t/>
            </a:r>
          </a:p>
          <a:p xmlns:a="http://schemas.openxmlformats.org/drawingml/2006/main">
            <a:r>
              <a:t>Autoevaluación: Responder 10 preguntas y alcanzar al menos 8 aciertos.</a:t>
            </a:r>
          </a:p>
          <a:p xmlns:a="http://schemas.openxmlformats.org/drawingml/2006/main">
            <a:r>
              <a:t/>
            </a:r>
          </a:p>
          <a:p xmlns:a="http://schemas.openxmlformats.org/drawingml/2006/main">
            <a:r>
              <a:t>Repaso: Volver al concepto detrás de cada error.</a:t>
            </a:r>
          </a:p>
          <a:p xmlns:a="http://schemas.openxmlformats.org/drawingml/2006/main">
            <a:r>
              <a:t/>
            </a:r>
          </a:p>
          <a:p xmlns:a="http://schemas.openxmlformats.org/drawingml/2006/main">
            <a:r>
              <a:t>Transferencia: Llegar a S1 pudiendo distinguir generar, consultar y validar.</a:t>
            </a:r>
          </a:p>
          <a:p xmlns:a="http://schemas.openxmlformats.org/drawingml/2006/main">
            <a:r>
              <a:t/>
            </a:r>
          </a:p>
          <a:p xmlns:a="http://schemas.openxmlformats.org/drawingml/2006/main">
            <a:r>
              <a:t>Cierre con la distinción: Corregir el razonamiento vale más que memorizar la opción correcta.</a:t>
            </a:r>
          </a:p>
          <a:p xmlns:a="http://schemas.openxmlformats.org/drawingml/2006/main">
            <a:r>
              <a:t/>
            </a:r>
          </a:p>
          <a:p xmlns:a="http://schemas.openxmlformats.org/drawingml/2006/main">
            <a:r>
              <a:t>AMPLIACIÓN DEL MATERIAL APROBADO</a:t>
            </a:r>
          </a:p>
          <a:p xmlns:a="http://schemas.openxmlformats.org/drawingml/2006/main">
            <a:r>
              <a:t>Pida realizar la autoevaluación sin consultar el material y reservar 30 minutos. Después se usa la autocorrección que ya existe en el repositorio. Recorra los umbrales: diez significa listo; ocho o nueve, aprobado con repaso; seis o siete, volver a fundamentos y demos; menos de seis, rehacer S0 y pedir apoyo.</a:t>
            </a:r>
          </a:p>
          <a:p xmlns:a="http://schemas.openxmlformats.org/drawingml/2006/main">
            <a:r>
              <a:t/>
            </a:r>
          </a:p>
          <a:p xmlns:a="http://schemas.openxmlformats.org/drawingml/2006/main">
            <a:r>
              <a:t>La columna izquierda verifica el entorno independientemente del puntaje. Tener ocho aciertos no configura HF_TOKEN, y un check_stack verde no prueba comprender alucinaciones o memoria. Solicite elegir una industria de interés; la formalización se realiza en L1 y el docente balancea tracks. No revele aquí las respuestas del examen. Como observación docente, el enunciado ocho conserva una referencia a modelos de 7B, mientras el modelo vigente del curso es Qwen3-32B: explique el principio de docstrings claras sin enseñar 7B como configuración actual.</a:t>
            </a:r>
          </a:p>
          <a:p xmlns:a="http://schemas.openxmlformats.org/drawingml/2006/main">
            <a:r>
              <a:t/>
            </a:r>
          </a:p>
          <a:p xmlns:a="http://schemas.openxmlformats.org/drawingml/2006/main">
            <a:r>
              <a:t>ELEMENTOS QUE CONVIENE EXPLICAR</a:t>
            </a:r>
          </a:p>
          <a:p xmlns:a="http://schemas.openxmlformats.org/drawingml/2006/main">
            <a:r>
              <a:t>Autoevaluación; Repaso; Transferencia.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Un alumno afirma que temperatura cero elimina las alucinaciones.</a:t>
            </a:r>
          </a:p>
          <a:p xmlns:a="http://schemas.openxmlformats.org/drawingml/2006/main">
            <a:r>
              <a:t>Detectar: Confunde repetibilidad con verdad.</a:t>
            </a:r>
          </a:p>
          <a:p xmlns:a="http://schemas.openxmlformats.org/drawingml/2006/main">
            <a:r>
              <a:t>Revisar: Contrasta variación y verificación de fuentes.</a:t>
            </a:r>
          </a:p>
          <a:p xmlns:a="http://schemas.openxmlformats.org/drawingml/2006/main">
            <a:r>
              <a:t>Reformular: Una salida estable todavía necesita respaldo factual.</a:t>
            </a:r>
          </a:p>
          <a:p xmlns:a="http://schemas.openxmlformats.org/drawingml/2006/main">
            <a:r>
              <a:t>Resultado: La preparación termina cuando puedes explicar el límite con un ejemplo propio.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¿Cómo explicarías a un compañero por qué un LLM necesita tools?</a:t>
            </a:r>
          </a:p>
          <a:p xmlns:a="http://schemas.openxmlformats.org/drawingml/2006/main">
            <a:r>
              <a:t>Orientación para el docente: contraste la respuesta con los criterios del desarrollo y pida evidencia. La conclusión debe respetar: Corregir el razonamiento vale más que memorizar la opción correcta.</a:t>
            </a:r>
          </a:p>
          <a:p xmlns:a="http://schemas.openxmlformats.org/drawingml/2006/main">
            <a:r>
              <a:t/>
            </a:r>
          </a:p>
          <a:p xmlns:a="http://schemas.openxmlformats.org/drawingml/2006/main">
            <a:r>
              <a:t>ERRORES CONCEPTUALES FRECUENTES</a:t>
            </a:r>
          </a:p>
          <a:p xmlns:a="http://schemas.openxmlformats.org/drawingml/2006/main">
            <a:r>
              <a:t>Aprobar por memoria sin poder transferir el concepto.</a:t>
            </a:r>
          </a:p>
          <a:p xmlns:a="http://schemas.openxmlformats.org/drawingml/2006/main">
            <a:r>
              <a:t/>
            </a:r>
          </a:p>
          <a:p xmlns:a="http://schemas.openxmlformats.org/drawingml/2006/main">
            <a:r>
              <a:t>CONEXIÓN ANTERIOR</a:t>
            </a:r>
          </a:p>
          <a:p xmlns:a="http://schemas.openxmlformats.org/drawingml/2006/main">
            <a:r>
              <a:t>21: evidencia de demos y todos los conceptos de S0. · Capítulo previo: Cuatro demos para observar</a:t>
            </a:r>
          </a:p>
          <a:p xmlns:a="http://schemas.openxmlformats.org/drawingml/2006/main">
            <a:r>
              <a:t/>
            </a:r>
          </a:p>
          <a:p xmlns:a="http://schemas.openxmlformats.org/drawingml/2006/main">
            <a:r>
              <a:t>CONEXIÓN POSTERIOR</a:t>
            </a:r>
          </a:p>
          <a:p xmlns:a="http://schemas.openxmlformats.org/drawingml/2006/main">
            <a:r>
              <a:t>S1: fundamentos del agente, workflow vs agente, provider y primer laboratorio por track..</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65 · CAPÍTULO 22 · DESARROLLO</a:t>
            </a:r>
          </a:p>
          <a:p xmlns:a="http://schemas.openxmlformats.org/drawingml/2006/main">
            <a:r>
              <a:t>Título: Convertir un error en aprendizaje</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Autoevaluación y checklist</a:t>
            </a:r>
          </a:p>
          <a:p xmlns:a="http://schemas.openxmlformats.org/drawingml/2006/main">
            <a:r>
              <a:t>Fuente principal: https://github.com/javierrosado/ariwalab-course-langchain/blob/27c24090f1662f9473b673d2020e7bffee04490b/00-preparacion/autoevaluacion.md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Comprobar comprensión y corregir vacíos antes de construir agentes.</a:t>
            </a:r>
          </a:p>
          <a:p xmlns:a="http://schemas.openxmlformats.org/drawingml/2006/main">
            <a:r>
              <a:t/>
            </a:r>
          </a:p>
          <a:p xmlns:a="http://schemas.openxmlformats.org/drawingml/2006/main">
            <a:r>
              <a:t>CONCEPTO PRINCIPAL</a:t>
            </a:r>
          </a:p>
          <a:p xmlns:a="http://schemas.openxmlformats.org/drawingml/2006/main">
            <a:r>
              <a:t>Salida de S0 y siguiente paso</a:t>
            </a:r>
          </a:p>
          <a:p xmlns:a="http://schemas.openxmlformats.org/drawingml/2006/main">
            <a:r>
              <a:t/>
            </a:r>
          </a:p>
          <a:p xmlns:a="http://schemas.openxmlformats.org/drawingml/2006/main">
            <a:r>
              <a:t>MENSAJE QUE DEBE LLEVARSE EL ALUMNO</a:t>
            </a:r>
          </a:p>
          <a:p xmlns:a="http://schemas.openxmlformats.org/drawingml/2006/main">
            <a:r>
              <a:t>Corregir el razonamiento vale más que memorizar la opción correcta.</a:t>
            </a:r>
          </a:p>
          <a:p xmlns:a="http://schemas.openxmlformats.org/drawingml/2006/main">
            <a:r>
              <a:t/>
            </a:r>
          </a:p>
          <a:p xmlns:a="http://schemas.openxmlformats.org/drawingml/2006/main">
            <a:r>
              <a:t>EXPLICACIÓN SUGERIDA PARA EL DOCENTE</a:t>
            </a:r>
          </a:p>
          <a:p xmlns:a="http://schemas.openxmlformats.org/drawingml/2006/main">
            <a:r>
              <a:t>Recupere la idea de la diapositiva anterior y aplíquela a estas comprobaciones. Recorra cada fila y pregunte qué evidencia necesitarían para darla por cumplida.</a:t>
            </a:r>
          </a:p>
          <a:p xmlns:a="http://schemas.openxmlformats.org/drawingml/2006/main">
            <a:r>
              <a:t/>
            </a:r>
          </a:p>
          <a:p xmlns:a="http://schemas.openxmlformats.org/drawingml/2006/main">
            <a:r>
              <a:t>Identificar: Anotar qué supuesto llevó a la respuesta incorrecta.</a:t>
            </a:r>
          </a:p>
          <a:p xmlns:a="http://schemas.openxmlformats.org/drawingml/2006/main">
            <a:r>
              <a:t/>
            </a:r>
          </a:p>
          <a:p xmlns:a="http://schemas.openxmlformats.org/drawingml/2006/main">
            <a:r>
              <a:t>Comprobar: Revisar el capítulo y la demo relacionados.</a:t>
            </a:r>
          </a:p>
          <a:p xmlns:a="http://schemas.openxmlformats.org/drawingml/2006/main">
            <a:r>
              <a:t/>
            </a:r>
          </a:p>
          <a:p xmlns:a="http://schemas.openxmlformats.org/drawingml/2006/main">
            <a:r>
              <a:t>Explicar: Dar un ejemplo nuevo que muestre la distinción.</a:t>
            </a:r>
          </a:p>
          <a:p xmlns:a="http://schemas.openxmlformats.org/drawingml/2006/main">
            <a:r>
              <a:t/>
            </a:r>
          </a:p>
          <a:p xmlns:a="http://schemas.openxmlformats.org/drawingml/2006/main">
            <a:r>
              <a:t>Contraste la regla con este error: Aprobar por memoria sin poder transferir el concepto. Pida que expliquen la consecuencia concreta en su propio track.</a:t>
            </a:r>
          </a:p>
          <a:p xmlns:a="http://schemas.openxmlformats.org/drawingml/2006/main">
            <a:r>
              <a:t/>
            </a:r>
          </a:p>
          <a:p xmlns:a="http://schemas.openxmlformats.org/drawingml/2006/main">
            <a:r>
              <a:t>AMPLIACIÓN DEL MATERIAL APROBADO</a:t>
            </a:r>
          </a:p>
          <a:p xmlns:a="http://schemas.openxmlformats.org/drawingml/2006/main">
            <a:r>
              <a:t>Pida realizar la autoevaluación sin consultar el material y reservar 30 minutos. Después se usa la autocorrección que ya existe en el repositorio. Recorra los umbrales: diez significa listo; ocho o nueve, aprobado con repaso; seis o siete, volver a fundamentos y demos; menos de seis, rehacer S0 y pedir apoyo.</a:t>
            </a:r>
          </a:p>
          <a:p xmlns:a="http://schemas.openxmlformats.org/drawingml/2006/main">
            <a:r>
              <a:t/>
            </a:r>
          </a:p>
          <a:p xmlns:a="http://schemas.openxmlformats.org/drawingml/2006/main">
            <a:r>
              <a:t>La columna izquierda verifica el entorno independientemente del puntaje. Tener ocho aciertos no configura HF_TOKEN, y un check_stack verde no prueba comprender alucinaciones o memoria. Solicite elegir una industria de interés; la formalización se realiza en L1 y el docente balancea tracks. No revele aquí las respuestas del examen. Como observación docente, el enunciado ocho conserva una referencia a modelos de 7B, mientras el modelo vigente del curso es Qwen3-32B: explique el principio de docstrings claras sin enseñar 7B como configuración actual.</a:t>
            </a:r>
          </a:p>
          <a:p xmlns:a="http://schemas.openxmlformats.org/drawingml/2006/main">
            <a:r>
              <a:t/>
            </a:r>
          </a:p>
          <a:p xmlns:a="http://schemas.openxmlformats.org/drawingml/2006/main">
            <a:r>
              <a:t>ELEMENTOS QUE CONVIENE EXPLICAR</a:t>
            </a:r>
          </a:p>
          <a:p xmlns:a="http://schemas.openxmlformats.org/drawingml/2006/main">
            <a:r>
              <a:t>Identificar; Comprobar; Explicar.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Un alumno afirma que temperatura cero elimina las alucinaciones.</a:t>
            </a:r>
          </a:p>
          <a:p xmlns:a="http://schemas.openxmlformats.org/drawingml/2006/main">
            <a:r>
              <a:t>Detectar: Confunde repetibilidad con verdad.</a:t>
            </a:r>
          </a:p>
          <a:p xmlns:a="http://schemas.openxmlformats.org/drawingml/2006/main">
            <a:r>
              <a:t>Revisar: Contrasta variación y verificación de fuentes.</a:t>
            </a:r>
          </a:p>
          <a:p xmlns:a="http://schemas.openxmlformats.org/drawingml/2006/main">
            <a:r>
              <a:t>Reformular: Una salida estable todavía necesita respaldo factual.</a:t>
            </a:r>
          </a:p>
          <a:p xmlns:a="http://schemas.openxmlformats.org/drawingml/2006/main">
            <a:r>
              <a:t>Resultado: La preparación termina cuando puedes explicar el límite con un ejemplo propio.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¿Cómo explicarías a un compañero por qué un LLM necesita tools?</a:t>
            </a:r>
          </a:p>
          <a:p xmlns:a="http://schemas.openxmlformats.org/drawingml/2006/main">
            <a:r>
              <a:t>Orientación para el docente: contraste la respuesta con los criterios del desarrollo y pida evidencia. La conclusión debe respetar: Corregir el razonamiento vale más que memorizar la opción correcta.</a:t>
            </a:r>
          </a:p>
          <a:p xmlns:a="http://schemas.openxmlformats.org/drawingml/2006/main">
            <a:r>
              <a:t/>
            </a:r>
          </a:p>
          <a:p xmlns:a="http://schemas.openxmlformats.org/drawingml/2006/main">
            <a:r>
              <a:t>ERRORES CONCEPTUALES FRECUENTES</a:t>
            </a:r>
          </a:p>
          <a:p xmlns:a="http://schemas.openxmlformats.org/drawingml/2006/main">
            <a:r>
              <a:t>Aprobar por memoria sin poder transferir el concepto.</a:t>
            </a:r>
          </a:p>
          <a:p xmlns:a="http://schemas.openxmlformats.org/drawingml/2006/main">
            <a:r>
              <a:t/>
            </a:r>
          </a:p>
          <a:p xmlns:a="http://schemas.openxmlformats.org/drawingml/2006/main">
            <a:r>
              <a:t>CONEXIÓN ANTERIOR</a:t>
            </a:r>
          </a:p>
          <a:p xmlns:a="http://schemas.openxmlformats.org/drawingml/2006/main">
            <a:r>
              <a:t>21: evidencia de demos y todos los conceptos de S0. · Capítulo previo: Cuatro demos para observar</a:t>
            </a:r>
          </a:p>
          <a:p xmlns:a="http://schemas.openxmlformats.org/drawingml/2006/main">
            <a:r>
              <a:t/>
            </a:r>
          </a:p>
          <a:p xmlns:a="http://schemas.openxmlformats.org/drawingml/2006/main">
            <a:r>
              <a:t>CONEXIÓN POSTERIOR</a:t>
            </a:r>
          </a:p>
          <a:p xmlns:a="http://schemas.openxmlformats.org/drawingml/2006/main">
            <a:r>
              <a:t>S1: fundamentos del agente, workflow vs agente, provider y primer laboratorio por track..</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2–4 minutos según conocimientos previos;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DIAPOSITIVA 66 · CAPÍTULO 22 · EJEMPLO</a:t>
            </a:r>
          </a:p>
          <a:p xmlns:a="http://schemas.openxmlformats.org/drawingml/2006/main">
            <a:r>
              <a:t>Título: Banco Inti · Salida de S0 y siguiente paso</a:t>
            </a:r>
          </a:p>
          <a:p xmlns:a="http://schemas.openxmlformats.org/drawingml/2006/main">
            <a:r>
              <a:t>Sesión: Preparación: modelos de lenguaje</a:t>
            </a:r>
          </a:p>
          <a:p xmlns:a="http://schemas.openxmlformats.org/drawingml/2006/main">
            <a:r>
              <a:t>Archivo: 00-preparacion-editable-v2.pptx</a:t>
            </a:r>
          </a:p>
          <a:p xmlns:a="http://schemas.openxmlformats.org/drawingml/2006/main">
            <a:r>
              <a:t>Sección que soporta: Autoevaluación y checklist</a:t>
            </a:r>
          </a:p>
          <a:p xmlns:a="http://schemas.openxmlformats.org/drawingml/2006/main">
            <a:r>
              <a:t>Fuente principal: https://github.com/javierrosado/ariwalab-course-langchain/blob/27c24090f1662f9473b673d2020e7bffee04490b/00-preparacion/autoevaluacion.md</a:t>
            </a:r>
          </a:p>
          <a:p xmlns:a="http://schemas.openxmlformats.org/drawingml/2006/main">
            <a:r>
              <a:t>Contexto adicional: laboratorios, demos y soluciones de 00-preparacion; módulos comunes del repositorio.</a:t>
            </a:r>
          </a:p>
          <a:p xmlns:a="http://schemas.openxmlformats.org/drawingml/2006/main">
            <a:r>
              <a:t>Revisión de fuente: 27c24090f1662f9473b673d2020e7bffee04490b</a:t>
            </a:r>
          </a:p>
          <a:p xmlns:a="http://schemas.openxmlformats.org/drawingml/2006/main">
            <a:r>
              <a:t/>
            </a:r>
          </a:p>
          <a:p xmlns:a="http://schemas.openxmlformats.org/drawingml/2006/main">
            <a:r>
              <a:t>OBJETIVO PEDAGÓGICO</a:t>
            </a:r>
          </a:p>
          <a:p xmlns:a="http://schemas.openxmlformats.org/drawingml/2006/main">
            <a:r>
              <a:t>Comprobar comprensión y corregir vacíos antes de construir agentes.</a:t>
            </a:r>
          </a:p>
          <a:p xmlns:a="http://schemas.openxmlformats.org/drawingml/2006/main">
            <a:r>
              <a:t/>
            </a:r>
          </a:p>
          <a:p xmlns:a="http://schemas.openxmlformats.org/drawingml/2006/main">
            <a:r>
              <a:t>CONCEPTO PRINCIPAL</a:t>
            </a:r>
          </a:p>
          <a:p xmlns:a="http://schemas.openxmlformats.org/drawingml/2006/main">
            <a:r>
              <a:t>Salida de S0 y siguiente paso</a:t>
            </a:r>
          </a:p>
          <a:p xmlns:a="http://schemas.openxmlformats.org/drawingml/2006/main">
            <a:r>
              <a:t/>
            </a:r>
          </a:p>
          <a:p xmlns:a="http://schemas.openxmlformats.org/drawingml/2006/main">
            <a:r>
              <a:t>MENSAJE QUE DEBE LLEVARSE EL ALUMNO</a:t>
            </a:r>
          </a:p>
          <a:p xmlns:a="http://schemas.openxmlformats.org/drawingml/2006/main">
            <a:r>
              <a:t>Corregir el razonamiento vale más que memorizar la opción correcta.</a:t>
            </a:r>
          </a:p>
          <a:p xmlns:a="http://schemas.openxmlformats.org/drawingml/2006/main">
            <a:r>
              <a:t/>
            </a:r>
          </a:p>
          <a:p xmlns:a="http://schemas.openxmlformats.org/drawingml/2006/main">
            <a:r>
              <a:t>EXPLICACIÓN SUGERIDA PARA EL DOCENTE</a:t>
            </a:r>
          </a:p>
          <a:p xmlns:a="http://schemas.openxmlformats.org/drawingml/2006/main">
            <a:r>
              <a:t>Plantee el caso antes de mostrar los pasos: Un alumno afirma que temperatura cero elimina las alucinaciones. Pida una predicción.</a:t>
            </a:r>
          </a:p>
          <a:p xmlns:a="http://schemas.openxmlformats.org/drawingml/2006/main">
            <a:r>
              <a:t/>
            </a:r>
          </a:p>
          <a:p xmlns:a="http://schemas.openxmlformats.org/drawingml/2006/main">
            <a:r>
              <a:t>Detectar: Confunde repetibilidad con verdad.</a:t>
            </a:r>
          </a:p>
          <a:p xmlns:a="http://schemas.openxmlformats.org/drawingml/2006/main">
            <a:r>
              <a:t/>
            </a:r>
          </a:p>
          <a:p xmlns:a="http://schemas.openxmlformats.org/drawingml/2006/main">
            <a:r>
              <a:t>Revisar: Contrasta variación y verificación de fuentes.</a:t>
            </a:r>
          </a:p>
          <a:p xmlns:a="http://schemas.openxmlformats.org/drawingml/2006/main">
            <a:r>
              <a:t/>
            </a:r>
          </a:p>
          <a:p xmlns:a="http://schemas.openxmlformats.org/drawingml/2006/main">
            <a:r>
              <a:t>Reformular: Una salida estable todavía necesita respaldo factual.</a:t>
            </a:r>
          </a:p>
          <a:p xmlns:a="http://schemas.openxmlformats.org/drawingml/2006/main">
            <a:r>
              <a:t/>
            </a:r>
          </a:p>
          <a:p xmlns:a="http://schemas.openxmlformats.org/drawingml/2006/main">
            <a:r>
              <a:t>Resultado esperado: La preparación termina cuando puedes explicar el límite con un ejemplo propio. Discuta qué parte se observó, qué parte debe comprobarse y qué conclusión sería excesiva. No presente este caso didáctico como una ejecución real medida. Proponga cambiar un dato de entrada y preguntar si se mantiene el razonamiento.</a:t>
            </a:r>
          </a:p>
          <a:p xmlns:a="http://schemas.openxmlformats.org/drawingml/2006/main">
            <a:r>
              <a:t/>
            </a:r>
          </a:p>
          <a:p xmlns:a="http://schemas.openxmlformats.org/drawingml/2006/main">
            <a:r>
              <a:t>AMPLIACIÓN DEL MATERIAL APROBADO</a:t>
            </a:r>
          </a:p>
          <a:p xmlns:a="http://schemas.openxmlformats.org/drawingml/2006/main">
            <a:r>
              <a:t>Pida realizar la autoevaluación sin consultar el material y reservar 30 minutos. Después se usa la autocorrección que ya existe en el repositorio. Recorra los umbrales: diez significa listo; ocho o nueve, aprobado con repaso; seis o siete, volver a fundamentos y demos; menos de seis, rehacer S0 y pedir apoyo.</a:t>
            </a:r>
          </a:p>
          <a:p xmlns:a="http://schemas.openxmlformats.org/drawingml/2006/main">
            <a:r>
              <a:t/>
            </a:r>
          </a:p>
          <a:p xmlns:a="http://schemas.openxmlformats.org/drawingml/2006/main">
            <a:r>
              <a:t>La columna izquierda verifica el entorno independientemente del puntaje. Tener ocho aciertos no configura HF_TOKEN, y un check_stack verde no prueba comprender alucinaciones o memoria. Solicite elegir una industria de interés; la formalización se realiza en L1 y el docente balancea tracks. No revele aquí las respuestas del examen. Como observación docente, el enunciado ocho conserva una referencia a modelos de 7B, mientras el modelo vigente del curso es Qwen3-32B: explique el principio de docstrings claras sin enseñar 7B como configuración actual.</a:t>
            </a:r>
          </a:p>
          <a:p xmlns:a="http://schemas.openxmlformats.org/drawingml/2006/main">
            <a:r>
              <a:t/>
            </a:r>
          </a:p>
          <a:p xmlns:a="http://schemas.openxmlformats.org/drawingml/2006/main">
            <a:r>
              <a:t>ELEMENTOS QUE CONVIENE EXPLICAR</a:t>
            </a:r>
          </a:p>
          <a:p xmlns:a="http://schemas.openxmlformats.org/drawingml/2006/main">
            <a:r>
              <a:t>Detectar; Revisar; Reformular. Las flechas indican progresión o relación según el rótulo; las comparaciones no implican una secuencia de ejecución.</a:t>
            </a:r>
          </a:p>
          <a:p xmlns:a="http://schemas.openxmlformats.org/drawingml/2006/main">
            <a:r>
              <a:t/>
            </a:r>
          </a:p>
          <a:p xmlns:a="http://schemas.openxmlformats.org/drawingml/2006/main">
            <a:r>
              <a:t>EJEMPLO PRÁCTICO / APLICACIÓN A INDUSTRIA</a:t>
            </a:r>
          </a:p>
          <a:p xmlns:a="http://schemas.openxmlformats.org/drawingml/2006/main">
            <a:r>
              <a:t>Banco Inti. Un alumno afirma que temperatura cero elimina las alucinaciones.</a:t>
            </a:r>
          </a:p>
          <a:p xmlns:a="http://schemas.openxmlformats.org/drawingml/2006/main">
            <a:r>
              <a:t>Detectar: Confunde repetibilidad con verdad.</a:t>
            </a:r>
          </a:p>
          <a:p xmlns:a="http://schemas.openxmlformats.org/drawingml/2006/main">
            <a:r>
              <a:t>Revisar: Contrasta variación y verificación de fuentes.</a:t>
            </a:r>
          </a:p>
          <a:p xmlns:a="http://schemas.openxmlformats.org/drawingml/2006/main">
            <a:r>
              <a:t>Reformular: Una salida estable todavía necesita respaldo factual.</a:t>
            </a:r>
          </a:p>
          <a:p xmlns:a="http://schemas.openxmlformats.org/drawingml/2006/main">
            <a:r>
              <a:t>Resultado: La preparación termina cuando puedes explicar el límite con un ejemplo propio.</a:t>
            </a:r>
          </a:p>
          <a:p xmlns:a="http://schemas.openxmlformats.org/drawingml/2006/main">
            <a:r>
              <a:t>Los casos y datos son didácticos o sintéticos. Las cifras copiadas de una demostración se identifican como tales; no son mediciones producidas al construir la presentación.</a:t>
            </a:r>
          </a:p>
          <a:p xmlns:a="http://schemas.openxmlformats.org/drawingml/2006/main">
            <a:r>
              <a:t/>
            </a:r>
          </a:p>
          <a:p xmlns:a="http://schemas.openxmlformats.org/drawingml/2006/main">
            <a:r>
              <a:t>PREGUNTA SUGERIDA</a:t>
            </a:r>
          </a:p>
          <a:p xmlns:a="http://schemas.openxmlformats.org/drawingml/2006/main">
            <a:r>
              <a:t>¿Cómo explicarías a un compañero por qué un LLM necesita tools?</a:t>
            </a:r>
          </a:p>
          <a:p xmlns:a="http://schemas.openxmlformats.org/drawingml/2006/main">
            <a:r>
              <a:t>Orientación para el docente: contraste la respuesta con los criterios del desarrollo y pida evidencia. La conclusión debe respetar: Corregir el razonamiento vale más que memorizar la opción correcta.</a:t>
            </a:r>
          </a:p>
          <a:p xmlns:a="http://schemas.openxmlformats.org/drawingml/2006/main">
            <a:r>
              <a:t/>
            </a:r>
          </a:p>
          <a:p xmlns:a="http://schemas.openxmlformats.org/drawingml/2006/main">
            <a:r>
              <a:t>ERRORES CONCEPTUALES FRECUENTES</a:t>
            </a:r>
          </a:p>
          <a:p xmlns:a="http://schemas.openxmlformats.org/drawingml/2006/main">
            <a:r>
              <a:t>Aprobar por memoria sin poder transferir el concepto.</a:t>
            </a:r>
          </a:p>
          <a:p xmlns:a="http://schemas.openxmlformats.org/drawingml/2006/main">
            <a:r>
              <a:t/>
            </a:r>
          </a:p>
          <a:p xmlns:a="http://schemas.openxmlformats.org/drawingml/2006/main">
            <a:r>
              <a:t>CONEXIÓN ANTERIOR</a:t>
            </a:r>
          </a:p>
          <a:p xmlns:a="http://schemas.openxmlformats.org/drawingml/2006/main">
            <a:r>
              <a:t>21: evidencia de demos y todos los conceptos de S0. · Capítulo previo: Cuatro demos para observar</a:t>
            </a:r>
          </a:p>
          <a:p xmlns:a="http://schemas.openxmlformats.org/drawingml/2006/main">
            <a:r>
              <a:t/>
            </a:r>
          </a:p>
          <a:p xmlns:a="http://schemas.openxmlformats.org/drawingml/2006/main">
            <a:r>
              <a:t>CONEXIÓN POSTERIOR</a:t>
            </a:r>
          </a:p>
          <a:p xmlns:a="http://schemas.openxmlformats.org/drawingml/2006/main">
            <a:r>
              <a:t>S1: fundamentos del agente, workflow vs agente, provider y primer laboratorio por track..</a:t>
            </a:r>
          </a:p>
          <a:p xmlns:a="http://schemas.openxmlformats.org/drawingml/2006/main">
            <a:r>
              <a:t/>
            </a:r>
          </a:p>
          <a:p xmlns:a="http://schemas.openxmlformats.org/drawingml/2006/main">
            <a:r>
              <a:t>NOTAS PARA EDITAR Y PRESENTAR</a:t>
            </a:r>
          </a:p>
          <a:p xmlns:a="http://schemas.openxmlformats.org/drawingml/2006/main">
            <a:r>
              <a:t>Textos, contenedores, tablas y conectores son objetos nativos editables. Formato 16:9. El bloque de tres láminas puede revelarse progresivamente. Duración sugerida: 3–5 minutos con discusión; el conjunto es un banco docente y no prescribe ampliar las horas del curso. Mantenga visibles los límites y no convierta ejemplos en resultados medidos. Fuente tipográfica: DejaVu Sans; si PowerPoint la sustituye, revise los saltos de línea.</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08e294321b0461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e2d9619c9b34689" /><Relationship Type="http://schemas.openxmlformats.org/officeDocument/2006/relationships/slideLayout" Target="/ppt/slideLayouts/slideLayout1.xml" Id="R65c96bab79314b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c96bab79314b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fd64f94ec2847a0" /><Relationship Type="http://schemas.openxmlformats.org/officeDocument/2006/relationships/notesSlide" Target="/ppt/notesSlides/notesSlide1.xml" Id="R16414008fc2d402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ba5de47cb604fed" /><Relationship Type="http://schemas.openxmlformats.org/officeDocument/2006/relationships/notesSlide" Target="/ppt/notesSlides/notesSlide2.xml" Id="R7de137afe79d484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bda99440f144939" /><Relationship Type="http://schemas.openxmlformats.org/officeDocument/2006/relationships/notesSlide" Target="/ppt/notesSlides/notesSlide3.xml" Id="R59be9780eb594c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4d49f1c1e10463a" /><Relationship Type="http://schemas.openxmlformats.org/officeDocument/2006/relationships/notesSlide" Target="/ppt/notesSlides/notesSlide4.xml" Id="Rc8aeac57af904c3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2cd8077487e4f47" /><Relationship Type="http://schemas.openxmlformats.org/officeDocument/2006/relationships/notesSlide" Target="/ppt/notesSlides/notesSlide5.xml" Id="R76e8f04ac84344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d29411523494cf8" /><Relationship Type="http://schemas.openxmlformats.org/officeDocument/2006/relationships/notesSlide" Target="/ppt/notesSlides/notesSlide6.xml" Id="R8f8f4eca92cc4be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972e22ce9e8485c" /><Relationship Type="http://schemas.openxmlformats.org/officeDocument/2006/relationships/notesSlide" Target="/ppt/notesSlides/notesSlide7.xml" Id="Ra316652cd7ff41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775ee53de0e4af8" /><Relationship Type="http://schemas.openxmlformats.org/officeDocument/2006/relationships/notesSlide" Target="/ppt/notesSlides/notesSlide8.xml" Id="R188137c9f4bb4b4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5407c964f3b4cf5" /><Relationship Type="http://schemas.openxmlformats.org/officeDocument/2006/relationships/notesSlide" Target="/ppt/notesSlides/notesSlide9.xml" Id="Ra78b21262f3548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cf483088626646b4" /><Relationship Type="http://schemas.openxmlformats.org/officeDocument/2006/relationships/notesSlide" Target="/ppt/notesSlides/notesSlide10.xml" Id="R6bcd1d00862744e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0021899dc1c34347" /><Relationship Type="http://schemas.openxmlformats.org/officeDocument/2006/relationships/notesSlide" Target="/ppt/notesSlides/notesSlide11.xml" Id="Rc3ee8820407b42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c4e5d16a634466b" /><Relationship Type="http://schemas.openxmlformats.org/officeDocument/2006/relationships/notesSlide" Target="/ppt/notesSlides/notesSlide12.xml" Id="Rb90c7f0bd5e644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258c5f223b3845b3" /><Relationship Type="http://schemas.openxmlformats.org/officeDocument/2006/relationships/notesSlide" Target="/ppt/notesSlides/notesSlide13.xml" Id="Rda1a2fee8ae845e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85b30ac5d16456d" /><Relationship Type="http://schemas.openxmlformats.org/officeDocument/2006/relationships/notesSlide" Target="/ppt/notesSlides/notesSlide14.xml" Id="R96339f447c22446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e36232b1ee2448d" /><Relationship Type="http://schemas.openxmlformats.org/officeDocument/2006/relationships/notesSlide" Target="/ppt/notesSlides/notesSlide15.xml" Id="R8609df37e36a4e9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6bd2401254bb4ba5" /><Relationship Type="http://schemas.openxmlformats.org/officeDocument/2006/relationships/notesSlide" Target="/ppt/notesSlides/notesSlide16.xml" Id="R4f182ab096a64bb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c005b5d10bf4a3c" /><Relationship Type="http://schemas.openxmlformats.org/officeDocument/2006/relationships/notesSlide" Target="/ppt/notesSlides/notesSlide17.xml" Id="Rcb827a0c5145425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39ab35a27f44606" /><Relationship Type="http://schemas.openxmlformats.org/officeDocument/2006/relationships/notesSlide" Target="/ppt/notesSlides/notesSlide18.xml" Id="R3b6cb00af0d84b6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71bbb2772ce94d20" /><Relationship Type="http://schemas.openxmlformats.org/officeDocument/2006/relationships/notesSlide" Target="/ppt/notesSlides/notesSlide19.xml" Id="Rc5ded38e9d354db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eb4a5aef4854611" /><Relationship Type="http://schemas.openxmlformats.org/officeDocument/2006/relationships/notesSlide" Target="/ppt/notesSlides/notesSlide20.xml" Id="Rd435e5b70ba5463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11afa8fcb97414a" /><Relationship Type="http://schemas.openxmlformats.org/officeDocument/2006/relationships/notesSlide" Target="/ppt/notesSlides/notesSlide21.xml" Id="R707e5a7614ff4c6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1785f1a7737476c" /><Relationship Type="http://schemas.openxmlformats.org/officeDocument/2006/relationships/notesSlide" Target="/ppt/notesSlides/notesSlide22.xml" Id="Raeb9f45264024b4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bf409e62d6e145a8" /><Relationship Type="http://schemas.openxmlformats.org/officeDocument/2006/relationships/notesSlide" Target="/ppt/notesSlides/notesSlide23.xml" Id="Rc3933e775c4a40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452f57d82874667" /><Relationship Type="http://schemas.openxmlformats.org/officeDocument/2006/relationships/notesSlide" Target="/ppt/notesSlides/notesSlide24.xml" Id="R7ce53d13617f41cf"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2d1c41e23eca4aac" /><Relationship Type="http://schemas.openxmlformats.org/officeDocument/2006/relationships/notesSlide" Target="/ppt/notesSlides/notesSlide25.xml" Id="R480e839b9fba4ad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90853ebce7a14d45" /><Relationship Type="http://schemas.openxmlformats.org/officeDocument/2006/relationships/notesSlide" Target="/ppt/notesSlides/notesSlide26.xml" Id="Rc8ae27fb9712474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1b0b79f5dc14b19" /><Relationship Type="http://schemas.openxmlformats.org/officeDocument/2006/relationships/notesSlide" Target="/ppt/notesSlides/notesSlide27.xml" Id="Rebd0c9d9a4b64e2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7d75d7ed8404185" /><Relationship Type="http://schemas.openxmlformats.org/officeDocument/2006/relationships/notesSlide" Target="/ppt/notesSlides/notesSlide28.xml" Id="Rcdaa403ec5924509"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a670d4593c64ee1" /><Relationship Type="http://schemas.openxmlformats.org/officeDocument/2006/relationships/notesSlide" Target="/ppt/notesSlides/notesSlide29.xml" Id="R1d0792c490b343dc"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3ea85067ba7d459b" /><Relationship Type="http://schemas.openxmlformats.org/officeDocument/2006/relationships/notesSlide" Target="/ppt/notesSlides/notesSlide30.xml" Id="Rc9af5bb01aca45e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30c6dc213644d52" /><Relationship Type="http://schemas.openxmlformats.org/officeDocument/2006/relationships/notesSlide" Target="/ppt/notesSlides/notesSlide31.xml" Id="R655704f8015b461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4499ac9718841b5" /><Relationship Type="http://schemas.openxmlformats.org/officeDocument/2006/relationships/notesSlide" Target="/ppt/notesSlides/notesSlide32.xml" Id="R4a8bed02d2924719"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fcca7480e8e74108" /><Relationship Type="http://schemas.openxmlformats.org/officeDocument/2006/relationships/notesSlide" Target="/ppt/notesSlides/notesSlide33.xml" Id="Rf056e816660245fe"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96aa6530ddb4cf3" /><Relationship Type="http://schemas.openxmlformats.org/officeDocument/2006/relationships/notesSlide" Target="/ppt/notesSlides/notesSlide34.xml" Id="R51ca3fe588ee49f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a96f9470ba09440d" /><Relationship Type="http://schemas.openxmlformats.org/officeDocument/2006/relationships/notesSlide" Target="/ppt/notesSlides/notesSlide35.xml" Id="R79221335f63e43fe"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f7965de0e46b4286" /><Relationship Type="http://schemas.openxmlformats.org/officeDocument/2006/relationships/notesSlide" Target="/ppt/notesSlides/notesSlide36.xml" Id="R41bcb8d38af24eb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dcc11385356d4f03" /><Relationship Type="http://schemas.openxmlformats.org/officeDocument/2006/relationships/notesSlide" Target="/ppt/notesSlides/notesSlide37.xml" Id="Re377fbc918894b7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d83900bdccbb4c26" /><Relationship Type="http://schemas.openxmlformats.org/officeDocument/2006/relationships/notesSlide" Target="/ppt/notesSlides/notesSlide38.xml" Id="R5a30837bf5904a00"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05bff34d307f44c7" /><Relationship Type="http://schemas.openxmlformats.org/officeDocument/2006/relationships/notesSlide" Target="/ppt/notesSlides/notesSlide39.xml" Id="Rbdb9012732ac48e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c53dbb52c3544d2" /><Relationship Type="http://schemas.openxmlformats.org/officeDocument/2006/relationships/notesSlide" Target="/ppt/notesSlides/notesSlide40.xml" Id="Rb28842bbbb6f4ef0"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9c93871fb53c4659" /><Relationship Type="http://schemas.openxmlformats.org/officeDocument/2006/relationships/notesSlide" Target="/ppt/notesSlides/notesSlide41.xml" Id="Ra142bd438ff0451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641e102b6741481f" /><Relationship Type="http://schemas.openxmlformats.org/officeDocument/2006/relationships/notesSlide" Target="/ppt/notesSlides/notesSlide42.xml" Id="Rfb625ab4dd394f8d"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ab0071b5dd5540d4" /><Relationship Type="http://schemas.openxmlformats.org/officeDocument/2006/relationships/notesSlide" Target="/ppt/notesSlides/notesSlide43.xml" Id="R5b0374043f7f41f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869e099d5774a3e" /><Relationship Type="http://schemas.openxmlformats.org/officeDocument/2006/relationships/notesSlide" Target="/ppt/notesSlides/notesSlide44.xml" Id="R138e1059d45148c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9bc85d2f14a64703" /><Relationship Type="http://schemas.openxmlformats.org/officeDocument/2006/relationships/notesSlide" Target="/ppt/notesSlides/notesSlide45.xml" Id="R207d72709e824514"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5682bc2a3fbb4ec1" /><Relationship Type="http://schemas.openxmlformats.org/officeDocument/2006/relationships/notesSlide" Target="/ppt/notesSlides/notesSlide46.xml" Id="R525f3568e9e5452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169bcce62b37475e" /><Relationship Type="http://schemas.openxmlformats.org/officeDocument/2006/relationships/notesSlide" Target="/ppt/notesSlides/notesSlide47.xml" Id="Rd289ea01fb07492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b302fd57a9bc4293" /><Relationship Type="http://schemas.openxmlformats.org/officeDocument/2006/relationships/notesSlide" Target="/ppt/notesSlides/notesSlide48.xml" Id="R46e8b572af38457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f7be805e343c4319" /><Relationship Type="http://schemas.openxmlformats.org/officeDocument/2006/relationships/notesSlide" Target="/ppt/notesSlides/notesSlide49.xml" Id="Ra1f9a847b84141b8"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b81d58c4485f41b9" /><Relationship Type="http://schemas.openxmlformats.org/officeDocument/2006/relationships/notesSlide" Target="/ppt/notesSlides/notesSlide50.xml" Id="Re66e076c13754579"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8376df0a58df4b66" /><Relationship Type="http://schemas.openxmlformats.org/officeDocument/2006/relationships/notesSlide" Target="/ppt/notesSlides/notesSlide51.xml" Id="R23463494af5c4900"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1b71504bc86648fc" /><Relationship Type="http://schemas.openxmlformats.org/officeDocument/2006/relationships/notesSlide" Target="/ppt/notesSlides/notesSlide52.xml" Id="Rdc706a8a62cc4b89"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91f90513df69412d" /><Relationship Type="http://schemas.openxmlformats.org/officeDocument/2006/relationships/notesSlide" Target="/ppt/notesSlides/notesSlide53.xml" Id="R70fa1fdc30924b30"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b67a848577374506" /><Relationship Type="http://schemas.openxmlformats.org/officeDocument/2006/relationships/notesSlide" Target="/ppt/notesSlides/notesSlide54.xml" Id="R36698a2415af40d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b15942f8ec50464c" /><Relationship Type="http://schemas.openxmlformats.org/officeDocument/2006/relationships/notesSlide" Target="/ppt/notesSlides/notesSlide55.xml" Id="R3ad2016a0608440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55d060c463c144f2" /><Relationship Type="http://schemas.openxmlformats.org/officeDocument/2006/relationships/notesSlide" Target="/ppt/notesSlides/notesSlide56.xml" Id="Rd05a5675623f4fa4"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f070e9b62eb54969" /><Relationship Type="http://schemas.openxmlformats.org/officeDocument/2006/relationships/notesSlide" Target="/ppt/notesSlides/notesSlide57.xml" Id="Re07051bac0624ac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d111c623d8374328" /><Relationship Type="http://schemas.openxmlformats.org/officeDocument/2006/relationships/notesSlide" Target="/ppt/notesSlides/notesSlide58.xml" Id="R30a68ce81269407d"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40d7943f865842af" /><Relationship Type="http://schemas.openxmlformats.org/officeDocument/2006/relationships/notesSlide" Target="/ppt/notesSlides/notesSlide59.xml" Id="R13459bb9e9dd40d6"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2118d7f9765c4ed3" /><Relationship Type="http://schemas.openxmlformats.org/officeDocument/2006/relationships/notesSlide" Target="/ppt/notesSlides/notesSlide60.xml" Id="R0ce0c9ba899742f5"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47c9b33e098e4402" /><Relationship Type="http://schemas.openxmlformats.org/officeDocument/2006/relationships/notesSlide" Target="/ppt/notesSlides/notesSlide61.xml" Id="R0bf4957b33c5439c"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dddd49bc86eb4e3d" /><Relationship Type="http://schemas.openxmlformats.org/officeDocument/2006/relationships/notesSlide" Target="/ppt/notesSlides/notesSlide62.xml" Id="Rc93c8331637e4658"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9c14c96febf6403f" /><Relationship Type="http://schemas.openxmlformats.org/officeDocument/2006/relationships/notesSlide" Target="/ppt/notesSlides/notesSlide63.xml" Id="R6d1eb6acd8f144b9"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2e5b45725fe7401c" /><Relationship Type="http://schemas.openxmlformats.org/officeDocument/2006/relationships/notesSlide" Target="/ppt/notesSlides/notesSlide64.xml" Id="R9c9e0ac16adc4e33"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a18b4416f95b4301" /><Relationship Type="http://schemas.openxmlformats.org/officeDocument/2006/relationships/notesSlide" Target="/ppt/notesSlides/notesSlide65.xml" Id="R8215e91080774e3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87eb18a679384ad6" /><Relationship Type="http://schemas.openxmlformats.org/officeDocument/2006/relationships/notesSlide" Target="/ppt/notesSlides/notesSlide66.xml" Id="Rd2f4b00b56e74825" /></Relationships>
</file>

<file path=ppt/slides/slide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26FF44CE-E63D-4345-9507-8BF151FB9C91}"/>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1BD6E3-CA33-42DD-90DC-A28FFFCACA3A}"/>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CDEE8A81-4E2E-462B-B279-AF5993BEA524}"/>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4" name="breadcrumb">
            <a:extLst xmlns:a="http://schemas.openxmlformats.org/drawingml/2006/main">
              <a:ext uri="{FF2B5EF4-FFF2-40B4-BE49-F238E27FC236}">
                <a16:creationId xmlns:a16="http://schemas.microsoft.com/office/drawing/2014/main" id="{F5D195AA-7865-46C9-9C3C-22F64A0CB2D9}"/>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a:t>
            </a:r>
          </a:p>
        </p:txBody>
      </p:sp>
      <p:sp>
        <p:nvSpPr>
          <p:cNvPr id="5" name="slide-title">
            <a:extLst xmlns:a="http://schemas.openxmlformats.org/drawingml/2006/main">
              <a:ext uri="{FF2B5EF4-FFF2-40B4-BE49-F238E27FC236}">
                <a16:creationId xmlns:a16="http://schemas.microsoft.com/office/drawing/2014/main" id="{10F32410-6E12-4E03-B602-C13C50C3F4E2}"/>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Ruta de preparación</a:t>
            </a:r>
          </a:p>
        </p:txBody>
      </p:sp>
      <p:sp>
        <p:nvSpPr>
          <p:cNvPr id="6" name="learning-purpose">
            <a:extLst xmlns:a="http://schemas.openxmlformats.org/drawingml/2006/main">
              <a:ext uri="{FF2B5EF4-FFF2-40B4-BE49-F238E27FC236}">
                <a16:creationId xmlns:a16="http://schemas.microsoft.com/office/drawing/2014/main" id="{CDF8EAC9-BBC7-4A4A-AB8C-FBA5C667321C}"/>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Relacionar cada actividad previa con una evidencia de aprendizaje.</a:t>
            </a:r>
          </a:p>
        </p:txBody>
      </p:sp>
      <p:sp>
        <p:nvSpPr>
          <p:cNvPr id="7" name="panel">
            <a:extLst xmlns:a="http://schemas.openxmlformats.org/drawingml/2006/main">
              <a:ext uri="{FF2B5EF4-FFF2-40B4-BE49-F238E27FC236}">
                <a16:creationId xmlns:a16="http://schemas.microsoft.com/office/drawing/2014/main" id="{96F00526-B507-49AA-AA4C-4E8CC3C6284B}"/>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D7E7CB13-3D2E-4C3F-9D22-E7B82577C546}"/>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6B1C6251-9603-4858-971D-7AC6950F7DAA}"/>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34F071FB-15DF-4C62-97C7-EDB3C00B2C1E}"/>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F2D4F2EB-E65A-43A3-9635-3F0DB8B99F91}"/>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3854D81C-6D18-4E81-A16A-A7F0DD3E532E}"/>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DA128AEC-7A09-450E-A2EE-E4F3D7B92BA5}"/>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C01</a:t>
            </a:r>
          </a:p>
        </p:txBody>
      </p:sp>
      <p:sp>
        <p:nvSpPr>
          <p:cNvPr id="14" name="folio">
            <a:extLst xmlns:a="http://schemas.openxmlformats.org/drawingml/2006/main">
              <a:ext uri="{FF2B5EF4-FFF2-40B4-BE49-F238E27FC236}">
                <a16:creationId xmlns:a16="http://schemas.microsoft.com/office/drawing/2014/main" id="{3E78ED65-C33A-45F1-8E81-5FDF3F3D144F}"/>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1</a:t>
            </a:r>
          </a:p>
        </p:txBody>
      </p:sp>
      <p:sp>
        <p:nvSpPr>
          <p:cNvPr id="15" name="section-label">
            <a:extLst xmlns:a="http://schemas.openxmlformats.org/drawingml/2006/main">
              <a:ext uri="{FF2B5EF4-FFF2-40B4-BE49-F238E27FC236}">
                <a16:creationId xmlns:a16="http://schemas.microsoft.com/office/drawing/2014/main" id="{58CDF50B-DF1F-43DA-AD99-91D40087A925}"/>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SEGUIR LA RELACIÓN ENTRE LAS PIEZAS</a:t>
            </a:r>
          </a:p>
        </p:txBody>
      </p:sp>
      <p:sp>
        <p:nvSpPr>
          <p:cNvPr id="16" name="concept-node">
            <a:extLst xmlns:a="http://schemas.openxmlformats.org/drawingml/2006/main">
              <a:ext uri="{FF2B5EF4-FFF2-40B4-BE49-F238E27FC236}">
                <a16:creationId xmlns:a16="http://schemas.microsoft.com/office/drawing/2014/main" id="{B7FFAE16-AA86-4C81-8CC1-54AF92EA92B3}"/>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477145DF-D278-4ED7-BB10-A9BFDAAE28C0}"/>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DAB8A1E-5E8F-448F-995C-40AA491BA62A}"/>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B72E2EA1-3748-48F2-AF6A-0497F81FB0CF}"/>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D6E5D3BB-25A6-42BA-AE98-66B13AE45218}"/>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Comprender</a:t>
            </a:r>
          </a:p>
        </p:txBody>
      </p:sp>
      <p:sp>
        <p:nvSpPr>
          <p:cNvPr id="21" name="node-body">
            <a:extLst xmlns:a="http://schemas.openxmlformats.org/drawingml/2006/main">
              <a:ext uri="{FF2B5EF4-FFF2-40B4-BE49-F238E27FC236}">
                <a16:creationId xmlns:a16="http://schemas.microsoft.com/office/drawing/2014/main" id="{803CB230-0CBA-4223-905D-450FE3C6A8B4}"/>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Fundamentos de LLM,</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tokens, contexto y límites.</a:t>
            </a:r>
          </a:p>
        </p:txBody>
      </p:sp>
      <p:sp>
        <p:nvSpPr>
          <p:cNvPr id="22" name="concept-node">
            <a:extLst xmlns:a="http://schemas.openxmlformats.org/drawingml/2006/main">
              <a:ext uri="{FF2B5EF4-FFF2-40B4-BE49-F238E27FC236}">
                <a16:creationId xmlns:a16="http://schemas.microsoft.com/office/drawing/2014/main" id="{02B2B62E-1178-4FD3-9AD4-5CABEFFF29EC}"/>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27BC3736-D097-41DD-81CC-ECADE4FE6ACB}"/>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3CFDAFD-96E4-4E81-A0D0-20499ED307EB}"/>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24C2EC7E-1011-4EC8-89FF-C446F7B4FA8C}"/>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E2714310-9A36-4921-BAC8-156678E0EE30}"/>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Preparar</a:t>
            </a:r>
          </a:p>
        </p:txBody>
      </p:sp>
      <p:sp>
        <p:nvSpPr>
          <p:cNvPr id="27" name="node-body">
            <a:extLst xmlns:a="http://schemas.openxmlformats.org/drawingml/2006/main">
              <a:ext uri="{FF2B5EF4-FFF2-40B4-BE49-F238E27FC236}">
                <a16:creationId xmlns:a16="http://schemas.microsoft.com/office/drawing/2014/main" id="{0DA60CB9-4C00-4073-87A2-72CF12F44869}"/>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Python, entorno aislado y</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acceso a servicios.</a:t>
            </a:r>
          </a:p>
        </p:txBody>
      </p:sp>
      <p:sp>
        <p:nvSpPr>
          <p:cNvPr id="28" name="concept-node">
            <a:extLst xmlns:a="http://schemas.openxmlformats.org/drawingml/2006/main">
              <a:ext uri="{FF2B5EF4-FFF2-40B4-BE49-F238E27FC236}">
                <a16:creationId xmlns:a16="http://schemas.microsoft.com/office/drawing/2014/main" id="{10043EA2-F8A9-42E0-ACEC-7540D7256B50}"/>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43DA3FD4-5861-4FFC-BEC3-25F24CD60953}"/>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F6E619B-06E0-4732-95CF-AF1389A7E5B3}"/>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B2ED6E58-7987-4910-8808-519DC8105964}"/>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652270AF-E715-4686-BCE4-C00D1BA27491}"/>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Comprobar</a:t>
            </a:r>
          </a:p>
        </p:txBody>
      </p:sp>
      <p:sp>
        <p:nvSpPr>
          <p:cNvPr id="33" name="node-body">
            <a:extLst xmlns:a="http://schemas.openxmlformats.org/drawingml/2006/main">
              <a:ext uri="{FF2B5EF4-FFF2-40B4-BE49-F238E27FC236}">
                <a16:creationId xmlns:a16="http://schemas.microsoft.com/office/drawing/2014/main" id="{90A47269-6119-42C4-98B0-34E04C8661D8}"/>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Cuatro demos y</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autoevaluación antes de S1.</a:t>
            </a:r>
          </a:p>
        </p:txBody>
      </p:sp>
      <p:cxnSp>
        <p:nvCxnSpPr>
          <p:cNvPr id="77" name=""/>
          <p:cNvCxnSpPr>
            <a:stCxn xmlns:a="http://schemas.openxmlformats.org/drawingml/2006/main" id="16" idx="3"/>
            <a:endCxn xmlns:a="http://schemas.openxmlformats.org/drawingml/2006/main" id="22" idx="1"/>
          </p:cNvCxnSpPr>
          <p:nvPr/>
        </p:nvCxnSpPr>
        <p:spPr>
          <a:xfrm xmlns:a="http://schemas.openxmlformats.org/drawingml/2006/main">
            <a:off x="495300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78" name=""/>
          <p:cNvCxnSpPr>
            <a:stCxn xmlns:a="http://schemas.openxmlformats.org/drawingml/2006/main" id="22" idx="3"/>
            <a:endCxn xmlns:a="http://schemas.openxmlformats.org/drawingml/2006/main" id="28" idx="1"/>
          </p:cNvCxnSpPr>
          <p:nvPr/>
        </p:nvCxnSpPr>
        <p:spPr>
          <a:xfrm xmlns:a="http://schemas.openxmlformats.org/drawingml/2006/main">
            <a:off x="981075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6" name="panel">
            <a:extLst xmlns:a="http://schemas.openxmlformats.org/drawingml/2006/main">
              <a:ext uri="{FF2B5EF4-FFF2-40B4-BE49-F238E27FC236}">
                <a16:creationId xmlns:a16="http://schemas.microsoft.com/office/drawing/2014/main" id="{DF2AC33B-F18B-4A76-BBDB-01174B643943}"/>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7" name="section-label">
            <a:extLst xmlns:a="http://schemas.openxmlformats.org/drawingml/2006/main">
              <a:ext uri="{FF2B5EF4-FFF2-40B4-BE49-F238E27FC236}">
                <a16:creationId xmlns:a16="http://schemas.microsoft.com/office/drawing/2014/main" id="{75AAAD35-5D59-4D7B-862F-153159258183}"/>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8" name="concept-question">
            <a:extLst xmlns:a="http://schemas.openxmlformats.org/drawingml/2006/main">
              <a:ext uri="{FF2B5EF4-FFF2-40B4-BE49-F238E27FC236}">
                <a16:creationId xmlns:a16="http://schemas.microsoft.com/office/drawing/2014/main" id="{4A901126-4C56-4ABD-B723-F9AFDB9D8021}"/>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¿Qué evidencia falta si solo creé las cuentas?</a:t>
            </a:r>
          </a:p>
        </p:txBody>
      </p:sp>
      <p:sp>
        <p:nvSpPr>
          <p:cNvPr id="39" name="panel">
            <a:extLst xmlns:a="http://schemas.openxmlformats.org/drawingml/2006/main">
              <a:ext uri="{FF2B5EF4-FFF2-40B4-BE49-F238E27FC236}">
                <a16:creationId xmlns:a16="http://schemas.microsoft.com/office/drawing/2014/main" id="{D31BFBC9-C73F-4C5D-A70D-0D1D99F22EBC}"/>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40" name="misconception-label">
            <a:extLst xmlns:a="http://schemas.openxmlformats.org/drawingml/2006/main">
              <a:ext uri="{FF2B5EF4-FFF2-40B4-BE49-F238E27FC236}">
                <a16:creationId xmlns:a16="http://schemas.microsoft.com/office/drawing/2014/main" id="{AB93707C-2DF8-47AF-B3A8-A8615B320745}"/>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41" name="misconception">
            <a:extLst xmlns:a="http://schemas.openxmlformats.org/drawingml/2006/main">
              <a:ext uri="{FF2B5EF4-FFF2-40B4-BE49-F238E27FC236}">
                <a16:creationId xmlns:a16="http://schemas.microsoft.com/office/drawing/2014/main" id="{9A9B247A-1238-4EF9-9C24-909A9F2AD868}"/>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Confundir completar registros con</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dominar los conceptos.</a:t>
            </a:r>
          </a:p>
        </p:txBody>
      </p:sp>
      <p:sp>
        <p:nvSpPr>
          <p:cNvPr id="42" name="panel">
            <a:extLst xmlns:a="http://schemas.openxmlformats.org/drawingml/2006/main">
              <a:ext uri="{FF2B5EF4-FFF2-40B4-BE49-F238E27FC236}">
                <a16:creationId xmlns:a16="http://schemas.microsoft.com/office/drawing/2014/main" id="{C0AD4CB6-B7B8-40C7-9CB4-D619C446C39B}"/>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A476618C-7311-436E-9ED6-1816CB7C5308}"/>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Las cuentas habilitan acceso; las demos y la autoevaluación evidencian aprendizaje.</a:t>
            </a:r>
          </a:p>
        </p:txBody>
      </p:sp>
    </p:spTree>
    <p:extLst>
      <p:ext uri="{BB962C8B-B14F-4D97-AF65-F5344CB8AC3E}">
        <p14:creationId xmlns:p14="http://schemas.microsoft.com/office/powerpoint/2010/main" val="673624049"/>
      </p:ext>
    </p:extLst>
  </p:cSld>
</p:sld>
</file>

<file path=ppt/slides/slide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58EEB1AF-D8FA-4049-83AD-52069E32A28A}"/>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5062DC8-DC24-4BA8-AA77-A02D8C75D300}"/>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9975B727-6EB5-4256-B563-09CE1EF314FA}"/>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4" name="breadcrumb">
            <a:extLst xmlns:a="http://schemas.openxmlformats.org/drawingml/2006/main">
              <a:ext uri="{FF2B5EF4-FFF2-40B4-BE49-F238E27FC236}">
                <a16:creationId xmlns:a16="http://schemas.microsoft.com/office/drawing/2014/main" id="{36093F2A-C4A6-463A-AFE1-BC272E795863}"/>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a:t>
            </a:r>
          </a:p>
        </p:txBody>
      </p:sp>
      <p:sp>
        <p:nvSpPr>
          <p:cNvPr id="5" name="slide-title">
            <a:extLst xmlns:a="http://schemas.openxmlformats.org/drawingml/2006/main">
              <a:ext uri="{FF2B5EF4-FFF2-40B4-BE49-F238E27FC236}">
                <a16:creationId xmlns:a16="http://schemas.microsoft.com/office/drawing/2014/main" id="{86EE6A40-02AE-4D5D-B9B1-91424E4904A8}"/>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Qué demuestra estar listo</a:t>
            </a:r>
          </a:p>
        </p:txBody>
      </p:sp>
      <p:sp>
        <p:nvSpPr>
          <p:cNvPr id="6" name="learning-purpose">
            <a:extLst xmlns:a="http://schemas.openxmlformats.org/drawingml/2006/main">
              <a:ext uri="{FF2B5EF4-FFF2-40B4-BE49-F238E27FC236}">
                <a16:creationId xmlns:a16="http://schemas.microsoft.com/office/drawing/2014/main" id="{3C65EF46-4CF2-4D37-ABEF-021198BF2D43}"/>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Relacionar cada actividad previa con una evidencia de aprendizaje.</a:t>
            </a:r>
          </a:p>
        </p:txBody>
      </p:sp>
      <p:sp>
        <p:nvSpPr>
          <p:cNvPr id="7" name="panel">
            <a:extLst xmlns:a="http://schemas.openxmlformats.org/drawingml/2006/main">
              <a:ext uri="{FF2B5EF4-FFF2-40B4-BE49-F238E27FC236}">
                <a16:creationId xmlns:a16="http://schemas.microsoft.com/office/drawing/2014/main" id="{565BB877-1D16-41F8-B8C9-8CD2E66D8A7A}"/>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D3BCA477-1D3C-42BD-A744-12AA42110D0E}"/>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7964E5D7-6BC1-4F01-8D5F-FD82978BBE9C}"/>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44D0084A-AAD8-4DA2-84F2-14BFD5FB7AEE}"/>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B0F36D45-72C9-49CC-8439-7F4A403EA75D}"/>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1E94E87E-B47B-4D34-985D-0A170CAB725C}"/>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E4BDA6C7-E23A-4B7D-A157-53181D0DF5B6}"/>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C01</a:t>
            </a:r>
          </a:p>
        </p:txBody>
      </p:sp>
      <p:sp>
        <p:nvSpPr>
          <p:cNvPr id="14" name="folio">
            <a:extLst xmlns:a="http://schemas.openxmlformats.org/drawingml/2006/main">
              <a:ext uri="{FF2B5EF4-FFF2-40B4-BE49-F238E27FC236}">
                <a16:creationId xmlns:a16="http://schemas.microsoft.com/office/drawing/2014/main" id="{6ABB82BF-1313-46AE-9250-4EF2E03267E8}"/>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2</a:t>
            </a:r>
          </a:p>
        </p:txBody>
      </p:sp>
      <p:sp>
        <p:nvSpPr>
          <p:cNvPr id="15" name="section-label">
            <a:extLst xmlns:a="http://schemas.openxmlformats.org/drawingml/2006/main">
              <a:ext uri="{FF2B5EF4-FFF2-40B4-BE49-F238E27FC236}">
                <a16:creationId xmlns:a16="http://schemas.microsoft.com/office/drawing/2014/main" id="{13BC289D-16B2-4F4B-B038-FC3DE86161E6}"/>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Conceptos</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Explicar por qué una respuesta plausible puede ser</a:t>
                      </a:r>
                    </a:p>
                    <a:p>
                      <a:r>
                        <a:rPr sz="1875" b="0">
                          <a:solidFill>
                            <a:srgbClr val="1E293B"/>
                          </a:solidFill>
                          <a:latin typeface="DejaVu Sans"/>
                          <a:ea typeface="DejaVu Sans"/>
                          <a:cs typeface="DejaVu Sans"/>
                        </a:rPr>
                        <a:t>falsa.</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Entorno</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Ejecutar desde la raíz con dependencias</a:t>
                      </a:r>
                    </a:p>
                    <a:p>
                      <a:r>
                        <a:rPr sz="1875" b="0">
                          <a:solidFill>
                            <a:srgbClr val="1E293B"/>
                          </a:solidFill>
                          <a:latin typeface="DejaVu Sans"/>
                          <a:ea typeface="DejaVu Sans"/>
                          <a:cs typeface="DejaVu Sans"/>
                        </a:rPr>
                        <a:t>instaladas.</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Evidencias</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Conservar observaciones y lograr al menos 8 de 10</a:t>
                      </a:r>
                    </a:p>
                    <a:p>
                      <a:r>
                        <a:rPr sz="1875" b="0">
                          <a:solidFill>
                            <a:srgbClr val="1E293B"/>
                          </a:solidFill>
                          <a:latin typeface="DejaVu Sans"/>
                          <a:ea typeface="DejaVu Sans"/>
                          <a:cs typeface="DejaVu Sans"/>
                        </a:rPr>
                        <a:t>aciertos.</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CB39FE43-99E1-4C93-AA50-C9EF7FF9481A}"/>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E89C372F-6894-45BE-8319-FD1D80A1D127}"/>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85FEF9E1-6737-4A0E-8793-25071B318B8E}"/>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Confundir completar registros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 dominar los conceptos.</a:t>
            </a:r>
          </a:p>
        </p:txBody>
      </p:sp>
      <p:sp>
        <p:nvSpPr>
          <p:cNvPr id="20" name="development-prompt">
            <a:extLst xmlns:a="http://schemas.openxmlformats.org/drawingml/2006/main">
              <a:ext uri="{FF2B5EF4-FFF2-40B4-BE49-F238E27FC236}">
                <a16:creationId xmlns:a16="http://schemas.microsoft.com/office/drawing/2014/main" id="{C7122049-DA2E-4B9A-844C-5085D99438B7}"/>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3DE1F770-3D32-471B-81A0-3ADB22BA52CE}"/>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C4DCA830-7A75-4FB7-9B72-65269DE90DFD}"/>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7B9F1117-D2A0-4225-93BB-23129985FE29}"/>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¿Qué evidencia falta si solo creé las cuentas?</a:t>
            </a:r>
          </a:p>
        </p:txBody>
      </p:sp>
      <p:sp>
        <p:nvSpPr>
          <p:cNvPr id="24" name="panel">
            <a:extLst xmlns:a="http://schemas.openxmlformats.org/drawingml/2006/main">
              <a:ext uri="{FF2B5EF4-FFF2-40B4-BE49-F238E27FC236}">
                <a16:creationId xmlns:a16="http://schemas.microsoft.com/office/drawing/2014/main" id="{4A6C0A5F-BB66-4A33-9F50-8BFA78508021}"/>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65A66AEF-96BA-4DC2-B362-F9615A7A5311}"/>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Las cuentas habilitan acceso; las demos y la autoevaluación evidencian aprendizaje.</a:t>
            </a:r>
          </a:p>
        </p:txBody>
      </p:sp>
    </p:spTree>
    <p:extLst>
      <p:ext uri="{BB962C8B-B14F-4D97-AF65-F5344CB8AC3E}">
        <p14:creationId xmlns:p14="http://schemas.microsoft.com/office/powerpoint/2010/main" val="1800420603"/>
      </p:ext>
    </p:extLst>
  </p:cSld>
</p:sld>
</file>

<file path=ppt/slides/slide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9B12D144-FDDE-4DFD-9A43-D06B780B8331}"/>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08B4E0-E1BB-412D-B3DC-A2338D95992A}"/>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2B0E8CA8-763E-46C9-95E3-8476C0FE7ADE}"/>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4" name="breadcrumb">
            <a:extLst xmlns:a="http://schemas.openxmlformats.org/drawingml/2006/main">
              <a:ext uri="{FF2B5EF4-FFF2-40B4-BE49-F238E27FC236}">
                <a16:creationId xmlns:a16="http://schemas.microsoft.com/office/drawing/2014/main" id="{93E8F9F1-F967-4914-9D15-F1A099180109}"/>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a:t>
            </a:r>
          </a:p>
        </p:txBody>
      </p:sp>
      <p:sp>
        <p:nvSpPr>
          <p:cNvPr id="5" name="slide-title">
            <a:extLst xmlns:a="http://schemas.openxmlformats.org/drawingml/2006/main">
              <a:ext uri="{FF2B5EF4-FFF2-40B4-BE49-F238E27FC236}">
                <a16:creationId xmlns:a16="http://schemas.microsoft.com/office/drawing/2014/main" id="{1C849771-754E-408D-BFE3-564159D088E9}"/>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Ruta de preparación</a:t>
            </a:r>
          </a:p>
        </p:txBody>
      </p:sp>
      <p:sp>
        <p:nvSpPr>
          <p:cNvPr id="6" name="learning-purpose">
            <a:extLst xmlns:a="http://schemas.openxmlformats.org/drawingml/2006/main">
              <a:ext uri="{FF2B5EF4-FFF2-40B4-BE49-F238E27FC236}">
                <a16:creationId xmlns:a16="http://schemas.microsoft.com/office/drawing/2014/main" id="{A4302AF3-F515-4FB8-85FB-9048B938D648}"/>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Relacionar cada actividad previa con una evidencia de aprendizaje.</a:t>
            </a:r>
          </a:p>
        </p:txBody>
      </p:sp>
      <p:sp>
        <p:nvSpPr>
          <p:cNvPr id="7" name="panel">
            <a:extLst xmlns:a="http://schemas.openxmlformats.org/drawingml/2006/main">
              <a:ext uri="{FF2B5EF4-FFF2-40B4-BE49-F238E27FC236}">
                <a16:creationId xmlns:a16="http://schemas.microsoft.com/office/drawing/2014/main" id="{C9B29930-6D41-405C-A2A4-4D763297BA40}"/>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5F5AFF15-E41D-4B68-AB54-835B039913E1}"/>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D068BAE1-43B9-4EFF-B568-8E5B55E2E914}"/>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2D4066E8-194B-4294-A1C7-451E7F03697F}"/>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0B25FE6D-E05A-4E99-B8A9-8ADE17FAAA14}"/>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5B8288D0-2944-4DDA-80EA-76252F34CF0B}"/>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C397A06B-8DE0-426D-B5F1-15F46DE0455F}"/>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C01</a:t>
            </a:r>
          </a:p>
        </p:txBody>
      </p:sp>
      <p:sp>
        <p:nvSpPr>
          <p:cNvPr id="14" name="folio">
            <a:extLst xmlns:a="http://schemas.openxmlformats.org/drawingml/2006/main">
              <a:ext uri="{FF2B5EF4-FFF2-40B4-BE49-F238E27FC236}">
                <a16:creationId xmlns:a16="http://schemas.microsoft.com/office/drawing/2014/main" id="{57F15917-7B3E-44CC-BDD6-18D9894E5015}"/>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3</a:t>
            </a:r>
          </a:p>
        </p:txBody>
      </p:sp>
      <p:sp>
        <p:nvSpPr>
          <p:cNvPr id="15" name="section-label">
            <a:extLst xmlns:a="http://schemas.openxmlformats.org/drawingml/2006/main">
              <a:ext uri="{FF2B5EF4-FFF2-40B4-BE49-F238E27FC236}">
                <a16:creationId xmlns:a16="http://schemas.microsoft.com/office/drawing/2014/main" id="{077E8624-68FE-4D1E-A6F9-9F69C90833D0}"/>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ANDESMÓVIL · CASO DIDÁCTICO</a:t>
            </a:r>
          </a:p>
        </p:txBody>
      </p:sp>
      <p:sp>
        <p:nvSpPr>
          <p:cNvPr id="16" name="panel">
            <a:extLst xmlns:a="http://schemas.openxmlformats.org/drawingml/2006/main">
              <a:ext uri="{FF2B5EF4-FFF2-40B4-BE49-F238E27FC236}">
                <a16:creationId xmlns:a16="http://schemas.microsoft.com/office/drawing/2014/main" id="{AF65A5D8-7775-4771-BFD4-337A8C342AA5}"/>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03E5F542-94BB-4F93-83CF-853A49FCC836}"/>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2A427FE1-40E4-4C5D-94A2-C56C883C52A8}"/>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El equipo tiene Python instalado, pero nunca llamó a un modelo.</a:t>
            </a:r>
          </a:p>
        </p:txBody>
      </p:sp>
      <p:sp>
        <p:nvSpPr>
          <p:cNvPr id="19" name="concept-node">
            <a:extLst xmlns:a="http://schemas.openxmlformats.org/drawingml/2006/main">
              <a:ext uri="{FF2B5EF4-FFF2-40B4-BE49-F238E27FC236}">
                <a16:creationId xmlns:a16="http://schemas.microsoft.com/office/drawing/2014/main" id="{C2AF5F8A-2278-4147-AFA2-D7DB965E795E}"/>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7DE9C5E6-07DC-4B93-95C0-4E4C69BD8E86}"/>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6D9DD8B-2D39-4E17-94AB-892EC33C3049}"/>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5739D4DA-BD21-4F58-BCE8-29FCC16880D0}"/>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333A3A57-A21E-44B9-BB85-C163E0314170}"/>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Detectar</a:t>
            </a:r>
          </a:p>
        </p:txBody>
      </p:sp>
      <p:sp>
        <p:nvSpPr>
          <p:cNvPr id="24" name="node-body">
            <a:extLst xmlns:a="http://schemas.openxmlformats.org/drawingml/2006/main">
              <a:ext uri="{FF2B5EF4-FFF2-40B4-BE49-F238E27FC236}">
                <a16:creationId xmlns:a16="http://schemas.microsoft.com/office/drawing/2014/main" id="{A0D86C49-EFD8-4920-B40D-C9B84630C358}"/>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Saben programar; les falta</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observar al LLM.</a:t>
            </a:r>
          </a:p>
        </p:txBody>
      </p:sp>
      <p:sp>
        <p:nvSpPr>
          <p:cNvPr id="25" name="concept-node">
            <a:extLst xmlns:a="http://schemas.openxmlformats.org/drawingml/2006/main">
              <a:ext uri="{FF2B5EF4-FFF2-40B4-BE49-F238E27FC236}">
                <a16:creationId xmlns:a16="http://schemas.microsoft.com/office/drawing/2014/main" id="{1D789774-88B9-4C94-B5BF-A3087AD3B2AA}"/>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009AFE70-FFBE-4C26-9BA9-74620F652386}"/>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190CFB0-7264-4B9C-BFC5-DCC896C1DCA5}"/>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89CCB3C3-9354-4E48-BF65-8D8D4B2118DC}"/>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866D351F-FADB-4FDB-AB51-C284A27DE494}"/>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Ejecutar</a:t>
            </a:r>
          </a:p>
        </p:txBody>
      </p:sp>
      <p:sp>
        <p:nvSpPr>
          <p:cNvPr id="30" name="node-body">
            <a:extLst xmlns:a="http://schemas.openxmlformats.org/drawingml/2006/main">
              <a:ext uri="{FF2B5EF4-FFF2-40B4-BE49-F238E27FC236}">
                <a16:creationId xmlns:a16="http://schemas.microsoft.com/office/drawing/2014/main" id="{CCEE325C-5A9F-40CB-92BF-66073312F4DA}"/>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Comparan tokens y variación en</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las demos.</a:t>
            </a:r>
          </a:p>
        </p:txBody>
      </p:sp>
      <p:sp>
        <p:nvSpPr>
          <p:cNvPr id="31" name="concept-node">
            <a:extLst xmlns:a="http://schemas.openxmlformats.org/drawingml/2006/main">
              <a:ext uri="{FF2B5EF4-FFF2-40B4-BE49-F238E27FC236}">
                <a16:creationId xmlns:a16="http://schemas.microsoft.com/office/drawing/2014/main" id="{CDB0074A-43FA-4EAC-9E03-0D681862FB66}"/>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BBE60D8A-84E1-4181-B028-E81C0F6633E0}"/>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EE0BD8A-368C-4EA0-ACE1-260A3D42921D}"/>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D4F0BE65-F865-4D2C-956B-579C91B5DC58}"/>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C676C4AA-1619-4890-940C-9191F7DF720F}"/>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Explicar</a:t>
            </a:r>
          </a:p>
        </p:txBody>
      </p:sp>
      <p:sp>
        <p:nvSpPr>
          <p:cNvPr id="36" name="node-body">
            <a:extLst xmlns:a="http://schemas.openxmlformats.org/drawingml/2006/main">
              <a:ext uri="{FF2B5EF4-FFF2-40B4-BE49-F238E27FC236}">
                <a16:creationId xmlns:a16="http://schemas.microsoft.com/office/drawing/2014/main" id="{1B296FAA-9954-4A65-8262-AE6324819A73}"/>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Identifican qué resultado</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depende de una fuente externa.</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CA08C04D-0B7B-4417-8950-1023870FE07B}"/>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F326028A-D508-41D1-BB6A-CA256410DB6A}"/>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B1069208-2029-42B5-AB4E-63BC922F188C}"/>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Preparación completa = comprensión, entorno funcional y evidencia.</a:t>
            </a:r>
          </a:p>
        </p:txBody>
      </p:sp>
      <p:sp>
        <p:nvSpPr>
          <p:cNvPr id="42" name="panel">
            <a:extLst xmlns:a="http://schemas.openxmlformats.org/drawingml/2006/main">
              <a:ext uri="{FF2B5EF4-FFF2-40B4-BE49-F238E27FC236}">
                <a16:creationId xmlns:a16="http://schemas.microsoft.com/office/drawing/2014/main" id="{323F0CDF-3563-42B6-B591-7BA07E4476B2}"/>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B6CF1A4D-EFCD-4858-AD0A-5F5227CF6C7B}"/>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Las cuentas habilitan acceso; las demos y la autoevaluación evidencian aprendizaje.</a:t>
            </a:r>
          </a:p>
        </p:txBody>
      </p:sp>
    </p:spTree>
    <p:extLst>
      <p:ext uri="{BB962C8B-B14F-4D97-AF65-F5344CB8AC3E}">
        <p14:creationId xmlns:p14="http://schemas.microsoft.com/office/powerpoint/2010/main" val="1911244644"/>
      </p:ext>
    </p:extLst>
  </p:cSld>
</p:sld>
</file>

<file path=ppt/slides/slide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2" name="header">
            <a:extLst xmlns:a="http://schemas.openxmlformats.org/drawingml/2006/main">
              <a:ext uri="{FF2B5EF4-FFF2-40B4-BE49-F238E27FC236}">
                <a16:creationId xmlns:a16="http://schemas.microsoft.com/office/drawing/2014/main" id="{EE2667E1-D74C-4D82-922F-FE388BBA6827}"/>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E2989C8-263B-4562-BEB9-6C69EA67E293}"/>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C1CB6324-82FC-4516-AAF4-74046137BF7D}"/>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4" name="breadcrumb">
            <a:extLst xmlns:a="http://schemas.openxmlformats.org/drawingml/2006/main">
              <a:ext uri="{FF2B5EF4-FFF2-40B4-BE49-F238E27FC236}">
                <a16:creationId xmlns:a16="http://schemas.microsoft.com/office/drawing/2014/main" id="{A0D4182E-0766-4851-ACDA-0BAE4004F28E}"/>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2</a:t>
            </a:r>
          </a:p>
        </p:txBody>
      </p:sp>
      <p:sp>
        <p:nvSpPr>
          <p:cNvPr id="5" name="slide-title">
            <a:extLst xmlns:a="http://schemas.openxmlformats.org/drawingml/2006/main">
              <a:ext uri="{FF2B5EF4-FFF2-40B4-BE49-F238E27FC236}">
                <a16:creationId xmlns:a16="http://schemas.microsoft.com/office/drawing/2014/main" id="{67BA04AD-CADB-4BB9-860E-EA05B0D03355}"/>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API y LLM: qué puedes verificar</a:t>
            </a:r>
          </a:p>
        </p:txBody>
      </p:sp>
      <p:sp>
        <p:nvSpPr>
          <p:cNvPr id="6" name="learning-purpose">
            <a:extLst xmlns:a="http://schemas.openxmlformats.org/drawingml/2006/main">
              <a:ext uri="{FF2B5EF4-FFF2-40B4-BE49-F238E27FC236}">
                <a16:creationId xmlns:a16="http://schemas.microsoft.com/office/drawing/2014/main" id="{9E345A80-137A-429D-8C5D-35F7877A8DF4}"/>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Distinguir transporte correcto, formato válido y contenido verdadero.</a:t>
            </a:r>
          </a:p>
        </p:txBody>
      </p:sp>
      <p:sp>
        <p:nvSpPr>
          <p:cNvPr id="7" name="panel">
            <a:extLst xmlns:a="http://schemas.openxmlformats.org/drawingml/2006/main">
              <a:ext uri="{FF2B5EF4-FFF2-40B4-BE49-F238E27FC236}">
                <a16:creationId xmlns:a16="http://schemas.microsoft.com/office/drawing/2014/main" id="{FD3EDF89-92A5-407B-A9B5-8ABC6BCEAA26}"/>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6FA6C9E5-A004-4679-87D2-B1B462573BE2}"/>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9F8221D1-F78D-43E1-9C5E-428FD296C3C8}"/>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6441B8FC-B250-415F-9945-5F2BACEC2EDF}"/>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F42F02DE-8D99-48AD-9120-E5D816B1923D}"/>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878CE20A-ECE1-41EB-9D47-7F3CA5604280}"/>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F1E959B4-10E6-4754-A9E7-4F56BDC4406B}"/>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C02</a:t>
            </a:r>
          </a:p>
        </p:txBody>
      </p:sp>
      <p:sp>
        <p:nvSpPr>
          <p:cNvPr id="14" name="folio">
            <a:extLst xmlns:a="http://schemas.openxmlformats.org/drawingml/2006/main">
              <a:ext uri="{FF2B5EF4-FFF2-40B4-BE49-F238E27FC236}">
                <a16:creationId xmlns:a16="http://schemas.microsoft.com/office/drawing/2014/main" id="{7FC55C10-3DFE-40F4-B7B7-F641500A9923}"/>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4</a:t>
            </a:r>
          </a:p>
        </p:txBody>
      </p:sp>
      <p:sp>
        <p:nvSpPr>
          <p:cNvPr id="15" name="section-label">
            <a:extLst xmlns:a="http://schemas.openxmlformats.org/drawingml/2006/main">
              <a:ext uri="{FF2B5EF4-FFF2-40B4-BE49-F238E27FC236}">
                <a16:creationId xmlns:a16="http://schemas.microsoft.com/office/drawing/2014/main" id="{98EBA3AB-FD16-41A7-9C0C-E1A261E90AB2}"/>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COMPARAR RESPONSABILIDADES</a:t>
            </a:r>
          </a:p>
        </p:txBody>
      </p:sp>
      <p:sp>
        <p:nvSpPr>
          <p:cNvPr id="16" name="concept-node">
            <a:extLst xmlns:a="http://schemas.openxmlformats.org/drawingml/2006/main">
              <a:ext uri="{FF2B5EF4-FFF2-40B4-BE49-F238E27FC236}">
                <a16:creationId xmlns:a16="http://schemas.microsoft.com/office/drawing/2014/main" id="{F6B2F58E-7CDF-48D0-9245-988A71FA779F}"/>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1F957009-99D3-4636-9EBF-2A4093256449}"/>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4EF362C-FA62-45CB-A1D5-930F3073EF1D}"/>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29E82191-230E-4FEE-8333-C0FAC0B457FE}"/>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5818441F-305E-4F81-8CA0-91756538890D}"/>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API de negocio</a:t>
            </a:r>
          </a:p>
        </p:txBody>
      </p:sp>
      <p:sp>
        <p:nvSpPr>
          <p:cNvPr id="21" name="node-body">
            <a:extLst xmlns:a="http://schemas.openxmlformats.org/drawingml/2006/main">
              <a:ext uri="{FF2B5EF4-FFF2-40B4-BE49-F238E27FC236}">
                <a16:creationId xmlns:a16="http://schemas.microsoft.com/office/drawing/2014/main" id="{1B89C9D4-3541-46FF-9620-ABF122A0E3B9}"/>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Consulta o calcula sobre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reglas y datos del sistema.</a:t>
            </a:r>
          </a:p>
        </p:txBody>
      </p:sp>
      <p:sp>
        <p:nvSpPr>
          <p:cNvPr id="22" name="concept-node">
            <a:extLst xmlns:a="http://schemas.openxmlformats.org/drawingml/2006/main">
              <a:ext uri="{FF2B5EF4-FFF2-40B4-BE49-F238E27FC236}">
                <a16:creationId xmlns:a16="http://schemas.microsoft.com/office/drawing/2014/main" id="{8422041F-7252-4F4E-A364-32913CF562A3}"/>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12BA6F15-4A3F-45EA-9F97-1D60DF889FFD}"/>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58E9EA2-3B3D-4EDB-BEE8-819953931EF5}"/>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57A2C387-D59E-45F9-B693-8A5D79F50080}"/>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37143522-3DA2-4184-A8C9-05C82EA53990}"/>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Modelo de lenguaje</a:t>
            </a:r>
          </a:p>
        </p:txBody>
      </p:sp>
      <p:sp>
        <p:nvSpPr>
          <p:cNvPr id="27" name="node-body">
            <a:extLst xmlns:a="http://schemas.openxmlformats.org/drawingml/2006/main">
              <a:ext uri="{FF2B5EF4-FFF2-40B4-BE49-F238E27FC236}">
                <a16:creationId xmlns:a16="http://schemas.microsoft.com/office/drawing/2014/main" id="{E70A36C1-5591-4805-8BE4-915F948C560A}"/>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Genera una respuesta</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condicionada por sus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mensajes.</a:t>
            </a:r>
          </a:p>
        </p:txBody>
      </p:sp>
      <p:sp>
        <p:nvSpPr>
          <p:cNvPr id="28" name="concept-node">
            <a:extLst xmlns:a="http://schemas.openxmlformats.org/drawingml/2006/main">
              <a:ext uri="{FF2B5EF4-FFF2-40B4-BE49-F238E27FC236}">
                <a16:creationId xmlns:a16="http://schemas.microsoft.com/office/drawing/2014/main" id="{9B7E9664-0AA4-40C4-8893-B6DA565B6A48}"/>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243D75A7-54DB-4023-AD71-141CE59F3682}"/>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A6A2C2D7-3571-410E-91EA-249EEDC316FF}"/>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218B8194-833A-4CE9-A155-909ECCF66FE5}"/>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0B07BB43-AF0B-43B9-93CD-2B4E6E5356E3}"/>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Verificación</a:t>
            </a:r>
          </a:p>
        </p:txBody>
      </p:sp>
      <p:sp>
        <p:nvSpPr>
          <p:cNvPr id="33" name="node-body">
            <a:extLst xmlns:a="http://schemas.openxmlformats.org/drawingml/2006/main">
              <a:ext uri="{FF2B5EF4-FFF2-40B4-BE49-F238E27FC236}">
                <a16:creationId xmlns:a16="http://schemas.microsoft.com/office/drawing/2014/main" id="{8074ECD5-F3FA-4B8A-A4D5-106FAB9280DF}"/>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Contrastar la afirmación con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la fuente pertinente.</a:t>
            </a:r>
          </a:p>
        </p:txBody>
      </p:sp>
      <p:sp>
        <p:nvSpPr>
          <p:cNvPr id="34" name="panel">
            <a:extLst xmlns:a="http://schemas.openxmlformats.org/drawingml/2006/main">
              <a:ext uri="{FF2B5EF4-FFF2-40B4-BE49-F238E27FC236}">
                <a16:creationId xmlns:a16="http://schemas.microsoft.com/office/drawing/2014/main" id="{3BB532C9-ADD6-4A96-BCB1-05A16026CE41}"/>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5" name="section-label">
            <a:extLst xmlns:a="http://schemas.openxmlformats.org/drawingml/2006/main">
              <a:ext uri="{FF2B5EF4-FFF2-40B4-BE49-F238E27FC236}">
                <a16:creationId xmlns:a16="http://schemas.microsoft.com/office/drawing/2014/main" id="{12515FCA-3E71-46DD-A8FD-E6109ADA2045}"/>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6" name="concept-question">
            <a:extLst xmlns:a="http://schemas.openxmlformats.org/drawingml/2006/main">
              <a:ext uri="{FF2B5EF4-FFF2-40B4-BE49-F238E27FC236}">
                <a16:creationId xmlns:a16="http://schemas.microsoft.com/office/drawing/2014/main" id="{E29BD8B1-4A36-4562-976A-DC1B4DCF897A}"/>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¿Qué capa detecta la diferencia de tarifa?</a:t>
            </a:r>
          </a:p>
        </p:txBody>
      </p:sp>
      <p:sp>
        <p:nvSpPr>
          <p:cNvPr id="37" name="panel">
            <a:extLst xmlns:a="http://schemas.openxmlformats.org/drawingml/2006/main">
              <a:ext uri="{FF2B5EF4-FFF2-40B4-BE49-F238E27FC236}">
                <a16:creationId xmlns:a16="http://schemas.microsoft.com/office/drawing/2014/main" id="{EE3456C6-E598-466F-A155-297AF9CFFDC2}"/>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38" name="misconception-label">
            <a:extLst xmlns:a="http://schemas.openxmlformats.org/drawingml/2006/main">
              <a:ext uri="{FF2B5EF4-FFF2-40B4-BE49-F238E27FC236}">
                <a16:creationId xmlns:a16="http://schemas.microsoft.com/office/drawing/2014/main" id="{A6AECA70-DD11-4349-BBF0-275D17F9CF9F}"/>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39" name="misconception">
            <a:extLst xmlns:a="http://schemas.openxmlformats.org/drawingml/2006/main">
              <a:ext uri="{FF2B5EF4-FFF2-40B4-BE49-F238E27FC236}">
                <a16:creationId xmlns:a16="http://schemas.microsoft.com/office/drawing/2014/main" id="{FC1037E8-4388-49D6-BAE7-1CA566A569CF}"/>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Afirmar que toda API REST es</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determinista.</a:t>
            </a:r>
          </a:p>
        </p:txBody>
      </p:sp>
      <p:sp>
        <p:nvSpPr>
          <p:cNvPr id="40" name="panel">
            <a:extLst xmlns:a="http://schemas.openxmlformats.org/drawingml/2006/main">
              <a:ext uri="{FF2B5EF4-FFF2-40B4-BE49-F238E27FC236}">
                <a16:creationId xmlns:a16="http://schemas.microsoft.com/office/drawing/2014/main" id="{364C52A3-1135-486C-87D1-79FBE646E705}"/>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1" name="takeaway">
            <a:extLst xmlns:a="http://schemas.openxmlformats.org/drawingml/2006/main">
              <a:ext uri="{FF2B5EF4-FFF2-40B4-BE49-F238E27FC236}">
                <a16:creationId xmlns:a16="http://schemas.microsoft.com/office/drawing/2014/main" id="{6FC57EAB-A0C8-4B50-8327-57CE8CB463F9}"/>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Validar la forma no valida los hechos.</a:t>
            </a:r>
          </a:p>
        </p:txBody>
      </p:sp>
    </p:spTree>
    <p:extLst>
      <p:ext uri="{BB962C8B-B14F-4D97-AF65-F5344CB8AC3E}">
        <p14:creationId xmlns:p14="http://schemas.microsoft.com/office/powerpoint/2010/main" val="1698449662"/>
      </p:ext>
    </p:extLst>
  </p:cSld>
</p:sld>
</file>

<file path=ppt/slides/slide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D046BB44-850F-4101-BA6E-AAA98CCFCF4E}"/>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0EFC8C-CD5B-4A07-A3E5-5416C00A2AF7}"/>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B5DFEDA9-FAA9-403E-B726-54F05F812A46}"/>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4" name="breadcrumb">
            <a:extLst xmlns:a="http://schemas.openxmlformats.org/drawingml/2006/main">
              <a:ext uri="{FF2B5EF4-FFF2-40B4-BE49-F238E27FC236}">
                <a16:creationId xmlns:a16="http://schemas.microsoft.com/office/drawing/2014/main" id="{249FEABC-4AD0-4CC2-B1BE-516B51880D24}"/>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2</a:t>
            </a:r>
          </a:p>
        </p:txBody>
      </p:sp>
      <p:sp>
        <p:nvSpPr>
          <p:cNvPr id="5" name="slide-title">
            <a:extLst xmlns:a="http://schemas.openxmlformats.org/drawingml/2006/main">
              <a:ext uri="{FF2B5EF4-FFF2-40B4-BE49-F238E27FC236}">
                <a16:creationId xmlns:a16="http://schemas.microsoft.com/office/drawing/2014/main" id="{BF4DE9C2-DACE-4529-A3F0-8F3E1F5F640E}"/>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Tres comprobaciones independientes</a:t>
            </a:r>
          </a:p>
        </p:txBody>
      </p:sp>
      <p:sp>
        <p:nvSpPr>
          <p:cNvPr id="6" name="learning-purpose">
            <a:extLst xmlns:a="http://schemas.openxmlformats.org/drawingml/2006/main">
              <a:ext uri="{FF2B5EF4-FFF2-40B4-BE49-F238E27FC236}">
                <a16:creationId xmlns:a16="http://schemas.microsoft.com/office/drawing/2014/main" id="{12596BF0-6122-4C46-9577-ABDBFD589468}"/>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Distinguir transporte correcto, formato válido y contenido verdadero.</a:t>
            </a:r>
          </a:p>
        </p:txBody>
      </p:sp>
      <p:sp>
        <p:nvSpPr>
          <p:cNvPr id="7" name="panel">
            <a:extLst xmlns:a="http://schemas.openxmlformats.org/drawingml/2006/main">
              <a:ext uri="{FF2B5EF4-FFF2-40B4-BE49-F238E27FC236}">
                <a16:creationId xmlns:a16="http://schemas.microsoft.com/office/drawing/2014/main" id="{B3CEDE31-ABE1-470F-9571-8B5A78CBECE7}"/>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5735389E-53B0-427F-A9A4-D9356A16EBB5}"/>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FFF0DDB5-6697-4AD9-9617-EB6673EFC980}"/>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83DC9ECA-2C16-4E49-B81D-72BC60620A90}"/>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C304E061-62C7-48A3-A834-90D0DDB7E0F7}"/>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E9F5F840-5FFD-4FE6-A9F0-79104BFFE93F}"/>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92462226-9483-4965-8159-5D95484EFDF0}"/>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C02</a:t>
            </a:r>
          </a:p>
        </p:txBody>
      </p:sp>
      <p:sp>
        <p:nvSpPr>
          <p:cNvPr id="14" name="folio">
            <a:extLst xmlns:a="http://schemas.openxmlformats.org/drawingml/2006/main">
              <a:ext uri="{FF2B5EF4-FFF2-40B4-BE49-F238E27FC236}">
                <a16:creationId xmlns:a16="http://schemas.microsoft.com/office/drawing/2014/main" id="{79D4DE86-108D-419C-89D9-E1F220BC837B}"/>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5</a:t>
            </a:r>
          </a:p>
        </p:txBody>
      </p:sp>
      <p:sp>
        <p:nvSpPr>
          <p:cNvPr id="15" name="section-label">
            <a:extLst xmlns:a="http://schemas.openxmlformats.org/drawingml/2006/main">
              <a:ext uri="{FF2B5EF4-FFF2-40B4-BE49-F238E27FC236}">
                <a16:creationId xmlns:a16="http://schemas.microsoft.com/office/drawing/2014/main" id="{BDD79693-01A4-4D6A-8B67-BD33B1923CFD}"/>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Transporte</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La llamada terminó; un HTTP 200 solo confirma</a:t>
                      </a:r>
                    </a:p>
                    <a:p>
                      <a:r>
                        <a:rPr sz="1875" b="0">
                          <a:solidFill>
                            <a:srgbClr val="1E293B"/>
                          </a:solidFill>
                          <a:latin typeface="DejaVu Sans"/>
                          <a:ea typeface="DejaVu Sans"/>
                          <a:cs typeface="DejaVu Sans"/>
                        </a:rPr>
                        <a:t>esta capa.</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Estructura</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El objeto cumple el contrato de campos y tipos.</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Contenido</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La tarifa coincide con el sistema que la administra.</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FB717244-E67C-45ED-AEA2-C86E956FAFDD}"/>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B066DACD-E136-49E1-9B0B-937461E57696}"/>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9D88659E-8EA2-45AB-A183-62128ABEAE4E}"/>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Afirmar que toda API REST es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determinista.</a:t>
            </a:r>
          </a:p>
        </p:txBody>
      </p:sp>
      <p:sp>
        <p:nvSpPr>
          <p:cNvPr id="20" name="development-prompt">
            <a:extLst xmlns:a="http://schemas.openxmlformats.org/drawingml/2006/main">
              <a:ext uri="{FF2B5EF4-FFF2-40B4-BE49-F238E27FC236}">
                <a16:creationId xmlns:a16="http://schemas.microsoft.com/office/drawing/2014/main" id="{1315E8A4-ECCE-4997-8459-A9F4C2987FC5}"/>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850B736F-13C5-4E22-820F-9227C6D7FC6D}"/>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9B8D54D5-DB08-48F6-8FDB-19001FCE4538}"/>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9789D903-8B11-4601-B891-A3696FF50A70}"/>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¿Qué capa detecta la diferencia de tarifa?</a:t>
            </a:r>
          </a:p>
        </p:txBody>
      </p:sp>
      <p:sp>
        <p:nvSpPr>
          <p:cNvPr id="24" name="panel">
            <a:extLst xmlns:a="http://schemas.openxmlformats.org/drawingml/2006/main">
              <a:ext uri="{FF2B5EF4-FFF2-40B4-BE49-F238E27FC236}">
                <a16:creationId xmlns:a16="http://schemas.microsoft.com/office/drawing/2014/main" id="{535BAA99-638B-4596-B96A-F7ED830A26E8}"/>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D675C04C-622B-4119-A960-A4456A962405}"/>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Validar la forma no valida los hechos.</a:t>
            </a:r>
          </a:p>
        </p:txBody>
      </p:sp>
    </p:spTree>
    <p:extLst>
      <p:ext uri="{BB962C8B-B14F-4D97-AF65-F5344CB8AC3E}">
        <p14:creationId xmlns:p14="http://schemas.microsoft.com/office/powerpoint/2010/main" val="119381287"/>
      </p:ext>
    </p:extLst>
  </p:cSld>
</p:sld>
</file>

<file path=ppt/slides/slide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DD0EC2CA-59B7-4BC3-BEBA-3E6EBF0D5A3D}"/>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69E4280-26CC-4BB7-AF13-D09D70FE6438}"/>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2E46B8E5-F266-4783-8C6D-E5E7B5E67CAB}"/>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4" name="breadcrumb">
            <a:extLst xmlns:a="http://schemas.openxmlformats.org/drawingml/2006/main">
              <a:ext uri="{FF2B5EF4-FFF2-40B4-BE49-F238E27FC236}">
                <a16:creationId xmlns:a16="http://schemas.microsoft.com/office/drawing/2014/main" id="{6D632D1C-AD12-4E1B-8A5C-E5D039AA87A3}"/>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2</a:t>
            </a:r>
          </a:p>
        </p:txBody>
      </p:sp>
      <p:sp>
        <p:nvSpPr>
          <p:cNvPr id="5" name="slide-title">
            <a:extLst xmlns:a="http://schemas.openxmlformats.org/drawingml/2006/main">
              <a:ext uri="{FF2B5EF4-FFF2-40B4-BE49-F238E27FC236}">
                <a16:creationId xmlns:a16="http://schemas.microsoft.com/office/drawing/2014/main" id="{E6158507-13AE-4C0E-B9F6-E5C49E7B7995}"/>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API y LLM: qué puedes verificar</a:t>
            </a:r>
          </a:p>
        </p:txBody>
      </p:sp>
      <p:sp>
        <p:nvSpPr>
          <p:cNvPr id="6" name="learning-purpose">
            <a:extLst xmlns:a="http://schemas.openxmlformats.org/drawingml/2006/main">
              <a:ext uri="{FF2B5EF4-FFF2-40B4-BE49-F238E27FC236}">
                <a16:creationId xmlns:a16="http://schemas.microsoft.com/office/drawing/2014/main" id="{B4B1B882-7DC3-4FBD-9D45-09C52E4D783D}"/>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Distinguir transporte correcto, formato válido y contenido verdadero.</a:t>
            </a:r>
          </a:p>
        </p:txBody>
      </p:sp>
      <p:sp>
        <p:nvSpPr>
          <p:cNvPr id="7" name="panel">
            <a:extLst xmlns:a="http://schemas.openxmlformats.org/drawingml/2006/main">
              <a:ext uri="{FF2B5EF4-FFF2-40B4-BE49-F238E27FC236}">
                <a16:creationId xmlns:a16="http://schemas.microsoft.com/office/drawing/2014/main" id="{8444E4B2-9391-40AA-B46F-CF169703C49A}"/>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28D818E5-F30F-4C03-993E-A5F01FD775D8}"/>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69E060B0-CE9F-4BC8-BA69-8557FDA81AC9}"/>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90A00A9D-B720-4CCC-83A8-A6A832FBEE8C}"/>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EF44582B-77DA-4DE7-8007-1221A94B8546}"/>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9D8E8001-13FB-4A54-98B3-60B6D8D76F90}"/>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02D9E7D4-88DF-474B-A903-1E110AC71C69}"/>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C02</a:t>
            </a:r>
          </a:p>
        </p:txBody>
      </p:sp>
      <p:sp>
        <p:nvSpPr>
          <p:cNvPr id="14" name="folio">
            <a:extLst xmlns:a="http://schemas.openxmlformats.org/drawingml/2006/main">
              <a:ext uri="{FF2B5EF4-FFF2-40B4-BE49-F238E27FC236}">
                <a16:creationId xmlns:a16="http://schemas.microsoft.com/office/drawing/2014/main" id="{80DACD32-0A23-4304-AFC2-3D34D2CBB7F9}"/>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6</a:t>
            </a:r>
          </a:p>
        </p:txBody>
      </p:sp>
      <p:sp>
        <p:nvSpPr>
          <p:cNvPr id="15" name="section-label">
            <a:extLst xmlns:a="http://schemas.openxmlformats.org/drawingml/2006/main">
              <a:ext uri="{FF2B5EF4-FFF2-40B4-BE49-F238E27FC236}">
                <a16:creationId xmlns:a16="http://schemas.microsoft.com/office/drawing/2014/main" id="{4401C698-F918-4985-B76E-DBEFC4449FAE}"/>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ANDESMÓVIL · CASO DIDÁCTICO</a:t>
            </a:r>
          </a:p>
        </p:txBody>
      </p:sp>
      <p:sp>
        <p:nvSpPr>
          <p:cNvPr id="16" name="panel">
            <a:extLst xmlns:a="http://schemas.openxmlformats.org/drawingml/2006/main">
              <a:ext uri="{FF2B5EF4-FFF2-40B4-BE49-F238E27FC236}">
                <a16:creationId xmlns:a16="http://schemas.microsoft.com/office/drawing/2014/main" id="{2017CF7E-D286-48F6-9EF3-74E5115053E1}"/>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7C6A22F2-4FDD-4B5D-9C50-242CB75841F9}"/>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6E9A5C6E-8857-428B-8D4D-3CD7702C1825}"/>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El modelo devuelve {"tarifa":49.90}; el sistema registra S/ 59.90.</a:t>
            </a:r>
          </a:p>
        </p:txBody>
      </p:sp>
      <p:sp>
        <p:nvSpPr>
          <p:cNvPr id="19" name="concept-node">
            <a:extLst xmlns:a="http://schemas.openxmlformats.org/drawingml/2006/main">
              <a:ext uri="{FF2B5EF4-FFF2-40B4-BE49-F238E27FC236}">
                <a16:creationId xmlns:a16="http://schemas.microsoft.com/office/drawing/2014/main" id="{ADF64519-36E9-4AEE-8C93-23999F45DBC7}"/>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C0DFBBDF-0C48-47B6-AA1C-4820C2F3A599}"/>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DB091AE3-12EF-4EB1-8C70-F99953906B03}"/>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4EE51CFF-9CED-4265-8973-BE4242C215BC}"/>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55AAAB1B-90E2-48D5-B71D-FD12CB420E04}"/>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Recibir</a:t>
            </a:r>
          </a:p>
        </p:txBody>
      </p:sp>
      <p:sp>
        <p:nvSpPr>
          <p:cNvPr id="24" name="node-body">
            <a:extLst xmlns:a="http://schemas.openxmlformats.org/drawingml/2006/main">
              <a:ext uri="{FF2B5EF4-FFF2-40B4-BE49-F238E27FC236}">
                <a16:creationId xmlns:a16="http://schemas.microsoft.com/office/drawing/2014/main" id="{83E421BC-74BD-4533-9112-F7821D90E832}"/>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 petición terminó sin error de</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transporte.</a:t>
            </a:r>
          </a:p>
        </p:txBody>
      </p:sp>
      <p:sp>
        <p:nvSpPr>
          <p:cNvPr id="25" name="concept-node">
            <a:extLst xmlns:a="http://schemas.openxmlformats.org/drawingml/2006/main">
              <a:ext uri="{FF2B5EF4-FFF2-40B4-BE49-F238E27FC236}">
                <a16:creationId xmlns:a16="http://schemas.microsoft.com/office/drawing/2014/main" id="{07563862-4B6A-4BF9-AF81-187279C546EA}"/>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407B7D66-1695-4D45-A321-E2279BF7B0C2}"/>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E2FB90F-52C5-4190-A073-B7DFBA25F375}"/>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B53DFA81-3866-480F-B303-8A4B6CE104D2}"/>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A8A64F2A-06D0-4DE6-977F-425982C790D7}"/>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Validar</a:t>
            </a:r>
          </a:p>
        </p:txBody>
      </p:sp>
      <p:sp>
        <p:nvSpPr>
          <p:cNvPr id="30" name="node-body">
            <a:extLst xmlns:a="http://schemas.openxmlformats.org/drawingml/2006/main">
              <a:ext uri="{FF2B5EF4-FFF2-40B4-BE49-F238E27FC236}">
                <a16:creationId xmlns:a16="http://schemas.microsoft.com/office/drawing/2014/main" id="{C51CE018-8004-4894-9831-43D26C4887D2}"/>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El campo tarifa contiene un</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número válido.</a:t>
            </a:r>
          </a:p>
        </p:txBody>
      </p:sp>
      <p:sp>
        <p:nvSpPr>
          <p:cNvPr id="31" name="concept-node">
            <a:extLst xmlns:a="http://schemas.openxmlformats.org/drawingml/2006/main">
              <a:ext uri="{FF2B5EF4-FFF2-40B4-BE49-F238E27FC236}">
                <a16:creationId xmlns:a16="http://schemas.microsoft.com/office/drawing/2014/main" id="{CB27692B-77D8-4959-A409-120B2541A34C}"/>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6ABEEEAD-6E1B-43CC-88D0-8FC27E3CC79F}"/>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5EC1669-7FEB-49DB-A4C5-C7FE003A135D}"/>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F05AA988-2A41-4913-88B0-9B435CBC82D6}"/>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17BB0A35-837F-4F86-982F-A82A7E6F8F53}"/>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Contrastar</a:t>
            </a:r>
          </a:p>
        </p:txBody>
      </p:sp>
      <p:sp>
        <p:nvSpPr>
          <p:cNvPr id="36" name="node-body">
            <a:extLst xmlns:a="http://schemas.openxmlformats.org/drawingml/2006/main">
              <a:ext uri="{FF2B5EF4-FFF2-40B4-BE49-F238E27FC236}">
                <a16:creationId xmlns:a16="http://schemas.microsoft.com/office/drawing/2014/main" id="{F05A970A-A41D-4BEC-8F29-70183F9FBB87}"/>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El dato difiere del sistema: la</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respuesta es incorrecta.</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52C270F9-E9C1-4059-BAD1-30C4CF28AADA}"/>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BD1FD24B-6298-4770-A1B9-841A630337EB}"/>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6A2E4DB2-DB52-4DD5-8308-555BB814738C}"/>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Un JSON válido puede contener una tarifa falsa. Cifras didácticas.</a:t>
            </a:r>
          </a:p>
        </p:txBody>
      </p:sp>
      <p:sp>
        <p:nvSpPr>
          <p:cNvPr id="42" name="panel">
            <a:extLst xmlns:a="http://schemas.openxmlformats.org/drawingml/2006/main">
              <a:ext uri="{FF2B5EF4-FFF2-40B4-BE49-F238E27FC236}">
                <a16:creationId xmlns:a16="http://schemas.microsoft.com/office/drawing/2014/main" id="{4599A61E-411B-459B-8927-DDA69CAA605C}"/>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FDF89C04-1848-4947-84F8-456A198B7D1F}"/>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Validar la forma no valida los hechos.</a:t>
            </a:r>
          </a:p>
        </p:txBody>
      </p:sp>
    </p:spTree>
    <p:extLst>
      <p:ext uri="{BB962C8B-B14F-4D97-AF65-F5344CB8AC3E}">
        <p14:creationId xmlns:p14="http://schemas.microsoft.com/office/powerpoint/2010/main" val="357712878"/>
      </p:ext>
    </p:extLst>
  </p:cSld>
</p:sld>
</file>

<file path=ppt/slides/slide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1" name="header">
            <a:extLst xmlns:a="http://schemas.openxmlformats.org/drawingml/2006/main">
              <a:ext uri="{FF2B5EF4-FFF2-40B4-BE49-F238E27FC236}">
                <a16:creationId xmlns:a16="http://schemas.microsoft.com/office/drawing/2014/main" id="{A7079E77-D120-4C34-A2C5-18F1457550CA}"/>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010FF30-242A-49C0-BAC8-280220072029}"/>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B77E0B44-312C-48D6-BED4-B53B45E62A8A}"/>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4" name="breadcrumb">
            <a:extLst xmlns:a="http://schemas.openxmlformats.org/drawingml/2006/main">
              <a:ext uri="{FF2B5EF4-FFF2-40B4-BE49-F238E27FC236}">
                <a16:creationId xmlns:a16="http://schemas.microsoft.com/office/drawing/2014/main" id="{DCF4EE53-E017-422E-B25A-1FD8B9F10699}"/>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3</a:t>
            </a:r>
          </a:p>
        </p:txBody>
      </p:sp>
      <p:sp>
        <p:nvSpPr>
          <p:cNvPr id="5" name="slide-title">
            <a:extLst xmlns:a="http://schemas.openxmlformats.org/drawingml/2006/main">
              <a:ext uri="{FF2B5EF4-FFF2-40B4-BE49-F238E27FC236}">
                <a16:creationId xmlns:a16="http://schemas.microsoft.com/office/drawing/2014/main" id="{91B68942-F534-4E9F-BD2E-9CC1480CEA15}"/>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Generación token a token</a:t>
            </a:r>
          </a:p>
        </p:txBody>
      </p:sp>
      <p:sp>
        <p:nvSpPr>
          <p:cNvPr id="6" name="learning-purpose">
            <a:extLst xmlns:a="http://schemas.openxmlformats.org/drawingml/2006/main">
              <a:ext uri="{FF2B5EF4-FFF2-40B4-BE49-F238E27FC236}">
                <a16:creationId xmlns:a16="http://schemas.microsoft.com/office/drawing/2014/main" id="{FB318382-B7C4-429A-A088-0A9FE03E8D99}"/>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Explicar cómo una continuación se añade al contexto de generación.</a:t>
            </a:r>
          </a:p>
        </p:txBody>
      </p:sp>
      <p:sp>
        <p:nvSpPr>
          <p:cNvPr id="7" name="panel">
            <a:extLst xmlns:a="http://schemas.openxmlformats.org/drawingml/2006/main">
              <a:ext uri="{FF2B5EF4-FFF2-40B4-BE49-F238E27FC236}">
                <a16:creationId xmlns:a16="http://schemas.microsoft.com/office/drawing/2014/main" id="{7DEC7350-999B-4E7F-8893-B1DBB2CDBC05}"/>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BEE80EE9-B8CE-4B92-A14C-81A7A43665CF}"/>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4A6BCC5F-B819-4134-A28F-66EE93074051}"/>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F7A242DD-A51B-4B38-9E7F-25E202D3366E}"/>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2D9110F1-F7A0-47A9-9CC0-9C246E8C6D43}"/>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BE1E94CB-4A68-40D2-9C89-64625FF5C4C1}"/>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B1EB634D-D8F4-476D-8529-0FDB2B8869D6}"/>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C03</a:t>
            </a:r>
          </a:p>
        </p:txBody>
      </p:sp>
      <p:sp>
        <p:nvSpPr>
          <p:cNvPr id="14" name="folio">
            <a:extLst xmlns:a="http://schemas.openxmlformats.org/drawingml/2006/main">
              <a:ext uri="{FF2B5EF4-FFF2-40B4-BE49-F238E27FC236}">
                <a16:creationId xmlns:a16="http://schemas.microsoft.com/office/drawing/2014/main" id="{96597245-B06B-4CAA-B391-72DCE8F1905A}"/>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7</a:t>
            </a:r>
          </a:p>
        </p:txBody>
      </p:sp>
      <p:sp>
        <p:nvSpPr>
          <p:cNvPr id="15" name="section-label">
            <a:extLst xmlns:a="http://schemas.openxmlformats.org/drawingml/2006/main">
              <a:ext uri="{FF2B5EF4-FFF2-40B4-BE49-F238E27FC236}">
                <a16:creationId xmlns:a16="http://schemas.microsoft.com/office/drawing/2014/main" id="{0CD04929-27D1-4044-BE27-636892EF4C53}"/>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EL CONTEXTO SE AMPLÍA DURANTE LA GENERACIÓN</a:t>
            </a:r>
          </a:p>
        </p:txBody>
      </p:sp>
      <p:sp>
        <p:nvSpPr>
          <p:cNvPr id="16" name="architecture-frame">
            <a:extLst xmlns:a="http://schemas.openxmlformats.org/drawingml/2006/main">
              <a:ext uri="{FF2B5EF4-FFF2-40B4-BE49-F238E27FC236}">
                <a16:creationId xmlns:a16="http://schemas.microsoft.com/office/drawing/2014/main" id="{4035D5B4-FE19-4211-8584-D4664941D8C0}"/>
              </a:ext>
            </a:extLst>
          </p:cNvPr>
          <p:cNvSpPr>
            <a:spLocks xmlns:a="http://schemas.openxmlformats.org/drawingml/2006/main" noGrp="1"/>
          </p:cNvSpPr>
          <p:nvPr/>
        </p:nvSpPr>
        <p:spPr>
          <a:xfrm xmlns:a="http://schemas.openxmlformats.org/drawingml/2006/main">
            <a:off x="571500" y="2647950"/>
            <a:ext cx="9239250" cy="4619625"/>
          </a:xfrm>
          <a:prstGeom xmlns:a="http://schemas.openxmlformats.org/drawingml/2006/main" prst="roundRect">
            <a:avLst>
              <a:gd name="adj" fmla="val 3711"/>
            </a:avLst>
          </a:prstGeom>
          <a:solidFill xmlns:a="http://schemas.openxmlformats.org/drawingml/2006/main">
            <a:srgbClr val="FFFFFF"/>
          </a:solidFill>
          <a:ln xmlns:a="http://schemas.openxmlformats.org/drawingml/2006/main" w="14288">
            <a:solidFill>
              <a:srgbClr val="CED8E3"/>
            </a:solidFill>
          </a:ln>
        </p:spPr>
      </p:sp>
      <p:sp>
        <p:nvSpPr>
          <p:cNvPr id="17" name="component-ctx">
            <a:extLst xmlns:a="http://schemas.openxmlformats.org/drawingml/2006/main">
              <a:ext uri="{FF2B5EF4-FFF2-40B4-BE49-F238E27FC236}">
                <a16:creationId xmlns:a16="http://schemas.microsoft.com/office/drawing/2014/main" id="{77A787F6-E83B-4591-9006-7A89409A387E}"/>
              </a:ext>
            </a:extLst>
          </p:cNvPr>
          <p:cNvSpPr>
            <a:spLocks xmlns:a="http://schemas.openxmlformats.org/drawingml/2006/main" noGrp="1"/>
          </p:cNvSpPr>
          <p:nvPr/>
        </p:nvSpPr>
        <p:spPr>
          <a:xfrm xmlns:a="http://schemas.openxmlformats.org/drawingml/2006/main">
            <a:off x="1000125" y="289560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18" name="component-title">
            <a:extLst xmlns:a="http://schemas.openxmlformats.org/drawingml/2006/main">
              <a:ext uri="{FF2B5EF4-FFF2-40B4-BE49-F238E27FC236}">
                <a16:creationId xmlns:a16="http://schemas.microsoft.com/office/drawing/2014/main" id="{A9AC3E75-D89C-4B15-B048-71217794DAF5}"/>
              </a:ext>
            </a:extLst>
          </p:cNvPr>
          <p:cNvSpPr>
            <a:spLocks xmlns:a="http://schemas.openxmlformats.org/drawingml/2006/main" noGrp="1"/>
          </p:cNvSpPr>
          <p:nvPr/>
        </p:nvSpPr>
        <p:spPr>
          <a:xfrm xmlns:a="http://schemas.openxmlformats.org/drawingml/2006/main">
            <a:off x="1133475" y="303847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Contexto</a:t>
            </a:r>
          </a:p>
        </p:txBody>
      </p:sp>
      <p:sp>
        <p:nvSpPr>
          <p:cNvPr id="19" name="component-detail">
            <a:extLst xmlns:a="http://schemas.openxmlformats.org/drawingml/2006/main">
              <a:ext uri="{FF2B5EF4-FFF2-40B4-BE49-F238E27FC236}">
                <a16:creationId xmlns:a16="http://schemas.microsoft.com/office/drawing/2014/main" id="{1CD08717-C59C-4F37-9929-5A20D2C57942}"/>
              </a:ext>
            </a:extLst>
          </p:cNvPr>
          <p:cNvSpPr>
            <a:spLocks xmlns:a="http://schemas.openxmlformats.org/drawingml/2006/main" noGrp="1"/>
          </p:cNvSpPr>
          <p:nvPr/>
        </p:nvSpPr>
        <p:spPr>
          <a:xfrm xmlns:a="http://schemas.openxmlformats.org/drawingml/2006/main">
            <a:off x="1133475" y="355282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Mensajes y texto parcial</a:t>
            </a:r>
          </a:p>
        </p:txBody>
      </p:sp>
      <p:sp>
        <p:nvSpPr>
          <p:cNvPr id="20" name="component-llm">
            <a:extLst xmlns:a="http://schemas.openxmlformats.org/drawingml/2006/main">
              <a:ext uri="{FF2B5EF4-FFF2-40B4-BE49-F238E27FC236}">
                <a16:creationId xmlns:a16="http://schemas.microsoft.com/office/drawing/2014/main" id="{3D284CEE-2B86-485C-A2A1-A642B898A0CE}"/>
              </a:ext>
            </a:extLst>
          </p:cNvPr>
          <p:cNvSpPr>
            <a:spLocks xmlns:a="http://schemas.openxmlformats.org/drawingml/2006/main" noGrp="1"/>
          </p:cNvSpPr>
          <p:nvPr/>
        </p:nvSpPr>
        <p:spPr>
          <a:xfrm xmlns:a="http://schemas.openxmlformats.org/drawingml/2006/main">
            <a:off x="4000500" y="289560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21" name="component-title">
            <a:extLst xmlns:a="http://schemas.openxmlformats.org/drawingml/2006/main">
              <a:ext uri="{FF2B5EF4-FFF2-40B4-BE49-F238E27FC236}">
                <a16:creationId xmlns:a16="http://schemas.microsoft.com/office/drawing/2014/main" id="{5B1838E1-D9D0-4FDA-A8CD-29D28F3B4D1F}"/>
              </a:ext>
            </a:extLst>
          </p:cNvPr>
          <p:cNvSpPr>
            <a:spLocks xmlns:a="http://schemas.openxmlformats.org/drawingml/2006/main" noGrp="1"/>
          </p:cNvSpPr>
          <p:nvPr/>
        </p:nvSpPr>
        <p:spPr>
          <a:xfrm xmlns:a="http://schemas.openxmlformats.org/drawingml/2006/main">
            <a:off x="4133850" y="303847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LLM</a:t>
            </a:r>
          </a:p>
        </p:txBody>
      </p:sp>
      <p:sp>
        <p:nvSpPr>
          <p:cNvPr id="22" name="component-detail">
            <a:extLst xmlns:a="http://schemas.openxmlformats.org/drawingml/2006/main">
              <a:ext uri="{FF2B5EF4-FFF2-40B4-BE49-F238E27FC236}">
                <a16:creationId xmlns:a16="http://schemas.microsoft.com/office/drawing/2014/main" id="{C32E94F8-2A73-410F-89CB-7192CF3ED2BD}"/>
              </a:ext>
            </a:extLst>
          </p:cNvPr>
          <p:cNvSpPr>
            <a:spLocks xmlns:a="http://schemas.openxmlformats.org/drawingml/2006/main" noGrp="1"/>
          </p:cNvSpPr>
          <p:nvPr/>
        </p:nvSpPr>
        <p:spPr>
          <a:xfrm xmlns:a="http://schemas.openxmlformats.org/drawingml/2006/main">
            <a:off x="4133850" y="355282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Calcula alternativas</a:t>
            </a:r>
          </a:p>
        </p:txBody>
      </p:sp>
      <p:sp>
        <p:nvSpPr>
          <p:cNvPr id="23" name="component-next">
            <a:extLst xmlns:a="http://schemas.openxmlformats.org/drawingml/2006/main">
              <a:ext uri="{FF2B5EF4-FFF2-40B4-BE49-F238E27FC236}">
                <a16:creationId xmlns:a16="http://schemas.microsoft.com/office/drawing/2014/main" id="{3BBE05CC-DB40-4229-A042-58FFB597E567}"/>
              </a:ext>
            </a:extLst>
          </p:cNvPr>
          <p:cNvSpPr>
            <a:spLocks xmlns:a="http://schemas.openxmlformats.org/drawingml/2006/main" noGrp="1"/>
          </p:cNvSpPr>
          <p:nvPr/>
        </p:nvSpPr>
        <p:spPr>
          <a:xfrm xmlns:a="http://schemas.openxmlformats.org/drawingml/2006/main">
            <a:off x="7000875" y="289560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24" name="component-title">
            <a:extLst xmlns:a="http://schemas.openxmlformats.org/drawingml/2006/main">
              <a:ext uri="{FF2B5EF4-FFF2-40B4-BE49-F238E27FC236}">
                <a16:creationId xmlns:a16="http://schemas.microsoft.com/office/drawing/2014/main" id="{1D347C3D-B3E3-48C0-8B7E-D662C29274CB}"/>
              </a:ext>
            </a:extLst>
          </p:cNvPr>
          <p:cNvSpPr>
            <a:spLocks xmlns:a="http://schemas.openxmlformats.org/drawingml/2006/main" noGrp="1"/>
          </p:cNvSpPr>
          <p:nvPr/>
        </p:nvSpPr>
        <p:spPr>
          <a:xfrm xmlns:a="http://schemas.openxmlformats.org/drawingml/2006/main">
            <a:off x="7134225" y="303847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Token elegido</a:t>
            </a:r>
          </a:p>
        </p:txBody>
      </p:sp>
      <p:sp>
        <p:nvSpPr>
          <p:cNvPr id="25" name="component-detail">
            <a:extLst xmlns:a="http://schemas.openxmlformats.org/drawingml/2006/main">
              <a:ext uri="{FF2B5EF4-FFF2-40B4-BE49-F238E27FC236}">
                <a16:creationId xmlns:a16="http://schemas.microsoft.com/office/drawing/2014/main" id="{E56FA356-27EA-4B9D-AD25-7A85892E3048}"/>
              </a:ext>
            </a:extLst>
          </p:cNvPr>
          <p:cNvSpPr>
            <a:spLocks xmlns:a="http://schemas.openxmlformats.org/drawingml/2006/main" noGrp="1"/>
          </p:cNvSpPr>
          <p:nvPr/>
        </p:nvSpPr>
        <p:spPr>
          <a:xfrm xmlns:a="http://schemas.openxmlformats.org/drawingml/2006/main">
            <a:off x="7134225" y="355282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Una continuación</a:t>
            </a:r>
          </a:p>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posible</a:t>
            </a:r>
          </a:p>
        </p:txBody>
      </p:sp>
      <p:sp>
        <p:nvSpPr>
          <p:cNvPr id="26" name="component-new">
            <a:extLst xmlns:a="http://schemas.openxmlformats.org/drawingml/2006/main">
              <a:ext uri="{FF2B5EF4-FFF2-40B4-BE49-F238E27FC236}">
                <a16:creationId xmlns:a16="http://schemas.microsoft.com/office/drawing/2014/main" id="{63F2EFFC-A20C-4CFC-9043-1FD062CA9FAA}"/>
              </a:ext>
            </a:extLst>
          </p:cNvPr>
          <p:cNvSpPr>
            <a:spLocks xmlns:a="http://schemas.openxmlformats.org/drawingml/2006/main" noGrp="1"/>
          </p:cNvSpPr>
          <p:nvPr/>
        </p:nvSpPr>
        <p:spPr>
          <a:xfrm xmlns:a="http://schemas.openxmlformats.org/drawingml/2006/main">
            <a:off x="4000500" y="5286375"/>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27" name="component-title">
            <a:extLst xmlns:a="http://schemas.openxmlformats.org/drawingml/2006/main">
              <a:ext uri="{FF2B5EF4-FFF2-40B4-BE49-F238E27FC236}">
                <a16:creationId xmlns:a16="http://schemas.microsoft.com/office/drawing/2014/main" id="{709ECCC5-B460-4F4B-87B6-26D5D0B623CC}"/>
              </a:ext>
            </a:extLst>
          </p:cNvPr>
          <p:cNvSpPr>
            <a:spLocks xmlns:a="http://schemas.openxmlformats.org/drawingml/2006/main" noGrp="1"/>
          </p:cNvSpPr>
          <p:nvPr/>
        </p:nvSpPr>
        <p:spPr>
          <a:xfrm xmlns:a="http://schemas.openxmlformats.org/drawingml/2006/main">
            <a:off x="4133850" y="5429250"/>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Contexto</a:t>
            </a:r>
          </a:p>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ampliado</a:t>
            </a:r>
          </a:p>
        </p:txBody>
      </p:sp>
      <p:sp>
        <p:nvSpPr>
          <p:cNvPr id="28" name="component-detail">
            <a:extLst xmlns:a="http://schemas.openxmlformats.org/drawingml/2006/main">
              <a:ext uri="{FF2B5EF4-FFF2-40B4-BE49-F238E27FC236}">
                <a16:creationId xmlns:a16="http://schemas.microsoft.com/office/drawing/2014/main" id="{4645D3E6-D30F-49E4-87C3-2CE999B752E5}"/>
              </a:ext>
            </a:extLst>
          </p:cNvPr>
          <p:cNvSpPr>
            <a:spLocks xmlns:a="http://schemas.openxmlformats.org/drawingml/2006/main" noGrp="1"/>
          </p:cNvSpPr>
          <p:nvPr/>
        </p:nvSpPr>
        <p:spPr>
          <a:xfrm xmlns:a="http://schemas.openxmlformats.org/drawingml/2006/main">
            <a:off x="4133850" y="5943600"/>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Añade el token</a:t>
            </a:r>
          </a:p>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generado</a:t>
            </a:r>
          </a:p>
        </p:txBody>
      </p:sp>
      <p:cxnSp>
        <p:nvCxnSpPr>
          <p:cNvPr id="69" name=""/>
          <p:cNvCxnSpPr>
            <a:stCxn xmlns:a="http://schemas.openxmlformats.org/drawingml/2006/main" id="17" idx="3"/>
            <a:endCxn xmlns:a="http://schemas.openxmlformats.org/drawingml/2006/main" id="20" idx="1"/>
          </p:cNvCxnSpPr>
          <p:nvPr/>
        </p:nvCxnSpPr>
        <p:spPr>
          <a:xfrm xmlns:a="http://schemas.openxmlformats.org/drawingml/2006/main">
            <a:off x="3381375" y="3433763"/>
            <a:ext cx="619125" cy="0"/>
          </a:xfrm>
          <a:prstGeom xmlns:a="http://schemas.openxmlformats.org/drawingml/2006/main" prst="straightConnector1">
            <a:avLst/>
          </a:prstGeom>
          <a:ln xmlns:a="http://schemas.openxmlformats.org/drawingml/2006/main" w="23813">
            <a:solidFill>
              <a:srgbClr val="1E293B"/>
            </a:solidFill>
            <a:tailEnd type="triangle" w="med" len="med"/>
          </a:ln>
        </p:spPr>
      </p:cxnSp>
      <p:cxnSp>
        <p:nvCxnSpPr>
          <p:cNvPr id="70" name=""/>
          <p:cNvCxnSpPr>
            <a:stCxn xmlns:a="http://schemas.openxmlformats.org/drawingml/2006/main" id="20" idx="3"/>
            <a:endCxn xmlns:a="http://schemas.openxmlformats.org/drawingml/2006/main" id="23" idx="1"/>
          </p:cNvCxnSpPr>
          <p:nvPr/>
        </p:nvCxnSpPr>
        <p:spPr>
          <a:xfrm xmlns:a="http://schemas.openxmlformats.org/drawingml/2006/main">
            <a:off x="6381750" y="3433763"/>
            <a:ext cx="619125" cy="0"/>
          </a:xfrm>
          <a:prstGeom xmlns:a="http://schemas.openxmlformats.org/drawingml/2006/main" prst="straightConnector1">
            <a:avLst/>
          </a:prstGeom>
          <a:ln xmlns:a="http://schemas.openxmlformats.org/drawingml/2006/main" w="23813">
            <a:solidFill>
              <a:srgbClr val="1E293B"/>
            </a:solidFill>
            <a:tailEnd type="triangle" w="med" len="med"/>
          </a:ln>
        </p:spPr>
      </p:cxnSp>
      <p:cxnSp>
        <p:nvCxnSpPr>
          <p:cNvPr id="71" name=""/>
          <p:cNvCxnSpPr>
            <a:stCxn xmlns:a="http://schemas.openxmlformats.org/drawingml/2006/main" id="23" idx="2"/>
            <a:endCxn xmlns:a="http://schemas.openxmlformats.org/drawingml/2006/main" id="26" idx="3"/>
          </p:cNvCxnSpPr>
          <p:nvPr/>
        </p:nvCxnSpPr>
        <p:spPr>
          <a:xfrm xmlns:a="http://schemas.openxmlformats.org/drawingml/2006/main" flipH="1">
            <a:off x="6381750" y="3971925"/>
            <a:ext cx="1809750" cy="1852613"/>
          </a:xfrm>
          <a:prstGeom xmlns:a="http://schemas.openxmlformats.org/drawingml/2006/main" prst="straightConnector1">
            <a:avLst/>
          </a:prstGeom>
          <a:ln xmlns:a="http://schemas.openxmlformats.org/drawingml/2006/main" w="23813">
            <a:solidFill>
              <a:srgbClr val="1E293B"/>
            </a:solidFill>
            <a:tailEnd type="triangle" w="med" len="med"/>
          </a:ln>
        </p:spPr>
      </p:cxnSp>
      <p:cxnSp>
        <p:nvCxnSpPr>
          <p:cNvPr id="72" name=""/>
          <p:cNvCxnSpPr>
            <a:stCxn xmlns:a="http://schemas.openxmlformats.org/drawingml/2006/main" id="26" idx="0"/>
            <a:endCxn xmlns:a="http://schemas.openxmlformats.org/drawingml/2006/main" id="20" idx="2"/>
          </p:cNvCxnSpPr>
          <p:nvPr/>
        </p:nvCxnSpPr>
        <p:spPr>
          <a:xfrm xmlns:a="http://schemas.openxmlformats.org/drawingml/2006/main" flipV="1">
            <a:off x="5191125" y="3971925"/>
            <a:ext cx="0" cy="1314450"/>
          </a:xfrm>
          <a:prstGeom xmlns:a="http://schemas.openxmlformats.org/drawingml/2006/main" prst="straightConnector1">
            <a:avLst/>
          </a:prstGeom>
          <a:ln xmlns:a="http://schemas.openxmlformats.org/drawingml/2006/main" w="23813">
            <a:solidFill>
              <a:srgbClr val="1E293B"/>
            </a:solidFill>
            <a:tailEnd type="triangle" w="med" len="med"/>
          </a:ln>
        </p:spPr>
      </p:cxnSp>
      <p:sp>
        <p:nvSpPr>
          <p:cNvPr id="33" name="panel">
            <a:extLst xmlns:a="http://schemas.openxmlformats.org/drawingml/2006/main">
              <a:ext uri="{FF2B5EF4-FFF2-40B4-BE49-F238E27FC236}">
                <a16:creationId xmlns:a16="http://schemas.microsoft.com/office/drawing/2014/main" id="{7C7EE177-B866-48B1-9AD4-4836FC1E005F}"/>
              </a:ext>
            </a:extLst>
          </p:cNvPr>
          <p:cNvSpPr>
            <a:spLocks xmlns:a="http://schemas.openxmlformats.org/drawingml/2006/main" noGrp="1"/>
          </p:cNvSpPr>
          <p:nvPr/>
        </p:nvSpPr>
        <p:spPr>
          <a:xfrm xmlns:a="http://schemas.openxmlformats.org/drawingml/2006/main">
            <a:off x="10058400" y="2647950"/>
            <a:ext cx="4610100" cy="4619625"/>
          </a:xfrm>
          <a:prstGeom xmlns:a="http://schemas.openxmlformats.org/drawingml/2006/main" prst="roundRect">
            <a:avLst>
              <a:gd name="adj" fmla="val 3719"/>
            </a:avLst>
          </a:prstGeom>
          <a:solidFill xmlns:a="http://schemas.openxmlformats.org/drawingml/2006/main">
            <a:srgbClr val="E9F0F7"/>
          </a:solidFill>
          <a:ln xmlns:a="http://schemas.openxmlformats.org/drawingml/2006/main" w="0">
            <a:noFill/>
          </a:ln>
        </p:spPr>
      </p:sp>
      <p:sp>
        <p:nvSpPr>
          <p:cNvPr id="34" name="diagram-reading-label">
            <a:extLst xmlns:a="http://schemas.openxmlformats.org/drawingml/2006/main">
              <a:ext uri="{FF2B5EF4-FFF2-40B4-BE49-F238E27FC236}">
                <a16:creationId xmlns:a16="http://schemas.microsoft.com/office/drawing/2014/main" id="{02F4BA59-31F7-4057-9971-A53F5C3D69A3}"/>
              </a:ext>
            </a:extLst>
          </p:cNvPr>
          <p:cNvSpPr>
            <a:spLocks xmlns:a="http://schemas.openxmlformats.org/drawingml/2006/main" noGrp="1"/>
          </p:cNvSpPr>
          <p:nvPr/>
        </p:nvSpPr>
        <p:spPr>
          <a:xfrm xmlns:a="http://schemas.openxmlformats.org/drawingml/2006/main">
            <a:off x="10287000" y="2857500"/>
            <a:ext cx="414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CLAVE DE LECTURA</a:t>
            </a:r>
          </a:p>
        </p:txBody>
      </p:sp>
      <p:sp>
        <p:nvSpPr>
          <p:cNvPr id="35" name="diagram-reading">
            <a:extLst xmlns:a="http://schemas.openxmlformats.org/drawingml/2006/main">
              <a:ext uri="{FF2B5EF4-FFF2-40B4-BE49-F238E27FC236}">
                <a16:creationId xmlns:a16="http://schemas.microsoft.com/office/drawing/2014/main" id="{AAD21C3B-852F-424A-BA9C-D38CD90B4B76}"/>
              </a:ext>
            </a:extLst>
          </p:cNvPr>
          <p:cNvSpPr>
            <a:spLocks xmlns:a="http://schemas.openxmlformats.org/drawingml/2006/main" noGrp="1"/>
          </p:cNvSpPr>
          <p:nvPr/>
        </p:nvSpPr>
        <p:spPr>
          <a:xfrm xmlns:a="http://schemas.openxmlformats.org/drawingml/2006/main">
            <a:off x="10287000" y="3286125"/>
            <a:ext cx="4143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Volver a calcular no significa</a:t>
            </a:r>
          </a:p>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reentrenar los pesos.</a:t>
            </a:r>
          </a:p>
        </p:txBody>
      </p:sp>
      <p:sp>
        <p:nvSpPr>
          <p:cNvPr id="36" name="diagram-question-label">
            <a:extLst xmlns:a="http://schemas.openxmlformats.org/drawingml/2006/main">
              <a:ext uri="{FF2B5EF4-FFF2-40B4-BE49-F238E27FC236}">
                <a16:creationId xmlns:a16="http://schemas.microsoft.com/office/drawing/2014/main" id="{2D941D76-BBBD-43C9-AA24-D27FCC8A3CB9}"/>
              </a:ext>
            </a:extLst>
          </p:cNvPr>
          <p:cNvSpPr>
            <a:spLocks xmlns:a="http://schemas.openxmlformats.org/drawingml/2006/main" noGrp="1"/>
          </p:cNvSpPr>
          <p:nvPr/>
        </p:nvSpPr>
        <p:spPr>
          <a:xfrm xmlns:a="http://schemas.openxmlformats.org/drawingml/2006/main">
            <a:off x="10287000" y="4752975"/>
            <a:ext cx="414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PREGUNTA AL GRUPO</a:t>
            </a:r>
          </a:p>
        </p:txBody>
      </p:sp>
      <p:sp>
        <p:nvSpPr>
          <p:cNvPr id="37" name="diagram-question">
            <a:extLst xmlns:a="http://schemas.openxmlformats.org/drawingml/2006/main">
              <a:ext uri="{FF2B5EF4-FFF2-40B4-BE49-F238E27FC236}">
                <a16:creationId xmlns:a16="http://schemas.microsoft.com/office/drawing/2014/main" id="{655C985E-117E-436F-A2C0-8552FA2AF237}"/>
              </a:ext>
            </a:extLst>
          </p:cNvPr>
          <p:cNvSpPr>
            <a:spLocks xmlns:a="http://schemas.openxmlformats.org/drawingml/2006/main" noGrp="1"/>
          </p:cNvSpPr>
          <p:nvPr/>
        </p:nvSpPr>
        <p:spPr>
          <a:xfrm xmlns:a="http://schemas.openxmlformats.org/drawingml/2006/main">
            <a:off x="10287000" y="5143500"/>
            <a:ext cx="4143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E293B"/>
                </a:solidFill>
                <a:latin typeface="DejaVu Sans"/>
                <a:ea typeface="DejaVu Sans"/>
                <a:cs typeface="DejaVu Sans"/>
              </a:defRPr>
            </a:pPr>
            <a:r>
              <a:rPr sz="1725" b="0">
                <a:solidFill>
                  <a:srgbClr val="1E293B"/>
                </a:solidFill>
                <a:latin typeface="DejaVu Sans"/>
                <a:ea typeface="DejaVu Sans"/>
                <a:cs typeface="DejaVu Sans"/>
              </a:rPr>
              <a:t>¿Qué información falta para elegir el</a:t>
            </a:r>
          </a:p>
          <a:p xmlns:a="http://schemas.openxmlformats.org/drawingml/2006/main">
            <a:pPr algn="l">
              <a:defRPr sz="1725" b="0">
                <a:solidFill>
                  <a:srgbClr val="1E293B"/>
                </a:solidFill>
                <a:latin typeface="DejaVu Sans"/>
                <a:ea typeface="DejaVu Sans"/>
                <a:cs typeface="DejaVu Sans"/>
              </a:defRPr>
            </a:pPr>
            <a:r>
              <a:rPr sz="1725" b="0">
                <a:solidFill>
                  <a:srgbClr val="1E293B"/>
                </a:solidFill>
                <a:latin typeface="DejaVu Sans"/>
                <a:ea typeface="DejaVu Sans"/>
                <a:cs typeface="DejaVu Sans"/>
              </a:rPr>
              <a:t>estado correcto?</a:t>
            </a:r>
          </a:p>
        </p:txBody>
      </p:sp>
      <p:sp>
        <p:nvSpPr>
          <p:cNvPr id="38" name="diagram-caution">
            <a:extLst xmlns:a="http://schemas.openxmlformats.org/drawingml/2006/main">
              <a:ext uri="{FF2B5EF4-FFF2-40B4-BE49-F238E27FC236}">
                <a16:creationId xmlns:a16="http://schemas.microsoft.com/office/drawing/2014/main" id="{FB6AF221-8505-4EE8-943D-67D1E7960F33}"/>
              </a:ext>
            </a:extLst>
          </p:cNvPr>
          <p:cNvSpPr>
            <a:spLocks xmlns:a="http://schemas.openxmlformats.org/drawingml/2006/main" noGrp="1"/>
          </p:cNvSpPr>
          <p:nvPr/>
        </p:nvSpPr>
        <p:spPr>
          <a:xfrm xmlns:a="http://schemas.openxmlformats.org/drawingml/2006/main">
            <a:off x="10287000" y="6276975"/>
            <a:ext cx="4143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E293B"/>
                </a:solidFill>
                <a:latin typeface="DejaVu Sans"/>
                <a:ea typeface="DejaVu Sans"/>
                <a:cs typeface="DejaVu Sans"/>
              </a:defRPr>
            </a:pPr>
            <a:r>
              <a:rPr sz="1425" b="0">
                <a:solidFill>
                  <a:srgbClr val="1E293B"/>
                </a:solidFill>
                <a:latin typeface="DejaVu Sans"/>
                <a:ea typeface="DejaVu Sans"/>
                <a:cs typeface="DejaVu Sans"/>
              </a:rPr>
              <a:t>Error a evitar: Interpretar la generación como</a:t>
            </a:r>
          </a:p>
          <a:p xmlns:a="http://schemas.openxmlformats.org/drawingml/2006/main">
            <a:pPr algn="l">
              <a:defRPr sz="1425" b="0">
                <a:solidFill>
                  <a:srgbClr val="1E293B"/>
                </a:solidFill>
                <a:latin typeface="DejaVu Sans"/>
                <a:ea typeface="DejaVu Sans"/>
                <a:cs typeface="DejaVu Sans"/>
              </a:defRPr>
            </a:pPr>
            <a:r>
              <a:rPr sz="1425" b="0">
                <a:solidFill>
                  <a:srgbClr val="1E293B"/>
                </a:solidFill>
                <a:latin typeface="DejaVu Sans"/>
                <a:ea typeface="DejaVu Sans"/>
                <a:cs typeface="DejaVu Sans"/>
              </a:rPr>
              <a:t>consulta de base de datos o entrenamiento.</a:t>
            </a:r>
          </a:p>
        </p:txBody>
      </p:sp>
      <p:sp>
        <p:nvSpPr>
          <p:cNvPr id="39" name="panel">
            <a:extLst xmlns:a="http://schemas.openxmlformats.org/drawingml/2006/main">
              <a:ext uri="{FF2B5EF4-FFF2-40B4-BE49-F238E27FC236}">
                <a16:creationId xmlns:a16="http://schemas.microsoft.com/office/drawing/2014/main" id="{5BE3D822-4954-4E09-A4BC-816137C200D5}"/>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0" name="takeaway">
            <a:extLst xmlns:a="http://schemas.openxmlformats.org/drawingml/2006/main">
              <a:ext uri="{FF2B5EF4-FFF2-40B4-BE49-F238E27FC236}">
                <a16:creationId xmlns:a16="http://schemas.microsoft.com/office/drawing/2014/main" id="{85D99DAD-418E-4798-832D-96FE064C6612}"/>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Probabilidad del texto y verdad de una afirmación son cosas distintas.</a:t>
            </a:r>
          </a:p>
        </p:txBody>
      </p:sp>
    </p:spTree>
    <p:extLst>
      <p:ext uri="{BB962C8B-B14F-4D97-AF65-F5344CB8AC3E}">
        <p14:creationId xmlns:p14="http://schemas.microsoft.com/office/powerpoint/2010/main" val="1425431180"/>
      </p:ext>
    </p:extLst>
  </p:cSld>
</p:sld>
</file>

<file path=ppt/slides/slide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3EAE0FB2-3198-4EF7-8AFB-F57FE58B7F8C}"/>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9F0345-5D8F-496E-84AA-A5A9DA665648}"/>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7CC313A1-D346-4115-BF7D-D246BE5197C1}"/>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4" name="breadcrumb">
            <a:extLst xmlns:a="http://schemas.openxmlformats.org/drawingml/2006/main">
              <a:ext uri="{FF2B5EF4-FFF2-40B4-BE49-F238E27FC236}">
                <a16:creationId xmlns:a16="http://schemas.microsoft.com/office/drawing/2014/main" id="{C7302B3E-AA9B-48A8-9E56-097B4337CC6E}"/>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3</a:t>
            </a:r>
          </a:p>
        </p:txBody>
      </p:sp>
      <p:sp>
        <p:nvSpPr>
          <p:cNvPr id="5" name="slide-title">
            <a:extLst xmlns:a="http://schemas.openxmlformats.org/drawingml/2006/main">
              <a:ext uri="{FF2B5EF4-FFF2-40B4-BE49-F238E27FC236}">
                <a16:creationId xmlns:a16="http://schemas.microsoft.com/office/drawing/2014/main" id="{D11575D5-6BFA-4238-B396-C2D3C2BCB379}"/>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Generar no equivale a consultar</a:t>
            </a:r>
          </a:p>
        </p:txBody>
      </p:sp>
      <p:sp>
        <p:nvSpPr>
          <p:cNvPr id="6" name="learning-purpose">
            <a:extLst xmlns:a="http://schemas.openxmlformats.org/drawingml/2006/main">
              <a:ext uri="{FF2B5EF4-FFF2-40B4-BE49-F238E27FC236}">
                <a16:creationId xmlns:a16="http://schemas.microsoft.com/office/drawing/2014/main" id="{CCEB2D5C-BB68-4A5C-ADF0-6BA47B82DF65}"/>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Explicar cómo una continuación se añade al contexto de generación.</a:t>
            </a:r>
          </a:p>
        </p:txBody>
      </p:sp>
      <p:sp>
        <p:nvSpPr>
          <p:cNvPr id="7" name="panel">
            <a:extLst xmlns:a="http://schemas.openxmlformats.org/drawingml/2006/main">
              <a:ext uri="{FF2B5EF4-FFF2-40B4-BE49-F238E27FC236}">
                <a16:creationId xmlns:a16="http://schemas.microsoft.com/office/drawing/2014/main" id="{6020D828-9928-4E44-89F2-F69D4E059B67}"/>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B5BA29C9-DC89-4181-B183-8A27C2D4765D}"/>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D3F0931E-ED9B-4824-A9DA-EEBBB5245AE7}"/>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05828214-CA0C-46BB-8A87-61F553766F53}"/>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7DA83D73-AC28-4DED-AF14-5911285AC774}"/>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EF3DFED0-0601-4D1B-B5EC-BE964DD5B3DB}"/>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A5466C5A-D3B1-4CBD-9B07-A1E265BDC7A4}"/>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C03</a:t>
            </a:r>
          </a:p>
        </p:txBody>
      </p:sp>
      <p:sp>
        <p:nvSpPr>
          <p:cNvPr id="14" name="folio">
            <a:extLst xmlns:a="http://schemas.openxmlformats.org/drawingml/2006/main">
              <a:ext uri="{FF2B5EF4-FFF2-40B4-BE49-F238E27FC236}">
                <a16:creationId xmlns:a16="http://schemas.microsoft.com/office/drawing/2014/main" id="{2D85AD63-95B8-44CE-91A9-2A72E243612F}"/>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8</a:t>
            </a:r>
          </a:p>
        </p:txBody>
      </p:sp>
      <p:sp>
        <p:nvSpPr>
          <p:cNvPr id="15" name="section-label">
            <a:extLst xmlns:a="http://schemas.openxmlformats.org/drawingml/2006/main">
              <a:ext uri="{FF2B5EF4-FFF2-40B4-BE49-F238E27FC236}">
                <a16:creationId xmlns:a16="http://schemas.microsoft.com/office/drawing/2014/main" id="{FB7E152B-65CB-43B0-B67C-85033D47AC26}"/>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Condicionar</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La distribución depende de lo recibido y de los</a:t>
                      </a:r>
                    </a:p>
                    <a:p>
                      <a:r>
                        <a:rPr sz="1875" b="0">
                          <a:solidFill>
                            <a:srgbClr val="1E293B"/>
                          </a:solidFill>
                          <a:latin typeface="DejaVu Sans"/>
                          <a:ea typeface="DejaVu Sans"/>
                          <a:cs typeface="DejaVu Sans"/>
                        </a:rPr>
                        <a:t>parámetros del modelo.</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Seleccionar</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La configuración de generación influye en la</a:t>
                      </a:r>
                    </a:p>
                    <a:p>
                      <a:r>
                        <a:rPr sz="1875" b="0">
                          <a:solidFill>
                            <a:srgbClr val="1E293B"/>
                          </a:solidFill>
                          <a:latin typeface="DejaVu Sans"/>
                          <a:ea typeface="DejaVu Sans"/>
                          <a:cs typeface="DejaVu Sans"/>
                        </a:rPr>
                        <a:t>elección.</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Detener</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La salida termina al alcanzar una condición de</a:t>
                      </a:r>
                    </a:p>
                    <a:p>
                      <a:r>
                        <a:rPr sz="1875" b="0">
                          <a:solidFill>
                            <a:srgbClr val="1E293B"/>
                          </a:solidFill>
                          <a:latin typeface="DejaVu Sans"/>
                          <a:ea typeface="DejaVu Sans"/>
                          <a:cs typeface="DejaVu Sans"/>
                        </a:rPr>
                        <a:t>parada.</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9FB4C439-93D9-4BAD-B1EB-456ACCA075F2}"/>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F4DB4459-C6FC-4C0F-9CBC-A0FDFAA7BB9B}"/>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382911B3-48DB-41A1-94D1-644A2ECA9BFC}"/>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Interpretar la generación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como consulta de base de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datos o entrenamiento.</a:t>
            </a:r>
          </a:p>
        </p:txBody>
      </p:sp>
      <p:sp>
        <p:nvSpPr>
          <p:cNvPr id="20" name="development-prompt">
            <a:extLst xmlns:a="http://schemas.openxmlformats.org/drawingml/2006/main">
              <a:ext uri="{FF2B5EF4-FFF2-40B4-BE49-F238E27FC236}">
                <a16:creationId xmlns:a16="http://schemas.microsoft.com/office/drawing/2014/main" id="{EE30D857-8F5E-4EF1-8F07-4DE43FA6C339}"/>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D1540CD9-0F9D-4E69-B736-65C2BF6CE6D7}"/>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543431B9-D9DC-4437-9EA4-8D1C8A2244C3}"/>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F3DCEF03-A9EB-4B21-AF05-643EB88EE3EE}"/>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¿Qué información falta para elegir el estado correcto?</a:t>
            </a:r>
          </a:p>
        </p:txBody>
      </p:sp>
      <p:sp>
        <p:nvSpPr>
          <p:cNvPr id="24" name="panel">
            <a:extLst xmlns:a="http://schemas.openxmlformats.org/drawingml/2006/main">
              <a:ext uri="{FF2B5EF4-FFF2-40B4-BE49-F238E27FC236}">
                <a16:creationId xmlns:a16="http://schemas.microsoft.com/office/drawing/2014/main" id="{3983A8F6-A496-494D-87B5-C50B0E69B076}"/>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FCF21909-3908-4946-BA7F-17E49BA54A47}"/>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Probabilidad del texto y verdad de una afirmación son cosas distintas.</a:t>
            </a:r>
          </a:p>
        </p:txBody>
      </p:sp>
    </p:spTree>
    <p:extLst>
      <p:ext uri="{BB962C8B-B14F-4D97-AF65-F5344CB8AC3E}">
        <p14:creationId xmlns:p14="http://schemas.microsoft.com/office/powerpoint/2010/main" val="225448345"/>
      </p:ext>
    </p:extLst>
  </p:cSld>
</p:sld>
</file>

<file path=ppt/slides/slide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94C8186C-1DA2-47B8-A3C7-14E1DEA73BB3}"/>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C7B706-C474-46EF-8F73-F203E396A5DA}"/>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B0FAACB4-AD32-4806-A1B5-5FED6D9B656B}"/>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4" name="breadcrumb">
            <a:extLst xmlns:a="http://schemas.openxmlformats.org/drawingml/2006/main">
              <a:ext uri="{FF2B5EF4-FFF2-40B4-BE49-F238E27FC236}">
                <a16:creationId xmlns:a16="http://schemas.microsoft.com/office/drawing/2014/main" id="{050C4A20-9F48-4C6D-B01F-E894C08CE1C9}"/>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3</a:t>
            </a:r>
          </a:p>
        </p:txBody>
      </p:sp>
      <p:sp>
        <p:nvSpPr>
          <p:cNvPr id="5" name="slide-title">
            <a:extLst xmlns:a="http://schemas.openxmlformats.org/drawingml/2006/main">
              <a:ext uri="{FF2B5EF4-FFF2-40B4-BE49-F238E27FC236}">
                <a16:creationId xmlns:a16="http://schemas.microsoft.com/office/drawing/2014/main" id="{EE4A144C-90B4-409E-89C6-4A101C667536}"/>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Generación token a token</a:t>
            </a:r>
          </a:p>
        </p:txBody>
      </p:sp>
      <p:sp>
        <p:nvSpPr>
          <p:cNvPr id="6" name="learning-purpose">
            <a:extLst xmlns:a="http://schemas.openxmlformats.org/drawingml/2006/main">
              <a:ext uri="{FF2B5EF4-FFF2-40B4-BE49-F238E27FC236}">
                <a16:creationId xmlns:a16="http://schemas.microsoft.com/office/drawing/2014/main" id="{A935B704-2FF2-4CC7-A715-50372185116F}"/>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Explicar cómo una continuación se añade al contexto de generación.</a:t>
            </a:r>
          </a:p>
        </p:txBody>
      </p:sp>
      <p:sp>
        <p:nvSpPr>
          <p:cNvPr id="7" name="panel">
            <a:extLst xmlns:a="http://schemas.openxmlformats.org/drawingml/2006/main">
              <a:ext uri="{FF2B5EF4-FFF2-40B4-BE49-F238E27FC236}">
                <a16:creationId xmlns:a16="http://schemas.microsoft.com/office/drawing/2014/main" id="{8291F8DE-1E49-4A76-8997-6BAEC865FA57}"/>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695F2AD6-94BB-4676-BF68-DBCAEFCA57B2}"/>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DBE4D953-9BB9-432A-BF82-F36DBE6CE156}"/>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C7E1D834-824D-4E80-8462-11AE2AE73A5A}"/>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924E7B1A-EC5D-4FAB-BB23-BCE34956455C}"/>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E3A122A2-2F6D-42ED-B683-803E491C0B84}"/>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C33CD193-6F2A-4927-A7B5-D8B83D0637BF}"/>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C03</a:t>
            </a:r>
          </a:p>
        </p:txBody>
      </p:sp>
      <p:sp>
        <p:nvSpPr>
          <p:cNvPr id="14" name="folio">
            <a:extLst xmlns:a="http://schemas.openxmlformats.org/drawingml/2006/main">
              <a:ext uri="{FF2B5EF4-FFF2-40B4-BE49-F238E27FC236}">
                <a16:creationId xmlns:a16="http://schemas.microsoft.com/office/drawing/2014/main" id="{2925B966-96E7-4E77-90AD-CD58ADDD4F61}"/>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9</a:t>
            </a:r>
          </a:p>
        </p:txBody>
      </p:sp>
      <p:sp>
        <p:nvSpPr>
          <p:cNvPr id="15" name="section-label">
            <a:extLst xmlns:a="http://schemas.openxmlformats.org/drawingml/2006/main">
              <a:ext uri="{FF2B5EF4-FFF2-40B4-BE49-F238E27FC236}">
                <a16:creationId xmlns:a16="http://schemas.microsoft.com/office/drawing/2014/main" id="{D67ED3C1-A810-4400-8A99-2D85F736F91C}"/>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MERCASUR · CASO DIDÁCTICO</a:t>
            </a:r>
          </a:p>
        </p:txBody>
      </p:sp>
      <p:sp>
        <p:nvSpPr>
          <p:cNvPr id="16" name="panel">
            <a:extLst xmlns:a="http://schemas.openxmlformats.org/drawingml/2006/main">
              <a:ext uri="{FF2B5EF4-FFF2-40B4-BE49-F238E27FC236}">
                <a16:creationId xmlns:a16="http://schemas.microsoft.com/office/drawing/2014/main" id="{F115B401-694F-4461-BEB2-866286939A60}"/>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15B7262D-A080-4C17-959C-F57DF3255C23}"/>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DEE65A30-2FF7-441B-970F-846BCED70D66}"/>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Completa «El pedido P-104 se encuentra…» sin consultar pedidos.</a:t>
            </a:r>
          </a:p>
        </p:txBody>
      </p:sp>
      <p:sp>
        <p:nvSpPr>
          <p:cNvPr id="19" name="concept-node">
            <a:extLst xmlns:a="http://schemas.openxmlformats.org/drawingml/2006/main">
              <a:ext uri="{FF2B5EF4-FFF2-40B4-BE49-F238E27FC236}">
                <a16:creationId xmlns:a16="http://schemas.microsoft.com/office/drawing/2014/main" id="{8188CD74-0115-477A-A5E2-B4EEEC2C8163}"/>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4B9A5D14-5E38-45E9-A73E-86214378CA7B}"/>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5E1C706D-1169-4734-AB3C-5514161250E9}"/>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681BA40E-F048-4C7D-83D6-4C6FAC40A465}"/>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2BD57898-01F2-4CF7-AEB0-1964802A98BD}"/>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Proponer</a:t>
            </a:r>
          </a:p>
        </p:txBody>
      </p:sp>
      <p:sp>
        <p:nvSpPr>
          <p:cNvPr id="24" name="node-body">
            <a:extLst xmlns:a="http://schemas.openxmlformats.org/drawingml/2006/main">
              <a:ext uri="{FF2B5EF4-FFF2-40B4-BE49-F238E27FC236}">
                <a16:creationId xmlns:a16="http://schemas.microsoft.com/office/drawing/2014/main" id="{3AE90B19-CB1F-4A70-8464-8F713CB40A80}"/>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Podría continuar con «en</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tránsito».</a:t>
            </a:r>
          </a:p>
        </p:txBody>
      </p:sp>
      <p:sp>
        <p:nvSpPr>
          <p:cNvPr id="25" name="concept-node">
            <a:extLst xmlns:a="http://schemas.openxmlformats.org/drawingml/2006/main">
              <a:ext uri="{FF2B5EF4-FFF2-40B4-BE49-F238E27FC236}">
                <a16:creationId xmlns:a16="http://schemas.microsoft.com/office/drawing/2014/main" id="{414FF866-78EC-471F-B118-F92319CA945D}"/>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75434704-20FA-4B39-B396-4C6B8B8DDF16}"/>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18EC9E1-F1D3-47F7-83E1-4FA357A346DB}"/>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544410D3-8AFC-4440-8D6D-27AB153AE050}"/>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97A0146C-E3EF-4657-BCCA-47618F76EA41}"/>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Cuestionar</a:t>
            </a:r>
          </a:p>
        </p:txBody>
      </p:sp>
      <p:sp>
        <p:nvSpPr>
          <p:cNvPr id="30" name="node-body">
            <a:extLst xmlns:a="http://schemas.openxmlformats.org/drawingml/2006/main">
              <a:ext uri="{FF2B5EF4-FFF2-40B4-BE49-F238E27FC236}">
                <a16:creationId xmlns:a16="http://schemas.microsoft.com/office/drawing/2014/main" id="{87625E48-E522-4193-8DBC-61231D4AC6B5}"/>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También podría generar</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«entregado».</a:t>
            </a:r>
          </a:p>
        </p:txBody>
      </p:sp>
      <p:sp>
        <p:nvSpPr>
          <p:cNvPr id="31" name="concept-node">
            <a:extLst xmlns:a="http://schemas.openxmlformats.org/drawingml/2006/main">
              <a:ext uri="{FF2B5EF4-FFF2-40B4-BE49-F238E27FC236}">
                <a16:creationId xmlns:a16="http://schemas.microsoft.com/office/drawing/2014/main" id="{9BF5B1DD-A770-4009-9114-19FFE1124EF9}"/>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E86ECA25-DC72-4E45-962E-AB1F14C73A8B}"/>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304D170-9F39-4D58-8CE7-F3CB86786149}"/>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3D251A33-0FDC-42F1-936B-1D173CC1BC1A}"/>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BD86D0B2-EB61-4865-ACED-F0AF89878EBF}"/>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Verificar</a:t>
            </a:r>
          </a:p>
        </p:txBody>
      </p:sp>
      <p:sp>
        <p:nvSpPr>
          <p:cNvPr id="36" name="node-body">
            <a:extLst xmlns:a="http://schemas.openxmlformats.org/drawingml/2006/main">
              <a:ext uri="{FF2B5EF4-FFF2-40B4-BE49-F238E27FC236}">
                <a16:creationId xmlns:a16="http://schemas.microsoft.com/office/drawing/2014/main" id="{1EC6BD52-7B84-426F-8211-635ADBC9B4F2}"/>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Solo el sistema de pedidos</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decide cuál dato corresponde.</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92710B0C-D6E2-41BC-B905-23817FCFDA59}"/>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AD40600C-D3F8-40EB-96EA-FB8CE38B9DB9}"/>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2A6B7E00-0244-47A8-A139-A2E6AEDD7ED5}"/>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La continuación no acredita el estado real del pedido.</a:t>
            </a:r>
          </a:p>
        </p:txBody>
      </p:sp>
      <p:sp>
        <p:nvSpPr>
          <p:cNvPr id="42" name="panel">
            <a:extLst xmlns:a="http://schemas.openxmlformats.org/drawingml/2006/main">
              <a:ext uri="{FF2B5EF4-FFF2-40B4-BE49-F238E27FC236}">
                <a16:creationId xmlns:a16="http://schemas.microsoft.com/office/drawing/2014/main" id="{263B3660-702B-4416-85CB-EC66AFCD84E7}"/>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E26DB24D-CDD9-4E61-8AB2-0E62092A8AF4}"/>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Probabilidad del texto y verdad de una afirmación son cosas distintas.</a:t>
            </a:r>
          </a:p>
        </p:txBody>
      </p:sp>
    </p:spTree>
    <p:extLst>
      <p:ext uri="{BB962C8B-B14F-4D97-AF65-F5344CB8AC3E}">
        <p14:creationId xmlns:p14="http://schemas.microsoft.com/office/powerpoint/2010/main" val="285447568"/>
      </p:ext>
    </p:extLst>
  </p:cSld>
</p:sld>
</file>

<file path=ppt/slides/slide1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6C43BDF6-5F7E-49FA-9C85-1D4F333A459A}"/>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D56D8DA-08EB-4812-A525-C3B0933431DC}"/>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E332F138-5269-4AB2-986F-F64854729003}"/>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4</a:t>
            </a:r>
          </a:p>
        </p:txBody>
      </p:sp>
      <p:sp>
        <p:nvSpPr>
          <p:cNvPr id="4" name="breadcrumb">
            <a:extLst xmlns:a="http://schemas.openxmlformats.org/drawingml/2006/main">
              <a:ext uri="{FF2B5EF4-FFF2-40B4-BE49-F238E27FC236}">
                <a16:creationId xmlns:a16="http://schemas.microsoft.com/office/drawing/2014/main" id="{69CFAC1A-2A99-4597-A32B-B5C77443157A}"/>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4</a:t>
            </a:r>
          </a:p>
        </p:txBody>
      </p:sp>
      <p:sp>
        <p:nvSpPr>
          <p:cNvPr id="5" name="slide-title">
            <a:extLst xmlns:a="http://schemas.openxmlformats.org/drawingml/2006/main">
              <a:ext uri="{FF2B5EF4-FFF2-40B4-BE49-F238E27FC236}">
                <a16:creationId xmlns:a16="http://schemas.microsoft.com/office/drawing/2014/main" id="{F82DF929-F1CD-4C86-ABEE-D7607A73B9F1}"/>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Tokens: unidades del texto</a:t>
            </a:r>
          </a:p>
        </p:txBody>
      </p:sp>
      <p:sp>
        <p:nvSpPr>
          <p:cNvPr id="6" name="learning-purpose">
            <a:extLst xmlns:a="http://schemas.openxmlformats.org/drawingml/2006/main">
              <a:ext uri="{FF2B5EF4-FFF2-40B4-BE49-F238E27FC236}">
                <a16:creationId xmlns:a16="http://schemas.microsoft.com/office/drawing/2014/main" id="{2F5E7996-3BF5-4E69-98EA-666F0757E06C}"/>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Reconocer que el tokenizador determina fragmentos y cantidad.</a:t>
            </a:r>
          </a:p>
        </p:txBody>
      </p:sp>
      <p:sp>
        <p:nvSpPr>
          <p:cNvPr id="7" name="panel">
            <a:extLst xmlns:a="http://schemas.openxmlformats.org/drawingml/2006/main">
              <a:ext uri="{FF2B5EF4-FFF2-40B4-BE49-F238E27FC236}">
                <a16:creationId xmlns:a16="http://schemas.microsoft.com/office/drawing/2014/main" id="{E8FE9ABB-1521-4C50-ACC7-E303F2BA33B3}"/>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C5D59E61-A750-4B40-BBED-96D7E0DEE8F3}"/>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C345DCFB-0BF8-455F-9E7F-CA6CE6FD0009}"/>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57AF54BD-C1CE-4196-B0F9-86FEEFDCFB07}"/>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647DDBCA-3266-4819-93F5-65473CF49A76}"/>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31BDFF00-F6A7-410D-9C48-5CB34A21AC1D}"/>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0762BAD4-029E-4918-A10E-B5C6331B4F96}"/>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C04</a:t>
            </a:r>
          </a:p>
        </p:txBody>
      </p:sp>
      <p:sp>
        <p:nvSpPr>
          <p:cNvPr id="14" name="folio">
            <a:extLst xmlns:a="http://schemas.openxmlformats.org/drawingml/2006/main">
              <a:ext uri="{FF2B5EF4-FFF2-40B4-BE49-F238E27FC236}">
                <a16:creationId xmlns:a16="http://schemas.microsoft.com/office/drawing/2014/main" id="{FF43A641-17FB-4E22-9773-D25CC20A4CE1}"/>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10</a:t>
            </a:r>
          </a:p>
        </p:txBody>
      </p:sp>
      <p:sp>
        <p:nvSpPr>
          <p:cNvPr id="15" name="section-label">
            <a:extLst xmlns:a="http://schemas.openxmlformats.org/drawingml/2006/main">
              <a:ext uri="{FF2B5EF4-FFF2-40B4-BE49-F238E27FC236}">
                <a16:creationId xmlns:a16="http://schemas.microsoft.com/office/drawing/2014/main" id="{A7AA4067-9BA4-4D73-80D6-6914B5D519A6}"/>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SEGUIR LA RELACIÓN ENTRE LAS PIEZAS</a:t>
            </a:r>
          </a:p>
        </p:txBody>
      </p:sp>
      <p:sp>
        <p:nvSpPr>
          <p:cNvPr id="16" name="concept-node">
            <a:extLst xmlns:a="http://schemas.openxmlformats.org/drawingml/2006/main">
              <a:ext uri="{FF2B5EF4-FFF2-40B4-BE49-F238E27FC236}">
                <a16:creationId xmlns:a16="http://schemas.microsoft.com/office/drawing/2014/main" id="{0C5E0CAE-7321-48FB-BFAE-6106B828F97D}"/>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843C6D22-FF87-40E8-8427-A91B4FB32C55}"/>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1A22C99-4176-4F4A-B956-F0E21C005B2A}"/>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2BED950F-B431-47F3-B2CB-4AEF119685C1}"/>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9053D9D9-BF82-45D5-9B65-12BCA0BD02D2}"/>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Texto</a:t>
            </a:r>
          </a:p>
        </p:txBody>
      </p:sp>
      <p:sp>
        <p:nvSpPr>
          <p:cNvPr id="21" name="node-body">
            <a:extLst xmlns:a="http://schemas.openxmlformats.org/drawingml/2006/main">
              <a:ext uri="{FF2B5EF4-FFF2-40B4-BE49-F238E27FC236}">
                <a16:creationId xmlns:a16="http://schemas.microsoft.com/office/drawing/2014/main" id="{7301A20C-37CD-4A14-9D88-84451C0AAC3C}"/>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Palabras, signos, números y</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nombres propios.</a:t>
            </a:r>
          </a:p>
        </p:txBody>
      </p:sp>
      <p:sp>
        <p:nvSpPr>
          <p:cNvPr id="22" name="concept-node">
            <a:extLst xmlns:a="http://schemas.openxmlformats.org/drawingml/2006/main">
              <a:ext uri="{FF2B5EF4-FFF2-40B4-BE49-F238E27FC236}">
                <a16:creationId xmlns:a16="http://schemas.microsoft.com/office/drawing/2014/main" id="{A2BF5AA8-3B01-4657-89EB-92CE0664427F}"/>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C6A88C6A-4CFC-420E-BE7A-054656DAFD2C}"/>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B05DFB6-7235-4B09-9C95-A69BB0AC19D2}"/>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B860E554-04D4-4342-9165-7541C55E4E8B}"/>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B5752AF7-923D-4C7D-93E8-9F5269AA130F}"/>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Tokenizador</a:t>
            </a:r>
          </a:p>
        </p:txBody>
      </p:sp>
      <p:sp>
        <p:nvSpPr>
          <p:cNvPr id="27" name="node-body">
            <a:extLst xmlns:a="http://schemas.openxmlformats.org/drawingml/2006/main">
              <a:ext uri="{FF2B5EF4-FFF2-40B4-BE49-F238E27FC236}">
                <a16:creationId xmlns:a16="http://schemas.microsoft.com/office/drawing/2014/main" id="{21F9834C-4527-471D-A4EF-D813B688844E}"/>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Convierte el texto en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unidades específicas del</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modelo.</a:t>
            </a:r>
          </a:p>
        </p:txBody>
      </p:sp>
      <p:sp>
        <p:nvSpPr>
          <p:cNvPr id="28" name="concept-node">
            <a:extLst xmlns:a="http://schemas.openxmlformats.org/drawingml/2006/main">
              <a:ext uri="{FF2B5EF4-FFF2-40B4-BE49-F238E27FC236}">
                <a16:creationId xmlns:a16="http://schemas.microsoft.com/office/drawing/2014/main" id="{9750663A-CA39-4AD4-8513-62B200D838E7}"/>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D6C044E0-CF96-4FC0-8C1F-2D8D5B474F61}"/>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35FFC81-5677-441E-A2F3-D697B269BB32}"/>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2B7AF1A4-CF9C-4913-96DD-2E990826BF0F}"/>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77580C47-B69B-4D14-BED0-88F87098396C}"/>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Uso</a:t>
            </a:r>
          </a:p>
        </p:txBody>
      </p:sp>
      <p:sp>
        <p:nvSpPr>
          <p:cNvPr id="33" name="node-body">
            <a:extLst xmlns:a="http://schemas.openxmlformats.org/drawingml/2006/main">
              <a:ext uri="{FF2B5EF4-FFF2-40B4-BE49-F238E27FC236}">
                <a16:creationId xmlns:a16="http://schemas.microsoft.com/office/drawing/2014/main" id="{A14C457F-301F-4084-B603-6AB9313F6F78}"/>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Los tokens afectan contexto,</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costo y generación.</a:t>
            </a:r>
          </a:p>
        </p:txBody>
      </p:sp>
      <p:cxnSp>
        <p:nvCxnSpPr>
          <p:cNvPr id="77" name=""/>
          <p:cNvCxnSpPr>
            <a:stCxn xmlns:a="http://schemas.openxmlformats.org/drawingml/2006/main" id="16" idx="3"/>
            <a:endCxn xmlns:a="http://schemas.openxmlformats.org/drawingml/2006/main" id="22" idx="1"/>
          </p:cNvCxnSpPr>
          <p:nvPr/>
        </p:nvCxnSpPr>
        <p:spPr>
          <a:xfrm xmlns:a="http://schemas.openxmlformats.org/drawingml/2006/main">
            <a:off x="495300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78" name=""/>
          <p:cNvCxnSpPr>
            <a:stCxn xmlns:a="http://schemas.openxmlformats.org/drawingml/2006/main" id="22" idx="3"/>
            <a:endCxn xmlns:a="http://schemas.openxmlformats.org/drawingml/2006/main" id="28" idx="1"/>
          </p:cNvCxnSpPr>
          <p:nvPr/>
        </p:nvCxnSpPr>
        <p:spPr>
          <a:xfrm xmlns:a="http://schemas.openxmlformats.org/drawingml/2006/main">
            <a:off x="981075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6" name="panel">
            <a:extLst xmlns:a="http://schemas.openxmlformats.org/drawingml/2006/main">
              <a:ext uri="{FF2B5EF4-FFF2-40B4-BE49-F238E27FC236}">
                <a16:creationId xmlns:a16="http://schemas.microsoft.com/office/drawing/2014/main" id="{0F27AF2F-1973-40FB-B14E-660B68F9FCA0}"/>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7" name="section-label">
            <a:extLst xmlns:a="http://schemas.openxmlformats.org/drawingml/2006/main">
              <a:ext uri="{FF2B5EF4-FFF2-40B4-BE49-F238E27FC236}">
                <a16:creationId xmlns:a16="http://schemas.microsoft.com/office/drawing/2014/main" id="{018C7F62-1979-4196-AEF8-A658B10CB948}"/>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8" name="concept-question">
            <a:extLst xmlns:a="http://schemas.openxmlformats.org/drawingml/2006/main">
              <a:ext uri="{FF2B5EF4-FFF2-40B4-BE49-F238E27FC236}">
                <a16:creationId xmlns:a16="http://schemas.microsoft.com/office/drawing/2014/main" id="{A0E19524-430F-4979-9A90-F1FDED2152A1}"/>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¿Es suficiente dividir caracteres entre cuatro para facturar?</a:t>
            </a:r>
          </a:p>
        </p:txBody>
      </p:sp>
      <p:sp>
        <p:nvSpPr>
          <p:cNvPr id="39" name="panel">
            <a:extLst xmlns:a="http://schemas.openxmlformats.org/drawingml/2006/main">
              <a:ext uri="{FF2B5EF4-FFF2-40B4-BE49-F238E27FC236}">
                <a16:creationId xmlns:a16="http://schemas.microsoft.com/office/drawing/2014/main" id="{FDAB8078-8F61-4E2F-8238-E29084611A4E}"/>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40" name="misconception-label">
            <a:extLst xmlns:a="http://schemas.openxmlformats.org/drawingml/2006/main">
              <a:ext uri="{FF2B5EF4-FFF2-40B4-BE49-F238E27FC236}">
                <a16:creationId xmlns:a16="http://schemas.microsoft.com/office/drawing/2014/main" id="{7641E92D-5CED-430D-BD4F-60CC5DA058F2}"/>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41" name="misconception">
            <a:extLst xmlns:a="http://schemas.openxmlformats.org/drawingml/2006/main">
              <a:ext uri="{FF2B5EF4-FFF2-40B4-BE49-F238E27FC236}">
                <a16:creationId xmlns:a16="http://schemas.microsoft.com/office/drawing/2014/main" id="{DA4221E2-D8B6-47B0-8A13-5EADA8C7F858}"/>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Convertir una aproximación en un</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conteo exacto.</a:t>
            </a:r>
          </a:p>
        </p:txBody>
      </p:sp>
      <p:sp>
        <p:nvSpPr>
          <p:cNvPr id="42" name="panel">
            <a:extLst xmlns:a="http://schemas.openxmlformats.org/drawingml/2006/main">
              <a:ext uri="{FF2B5EF4-FFF2-40B4-BE49-F238E27FC236}">
                <a16:creationId xmlns:a16="http://schemas.microsoft.com/office/drawing/2014/main" id="{4CB4BD78-DF43-4F27-8172-1DC6A7D25690}"/>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B53B71BA-1A33-4D1D-8F09-07A9008AF433}"/>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Un token no es necesariamente una palabra.</a:t>
            </a:r>
          </a:p>
        </p:txBody>
      </p:sp>
    </p:spTree>
    <p:extLst>
      <p:ext uri="{BB962C8B-B14F-4D97-AF65-F5344CB8AC3E}">
        <p14:creationId xmlns:p14="http://schemas.microsoft.com/office/powerpoint/2010/main" val="1198026677"/>
      </p:ext>
    </p:extLst>
  </p:cSld>
</p:sld>
</file>

<file path=ppt/slides/slide1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D225457D-17DE-426F-BB6C-54CDA93B0120}"/>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AD2318E-B148-4A11-A181-F67640D16E0F}"/>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7D623CEE-8CA6-48F8-9648-9199B80A76D4}"/>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4</a:t>
            </a:r>
          </a:p>
        </p:txBody>
      </p:sp>
      <p:sp>
        <p:nvSpPr>
          <p:cNvPr id="4" name="breadcrumb">
            <a:extLst xmlns:a="http://schemas.openxmlformats.org/drawingml/2006/main">
              <a:ext uri="{FF2B5EF4-FFF2-40B4-BE49-F238E27FC236}">
                <a16:creationId xmlns:a16="http://schemas.microsoft.com/office/drawing/2014/main" id="{06281B86-32A5-4FD5-8902-9E199211B01D}"/>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4</a:t>
            </a:r>
          </a:p>
        </p:txBody>
      </p:sp>
      <p:sp>
        <p:nvSpPr>
          <p:cNvPr id="5" name="slide-title">
            <a:extLst xmlns:a="http://schemas.openxmlformats.org/drawingml/2006/main">
              <a:ext uri="{FF2B5EF4-FFF2-40B4-BE49-F238E27FC236}">
                <a16:creationId xmlns:a16="http://schemas.microsoft.com/office/drawing/2014/main" id="{DF116D73-3FB0-4F81-95EA-9279853C26BA}"/>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Conteo real frente a estimación</a:t>
            </a:r>
          </a:p>
        </p:txBody>
      </p:sp>
      <p:sp>
        <p:nvSpPr>
          <p:cNvPr id="6" name="learning-purpose">
            <a:extLst xmlns:a="http://schemas.openxmlformats.org/drawingml/2006/main">
              <a:ext uri="{FF2B5EF4-FFF2-40B4-BE49-F238E27FC236}">
                <a16:creationId xmlns:a16="http://schemas.microsoft.com/office/drawing/2014/main" id="{F9EEC5ED-A229-49EF-93B4-347D020DD433}"/>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Reconocer que el tokenizador determina fragmentos y cantidad.</a:t>
            </a:r>
          </a:p>
        </p:txBody>
      </p:sp>
      <p:sp>
        <p:nvSpPr>
          <p:cNvPr id="7" name="panel">
            <a:extLst xmlns:a="http://schemas.openxmlformats.org/drawingml/2006/main">
              <a:ext uri="{FF2B5EF4-FFF2-40B4-BE49-F238E27FC236}">
                <a16:creationId xmlns:a16="http://schemas.microsoft.com/office/drawing/2014/main" id="{12374105-DF94-4718-AD1B-560086FDEA06}"/>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26B98F83-75C2-4AC1-842F-988AF0A7191B}"/>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B185EAE7-423C-46CD-8DC9-05BCFF8AB4B8}"/>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0C9BBE52-7D58-4D01-9AB2-8CE34F4B2E9D}"/>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866DE45A-CCED-4D5C-8927-D644E01B81A7}"/>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C6BF5417-D00B-440C-9BB1-BE1E05908ACB}"/>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71EF99E2-CF3C-48A3-937C-B6980821D669}"/>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C04</a:t>
            </a:r>
          </a:p>
        </p:txBody>
      </p:sp>
      <p:sp>
        <p:nvSpPr>
          <p:cNvPr id="14" name="folio">
            <a:extLst xmlns:a="http://schemas.openxmlformats.org/drawingml/2006/main">
              <a:ext uri="{FF2B5EF4-FFF2-40B4-BE49-F238E27FC236}">
                <a16:creationId xmlns:a16="http://schemas.microsoft.com/office/drawing/2014/main" id="{158A0121-58A8-4FC9-B5D2-78C4B2110C99}"/>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11</a:t>
            </a:r>
          </a:p>
        </p:txBody>
      </p:sp>
      <p:sp>
        <p:nvSpPr>
          <p:cNvPr id="15" name="section-label">
            <a:extLst xmlns:a="http://schemas.openxmlformats.org/drawingml/2006/main">
              <a:ext uri="{FF2B5EF4-FFF2-40B4-BE49-F238E27FC236}">
                <a16:creationId xmlns:a16="http://schemas.microsoft.com/office/drawing/2014/main" id="{9D4EF701-E48A-470C-8C74-03AD278DACA6}"/>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Real</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La demo intenta cargar AutoTokenizer y contar sus</a:t>
                      </a:r>
                    </a:p>
                    <a:p>
                      <a:r>
                        <a:rPr sz="1875" b="0">
                          <a:solidFill>
                            <a:srgbClr val="1E293B"/>
                          </a:solidFill>
                          <a:latin typeface="DejaVu Sans"/>
                          <a:ea typeface="DejaVu Sans"/>
                          <a:cs typeface="DejaVu Sans"/>
                        </a:rPr>
                        <a:t>unidades.</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Estimado</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Si falla, usa una aproximación por caracteres y lo</a:t>
                      </a:r>
                    </a:p>
                    <a:p>
                      <a:r>
                        <a:rPr sz="1875" b="0">
                          <a:solidFill>
                            <a:srgbClr val="1E293B"/>
                          </a:solidFill>
                          <a:latin typeface="DejaVu Sans"/>
                          <a:ea typeface="DejaVu Sans"/>
                          <a:cs typeface="DejaVu Sans"/>
                        </a:rPr>
                        <a:t>indica.</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Registro</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Anotar el modo utilizado junto con el resultado.</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5BEB74F5-28C3-45C5-B274-E94B1BB51B53}"/>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D9A2C062-1D93-4577-87A2-06048A113D84}"/>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2DB49F4B-6380-4DB2-B0E6-E5DE7B2078D2}"/>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Convertir una aproximación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en un conteo exacto.</a:t>
            </a:r>
          </a:p>
        </p:txBody>
      </p:sp>
      <p:sp>
        <p:nvSpPr>
          <p:cNvPr id="20" name="development-prompt">
            <a:extLst xmlns:a="http://schemas.openxmlformats.org/drawingml/2006/main">
              <a:ext uri="{FF2B5EF4-FFF2-40B4-BE49-F238E27FC236}">
                <a16:creationId xmlns:a16="http://schemas.microsoft.com/office/drawing/2014/main" id="{F457BB4C-467D-4544-BEC4-E1F871A5658B}"/>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A0BF1B13-FC35-4D7B-ACFB-7F989D2D9471}"/>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C0FBCB50-DFA1-4649-9C30-0EC8DBCA9783}"/>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F640DD15-6844-47E1-AABE-711EFBEE2E0F}"/>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¿Es suficiente dividir caracteres entre cuatro para facturar?</a:t>
            </a:r>
          </a:p>
        </p:txBody>
      </p:sp>
      <p:sp>
        <p:nvSpPr>
          <p:cNvPr id="24" name="panel">
            <a:extLst xmlns:a="http://schemas.openxmlformats.org/drawingml/2006/main">
              <a:ext uri="{FF2B5EF4-FFF2-40B4-BE49-F238E27FC236}">
                <a16:creationId xmlns:a16="http://schemas.microsoft.com/office/drawing/2014/main" id="{7BC1D50D-34F3-4A09-90DC-F08D7FD6DAB2}"/>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B7227B7F-444D-44A5-A9F5-F49419613D32}"/>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Un token no es necesariamente una palabra.</a:t>
            </a:r>
          </a:p>
        </p:txBody>
      </p:sp>
    </p:spTree>
    <p:extLst>
      <p:ext uri="{BB962C8B-B14F-4D97-AF65-F5344CB8AC3E}">
        <p14:creationId xmlns:p14="http://schemas.microsoft.com/office/powerpoint/2010/main" val="772680688"/>
      </p:ext>
    </p:extLst>
  </p:cSld>
</p:sld>
</file>

<file path=ppt/slides/slide1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A5F02EEE-318F-413D-BB15-6E1CA1A9A466}"/>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8FB77E-281C-460E-8861-1C5908621E97}"/>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CE7A0D70-22A5-43A6-99D7-037E161E8046}"/>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4</a:t>
            </a:r>
          </a:p>
        </p:txBody>
      </p:sp>
      <p:sp>
        <p:nvSpPr>
          <p:cNvPr id="4" name="breadcrumb">
            <a:extLst xmlns:a="http://schemas.openxmlformats.org/drawingml/2006/main">
              <a:ext uri="{FF2B5EF4-FFF2-40B4-BE49-F238E27FC236}">
                <a16:creationId xmlns:a16="http://schemas.microsoft.com/office/drawing/2014/main" id="{2C3A908A-EBFB-48EE-BD36-AD2B4B581865}"/>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4</a:t>
            </a:r>
          </a:p>
        </p:txBody>
      </p:sp>
      <p:sp>
        <p:nvSpPr>
          <p:cNvPr id="5" name="slide-title">
            <a:extLst xmlns:a="http://schemas.openxmlformats.org/drawingml/2006/main">
              <a:ext uri="{FF2B5EF4-FFF2-40B4-BE49-F238E27FC236}">
                <a16:creationId xmlns:a16="http://schemas.microsoft.com/office/drawing/2014/main" id="{5CA767E8-4C15-4755-9DFB-F549646EEF4D}"/>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Tokens: unidades del texto</a:t>
            </a:r>
          </a:p>
        </p:txBody>
      </p:sp>
      <p:sp>
        <p:nvSpPr>
          <p:cNvPr id="6" name="learning-purpose">
            <a:extLst xmlns:a="http://schemas.openxmlformats.org/drawingml/2006/main">
              <a:ext uri="{FF2B5EF4-FFF2-40B4-BE49-F238E27FC236}">
                <a16:creationId xmlns:a16="http://schemas.microsoft.com/office/drawing/2014/main" id="{01CE6421-7D5A-4320-85DC-EB4C4744333C}"/>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Reconocer que el tokenizador determina fragmentos y cantidad.</a:t>
            </a:r>
          </a:p>
        </p:txBody>
      </p:sp>
      <p:sp>
        <p:nvSpPr>
          <p:cNvPr id="7" name="panel">
            <a:extLst xmlns:a="http://schemas.openxmlformats.org/drawingml/2006/main">
              <a:ext uri="{FF2B5EF4-FFF2-40B4-BE49-F238E27FC236}">
                <a16:creationId xmlns:a16="http://schemas.microsoft.com/office/drawing/2014/main" id="{AD15666B-0592-4D87-8C9C-1B4A00DE5A95}"/>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6D3D69CF-98A4-414E-980A-8DFC352CF24A}"/>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47F981D3-2DD0-4D14-8E71-5D6C6BEE67DD}"/>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76D5996D-D0D0-4D72-B77E-4E199344618E}"/>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281B8905-9EB5-4DF0-9025-00E8402226BF}"/>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DAE6E6C0-C46A-4A44-9F04-BC2F5BE2A2F9}"/>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D0F0D61D-EE93-4832-917B-27E5B4EC2055}"/>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C04</a:t>
            </a:r>
          </a:p>
        </p:txBody>
      </p:sp>
      <p:sp>
        <p:nvSpPr>
          <p:cNvPr id="14" name="folio">
            <a:extLst xmlns:a="http://schemas.openxmlformats.org/drawingml/2006/main">
              <a:ext uri="{FF2B5EF4-FFF2-40B4-BE49-F238E27FC236}">
                <a16:creationId xmlns:a16="http://schemas.microsoft.com/office/drawing/2014/main" id="{570201C5-46B3-4FC7-B56B-0CFFFA6AA3C5}"/>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12</a:t>
            </a:r>
          </a:p>
        </p:txBody>
      </p:sp>
      <p:sp>
        <p:nvSpPr>
          <p:cNvPr id="15" name="section-label">
            <a:extLst xmlns:a="http://schemas.openxmlformats.org/drawingml/2006/main">
              <a:ext uri="{FF2B5EF4-FFF2-40B4-BE49-F238E27FC236}">
                <a16:creationId xmlns:a16="http://schemas.microsoft.com/office/drawing/2014/main" id="{6952AE87-9D3F-40DA-9ADC-31C844FD9F25}"/>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ANDESMÓVIL · CASO DIDÁCTICO</a:t>
            </a:r>
          </a:p>
        </p:txBody>
      </p:sp>
      <p:sp>
        <p:nvSpPr>
          <p:cNvPr id="16" name="panel">
            <a:extLst xmlns:a="http://schemas.openxmlformats.org/drawingml/2006/main">
              <a:ext uri="{FF2B5EF4-FFF2-40B4-BE49-F238E27FC236}">
                <a16:creationId xmlns:a16="http://schemas.microsoft.com/office/drawing/2014/main" id="{F86ABE85-B547-4148-8E9F-EED82F7F3B49}"/>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12D5F888-860D-44D0-A2CE-6945AE705156}"/>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A0D09200-14B1-4504-952B-FCC886F75598}"/>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Compara «portabilidad numérica» y un identificador de línea.</a:t>
            </a:r>
          </a:p>
        </p:txBody>
      </p:sp>
      <p:sp>
        <p:nvSpPr>
          <p:cNvPr id="19" name="concept-node">
            <a:extLst xmlns:a="http://schemas.openxmlformats.org/drawingml/2006/main">
              <a:ext uri="{FF2B5EF4-FFF2-40B4-BE49-F238E27FC236}">
                <a16:creationId xmlns:a16="http://schemas.microsoft.com/office/drawing/2014/main" id="{29F71B04-BB46-4ACA-9D5E-151E25C3148F}"/>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ED0AD6CF-1163-4361-BD70-9792590C8A24}"/>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9D9DE30-0D62-4D94-97CC-6A293D1623E2}"/>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CB4DBDA3-46EF-4BCA-97A9-947CD5A6846C}"/>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22A87B92-CD8C-4666-B0CA-029CE03A2FCC}"/>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Ejecutar</a:t>
            </a:r>
          </a:p>
        </p:txBody>
      </p:sp>
      <p:sp>
        <p:nvSpPr>
          <p:cNvPr id="24" name="node-body">
            <a:extLst xmlns:a="http://schemas.openxmlformats.org/drawingml/2006/main">
              <a:ext uri="{FF2B5EF4-FFF2-40B4-BE49-F238E27FC236}">
                <a16:creationId xmlns:a16="http://schemas.microsoft.com/office/drawing/2014/main" id="{0C7C59A8-E5F1-4354-B67C-FFA941C659C2}"/>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Usa 01_tokens.py con ambas</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entradas.</a:t>
            </a:r>
          </a:p>
        </p:txBody>
      </p:sp>
      <p:sp>
        <p:nvSpPr>
          <p:cNvPr id="25" name="concept-node">
            <a:extLst xmlns:a="http://schemas.openxmlformats.org/drawingml/2006/main">
              <a:ext uri="{FF2B5EF4-FFF2-40B4-BE49-F238E27FC236}">
                <a16:creationId xmlns:a16="http://schemas.microsoft.com/office/drawing/2014/main" id="{C916F867-1B65-4AA3-A165-BCEE3723D8AB}"/>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59E8273A-D734-4F5B-BCBB-A1D3F8ABD9D7}"/>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3C1E88E4-5A65-4987-B7E4-AB32FE1EBFC5}"/>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A4385441-2F8E-40C0-A68A-3D67D9B5D6E9}"/>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CBB75297-53F9-4E99-A215-CDC7191BAB8B}"/>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Leer</a:t>
            </a:r>
          </a:p>
        </p:txBody>
      </p:sp>
      <p:sp>
        <p:nvSpPr>
          <p:cNvPr id="30" name="node-body">
            <a:extLst xmlns:a="http://schemas.openxmlformats.org/drawingml/2006/main">
              <a:ext uri="{FF2B5EF4-FFF2-40B4-BE49-F238E27FC236}">
                <a16:creationId xmlns:a16="http://schemas.microsoft.com/office/drawing/2014/main" id="{0C60901E-6A3B-4D41-A90B-21E22A86E8F6}"/>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Revisa si informa conteo real o</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estimación.</a:t>
            </a:r>
          </a:p>
        </p:txBody>
      </p:sp>
      <p:sp>
        <p:nvSpPr>
          <p:cNvPr id="31" name="concept-node">
            <a:extLst xmlns:a="http://schemas.openxmlformats.org/drawingml/2006/main">
              <a:ext uri="{FF2B5EF4-FFF2-40B4-BE49-F238E27FC236}">
                <a16:creationId xmlns:a16="http://schemas.microsoft.com/office/drawing/2014/main" id="{3E1B3A2F-DA8E-44A6-A77E-C0DE96190238}"/>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8F9D8900-B243-477D-AC36-4FB4316869EB}"/>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49DCB93-2CF0-4C09-9A6A-8B7036B50828}"/>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B3B3E3B3-44D7-4AF6-ACEC-28EE0CA128F2}"/>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E9B72392-1D81-4E7A-A394-E6F6F00E209B}"/>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Comparar</a:t>
            </a:r>
          </a:p>
        </p:txBody>
      </p:sp>
      <p:sp>
        <p:nvSpPr>
          <p:cNvPr id="36" name="node-body">
            <a:extLst xmlns:a="http://schemas.openxmlformats.org/drawingml/2006/main">
              <a:ext uri="{FF2B5EF4-FFF2-40B4-BE49-F238E27FC236}">
                <a16:creationId xmlns:a16="http://schemas.microsoft.com/office/drawing/2014/main" id="{26B0651A-5872-4500-9933-31C2F0DC55FE}"/>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Explica diferencias sin imponer</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un token por palabra.</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0A159EA3-ECA7-4708-95C4-A7D33671855F}"/>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B3D80D01-1CDE-46E2-8AFA-43EF772A0BD0}"/>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FF210C60-68B8-4F44-B8F4-2E5A8D99BBEB}"/>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Dos textos de similar longitud pueden tener conteos distintos.</a:t>
            </a:r>
          </a:p>
        </p:txBody>
      </p:sp>
      <p:sp>
        <p:nvSpPr>
          <p:cNvPr id="42" name="panel">
            <a:extLst xmlns:a="http://schemas.openxmlformats.org/drawingml/2006/main">
              <a:ext uri="{FF2B5EF4-FFF2-40B4-BE49-F238E27FC236}">
                <a16:creationId xmlns:a16="http://schemas.microsoft.com/office/drawing/2014/main" id="{F7E60FFA-600F-459F-8C98-E16F5A9B4851}"/>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87456B7E-0CE9-4784-9112-9D1C95175F2D}"/>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Un token no es necesariamente una palabra.</a:t>
            </a:r>
          </a:p>
        </p:txBody>
      </p:sp>
    </p:spTree>
    <p:extLst>
      <p:ext uri="{BB962C8B-B14F-4D97-AF65-F5344CB8AC3E}">
        <p14:creationId xmlns:p14="http://schemas.microsoft.com/office/powerpoint/2010/main" val="1507472736"/>
      </p:ext>
    </p:extLst>
  </p:cSld>
</p:sld>
</file>

<file path=ppt/slides/slide1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8" name="header">
            <a:extLst xmlns:a="http://schemas.openxmlformats.org/drawingml/2006/main">
              <a:ext uri="{FF2B5EF4-FFF2-40B4-BE49-F238E27FC236}">
                <a16:creationId xmlns:a16="http://schemas.microsoft.com/office/drawing/2014/main" id="{8BCFC96F-5179-42C7-835F-D2D7349E4FD0}"/>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B17894-0EB2-4F8C-BE94-58B99D3ABB81}"/>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258F85DB-6194-48C5-A46C-AA6353802835}"/>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5</a:t>
            </a:r>
          </a:p>
        </p:txBody>
      </p:sp>
      <p:sp>
        <p:nvSpPr>
          <p:cNvPr id="4" name="breadcrumb">
            <a:extLst xmlns:a="http://schemas.openxmlformats.org/drawingml/2006/main">
              <a:ext uri="{FF2B5EF4-FFF2-40B4-BE49-F238E27FC236}">
                <a16:creationId xmlns:a16="http://schemas.microsoft.com/office/drawing/2014/main" id="{5B5551F5-5476-42DF-B628-58F4CACC5158}"/>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5</a:t>
            </a:r>
          </a:p>
        </p:txBody>
      </p:sp>
      <p:sp>
        <p:nvSpPr>
          <p:cNvPr id="5" name="slide-title">
            <a:extLst xmlns:a="http://schemas.openxmlformats.org/drawingml/2006/main">
              <a:ext uri="{FF2B5EF4-FFF2-40B4-BE49-F238E27FC236}">
                <a16:creationId xmlns:a16="http://schemas.microsoft.com/office/drawing/2014/main" id="{4A0EDF77-721A-4477-A71E-8B19BF8CBEA4}"/>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Contexto: presupuesto por llamada</a:t>
            </a:r>
          </a:p>
        </p:txBody>
      </p:sp>
      <p:sp>
        <p:nvSpPr>
          <p:cNvPr id="6" name="learning-purpose">
            <a:extLst xmlns:a="http://schemas.openxmlformats.org/drawingml/2006/main">
              <a:ext uri="{FF2B5EF4-FFF2-40B4-BE49-F238E27FC236}">
                <a16:creationId xmlns:a16="http://schemas.microsoft.com/office/drawing/2014/main" id="{17C58084-1449-4D10-8E00-464463371513}"/>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Contar todos los componentes de entrada y reservar capacidad de salida.</a:t>
            </a:r>
          </a:p>
        </p:txBody>
      </p:sp>
      <p:sp>
        <p:nvSpPr>
          <p:cNvPr id="7" name="panel">
            <a:extLst xmlns:a="http://schemas.openxmlformats.org/drawingml/2006/main">
              <a:ext uri="{FF2B5EF4-FFF2-40B4-BE49-F238E27FC236}">
                <a16:creationId xmlns:a16="http://schemas.microsoft.com/office/drawing/2014/main" id="{15E82F3D-5542-4AFC-B319-4D8998ACD591}"/>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37D7FF96-1B26-4534-9A79-66290756B649}"/>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1FFC2A02-9BFF-4118-8DB2-E013B2041287}"/>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000DF92B-8437-4321-A3D8-097AE1D089FF}"/>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CA800A49-1618-4997-8942-7AD2E64544F0}"/>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A0B13332-3137-4F21-8A8A-D57B7A75CA95}"/>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734E0234-70FB-4FDB-987B-38EFB17FF0B5}"/>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C05</a:t>
            </a:r>
          </a:p>
        </p:txBody>
      </p:sp>
      <p:sp>
        <p:nvSpPr>
          <p:cNvPr id="14" name="folio">
            <a:extLst xmlns:a="http://schemas.openxmlformats.org/drawingml/2006/main">
              <a:ext uri="{FF2B5EF4-FFF2-40B4-BE49-F238E27FC236}">
                <a16:creationId xmlns:a16="http://schemas.microsoft.com/office/drawing/2014/main" id="{FCA315BD-9321-4CB5-B431-B6C3B3307FD9}"/>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13</a:t>
            </a:r>
          </a:p>
        </p:txBody>
      </p:sp>
      <p:sp>
        <p:nvSpPr>
          <p:cNvPr id="15" name="section-label">
            <a:extLst xmlns:a="http://schemas.openxmlformats.org/drawingml/2006/main">
              <a:ext uri="{FF2B5EF4-FFF2-40B4-BE49-F238E27FC236}">
                <a16:creationId xmlns:a16="http://schemas.microsoft.com/office/drawing/2014/main" id="{23DD5848-5B5D-466F-88D6-479B8C8A31EB}"/>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ENTRADA ILUSTRATIVA: CUATRO FUENTES DE TOKENS</a:t>
            </a:r>
          </a:p>
        </p:txBody>
      </p:sp>
      <p:sp>
        <p:nvSpPr>
          <p:cNvPr id="16" name="architecture-frame">
            <a:extLst xmlns:a="http://schemas.openxmlformats.org/drawingml/2006/main">
              <a:ext uri="{FF2B5EF4-FFF2-40B4-BE49-F238E27FC236}">
                <a16:creationId xmlns:a16="http://schemas.microsoft.com/office/drawing/2014/main" id="{26726AD5-B451-451A-BD74-659DEF1E7C78}"/>
              </a:ext>
            </a:extLst>
          </p:cNvPr>
          <p:cNvSpPr>
            <a:spLocks xmlns:a="http://schemas.openxmlformats.org/drawingml/2006/main" noGrp="1"/>
          </p:cNvSpPr>
          <p:nvPr/>
        </p:nvSpPr>
        <p:spPr>
          <a:xfrm xmlns:a="http://schemas.openxmlformats.org/drawingml/2006/main">
            <a:off x="571500" y="2647950"/>
            <a:ext cx="9239250" cy="4619625"/>
          </a:xfrm>
          <a:prstGeom xmlns:a="http://schemas.openxmlformats.org/drawingml/2006/main" prst="roundRect">
            <a:avLst>
              <a:gd name="adj" fmla="val 3711"/>
            </a:avLst>
          </a:prstGeom>
          <a:solidFill xmlns:a="http://schemas.openxmlformats.org/drawingml/2006/main">
            <a:srgbClr val="FFFFFF"/>
          </a:solidFill>
          <a:ln xmlns:a="http://schemas.openxmlformats.org/drawingml/2006/main" w="14288">
            <a:solidFill>
              <a:srgbClr val="CED8E3"/>
            </a:solidFill>
          </a:ln>
        </p:spPr>
      </p:sp>
      <p:sp>
        <p:nvSpPr>
          <p:cNvPr id="17" name="component-sys">
            <a:extLst xmlns:a="http://schemas.openxmlformats.org/drawingml/2006/main">
              <a:ext uri="{FF2B5EF4-FFF2-40B4-BE49-F238E27FC236}">
                <a16:creationId xmlns:a16="http://schemas.microsoft.com/office/drawing/2014/main" id="{F423D559-2766-4AE5-A34B-D2B935293365}"/>
              </a:ext>
            </a:extLst>
          </p:cNvPr>
          <p:cNvSpPr>
            <a:spLocks xmlns:a="http://schemas.openxmlformats.org/drawingml/2006/main" noGrp="1"/>
          </p:cNvSpPr>
          <p:nvPr/>
        </p:nvSpPr>
        <p:spPr>
          <a:xfrm xmlns:a="http://schemas.openxmlformats.org/drawingml/2006/main">
            <a:off x="952500" y="291465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18" name="component-title">
            <a:extLst xmlns:a="http://schemas.openxmlformats.org/drawingml/2006/main">
              <a:ext uri="{FF2B5EF4-FFF2-40B4-BE49-F238E27FC236}">
                <a16:creationId xmlns:a16="http://schemas.microsoft.com/office/drawing/2014/main" id="{8E059364-1680-4C32-88DD-B9C0BEF1F217}"/>
              </a:ext>
            </a:extLst>
          </p:cNvPr>
          <p:cNvSpPr>
            <a:spLocks xmlns:a="http://schemas.openxmlformats.org/drawingml/2006/main" noGrp="1"/>
          </p:cNvSpPr>
          <p:nvPr/>
        </p:nvSpPr>
        <p:spPr>
          <a:xfrm xmlns:a="http://schemas.openxmlformats.org/drawingml/2006/main">
            <a:off x="1085850" y="30575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Instrucciones</a:t>
            </a:r>
          </a:p>
        </p:txBody>
      </p:sp>
      <p:sp>
        <p:nvSpPr>
          <p:cNvPr id="19" name="component-detail">
            <a:extLst xmlns:a="http://schemas.openxmlformats.org/drawingml/2006/main">
              <a:ext uri="{FF2B5EF4-FFF2-40B4-BE49-F238E27FC236}">
                <a16:creationId xmlns:a16="http://schemas.microsoft.com/office/drawing/2014/main" id="{1C64E1E6-98B0-4601-98A4-54D2AAC6320C}"/>
              </a:ext>
            </a:extLst>
          </p:cNvPr>
          <p:cNvSpPr>
            <a:spLocks xmlns:a="http://schemas.openxmlformats.org/drawingml/2006/main" noGrp="1"/>
          </p:cNvSpPr>
          <p:nvPr/>
        </p:nvSpPr>
        <p:spPr>
          <a:xfrm xmlns:a="http://schemas.openxmlformats.org/drawingml/2006/main">
            <a:off x="1085850" y="357187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1.000 tokens</a:t>
            </a:r>
          </a:p>
        </p:txBody>
      </p:sp>
      <p:sp>
        <p:nvSpPr>
          <p:cNvPr id="20" name="component-hist">
            <a:extLst xmlns:a="http://schemas.openxmlformats.org/drawingml/2006/main">
              <a:ext uri="{FF2B5EF4-FFF2-40B4-BE49-F238E27FC236}">
                <a16:creationId xmlns:a16="http://schemas.microsoft.com/office/drawing/2014/main" id="{EDD4ECA7-D2A8-4B72-940C-140989A7A2E3}"/>
              </a:ext>
            </a:extLst>
          </p:cNvPr>
          <p:cNvSpPr>
            <a:spLocks xmlns:a="http://schemas.openxmlformats.org/drawingml/2006/main" noGrp="1"/>
          </p:cNvSpPr>
          <p:nvPr/>
        </p:nvSpPr>
        <p:spPr>
          <a:xfrm xmlns:a="http://schemas.openxmlformats.org/drawingml/2006/main">
            <a:off x="4029075" y="291465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21" name="component-title">
            <a:extLst xmlns:a="http://schemas.openxmlformats.org/drawingml/2006/main">
              <a:ext uri="{FF2B5EF4-FFF2-40B4-BE49-F238E27FC236}">
                <a16:creationId xmlns:a16="http://schemas.microsoft.com/office/drawing/2014/main" id="{D1C77AFA-0F48-4E0B-9FF7-240493CF1EFB}"/>
              </a:ext>
            </a:extLst>
          </p:cNvPr>
          <p:cNvSpPr>
            <a:spLocks xmlns:a="http://schemas.openxmlformats.org/drawingml/2006/main" noGrp="1"/>
          </p:cNvSpPr>
          <p:nvPr/>
        </p:nvSpPr>
        <p:spPr>
          <a:xfrm xmlns:a="http://schemas.openxmlformats.org/drawingml/2006/main">
            <a:off x="4162425" y="30575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Historial</a:t>
            </a:r>
          </a:p>
        </p:txBody>
      </p:sp>
      <p:sp>
        <p:nvSpPr>
          <p:cNvPr id="22" name="component-detail">
            <a:extLst xmlns:a="http://schemas.openxmlformats.org/drawingml/2006/main">
              <a:ext uri="{FF2B5EF4-FFF2-40B4-BE49-F238E27FC236}">
                <a16:creationId xmlns:a16="http://schemas.microsoft.com/office/drawing/2014/main" id="{8C68B776-BB42-4C3A-B480-4A8665D6CCA1}"/>
              </a:ext>
            </a:extLst>
          </p:cNvPr>
          <p:cNvSpPr>
            <a:spLocks xmlns:a="http://schemas.openxmlformats.org/drawingml/2006/main" noGrp="1"/>
          </p:cNvSpPr>
          <p:nvPr/>
        </p:nvSpPr>
        <p:spPr>
          <a:xfrm xmlns:a="http://schemas.openxmlformats.org/drawingml/2006/main">
            <a:off x="4162425" y="357187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1.500 tokens</a:t>
            </a:r>
          </a:p>
        </p:txBody>
      </p:sp>
      <p:sp>
        <p:nvSpPr>
          <p:cNvPr id="23" name="component-tools">
            <a:extLst xmlns:a="http://schemas.openxmlformats.org/drawingml/2006/main">
              <a:ext uri="{FF2B5EF4-FFF2-40B4-BE49-F238E27FC236}">
                <a16:creationId xmlns:a16="http://schemas.microsoft.com/office/drawing/2014/main" id="{AE6A97AB-C149-44FA-9F44-0B117595F43D}"/>
              </a:ext>
            </a:extLst>
          </p:cNvPr>
          <p:cNvSpPr>
            <a:spLocks xmlns:a="http://schemas.openxmlformats.org/drawingml/2006/main" noGrp="1"/>
          </p:cNvSpPr>
          <p:nvPr/>
        </p:nvSpPr>
        <p:spPr>
          <a:xfrm xmlns:a="http://schemas.openxmlformats.org/drawingml/2006/main">
            <a:off x="7105650" y="291465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24" name="component-title">
            <a:extLst xmlns:a="http://schemas.openxmlformats.org/drawingml/2006/main">
              <a:ext uri="{FF2B5EF4-FFF2-40B4-BE49-F238E27FC236}">
                <a16:creationId xmlns:a16="http://schemas.microsoft.com/office/drawing/2014/main" id="{C03CDA04-B394-4A64-9726-2AD824861477}"/>
              </a:ext>
            </a:extLst>
          </p:cNvPr>
          <p:cNvSpPr>
            <a:spLocks xmlns:a="http://schemas.openxmlformats.org/drawingml/2006/main" noGrp="1"/>
          </p:cNvSpPr>
          <p:nvPr/>
        </p:nvSpPr>
        <p:spPr>
          <a:xfrm xmlns:a="http://schemas.openxmlformats.org/drawingml/2006/main">
            <a:off x="7239000" y="30575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Tools</a:t>
            </a:r>
          </a:p>
        </p:txBody>
      </p:sp>
      <p:sp>
        <p:nvSpPr>
          <p:cNvPr id="25" name="component-detail">
            <a:extLst xmlns:a="http://schemas.openxmlformats.org/drawingml/2006/main">
              <a:ext uri="{FF2B5EF4-FFF2-40B4-BE49-F238E27FC236}">
                <a16:creationId xmlns:a16="http://schemas.microsoft.com/office/drawing/2014/main" id="{867E154E-C820-44E3-80A7-9013A5705F73}"/>
              </a:ext>
            </a:extLst>
          </p:cNvPr>
          <p:cNvSpPr>
            <a:spLocks xmlns:a="http://schemas.openxmlformats.org/drawingml/2006/main" noGrp="1"/>
          </p:cNvSpPr>
          <p:nvPr/>
        </p:nvSpPr>
        <p:spPr>
          <a:xfrm xmlns:a="http://schemas.openxmlformats.org/drawingml/2006/main">
            <a:off x="7239000" y="357187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1.200 tokens de</a:t>
            </a:r>
          </a:p>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esquemas</a:t>
            </a:r>
          </a:p>
        </p:txBody>
      </p:sp>
      <p:sp>
        <p:nvSpPr>
          <p:cNvPr id="26" name="component-docs">
            <a:extLst xmlns:a="http://schemas.openxmlformats.org/drawingml/2006/main">
              <a:ext uri="{FF2B5EF4-FFF2-40B4-BE49-F238E27FC236}">
                <a16:creationId xmlns:a16="http://schemas.microsoft.com/office/drawing/2014/main" id="{2DC91B52-EEB4-4869-A25A-C55BD5EEAB14}"/>
              </a:ext>
            </a:extLst>
          </p:cNvPr>
          <p:cNvSpPr>
            <a:spLocks xmlns:a="http://schemas.openxmlformats.org/drawingml/2006/main" noGrp="1"/>
          </p:cNvSpPr>
          <p:nvPr/>
        </p:nvSpPr>
        <p:spPr>
          <a:xfrm xmlns:a="http://schemas.openxmlformats.org/drawingml/2006/main">
            <a:off x="952500" y="531495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27" name="component-title">
            <a:extLst xmlns:a="http://schemas.openxmlformats.org/drawingml/2006/main">
              <a:ext uri="{FF2B5EF4-FFF2-40B4-BE49-F238E27FC236}">
                <a16:creationId xmlns:a16="http://schemas.microsoft.com/office/drawing/2014/main" id="{5CD6A186-6E54-4E68-B833-DBFECBF667F7}"/>
              </a:ext>
            </a:extLst>
          </p:cNvPr>
          <p:cNvSpPr>
            <a:spLocks xmlns:a="http://schemas.openxmlformats.org/drawingml/2006/main" noGrp="1"/>
          </p:cNvSpPr>
          <p:nvPr/>
        </p:nvSpPr>
        <p:spPr>
          <a:xfrm xmlns:a="http://schemas.openxmlformats.org/drawingml/2006/main">
            <a:off x="1085850" y="54578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Documentos</a:t>
            </a:r>
          </a:p>
        </p:txBody>
      </p:sp>
      <p:sp>
        <p:nvSpPr>
          <p:cNvPr id="28" name="component-detail">
            <a:extLst xmlns:a="http://schemas.openxmlformats.org/drawingml/2006/main">
              <a:ext uri="{FF2B5EF4-FFF2-40B4-BE49-F238E27FC236}">
                <a16:creationId xmlns:a16="http://schemas.microsoft.com/office/drawing/2014/main" id="{DAE47535-AC0C-455D-9568-E8A1EA5461D1}"/>
              </a:ext>
            </a:extLst>
          </p:cNvPr>
          <p:cNvSpPr>
            <a:spLocks xmlns:a="http://schemas.openxmlformats.org/drawingml/2006/main" noGrp="1"/>
          </p:cNvSpPr>
          <p:nvPr/>
        </p:nvSpPr>
        <p:spPr>
          <a:xfrm xmlns:a="http://schemas.openxmlformats.org/drawingml/2006/main">
            <a:off x="1085850" y="597217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2.000 tokens</a:t>
            </a:r>
          </a:p>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recuperados</a:t>
            </a:r>
          </a:p>
        </p:txBody>
      </p:sp>
      <p:sp>
        <p:nvSpPr>
          <p:cNvPr id="29" name="component-sum">
            <a:extLst xmlns:a="http://schemas.openxmlformats.org/drawingml/2006/main">
              <a:ext uri="{FF2B5EF4-FFF2-40B4-BE49-F238E27FC236}">
                <a16:creationId xmlns:a16="http://schemas.microsoft.com/office/drawing/2014/main" id="{1AA93716-FE14-469A-BA09-0A5E3DD264D4}"/>
              </a:ext>
            </a:extLst>
          </p:cNvPr>
          <p:cNvSpPr>
            <a:spLocks xmlns:a="http://schemas.openxmlformats.org/drawingml/2006/main" noGrp="1"/>
          </p:cNvSpPr>
          <p:nvPr/>
        </p:nvSpPr>
        <p:spPr>
          <a:xfrm xmlns:a="http://schemas.openxmlformats.org/drawingml/2006/main">
            <a:off x="4029075" y="531495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30" name="component-title">
            <a:extLst xmlns:a="http://schemas.openxmlformats.org/drawingml/2006/main">
              <a:ext uri="{FF2B5EF4-FFF2-40B4-BE49-F238E27FC236}">
                <a16:creationId xmlns:a16="http://schemas.microsoft.com/office/drawing/2014/main" id="{4370AE7A-56EA-4859-BCD1-849026ADDF93}"/>
              </a:ext>
            </a:extLst>
          </p:cNvPr>
          <p:cNvSpPr>
            <a:spLocks xmlns:a="http://schemas.openxmlformats.org/drawingml/2006/main" noGrp="1"/>
          </p:cNvSpPr>
          <p:nvPr/>
        </p:nvSpPr>
        <p:spPr>
          <a:xfrm xmlns:a="http://schemas.openxmlformats.org/drawingml/2006/main">
            <a:off x="4162425" y="54578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Entrada total</a:t>
            </a:r>
          </a:p>
        </p:txBody>
      </p:sp>
      <p:sp>
        <p:nvSpPr>
          <p:cNvPr id="31" name="component-detail">
            <a:extLst xmlns:a="http://schemas.openxmlformats.org/drawingml/2006/main">
              <a:ext uri="{FF2B5EF4-FFF2-40B4-BE49-F238E27FC236}">
                <a16:creationId xmlns:a16="http://schemas.microsoft.com/office/drawing/2014/main" id="{4B6BBC84-307B-4726-9555-BCCAFDEEA283}"/>
              </a:ext>
            </a:extLst>
          </p:cNvPr>
          <p:cNvSpPr>
            <a:spLocks xmlns:a="http://schemas.openxmlformats.org/drawingml/2006/main" noGrp="1"/>
          </p:cNvSpPr>
          <p:nvPr/>
        </p:nvSpPr>
        <p:spPr>
          <a:xfrm xmlns:a="http://schemas.openxmlformats.org/drawingml/2006/main">
            <a:off x="4162425" y="597217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5.700 tokens</a:t>
            </a:r>
          </a:p>
        </p:txBody>
      </p:sp>
      <p:sp>
        <p:nvSpPr>
          <p:cNvPr id="32" name="component-out">
            <a:extLst xmlns:a="http://schemas.openxmlformats.org/drawingml/2006/main">
              <a:ext uri="{FF2B5EF4-FFF2-40B4-BE49-F238E27FC236}">
                <a16:creationId xmlns:a16="http://schemas.microsoft.com/office/drawing/2014/main" id="{11EB653B-24AE-4A3A-B17B-DB7A230479AC}"/>
              </a:ext>
            </a:extLst>
          </p:cNvPr>
          <p:cNvSpPr>
            <a:spLocks xmlns:a="http://schemas.openxmlformats.org/drawingml/2006/main" noGrp="1"/>
          </p:cNvSpPr>
          <p:nvPr/>
        </p:nvSpPr>
        <p:spPr>
          <a:xfrm xmlns:a="http://schemas.openxmlformats.org/drawingml/2006/main">
            <a:off x="7105650" y="531495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33" name="component-title">
            <a:extLst xmlns:a="http://schemas.openxmlformats.org/drawingml/2006/main">
              <a:ext uri="{FF2B5EF4-FFF2-40B4-BE49-F238E27FC236}">
                <a16:creationId xmlns:a16="http://schemas.microsoft.com/office/drawing/2014/main" id="{B76E2090-F3E3-42BB-AC35-B16DDE269D7E}"/>
              </a:ext>
            </a:extLst>
          </p:cNvPr>
          <p:cNvSpPr>
            <a:spLocks xmlns:a="http://schemas.openxmlformats.org/drawingml/2006/main" noGrp="1"/>
          </p:cNvSpPr>
          <p:nvPr/>
        </p:nvSpPr>
        <p:spPr>
          <a:xfrm xmlns:a="http://schemas.openxmlformats.org/drawingml/2006/main">
            <a:off x="7239000" y="54578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Reserva de</a:t>
            </a:r>
          </a:p>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salida</a:t>
            </a:r>
          </a:p>
        </p:txBody>
      </p:sp>
      <p:sp>
        <p:nvSpPr>
          <p:cNvPr id="34" name="component-detail">
            <a:extLst xmlns:a="http://schemas.openxmlformats.org/drawingml/2006/main">
              <a:ext uri="{FF2B5EF4-FFF2-40B4-BE49-F238E27FC236}">
                <a16:creationId xmlns:a16="http://schemas.microsoft.com/office/drawing/2014/main" id="{7E716A38-669C-46F4-B66F-6944610A14CC}"/>
              </a:ext>
            </a:extLst>
          </p:cNvPr>
          <p:cNvSpPr>
            <a:spLocks xmlns:a="http://schemas.openxmlformats.org/drawingml/2006/main" noGrp="1"/>
          </p:cNvSpPr>
          <p:nvPr/>
        </p:nvSpPr>
        <p:spPr>
          <a:xfrm xmlns:a="http://schemas.openxmlformats.org/drawingml/2006/main">
            <a:off x="7239000" y="597217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Capacidad para</a:t>
            </a:r>
          </a:p>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responder</a:t>
            </a:r>
          </a:p>
        </p:txBody>
      </p:sp>
      <p:cxnSp>
        <p:nvCxnSpPr>
          <p:cNvPr id="82" name=""/>
          <p:cNvCxnSpPr>
            <a:stCxn xmlns:a="http://schemas.openxmlformats.org/drawingml/2006/main" id="17" idx="2"/>
            <a:endCxn xmlns:a="http://schemas.openxmlformats.org/drawingml/2006/main" id="29" idx="0"/>
          </p:cNvCxnSpPr>
          <p:nvPr/>
        </p:nvCxnSpPr>
        <p:spPr>
          <a:xfrm xmlns:a="http://schemas.openxmlformats.org/drawingml/2006/main">
            <a:off x="2143125" y="3990975"/>
            <a:ext cx="3076575" cy="1323975"/>
          </a:xfrm>
          <a:prstGeom xmlns:a="http://schemas.openxmlformats.org/drawingml/2006/main" prst="straightConnector1">
            <a:avLst/>
          </a:prstGeom>
          <a:ln xmlns:a="http://schemas.openxmlformats.org/drawingml/2006/main" w="23813">
            <a:solidFill>
              <a:srgbClr val="1E293B"/>
            </a:solidFill>
            <a:tailEnd type="triangle" w="med" len="med"/>
          </a:ln>
        </p:spPr>
      </p:cxnSp>
      <p:cxnSp>
        <p:nvCxnSpPr>
          <p:cNvPr id="83" name=""/>
          <p:cNvCxnSpPr>
            <a:stCxn xmlns:a="http://schemas.openxmlformats.org/drawingml/2006/main" id="20" idx="2"/>
            <a:endCxn xmlns:a="http://schemas.openxmlformats.org/drawingml/2006/main" id="29" idx="0"/>
          </p:cNvCxnSpPr>
          <p:nvPr/>
        </p:nvCxnSpPr>
        <p:spPr>
          <a:xfrm xmlns:a="http://schemas.openxmlformats.org/drawingml/2006/main">
            <a:off x="5219700" y="3990975"/>
            <a:ext cx="0" cy="1323975"/>
          </a:xfrm>
          <a:prstGeom xmlns:a="http://schemas.openxmlformats.org/drawingml/2006/main" prst="straightConnector1">
            <a:avLst/>
          </a:prstGeom>
          <a:ln xmlns:a="http://schemas.openxmlformats.org/drawingml/2006/main" w="23813">
            <a:solidFill>
              <a:srgbClr val="1E293B"/>
            </a:solidFill>
            <a:tailEnd type="triangle" w="med" len="med"/>
          </a:ln>
        </p:spPr>
      </p:cxnSp>
      <p:cxnSp>
        <p:nvCxnSpPr>
          <p:cNvPr id="84" name=""/>
          <p:cNvCxnSpPr>
            <a:stCxn xmlns:a="http://schemas.openxmlformats.org/drawingml/2006/main" id="23" idx="2"/>
            <a:endCxn xmlns:a="http://schemas.openxmlformats.org/drawingml/2006/main" id="29" idx="0"/>
          </p:cNvCxnSpPr>
          <p:nvPr/>
        </p:nvCxnSpPr>
        <p:spPr>
          <a:xfrm xmlns:a="http://schemas.openxmlformats.org/drawingml/2006/main" flipH="1">
            <a:off x="5219700" y="3990975"/>
            <a:ext cx="3076575" cy="1323975"/>
          </a:xfrm>
          <a:prstGeom xmlns:a="http://schemas.openxmlformats.org/drawingml/2006/main" prst="straightConnector1">
            <a:avLst/>
          </a:prstGeom>
          <a:ln xmlns:a="http://schemas.openxmlformats.org/drawingml/2006/main" w="23813">
            <a:solidFill>
              <a:srgbClr val="1E293B"/>
            </a:solidFill>
            <a:tailEnd type="triangle" w="med" len="med"/>
          </a:ln>
        </p:spPr>
      </p:cxnSp>
      <p:cxnSp>
        <p:nvCxnSpPr>
          <p:cNvPr id="85" name=""/>
          <p:cNvCxnSpPr>
            <a:stCxn xmlns:a="http://schemas.openxmlformats.org/drawingml/2006/main" id="26" idx="3"/>
            <a:endCxn xmlns:a="http://schemas.openxmlformats.org/drawingml/2006/main" id="29" idx="1"/>
          </p:cNvCxnSpPr>
          <p:nvPr/>
        </p:nvCxnSpPr>
        <p:spPr>
          <a:xfrm xmlns:a="http://schemas.openxmlformats.org/drawingml/2006/main">
            <a:off x="3333750" y="5853113"/>
            <a:ext cx="695325" cy="0"/>
          </a:xfrm>
          <a:prstGeom xmlns:a="http://schemas.openxmlformats.org/drawingml/2006/main" prst="straightConnector1">
            <a:avLst/>
          </a:prstGeom>
          <a:ln xmlns:a="http://schemas.openxmlformats.org/drawingml/2006/main" w="23813">
            <a:solidFill>
              <a:srgbClr val="1E293B"/>
            </a:solidFill>
            <a:tailEnd type="triangle" w="med" len="med"/>
          </a:ln>
        </p:spPr>
      </p:cxnSp>
      <p:cxnSp>
        <p:nvCxnSpPr>
          <p:cNvPr id="86" name=""/>
          <p:cNvCxnSpPr>
            <a:stCxn xmlns:a="http://schemas.openxmlformats.org/drawingml/2006/main" id="29" idx="3"/>
            <a:endCxn xmlns:a="http://schemas.openxmlformats.org/drawingml/2006/main" id="32" idx="1"/>
          </p:cNvCxnSpPr>
          <p:nvPr/>
        </p:nvCxnSpPr>
        <p:spPr>
          <a:xfrm xmlns:a="http://schemas.openxmlformats.org/drawingml/2006/main">
            <a:off x="6410325" y="5853113"/>
            <a:ext cx="695325" cy="0"/>
          </a:xfrm>
          <a:prstGeom xmlns:a="http://schemas.openxmlformats.org/drawingml/2006/main" prst="straightConnector1">
            <a:avLst/>
          </a:prstGeom>
          <a:ln xmlns:a="http://schemas.openxmlformats.org/drawingml/2006/main" w="23813">
            <a:solidFill>
              <a:srgbClr val="1E293B"/>
            </a:solidFill>
            <a:tailEnd type="triangle" w="med" len="med"/>
          </a:ln>
        </p:spPr>
      </p:cxnSp>
      <p:sp>
        <p:nvSpPr>
          <p:cNvPr id="40" name="panel">
            <a:extLst xmlns:a="http://schemas.openxmlformats.org/drawingml/2006/main">
              <a:ext uri="{FF2B5EF4-FFF2-40B4-BE49-F238E27FC236}">
                <a16:creationId xmlns:a16="http://schemas.microsoft.com/office/drawing/2014/main" id="{F92A9EF1-DFF6-4064-B161-40A9BC6E2594}"/>
              </a:ext>
            </a:extLst>
          </p:cNvPr>
          <p:cNvSpPr>
            <a:spLocks xmlns:a="http://schemas.openxmlformats.org/drawingml/2006/main" noGrp="1"/>
          </p:cNvSpPr>
          <p:nvPr/>
        </p:nvSpPr>
        <p:spPr>
          <a:xfrm xmlns:a="http://schemas.openxmlformats.org/drawingml/2006/main">
            <a:off x="10058400" y="2647950"/>
            <a:ext cx="4610100" cy="4619625"/>
          </a:xfrm>
          <a:prstGeom xmlns:a="http://schemas.openxmlformats.org/drawingml/2006/main" prst="roundRect">
            <a:avLst>
              <a:gd name="adj" fmla="val 3719"/>
            </a:avLst>
          </a:prstGeom>
          <a:solidFill xmlns:a="http://schemas.openxmlformats.org/drawingml/2006/main">
            <a:srgbClr val="E9F0F7"/>
          </a:solidFill>
          <a:ln xmlns:a="http://schemas.openxmlformats.org/drawingml/2006/main" w="0">
            <a:noFill/>
          </a:ln>
        </p:spPr>
      </p:sp>
      <p:sp>
        <p:nvSpPr>
          <p:cNvPr id="41" name="diagram-reading-label">
            <a:extLst xmlns:a="http://schemas.openxmlformats.org/drawingml/2006/main">
              <a:ext uri="{FF2B5EF4-FFF2-40B4-BE49-F238E27FC236}">
                <a16:creationId xmlns:a16="http://schemas.microsoft.com/office/drawing/2014/main" id="{C8B44A10-1AC2-4A8D-B368-B4D8C8F93461}"/>
              </a:ext>
            </a:extLst>
          </p:cNvPr>
          <p:cNvSpPr>
            <a:spLocks xmlns:a="http://schemas.openxmlformats.org/drawingml/2006/main" noGrp="1"/>
          </p:cNvSpPr>
          <p:nvPr/>
        </p:nvSpPr>
        <p:spPr>
          <a:xfrm xmlns:a="http://schemas.openxmlformats.org/drawingml/2006/main">
            <a:off x="10287000" y="2857500"/>
            <a:ext cx="414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CLAVE DE LECTURA</a:t>
            </a:r>
          </a:p>
        </p:txBody>
      </p:sp>
      <p:sp>
        <p:nvSpPr>
          <p:cNvPr id="42" name="diagram-reading">
            <a:extLst xmlns:a="http://schemas.openxmlformats.org/drawingml/2006/main">
              <a:ext uri="{FF2B5EF4-FFF2-40B4-BE49-F238E27FC236}">
                <a16:creationId xmlns:a16="http://schemas.microsoft.com/office/drawing/2014/main" id="{B2839A80-D692-4BAB-8D03-7A77BF2D6081}"/>
              </a:ext>
            </a:extLst>
          </p:cNvPr>
          <p:cNvSpPr>
            <a:spLocks xmlns:a="http://schemas.openxmlformats.org/drawingml/2006/main" noGrp="1"/>
          </p:cNvSpPr>
          <p:nvPr/>
        </p:nvSpPr>
        <p:spPr>
          <a:xfrm xmlns:a="http://schemas.openxmlformats.org/drawingml/2006/main">
            <a:off x="10287000" y="3286125"/>
            <a:ext cx="4143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La capacidad efectiva</a:t>
            </a:r>
          </a:p>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depende del modelo, endpoint</a:t>
            </a:r>
          </a:p>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y configuración.</a:t>
            </a:r>
          </a:p>
        </p:txBody>
      </p:sp>
      <p:sp>
        <p:nvSpPr>
          <p:cNvPr id="43" name="diagram-question-label">
            <a:extLst xmlns:a="http://schemas.openxmlformats.org/drawingml/2006/main">
              <a:ext uri="{FF2B5EF4-FFF2-40B4-BE49-F238E27FC236}">
                <a16:creationId xmlns:a16="http://schemas.microsoft.com/office/drawing/2014/main" id="{375A82FA-F77B-4369-B35E-FC479AD986A9}"/>
              </a:ext>
            </a:extLst>
          </p:cNvPr>
          <p:cNvSpPr>
            <a:spLocks xmlns:a="http://schemas.openxmlformats.org/drawingml/2006/main" noGrp="1"/>
          </p:cNvSpPr>
          <p:nvPr/>
        </p:nvSpPr>
        <p:spPr>
          <a:xfrm xmlns:a="http://schemas.openxmlformats.org/drawingml/2006/main">
            <a:off x="10287000" y="4752975"/>
            <a:ext cx="414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PREGUNTA AL GRUPO</a:t>
            </a:r>
          </a:p>
        </p:txBody>
      </p:sp>
      <p:sp>
        <p:nvSpPr>
          <p:cNvPr id="44" name="diagram-question">
            <a:extLst xmlns:a="http://schemas.openxmlformats.org/drawingml/2006/main">
              <a:ext uri="{FF2B5EF4-FFF2-40B4-BE49-F238E27FC236}">
                <a16:creationId xmlns:a16="http://schemas.microsoft.com/office/drawing/2014/main" id="{2C5EDB4D-2961-4423-979B-3AA968BEBFE5}"/>
              </a:ext>
            </a:extLst>
          </p:cNvPr>
          <p:cNvSpPr>
            <a:spLocks xmlns:a="http://schemas.openxmlformats.org/drawingml/2006/main" noGrp="1"/>
          </p:cNvSpPr>
          <p:nvPr/>
        </p:nvSpPr>
        <p:spPr>
          <a:xfrm xmlns:a="http://schemas.openxmlformats.org/drawingml/2006/main">
            <a:off x="10287000" y="5143500"/>
            <a:ext cx="4143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E293B"/>
                </a:solidFill>
                <a:latin typeface="DejaVu Sans"/>
                <a:ea typeface="DejaVu Sans"/>
                <a:cs typeface="DejaVu Sans"/>
              </a:defRPr>
            </a:pPr>
            <a:r>
              <a:rPr sz="1725" b="0">
                <a:solidFill>
                  <a:srgbClr val="1E293B"/>
                </a:solidFill>
                <a:latin typeface="DejaVu Sans"/>
                <a:ea typeface="DejaVu Sans"/>
                <a:cs typeface="DejaVu Sans"/>
              </a:rPr>
              <a:t>¿Qué componentes contarías antes</a:t>
            </a:r>
          </a:p>
          <a:p xmlns:a="http://schemas.openxmlformats.org/drawingml/2006/main">
            <a:pPr algn="l">
              <a:defRPr sz="1725" b="0">
                <a:solidFill>
                  <a:srgbClr val="1E293B"/>
                </a:solidFill>
                <a:latin typeface="DejaVu Sans"/>
                <a:ea typeface="DejaVu Sans"/>
                <a:cs typeface="DejaVu Sans"/>
              </a:defRPr>
            </a:pPr>
            <a:r>
              <a:rPr sz="1725" b="0">
                <a:solidFill>
                  <a:srgbClr val="1E293B"/>
                </a:solidFill>
                <a:latin typeface="DejaVu Sans"/>
                <a:ea typeface="DejaVu Sans"/>
                <a:cs typeface="DejaVu Sans"/>
              </a:rPr>
              <a:t>de enviar la llamada?</a:t>
            </a:r>
          </a:p>
        </p:txBody>
      </p:sp>
      <p:sp>
        <p:nvSpPr>
          <p:cNvPr id="45" name="diagram-caution">
            <a:extLst xmlns:a="http://schemas.openxmlformats.org/drawingml/2006/main">
              <a:ext uri="{FF2B5EF4-FFF2-40B4-BE49-F238E27FC236}">
                <a16:creationId xmlns:a16="http://schemas.microsoft.com/office/drawing/2014/main" id="{A82BEE70-A0B9-4207-B74B-2C35E88BA4AC}"/>
              </a:ext>
            </a:extLst>
          </p:cNvPr>
          <p:cNvSpPr>
            <a:spLocks xmlns:a="http://schemas.openxmlformats.org/drawingml/2006/main" noGrp="1"/>
          </p:cNvSpPr>
          <p:nvPr/>
        </p:nvSpPr>
        <p:spPr>
          <a:xfrm xmlns:a="http://schemas.openxmlformats.org/drawingml/2006/main">
            <a:off x="10287000" y="6276975"/>
            <a:ext cx="4143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E293B"/>
                </a:solidFill>
                <a:latin typeface="DejaVu Sans"/>
                <a:ea typeface="DejaVu Sans"/>
                <a:cs typeface="DejaVu Sans"/>
              </a:defRPr>
            </a:pPr>
            <a:r>
              <a:rPr sz="1425" b="0">
                <a:solidFill>
                  <a:srgbClr val="1E293B"/>
                </a:solidFill>
                <a:latin typeface="DejaVu Sans"/>
                <a:ea typeface="DejaVu Sans"/>
                <a:cs typeface="DejaVu Sans"/>
              </a:rPr>
              <a:t>Error a evitar: Contar solo el último mensaje</a:t>
            </a:r>
          </a:p>
          <a:p xmlns:a="http://schemas.openxmlformats.org/drawingml/2006/main">
            <a:pPr algn="l">
              <a:defRPr sz="1425" b="0">
                <a:solidFill>
                  <a:srgbClr val="1E293B"/>
                </a:solidFill>
                <a:latin typeface="DejaVu Sans"/>
                <a:ea typeface="DejaVu Sans"/>
                <a:cs typeface="DejaVu Sans"/>
              </a:defRPr>
            </a:pPr>
            <a:r>
              <a:rPr sz="1425" b="0">
                <a:solidFill>
                  <a:srgbClr val="1E293B"/>
                </a:solidFill>
                <a:latin typeface="DejaVu Sans"/>
                <a:ea typeface="DejaVu Sans"/>
                <a:cs typeface="DejaVu Sans"/>
              </a:rPr>
              <a:t>o asumir la misma ventana en cualquier</a:t>
            </a:r>
          </a:p>
          <a:p xmlns:a="http://schemas.openxmlformats.org/drawingml/2006/main">
            <a:pPr algn="l">
              <a:defRPr sz="1425" b="0">
                <a:solidFill>
                  <a:srgbClr val="1E293B"/>
                </a:solidFill>
                <a:latin typeface="DejaVu Sans"/>
                <a:ea typeface="DejaVu Sans"/>
                <a:cs typeface="DejaVu Sans"/>
              </a:defRPr>
            </a:pPr>
            <a:r>
              <a:rPr sz="1425" b="0">
                <a:solidFill>
                  <a:srgbClr val="1E293B"/>
                </a:solidFill>
                <a:latin typeface="DejaVu Sans"/>
                <a:ea typeface="DejaVu Sans"/>
                <a:cs typeface="DejaVu Sans"/>
              </a:rPr>
              <a:t>endpoint.</a:t>
            </a:r>
          </a:p>
        </p:txBody>
      </p:sp>
      <p:sp>
        <p:nvSpPr>
          <p:cNvPr id="46" name="panel">
            <a:extLst xmlns:a="http://schemas.openxmlformats.org/drawingml/2006/main">
              <a:ext uri="{FF2B5EF4-FFF2-40B4-BE49-F238E27FC236}">
                <a16:creationId xmlns:a16="http://schemas.microsoft.com/office/drawing/2014/main" id="{F4D4DE0A-89F0-4017-8472-102390922D07}"/>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7" name="takeaway">
            <a:extLst xmlns:a="http://schemas.openxmlformats.org/drawingml/2006/main">
              <a:ext uri="{FF2B5EF4-FFF2-40B4-BE49-F238E27FC236}">
                <a16:creationId xmlns:a16="http://schemas.microsoft.com/office/drawing/2014/main" id="{58777E32-88C3-4D16-A9C9-AE498D9ED242}"/>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La ventana de contexto es un presupuesto, no una memoria permanente.</a:t>
            </a:r>
          </a:p>
        </p:txBody>
      </p:sp>
    </p:spTree>
    <p:extLst>
      <p:ext uri="{BB962C8B-B14F-4D97-AF65-F5344CB8AC3E}">
        <p14:creationId xmlns:p14="http://schemas.microsoft.com/office/powerpoint/2010/main" val="465414104"/>
      </p:ext>
    </p:extLst>
  </p:cSld>
</p:sld>
</file>

<file path=ppt/slides/slide1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7A743C60-52D4-485B-8A43-679A40D45C0F}"/>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4630571-6E96-4694-9508-7D8E2CF7A837}"/>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18EAD947-47F7-4CA0-88DB-8F7488FD3D32}"/>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5</a:t>
            </a:r>
          </a:p>
        </p:txBody>
      </p:sp>
      <p:sp>
        <p:nvSpPr>
          <p:cNvPr id="4" name="breadcrumb">
            <a:extLst xmlns:a="http://schemas.openxmlformats.org/drawingml/2006/main">
              <a:ext uri="{FF2B5EF4-FFF2-40B4-BE49-F238E27FC236}">
                <a16:creationId xmlns:a16="http://schemas.microsoft.com/office/drawing/2014/main" id="{1F77EF44-D554-4BD6-8CDB-2BB6EE6BE7F0}"/>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5</a:t>
            </a:r>
          </a:p>
        </p:txBody>
      </p:sp>
      <p:sp>
        <p:nvSpPr>
          <p:cNvPr id="5" name="slide-title">
            <a:extLst xmlns:a="http://schemas.openxmlformats.org/drawingml/2006/main">
              <a:ext uri="{FF2B5EF4-FFF2-40B4-BE49-F238E27FC236}">
                <a16:creationId xmlns:a16="http://schemas.microsoft.com/office/drawing/2014/main" id="{5744BE35-7331-4885-9F37-1BEE6A903D4E}"/>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Cómo revisar el presupuesto</a:t>
            </a:r>
          </a:p>
        </p:txBody>
      </p:sp>
      <p:sp>
        <p:nvSpPr>
          <p:cNvPr id="6" name="learning-purpose">
            <a:extLst xmlns:a="http://schemas.openxmlformats.org/drawingml/2006/main">
              <a:ext uri="{FF2B5EF4-FFF2-40B4-BE49-F238E27FC236}">
                <a16:creationId xmlns:a16="http://schemas.microsoft.com/office/drawing/2014/main" id="{32AC49D7-3C6D-49EC-B99D-6133FDD2F5EF}"/>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Contar todos los componentes de entrada y reservar capacidad de salida.</a:t>
            </a:r>
          </a:p>
        </p:txBody>
      </p:sp>
      <p:sp>
        <p:nvSpPr>
          <p:cNvPr id="7" name="panel">
            <a:extLst xmlns:a="http://schemas.openxmlformats.org/drawingml/2006/main">
              <a:ext uri="{FF2B5EF4-FFF2-40B4-BE49-F238E27FC236}">
                <a16:creationId xmlns:a16="http://schemas.microsoft.com/office/drawing/2014/main" id="{533D8078-9884-4D4C-893B-AB7395CA2D03}"/>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441D2E01-439D-4000-8D1D-225D9860D9E8}"/>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28C7776D-E375-4AEF-90F4-D7A53D40C6A1}"/>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7D063FEE-5B03-4B82-AF20-B50B16D966EA}"/>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6A65E562-287D-4340-A2E3-D58B90DBE74C}"/>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EB1D6167-1EF4-4448-9018-921D60AFE71B}"/>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0DEBC2D1-8FDC-4545-BA57-B732DE28CE22}"/>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C05</a:t>
            </a:r>
          </a:p>
        </p:txBody>
      </p:sp>
      <p:sp>
        <p:nvSpPr>
          <p:cNvPr id="14" name="folio">
            <a:extLst xmlns:a="http://schemas.openxmlformats.org/drawingml/2006/main">
              <a:ext uri="{FF2B5EF4-FFF2-40B4-BE49-F238E27FC236}">
                <a16:creationId xmlns:a16="http://schemas.microsoft.com/office/drawing/2014/main" id="{B212C8A1-2E27-4C76-860B-8DDA32BFFF40}"/>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14</a:t>
            </a:r>
          </a:p>
        </p:txBody>
      </p:sp>
      <p:sp>
        <p:nvSpPr>
          <p:cNvPr id="15" name="section-label">
            <a:extLst xmlns:a="http://schemas.openxmlformats.org/drawingml/2006/main">
              <a:ext uri="{FF2B5EF4-FFF2-40B4-BE49-F238E27FC236}">
                <a16:creationId xmlns:a16="http://schemas.microsoft.com/office/drawing/2014/main" id="{BDCE1FDD-8C9C-4920-8285-93497D3F9C07}"/>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Inventariar</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Separar instrucciones, historial, esquemas y</a:t>
                      </a:r>
                    </a:p>
                    <a:p>
                      <a:r>
                        <a:rPr sz="1875" b="0">
                          <a:solidFill>
                            <a:srgbClr val="1E293B"/>
                          </a:solidFill>
                          <a:latin typeface="DejaVu Sans"/>
                          <a:ea typeface="DejaVu Sans"/>
                          <a:cs typeface="DejaVu Sans"/>
                        </a:rPr>
                        <a:t>documentos.</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Sumar</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Ejemplo: 1.000 + 1.500 + 1.200 + 2.000 = 5.700</a:t>
                      </a:r>
                    </a:p>
                    <a:p>
                      <a:r>
                        <a:rPr sz="1875" b="0">
                          <a:solidFill>
                            <a:srgbClr val="1E293B"/>
                          </a:solidFill>
                          <a:latin typeface="DejaVu Sans"/>
                          <a:ea typeface="DejaVu Sans"/>
                          <a:cs typeface="DejaVu Sans"/>
                        </a:rPr>
                        <a:t>de entrada.</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Reservar</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Asignar margen de respuesta según la</a:t>
                      </a:r>
                    </a:p>
                    <a:p>
                      <a:r>
                        <a:rPr sz="1875" b="0">
                          <a:solidFill>
                            <a:srgbClr val="1E293B"/>
                          </a:solidFill>
                          <a:latin typeface="DejaVu Sans"/>
                          <a:ea typeface="DejaVu Sans"/>
                          <a:cs typeface="DejaVu Sans"/>
                        </a:rPr>
                        <a:t>configuración real.</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A8F70074-EFA1-4C81-AB05-AB095C5ABA80}"/>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4854DFEC-C891-43A1-884D-45C4B7CEC281}"/>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903C7E7E-E1C2-468F-A81A-941A81160B1B}"/>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Contar solo el último mensaje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o asumir la misma ventana</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en cualquier endpoint.</a:t>
            </a:r>
          </a:p>
        </p:txBody>
      </p:sp>
      <p:sp>
        <p:nvSpPr>
          <p:cNvPr id="20" name="development-prompt">
            <a:extLst xmlns:a="http://schemas.openxmlformats.org/drawingml/2006/main">
              <a:ext uri="{FF2B5EF4-FFF2-40B4-BE49-F238E27FC236}">
                <a16:creationId xmlns:a16="http://schemas.microsoft.com/office/drawing/2014/main" id="{476F0031-DE8B-4E72-A859-BADD4FD12B1D}"/>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04BE9089-560E-4ECF-86C2-5534F376460B}"/>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2B20DB84-9E5A-485E-9382-D318C62E44EF}"/>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E2225FD0-31FC-4D50-A8B6-D62C82C13659}"/>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¿Qué componentes contarías antes de enviar la llamada?</a:t>
            </a:r>
          </a:p>
        </p:txBody>
      </p:sp>
      <p:sp>
        <p:nvSpPr>
          <p:cNvPr id="24" name="panel">
            <a:extLst xmlns:a="http://schemas.openxmlformats.org/drawingml/2006/main">
              <a:ext uri="{FF2B5EF4-FFF2-40B4-BE49-F238E27FC236}">
                <a16:creationId xmlns:a16="http://schemas.microsoft.com/office/drawing/2014/main" id="{50E75762-D5E3-4114-89CD-ED635FF331E4}"/>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40353568-495B-4918-B92C-29C369F87E51}"/>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La ventana de contexto es un presupuesto, no una memoria permanente.</a:t>
            </a:r>
          </a:p>
        </p:txBody>
      </p:sp>
    </p:spTree>
    <p:extLst>
      <p:ext uri="{BB962C8B-B14F-4D97-AF65-F5344CB8AC3E}">
        <p14:creationId xmlns:p14="http://schemas.microsoft.com/office/powerpoint/2010/main" val="2132648825"/>
      </p:ext>
    </p:extLst>
  </p:cSld>
</p:sld>
</file>

<file path=ppt/slides/slide1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0D0D6756-EC6E-4311-B206-264017FABCF5}"/>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5E39C7-BF73-4EBE-989C-85DDC88B172D}"/>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76344C41-C9D8-44C4-AEB6-D45EA24D4270}"/>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5</a:t>
            </a:r>
          </a:p>
        </p:txBody>
      </p:sp>
      <p:sp>
        <p:nvSpPr>
          <p:cNvPr id="4" name="breadcrumb">
            <a:extLst xmlns:a="http://schemas.openxmlformats.org/drawingml/2006/main">
              <a:ext uri="{FF2B5EF4-FFF2-40B4-BE49-F238E27FC236}">
                <a16:creationId xmlns:a16="http://schemas.microsoft.com/office/drawing/2014/main" id="{2FA0684A-C03C-4143-A7C5-251BCDF3AE38}"/>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5</a:t>
            </a:r>
          </a:p>
        </p:txBody>
      </p:sp>
      <p:sp>
        <p:nvSpPr>
          <p:cNvPr id="5" name="slide-title">
            <a:extLst xmlns:a="http://schemas.openxmlformats.org/drawingml/2006/main">
              <a:ext uri="{FF2B5EF4-FFF2-40B4-BE49-F238E27FC236}">
                <a16:creationId xmlns:a16="http://schemas.microsoft.com/office/drawing/2014/main" id="{2F3F25B9-7BE0-4A44-936B-79CC428A8327}"/>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Contexto: presupuesto por llamada</a:t>
            </a:r>
          </a:p>
        </p:txBody>
      </p:sp>
      <p:sp>
        <p:nvSpPr>
          <p:cNvPr id="6" name="learning-purpose">
            <a:extLst xmlns:a="http://schemas.openxmlformats.org/drawingml/2006/main">
              <a:ext uri="{FF2B5EF4-FFF2-40B4-BE49-F238E27FC236}">
                <a16:creationId xmlns:a16="http://schemas.microsoft.com/office/drawing/2014/main" id="{3ED13019-98D6-4B2D-849F-D24A2978E3F8}"/>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Contar todos los componentes de entrada y reservar capacidad de salida.</a:t>
            </a:r>
          </a:p>
        </p:txBody>
      </p:sp>
      <p:sp>
        <p:nvSpPr>
          <p:cNvPr id="7" name="panel">
            <a:extLst xmlns:a="http://schemas.openxmlformats.org/drawingml/2006/main">
              <a:ext uri="{FF2B5EF4-FFF2-40B4-BE49-F238E27FC236}">
                <a16:creationId xmlns:a16="http://schemas.microsoft.com/office/drawing/2014/main" id="{796DDB4A-6635-4815-970C-2EB415F3056D}"/>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03B46E5F-7F10-4082-BDA4-8CFF7CA78D25}"/>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80F2DAD6-621B-43E0-B9BD-CE43EA23F6AE}"/>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A8F2F146-D9A0-41B5-9236-BED102FA0D81}"/>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6BF53822-1CEC-4D3C-ACBC-6EE879B43F7A}"/>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4FA50246-4496-4C4D-9307-3C4DD2312205}"/>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6E8FCFC1-2FDD-45DC-9203-2EF79D87330B}"/>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C05</a:t>
            </a:r>
          </a:p>
        </p:txBody>
      </p:sp>
      <p:sp>
        <p:nvSpPr>
          <p:cNvPr id="14" name="folio">
            <a:extLst xmlns:a="http://schemas.openxmlformats.org/drawingml/2006/main">
              <a:ext uri="{FF2B5EF4-FFF2-40B4-BE49-F238E27FC236}">
                <a16:creationId xmlns:a16="http://schemas.microsoft.com/office/drawing/2014/main" id="{DD39987D-FE69-45C5-BB08-2BD8593D26A9}"/>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15</a:t>
            </a:r>
          </a:p>
        </p:txBody>
      </p:sp>
      <p:sp>
        <p:nvSpPr>
          <p:cNvPr id="15" name="section-label">
            <a:extLst xmlns:a="http://schemas.openxmlformats.org/drawingml/2006/main">
              <a:ext uri="{FF2B5EF4-FFF2-40B4-BE49-F238E27FC236}">
                <a16:creationId xmlns:a16="http://schemas.microsoft.com/office/drawing/2014/main" id="{E2B5A52D-416D-4AAD-A65A-4283CB396E7F}"/>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BANCO INTI · CASO DIDÁCTICO</a:t>
            </a:r>
          </a:p>
        </p:txBody>
      </p:sp>
      <p:sp>
        <p:nvSpPr>
          <p:cNvPr id="16" name="panel">
            <a:extLst xmlns:a="http://schemas.openxmlformats.org/drawingml/2006/main">
              <a:ext uri="{FF2B5EF4-FFF2-40B4-BE49-F238E27FC236}">
                <a16:creationId xmlns:a16="http://schemas.microsoft.com/office/drawing/2014/main" id="{BBB37880-60E2-4FF5-8209-BC55D7EE1674}"/>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0811B886-97CC-4BBF-95EF-A1C83E2C0364}"/>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94D589A8-62AB-470E-A781-70FFFAF60947}"/>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Una nueva pregunta tiene 12 tokens; el historial añade 2.000.</a:t>
            </a:r>
          </a:p>
        </p:txBody>
      </p:sp>
      <p:sp>
        <p:nvSpPr>
          <p:cNvPr id="19" name="concept-node">
            <a:extLst xmlns:a="http://schemas.openxmlformats.org/drawingml/2006/main">
              <a:ext uri="{FF2B5EF4-FFF2-40B4-BE49-F238E27FC236}">
                <a16:creationId xmlns:a16="http://schemas.microsoft.com/office/drawing/2014/main" id="{C921EBA2-AEE2-4EB6-B970-0BC07FF533C2}"/>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327CDEAF-00C4-4B35-AF1C-13BFD76B3EDD}"/>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6889826-B5B6-40A1-8572-9BF0D0EECC24}"/>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6EAF342A-4E18-46BA-A46A-4A67A5A8F1CF}"/>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614F4CA9-CD6E-4384-B578-D59DC9832FD6}"/>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Partir</a:t>
            </a:r>
          </a:p>
        </p:txBody>
      </p:sp>
      <p:sp>
        <p:nvSpPr>
          <p:cNvPr id="24" name="node-body">
            <a:extLst xmlns:a="http://schemas.openxmlformats.org/drawingml/2006/main">
              <a:ext uri="{FF2B5EF4-FFF2-40B4-BE49-F238E27FC236}">
                <a16:creationId xmlns:a16="http://schemas.microsoft.com/office/drawing/2014/main" id="{EEF50477-E39B-4738-B06F-E109E9E914F1}"/>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 entrada anterior era de 5.700</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tokens.</a:t>
            </a:r>
          </a:p>
        </p:txBody>
      </p:sp>
      <p:sp>
        <p:nvSpPr>
          <p:cNvPr id="25" name="concept-node">
            <a:extLst xmlns:a="http://schemas.openxmlformats.org/drawingml/2006/main">
              <a:ext uri="{FF2B5EF4-FFF2-40B4-BE49-F238E27FC236}">
                <a16:creationId xmlns:a16="http://schemas.microsoft.com/office/drawing/2014/main" id="{8B16015D-294A-44FA-8836-B198547D273E}"/>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054081B6-2638-41B7-BCD6-A9C3C886ACE2}"/>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8E18A53-7C3D-47A6-A5F2-186B6F9F57B6}"/>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25DA98E1-3141-41BC-A76A-918484F82292}"/>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C600D6AE-CA70-4DD7-80A3-A22E8A643CB6}"/>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Añadir</a:t>
            </a:r>
          </a:p>
        </p:txBody>
      </p:sp>
      <p:sp>
        <p:nvSpPr>
          <p:cNvPr id="30" name="node-body">
            <a:extLst xmlns:a="http://schemas.openxmlformats.org/drawingml/2006/main">
              <a:ext uri="{FF2B5EF4-FFF2-40B4-BE49-F238E27FC236}">
                <a16:creationId xmlns:a16="http://schemas.microsoft.com/office/drawing/2014/main" id="{2BACCF46-A4C6-4B90-989F-A8C4C0430878}"/>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El nuevo historial eleva la</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entrada a 7.700.</a:t>
            </a:r>
          </a:p>
        </p:txBody>
      </p:sp>
      <p:sp>
        <p:nvSpPr>
          <p:cNvPr id="31" name="concept-node">
            <a:extLst xmlns:a="http://schemas.openxmlformats.org/drawingml/2006/main">
              <a:ext uri="{FF2B5EF4-FFF2-40B4-BE49-F238E27FC236}">
                <a16:creationId xmlns:a16="http://schemas.microsoft.com/office/drawing/2014/main" id="{36333A80-70AC-40CA-8C39-BD6E35371E34}"/>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6AB7D364-777A-43B2-88F8-3CCFE4CAE4C2}"/>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F65E407-C159-4D8E-A474-ACF3407D1437}"/>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8916106A-476F-4D0E-96ED-4319ADF76F33}"/>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BADA4B4F-B896-4E80-A196-D1A68C312564}"/>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Decidir</a:t>
            </a:r>
          </a:p>
        </p:txBody>
      </p:sp>
      <p:sp>
        <p:nvSpPr>
          <p:cNvPr id="36" name="node-body">
            <a:extLst xmlns:a="http://schemas.openxmlformats.org/drawingml/2006/main">
              <a:ext uri="{FF2B5EF4-FFF2-40B4-BE49-F238E27FC236}">
                <a16:creationId xmlns:a16="http://schemas.microsoft.com/office/drawing/2014/main" id="{32F0DEDF-7CB0-41DF-9A7D-3C2880DAEC8D}"/>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Seleccionar contexto antes de</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exceder el límite configurado.</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E86ACE50-A8CD-4FD4-89E4-05BEFFBBB2FF}"/>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845154B9-0983-4FE3-87FD-7A18FC8999FD}"/>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C1417F83-113A-45EC-BE7D-809170B14E92}"/>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La entrada crece aunque la pregunta siga siendo corta. Valores ilustrativos.</a:t>
            </a:r>
          </a:p>
        </p:txBody>
      </p:sp>
      <p:sp>
        <p:nvSpPr>
          <p:cNvPr id="42" name="panel">
            <a:extLst xmlns:a="http://schemas.openxmlformats.org/drawingml/2006/main">
              <a:ext uri="{FF2B5EF4-FFF2-40B4-BE49-F238E27FC236}">
                <a16:creationId xmlns:a16="http://schemas.microsoft.com/office/drawing/2014/main" id="{F88867B6-2519-4825-AC2E-7EB708FC4EA4}"/>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351EB853-A055-4200-A13B-ECBCC93076E4}"/>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La ventana de contexto es un presupuesto, no una memoria permanente.</a:t>
            </a:r>
          </a:p>
        </p:txBody>
      </p:sp>
    </p:spTree>
    <p:extLst>
      <p:ext uri="{BB962C8B-B14F-4D97-AF65-F5344CB8AC3E}">
        <p14:creationId xmlns:p14="http://schemas.microsoft.com/office/powerpoint/2010/main" val="992152510"/>
      </p:ext>
    </p:extLst>
  </p:cSld>
</p:sld>
</file>

<file path=ppt/slides/slide1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8" name="header">
            <a:extLst xmlns:a="http://schemas.openxmlformats.org/drawingml/2006/main">
              <a:ext uri="{FF2B5EF4-FFF2-40B4-BE49-F238E27FC236}">
                <a16:creationId xmlns:a16="http://schemas.microsoft.com/office/drawing/2014/main" id="{9A4CBE55-22FF-4CE9-AC60-31D651914961}"/>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DF61C58-BC6E-445D-91D9-B81B308F3FF5}"/>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82BB22D9-7D80-4A10-9FF5-A72FFE08ED0B}"/>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6</a:t>
            </a:r>
          </a:p>
        </p:txBody>
      </p:sp>
      <p:sp>
        <p:nvSpPr>
          <p:cNvPr id="4" name="breadcrumb">
            <a:extLst xmlns:a="http://schemas.openxmlformats.org/drawingml/2006/main">
              <a:ext uri="{FF2B5EF4-FFF2-40B4-BE49-F238E27FC236}">
                <a16:creationId xmlns:a16="http://schemas.microsoft.com/office/drawing/2014/main" id="{A2915F68-EA4F-4B44-8397-677532DA9335}"/>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6</a:t>
            </a:r>
          </a:p>
        </p:txBody>
      </p:sp>
      <p:sp>
        <p:nvSpPr>
          <p:cNvPr id="5" name="slide-title">
            <a:extLst xmlns:a="http://schemas.openxmlformats.org/drawingml/2006/main">
              <a:ext uri="{FF2B5EF4-FFF2-40B4-BE49-F238E27FC236}">
                <a16:creationId xmlns:a16="http://schemas.microsoft.com/office/drawing/2014/main" id="{9A49F740-2C93-4E7E-9BD8-6D308AC6FE96}"/>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Dónde vive la conversación</a:t>
            </a:r>
          </a:p>
        </p:txBody>
      </p:sp>
      <p:sp>
        <p:nvSpPr>
          <p:cNvPr id="6" name="learning-purpose">
            <a:extLst xmlns:a="http://schemas.openxmlformats.org/drawingml/2006/main">
              <a:ext uri="{FF2B5EF4-FFF2-40B4-BE49-F238E27FC236}">
                <a16:creationId xmlns:a16="http://schemas.microsoft.com/office/drawing/2014/main" id="{E8EBD97B-0327-49A7-8020-589F85637ABE}"/>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Ubicar el historial en la aplicación que prepara cada llamada.</a:t>
            </a:r>
          </a:p>
        </p:txBody>
      </p:sp>
      <p:sp>
        <p:nvSpPr>
          <p:cNvPr id="7" name="panel">
            <a:extLst xmlns:a="http://schemas.openxmlformats.org/drawingml/2006/main">
              <a:ext uri="{FF2B5EF4-FFF2-40B4-BE49-F238E27FC236}">
                <a16:creationId xmlns:a16="http://schemas.microsoft.com/office/drawing/2014/main" id="{16111527-5288-49A8-B774-57F5BC30400C}"/>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CFEAF547-4D11-4773-A442-2B99BF371E62}"/>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B97684D1-0098-4CD7-A21F-ED0386F7B7BB}"/>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FD49401F-9D71-4C72-949E-7D20D0D9D39F}"/>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89F4FA3F-84D6-436C-9755-8C2A0781A8A8}"/>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E4ABC619-5810-4FFA-A263-73EEF4F2D971}"/>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330D2A23-7214-4F16-85A8-1F0573B2E270}"/>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C06</a:t>
            </a:r>
          </a:p>
        </p:txBody>
      </p:sp>
      <p:sp>
        <p:nvSpPr>
          <p:cNvPr id="14" name="folio">
            <a:extLst xmlns:a="http://schemas.openxmlformats.org/drawingml/2006/main">
              <a:ext uri="{FF2B5EF4-FFF2-40B4-BE49-F238E27FC236}">
                <a16:creationId xmlns:a16="http://schemas.microsoft.com/office/drawing/2014/main" id="{61F32682-FF37-442B-97FD-8C9100A0FF1F}"/>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16</a:t>
            </a:r>
          </a:p>
        </p:txBody>
      </p:sp>
      <p:sp>
        <p:nvSpPr>
          <p:cNvPr id="15" name="section-label">
            <a:extLst xmlns:a="http://schemas.openxmlformats.org/drawingml/2006/main">
              <a:ext uri="{FF2B5EF4-FFF2-40B4-BE49-F238E27FC236}">
                <a16:creationId xmlns:a16="http://schemas.microsoft.com/office/drawing/2014/main" id="{C8865D95-0AEA-460A-9B23-47A864A76D55}"/>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LA APLICACIÓN PREPARA DOS LLAMADAS INDEPENDIENTES</a:t>
            </a:r>
          </a:p>
        </p:txBody>
      </p:sp>
      <p:sp>
        <p:nvSpPr>
          <p:cNvPr id="16" name="architecture-frame">
            <a:extLst xmlns:a="http://schemas.openxmlformats.org/drawingml/2006/main">
              <a:ext uri="{FF2B5EF4-FFF2-40B4-BE49-F238E27FC236}">
                <a16:creationId xmlns:a16="http://schemas.microsoft.com/office/drawing/2014/main" id="{4C66EE6B-FDC1-46A3-97B4-5BB020680142}"/>
              </a:ext>
            </a:extLst>
          </p:cNvPr>
          <p:cNvSpPr>
            <a:spLocks xmlns:a="http://schemas.openxmlformats.org/drawingml/2006/main" noGrp="1"/>
          </p:cNvSpPr>
          <p:nvPr/>
        </p:nvSpPr>
        <p:spPr>
          <a:xfrm xmlns:a="http://schemas.openxmlformats.org/drawingml/2006/main">
            <a:off x="571500" y="2647950"/>
            <a:ext cx="9239250" cy="4619625"/>
          </a:xfrm>
          <a:prstGeom xmlns:a="http://schemas.openxmlformats.org/drawingml/2006/main" prst="roundRect">
            <a:avLst>
              <a:gd name="adj" fmla="val 3711"/>
            </a:avLst>
          </a:prstGeom>
          <a:solidFill xmlns:a="http://schemas.openxmlformats.org/drawingml/2006/main">
            <a:srgbClr val="FFFFFF"/>
          </a:solidFill>
          <a:ln xmlns:a="http://schemas.openxmlformats.org/drawingml/2006/main" w="14288">
            <a:solidFill>
              <a:srgbClr val="CED8E3"/>
            </a:solidFill>
          </a:ln>
        </p:spPr>
      </p:sp>
      <p:sp>
        <p:nvSpPr>
          <p:cNvPr id="17" name="component-u1">
            <a:extLst xmlns:a="http://schemas.openxmlformats.org/drawingml/2006/main">
              <a:ext uri="{FF2B5EF4-FFF2-40B4-BE49-F238E27FC236}">
                <a16:creationId xmlns:a16="http://schemas.microsoft.com/office/drawing/2014/main" id="{CB4820F5-25FB-4166-9EFA-350A3139446A}"/>
              </a:ext>
            </a:extLst>
          </p:cNvPr>
          <p:cNvSpPr>
            <a:spLocks xmlns:a="http://schemas.openxmlformats.org/drawingml/2006/main" noGrp="1"/>
          </p:cNvSpPr>
          <p:nvPr/>
        </p:nvSpPr>
        <p:spPr>
          <a:xfrm xmlns:a="http://schemas.openxmlformats.org/drawingml/2006/main">
            <a:off x="952500" y="291465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18" name="component-title">
            <a:extLst xmlns:a="http://schemas.openxmlformats.org/drawingml/2006/main">
              <a:ext uri="{FF2B5EF4-FFF2-40B4-BE49-F238E27FC236}">
                <a16:creationId xmlns:a16="http://schemas.microsoft.com/office/drawing/2014/main" id="{D1452BEB-B0C0-4CF4-BB48-77A6A2F63593}"/>
              </a:ext>
            </a:extLst>
          </p:cNvPr>
          <p:cNvSpPr>
            <a:spLocks xmlns:a="http://schemas.openxmlformats.org/drawingml/2006/main" noGrp="1"/>
          </p:cNvSpPr>
          <p:nvPr/>
        </p:nvSpPr>
        <p:spPr>
          <a:xfrm xmlns:a="http://schemas.openxmlformats.org/drawingml/2006/main">
            <a:off x="1085850" y="30575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Turno 1</a:t>
            </a:r>
          </a:p>
        </p:txBody>
      </p:sp>
      <p:sp>
        <p:nvSpPr>
          <p:cNvPr id="19" name="component-detail">
            <a:extLst xmlns:a="http://schemas.openxmlformats.org/drawingml/2006/main">
              <a:ext uri="{FF2B5EF4-FFF2-40B4-BE49-F238E27FC236}">
                <a16:creationId xmlns:a16="http://schemas.microsoft.com/office/drawing/2014/main" id="{5B98E9E2-8011-426C-B4BD-77C3C8ED33BF}"/>
              </a:ext>
            </a:extLst>
          </p:cNvPr>
          <p:cNvSpPr>
            <a:spLocks xmlns:a="http://schemas.openxmlformats.org/drawingml/2006/main" noGrp="1"/>
          </p:cNvSpPr>
          <p:nvPr/>
        </p:nvSpPr>
        <p:spPr>
          <a:xfrm xmlns:a="http://schemas.openxmlformats.org/drawingml/2006/main">
            <a:off x="1085850" y="357187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Mi pedido es P-104</a:t>
            </a:r>
          </a:p>
        </p:txBody>
      </p:sp>
      <p:sp>
        <p:nvSpPr>
          <p:cNvPr id="20" name="component-app">
            <a:extLst xmlns:a="http://schemas.openxmlformats.org/drawingml/2006/main">
              <a:ext uri="{FF2B5EF4-FFF2-40B4-BE49-F238E27FC236}">
                <a16:creationId xmlns:a16="http://schemas.microsoft.com/office/drawing/2014/main" id="{9AB4A387-5724-4CF8-9313-A4D6AA8E7771}"/>
              </a:ext>
            </a:extLst>
          </p:cNvPr>
          <p:cNvSpPr>
            <a:spLocks xmlns:a="http://schemas.openxmlformats.org/drawingml/2006/main" noGrp="1"/>
          </p:cNvSpPr>
          <p:nvPr/>
        </p:nvSpPr>
        <p:spPr>
          <a:xfrm xmlns:a="http://schemas.openxmlformats.org/drawingml/2006/main">
            <a:off x="4029075" y="291465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21" name="component-title">
            <a:extLst xmlns:a="http://schemas.openxmlformats.org/drawingml/2006/main">
              <a:ext uri="{FF2B5EF4-FFF2-40B4-BE49-F238E27FC236}">
                <a16:creationId xmlns:a16="http://schemas.microsoft.com/office/drawing/2014/main" id="{41606336-54C4-4F94-A165-8527C242468C}"/>
              </a:ext>
            </a:extLst>
          </p:cNvPr>
          <p:cNvSpPr>
            <a:spLocks xmlns:a="http://schemas.openxmlformats.org/drawingml/2006/main" noGrp="1"/>
          </p:cNvSpPr>
          <p:nvPr/>
        </p:nvSpPr>
        <p:spPr>
          <a:xfrm xmlns:a="http://schemas.openxmlformats.org/drawingml/2006/main">
            <a:off x="4162425" y="30575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Aplicación</a:t>
            </a:r>
          </a:p>
        </p:txBody>
      </p:sp>
      <p:sp>
        <p:nvSpPr>
          <p:cNvPr id="22" name="component-detail">
            <a:extLst xmlns:a="http://schemas.openxmlformats.org/drawingml/2006/main">
              <a:ext uri="{FF2B5EF4-FFF2-40B4-BE49-F238E27FC236}">
                <a16:creationId xmlns:a16="http://schemas.microsoft.com/office/drawing/2014/main" id="{1F390D17-B3D1-47B5-A714-2B98727CBE0B}"/>
              </a:ext>
            </a:extLst>
          </p:cNvPr>
          <p:cNvSpPr>
            <a:spLocks xmlns:a="http://schemas.openxmlformats.org/drawingml/2006/main" noGrp="1"/>
          </p:cNvSpPr>
          <p:nvPr/>
        </p:nvSpPr>
        <p:spPr>
          <a:xfrm xmlns:a="http://schemas.openxmlformats.org/drawingml/2006/main">
            <a:off x="4162425" y="357187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Guarda historial</a:t>
            </a:r>
          </a:p>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permitido</a:t>
            </a:r>
          </a:p>
        </p:txBody>
      </p:sp>
      <p:sp>
        <p:nvSpPr>
          <p:cNvPr id="23" name="component-m1">
            <a:extLst xmlns:a="http://schemas.openxmlformats.org/drawingml/2006/main">
              <a:ext uri="{FF2B5EF4-FFF2-40B4-BE49-F238E27FC236}">
                <a16:creationId xmlns:a16="http://schemas.microsoft.com/office/drawing/2014/main" id="{9493BA91-E8FC-4315-83B5-7CA46B8CE615}"/>
              </a:ext>
            </a:extLst>
          </p:cNvPr>
          <p:cNvSpPr>
            <a:spLocks xmlns:a="http://schemas.openxmlformats.org/drawingml/2006/main" noGrp="1"/>
          </p:cNvSpPr>
          <p:nvPr/>
        </p:nvSpPr>
        <p:spPr>
          <a:xfrm xmlns:a="http://schemas.openxmlformats.org/drawingml/2006/main">
            <a:off x="7105650" y="291465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24" name="component-title">
            <a:extLst xmlns:a="http://schemas.openxmlformats.org/drawingml/2006/main">
              <a:ext uri="{FF2B5EF4-FFF2-40B4-BE49-F238E27FC236}">
                <a16:creationId xmlns:a16="http://schemas.microsoft.com/office/drawing/2014/main" id="{1F747F5F-AB75-43F8-A2A4-0659EE5F683D}"/>
              </a:ext>
            </a:extLst>
          </p:cNvPr>
          <p:cNvSpPr>
            <a:spLocks xmlns:a="http://schemas.openxmlformats.org/drawingml/2006/main" noGrp="1"/>
          </p:cNvSpPr>
          <p:nvPr/>
        </p:nvSpPr>
        <p:spPr>
          <a:xfrm xmlns:a="http://schemas.openxmlformats.org/drawingml/2006/main">
            <a:off x="7239000" y="30575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Llamada 1</a:t>
            </a:r>
          </a:p>
        </p:txBody>
      </p:sp>
      <p:sp>
        <p:nvSpPr>
          <p:cNvPr id="25" name="component-detail">
            <a:extLst xmlns:a="http://schemas.openxmlformats.org/drawingml/2006/main">
              <a:ext uri="{FF2B5EF4-FFF2-40B4-BE49-F238E27FC236}">
                <a16:creationId xmlns:a16="http://schemas.microsoft.com/office/drawing/2014/main" id="{0FDEB22A-7987-475F-9547-6D6D9B9D7A28}"/>
              </a:ext>
            </a:extLst>
          </p:cNvPr>
          <p:cNvSpPr>
            <a:spLocks xmlns:a="http://schemas.openxmlformats.org/drawingml/2006/main" noGrp="1"/>
          </p:cNvSpPr>
          <p:nvPr/>
        </p:nvSpPr>
        <p:spPr>
          <a:xfrm xmlns:a="http://schemas.openxmlformats.org/drawingml/2006/main">
            <a:off x="7239000" y="357187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Recibe el contexto</a:t>
            </a:r>
          </a:p>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enviado</a:t>
            </a:r>
          </a:p>
        </p:txBody>
      </p:sp>
      <p:sp>
        <p:nvSpPr>
          <p:cNvPr id="26" name="component-u2">
            <a:extLst xmlns:a="http://schemas.openxmlformats.org/drawingml/2006/main">
              <a:ext uri="{FF2B5EF4-FFF2-40B4-BE49-F238E27FC236}">
                <a16:creationId xmlns:a16="http://schemas.microsoft.com/office/drawing/2014/main" id="{1293816A-3EEA-43DE-AF13-DCD4BC00896A}"/>
              </a:ext>
            </a:extLst>
          </p:cNvPr>
          <p:cNvSpPr>
            <a:spLocks xmlns:a="http://schemas.openxmlformats.org/drawingml/2006/main" noGrp="1"/>
          </p:cNvSpPr>
          <p:nvPr/>
        </p:nvSpPr>
        <p:spPr>
          <a:xfrm xmlns:a="http://schemas.openxmlformats.org/drawingml/2006/main">
            <a:off x="952500" y="531495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27" name="component-title">
            <a:extLst xmlns:a="http://schemas.openxmlformats.org/drawingml/2006/main">
              <a:ext uri="{FF2B5EF4-FFF2-40B4-BE49-F238E27FC236}">
                <a16:creationId xmlns:a16="http://schemas.microsoft.com/office/drawing/2014/main" id="{892B4C74-B761-4787-8694-357DAE7EBA6B}"/>
              </a:ext>
            </a:extLst>
          </p:cNvPr>
          <p:cNvSpPr>
            <a:spLocks xmlns:a="http://schemas.openxmlformats.org/drawingml/2006/main" noGrp="1"/>
          </p:cNvSpPr>
          <p:nvPr/>
        </p:nvSpPr>
        <p:spPr>
          <a:xfrm xmlns:a="http://schemas.openxmlformats.org/drawingml/2006/main">
            <a:off x="1085850" y="54578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Turno 2</a:t>
            </a:r>
          </a:p>
        </p:txBody>
      </p:sp>
      <p:sp>
        <p:nvSpPr>
          <p:cNvPr id="28" name="component-detail">
            <a:extLst xmlns:a="http://schemas.openxmlformats.org/drawingml/2006/main">
              <a:ext uri="{FF2B5EF4-FFF2-40B4-BE49-F238E27FC236}">
                <a16:creationId xmlns:a16="http://schemas.microsoft.com/office/drawing/2014/main" id="{CDD7EE82-AA32-4F21-8E88-3853B42763CB}"/>
              </a:ext>
            </a:extLst>
          </p:cNvPr>
          <p:cNvSpPr>
            <a:spLocks xmlns:a="http://schemas.openxmlformats.org/drawingml/2006/main" noGrp="1"/>
          </p:cNvSpPr>
          <p:nvPr/>
        </p:nvSpPr>
        <p:spPr>
          <a:xfrm xmlns:a="http://schemas.openxmlformats.org/drawingml/2006/main">
            <a:off x="1085850" y="597217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¿Cuándo llega?</a:t>
            </a:r>
          </a:p>
        </p:txBody>
      </p:sp>
      <p:sp>
        <p:nvSpPr>
          <p:cNvPr id="29" name="component-ctx">
            <a:extLst xmlns:a="http://schemas.openxmlformats.org/drawingml/2006/main">
              <a:ext uri="{FF2B5EF4-FFF2-40B4-BE49-F238E27FC236}">
                <a16:creationId xmlns:a16="http://schemas.microsoft.com/office/drawing/2014/main" id="{AFC1AD1D-6055-40A8-8A55-DF9518E2A1B9}"/>
              </a:ext>
            </a:extLst>
          </p:cNvPr>
          <p:cNvSpPr>
            <a:spLocks xmlns:a="http://schemas.openxmlformats.org/drawingml/2006/main" noGrp="1"/>
          </p:cNvSpPr>
          <p:nvPr/>
        </p:nvSpPr>
        <p:spPr>
          <a:xfrm xmlns:a="http://schemas.openxmlformats.org/drawingml/2006/main">
            <a:off x="4029075" y="531495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30" name="component-title">
            <a:extLst xmlns:a="http://schemas.openxmlformats.org/drawingml/2006/main">
              <a:ext uri="{FF2B5EF4-FFF2-40B4-BE49-F238E27FC236}">
                <a16:creationId xmlns:a16="http://schemas.microsoft.com/office/drawing/2014/main" id="{4E69082E-FB4D-4285-8746-81AD7D21E29B}"/>
              </a:ext>
            </a:extLst>
          </p:cNvPr>
          <p:cNvSpPr>
            <a:spLocks xmlns:a="http://schemas.openxmlformats.org/drawingml/2006/main" noGrp="1"/>
          </p:cNvSpPr>
          <p:nvPr/>
        </p:nvSpPr>
        <p:spPr>
          <a:xfrm xmlns:a="http://schemas.openxmlformats.org/drawingml/2006/main">
            <a:off x="4162425" y="54578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Entrada de turno</a:t>
            </a:r>
          </a:p>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2</a:t>
            </a:r>
          </a:p>
        </p:txBody>
      </p:sp>
      <p:sp>
        <p:nvSpPr>
          <p:cNvPr id="31" name="component-detail">
            <a:extLst xmlns:a="http://schemas.openxmlformats.org/drawingml/2006/main">
              <a:ext uri="{FF2B5EF4-FFF2-40B4-BE49-F238E27FC236}">
                <a16:creationId xmlns:a16="http://schemas.microsoft.com/office/drawing/2014/main" id="{A1BA348C-F100-4133-AE42-A3DD5A9BDF62}"/>
              </a:ext>
            </a:extLst>
          </p:cNvPr>
          <p:cNvSpPr>
            <a:spLocks xmlns:a="http://schemas.openxmlformats.org/drawingml/2006/main" noGrp="1"/>
          </p:cNvSpPr>
          <p:nvPr/>
        </p:nvSpPr>
        <p:spPr>
          <a:xfrm xmlns:a="http://schemas.openxmlformats.org/drawingml/2006/main">
            <a:off x="4162425" y="597217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Historial + nueva</a:t>
            </a:r>
          </a:p>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pregunta</a:t>
            </a:r>
          </a:p>
        </p:txBody>
      </p:sp>
      <p:sp>
        <p:nvSpPr>
          <p:cNvPr id="32" name="component-m2">
            <a:extLst xmlns:a="http://schemas.openxmlformats.org/drawingml/2006/main">
              <a:ext uri="{FF2B5EF4-FFF2-40B4-BE49-F238E27FC236}">
                <a16:creationId xmlns:a16="http://schemas.microsoft.com/office/drawing/2014/main" id="{4FC3B2AB-C7B3-4E2B-A2D5-FDD21CE4311D}"/>
              </a:ext>
            </a:extLst>
          </p:cNvPr>
          <p:cNvSpPr>
            <a:spLocks xmlns:a="http://schemas.openxmlformats.org/drawingml/2006/main" noGrp="1"/>
          </p:cNvSpPr>
          <p:nvPr/>
        </p:nvSpPr>
        <p:spPr>
          <a:xfrm xmlns:a="http://schemas.openxmlformats.org/drawingml/2006/main">
            <a:off x="7105650" y="5314950"/>
            <a:ext cx="2381250" cy="1076325"/>
          </a:xfrm>
          <a:prstGeom xmlns:a="http://schemas.openxmlformats.org/drawingml/2006/main" prst="roundRect">
            <a:avLst>
              <a:gd name="adj" fmla="val 11504"/>
            </a:avLst>
          </a:prstGeom>
          <a:solidFill xmlns:a="http://schemas.openxmlformats.org/drawingml/2006/main">
            <a:srgbClr val="E9F0F7"/>
          </a:solidFill>
          <a:ln xmlns:a="http://schemas.openxmlformats.org/drawingml/2006/main" w="14288">
            <a:solidFill>
              <a:srgbClr val="CED8E3"/>
            </a:solidFill>
          </a:ln>
        </p:spPr>
      </p:sp>
      <p:sp>
        <p:nvSpPr>
          <p:cNvPr id="33" name="component-title">
            <a:extLst xmlns:a="http://schemas.openxmlformats.org/drawingml/2006/main">
              <a:ext uri="{FF2B5EF4-FFF2-40B4-BE49-F238E27FC236}">
                <a16:creationId xmlns:a16="http://schemas.microsoft.com/office/drawing/2014/main" id="{CC7877E9-093D-4FF0-AF6C-512A849B2E56}"/>
              </a:ext>
            </a:extLst>
          </p:cNvPr>
          <p:cNvSpPr>
            <a:spLocks xmlns:a="http://schemas.openxmlformats.org/drawingml/2006/main" noGrp="1"/>
          </p:cNvSpPr>
          <p:nvPr/>
        </p:nvSpPr>
        <p:spPr>
          <a:xfrm xmlns:a="http://schemas.openxmlformats.org/drawingml/2006/main">
            <a:off x="7239000" y="5457825"/>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1E293B"/>
                </a:solidFill>
                <a:latin typeface="DejaVu Sans"/>
                <a:ea typeface="DejaVu Sans"/>
                <a:cs typeface="DejaVu Sans"/>
              </a:defRPr>
            </a:pPr>
            <a:r>
              <a:rPr sz="1725" b="1">
                <a:solidFill>
                  <a:srgbClr val="1E293B"/>
                </a:solidFill>
                <a:latin typeface="DejaVu Sans"/>
                <a:ea typeface="DejaVu Sans"/>
                <a:cs typeface="DejaVu Sans"/>
              </a:rPr>
              <a:t>Llamada 2</a:t>
            </a:r>
          </a:p>
        </p:txBody>
      </p:sp>
      <p:sp>
        <p:nvSpPr>
          <p:cNvPr id="34" name="component-detail">
            <a:extLst xmlns:a="http://schemas.openxmlformats.org/drawingml/2006/main">
              <a:ext uri="{FF2B5EF4-FFF2-40B4-BE49-F238E27FC236}">
                <a16:creationId xmlns:a16="http://schemas.microsoft.com/office/drawing/2014/main" id="{9F100384-0F93-40D1-87A7-22534D09BCB3}"/>
              </a:ext>
            </a:extLst>
          </p:cNvPr>
          <p:cNvSpPr>
            <a:spLocks xmlns:a="http://schemas.openxmlformats.org/drawingml/2006/main" noGrp="1"/>
          </p:cNvSpPr>
          <p:nvPr/>
        </p:nvSpPr>
        <p:spPr>
          <a:xfrm xmlns:a="http://schemas.openxmlformats.org/drawingml/2006/main">
            <a:off x="7239000" y="5972175"/>
            <a:ext cx="21145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Puede resolver la</a:t>
            </a:r>
          </a:p>
          <a:p xmlns:a="http://schemas.openxmlformats.org/drawingml/2006/main">
            <a:pPr algn="l">
              <a:defRPr sz="1350" b="0">
                <a:solidFill>
                  <a:srgbClr val="1E293B"/>
                </a:solidFill>
                <a:latin typeface="DejaVu Sans"/>
                <a:ea typeface="DejaVu Sans"/>
                <a:cs typeface="DejaVu Sans"/>
              </a:defRPr>
            </a:pPr>
            <a:r>
              <a:rPr sz="1350" b="0">
                <a:solidFill>
                  <a:srgbClr val="1E293B"/>
                </a:solidFill>
                <a:latin typeface="DejaVu Sans"/>
                <a:ea typeface="DejaVu Sans"/>
                <a:cs typeface="DejaVu Sans"/>
              </a:rPr>
              <a:t>referencia</a:t>
            </a:r>
          </a:p>
        </p:txBody>
      </p:sp>
      <p:cxnSp>
        <p:nvCxnSpPr>
          <p:cNvPr id="82" name=""/>
          <p:cNvCxnSpPr>
            <a:stCxn xmlns:a="http://schemas.openxmlformats.org/drawingml/2006/main" id="17" idx="3"/>
            <a:endCxn xmlns:a="http://schemas.openxmlformats.org/drawingml/2006/main" id="20" idx="1"/>
          </p:cNvCxnSpPr>
          <p:nvPr/>
        </p:nvCxnSpPr>
        <p:spPr>
          <a:xfrm xmlns:a="http://schemas.openxmlformats.org/drawingml/2006/main">
            <a:off x="3333750" y="3452813"/>
            <a:ext cx="695325" cy="0"/>
          </a:xfrm>
          <a:prstGeom xmlns:a="http://schemas.openxmlformats.org/drawingml/2006/main" prst="straightConnector1">
            <a:avLst/>
          </a:prstGeom>
          <a:ln xmlns:a="http://schemas.openxmlformats.org/drawingml/2006/main" w="23813">
            <a:solidFill>
              <a:srgbClr val="1E293B"/>
            </a:solidFill>
            <a:tailEnd type="triangle" w="med" len="med"/>
          </a:ln>
        </p:spPr>
      </p:cxnSp>
      <p:cxnSp>
        <p:nvCxnSpPr>
          <p:cNvPr id="83" name=""/>
          <p:cNvCxnSpPr>
            <a:stCxn xmlns:a="http://schemas.openxmlformats.org/drawingml/2006/main" id="20" idx="3"/>
            <a:endCxn xmlns:a="http://schemas.openxmlformats.org/drawingml/2006/main" id="23" idx="1"/>
          </p:cNvCxnSpPr>
          <p:nvPr/>
        </p:nvCxnSpPr>
        <p:spPr>
          <a:xfrm xmlns:a="http://schemas.openxmlformats.org/drawingml/2006/main">
            <a:off x="6410325" y="3452813"/>
            <a:ext cx="695325" cy="0"/>
          </a:xfrm>
          <a:prstGeom xmlns:a="http://schemas.openxmlformats.org/drawingml/2006/main" prst="straightConnector1">
            <a:avLst/>
          </a:prstGeom>
          <a:ln xmlns:a="http://schemas.openxmlformats.org/drawingml/2006/main" w="23813">
            <a:solidFill>
              <a:srgbClr val="1E293B"/>
            </a:solidFill>
            <a:tailEnd type="triangle" w="med" len="med"/>
          </a:ln>
        </p:spPr>
      </p:cxnSp>
      <p:cxnSp>
        <p:nvCxnSpPr>
          <p:cNvPr id="84" name=""/>
          <p:cNvCxnSpPr>
            <a:stCxn xmlns:a="http://schemas.openxmlformats.org/drawingml/2006/main" id="20" idx="2"/>
            <a:endCxn xmlns:a="http://schemas.openxmlformats.org/drawingml/2006/main" id="29" idx="0"/>
          </p:cNvCxnSpPr>
          <p:nvPr/>
        </p:nvCxnSpPr>
        <p:spPr>
          <a:xfrm xmlns:a="http://schemas.openxmlformats.org/drawingml/2006/main">
            <a:off x="5219700" y="3990975"/>
            <a:ext cx="0" cy="1323975"/>
          </a:xfrm>
          <a:prstGeom xmlns:a="http://schemas.openxmlformats.org/drawingml/2006/main" prst="straightConnector1">
            <a:avLst/>
          </a:prstGeom>
          <a:ln xmlns:a="http://schemas.openxmlformats.org/drawingml/2006/main" w="23813">
            <a:solidFill>
              <a:srgbClr val="1E293B"/>
            </a:solidFill>
            <a:tailEnd type="triangle" w="med" len="med"/>
          </a:ln>
        </p:spPr>
      </p:cxnSp>
      <p:cxnSp>
        <p:nvCxnSpPr>
          <p:cNvPr id="85" name=""/>
          <p:cNvCxnSpPr>
            <a:stCxn xmlns:a="http://schemas.openxmlformats.org/drawingml/2006/main" id="26" idx="3"/>
            <a:endCxn xmlns:a="http://schemas.openxmlformats.org/drawingml/2006/main" id="29" idx="1"/>
          </p:cNvCxnSpPr>
          <p:nvPr/>
        </p:nvCxnSpPr>
        <p:spPr>
          <a:xfrm xmlns:a="http://schemas.openxmlformats.org/drawingml/2006/main">
            <a:off x="3333750" y="5853113"/>
            <a:ext cx="695325" cy="0"/>
          </a:xfrm>
          <a:prstGeom xmlns:a="http://schemas.openxmlformats.org/drawingml/2006/main" prst="straightConnector1">
            <a:avLst/>
          </a:prstGeom>
          <a:ln xmlns:a="http://schemas.openxmlformats.org/drawingml/2006/main" w="23813">
            <a:solidFill>
              <a:srgbClr val="1E293B"/>
            </a:solidFill>
            <a:tailEnd type="triangle" w="med" len="med"/>
          </a:ln>
        </p:spPr>
      </p:cxnSp>
      <p:cxnSp>
        <p:nvCxnSpPr>
          <p:cNvPr id="86" name=""/>
          <p:cNvCxnSpPr>
            <a:stCxn xmlns:a="http://schemas.openxmlformats.org/drawingml/2006/main" id="29" idx="3"/>
            <a:endCxn xmlns:a="http://schemas.openxmlformats.org/drawingml/2006/main" id="32" idx="1"/>
          </p:cNvCxnSpPr>
          <p:nvPr/>
        </p:nvCxnSpPr>
        <p:spPr>
          <a:xfrm xmlns:a="http://schemas.openxmlformats.org/drawingml/2006/main">
            <a:off x="6410325" y="5853113"/>
            <a:ext cx="695325" cy="0"/>
          </a:xfrm>
          <a:prstGeom xmlns:a="http://schemas.openxmlformats.org/drawingml/2006/main" prst="straightConnector1">
            <a:avLst/>
          </a:prstGeom>
          <a:ln xmlns:a="http://schemas.openxmlformats.org/drawingml/2006/main" w="23813">
            <a:solidFill>
              <a:srgbClr val="1E293B"/>
            </a:solidFill>
            <a:tailEnd type="triangle" w="med" len="med"/>
          </a:ln>
        </p:spPr>
      </p:cxnSp>
      <p:sp>
        <p:nvSpPr>
          <p:cNvPr id="40" name="panel">
            <a:extLst xmlns:a="http://schemas.openxmlformats.org/drawingml/2006/main">
              <a:ext uri="{FF2B5EF4-FFF2-40B4-BE49-F238E27FC236}">
                <a16:creationId xmlns:a16="http://schemas.microsoft.com/office/drawing/2014/main" id="{C80F5F98-899F-42EE-B9E8-B2D8612D778D}"/>
              </a:ext>
            </a:extLst>
          </p:cNvPr>
          <p:cNvSpPr>
            <a:spLocks xmlns:a="http://schemas.openxmlformats.org/drawingml/2006/main" noGrp="1"/>
          </p:cNvSpPr>
          <p:nvPr/>
        </p:nvSpPr>
        <p:spPr>
          <a:xfrm xmlns:a="http://schemas.openxmlformats.org/drawingml/2006/main">
            <a:off x="10058400" y="2647950"/>
            <a:ext cx="4610100" cy="4619625"/>
          </a:xfrm>
          <a:prstGeom xmlns:a="http://schemas.openxmlformats.org/drawingml/2006/main" prst="roundRect">
            <a:avLst>
              <a:gd name="adj" fmla="val 3719"/>
            </a:avLst>
          </a:prstGeom>
          <a:solidFill xmlns:a="http://schemas.openxmlformats.org/drawingml/2006/main">
            <a:srgbClr val="E9F0F7"/>
          </a:solidFill>
          <a:ln xmlns:a="http://schemas.openxmlformats.org/drawingml/2006/main" w="0">
            <a:noFill/>
          </a:ln>
        </p:spPr>
      </p:sp>
      <p:sp>
        <p:nvSpPr>
          <p:cNvPr id="41" name="diagram-reading-label">
            <a:extLst xmlns:a="http://schemas.openxmlformats.org/drawingml/2006/main">
              <a:ext uri="{FF2B5EF4-FFF2-40B4-BE49-F238E27FC236}">
                <a16:creationId xmlns:a16="http://schemas.microsoft.com/office/drawing/2014/main" id="{D45415C4-9D7D-4F2D-9C7F-CBAA8185C650}"/>
              </a:ext>
            </a:extLst>
          </p:cNvPr>
          <p:cNvSpPr>
            <a:spLocks xmlns:a="http://schemas.openxmlformats.org/drawingml/2006/main" noGrp="1"/>
          </p:cNvSpPr>
          <p:nvPr/>
        </p:nvSpPr>
        <p:spPr>
          <a:xfrm xmlns:a="http://schemas.openxmlformats.org/drawingml/2006/main">
            <a:off x="10287000" y="2857500"/>
            <a:ext cx="41433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CLAVE DE LECTURA</a:t>
            </a:r>
          </a:p>
        </p:txBody>
      </p:sp>
      <p:sp>
        <p:nvSpPr>
          <p:cNvPr id="42" name="diagram-reading">
            <a:extLst xmlns:a="http://schemas.openxmlformats.org/drawingml/2006/main">
              <a:ext uri="{FF2B5EF4-FFF2-40B4-BE49-F238E27FC236}">
                <a16:creationId xmlns:a16="http://schemas.microsoft.com/office/drawing/2014/main" id="{5FCF706E-6273-4B75-935D-D869F4FD8CA9}"/>
              </a:ext>
            </a:extLst>
          </p:cNvPr>
          <p:cNvSpPr>
            <a:spLocks xmlns:a="http://schemas.openxmlformats.org/drawingml/2006/main" noGrp="1"/>
          </p:cNvSpPr>
          <p:nvPr/>
        </p:nvSpPr>
        <p:spPr>
          <a:xfrm xmlns:a="http://schemas.openxmlformats.org/drawingml/2006/main">
            <a:off x="10287000" y="3286125"/>
            <a:ext cx="4143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Resolver la referencia P-104</a:t>
            </a:r>
          </a:p>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no aporta por sí solo el estado</a:t>
            </a:r>
          </a:p>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del pedido.</a:t>
            </a:r>
          </a:p>
        </p:txBody>
      </p:sp>
      <p:sp>
        <p:nvSpPr>
          <p:cNvPr id="43" name="diagram-question-label">
            <a:extLst xmlns:a="http://schemas.openxmlformats.org/drawingml/2006/main">
              <a:ext uri="{FF2B5EF4-FFF2-40B4-BE49-F238E27FC236}">
                <a16:creationId xmlns:a16="http://schemas.microsoft.com/office/drawing/2014/main" id="{A0E6395C-14EF-4CA6-80A6-32DCADAD967D}"/>
              </a:ext>
            </a:extLst>
          </p:cNvPr>
          <p:cNvSpPr>
            <a:spLocks xmlns:a="http://schemas.openxmlformats.org/drawingml/2006/main" noGrp="1"/>
          </p:cNvSpPr>
          <p:nvPr/>
        </p:nvSpPr>
        <p:spPr>
          <a:xfrm xmlns:a="http://schemas.openxmlformats.org/drawingml/2006/main">
            <a:off x="10287000" y="4752975"/>
            <a:ext cx="414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PREGUNTA AL GRUPO</a:t>
            </a:r>
          </a:p>
        </p:txBody>
      </p:sp>
      <p:sp>
        <p:nvSpPr>
          <p:cNvPr id="44" name="diagram-question">
            <a:extLst xmlns:a="http://schemas.openxmlformats.org/drawingml/2006/main">
              <a:ext uri="{FF2B5EF4-FFF2-40B4-BE49-F238E27FC236}">
                <a16:creationId xmlns:a16="http://schemas.microsoft.com/office/drawing/2014/main" id="{B0A7F5CB-BE25-4A81-AEF5-44E2E89D0A34}"/>
              </a:ext>
            </a:extLst>
          </p:cNvPr>
          <p:cNvSpPr>
            <a:spLocks xmlns:a="http://schemas.openxmlformats.org/drawingml/2006/main" noGrp="1"/>
          </p:cNvSpPr>
          <p:nvPr/>
        </p:nvSpPr>
        <p:spPr>
          <a:xfrm xmlns:a="http://schemas.openxmlformats.org/drawingml/2006/main">
            <a:off x="10287000" y="5143500"/>
            <a:ext cx="41433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E293B"/>
                </a:solidFill>
                <a:latin typeface="DejaVu Sans"/>
                <a:ea typeface="DejaVu Sans"/>
                <a:cs typeface="DejaVu Sans"/>
              </a:defRPr>
            </a:pPr>
            <a:r>
              <a:rPr sz="1725" b="0">
                <a:solidFill>
                  <a:srgbClr val="1E293B"/>
                </a:solidFill>
                <a:latin typeface="DejaVu Sans"/>
                <a:ea typeface="DejaVu Sans"/>
                <a:cs typeface="DejaVu Sans"/>
              </a:rPr>
              <a:t>¿Qué ocurriría si dos clientes</a:t>
            </a:r>
          </a:p>
          <a:p xmlns:a="http://schemas.openxmlformats.org/drawingml/2006/main">
            <a:pPr algn="l">
              <a:defRPr sz="1725" b="0">
                <a:solidFill>
                  <a:srgbClr val="1E293B"/>
                </a:solidFill>
                <a:latin typeface="DejaVu Sans"/>
                <a:ea typeface="DejaVu Sans"/>
                <a:cs typeface="DejaVu Sans"/>
              </a:defRPr>
            </a:pPr>
            <a:r>
              <a:rPr sz="1725" b="0">
                <a:solidFill>
                  <a:srgbClr val="1E293B"/>
                </a:solidFill>
                <a:latin typeface="DejaVu Sans"/>
                <a:ea typeface="DejaVu Sans"/>
                <a:cs typeface="DejaVu Sans"/>
              </a:rPr>
              <a:t>compartieran el mismo historial?</a:t>
            </a:r>
          </a:p>
        </p:txBody>
      </p:sp>
      <p:sp>
        <p:nvSpPr>
          <p:cNvPr id="45" name="diagram-caution">
            <a:extLst xmlns:a="http://schemas.openxmlformats.org/drawingml/2006/main">
              <a:ext uri="{FF2B5EF4-FFF2-40B4-BE49-F238E27FC236}">
                <a16:creationId xmlns:a16="http://schemas.microsoft.com/office/drawing/2014/main" id="{580FA9E9-A948-44F5-9D44-DAF7BAAC57AC}"/>
              </a:ext>
            </a:extLst>
          </p:cNvPr>
          <p:cNvSpPr>
            <a:spLocks xmlns:a="http://schemas.openxmlformats.org/drawingml/2006/main" noGrp="1"/>
          </p:cNvSpPr>
          <p:nvPr/>
        </p:nvSpPr>
        <p:spPr>
          <a:xfrm xmlns:a="http://schemas.openxmlformats.org/drawingml/2006/main">
            <a:off x="10287000" y="6276975"/>
            <a:ext cx="4143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0">
                <a:solidFill>
                  <a:srgbClr val="1E293B"/>
                </a:solidFill>
                <a:latin typeface="DejaVu Sans"/>
                <a:ea typeface="DejaVu Sans"/>
                <a:cs typeface="DejaVu Sans"/>
              </a:defRPr>
            </a:pPr>
            <a:r>
              <a:rPr sz="1425" b="0">
                <a:solidFill>
                  <a:srgbClr val="1E293B"/>
                </a:solidFill>
                <a:latin typeface="DejaVu Sans"/>
                <a:ea typeface="DejaVu Sans"/>
                <a:cs typeface="DejaVu Sans"/>
              </a:rPr>
              <a:t>Error a evitar: Confundir recordar el pedido</a:t>
            </a:r>
          </a:p>
          <a:p xmlns:a="http://schemas.openxmlformats.org/drawingml/2006/main">
            <a:pPr algn="l">
              <a:defRPr sz="1425" b="0">
                <a:solidFill>
                  <a:srgbClr val="1E293B"/>
                </a:solidFill>
                <a:latin typeface="DejaVu Sans"/>
                <a:ea typeface="DejaVu Sans"/>
                <a:cs typeface="DejaVu Sans"/>
              </a:defRPr>
            </a:pPr>
            <a:r>
              <a:rPr sz="1425" b="0">
                <a:solidFill>
                  <a:srgbClr val="1E293B"/>
                </a:solidFill>
                <a:latin typeface="DejaVu Sans"/>
                <a:ea typeface="DejaVu Sans"/>
                <a:cs typeface="DejaVu Sans"/>
              </a:rPr>
              <a:t>con conocer su estado actual.</a:t>
            </a:r>
          </a:p>
        </p:txBody>
      </p:sp>
      <p:sp>
        <p:nvSpPr>
          <p:cNvPr id="46" name="panel">
            <a:extLst xmlns:a="http://schemas.openxmlformats.org/drawingml/2006/main">
              <a:ext uri="{FF2B5EF4-FFF2-40B4-BE49-F238E27FC236}">
                <a16:creationId xmlns:a16="http://schemas.microsoft.com/office/drawing/2014/main" id="{47245A9A-AE90-4C92-BDD4-83B0DACC18F2}"/>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7" name="takeaway">
            <a:extLst xmlns:a="http://schemas.openxmlformats.org/drawingml/2006/main">
              <a:ext uri="{FF2B5EF4-FFF2-40B4-BE49-F238E27FC236}">
                <a16:creationId xmlns:a16="http://schemas.microsoft.com/office/drawing/2014/main" id="{62BA0E6B-7092-4521-ABF8-E757FFC28A21}"/>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La aplicación administra contexto y aislamiento de conversaciones.</a:t>
            </a:r>
          </a:p>
        </p:txBody>
      </p:sp>
    </p:spTree>
    <p:extLst>
      <p:ext uri="{BB962C8B-B14F-4D97-AF65-F5344CB8AC3E}">
        <p14:creationId xmlns:p14="http://schemas.microsoft.com/office/powerpoint/2010/main" val="474977667"/>
      </p:ext>
    </p:extLst>
  </p:cSld>
</p:sld>
</file>

<file path=ppt/slides/slide1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E368B95A-0E49-49D6-96F1-6872874D2DB4}"/>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43724A-A7DB-47AC-A243-E1A9A62E4E29}"/>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678358D8-D6B1-442E-8CE2-10E5651612C8}"/>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6</a:t>
            </a:r>
          </a:p>
        </p:txBody>
      </p:sp>
      <p:sp>
        <p:nvSpPr>
          <p:cNvPr id="4" name="breadcrumb">
            <a:extLst xmlns:a="http://schemas.openxmlformats.org/drawingml/2006/main">
              <a:ext uri="{FF2B5EF4-FFF2-40B4-BE49-F238E27FC236}">
                <a16:creationId xmlns:a16="http://schemas.microsoft.com/office/drawing/2014/main" id="{99E0FBBE-4555-48C5-BE76-4088ADB4CE11}"/>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6</a:t>
            </a:r>
          </a:p>
        </p:txBody>
      </p:sp>
      <p:sp>
        <p:nvSpPr>
          <p:cNvPr id="5" name="slide-title">
            <a:extLst xmlns:a="http://schemas.openxmlformats.org/drawingml/2006/main">
              <a:ext uri="{FF2B5EF4-FFF2-40B4-BE49-F238E27FC236}">
                <a16:creationId xmlns:a16="http://schemas.microsoft.com/office/drawing/2014/main" id="{5013475E-7A3F-4948-BFE9-BFAE76D8344A}"/>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Dos llamadas, dos entradas</a:t>
            </a:r>
          </a:p>
        </p:txBody>
      </p:sp>
      <p:sp>
        <p:nvSpPr>
          <p:cNvPr id="6" name="learning-purpose">
            <a:extLst xmlns:a="http://schemas.openxmlformats.org/drawingml/2006/main">
              <a:ext uri="{FF2B5EF4-FFF2-40B4-BE49-F238E27FC236}">
                <a16:creationId xmlns:a16="http://schemas.microsoft.com/office/drawing/2014/main" id="{5FA8659E-E05F-4F0E-9DBD-7FA0580DF9ED}"/>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Ubicar el historial en la aplicación que prepara cada llamada.</a:t>
            </a:r>
          </a:p>
        </p:txBody>
      </p:sp>
      <p:sp>
        <p:nvSpPr>
          <p:cNvPr id="7" name="panel">
            <a:extLst xmlns:a="http://schemas.openxmlformats.org/drawingml/2006/main">
              <a:ext uri="{FF2B5EF4-FFF2-40B4-BE49-F238E27FC236}">
                <a16:creationId xmlns:a16="http://schemas.microsoft.com/office/drawing/2014/main" id="{33ECB0A3-CB20-4120-AB6C-87C2116F3D9A}"/>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646D3917-45F9-4ABF-BE79-5782D7EAEE0E}"/>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E18DC5CA-F9F9-4B51-A759-AB550F9BC20E}"/>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754C31D1-AB77-41A7-9795-E90CA5A88470}"/>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8FF5CB41-1F5A-47E9-9277-D77A56854E72}"/>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C1BD4786-9B6D-433E-A6F6-3B8D7E3F21F0}"/>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6561B7FF-9EA4-48B2-9EF3-0660C369959A}"/>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C06</a:t>
            </a:r>
          </a:p>
        </p:txBody>
      </p:sp>
      <p:sp>
        <p:nvSpPr>
          <p:cNvPr id="14" name="folio">
            <a:extLst xmlns:a="http://schemas.openxmlformats.org/drawingml/2006/main">
              <a:ext uri="{FF2B5EF4-FFF2-40B4-BE49-F238E27FC236}">
                <a16:creationId xmlns:a16="http://schemas.microsoft.com/office/drawing/2014/main" id="{C1278572-F9FC-4E22-9CFC-5E31DD19B831}"/>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17</a:t>
            </a:r>
          </a:p>
        </p:txBody>
      </p:sp>
      <p:sp>
        <p:nvSpPr>
          <p:cNvPr id="15" name="section-label">
            <a:extLst xmlns:a="http://schemas.openxmlformats.org/drawingml/2006/main">
              <a:ext uri="{FF2B5EF4-FFF2-40B4-BE49-F238E27FC236}">
                <a16:creationId xmlns:a16="http://schemas.microsoft.com/office/drawing/2014/main" id="{4260A6AC-66EC-4247-B31A-EFF71677D4C4}"/>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Primera</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Enviar identificador y pregunta; conservar los</a:t>
                      </a:r>
                    </a:p>
                    <a:p>
                      <a:r>
                        <a:rPr sz="1875" b="0">
                          <a:solidFill>
                            <a:srgbClr val="1E293B"/>
                          </a:solidFill>
                          <a:latin typeface="DejaVu Sans"/>
                          <a:ea typeface="DejaVu Sans"/>
                          <a:cs typeface="DejaVu Sans"/>
                        </a:rPr>
                        <a:t>mensajes necesarios.</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Segunda</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Reenviar el contexto relevante junto con la nueva</a:t>
                      </a:r>
                    </a:p>
                    <a:p>
                      <a:r>
                        <a:rPr sz="1875" b="0">
                          <a:solidFill>
                            <a:srgbClr val="1E293B"/>
                          </a:solidFill>
                          <a:latin typeface="DejaVu Sans"/>
                          <a:ea typeface="DejaVu Sans"/>
                          <a:cs typeface="DejaVu Sans"/>
                        </a:rPr>
                        <a:t>pregunta.</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Aislamiento</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Evitar mezclar historiales de personas o</a:t>
                      </a:r>
                    </a:p>
                    <a:p>
                      <a:r>
                        <a:rPr sz="1875" b="0">
                          <a:solidFill>
                            <a:srgbClr val="1E293B"/>
                          </a:solidFill>
                          <a:latin typeface="DejaVu Sans"/>
                          <a:ea typeface="DejaVu Sans"/>
                          <a:cs typeface="DejaVu Sans"/>
                        </a:rPr>
                        <a:t>conversaciones.</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0715B63D-8568-4CF1-AF7E-7C21D8909947}"/>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CCBF9385-8DAD-4D46-A5C7-337F9F6F3B8D}"/>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4C208772-BD26-42EB-8FF3-D67A05CEAD43}"/>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Confundir recordar el pedido</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 conocer su estado actual.</a:t>
            </a:r>
          </a:p>
        </p:txBody>
      </p:sp>
      <p:sp>
        <p:nvSpPr>
          <p:cNvPr id="20" name="development-prompt">
            <a:extLst xmlns:a="http://schemas.openxmlformats.org/drawingml/2006/main">
              <a:ext uri="{FF2B5EF4-FFF2-40B4-BE49-F238E27FC236}">
                <a16:creationId xmlns:a16="http://schemas.microsoft.com/office/drawing/2014/main" id="{9C91580A-12DF-4305-9FB0-E7D86B4F5CCE}"/>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B7C49307-1C24-40B5-9312-6366381EBE5A}"/>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83B3AA6B-AD6C-4E94-B8C9-B21285131F8F}"/>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DC4E50C7-E6CE-48FE-9D00-BE0F12E98F90}"/>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¿Qué ocurriría si dos clientes compartieran el mismo historial?</a:t>
            </a:r>
          </a:p>
        </p:txBody>
      </p:sp>
      <p:sp>
        <p:nvSpPr>
          <p:cNvPr id="24" name="panel">
            <a:extLst xmlns:a="http://schemas.openxmlformats.org/drawingml/2006/main">
              <a:ext uri="{FF2B5EF4-FFF2-40B4-BE49-F238E27FC236}">
                <a16:creationId xmlns:a16="http://schemas.microsoft.com/office/drawing/2014/main" id="{A0461238-50F3-474F-ABC7-2359675091DE}"/>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F0935171-EBFB-4627-BDED-9E9597ACCB15}"/>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La aplicación administra contexto y aislamiento de conversaciones.</a:t>
            </a:r>
          </a:p>
        </p:txBody>
      </p:sp>
    </p:spTree>
    <p:extLst>
      <p:ext uri="{BB962C8B-B14F-4D97-AF65-F5344CB8AC3E}">
        <p14:creationId xmlns:p14="http://schemas.microsoft.com/office/powerpoint/2010/main" val="609943519"/>
      </p:ext>
    </p:extLst>
  </p:cSld>
</p:sld>
</file>

<file path=ppt/slides/slide1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3DCBC7AD-1A96-4081-AB32-89DE61353B13}"/>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A9873D9-6310-49E0-A93E-96BD57BBDF7A}"/>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AD8272B5-5E0D-4DFA-83D5-6E633617CD08}"/>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6</a:t>
            </a:r>
          </a:p>
        </p:txBody>
      </p:sp>
      <p:sp>
        <p:nvSpPr>
          <p:cNvPr id="4" name="breadcrumb">
            <a:extLst xmlns:a="http://schemas.openxmlformats.org/drawingml/2006/main">
              <a:ext uri="{FF2B5EF4-FFF2-40B4-BE49-F238E27FC236}">
                <a16:creationId xmlns:a16="http://schemas.microsoft.com/office/drawing/2014/main" id="{478AD6FB-7AF5-4EC9-BA96-8CE7DE40CD0D}"/>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6</a:t>
            </a:r>
          </a:p>
        </p:txBody>
      </p:sp>
      <p:sp>
        <p:nvSpPr>
          <p:cNvPr id="5" name="slide-title">
            <a:extLst xmlns:a="http://schemas.openxmlformats.org/drawingml/2006/main">
              <a:ext uri="{FF2B5EF4-FFF2-40B4-BE49-F238E27FC236}">
                <a16:creationId xmlns:a16="http://schemas.microsoft.com/office/drawing/2014/main" id="{361E6F6D-5A57-4C5D-9F14-503AAEC19B9F}"/>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Dónde vive la conversación</a:t>
            </a:r>
          </a:p>
        </p:txBody>
      </p:sp>
      <p:sp>
        <p:nvSpPr>
          <p:cNvPr id="6" name="learning-purpose">
            <a:extLst xmlns:a="http://schemas.openxmlformats.org/drawingml/2006/main">
              <a:ext uri="{FF2B5EF4-FFF2-40B4-BE49-F238E27FC236}">
                <a16:creationId xmlns:a16="http://schemas.microsoft.com/office/drawing/2014/main" id="{911CEDE4-FCB1-49E0-A2F6-A4366EC190AC}"/>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Ubicar el historial en la aplicación que prepara cada llamada.</a:t>
            </a:r>
          </a:p>
        </p:txBody>
      </p:sp>
      <p:sp>
        <p:nvSpPr>
          <p:cNvPr id="7" name="panel">
            <a:extLst xmlns:a="http://schemas.openxmlformats.org/drawingml/2006/main">
              <a:ext uri="{FF2B5EF4-FFF2-40B4-BE49-F238E27FC236}">
                <a16:creationId xmlns:a16="http://schemas.microsoft.com/office/drawing/2014/main" id="{8B870462-E2D7-44C7-A921-6C697F057CCD}"/>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A12E6FE4-2B3C-44D9-8788-42B569AB6B34}"/>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5FF2ADB4-69A3-4E2C-ACF3-746698302B06}"/>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59DC10C6-52FC-4556-9485-E84C1E3EFCF9}"/>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143A64B3-9031-440E-8854-0283C90F12AF}"/>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513B42D2-35DD-45C1-A85E-AB50C8D1F4E4}"/>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56AF6B74-6B9B-4CE7-BFDF-5B506DD201AB}"/>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C06</a:t>
            </a:r>
          </a:p>
        </p:txBody>
      </p:sp>
      <p:sp>
        <p:nvSpPr>
          <p:cNvPr id="14" name="folio">
            <a:extLst xmlns:a="http://schemas.openxmlformats.org/drawingml/2006/main">
              <a:ext uri="{FF2B5EF4-FFF2-40B4-BE49-F238E27FC236}">
                <a16:creationId xmlns:a16="http://schemas.microsoft.com/office/drawing/2014/main" id="{D767D0E1-646D-46FC-B743-F719BA646A3A}"/>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18</a:t>
            </a:r>
          </a:p>
        </p:txBody>
      </p:sp>
      <p:sp>
        <p:nvSpPr>
          <p:cNvPr id="15" name="section-label">
            <a:extLst xmlns:a="http://schemas.openxmlformats.org/drawingml/2006/main">
              <a:ext uri="{FF2B5EF4-FFF2-40B4-BE49-F238E27FC236}">
                <a16:creationId xmlns:a16="http://schemas.microsoft.com/office/drawing/2014/main" id="{1900E2D8-1693-490B-97C8-778DD9293700}"/>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MERCASUR · CASO DIDÁCTICO</a:t>
            </a:r>
          </a:p>
        </p:txBody>
      </p:sp>
      <p:sp>
        <p:nvSpPr>
          <p:cNvPr id="16" name="panel">
            <a:extLst xmlns:a="http://schemas.openxmlformats.org/drawingml/2006/main">
              <a:ext uri="{FF2B5EF4-FFF2-40B4-BE49-F238E27FC236}">
                <a16:creationId xmlns:a16="http://schemas.microsoft.com/office/drawing/2014/main" id="{A91EBC88-56A6-42CF-94F9-B22221EC65B2}"/>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1C50296F-9949-4AB9-8B33-8D22EC50BCA7}"/>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5A172027-B61B-47CC-B1B3-9C7AFEABA79C}"/>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El cliente pregunta «¿Cuándo llega?» después de dar su pedido.</a:t>
            </a:r>
          </a:p>
        </p:txBody>
      </p:sp>
      <p:sp>
        <p:nvSpPr>
          <p:cNvPr id="19" name="concept-node">
            <a:extLst xmlns:a="http://schemas.openxmlformats.org/drawingml/2006/main">
              <a:ext uri="{FF2B5EF4-FFF2-40B4-BE49-F238E27FC236}">
                <a16:creationId xmlns:a16="http://schemas.microsoft.com/office/drawing/2014/main" id="{829C915F-2CD6-429D-B2A8-CBF174587621}"/>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E61358BC-D5B9-4289-90EF-361ACC73A931}"/>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AEF4D14-25E9-498C-BEC4-A85E9FD82FFB}"/>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177D154C-BE0E-4C41-8F40-DC878B2B1E56}"/>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D1D4F7A5-4B34-4A67-84E0-1CF2925E1C49}"/>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Sin historial</a:t>
            </a:r>
          </a:p>
        </p:txBody>
      </p:sp>
      <p:sp>
        <p:nvSpPr>
          <p:cNvPr id="24" name="node-body">
            <a:extLst xmlns:a="http://schemas.openxmlformats.org/drawingml/2006/main">
              <a:ext uri="{FF2B5EF4-FFF2-40B4-BE49-F238E27FC236}">
                <a16:creationId xmlns:a16="http://schemas.microsoft.com/office/drawing/2014/main" id="{586CC144-540A-4D68-9A38-39F23E136A0D}"/>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 pregunta no identifica ningún</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pedido.</a:t>
            </a:r>
          </a:p>
        </p:txBody>
      </p:sp>
      <p:sp>
        <p:nvSpPr>
          <p:cNvPr id="25" name="concept-node">
            <a:extLst xmlns:a="http://schemas.openxmlformats.org/drawingml/2006/main">
              <a:ext uri="{FF2B5EF4-FFF2-40B4-BE49-F238E27FC236}">
                <a16:creationId xmlns:a16="http://schemas.microsoft.com/office/drawing/2014/main" id="{9AB1C4CB-1FEF-4C25-994F-04F691BBA49D}"/>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ECA97460-134C-4EF3-9DD4-B133E7F31AA7}"/>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2D3CC10-94BD-4692-A9AB-ECDCC56A58D7}"/>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D3474B43-C85E-4737-ACFD-1E604D2B1D9C}"/>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146BCC52-7193-4F8B-AA04-B9DB3C95C8B9}"/>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Con historial</a:t>
            </a:r>
          </a:p>
        </p:txBody>
      </p:sp>
      <p:sp>
        <p:nvSpPr>
          <p:cNvPr id="30" name="node-body">
            <a:extLst xmlns:a="http://schemas.openxmlformats.org/drawingml/2006/main">
              <a:ext uri="{FF2B5EF4-FFF2-40B4-BE49-F238E27FC236}">
                <a16:creationId xmlns:a16="http://schemas.microsoft.com/office/drawing/2014/main" id="{21739831-A004-445E-B8A4-AA3EAAEDC9A4}"/>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 aplicación incorpora P-104.</a:t>
            </a:r>
          </a:p>
        </p:txBody>
      </p:sp>
      <p:sp>
        <p:nvSpPr>
          <p:cNvPr id="31" name="concept-node">
            <a:extLst xmlns:a="http://schemas.openxmlformats.org/drawingml/2006/main">
              <a:ext uri="{FF2B5EF4-FFF2-40B4-BE49-F238E27FC236}">
                <a16:creationId xmlns:a16="http://schemas.microsoft.com/office/drawing/2014/main" id="{0CE230B8-EACB-4453-A3C6-91462F1836E0}"/>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19D1CFCF-05A0-4F36-8F83-3D3464158641}"/>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1A8C9CD-BEEB-4289-A164-22A0D0952061}"/>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3A9E5459-F46C-4ECA-B6EE-70AB563FA343}"/>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9E4A4335-C7A3-478A-B8BB-131F78EECCE2}"/>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Con fuente</a:t>
            </a:r>
          </a:p>
        </p:txBody>
      </p:sp>
      <p:sp>
        <p:nvSpPr>
          <p:cNvPr id="36" name="node-body">
            <a:extLst xmlns:a="http://schemas.openxmlformats.org/drawingml/2006/main">
              <a:ext uri="{FF2B5EF4-FFF2-40B4-BE49-F238E27FC236}">
                <a16:creationId xmlns:a16="http://schemas.microsoft.com/office/drawing/2014/main" id="{21090EF8-C96B-4068-96A4-DFA17CA6E6EE}"/>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El estado real todavía debe</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consultarse al sistema.</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BB273263-16D3-409B-BFB8-E49181568935}"/>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3BF8AEAF-DCE8-4898-B47D-C90617C5F531}"/>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75AB94FD-CD0A-4357-AA8D-463D9FDF644C}"/>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Recordar el identificador permite consultar; no inventa el estado.</a:t>
            </a:r>
          </a:p>
        </p:txBody>
      </p:sp>
      <p:sp>
        <p:nvSpPr>
          <p:cNvPr id="42" name="panel">
            <a:extLst xmlns:a="http://schemas.openxmlformats.org/drawingml/2006/main">
              <a:ext uri="{FF2B5EF4-FFF2-40B4-BE49-F238E27FC236}">
                <a16:creationId xmlns:a16="http://schemas.microsoft.com/office/drawing/2014/main" id="{BB5B2689-08EF-4D4E-8D82-7333CBDE3328}"/>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F6EF2F6F-3B90-4B8E-BC38-7099256426CE}"/>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La aplicación administra contexto y aislamiento de conversaciones.</a:t>
            </a:r>
          </a:p>
        </p:txBody>
      </p:sp>
    </p:spTree>
    <p:extLst>
      <p:ext uri="{BB962C8B-B14F-4D97-AF65-F5344CB8AC3E}">
        <p14:creationId xmlns:p14="http://schemas.microsoft.com/office/powerpoint/2010/main" val="1378906579"/>
      </p:ext>
    </p:extLst>
  </p:cSld>
</p:sld>
</file>

<file path=ppt/slides/slide1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2" name="header">
            <a:extLst xmlns:a="http://schemas.openxmlformats.org/drawingml/2006/main">
              <a:ext uri="{FF2B5EF4-FFF2-40B4-BE49-F238E27FC236}">
                <a16:creationId xmlns:a16="http://schemas.microsoft.com/office/drawing/2014/main" id="{AC27C81A-6DF2-462D-8CE6-486DF2C5E5D3}"/>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DA2A6A-73BE-42C3-8A9D-DC4BD69BB049}"/>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E526BC52-A156-4A67-9449-B07BBF329156}"/>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7</a:t>
            </a:r>
          </a:p>
        </p:txBody>
      </p:sp>
      <p:sp>
        <p:nvSpPr>
          <p:cNvPr id="4" name="breadcrumb">
            <a:extLst xmlns:a="http://schemas.openxmlformats.org/drawingml/2006/main">
              <a:ext uri="{FF2B5EF4-FFF2-40B4-BE49-F238E27FC236}">
                <a16:creationId xmlns:a16="http://schemas.microsoft.com/office/drawing/2014/main" id="{F38CC39F-375A-445F-B79A-60A14B4F020F}"/>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7</a:t>
            </a:r>
          </a:p>
        </p:txBody>
      </p:sp>
      <p:sp>
        <p:nvSpPr>
          <p:cNvPr id="5" name="slide-title">
            <a:extLst xmlns:a="http://schemas.openxmlformats.org/drawingml/2006/main">
              <a:ext uri="{FF2B5EF4-FFF2-40B4-BE49-F238E27FC236}">
                <a16:creationId xmlns:a16="http://schemas.microsoft.com/office/drawing/2014/main" id="{C73B38FD-E6BA-4D09-99D7-5B5772A74ABF}"/>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Temperatura y variación</a:t>
            </a:r>
          </a:p>
        </p:txBody>
      </p:sp>
      <p:sp>
        <p:nvSpPr>
          <p:cNvPr id="6" name="learning-purpose">
            <a:extLst xmlns:a="http://schemas.openxmlformats.org/drawingml/2006/main">
              <a:ext uri="{FF2B5EF4-FFF2-40B4-BE49-F238E27FC236}">
                <a16:creationId xmlns:a16="http://schemas.microsoft.com/office/drawing/2014/main" id="{53608EF3-FC3E-4F4F-88F8-A97C6CB28414}"/>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Observar cómo cambia la selección de continuaciones al variar la temperatura.</a:t>
            </a:r>
          </a:p>
        </p:txBody>
      </p:sp>
      <p:sp>
        <p:nvSpPr>
          <p:cNvPr id="7" name="panel">
            <a:extLst xmlns:a="http://schemas.openxmlformats.org/drawingml/2006/main">
              <a:ext uri="{FF2B5EF4-FFF2-40B4-BE49-F238E27FC236}">
                <a16:creationId xmlns:a16="http://schemas.microsoft.com/office/drawing/2014/main" id="{1779EBE4-6E87-466A-A878-078C8CA99645}"/>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F3F022A5-912D-47B4-8C29-169E6BCD495B}"/>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FD001C7B-6062-4387-8DFB-CF7E84762E33}"/>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FA02036E-CBAB-4688-B35E-30F47C16879D}"/>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FE2A8265-99B3-47AD-96C7-A16EB07A1CA4}"/>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EB1CA725-684D-4512-9648-BC443E857B7C}"/>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CC9254B8-B56C-4E37-93B6-775E7FE97EF9}"/>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C07</a:t>
            </a:r>
          </a:p>
        </p:txBody>
      </p:sp>
      <p:sp>
        <p:nvSpPr>
          <p:cNvPr id="14" name="folio">
            <a:extLst xmlns:a="http://schemas.openxmlformats.org/drawingml/2006/main">
              <a:ext uri="{FF2B5EF4-FFF2-40B4-BE49-F238E27FC236}">
                <a16:creationId xmlns:a16="http://schemas.microsoft.com/office/drawing/2014/main" id="{C8EE4AAF-1B27-43CC-B18E-2D2583E3BFC7}"/>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19</a:t>
            </a:r>
          </a:p>
        </p:txBody>
      </p:sp>
      <p:sp>
        <p:nvSpPr>
          <p:cNvPr id="15" name="section-label">
            <a:extLst xmlns:a="http://schemas.openxmlformats.org/drawingml/2006/main">
              <a:ext uri="{FF2B5EF4-FFF2-40B4-BE49-F238E27FC236}">
                <a16:creationId xmlns:a16="http://schemas.microsoft.com/office/drawing/2014/main" id="{4EED2428-3C27-4578-B0EA-5FE0A94D388B}"/>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COMPARAR RESPONSABILIDADES</a:t>
            </a:r>
          </a:p>
        </p:txBody>
      </p:sp>
      <p:sp>
        <p:nvSpPr>
          <p:cNvPr id="16" name="concept-node">
            <a:extLst xmlns:a="http://schemas.openxmlformats.org/drawingml/2006/main">
              <a:ext uri="{FF2B5EF4-FFF2-40B4-BE49-F238E27FC236}">
                <a16:creationId xmlns:a16="http://schemas.microsoft.com/office/drawing/2014/main" id="{5D96BDAE-678F-4F0C-9193-AF6E367DC18D}"/>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F2A63E65-E886-4CA9-8D05-EEBE4D264ADA}"/>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ED05545-AF7C-4BB6-9549-D153498E3EC2}"/>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6AA2FF78-D10D-49CC-BADC-84A67F7B4157}"/>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2D003E20-2F21-46D8-A539-50F609F8DDFE}"/>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Baja temperatura</a:t>
            </a:r>
          </a:p>
        </p:txBody>
      </p:sp>
      <p:sp>
        <p:nvSpPr>
          <p:cNvPr id="21" name="node-body">
            <a:extLst xmlns:a="http://schemas.openxmlformats.org/drawingml/2006/main">
              <a:ext uri="{FF2B5EF4-FFF2-40B4-BE49-F238E27FC236}">
                <a16:creationId xmlns:a16="http://schemas.microsoft.com/office/drawing/2014/main" id="{23ABF758-BFD1-4B29-A706-8367DE8F6B45}"/>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Favorece continuaciones de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mayor probabilidad.</a:t>
            </a:r>
          </a:p>
        </p:txBody>
      </p:sp>
      <p:sp>
        <p:nvSpPr>
          <p:cNvPr id="22" name="concept-node">
            <a:extLst xmlns:a="http://schemas.openxmlformats.org/drawingml/2006/main">
              <a:ext uri="{FF2B5EF4-FFF2-40B4-BE49-F238E27FC236}">
                <a16:creationId xmlns:a16="http://schemas.microsoft.com/office/drawing/2014/main" id="{D49BCBA5-3027-46A9-A9D8-E40769A71431}"/>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659083A1-6086-4DC0-8CFB-AB673A405497}"/>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9A8C22B-351E-48E8-813E-72C8A1171D70}"/>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30EC1825-D5F5-4392-B889-63B80A4A1E35}"/>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836E072C-E5DD-4943-876E-968BB796C6BA}"/>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Mayor temperatura</a:t>
            </a:r>
          </a:p>
        </p:txBody>
      </p:sp>
      <p:sp>
        <p:nvSpPr>
          <p:cNvPr id="27" name="node-body">
            <a:extLst xmlns:a="http://schemas.openxmlformats.org/drawingml/2006/main">
              <a:ext uri="{FF2B5EF4-FFF2-40B4-BE49-F238E27FC236}">
                <a16:creationId xmlns:a16="http://schemas.microsoft.com/office/drawing/2014/main" id="{2F1671A5-99CA-4A98-A707-954A716AB2FA}"/>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Permite más diversidad en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las continuaciones.</a:t>
            </a:r>
          </a:p>
        </p:txBody>
      </p:sp>
      <p:sp>
        <p:nvSpPr>
          <p:cNvPr id="28" name="concept-node">
            <a:extLst xmlns:a="http://schemas.openxmlformats.org/drawingml/2006/main">
              <a:ext uri="{FF2B5EF4-FFF2-40B4-BE49-F238E27FC236}">
                <a16:creationId xmlns:a16="http://schemas.microsoft.com/office/drawing/2014/main" id="{68D5284A-A366-4C54-89B7-ACCCB5266F9B}"/>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451F07F5-FEDB-4060-9BB5-78AF877A7FAE}"/>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D3EAD3A-B55D-47B8-B07A-BA309DECD980}"/>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A4494A77-1FB3-4878-A84D-F1D65BC30A61}"/>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9813A254-CE53-4E6B-AE6F-EE710F37B3E8}"/>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Límite</a:t>
            </a:r>
          </a:p>
        </p:txBody>
      </p:sp>
      <p:sp>
        <p:nvSpPr>
          <p:cNvPr id="33" name="node-body">
            <a:extLst xmlns:a="http://schemas.openxmlformats.org/drawingml/2006/main">
              <a:ext uri="{FF2B5EF4-FFF2-40B4-BE49-F238E27FC236}">
                <a16:creationId xmlns:a16="http://schemas.microsoft.com/office/drawing/2014/main" id="{24D85067-E0FE-4953-9E3B-35C28BDDF58F}"/>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Ninguna configuración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garantiza verdad factual.</a:t>
            </a:r>
          </a:p>
        </p:txBody>
      </p:sp>
      <p:sp>
        <p:nvSpPr>
          <p:cNvPr id="34" name="panel">
            <a:extLst xmlns:a="http://schemas.openxmlformats.org/drawingml/2006/main">
              <a:ext uri="{FF2B5EF4-FFF2-40B4-BE49-F238E27FC236}">
                <a16:creationId xmlns:a16="http://schemas.microsoft.com/office/drawing/2014/main" id="{3E4E4FC8-E180-4DEA-A7B8-2DFA4A3ACEE1}"/>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5" name="section-label">
            <a:extLst xmlns:a="http://schemas.openxmlformats.org/drawingml/2006/main">
              <a:ext uri="{FF2B5EF4-FFF2-40B4-BE49-F238E27FC236}">
                <a16:creationId xmlns:a16="http://schemas.microsoft.com/office/drawing/2014/main" id="{EF8915FF-4673-4FD8-9095-3A7EBF97E2EF}"/>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6" name="concept-question">
            <a:extLst xmlns:a="http://schemas.openxmlformats.org/drawingml/2006/main">
              <a:ext uri="{FF2B5EF4-FFF2-40B4-BE49-F238E27FC236}">
                <a16:creationId xmlns:a16="http://schemas.microsoft.com/office/drawing/2014/main" id="{86B8F601-4859-41E7-87B8-3641E3704777}"/>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¿Una respuesta repetible demuestra que la póliza cubre el</a:t>
            </a:r>
          </a:p>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caso?</a:t>
            </a:r>
          </a:p>
        </p:txBody>
      </p:sp>
      <p:sp>
        <p:nvSpPr>
          <p:cNvPr id="37" name="panel">
            <a:extLst xmlns:a="http://schemas.openxmlformats.org/drawingml/2006/main">
              <a:ext uri="{FF2B5EF4-FFF2-40B4-BE49-F238E27FC236}">
                <a16:creationId xmlns:a16="http://schemas.microsoft.com/office/drawing/2014/main" id="{97E0EA55-EEFB-4223-B175-7B1A958C6EC5}"/>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38" name="misconception-label">
            <a:extLst xmlns:a="http://schemas.openxmlformats.org/drawingml/2006/main">
              <a:ext uri="{FF2B5EF4-FFF2-40B4-BE49-F238E27FC236}">
                <a16:creationId xmlns:a16="http://schemas.microsoft.com/office/drawing/2014/main" id="{A9505C45-0ECF-4255-88DD-BFA3F70B4B90}"/>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39" name="misconception">
            <a:extLst xmlns:a="http://schemas.openxmlformats.org/drawingml/2006/main">
              <a:ext uri="{FF2B5EF4-FFF2-40B4-BE49-F238E27FC236}">
                <a16:creationId xmlns:a16="http://schemas.microsoft.com/office/drawing/2014/main" id="{99A0BA75-3580-4B6F-9CB9-026F445C4B7A}"/>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Prometer determinismo absoluto con</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temperatura cero.</a:t>
            </a:r>
          </a:p>
        </p:txBody>
      </p:sp>
      <p:sp>
        <p:nvSpPr>
          <p:cNvPr id="40" name="panel">
            <a:extLst xmlns:a="http://schemas.openxmlformats.org/drawingml/2006/main">
              <a:ext uri="{FF2B5EF4-FFF2-40B4-BE49-F238E27FC236}">
                <a16:creationId xmlns:a16="http://schemas.microsoft.com/office/drawing/2014/main" id="{C65C40EE-604E-4D62-9652-7FF2284AEFEC}"/>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1" name="takeaway">
            <a:extLst xmlns:a="http://schemas.openxmlformats.org/drawingml/2006/main">
              <a:ext uri="{FF2B5EF4-FFF2-40B4-BE49-F238E27FC236}">
                <a16:creationId xmlns:a16="http://schemas.microsoft.com/office/drawing/2014/main" id="{2B5E307E-6ADD-4AF1-B68E-6BAAFEB5E6EF}"/>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Temperatura baja no es un certificado de exactitud.</a:t>
            </a:r>
          </a:p>
        </p:txBody>
      </p:sp>
    </p:spTree>
    <p:extLst>
      <p:ext uri="{BB962C8B-B14F-4D97-AF65-F5344CB8AC3E}">
        <p14:creationId xmlns:p14="http://schemas.microsoft.com/office/powerpoint/2010/main" val="737264826"/>
      </p:ext>
    </p:extLst>
  </p:cSld>
</p:sld>
</file>

<file path=ppt/slides/slide2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8B916CC9-EE7B-46BD-8DEE-F47CD84172F9}"/>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BD9278-5259-4BA9-BA03-DA7E466749FE}"/>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B81AE456-E1CC-42BB-9A28-E0677C811EE9}"/>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7</a:t>
            </a:r>
          </a:p>
        </p:txBody>
      </p:sp>
      <p:sp>
        <p:nvSpPr>
          <p:cNvPr id="4" name="breadcrumb">
            <a:extLst xmlns:a="http://schemas.openxmlformats.org/drawingml/2006/main">
              <a:ext uri="{FF2B5EF4-FFF2-40B4-BE49-F238E27FC236}">
                <a16:creationId xmlns:a16="http://schemas.microsoft.com/office/drawing/2014/main" id="{E9DB193A-376C-4B7A-B1FA-3DFB27DD9FFD}"/>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7</a:t>
            </a:r>
          </a:p>
        </p:txBody>
      </p:sp>
      <p:sp>
        <p:nvSpPr>
          <p:cNvPr id="5" name="slide-title">
            <a:extLst xmlns:a="http://schemas.openxmlformats.org/drawingml/2006/main">
              <a:ext uri="{FF2B5EF4-FFF2-40B4-BE49-F238E27FC236}">
                <a16:creationId xmlns:a16="http://schemas.microsoft.com/office/drawing/2014/main" id="{BEA08714-BE71-4D6D-A3DD-EBC7D3BC01C9}"/>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Diseñar una comparación útil</a:t>
            </a:r>
          </a:p>
        </p:txBody>
      </p:sp>
      <p:sp>
        <p:nvSpPr>
          <p:cNvPr id="6" name="learning-purpose">
            <a:extLst xmlns:a="http://schemas.openxmlformats.org/drawingml/2006/main">
              <a:ext uri="{FF2B5EF4-FFF2-40B4-BE49-F238E27FC236}">
                <a16:creationId xmlns:a16="http://schemas.microsoft.com/office/drawing/2014/main" id="{1A2DA7CF-0BA5-42A6-9E1A-BF4700EE125C}"/>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Observar cómo cambia la selección de continuaciones al variar la temperatura.</a:t>
            </a:r>
          </a:p>
        </p:txBody>
      </p:sp>
      <p:sp>
        <p:nvSpPr>
          <p:cNvPr id="7" name="panel">
            <a:extLst xmlns:a="http://schemas.openxmlformats.org/drawingml/2006/main">
              <a:ext uri="{FF2B5EF4-FFF2-40B4-BE49-F238E27FC236}">
                <a16:creationId xmlns:a16="http://schemas.microsoft.com/office/drawing/2014/main" id="{99425467-44A8-42DC-B0EE-CF163F558F1C}"/>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F4BBBE6F-8E15-4D34-8FDA-4BA0E693F8D2}"/>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082A29F7-82D6-469C-8FE6-B36FD4C7549F}"/>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B1861B50-A302-4C58-8458-221CF2C1A598}"/>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469D6AE7-8CB9-469B-A68C-D26A75E256AD}"/>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ABB357D6-7BE6-4906-ADF7-66C15CC79D46}"/>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86146A9F-5636-4811-98A2-94BF20BCAB5B}"/>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C07</a:t>
            </a:r>
          </a:p>
        </p:txBody>
      </p:sp>
      <p:sp>
        <p:nvSpPr>
          <p:cNvPr id="14" name="folio">
            <a:extLst xmlns:a="http://schemas.openxmlformats.org/drawingml/2006/main">
              <a:ext uri="{FF2B5EF4-FFF2-40B4-BE49-F238E27FC236}">
                <a16:creationId xmlns:a16="http://schemas.microsoft.com/office/drawing/2014/main" id="{79214E21-C042-4C8A-903B-61073BE400C5}"/>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20</a:t>
            </a:r>
          </a:p>
        </p:txBody>
      </p:sp>
      <p:sp>
        <p:nvSpPr>
          <p:cNvPr id="15" name="section-label">
            <a:extLst xmlns:a="http://schemas.openxmlformats.org/drawingml/2006/main">
              <a:ext uri="{FF2B5EF4-FFF2-40B4-BE49-F238E27FC236}">
                <a16:creationId xmlns:a16="http://schemas.microsoft.com/office/drawing/2014/main" id="{B75725A6-7BFD-49DF-B2D5-3FEADDD271CF}"/>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Mantener</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Usar el mismo prompt y modelo en las</a:t>
                      </a:r>
                    </a:p>
                    <a:p>
                      <a:r>
                        <a:rPr sz="1875" b="0">
                          <a:solidFill>
                            <a:srgbClr val="1E293B"/>
                          </a:solidFill>
                          <a:latin typeface="DejaVu Sans"/>
                          <a:ea typeface="DejaVu Sans"/>
                          <a:cs typeface="DejaVu Sans"/>
                        </a:rPr>
                        <a:t>repeticiones.</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Variar</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Cambiar solo la temperatura en la demo.</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Registrar</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Comparar forma, diversidad y consistencia de las</a:t>
                      </a:r>
                    </a:p>
                    <a:p>
                      <a:r>
                        <a:rPr sz="1875" b="0">
                          <a:solidFill>
                            <a:srgbClr val="1E293B"/>
                          </a:solidFill>
                          <a:latin typeface="DejaVu Sans"/>
                          <a:ea typeface="DejaVu Sans"/>
                          <a:cs typeface="DejaVu Sans"/>
                        </a:rPr>
                        <a:t>respuestas.</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8021BF69-F0D4-4A97-9915-B7A80E1B5FA8}"/>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904016BB-88C5-488F-B466-7E41A6179ABD}"/>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CC2F808D-0194-41EF-A072-CEDBCC676978}"/>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Prometer determinismo</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absoluto con temperatura</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cero.</a:t>
            </a:r>
          </a:p>
        </p:txBody>
      </p:sp>
      <p:sp>
        <p:nvSpPr>
          <p:cNvPr id="20" name="development-prompt">
            <a:extLst xmlns:a="http://schemas.openxmlformats.org/drawingml/2006/main">
              <a:ext uri="{FF2B5EF4-FFF2-40B4-BE49-F238E27FC236}">
                <a16:creationId xmlns:a16="http://schemas.microsoft.com/office/drawing/2014/main" id="{3750CE84-0C7B-46B2-9FB5-0847F8AEF0AB}"/>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49D7CA53-296C-4153-BF68-4B3183A17D8E}"/>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A57AE302-0E38-4D62-A626-C41F95270E24}"/>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B356C517-929D-4840-8A46-B1BA430BB945}"/>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¿Una respuesta repetible demuestra que la póliza cubre el caso?</a:t>
            </a:r>
          </a:p>
        </p:txBody>
      </p:sp>
      <p:sp>
        <p:nvSpPr>
          <p:cNvPr id="24" name="panel">
            <a:extLst xmlns:a="http://schemas.openxmlformats.org/drawingml/2006/main">
              <a:ext uri="{FF2B5EF4-FFF2-40B4-BE49-F238E27FC236}">
                <a16:creationId xmlns:a16="http://schemas.microsoft.com/office/drawing/2014/main" id="{961C7166-67A3-41A9-A696-208A8F5FAB1D}"/>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1C05BF62-DA95-4653-A677-8F5708B39689}"/>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Temperatura baja no es un certificado de exactitud.</a:t>
            </a:r>
          </a:p>
        </p:txBody>
      </p:sp>
    </p:spTree>
    <p:extLst>
      <p:ext uri="{BB962C8B-B14F-4D97-AF65-F5344CB8AC3E}">
        <p14:creationId xmlns:p14="http://schemas.microsoft.com/office/powerpoint/2010/main" val="1459119709"/>
      </p:ext>
    </p:extLst>
  </p:cSld>
</p:sld>
</file>

<file path=ppt/slides/slide2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F86541CE-46C7-4DCC-9A50-0472FAF58A41}"/>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0DB2EF5-CC49-4117-BB4F-CB0AA7BE3779}"/>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77FD22A1-75B7-40A3-805B-BA8F13255A12}"/>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7</a:t>
            </a:r>
          </a:p>
        </p:txBody>
      </p:sp>
      <p:sp>
        <p:nvSpPr>
          <p:cNvPr id="4" name="breadcrumb">
            <a:extLst xmlns:a="http://schemas.openxmlformats.org/drawingml/2006/main">
              <a:ext uri="{FF2B5EF4-FFF2-40B4-BE49-F238E27FC236}">
                <a16:creationId xmlns:a16="http://schemas.microsoft.com/office/drawing/2014/main" id="{91CDA2B3-505D-4C69-B231-E9F3421226B8}"/>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7</a:t>
            </a:r>
          </a:p>
        </p:txBody>
      </p:sp>
      <p:sp>
        <p:nvSpPr>
          <p:cNvPr id="5" name="slide-title">
            <a:extLst xmlns:a="http://schemas.openxmlformats.org/drawingml/2006/main">
              <a:ext uri="{FF2B5EF4-FFF2-40B4-BE49-F238E27FC236}">
                <a16:creationId xmlns:a16="http://schemas.microsoft.com/office/drawing/2014/main" id="{1C080DA7-8D38-44CF-8364-0302B73143D2}"/>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Temperatura y variación</a:t>
            </a:r>
          </a:p>
        </p:txBody>
      </p:sp>
      <p:sp>
        <p:nvSpPr>
          <p:cNvPr id="6" name="learning-purpose">
            <a:extLst xmlns:a="http://schemas.openxmlformats.org/drawingml/2006/main">
              <a:ext uri="{FF2B5EF4-FFF2-40B4-BE49-F238E27FC236}">
                <a16:creationId xmlns:a16="http://schemas.microsoft.com/office/drawing/2014/main" id="{9F5F587B-9700-4CBB-AA41-6C798A3517D8}"/>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Observar cómo cambia la selección de continuaciones al variar la temperatura.</a:t>
            </a:r>
          </a:p>
        </p:txBody>
      </p:sp>
      <p:sp>
        <p:nvSpPr>
          <p:cNvPr id="7" name="panel">
            <a:extLst xmlns:a="http://schemas.openxmlformats.org/drawingml/2006/main">
              <a:ext uri="{FF2B5EF4-FFF2-40B4-BE49-F238E27FC236}">
                <a16:creationId xmlns:a16="http://schemas.microsoft.com/office/drawing/2014/main" id="{B081FED8-9E8F-488A-9019-D64832D6FA39}"/>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37AC6E9B-7D57-4BDE-8A96-2AB1121C7EC1}"/>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63B9D016-1D1C-40D4-9594-35E02500728E}"/>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AA72A767-7360-4FFC-85AF-21E498F94010}"/>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326B43E8-86AC-4C3D-A7EE-1AF6820C80EF}"/>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735D2356-13AF-40CB-8626-E7E489A3DAC3}"/>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817F11F9-B2B2-49E8-8A97-9E147FE388EF}"/>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C07</a:t>
            </a:r>
          </a:p>
        </p:txBody>
      </p:sp>
      <p:sp>
        <p:nvSpPr>
          <p:cNvPr id="14" name="folio">
            <a:extLst xmlns:a="http://schemas.openxmlformats.org/drawingml/2006/main">
              <a:ext uri="{FF2B5EF4-FFF2-40B4-BE49-F238E27FC236}">
                <a16:creationId xmlns:a16="http://schemas.microsoft.com/office/drawing/2014/main" id="{2112C14F-DF8D-4A42-B6F4-F460EE427C34}"/>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21</a:t>
            </a:r>
          </a:p>
        </p:txBody>
      </p:sp>
      <p:sp>
        <p:nvSpPr>
          <p:cNvPr id="15" name="section-label">
            <a:extLst xmlns:a="http://schemas.openxmlformats.org/drawingml/2006/main">
              <a:ext uri="{FF2B5EF4-FFF2-40B4-BE49-F238E27FC236}">
                <a16:creationId xmlns:a16="http://schemas.microsoft.com/office/drawing/2014/main" id="{4448C81B-6ADC-4444-AB75-300C3D7306BA}"/>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ANDINA SEGUROS · CASO DIDÁCTICO</a:t>
            </a:r>
          </a:p>
        </p:txBody>
      </p:sp>
      <p:sp>
        <p:nvSpPr>
          <p:cNvPr id="16" name="panel">
            <a:extLst xmlns:a="http://schemas.openxmlformats.org/drawingml/2006/main">
              <a:ext uri="{FF2B5EF4-FFF2-40B4-BE49-F238E27FC236}">
                <a16:creationId xmlns:a16="http://schemas.microsoft.com/office/drawing/2014/main" id="{88818BD8-040E-44C0-8C05-58D1780C8C90}"/>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928FE991-1A3C-4A88-B95C-4965761532FA}"/>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F13A2CEA-48AD-4139-A1BE-E19E127692E3}"/>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Pide tres versiones de un saludo sin prometer coberturas.</a:t>
            </a:r>
          </a:p>
        </p:txBody>
      </p:sp>
      <p:sp>
        <p:nvSpPr>
          <p:cNvPr id="19" name="concept-node">
            <a:extLst xmlns:a="http://schemas.openxmlformats.org/drawingml/2006/main">
              <a:ext uri="{FF2B5EF4-FFF2-40B4-BE49-F238E27FC236}">
                <a16:creationId xmlns:a16="http://schemas.microsoft.com/office/drawing/2014/main" id="{C3308248-908D-4C9E-B51F-C3541975114C}"/>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9AE909B8-56FD-4DC1-8DBB-6ECD7D82DE38}"/>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B7FDC15-0DB5-4857-99ED-11707A3EB09D}"/>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A77FF0F5-2C5C-4874-AAF8-C553827A0844}"/>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3A4C98F3-C3F8-4A08-B927-07AEA8A42E1E}"/>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Fijar</a:t>
            </a:r>
          </a:p>
        </p:txBody>
      </p:sp>
      <p:sp>
        <p:nvSpPr>
          <p:cNvPr id="24" name="node-body">
            <a:extLst xmlns:a="http://schemas.openxmlformats.org/drawingml/2006/main">
              <a:ext uri="{FF2B5EF4-FFF2-40B4-BE49-F238E27FC236}">
                <a16:creationId xmlns:a16="http://schemas.microsoft.com/office/drawing/2014/main" id="{9974B399-F75D-4AC7-9F20-9E6C7E965B73}"/>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 tarea y los límites son los</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mismos.</a:t>
            </a:r>
          </a:p>
        </p:txBody>
      </p:sp>
      <p:sp>
        <p:nvSpPr>
          <p:cNvPr id="25" name="concept-node">
            <a:extLst xmlns:a="http://schemas.openxmlformats.org/drawingml/2006/main">
              <a:ext uri="{FF2B5EF4-FFF2-40B4-BE49-F238E27FC236}">
                <a16:creationId xmlns:a16="http://schemas.microsoft.com/office/drawing/2014/main" id="{E1DD02D4-9DA1-426B-A028-14F9A8E862CB}"/>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F7A83148-99FE-4DA9-B3E9-2F29BA2320DD}"/>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AE9F0E3-E419-406B-9735-034B4E285ABE}"/>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71CEA686-F603-4062-9518-AA60BCC1A320}"/>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99BC7F44-0DC1-4308-86EE-35656722F8E9}"/>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Repetir</a:t>
            </a:r>
          </a:p>
        </p:txBody>
      </p:sp>
      <p:sp>
        <p:nvSpPr>
          <p:cNvPr id="30" name="node-body">
            <a:extLst xmlns:a="http://schemas.openxmlformats.org/drawingml/2006/main">
              <a:ext uri="{FF2B5EF4-FFF2-40B4-BE49-F238E27FC236}">
                <a16:creationId xmlns:a16="http://schemas.microsoft.com/office/drawing/2014/main" id="{6D64D117-F241-46A1-9EA4-EC5C3DABFBA6}"/>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Ejecutar 02_temperatura.py y</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observar variación.</a:t>
            </a:r>
          </a:p>
        </p:txBody>
      </p:sp>
      <p:sp>
        <p:nvSpPr>
          <p:cNvPr id="31" name="concept-node">
            <a:extLst xmlns:a="http://schemas.openxmlformats.org/drawingml/2006/main">
              <a:ext uri="{FF2B5EF4-FFF2-40B4-BE49-F238E27FC236}">
                <a16:creationId xmlns:a16="http://schemas.microsoft.com/office/drawing/2014/main" id="{647FC373-3D6B-4D3C-B674-A0D9D39E84ED}"/>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CC4744FC-E2B3-4654-8826-4CCA4D96F540}"/>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261B8F3-CA7C-4944-857F-C70230774257}"/>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0E7FDA48-7708-4EFE-BE4C-CE32CC33AA1E}"/>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76B0D778-1833-4D4E-AD23-B9003CDBFBDA}"/>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Evaluar</a:t>
            </a:r>
          </a:p>
        </p:txBody>
      </p:sp>
      <p:sp>
        <p:nvSpPr>
          <p:cNvPr id="36" name="node-body">
            <a:extLst xmlns:a="http://schemas.openxmlformats.org/drawingml/2006/main">
              <a:ext uri="{FF2B5EF4-FFF2-40B4-BE49-F238E27FC236}">
                <a16:creationId xmlns:a16="http://schemas.microsoft.com/office/drawing/2014/main" id="{1A4B9516-1A74-4212-8BA9-8A018F0B0545}"/>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Separar diversidad de redacción</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y cumplimiento del límite.</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686CD761-D84C-4B0A-89E3-2B38C8B2E699}"/>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1885416E-697B-4995-B9D5-7A8CED66378E}"/>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A9984D3E-AD94-4714-894F-138499318E88}"/>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Más variedad puede ser útil para redactar; la cobertura requiere fuente.</a:t>
            </a:r>
          </a:p>
        </p:txBody>
      </p:sp>
      <p:sp>
        <p:nvSpPr>
          <p:cNvPr id="42" name="panel">
            <a:extLst xmlns:a="http://schemas.openxmlformats.org/drawingml/2006/main">
              <a:ext uri="{FF2B5EF4-FFF2-40B4-BE49-F238E27FC236}">
                <a16:creationId xmlns:a16="http://schemas.microsoft.com/office/drawing/2014/main" id="{434AD82D-41A2-474F-B97E-8A1C3095C1BF}"/>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D4B8D683-ED80-4401-A206-89392C2EC4A4}"/>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Temperatura baja no es un certificado de exactitud.</a:t>
            </a:r>
          </a:p>
        </p:txBody>
      </p:sp>
    </p:spTree>
    <p:extLst>
      <p:ext uri="{BB962C8B-B14F-4D97-AF65-F5344CB8AC3E}">
        <p14:creationId xmlns:p14="http://schemas.microsoft.com/office/powerpoint/2010/main" val="24065016"/>
      </p:ext>
    </p:extLst>
  </p:cSld>
</p:sld>
</file>

<file path=ppt/slides/slide2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2" name="header">
            <a:extLst xmlns:a="http://schemas.openxmlformats.org/drawingml/2006/main">
              <a:ext uri="{FF2B5EF4-FFF2-40B4-BE49-F238E27FC236}">
                <a16:creationId xmlns:a16="http://schemas.microsoft.com/office/drawing/2014/main" id="{1951EC5D-290F-40A8-90C3-5C23152200C8}"/>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64C0B8B-A9AF-4763-AC5B-FFFD5676A8D1}"/>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875EA293-45E9-4097-A4AA-5ECA92F2AFFD}"/>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8</a:t>
            </a:r>
          </a:p>
        </p:txBody>
      </p:sp>
      <p:sp>
        <p:nvSpPr>
          <p:cNvPr id="4" name="breadcrumb">
            <a:extLst xmlns:a="http://schemas.openxmlformats.org/drawingml/2006/main">
              <a:ext uri="{FF2B5EF4-FFF2-40B4-BE49-F238E27FC236}">
                <a16:creationId xmlns:a16="http://schemas.microsoft.com/office/drawing/2014/main" id="{D49B683B-C57B-4C1E-BF95-1FD3E0BBCC1C}"/>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8</a:t>
            </a:r>
          </a:p>
        </p:txBody>
      </p:sp>
      <p:sp>
        <p:nvSpPr>
          <p:cNvPr id="5" name="slide-title">
            <a:extLst xmlns:a="http://schemas.openxmlformats.org/drawingml/2006/main">
              <a:ext uri="{FF2B5EF4-FFF2-40B4-BE49-F238E27FC236}">
                <a16:creationId xmlns:a16="http://schemas.microsoft.com/office/drawing/2014/main" id="{C899F7A2-85E8-4466-A68F-825B93302531}"/>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Alucinación: plausible y falsa</a:t>
            </a:r>
          </a:p>
        </p:txBody>
      </p:sp>
      <p:sp>
        <p:nvSpPr>
          <p:cNvPr id="6" name="learning-purpose">
            <a:extLst xmlns:a="http://schemas.openxmlformats.org/drawingml/2006/main">
              <a:ext uri="{FF2B5EF4-FFF2-40B4-BE49-F238E27FC236}">
                <a16:creationId xmlns:a16="http://schemas.microsoft.com/office/drawing/2014/main" id="{9106CBDE-088F-41D1-A190-71B5E23FFE18}"/>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Detectar afirmaciones sin respaldo aunque parezcan convincentes.</a:t>
            </a:r>
          </a:p>
        </p:txBody>
      </p:sp>
      <p:sp>
        <p:nvSpPr>
          <p:cNvPr id="7" name="panel">
            <a:extLst xmlns:a="http://schemas.openxmlformats.org/drawingml/2006/main">
              <a:ext uri="{FF2B5EF4-FFF2-40B4-BE49-F238E27FC236}">
                <a16:creationId xmlns:a16="http://schemas.microsoft.com/office/drawing/2014/main" id="{11278DAA-2DA9-49AD-99D9-2D0630564166}"/>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34333DD8-D64B-46BC-BBF9-CADF5D6D0143}"/>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CFD088DA-4115-4520-9073-50A2CA471561}"/>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C01053A6-E1D2-47FF-926F-D2A4C4F483C9}"/>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FF8079A8-FD53-4F54-B1ED-FD5669E977C9}"/>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BB733479-3954-4396-868E-A37E281EC272}"/>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2B49FC23-5D19-4BB7-B241-DA6B0C1A5D0A}"/>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C08</a:t>
            </a:r>
          </a:p>
        </p:txBody>
      </p:sp>
      <p:sp>
        <p:nvSpPr>
          <p:cNvPr id="14" name="folio">
            <a:extLst xmlns:a="http://schemas.openxmlformats.org/drawingml/2006/main">
              <a:ext uri="{FF2B5EF4-FFF2-40B4-BE49-F238E27FC236}">
                <a16:creationId xmlns:a16="http://schemas.microsoft.com/office/drawing/2014/main" id="{264E14C8-DD4F-4016-BEFB-8216E387CEA4}"/>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22</a:t>
            </a:r>
          </a:p>
        </p:txBody>
      </p:sp>
      <p:sp>
        <p:nvSpPr>
          <p:cNvPr id="15" name="section-label">
            <a:extLst xmlns:a="http://schemas.openxmlformats.org/drawingml/2006/main">
              <a:ext uri="{FF2B5EF4-FFF2-40B4-BE49-F238E27FC236}">
                <a16:creationId xmlns:a16="http://schemas.microsoft.com/office/drawing/2014/main" id="{30CF48A4-EF98-4BAF-9428-8A4654253CB4}"/>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COMPARAR RESPONSABILIDADES</a:t>
            </a:r>
          </a:p>
        </p:txBody>
      </p:sp>
      <p:sp>
        <p:nvSpPr>
          <p:cNvPr id="16" name="concept-node">
            <a:extLst xmlns:a="http://schemas.openxmlformats.org/drawingml/2006/main">
              <a:ext uri="{FF2B5EF4-FFF2-40B4-BE49-F238E27FC236}">
                <a16:creationId xmlns:a16="http://schemas.microsoft.com/office/drawing/2014/main" id="{7F607F6C-C6F2-4CFF-A76F-6DE85A574E18}"/>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90F8EC61-DEEB-4E18-A7A2-75FF829AD2D6}"/>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539D2BF-5CE9-4AA8-A18E-C04778638283}"/>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0AC8A092-53AE-42BF-AB4C-ADFED1FADDFB}"/>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ED5A2C09-FD34-46E8-9214-6B47FCAB9B06}"/>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Petición</a:t>
            </a:r>
          </a:p>
        </p:txBody>
      </p:sp>
      <p:sp>
        <p:nvSpPr>
          <p:cNvPr id="21" name="node-body">
            <a:extLst xmlns:a="http://schemas.openxmlformats.org/drawingml/2006/main">
              <a:ext uri="{FF2B5EF4-FFF2-40B4-BE49-F238E27FC236}">
                <a16:creationId xmlns:a16="http://schemas.microsoft.com/office/drawing/2014/main" id="{9E8B1B4A-156D-4DCC-9B3B-9FD2AE6AE68A}"/>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El usuario solicita una</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condición concreta del</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servicio.</a:t>
            </a:r>
          </a:p>
        </p:txBody>
      </p:sp>
      <p:sp>
        <p:nvSpPr>
          <p:cNvPr id="22" name="concept-node">
            <a:extLst xmlns:a="http://schemas.openxmlformats.org/drawingml/2006/main">
              <a:ext uri="{FF2B5EF4-FFF2-40B4-BE49-F238E27FC236}">
                <a16:creationId xmlns:a16="http://schemas.microsoft.com/office/drawing/2014/main" id="{9BEFDC5E-0D01-41CA-8556-4888967979F0}"/>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8690885D-63D7-4EA3-8900-9B960DC8DC39}"/>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1B343E2-1162-4C10-ACBA-B19F787B480A}"/>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64542C80-FA39-40AD-972D-54FCC4953C48}"/>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8FEC7112-91A0-4666-B2BB-60452CDE98E8}"/>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Respuesta plausible</a:t>
            </a:r>
          </a:p>
        </p:txBody>
      </p:sp>
      <p:sp>
        <p:nvSpPr>
          <p:cNvPr id="27" name="node-body">
            <a:extLst xmlns:a="http://schemas.openxmlformats.org/drawingml/2006/main">
              <a:ext uri="{FF2B5EF4-FFF2-40B4-BE49-F238E27FC236}">
                <a16:creationId xmlns:a16="http://schemas.microsoft.com/office/drawing/2014/main" id="{C3838EE8-11D1-45B4-8980-FDEF6E402094}"/>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El modelo produce un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número o regla sin consultar.</a:t>
            </a:r>
          </a:p>
        </p:txBody>
      </p:sp>
      <p:sp>
        <p:nvSpPr>
          <p:cNvPr id="28" name="concept-node">
            <a:extLst xmlns:a="http://schemas.openxmlformats.org/drawingml/2006/main">
              <a:ext uri="{FF2B5EF4-FFF2-40B4-BE49-F238E27FC236}">
                <a16:creationId xmlns:a16="http://schemas.microsoft.com/office/drawing/2014/main" id="{9116893D-C0FE-4010-BFCE-5A9F5459BA26}"/>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AE92E7DB-25C0-4CAB-A245-A2B39ED60417}"/>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ADA2385-5F7E-40ED-986D-066AF84AA93D}"/>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0C953A66-CAD5-49C9-869A-126B32C5521B}"/>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D6F4A681-8761-45B5-84C1-67CF1AF329B4}"/>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Contraste</a:t>
            </a:r>
          </a:p>
        </p:txBody>
      </p:sp>
      <p:sp>
        <p:nvSpPr>
          <p:cNvPr id="33" name="node-body">
            <a:extLst xmlns:a="http://schemas.openxmlformats.org/drawingml/2006/main">
              <a:ext uri="{FF2B5EF4-FFF2-40B4-BE49-F238E27FC236}">
                <a16:creationId xmlns:a16="http://schemas.microsoft.com/office/drawing/2014/main" id="{0C76AA34-99A0-422B-8BD8-71CE852F50A8}"/>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El documento vigente no</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respalda esa afirmación.</a:t>
            </a:r>
          </a:p>
        </p:txBody>
      </p:sp>
      <p:sp>
        <p:nvSpPr>
          <p:cNvPr id="34" name="panel">
            <a:extLst xmlns:a="http://schemas.openxmlformats.org/drawingml/2006/main">
              <a:ext uri="{FF2B5EF4-FFF2-40B4-BE49-F238E27FC236}">
                <a16:creationId xmlns:a16="http://schemas.microsoft.com/office/drawing/2014/main" id="{765C27E1-09E8-4690-A672-2031083E881C}"/>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5" name="section-label">
            <a:extLst xmlns:a="http://schemas.openxmlformats.org/drawingml/2006/main">
              <a:ext uri="{FF2B5EF4-FFF2-40B4-BE49-F238E27FC236}">
                <a16:creationId xmlns:a16="http://schemas.microsoft.com/office/drawing/2014/main" id="{87D383D0-2653-4533-BA01-6D843AF1109C}"/>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6" name="concept-question">
            <a:extLst xmlns:a="http://schemas.openxmlformats.org/drawingml/2006/main">
              <a:ext uri="{FF2B5EF4-FFF2-40B4-BE49-F238E27FC236}">
                <a16:creationId xmlns:a16="http://schemas.microsoft.com/office/drawing/2014/main" id="{D6D4038D-0BF5-4D2E-8ED2-9FB4A0CC2D11}"/>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¿Qué evidencia pedirías antes de aceptar la cobertura?</a:t>
            </a:r>
          </a:p>
        </p:txBody>
      </p:sp>
      <p:sp>
        <p:nvSpPr>
          <p:cNvPr id="37" name="panel">
            <a:extLst xmlns:a="http://schemas.openxmlformats.org/drawingml/2006/main">
              <a:ext uri="{FF2B5EF4-FFF2-40B4-BE49-F238E27FC236}">
                <a16:creationId xmlns:a16="http://schemas.microsoft.com/office/drawing/2014/main" id="{820D9B22-D8CC-476B-8DA5-D75018C74665}"/>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38" name="misconception-label">
            <a:extLst xmlns:a="http://schemas.openxmlformats.org/drawingml/2006/main">
              <a:ext uri="{FF2B5EF4-FFF2-40B4-BE49-F238E27FC236}">
                <a16:creationId xmlns:a16="http://schemas.microsoft.com/office/drawing/2014/main" id="{553899AF-E5CB-43DB-B862-3BD7BBC61328}"/>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39" name="misconception">
            <a:extLst xmlns:a="http://schemas.openxmlformats.org/drawingml/2006/main">
              <a:ext uri="{FF2B5EF4-FFF2-40B4-BE49-F238E27FC236}">
                <a16:creationId xmlns:a16="http://schemas.microsoft.com/office/drawing/2014/main" id="{F5DB3EA2-14D0-44F8-9134-813C913EFFBA}"/>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Confundir detalle o seguridad verbal con</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respaldo.</a:t>
            </a:r>
          </a:p>
        </p:txBody>
      </p:sp>
      <p:sp>
        <p:nvSpPr>
          <p:cNvPr id="40" name="panel">
            <a:extLst xmlns:a="http://schemas.openxmlformats.org/drawingml/2006/main">
              <a:ext uri="{FF2B5EF4-FFF2-40B4-BE49-F238E27FC236}">
                <a16:creationId xmlns:a16="http://schemas.microsoft.com/office/drawing/2014/main" id="{6CAECD97-3E9C-4082-B8E8-4F015CB83DE2}"/>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1" name="takeaway">
            <a:extLst xmlns:a="http://schemas.openxmlformats.org/drawingml/2006/main">
              <a:ext uri="{FF2B5EF4-FFF2-40B4-BE49-F238E27FC236}">
                <a16:creationId xmlns:a16="http://schemas.microsoft.com/office/drawing/2014/main" id="{B9F94A56-C38B-43E9-AB7D-C721C3FE190C}"/>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Una afirmación necesita evidencia proporcional a su consecuencia.</a:t>
            </a:r>
          </a:p>
        </p:txBody>
      </p:sp>
    </p:spTree>
    <p:extLst>
      <p:ext uri="{BB962C8B-B14F-4D97-AF65-F5344CB8AC3E}">
        <p14:creationId xmlns:p14="http://schemas.microsoft.com/office/powerpoint/2010/main" val="1579033362"/>
      </p:ext>
    </p:extLst>
  </p:cSld>
</p:sld>
</file>

<file path=ppt/slides/slide2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643F4D58-B596-4068-BD2A-7A1831A28BEF}"/>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1C64520-1EB2-4FCE-A6FB-4A0307F2957D}"/>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276CACE4-CA86-4D39-BCB2-A93369B2C50C}"/>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8</a:t>
            </a:r>
          </a:p>
        </p:txBody>
      </p:sp>
      <p:sp>
        <p:nvSpPr>
          <p:cNvPr id="4" name="breadcrumb">
            <a:extLst xmlns:a="http://schemas.openxmlformats.org/drawingml/2006/main">
              <a:ext uri="{FF2B5EF4-FFF2-40B4-BE49-F238E27FC236}">
                <a16:creationId xmlns:a16="http://schemas.microsoft.com/office/drawing/2014/main" id="{B7928607-FF2A-4F99-ABD1-303E8FDAA751}"/>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8</a:t>
            </a:r>
          </a:p>
        </p:txBody>
      </p:sp>
      <p:sp>
        <p:nvSpPr>
          <p:cNvPr id="5" name="slide-title">
            <a:extLst xmlns:a="http://schemas.openxmlformats.org/drawingml/2006/main">
              <a:ext uri="{FF2B5EF4-FFF2-40B4-BE49-F238E27FC236}">
                <a16:creationId xmlns:a16="http://schemas.microsoft.com/office/drawing/2014/main" id="{A91AAB9F-555F-4EE9-BEA8-21F107261E27}"/>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Separar apariencia de evidencia</a:t>
            </a:r>
          </a:p>
        </p:txBody>
      </p:sp>
      <p:sp>
        <p:nvSpPr>
          <p:cNvPr id="6" name="learning-purpose">
            <a:extLst xmlns:a="http://schemas.openxmlformats.org/drawingml/2006/main">
              <a:ext uri="{FF2B5EF4-FFF2-40B4-BE49-F238E27FC236}">
                <a16:creationId xmlns:a16="http://schemas.microsoft.com/office/drawing/2014/main" id="{11B41C43-BBCB-48D8-A01F-E34A46F09A3E}"/>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Detectar afirmaciones sin respaldo aunque parezcan convincentes.</a:t>
            </a:r>
          </a:p>
        </p:txBody>
      </p:sp>
      <p:sp>
        <p:nvSpPr>
          <p:cNvPr id="7" name="panel">
            <a:extLst xmlns:a="http://schemas.openxmlformats.org/drawingml/2006/main">
              <a:ext uri="{FF2B5EF4-FFF2-40B4-BE49-F238E27FC236}">
                <a16:creationId xmlns:a16="http://schemas.microsoft.com/office/drawing/2014/main" id="{96BD8256-79E8-43E6-9D15-6A937CA6E64B}"/>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60D98088-14FC-4AA8-BE4C-E1C7DDA19BDB}"/>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4E5BE4E9-D561-4826-A005-0C51595E16F1}"/>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D737B366-4D4E-4AAC-A5CE-79167D70E63F}"/>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76EB6C25-9F7C-4C81-9827-83CD5ED54A36}"/>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1C3E08CD-4F26-47BA-A60D-C4CA7E8100FB}"/>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3AA16A62-6DE7-47FB-A00A-BC5488F584FD}"/>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C08</a:t>
            </a:r>
          </a:p>
        </p:txBody>
      </p:sp>
      <p:sp>
        <p:nvSpPr>
          <p:cNvPr id="14" name="folio">
            <a:extLst xmlns:a="http://schemas.openxmlformats.org/drawingml/2006/main">
              <a:ext uri="{FF2B5EF4-FFF2-40B4-BE49-F238E27FC236}">
                <a16:creationId xmlns:a16="http://schemas.microsoft.com/office/drawing/2014/main" id="{09B4FE19-00B4-477D-8DC8-CBE6AEAF84F5}"/>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23</a:t>
            </a:r>
          </a:p>
        </p:txBody>
      </p:sp>
      <p:sp>
        <p:nvSpPr>
          <p:cNvPr id="15" name="section-label">
            <a:extLst xmlns:a="http://schemas.openxmlformats.org/drawingml/2006/main">
              <a:ext uri="{FF2B5EF4-FFF2-40B4-BE49-F238E27FC236}">
                <a16:creationId xmlns:a16="http://schemas.microsoft.com/office/drawing/2014/main" id="{7BA7AE79-041C-4D6F-BCFE-33468B2B0B54}"/>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Fluidez</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Una explicación clara puede ocultar un dato</a:t>
                      </a:r>
                    </a:p>
                    <a:p>
                      <a:r>
                        <a:rPr sz="1875" b="0">
                          <a:solidFill>
                            <a:srgbClr val="1E293B"/>
                          </a:solidFill>
                          <a:latin typeface="DejaVu Sans"/>
                          <a:ea typeface="DejaVu Sans"/>
                          <a:cs typeface="DejaVu Sans"/>
                        </a:rPr>
                        <a:t>inventado.</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Confianza</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El tono seguro no mide la verdad de la respuesta.</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Fuente</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Verificar el dato y la vigencia del documento</a:t>
                      </a:r>
                    </a:p>
                    <a:p>
                      <a:r>
                        <a:rPr sz="1875" b="0">
                          <a:solidFill>
                            <a:srgbClr val="1E293B"/>
                          </a:solidFill>
                          <a:latin typeface="DejaVu Sans"/>
                          <a:ea typeface="DejaVu Sans"/>
                          <a:cs typeface="DejaVu Sans"/>
                        </a:rPr>
                        <a:t>usado.</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A3268E57-0C37-48D2-8C08-EEE299C26162}"/>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558DFE03-634E-4D87-B03D-F0822F8B1B5D}"/>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41F52901-7811-4AFF-9B2F-1E2E3DDB226D}"/>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Confundir detalle o seguridad</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verbal con respaldo.</a:t>
            </a:r>
          </a:p>
        </p:txBody>
      </p:sp>
      <p:sp>
        <p:nvSpPr>
          <p:cNvPr id="20" name="development-prompt">
            <a:extLst xmlns:a="http://schemas.openxmlformats.org/drawingml/2006/main">
              <a:ext uri="{FF2B5EF4-FFF2-40B4-BE49-F238E27FC236}">
                <a16:creationId xmlns:a16="http://schemas.microsoft.com/office/drawing/2014/main" id="{50C76C6B-5087-4EC9-A8C8-6D5606809DFD}"/>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5A2854B5-2C9D-4176-8BE6-020622F7D90B}"/>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5408467D-0EC8-4563-A23F-F340A1A71F2E}"/>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B15D10E2-C926-4BA5-A4D0-CFEFFBB1865D}"/>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¿Qué evidencia pedirías antes de aceptar la cobertura?</a:t>
            </a:r>
          </a:p>
        </p:txBody>
      </p:sp>
      <p:sp>
        <p:nvSpPr>
          <p:cNvPr id="24" name="panel">
            <a:extLst xmlns:a="http://schemas.openxmlformats.org/drawingml/2006/main">
              <a:ext uri="{FF2B5EF4-FFF2-40B4-BE49-F238E27FC236}">
                <a16:creationId xmlns:a16="http://schemas.microsoft.com/office/drawing/2014/main" id="{BE3A4DC7-1C90-4B98-ABF1-60B040F70455}"/>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310DDF45-D759-42BC-9A6E-3DA1FADA2206}"/>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Una afirmación necesita evidencia proporcional a su consecuencia.</a:t>
            </a:r>
          </a:p>
        </p:txBody>
      </p:sp>
    </p:spTree>
    <p:extLst>
      <p:ext uri="{BB962C8B-B14F-4D97-AF65-F5344CB8AC3E}">
        <p14:creationId xmlns:p14="http://schemas.microsoft.com/office/powerpoint/2010/main" val="763517157"/>
      </p:ext>
    </p:extLst>
  </p:cSld>
</p:sld>
</file>

<file path=ppt/slides/slide2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977284B1-B43C-4F85-AA08-03CC9A74393B}"/>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50386B0-20B7-4D5B-AF88-8D4F8941D51F}"/>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D5C02B4A-B2FC-4F68-99F0-B5A2D619D107}"/>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8</a:t>
            </a:r>
          </a:p>
        </p:txBody>
      </p:sp>
      <p:sp>
        <p:nvSpPr>
          <p:cNvPr id="4" name="breadcrumb">
            <a:extLst xmlns:a="http://schemas.openxmlformats.org/drawingml/2006/main">
              <a:ext uri="{FF2B5EF4-FFF2-40B4-BE49-F238E27FC236}">
                <a16:creationId xmlns:a16="http://schemas.microsoft.com/office/drawing/2014/main" id="{F0792766-5B3C-42ED-A6F1-6232CBC91BFE}"/>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8</a:t>
            </a:r>
          </a:p>
        </p:txBody>
      </p:sp>
      <p:sp>
        <p:nvSpPr>
          <p:cNvPr id="5" name="slide-title">
            <a:extLst xmlns:a="http://schemas.openxmlformats.org/drawingml/2006/main">
              <a:ext uri="{FF2B5EF4-FFF2-40B4-BE49-F238E27FC236}">
                <a16:creationId xmlns:a16="http://schemas.microsoft.com/office/drawing/2014/main" id="{F6B49C4A-410B-4094-9C61-309224A7EB32}"/>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Alucinación: plausible y falsa</a:t>
            </a:r>
          </a:p>
        </p:txBody>
      </p:sp>
      <p:sp>
        <p:nvSpPr>
          <p:cNvPr id="6" name="learning-purpose">
            <a:extLst xmlns:a="http://schemas.openxmlformats.org/drawingml/2006/main">
              <a:ext uri="{FF2B5EF4-FFF2-40B4-BE49-F238E27FC236}">
                <a16:creationId xmlns:a16="http://schemas.microsoft.com/office/drawing/2014/main" id="{9BD92C1D-48CD-42AE-9D0D-B25ACBFBFFE1}"/>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Detectar afirmaciones sin respaldo aunque parezcan convincentes.</a:t>
            </a:r>
          </a:p>
        </p:txBody>
      </p:sp>
      <p:sp>
        <p:nvSpPr>
          <p:cNvPr id="7" name="panel">
            <a:extLst xmlns:a="http://schemas.openxmlformats.org/drawingml/2006/main">
              <a:ext uri="{FF2B5EF4-FFF2-40B4-BE49-F238E27FC236}">
                <a16:creationId xmlns:a16="http://schemas.microsoft.com/office/drawing/2014/main" id="{11805DA3-3459-4CE8-A965-0DB21117BB0F}"/>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33F14C09-939E-428C-A00F-7F44B85896EC}"/>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3F112FB4-1359-4078-85E1-70F8D7BCEDF3}"/>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C3CC4BBF-EAC7-4EE6-9AA0-2200396BC130}"/>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97869836-2914-4590-B350-A6FCAC5F6296}"/>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82630988-8158-4078-BDD1-24EBA99E6361}"/>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3AC3E548-56C6-4CD6-A7D3-C864C3B57AAC}"/>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C08</a:t>
            </a:r>
          </a:p>
        </p:txBody>
      </p:sp>
      <p:sp>
        <p:nvSpPr>
          <p:cNvPr id="14" name="folio">
            <a:extLst xmlns:a="http://schemas.openxmlformats.org/drawingml/2006/main">
              <a:ext uri="{FF2B5EF4-FFF2-40B4-BE49-F238E27FC236}">
                <a16:creationId xmlns:a16="http://schemas.microsoft.com/office/drawing/2014/main" id="{06BA9005-5B39-42A6-8C79-EA41D90EBF73}"/>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24</a:t>
            </a:r>
          </a:p>
        </p:txBody>
      </p:sp>
      <p:sp>
        <p:nvSpPr>
          <p:cNvPr id="15" name="section-label">
            <a:extLst xmlns:a="http://schemas.openxmlformats.org/drawingml/2006/main">
              <a:ext uri="{FF2B5EF4-FFF2-40B4-BE49-F238E27FC236}">
                <a16:creationId xmlns:a16="http://schemas.microsoft.com/office/drawing/2014/main" id="{F7A5352F-B245-4E64-98A2-C883D5358B71}"/>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ANDINA SEGUROS · CASO DIDÁCTICO</a:t>
            </a:r>
          </a:p>
        </p:txBody>
      </p:sp>
      <p:sp>
        <p:nvSpPr>
          <p:cNvPr id="16" name="panel">
            <a:extLst xmlns:a="http://schemas.openxmlformats.org/drawingml/2006/main">
              <a:ext uri="{FF2B5EF4-FFF2-40B4-BE49-F238E27FC236}">
                <a16:creationId xmlns:a16="http://schemas.microsoft.com/office/drawing/2014/main" id="{46EA97DB-B68E-45CC-8C00-CE855345FC29}"/>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A5A1084D-E913-4B34-BF62-A4062A9BF351}"/>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DF40260B-13FB-4A6D-A834-91B7FC6C4E17}"/>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El asistente afirma que una exclusión está cubierta sin leer la póliza.</a:t>
            </a:r>
          </a:p>
        </p:txBody>
      </p:sp>
      <p:sp>
        <p:nvSpPr>
          <p:cNvPr id="19" name="concept-node">
            <a:extLst xmlns:a="http://schemas.openxmlformats.org/drawingml/2006/main">
              <a:ext uri="{FF2B5EF4-FFF2-40B4-BE49-F238E27FC236}">
                <a16:creationId xmlns:a16="http://schemas.microsoft.com/office/drawing/2014/main" id="{9CC17BF4-FBC4-4F4E-B012-2D083D3D4B6C}"/>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5AF2B75F-35CD-44FE-85FA-9A80F0351A42}"/>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26453778-059B-4793-A127-650C8922BCD6}"/>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D450D14B-AB4E-4AA0-9AB1-5EBCE3875950}"/>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FC3600A6-4768-42D2-B614-9157900F73CD}"/>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Identificar</a:t>
            </a:r>
          </a:p>
        </p:txBody>
      </p:sp>
      <p:sp>
        <p:nvSpPr>
          <p:cNvPr id="24" name="node-body">
            <a:extLst xmlns:a="http://schemas.openxmlformats.org/drawingml/2006/main">
              <a:ext uri="{FF2B5EF4-FFF2-40B4-BE49-F238E27FC236}">
                <a16:creationId xmlns:a16="http://schemas.microsoft.com/office/drawing/2014/main" id="{0354C7E2-43EE-4824-9BA6-6504A2013335}"/>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 cobertura es una afirmación</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verificable.</a:t>
            </a:r>
          </a:p>
        </p:txBody>
      </p:sp>
      <p:sp>
        <p:nvSpPr>
          <p:cNvPr id="25" name="concept-node">
            <a:extLst xmlns:a="http://schemas.openxmlformats.org/drawingml/2006/main">
              <a:ext uri="{FF2B5EF4-FFF2-40B4-BE49-F238E27FC236}">
                <a16:creationId xmlns:a16="http://schemas.microsoft.com/office/drawing/2014/main" id="{9781BEA5-B6B4-40D6-BCDD-2BA368F7E135}"/>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3258D79C-09C0-4DA2-AC66-7E6D22159F53}"/>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3540C55-478B-401E-BD3B-649443552A62}"/>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FFEBB877-E888-4DFB-87E7-39CB349BF681}"/>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70C5BE2F-012D-4565-A402-85ED2F1FD77E}"/>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Buscar</a:t>
            </a:r>
          </a:p>
        </p:txBody>
      </p:sp>
      <p:sp>
        <p:nvSpPr>
          <p:cNvPr id="30" name="node-body">
            <a:extLst xmlns:a="http://schemas.openxmlformats.org/drawingml/2006/main">
              <a:ext uri="{FF2B5EF4-FFF2-40B4-BE49-F238E27FC236}">
                <a16:creationId xmlns:a16="http://schemas.microsoft.com/office/drawing/2014/main" id="{452BEC3B-31A9-4497-8C94-F0FEDF18C802}"/>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Revisar la cláusula aplicable de</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 póliza.</a:t>
            </a:r>
          </a:p>
        </p:txBody>
      </p:sp>
      <p:sp>
        <p:nvSpPr>
          <p:cNvPr id="31" name="concept-node">
            <a:extLst xmlns:a="http://schemas.openxmlformats.org/drawingml/2006/main">
              <a:ext uri="{FF2B5EF4-FFF2-40B4-BE49-F238E27FC236}">
                <a16:creationId xmlns:a16="http://schemas.microsoft.com/office/drawing/2014/main" id="{7FD7EAA1-D1FA-4494-9EB7-D22BA42C44A0}"/>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B98E43DC-4293-4D1A-8277-E6CC1DD15FA6}"/>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121C3089-C04B-4D0C-979B-4272DBC45129}"/>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3F2527E9-97A6-4D58-BC8D-0A332378B022}"/>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3BE465F5-5D50-455C-9D09-7ED074454526}"/>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Responder</a:t>
            </a:r>
          </a:p>
        </p:txBody>
      </p:sp>
      <p:sp>
        <p:nvSpPr>
          <p:cNvPr id="36" name="node-body">
            <a:extLst xmlns:a="http://schemas.openxmlformats.org/drawingml/2006/main">
              <a:ext uri="{FF2B5EF4-FFF2-40B4-BE49-F238E27FC236}">
                <a16:creationId xmlns:a16="http://schemas.microsoft.com/office/drawing/2014/main" id="{3B2C5399-91D3-47A3-9E62-C24ED8301C2B}"/>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Si no hay respaldo, reconocer el</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límite y derivar.</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0185E991-911E-4993-ADAB-4D19E96865C8}"/>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B309DCE2-0E06-4285-AD22-92E562D408D4}"/>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371A760E-8EB6-4609-B122-008FAE10C77D}"/>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No se debe prometer cobertura a partir de una continuación plausible.</a:t>
            </a:r>
          </a:p>
        </p:txBody>
      </p:sp>
      <p:sp>
        <p:nvSpPr>
          <p:cNvPr id="42" name="panel">
            <a:extLst xmlns:a="http://schemas.openxmlformats.org/drawingml/2006/main">
              <a:ext uri="{FF2B5EF4-FFF2-40B4-BE49-F238E27FC236}">
                <a16:creationId xmlns:a16="http://schemas.microsoft.com/office/drawing/2014/main" id="{F6CA8044-F99F-4A88-BB13-84271FF825E5}"/>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7F819798-B404-4B92-B126-A539B5C7DA46}"/>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Una afirmación necesita evidencia proporcional a su consecuencia.</a:t>
            </a:r>
          </a:p>
        </p:txBody>
      </p:sp>
    </p:spTree>
    <p:extLst>
      <p:ext uri="{BB962C8B-B14F-4D97-AF65-F5344CB8AC3E}">
        <p14:creationId xmlns:p14="http://schemas.microsoft.com/office/powerpoint/2010/main" val="2098429724"/>
      </p:ext>
    </p:extLst>
  </p:cSld>
</p:sld>
</file>

<file path=ppt/slides/slide2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571025DD-0F50-4771-8A98-5969B294B7CD}"/>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99C5EB3-5007-4ED4-A6C9-6E315231DD4D}"/>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728D0B15-A4E4-44B9-9E2E-9F1D535AFD11}"/>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9</a:t>
            </a:r>
          </a:p>
        </p:txBody>
      </p:sp>
      <p:sp>
        <p:nvSpPr>
          <p:cNvPr id="4" name="breadcrumb">
            <a:extLst xmlns:a="http://schemas.openxmlformats.org/drawingml/2006/main">
              <a:ext uri="{FF2B5EF4-FFF2-40B4-BE49-F238E27FC236}">
                <a16:creationId xmlns:a16="http://schemas.microsoft.com/office/drawing/2014/main" id="{C7EEECF6-D4F7-41B8-A0F3-6CBDDCC94BFA}"/>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9</a:t>
            </a:r>
          </a:p>
        </p:txBody>
      </p:sp>
      <p:sp>
        <p:nvSpPr>
          <p:cNvPr id="5" name="slide-title">
            <a:extLst xmlns:a="http://schemas.openxmlformats.org/drawingml/2006/main">
              <a:ext uri="{FF2B5EF4-FFF2-40B4-BE49-F238E27FC236}">
                <a16:creationId xmlns:a16="http://schemas.microsoft.com/office/drawing/2014/main" id="{5CD6177D-212C-43B2-A9D5-B8D2E2A2CBCD}"/>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Tres defensas complementarias</a:t>
            </a:r>
          </a:p>
        </p:txBody>
      </p:sp>
      <p:sp>
        <p:nvSpPr>
          <p:cNvPr id="6" name="learning-purpose">
            <a:extLst xmlns:a="http://schemas.openxmlformats.org/drawingml/2006/main">
              <a:ext uri="{FF2B5EF4-FFF2-40B4-BE49-F238E27FC236}">
                <a16:creationId xmlns:a16="http://schemas.microsoft.com/office/drawing/2014/main" id="{56148B28-367C-464C-B486-387742688AD7}"/>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Distinguir instrucciones, fuentes y comprobaciones de salida.</a:t>
            </a:r>
          </a:p>
        </p:txBody>
      </p:sp>
      <p:sp>
        <p:nvSpPr>
          <p:cNvPr id="7" name="panel">
            <a:extLst xmlns:a="http://schemas.openxmlformats.org/drawingml/2006/main">
              <a:ext uri="{FF2B5EF4-FFF2-40B4-BE49-F238E27FC236}">
                <a16:creationId xmlns:a16="http://schemas.microsoft.com/office/drawing/2014/main" id="{5E6C7291-560C-45A4-8028-C07CFB4224F8}"/>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80BCEB51-FE44-42DC-BBAF-BBEFD039DBF8}"/>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707655A5-80B0-4923-8ED1-06F501D2481B}"/>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FD2B95BD-15CF-4A58-BE7F-264D28942DC7}"/>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908E5B84-A19A-47F4-80D3-008AE2CFA4B3}"/>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329C64E7-0984-47EA-B45E-F7D053B27181}"/>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17803952-76E7-47C7-A648-8477FF5B933A}"/>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C09</a:t>
            </a:r>
          </a:p>
        </p:txBody>
      </p:sp>
      <p:sp>
        <p:nvSpPr>
          <p:cNvPr id="14" name="folio">
            <a:extLst xmlns:a="http://schemas.openxmlformats.org/drawingml/2006/main">
              <a:ext uri="{FF2B5EF4-FFF2-40B4-BE49-F238E27FC236}">
                <a16:creationId xmlns:a16="http://schemas.microsoft.com/office/drawing/2014/main" id="{60E18345-0088-4B05-B0B5-D737CDB14878}"/>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25</a:t>
            </a:r>
          </a:p>
        </p:txBody>
      </p:sp>
      <p:sp>
        <p:nvSpPr>
          <p:cNvPr id="15" name="section-label">
            <a:extLst xmlns:a="http://schemas.openxmlformats.org/drawingml/2006/main">
              <a:ext uri="{FF2B5EF4-FFF2-40B4-BE49-F238E27FC236}">
                <a16:creationId xmlns:a16="http://schemas.microsoft.com/office/drawing/2014/main" id="{18341624-A1B2-478E-931C-38E570AC3F92}"/>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SEGUIR LA RELACIÓN ENTRE LAS PIEZAS</a:t>
            </a:r>
          </a:p>
        </p:txBody>
      </p:sp>
      <p:sp>
        <p:nvSpPr>
          <p:cNvPr id="16" name="concept-node">
            <a:extLst xmlns:a="http://schemas.openxmlformats.org/drawingml/2006/main">
              <a:ext uri="{FF2B5EF4-FFF2-40B4-BE49-F238E27FC236}">
                <a16:creationId xmlns:a16="http://schemas.microsoft.com/office/drawing/2014/main" id="{4BB31FED-3FE8-472B-B848-278F2DA36BBF}"/>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AC2FEBA1-687F-4550-8D4E-AE8DE1E557A5}"/>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B0ACE9E7-AEE8-449B-82EF-9FB93357A755}"/>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EAB6B7C2-E0AB-48D4-9276-CB343C35F0BF}"/>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67BDCB1B-ED06-48A7-9FFB-EB76D7691F73}"/>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Prompt</a:t>
            </a:r>
          </a:p>
        </p:txBody>
      </p:sp>
      <p:sp>
        <p:nvSpPr>
          <p:cNvPr id="21" name="node-body">
            <a:extLst xmlns:a="http://schemas.openxmlformats.org/drawingml/2006/main">
              <a:ext uri="{FF2B5EF4-FFF2-40B4-BE49-F238E27FC236}">
                <a16:creationId xmlns:a16="http://schemas.microsoft.com/office/drawing/2014/main" id="{920BCEDE-393C-4A8C-9555-739DF520389C}"/>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Define tarea, límites y cómo</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expresar incertidumbre.</a:t>
            </a:r>
          </a:p>
        </p:txBody>
      </p:sp>
      <p:sp>
        <p:nvSpPr>
          <p:cNvPr id="22" name="concept-node">
            <a:extLst xmlns:a="http://schemas.openxmlformats.org/drawingml/2006/main">
              <a:ext uri="{FF2B5EF4-FFF2-40B4-BE49-F238E27FC236}">
                <a16:creationId xmlns:a16="http://schemas.microsoft.com/office/drawing/2014/main" id="{6CB1FDF7-D3FE-4A45-9E5A-6929442B9ADD}"/>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9955B401-2EFE-4A8B-B5AA-42610B2B8851}"/>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500E1A9-72F8-4160-B57B-7D809C035A23}"/>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66AB7005-AD01-44C7-A687-1AC4890BEB1E}"/>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CD426EBD-CF05-433E-9DD5-92606495B8C5}"/>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Fuente externa</a:t>
            </a:r>
          </a:p>
        </p:txBody>
      </p:sp>
      <p:sp>
        <p:nvSpPr>
          <p:cNvPr id="27" name="node-body">
            <a:extLst xmlns:a="http://schemas.openxmlformats.org/drawingml/2006/main">
              <a:ext uri="{FF2B5EF4-FFF2-40B4-BE49-F238E27FC236}">
                <a16:creationId xmlns:a16="http://schemas.microsoft.com/office/drawing/2014/main" id="{82359D79-1A01-40F0-B350-5637D2BECB79}"/>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Tools o RAG aportan datos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pertinentes al caso.</a:t>
            </a:r>
          </a:p>
        </p:txBody>
      </p:sp>
      <p:sp>
        <p:nvSpPr>
          <p:cNvPr id="28" name="concept-node">
            <a:extLst xmlns:a="http://schemas.openxmlformats.org/drawingml/2006/main">
              <a:ext uri="{FF2B5EF4-FFF2-40B4-BE49-F238E27FC236}">
                <a16:creationId xmlns:a16="http://schemas.microsoft.com/office/drawing/2014/main" id="{AF40E3A7-AFA9-487E-92EC-DE22A794082B}"/>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3D2EA75B-0301-45D3-AABC-366ED14E4890}"/>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AEBAD7F-6986-4DD0-995C-0EE61D2B4AA9}"/>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CEDF2339-B8CC-40BC-9FD1-9F6CA389388F}"/>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6DE503EF-0E26-4B03-8C1E-85DEA40A0CB3}"/>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Validación</a:t>
            </a:r>
          </a:p>
        </p:txBody>
      </p:sp>
      <p:sp>
        <p:nvSpPr>
          <p:cNvPr id="33" name="node-body">
            <a:extLst xmlns:a="http://schemas.openxmlformats.org/drawingml/2006/main">
              <a:ext uri="{FF2B5EF4-FFF2-40B4-BE49-F238E27FC236}">
                <a16:creationId xmlns:a16="http://schemas.microsoft.com/office/drawing/2014/main" id="{B401F392-0B78-4B95-B54F-50ACA95C20AF}"/>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Comprueba formato,</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restricciones y evidencia</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requerida.</a:t>
            </a:r>
          </a:p>
        </p:txBody>
      </p:sp>
      <p:cxnSp>
        <p:nvCxnSpPr>
          <p:cNvPr id="77" name=""/>
          <p:cNvCxnSpPr>
            <a:stCxn xmlns:a="http://schemas.openxmlformats.org/drawingml/2006/main" id="16" idx="3"/>
            <a:endCxn xmlns:a="http://schemas.openxmlformats.org/drawingml/2006/main" id="22" idx="1"/>
          </p:cNvCxnSpPr>
          <p:nvPr/>
        </p:nvCxnSpPr>
        <p:spPr>
          <a:xfrm xmlns:a="http://schemas.openxmlformats.org/drawingml/2006/main">
            <a:off x="495300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78" name=""/>
          <p:cNvCxnSpPr>
            <a:stCxn xmlns:a="http://schemas.openxmlformats.org/drawingml/2006/main" id="22" idx="3"/>
            <a:endCxn xmlns:a="http://schemas.openxmlformats.org/drawingml/2006/main" id="28" idx="1"/>
          </p:cNvCxnSpPr>
          <p:nvPr/>
        </p:nvCxnSpPr>
        <p:spPr>
          <a:xfrm xmlns:a="http://schemas.openxmlformats.org/drawingml/2006/main">
            <a:off x="981075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6" name="panel">
            <a:extLst xmlns:a="http://schemas.openxmlformats.org/drawingml/2006/main">
              <a:ext uri="{FF2B5EF4-FFF2-40B4-BE49-F238E27FC236}">
                <a16:creationId xmlns:a16="http://schemas.microsoft.com/office/drawing/2014/main" id="{46AE21F9-C2AF-4723-821C-80E27DDD1AAD}"/>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7" name="section-label">
            <a:extLst xmlns:a="http://schemas.openxmlformats.org/drawingml/2006/main">
              <a:ext uri="{FF2B5EF4-FFF2-40B4-BE49-F238E27FC236}">
                <a16:creationId xmlns:a16="http://schemas.microsoft.com/office/drawing/2014/main" id="{0BA5537C-0182-4E2F-9D8F-E4977B1671E4}"/>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8" name="concept-question">
            <a:extLst xmlns:a="http://schemas.openxmlformats.org/drawingml/2006/main">
              <a:ext uri="{FF2B5EF4-FFF2-40B4-BE49-F238E27FC236}">
                <a16:creationId xmlns:a16="http://schemas.microsoft.com/office/drawing/2014/main" id="{C162A653-3A99-4A2B-A74C-159CE2D1EBE5}"/>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¿Qué defensa faltaría si el JSON es correcto pero el dato es</a:t>
            </a:r>
          </a:p>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inventado?</a:t>
            </a:r>
          </a:p>
        </p:txBody>
      </p:sp>
      <p:sp>
        <p:nvSpPr>
          <p:cNvPr id="39" name="panel">
            <a:extLst xmlns:a="http://schemas.openxmlformats.org/drawingml/2006/main">
              <a:ext uri="{FF2B5EF4-FFF2-40B4-BE49-F238E27FC236}">
                <a16:creationId xmlns:a16="http://schemas.microsoft.com/office/drawing/2014/main" id="{0AB45E65-3A1A-43D3-8E09-11975A8C3CB0}"/>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40" name="misconception-label">
            <a:extLst xmlns:a="http://schemas.openxmlformats.org/drawingml/2006/main">
              <a:ext uri="{FF2B5EF4-FFF2-40B4-BE49-F238E27FC236}">
                <a16:creationId xmlns:a16="http://schemas.microsoft.com/office/drawing/2014/main" id="{0D17BB9D-3323-4798-9112-6E9B63978EAF}"/>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41" name="misconception">
            <a:extLst xmlns:a="http://schemas.openxmlformats.org/drawingml/2006/main">
              <a:ext uri="{FF2B5EF4-FFF2-40B4-BE49-F238E27FC236}">
                <a16:creationId xmlns:a16="http://schemas.microsoft.com/office/drawing/2014/main" id="{904CA3B8-C6EB-45DA-B35B-D6B969EE626C}"/>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Creer que una instrucción de no alucinar</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basta.</a:t>
            </a:r>
          </a:p>
        </p:txBody>
      </p:sp>
      <p:sp>
        <p:nvSpPr>
          <p:cNvPr id="42" name="panel">
            <a:extLst xmlns:a="http://schemas.openxmlformats.org/drawingml/2006/main">
              <a:ext uri="{FF2B5EF4-FFF2-40B4-BE49-F238E27FC236}">
                <a16:creationId xmlns:a16="http://schemas.microsoft.com/office/drawing/2014/main" id="{083E74B1-70AE-4DB9-902D-F6CF22FE2C3D}"/>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4654BCFF-E48F-4B40-B46E-DEBB4120635A}"/>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Ninguna defensa aislada elimina todos los errores.</a:t>
            </a:r>
          </a:p>
        </p:txBody>
      </p:sp>
    </p:spTree>
    <p:extLst>
      <p:ext uri="{BB962C8B-B14F-4D97-AF65-F5344CB8AC3E}">
        <p14:creationId xmlns:p14="http://schemas.microsoft.com/office/powerpoint/2010/main" val="1450168589"/>
      </p:ext>
    </p:extLst>
  </p:cSld>
</p:sld>
</file>

<file path=ppt/slides/slide2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D6C5410A-1182-4309-993D-FB19685E2348}"/>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F4C000B-FBDB-4429-9AE6-E12039985368}"/>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35110FAF-E534-48CB-AA3D-7FBDA910EC42}"/>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9</a:t>
            </a:r>
          </a:p>
        </p:txBody>
      </p:sp>
      <p:sp>
        <p:nvSpPr>
          <p:cNvPr id="4" name="breadcrumb">
            <a:extLst xmlns:a="http://schemas.openxmlformats.org/drawingml/2006/main">
              <a:ext uri="{FF2B5EF4-FFF2-40B4-BE49-F238E27FC236}">
                <a16:creationId xmlns:a16="http://schemas.microsoft.com/office/drawing/2014/main" id="{5AF07E74-179D-42D3-A5F4-92B1F28273C5}"/>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9</a:t>
            </a:r>
          </a:p>
        </p:txBody>
      </p:sp>
      <p:sp>
        <p:nvSpPr>
          <p:cNvPr id="5" name="slide-title">
            <a:extLst xmlns:a="http://schemas.openxmlformats.org/drawingml/2006/main">
              <a:ext uri="{FF2B5EF4-FFF2-40B4-BE49-F238E27FC236}">
                <a16:creationId xmlns:a16="http://schemas.microsoft.com/office/drawing/2014/main" id="{EBE4F85B-35BB-46B5-9A56-EA1BFE1F56B1}"/>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Qué protege cada defensa</a:t>
            </a:r>
          </a:p>
        </p:txBody>
      </p:sp>
      <p:sp>
        <p:nvSpPr>
          <p:cNvPr id="6" name="learning-purpose">
            <a:extLst xmlns:a="http://schemas.openxmlformats.org/drawingml/2006/main">
              <a:ext uri="{FF2B5EF4-FFF2-40B4-BE49-F238E27FC236}">
                <a16:creationId xmlns:a16="http://schemas.microsoft.com/office/drawing/2014/main" id="{89C127F3-9059-42EB-9CF2-7FCD53C96486}"/>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Distinguir instrucciones, fuentes y comprobaciones de salida.</a:t>
            </a:r>
          </a:p>
        </p:txBody>
      </p:sp>
      <p:sp>
        <p:nvSpPr>
          <p:cNvPr id="7" name="panel">
            <a:extLst xmlns:a="http://schemas.openxmlformats.org/drawingml/2006/main">
              <a:ext uri="{FF2B5EF4-FFF2-40B4-BE49-F238E27FC236}">
                <a16:creationId xmlns:a16="http://schemas.microsoft.com/office/drawing/2014/main" id="{F1C4F6E7-88B8-4F88-B914-177FED869F87}"/>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64DEBDD5-9557-4240-906A-2428AA81EC1F}"/>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4D55D2D2-DAD9-4449-8C62-271791D45133}"/>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306CE087-195A-4E9F-9AF2-45E6CC2E9CE1}"/>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2731305D-E9D0-4F33-AEB6-21BFA8539BA2}"/>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A7395B6C-2C9B-4F2A-8F75-C588578439F0}"/>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24C5A656-69FC-475D-946C-1202B813DA48}"/>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C09</a:t>
            </a:r>
          </a:p>
        </p:txBody>
      </p:sp>
      <p:sp>
        <p:nvSpPr>
          <p:cNvPr id="14" name="folio">
            <a:extLst xmlns:a="http://schemas.openxmlformats.org/drawingml/2006/main">
              <a:ext uri="{FF2B5EF4-FFF2-40B4-BE49-F238E27FC236}">
                <a16:creationId xmlns:a16="http://schemas.microsoft.com/office/drawing/2014/main" id="{BD51111A-D5D5-4A21-9657-09E8F19B923B}"/>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26</a:t>
            </a:r>
          </a:p>
        </p:txBody>
      </p:sp>
      <p:sp>
        <p:nvSpPr>
          <p:cNvPr id="15" name="section-label">
            <a:extLst xmlns:a="http://schemas.openxmlformats.org/drawingml/2006/main">
              <a:ext uri="{FF2B5EF4-FFF2-40B4-BE49-F238E27FC236}">
                <a16:creationId xmlns:a16="http://schemas.microsoft.com/office/drawing/2014/main" id="{6A328EEF-352C-4AC3-8B15-1CC08A34BDEB}"/>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Antes</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Delimitar la tarea y la información que puede usar.</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Durante</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Consultar el sistema o documento correcto.</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Después</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Revisar dato, cita y límites antes de mostrar la</a:t>
                      </a:r>
                    </a:p>
                    <a:p>
                      <a:r>
                        <a:rPr sz="1875" b="0">
                          <a:solidFill>
                            <a:srgbClr val="1E293B"/>
                          </a:solidFill>
                          <a:latin typeface="DejaVu Sans"/>
                          <a:ea typeface="DejaVu Sans"/>
                          <a:cs typeface="DejaVu Sans"/>
                        </a:rPr>
                        <a:t>respuesta.</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341F72B6-08A9-44A3-AC71-BA90179D6CC0}"/>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4C5D7F1F-DAEF-4394-9AA5-EBB9BD59FB8A}"/>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6050ED42-1820-4288-902B-DCFF974FA494}"/>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Creer que una instrucción de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no alucinar basta.</a:t>
            </a:r>
          </a:p>
        </p:txBody>
      </p:sp>
      <p:sp>
        <p:nvSpPr>
          <p:cNvPr id="20" name="development-prompt">
            <a:extLst xmlns:a="http://schemas.openxmlformats.org/drawingml/2006/main">
              <a:ext uri="{FF2B5EF4-FFF2-40B4-BE49-F238E27FC236}">
                <a16:creationId xmlns:a16="http://schemas.microsoft.com/office/drawing/2014/main" id="{CFBD66E7-5E53-4095-B147-E41FDBAF9A13}"/>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EBABAF93-3D15-405B-B0DD-BA9FED1176AD}"/>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38F3504F-1EEF-43E6-8D1E-4F7A1D200C85}"/>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9AF4124F-01D5-4CB1-8653-D914F64E6CEA}"/>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¿Qué defensa faltaría si el JSON es correcto pero el dato es inventado?</a:t>
            </a:r>
          </a:p>
        </p:txBody>
      </p:sp>
      <p:sp>
        <p:nvSpPr>
          <p:cNvPr id="24" name="panel">
            <a:extLst xmlns:a="http://schemas.openxmlformats.org/drawingml/2006/main">
              <a:ext uri="{FF2B5EF4-FFF2-40B4-BE49-F238E27FC236}">
                <a16:creationId xmlns:a16="http://schemas.microsoft.com/office/drawing/2014/main" id="{DE74CAC3-E780-4D44-A73A-AFE876F34242}"/>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AD957DB6-0F47-462C-B14F-79CCC0AFEC5E}"/>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Ninguna defensa aislada elimina todos los errores.</a:t>
            </a:r>
          </a:p>
        </p:txBody>
      </p:sp>
    </p:spTree>
    <p:extLst>
      <p:ext uri="{BB962C8B-B14F-4D97-AF65-F5344CB8AC3E}">
        <p14:creationId xmlns:p14="http://schemas.microsoft.com/office/powerpoint/2010/main" val="1153076447"/>
      </p:ext>
    </p:extLst>
  </p:cSld>
</p:sld>
</file>

<file path=ppt/slides/slide2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6ADE977C-E63C-49BD-A3FE-8838707EAD25}"/>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ADC9CFA-D515-47C8-94FD-057679739708}"/>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3CA40A52-D3F8-4FC3-82C8-5C2FF7B747F3}"/>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9</a:t>
            </a:r>
          </a:p>
        </p:txBody>
      </p:sp>
      <p:sp>
        <p:nvSpPr>
          <p:cNvPr id="4" name="breadcrumb">
            <a:extLst xmlns:a="http://schemas.openxmlformats.org/drawingml/2006/main">
              <a:ext uri="{FF2B5EF4-FFF2-40B4-BE49-F238E27FC236}">
                <a16:creationId xmlns:a16="http://schemas.microsoft.com/office/drawing/2014/main" id="{F2607771-587E-4041-9908-674032464848}"/>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9</a:t>
            </a:r>
          </a:p>
        </p:txBody>
      </p:sp>
      <p:sp>
        <p:nvSpPr>
          <p:cNvPr id="5" name="slide-title">
            <a:extLst xmlns:a="http://schemas.openxmlformats.org/drawingml/2006/main">
              <a:ext uri="{FF2B5EF4-FFF2-40B4-BE49-F238E27FC236}">
                <a16:creationId xmlns:a16="http://schemas.microsoft.com/office/drawing/2014/main" id="{55C30F83-548E-4305-8824-DF1F2BD23ABA}"/>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Tres defensas complementarias</a:t>
            </a:r>
          </a:p>
        </p:txBody>
      </p:sp>
      <p:sp>
        <p:nvSpPr>
          <p:cNvPr id="6" name="learning-purpose">
            <a:extLst xmlns:a="http://schemas.openxmlformats.org/drawingml/2006/main">
              <a:ext uri="{FF2B5EF4-FFF2-40B4-BE49-F238E27FC236}">
                <a16:creationId xmlns:a16="http://schemas.microsoft.com/office/drawing/2014/main" id="{B7EDEB2D-6A19-4AE8-8817-545691C9C520}"/>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Distinguir instrucciones, fuentes y comprobaciones de salida.</a:t>
            </a:r>
          </a:p>
        </p:txBody>
      </p:sp>
      <p:sp>
        <p:nvSpPr>
          <p:cNvPr id="7" name="panel">
            <a:extLst xmlns:a="http://schemas.openxmlformats.org/drawingml/2006/main">
              <a:ext uri="{FF2B5EF4-FFF2-40B4-BE49-F238E27FC236}">
                <a16:creationId xmlns:a16="http://schemas.microsoft.com/office/drawing/2014/main" id="{9817BDE6-0DDC-460A-9832-B16ABEE31491}"/>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D6AD6F72-4D8D-4759-8F32-9ADB01C8F52A}"/>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4B927A6B-2604-455F-BC50-CA8213828A68}"/>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CED5547B-F26F-4C1C-BF04-ABCCA5D4AF38}"/>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9D1F96A6-9B05-4063-B0B0-D5301F1AEDE8}"/>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8DBE2639-D116-45BF-966C-0BECDE41F4B2}"/>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06EDCFA0-F1C1-47ED-9054-50F8AA7F4607}"/>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C09</a:t>
            </a:r>
          </a:p>
        </p:txBody>
      </p:sp>
      <p:sp>
        <p:nvSpPr>
          <p:cNvPr id="14" name="folio">
            <a:extLst xmlns:a="http://schemas.openxmlformats.org/drawingml/2006/main">
              <a:ext uri="{FF2B5EF4-FFF2-40B4-BE49-F238E27FC236}">
                <a16:creationId xmlns:a16="http://schemas.microsoft.com/office/drawing/2014/main" id="{01962DA0-1CC8-404A-AF20-B72FF4549F7C}"/>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27</a:t>
            </a:r>
          </a:p>
        </p:txBody>
      </p:sp>
      <p:sp>
        <p:nvSpPr>
          <p:cNvPr id="15" name="section-label">
            <a:extLst xmlns:a="http://schemas.openxmlformats.org/drawingml/2006/main">
              <a:ext uri="{FF2B5EF4-FFF2-40B4-BE49-F238E27FC236}">
                <a16:creationId xmlns:a16="http://schemas.microsoft.com/office/drawing/2014/main" id="{F3E5555D-2255-4932-AFD5-5B1A25CAD262}"/>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BANCO INTI · CASO DIDÁCTICO</a:t>
            </a:r>
          </a:p>
        </p:txBody>
      </p:sp>
      <p:sp>
        <p:nvSpPr>
          <p:cNvPr id="16" name="panel">
            <a:extLst xmlns:a="http://schemas.openxmlformats.org/drawingml/2006/main">
              <a:ext uri="{FF2B5EF4-FFF2-40B4-BE49-F238E27FC236}">
                <a16:creationId xmlns:a16="http://schemas.microsoft.com/office/drawing/2014/main" id="{89E8115A-71F8-4227-B265-33695E11ABB2}"/>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02D1EEF6-C41F-4B0F-9FE5-94CFE67389A7}"/>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98C93F25-E8F5-41FB-A301-65785A4C12E7}"/>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El cliente pregunta una comisión que depende de su producto.</a:t>
            </a:r>
          </a:p>
        </p:txBody>
      </p:sp>
      <p:sp>
        <p:nvSpPr>
          <p:cNvPr id="19" name="concept-node">
            <a:extLst xmlns:a="http://schemas.openxmlformats.org/drawingml/2006/main">
              <a:ext uri="{FF2B5EF4-FFF2-40B4-BE49-F238E27FC236}">
                <a16:creationId xmlns:a16="http://schemas.microsoft.com/office/drawing/2014/main" id="{20EB479F-6ECB-4A1B-8F97-1E1950F68B72}"/>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7273C3A3-F3D1-44A8-BA7A-D224939D2DF5}"/>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D875021-F1D2-49A4-BAD1-69F406C4CCE9}"/>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4F7C09B1-53BB-428B-8293-D1FB794799FF}"/>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B9599494-57D3-44F5-AACF-99B9D4BA56F5}"/>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Instruir</a:t>
            </a:r>
          </a:p>
        </p:txBody>
      </p:sp>
      <p:sp>
        <p:nvSpPr>
          <p:cNvPr id="24" name="node-body">
            <a:extLst xmlns:a="http://schemas.openxmlformats.org/drawingml/2006/main">
              <a:ext uri="{FF2B5EF4-FFF2-40B4-BE49-F238E27FC236}">
                <a16:creationId xmlns:a16="http://schemas.microsoft.com/office/drawing/2014/main" id="{D1D192D2-5512-4D87-B1D4-B06A48E8E546}"/>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No inventar importes ni</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condiciones.</a:t>
            </a:r>
          </a:p>
        </p:txBody>
      </p:sp>
      <p:sp>
        <p:nvSpPr>
          <p:cNvPr id="25" name="concept-node">
            <a:extLst xmlns:a="http://schemas.openxmlformats.org/drawingml/2006/main">
              <a:ext uri="{FF2B5EF4-FFF2-40B4-BE49-F238E27FC236}">
                <a16:creationId xmlns:a16="http://schemas.microsoft.com/office/drawing/2014/main" id="{43B8A399-5EA7-4BFB-9B2B-0222D2C486F0}"/>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FDB2A60C-E1BA-4AC1-8B30-B0C1F2F2DD5A}"/>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B1C4EC3-439C-476E-86F0-341FA615C221}"/>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98D0A149-F17F-4585-B134-8F7AC65DE60C}"/>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F3A1ECC1-46BE-4CCC-80C9-D0629FB0BBEF}"/>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Consultar</a:t>
            </a:r>
          </a:p>
        </p:txBody>
      </p:sp>
      <p:sp>
        <p:nvSpPr>
          <p:cNvPr id="30" name="node-body">
            <a:extLst xmlns:a="http://schemas.openxmlformats.org/drawingml/2006/main">
              <a:ext uri="{FF2B5EF4-FFF2-40B4-BE49-F238E27FC236}">
                <a16:creationId xmlns:a16="http://schemas.microsoft.com/office/drawing/2014/main" id="{34C9C1BA-7634-4DFB-9B16-06A31AC3C71B}"/>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Obtener información del</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producto y la norma pertinente.</a:t>
            </a:r>
          </a:p>
        </p:txBody>
      </p:sp>
      <p:sp>
        <p:nvSpPr>
          <p:cNvPr id="31" name="concept-node">
            <a:extLst xmlns:a="http://schemas.openxmlformats.org/drawingml/2006/main">
              <a:ext uri="{FF2B5EF4-FFF2-40B4-BE49-F238E27FC236}">
                <a16:creationId xmlns:a16="http://schemas.microsoft.com/office/drawing/2014/main" id="{53030E4E-FBDE-40FA-B441-F43B908F2B1B}"/>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CD434D7A-8781-4569-A796-A85E4D3CF467}"/>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53B86D35-8B66-4381-8414-D8EB22FD7315}"/>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882B903D-0F82-4B73-B8D1-96666C10CE86}"/>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ED96A7DA-1CCC-4CD6-B0F4-905B4B553DAE}"/>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Comprobar</a:t>
            </a:r>
          </a:p>
        </p:txBody>
      </p:sp>
      <p:sp>
        <p:nvSpPr>
          <p:cNvPr id="36" name="node-body">
            <a:extLst xmlns:a="http://schemas.openxmlformats.org/drawingml/2006/main">
              <a:ext uri="{FF2B5EF4-FFF2-40B4-BE49-F238E27FC236}">
                <a16:creationId xmlns:a16="http://schemas.microsoft.com/office/drawing/2014/main" id="{1F64CB83-0CB0-4C9A-B808-F266F277C369}"/>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 respuesta debe coincidir con</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lo recuperado.</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B12987DD-3B54-461C-98D3-DE7FEB0E247A}"/>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A83D1F3E-F648-4E9F-98EE-8791856024A2}"/>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98525027-AD2F-4563-A2FE-AC8591B329CC}"/>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Si no se obtiene la fuente, se informa el límite; no se rellena el vacío.</a:t>
            </a:r>
          </a:p>
        </p:txBody>
      </p:sp>
      <p:sp>
        <p:nvSpPr>
          <p:cNvPr id="42" name="panel">
            <a:extLst xmlns:a="http://schemas.openxmlformats.org/drawingml/2006/main">
              <a:ext uri="{FF2B5EF4-FFF2-40B4-BE49-F238E27FC236}">
                <a16:creationId xmlns:a16="http://schemas.microsoft.com/office/drawing/2014/main" id="{B02EBC4D-3E38-495B-93ED-A32F97D75991}"/>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A1869C82-25E7-4668-BCD0-CC60C3277C7F}"/>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Ninguna defensa aislada elimina todos los errores.</a:t>
            </a:r>
          </a:p>
        </p:txBody>
      </p:sp>
    </p:spTree>
    <p:extLst>
      <p:ext uri="{BB962C8B-B14F-4D97-AF65-F5344CB8AC3E}">
        <p14:creationId xmlns:p14="http://schemas.microsoft.com/office/powerpoint/2010/main" val="1447315080"/>
      </p:ext>
    </p:extLst>
  </p:cSld>
</p:sld>
</file>

<file path=ppt/slides/slide2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9DEC808D-C51F-4DDD-9453-64A6D6B4FDAC}"/>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9A7F01-8F53-48A7-871D-E57A39023056}"/>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11849697-F50A-4526-A626-F9345B96DBB2}"/>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10</a:t>
            </a:r>
          </a:p>
        </p:txBody>
      </p:sp>
      <p:sp>
        <p:nvSpPr>
          <p:cNvPr id="4" name="breadcrumb">
            <a:extLst xmlns:a="http://schemas.openxmlformats.org/drawingml/2006/main">
              <a:ext uri="{FF2B5EF4-FFF2-40B4-BE49-F238E27FC236}">
                <a16:creationId xmlns:a16="http://schemas.microsoft.com/office/drawing/2014/main" id="{A825EE02-78A6-48A2-98C9-F36AA9D78DA7}"/>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10</a:t>
            </a:r>
          </a:p>
        </p:txBody>
      </p:sp>
      <p:sp>
        <p:nvSpPr>
          <p:cNvPr id="5" name="slide-title">
            <a:extLst xmlns:a="http://schemas.openxmlformats.org/drawingml/2006/main">
              <a:ext uri="{FF2B5EF4-FFF2-40B4-BE49-F238E27FC236}">
                <a16:creationId xmlns:a16="http://schemas.microsoft.com/office/drawing/2014/main" id="{9AC299B2-4DB5-45C8-844E-DF91C881BE43}"/>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Embeddings: representación vectorial</a:t>
            </a:r>
          </a:p>
        </p:txBody>
      </p:sp>
      <p:sp>
        <p:nvSpPr>
          <p:cNvPr id="6" name="learning-purpose">
            <a:extLst xmlns:a="http://schemas.openxmlformats.org/drawingml/2006/main">
              <a:ext uri="{FF2B5EF4-FFF2-40B4-BE49-F238E27FC236}">
                <a16:creationId xmlns:a16="http://schemas.microsoft.com/office/drawing/2014/main" id="{4F85FEC2-6B13-4FFF-8FD4-910199493E8E}"/>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Relacionar texto y vector sin atribuir significado humano a cada coordenada.</a:t>
            </a:r>
          </a:p>
        </p:txBody>
      </p:sp>
      <p:sp>
        <p:nvSpPr>
          <p:cNvPr id="7" name="panel">
            <a:extLst xmlns:a="http://schemas.openxmlformats.org/drawingml/2006/main">
              <a:ext uri="{FF2B5EF4-FFF2-40B4-BE49-F238E27FC236}">
                <a16:creationId xmlns:a16="http://schemas.microsoft.com/office/drawing/2014/main" id="{15E836C6-892E-46EE-9513-6F2A978642DB}"/>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D3F4B274-C48D-4CFE-8A83-AE0FCD308011}"/>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55CD3DEB-4E99-4062-B0A6-7CEA5E275C14}"/>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93DCCDA2-9032-450F-8B64-CBAA51D16212}"/>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2D71B3CB-A57D-423A-AA51-A4549A7CB084}"/>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C7B33D32-677A-4A54-82DF-BB58C8740ACA}"/>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50823CA3-BD5B-47C0-8D1A-CE698FEF5B8C}"/>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C10</a:t>
            </a:r>
          </a:p>
        </p:txBody>
      </p:sp>
      <p:sp>
        <p:nvSpPr>
          <p:cNvPr id="14" name="folio">
            <a:extLst xmlns:a="http://schemas.openxmlformats.org/drawingml/2006/main">
              <a:ext uri="{FF2B5EF4-FFF2-40B4-BE49-F238E27FC236}">
                <a16:creationId xmlns:a16="http://schemas.microsoft.com/office/drawing/2014/main" id="{D93F1438-BD41-45C2-880A-7A6EACF31711}"/>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28</a:t>
            </a:r>
          </a:p>
        </p:txBody>
      </p:sp>
      <p:sp>
        <p:nvSpPr>
          <p:cNvPr id="15" name="section-label">
            <a:extLst xmlns:a="http://schemas.openxmlformats.org/drawingml/2006/main">
              <a:ext uri="{FF2B5EF4-FFF2-40B4-BE49-F238E27FC236}">
                <a16:creationId xmlns:a16="http://schemas.microsoft.com/office/drawing/2014/main" id="{FBC843F5-92EA-4A4B-ABEC-100CD291DD2D}"/>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SEGUIR LA RELACIÓN ENTRE LAS PIEZAS</a:t>
            </a:r>
          </a:p>
        </p:txBody>
      </p:sp>
      <p:sp>
        <p:nvSpPr>
          <p:cNvPr id="16" name="concept-node">
            <a:extLst xmlns:a="http://schemas.openxmlformats.org/drawingml/2006/main">
              <a:ext uri="{FF2B5EF4-FFF2-40B4-BE49-F238E27FC236}">
                <a16:creationId xmlns:a16="http://schemas.microsoft.com/office/drawing/2014/main" id="{34971149-BEE0-4587-B234-8A4947A3FDD2}"/>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0D8DEBA8-E774-4BD8-BF6A-FA7DD8015B9A}"/>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64FA240-F5CB-456C-BB2E-3AE83346C09B}"/>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B14BD4CA-5BAF-4EA2-A026-3C14C0B38DA4}"/>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2E3E8532-9A88-478B-B26A-69387FEC0C42}"/>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Texto</a:t>
            </a:r>
          </a:p>
        </p:txBody>
      </p:sp>
      <p:sp>
        <p:nvSpPr>
          <p:cNvPr id="21" name="node-body">
            <a:extLst xmlns:a="http://schemas.openxmlformats.org/drawingml/2006/main">
              <a:ext uri="{FF2B5EF4-FFF2-40B4-BE49-F238E27FC236}">
                <a16:creationId xmlns:a16="http://schemas.microsoft.com/office/drawing/2014/main" id="{63A57849-DF4D-4038-AC51-88F3EEE1387E}"/>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Una consulta o fragmento</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que se quiere representar.</a:t>
            </a:r>
          </a:p>
        </p:txBody>
      </p:sp>
      <p:sp>
        <p:nvSpPr>
          <p:cNvPr id="22" name="concept-node">
            <a:extLst xmlns:a="http://schemas.openxmlformats.org/drawingml/2006/main">
              <a:ext uri="{FF2B5EF4-FFF2-40B4-BE49-F238E27FC236}">
                <a16:creationId xmlns:a16="http://schemas.microsoft.com/office/drawing/2014/main" id="{5160B035-2B18-45A3-8523-27710BA30E5B}"/>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2C64957C-419D-4E73-9E39-5C1A7E8F3F54}"/>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5A2C5573-0A62-4D22-B050-7FF7FC0DA642}"/>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FF6F4C2B-944E-4A77-965D-F93BCAF0A97B}"/>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F3FCA0AA-4A59-4BA9-9418-EE7B7CC5251F}"/>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Modelo de</a:t>
            </a:r>
          </a:p>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embeddings</a:t>
            </a:r>
          </a:p>
        </p:txBody>
      </p:sp>
      <p:sp>
        <p:nvSpPr>
          <p:cNvPr id="27" name="node-body">
            <a:extLst xmlns:a="http://schemas.openxmlformats.org/drawingml/2006/main">
              <a:ext uri="{FF2B5EF4-FFF2-40B4-BE49-F238E27FC236}">
                <a16:creationId xmlns:a16="http://schemas.microsoft.com/office/drawing/2014/main" id="{A1C871A4-57E6-469B-99D4-9134455AD1F0}"/>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Transforma el texto en un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vector de dimensión fija.</a:t>
            </a:r>
          </a:p>
        </p:txBody>
      </p:sp>
      <p:sp>
        <p:nvSpPr>
          <p:cNvPr id="28" name="concept-node">
            <a:extLst xmlns:a="http://schemas.openxmlformats.org/drawingml/2006/main">
              <a:ext uri="{FF2B5EF4-FFF2-40B4-BE49-F238E27FC236}">
                <a16:creationId xmlns:a16="http://schemas.microsoft.com/office/drawing/2014/main" id="{A9AC1C6E-CF73-4626-8DE0-9DBC4AA0EE92}"/>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228137E5-37EC-4434-9E6A-8C83ACD033BE}"/>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F1A8661-1327-46C8-99F4-E4625521F733}"/>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D3597640-F2F8-44EC-BFB4-02A451B7E444}"/>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F61F4A67-4F86-41F6-B21B-B2187AD90BEF}"/>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Vector</a:t>
            </a:r>
          </a:p>
        </p:txBody>
      </p:sp>
      <p:sp>
        <p:nvSpPr>
          <p:cNvPr id="33" name="node-body">
            <a:extLst xmlns:a="http://schemas.openxmlformats.org/drawingml/2006/main">
              <a:ext uri="{FF2B5EF4-FFF2-40B4-BE49-F238E27FC236}">
                <a16:creationId xmlns:a16="http://schemas.microsoft.com/office/drawing/2014/main" id="{8408DACD-1462-4A2F-8CB7-BF972AB97BE5}"/>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Permite comparar</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representaciones dentro del</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mismo espacio.</a:t>
            </a:r>
          </a:p>
        </p:txBody>
      </p:sp>
      <p:cxnSp>
        <p:nvCxnSpPr>
          <p:cNvPr id="77" name=""/>
          <p:cNvCxnSpPr>
            <a:stCxn xmlns:a="http://schemas.openxmlformats.org/drawingml/2006/main" id="16" idx="3"/>
            <a:endCxn xmlns:a="http://schemas.openxmlformats.org/drawingml/2006/main" id="22" idx="1"/>
          </p:cNvCxnSpPr>
          <p:nvPr/>
        </p:nvCxnSpPr>
        <p:spPr>
          <a:xfrm xmlns:a="http://schemas.openxmlformats.org/drawingml/2006/main">
            <a:off x="495300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78" name=""/>
          <p:cNvCxnSpPr>
            <a:stCxn xmlns:a="http://schemas.openxmlformats.org/drawingml/2006/main" id="22" idx="3"/>
            <a:endCxn xmlns:a="http://schemas.openxmlformats.org/drawingml/2006/main" id="28" idx="1"/>
          </p:cNvCxnSpPr>
          <p:nvPr/>
        </p:nvCxnSpPr>
        <p:spPr>
          <a:xfrm xmlns:a="http://schemas.openxmlformats.org/drawingml/2006/main">
            <a:off x="981075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6" name="panel">
            <a:extLst xmlns:a="http://schemas.openxmlformats.org/drawingml/2006/main">
              <a:ext uri="{FF2B5EF4-FFF2-40B4-BE49-F238E27FC236}">
                <a16:creationId xmlns:a16="http://schemas.microsoft.com/office/drawing/2014/main" id="{0913DF99-844C-4E88-8566-73D2A90B8296}"/>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7" name="section-label">
            <a:extLst xmlns:a="http://schemas.openxmlformats.org/drawingml/2006/main">
              <a:ext uri="{FF2B5EF4-FFF2-40B4-BE49-F238E27FC236}">
                <a16:creationId xmlns:a16="http://schemas.microsoft.com/office/drawing/2014/main" id="{2C36C71C-B42F-4386-B81A-0A586CAF2E56}"/>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8" name="concept-question">
            <a:extLst xmlns:a="http://schemas.openxmlformats.org/drawingml/2006/main">
              <a:ext uri="{FF2B5EF4-FFF2-40B4-BE49-F238E27FC236}">
                <a16:creationId xmlns:a16="http://schemas.microsoft.com/office/drawing/2014/main" id="{CBE85F94-0FB5-4296-8D3B-20547D1A9019}"/>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¿Una coordenada representa directamente el precio del</a:t>
            </a:r>
          </a:p>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producto?</a:t>
            </a:r>
          </a:p>
        </p:txBody>
      </p:sp>
      <p:sp>
        <p:nvSpPr>
          <p:cNvPr id="39" name="panel">
            <a:extLst xmlns:a="http://schemas.openxmlformats.org/drawingml/2006/main">
              <a:ext uri="{FF2B5EF4-FFF2-40B4-BE49-F238E27FC236}">
                <a16:creationId xmlns:a16="http://schemas.microsoft.com/office/drawing/2014/main" id="{1CC67A37-4CB6-48AF-BC7D-3A58E991732C}"/>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40" name="misconception-label">
            <a:extLst xmlns:a="http://schemas.openxmlformats.org/drawingml/2006/main">
              <a:ext uri="{FF2B5EF4-FFF2-40B4-BE49-F238E27FC236}">
                <a16:creationId xmlns:a16="http://schemas.microsoft.com/office/drawing/2014/main" id="{69FBA33B-9A13-42FB-A875-D8EB29CFF749}"/>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41" name="misconception">
            <a:extLst xmlns:a="http://schemas.openxmlformats.org/drawingml/2006/main">
              <a:ext uri="{FF2B5EF4-FFF2-40B4-BE49-F238E27FC236}">
                <a16:creationId xmlns:a16="http://schemas.microsoft.com/office/drawing/2014/main" id="{504A848B-4654-49E7-ACA6-95F6BF2F0FDA}"/>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Tratar dimensiones como etiquetas</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humanas o mezclar modelos</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incompatibles.</a:t>
            </a:r>
          </a:p>
        </p:txBody>
      </p:sp>
      <p:sp>
        <p:nvSpPr>
          <p:cNvPr id="42" name="panel">
            <a:extLst xmlns:a="http://schemas.openxmlformats.org/drawingml/2006/main">
              <a:ext uri="{FF2B5EF4-FFF2-40B4-BE49-F238E27FC236}">
                <a16:creationId xmlns:a16="http://schemas.microsoft.com/office/drawing/2014/main" id="{12FEE272-9B20-4307-A96D-49F9F1AA10FC}"/>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DD4EFE59-45F3-415F-8CA9-FC752B9BD788}"/>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El vector representa patrones útiles para recuperar información.</a:t>
            </a:r>
          </a:p>
        </p:txBody>
      </p:sp>
    </p:spTree>
    <p:extLst>
      <p:ext uri="{BB962C8B-B14F-4D97-AF65-F5344CB8AC3E}">
        <p14:creationId xmlns:p14="http://schemas.microsoft.com/office/powerpoint/2010/main" val="1302618558"/>
      </p:ext>
    </p:extLst>
  </p:cSld>
</p:sld>
</file>

<file path=ppt/slides/slide2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C6FCC574-1492-4A44-A670-0954BC8F6B29}"/>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03807B-62A3-4345-82B8-1F28FFA7EC91}"/>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0654B19E-DE46-475D-854F-34C9996F5B5D}"/>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10</a:t>
            </a:r>
          </a:p>
        </p:txBody>
      </p:sp>
      <p:sp>
        <p:nvSpPr>
          <p:cNvPr id="4" name="breadcrumb">
            <a:extLst xmlns:a="http://schemas.openxmlformats.org/drawingml/2006/main">
              <a:ext uri="{FF2B5EF4-FFF2-40B4-BE49-F238E27FC236}">
                <a16:creationId xmlns:a16="http://schemas.microsoft.com/office/drawing/2014/main" id="{F2C1F7C9-F2C6-4DDE-A585-C40BCCD4376F}"/>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10</a:t>
            </a:r>
          </a:p>
        </p:txBody>
      </p:sp>
      <p:sp>
        <p:nvSpPr>
          <p:cNvPr id="5" name="slide-title">
            <a:extLst xmlns:a="http://schemas.openxmlformats.org/drawingml/2006/main">
              <a:ext uri="{FF2B5EF4-FFF2-40B4-BE49-F238E27FC236}">
                <a16:creationId xmlns:a16="http://schemas.microsoft.com/office/drawing/2014/main" id="{2E6BC685-6D13-44EF-83D9-F7C3339CDFA7}"/>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Cómo interpretar el dibujo</a:t>
            </a:r>
          </a:p>
        </p:txBody>
      </p:sp>
      <p:sp>
        <p:nvSpPr>
          <p:cNvPr id="6" name="learning-purpose">
            <a:extLst xmlns:a="http://schemas.openxmlformats.org/drawingml/2006/main">
              <a:ext uri="{FF2B5EF4-FFF2-40B4-BE49-F238E27FC236}">
                <a16:creationId xmlns:a16="http://schemas.microsoft.com/office/drawing/2014/main" id="{5B407709-D51F-430F-84D5-A4B6732B255B}"/>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Relacionar texto y vector sin atribuir significado humano a cada coordenada.</a:t>
            </a:r>
          </a:p>
        </p:txBody>
      </p:sp>
      <p:sp>
        <p:nvSpPr>
          <p:cNvPr id="7" name="panel">
            <a:extLst xmlns:a="http://schemas.openxmlformats.org/drawingml/2006/main">
              <a:ext uri="{FF2B5EF4-FFF2-40B4-BE49-F238E27FC236}">
                <a16:creationId xmlns:a16="http://schemas.microsoft.com/office/drawing/2014/main" id="{ECA04760-1E84-4E14-941E-D0E19B266E5E}"/>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ECAACB6A-C31E-467E-971A-A9F8AA54D073}"/>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3451F946-824B-4B1E-9701-DB823B4F6CE3}"/>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08986630-6513-4B27-831E-206B2CC3E9F9}"/>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68192505-EB6E-4E12-B9E1-F849A7F18975}"/>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980416DC-561E-4286-9F37-B2E892C458B6}"/>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854B2EFB-DAE1-41F2-8D62-6C4A4EC51115}"/>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C10</a:t>
            </a:r>
          </a:p>
        </p:txBody>
      </p:sp>
      <p:sp>
        <p:nvSpPr>
          <p:cNvPr id="14" name="folio">
            <a:extLst xmlns:a="http://schemas.openxmlformats.org/drawingml/2006/main">
              <a:ext uri="{FF2B5EF4-FFF2-40B4-BE49-F238E27FC236}">
                <a16:creationId xmlns:a16="http://schemas.microsoft.com/office/drawing/2014/main" id="{BE21E20F-4F12-4511-96FF-99723F528CAB}"/>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29</a:t>
            </a:r>
          </a:p>
        </p:txBody>
      </p:sp>
      <p:sp>
        <p:nvSpPr>
          <p:cNvPr id="15" name="section-label">
            <a:extLst xmlns:a="http://schemas.openxmlformats.org/drawingml/2006/main">
              <a:ext uri="{FF2B5EF4-FFF2-40B4-BE49-F238E27FC236}">
                <a16:creationId xmlns:a16="http://schemas.microsoft.com/office/drawing/2014/main" id="{E4369555-8062-4797-A0C3-E67AB0BD4824}"/>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Proyección</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Dos dimensiones son una ilustración, no el vector</a:t>
                      </a:r>
                    </a:p>
                    <a:p>
                      <a:r>
                        <a:rPr sz="1875" b="0">
                          <a:solidFill>
                            <a:srgbClr val="1E293B"/>
                          </a:solidFill>
                          <a:latin typeface="DejaVu Sans"/>
                          <a:ea typeface="DejaVu Sans"/>
                          <a:cs typeface="DejaVu Sans"/>
                        </a:rPr>
                        <a:t>completo.</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Compatibilidad</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Usar el mismo modelo y configuración para</a:t>
                      </a:r>
                    </a:p>
                    <a:p>
                      <a:r>
                        <a:rPr sz="1875" b="0">
                          <a:solidFill>
                            <a:srgbClr val="1E293B"/>
                          </a:solidFill>
                          <a:latin typeface="DejaVu Sans"/>
                          <a:ea typeface="DejaVu Sans"/>
                          <a:cs typeface="DejaVu Sans"/>
                        </a:rPr>
                        <a:t>comparar.</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Alcance</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Cercanía semántica no equivale a verdad ni</a:t>
                      </a:r>
                    </a:p>
                    <a:p>
                      <a:r>
                        <a:rPr sz="1875" b="0">
                          <a:solidFill>
                            <a:srgbClr val="1E293B"/>
                          </a:solidFill>
                          <a:latin typeface="DejaVu Sans"/>
                          <a:ea typeface="DejaVu Sans"/>
                          <a:cs typeface="DejaVu Sans"/>
                        </a:rPr>
                        <a:t>autorización.</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39754786-8378-4A0F-A8C8-4F28C24AC387}"/>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3D7BA503-AB26-4B22-8092-092A08CEDC84}"/>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0555618D-7575-4640-8772-0B4FC4F9800A}"/>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Tratar dimensiones como</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etiquetas humanas o mezclar</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modelos incompatibles.</a:t>
            </a:r>
          </a:p>
        </p:txBody>
      </p:sp>
      <p:sp>
        <p:nvSpPr>
          <p:cNvPr id="20" name="development-prompt">
            <a:extLst xmlns:a="http://schemas.openxmlformats.org/drawingml/2006/main">
              <a:ext uri="{FF2B5EF4-FFF2-40B4-BE49-F238E27FC236}">
                <a16:creationId xmlns:a16="http://schemas.microsoft.com/office/drawing/2014/main" id="{2FC82938-6C02-44D1-8BC1-0FEB469B4172}"/>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58006F6C-1340-4901-A962-5FBC6BBE66D4}"/>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545C0E5B-D6C7-4775-A5EA-FC5FA815D9DF}"/>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82F5158F-0669-48D4-AAA0-43FB81E99A26}"/>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¿Una coordenada representa directamente el precio del producto?</a:t>
            </a:r>
          </a:p>
        </p:txBody>
      </p:sp>
      <p:sp>
        <p:nvSpPr>
          <p:cNvPr id="24" name="panel">
            <a:extLst xmlns:a="http://schemas.openxmlformats.org/drawingml/2006/main">
              <a:ext uri="{FF2B5EF4-FFF2-40B4-BE49-F238E27FC236}">
                <a16:creationId xmlns:a16="http://schemas.microsoft.com/office/drawing/2014/main" id="{23DA52AD-BD0B-483C-92C3-B62F2EAAED81}"/>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05DF4C74-CA60-498C-AC54-373492062767}"/>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El vector representa patrones útiles para recuperar información.</a:t>
            </a:r>
          </a:p>
        </p:txBody>
      </p:sp>
    </p:spTree>
    <p:extLst>
      <p:ext uri="{BB962C8B-B14F-4D97-AF65-F5344CB8AC3E}">
        <p14:creationId xmlns:p14="http://schemas.microsoft.com/office/powerpoint/2010/main" val="637715323"/>
      </p:ext>
    </p:extLst>
  </p:cSld>
</p:sld>
</file>

<file path=ppt/slides/slide3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080AD7C4-71DD-4C49-AFAF-E4D002242505}"/>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E67856-3360-447F-AC89-2DA04DD468DD}"/>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C4A8D8DD-6270-45B8-84D8-A1AE10D77521}"/>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10</a:t>
            </a:r>
          </a:p>
        </p:txBody>
      </p:sp>
      <p:sp>
        <p:nvSpPr>
          <p:cNvPr id="4" name="breadcrumb">
            <a:extLst xmlns:a="http://schemas.openxmlformats.org/drawingml/2006/main">
              <a:ext uri="{FF2B5EF4-FFF2-40B4-BE49-F238E27FC236}">
                <a16:creationId xmlns:a16="http://schemas.microsoft.com/office/drawing/2014/main" id="{236FDF74-C75D-4520-A0AF-86E7C558A487}"/>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10</a:t>
            </a:r>
          </a:p>
        </p:txBody>
      </p:sp>
      <p:sp>
        <p:nvSpPr>
          <p:cNvPr id="5" name="slide-title">
            <a:extLst xmlns:a="http://schemas.openxmlformats.org/drawingml/2006/main">
              <a:ext uri="{FF2B5EF4-FFF2-40B4-BE49-F238E27FC236}">
                <a16:creationId xmlns:a16="http://schemas.microsoft.com/office/drawing/2014/main" id="{55A89B71-035D-4C15-8105-3BD2A2EA5591}"/>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Embeddings: representación vectorial</a:t>
            </a:r>
          </a:p>
        </p:txBody>
      </p:sp>
      <p:sp>
        <p:nvSpPr>
          <p:cNvPr id="6" name="learning-purpose">
            <a:extLst xmlns:a="http://schemas.openxmlformats.org/drawingml/2006/main">
              <a:ext uri="{FF2B5EF4-FFF2-40B4-BE49-F238E27FC236}">
                <a16:creationId xmlns:a16="http://schemas.microsoft.com/office/drawing/2014/main" id="{C051D793-AD02-42D8-8A2C-5EC418A0EBB6}"/>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Relacionar texto y vector sin atribuir significado humano a cada coordenada.</a:t>
            </a:r>
          </a:p>
        </p:txBody>
      </p:sp>
      <p:sp>
        <p:nvSpPr>
          <p:cNvPr id="7" name="panel">
            <a:extLst xmlns:a="http://schemas.openxmlformats.org/drawingml/2006/main">
              <a:ext uri="{FF2B5EF4-FFF2-40B4-BE49-F238E27FC236}">
                <a16:creationId xmlns:a16="http://schemas.microsoft.com/office/drawing/2014/main" id="{074474BA-4AA2-4A7D-B2B6-FF85CD95F5A7}"/>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17C3B679-F916-4DAE-9453-1A705844F6B0}"/>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89DAFF93-3283-41CB-8F4E-F02759BDA10A}"/>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908E707E-FC52-427B-8C9F-00831A1C9AA3}"/>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8DF35658-6419-4F33-A0E9-456A54C4CA38}"/>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13A32C67-277A-4A09-A03D-F7339DEBB6F7}"/>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C10FFD36-038A-492E-A03E-24E485EE5466}"/>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C10</a:t>
            </a:r>
          </a:p>
        </p:txBody>
      </p:sp>
      <p:sp>
        <p:nvSpPr>
          <p:cNvPr id="14" name="folio">
            <a:extLst xmlns:a="http://schemas.openxmlformats.org/drawingml/2006/main">
              <a:ext uri="{FF2B5EF4-FFF2-40B4-BE49-F238E27FC236}">
                <a16:creationId xmlns:a16="http://schemas.microsoft.com/office/drawing/2014/main" id="{891BFE80-883C-4BDB-8450-2B5680E9F8D7}"/>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30</a:t>
            </a:r>
          </a:p>
        </p:txBody>
      </p:sp>
      <p:sp>
        <p:nvSpPr>
          <p:cNvPr id="15" name="section-label">
            <a:extLst xmlns:a="http://schemas.openxmlformats.org/drawingml/2006/main">
              <a:ext uri="{FF2B5EF4-FFF2-40B4-BE49-F238E27FC236}">
                <a16:creationId xmlns:a16="http://schemas.microsoft.com/office/drawing/2014/main" id="{06F24BFC-110C-405D-B904-2EDB745860CA}"/>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MERCASUR · CASO DIDÁCTICO</a:t>
            </a:r>
          </a:p>
        </p:txBody>
      </p:sp>
      <p:sp>
        <p:nvSpPr>
          <p:cNvPr id="16" name="panel">
            <a:extLst xmlns:a="http://schemas.openxmlformats.org/drawingml/2006/main">
              <a:ext uri="{FF2B5EF4-FFF2-40B4-BE49-F238E27FC236}">
                <a16:creationId xmlns:a16="http://schemas.microsoft.com/office/drawing/2014/main" id="{66846FF2-365F-4A8C-8626-ADCD6BCF8730}"/>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E3CB090E-2700-4313-8BB4-C59B988C32AB}"/>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44A699BA-0C7B-4937-A408-B8F4D9CDDFB2}"/>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Compara «devolver una compra» con «política de devoluciones».</a:t>
            </a:r>
          </a:p>
        </p:txBody>
      </p:sp>
      <p:sp>
        <p:nvSpPr>
          <p:cNvPr id="19" name="concept-node">
            <a:extLst xmlns:a="http://schemas.openxmlformats.org/drawingml/2006/main">
              <a:ext uri="{FF2B5EF4-FFF2-40B4-BE49-F238E27FC236}">
                <a16:creationId xmlns:a16="http://schemas.microsoft.com/office/drawing/2014/main" id="{331D2380-1407-4573-8AFA-C97A17A4FA09}"/>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FE2A98E2-9AFE-4D4B-9FC6-9BA40987AF75}"/>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010142A5-E9A6-472E-855D-5C4ED09F6505}"/>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5D357AC9-7E72-43DC-B5B3-E53BCACECC2E}"/>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87D1FB30-A38F-40F7-BC43-67F82B0381DC}"/>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Representar</a:t>
            </a:r>
          </a:p>
        </p:txBody>
      </p:sp>
      <p:sp>
        <p:nvSpPr>
          <p:cNvPr id="24" name="node-body">
            <a:extLst xmlns:a="http://schemas.openxmlformats.org/drawingml/2006/main">
              <a:ext uri="{FF2B5EF4-FFF2-40B4-BE49-F238E27FC236}">
                <a16:creationId xmlns:a16="http://schemas.microsoft.com/office/drawing/2014/main" id="{4C583936-BA36-423B-BC01-7BCCF76B16F7}"/>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Generar embeddings para</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consulta y fragmentos.</a:t>
            </a:r>
          </a:p>
        </p:txBody>
      </p:sp>
      <p:sp>
        <p:nvSpPr>
          <p:cNvPr id="25" name="concept-node">
            <a:extLst xmlns:a="http://schemas.openxmlformats.org/drawingml/2006/main">
              <a:ext uri="{FF2B5EF4-FFF2-40B4-BE49-F238E27FC236}">
                <a16:creationId xmlns:a16="http://schemas.microsoft.com/office/drawing/2014/main" id="{DB49225F-AFCB-4ECA-9C70-1CD6481B619C}"/>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19BBEF94-CDDD-439F-B59C-05B150AD99D6}"/>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5BEF27B6-4626-423E-BD2E-63F2425DC821}"/>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A9B07FC1-E20B-4264-853A-8F079A2DE0EC}"/>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C90817F7-9F1D-4154-823D-23E0B7D1A21C}"/>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Comparar</a:t>
            </a:r>
          </a:p>
        </p:txBody>
      </p:sp>
      <p:sp>
        <p:nvSpPr>
          <p:cNvPr id="30" name="node-body">
            <a:extLst xmlns:a="http://schemas.openxmlformats.org/drawingml/2006/main">
              <a:ext uri="{FF2B5EF4-FFF2-40B4-BE49-F238E27FC236}">
                <a16:creationId xmlns:a16="http://schemas.microsoft.com/office/drawing/2014/main" id="{EF7C4D63-291E-4406-BBA3-9AFE34803CC1}"/>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Medir similitud dentro del</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mismo espacio vectorial.</a:t>
            </a:r>
          </a:p>
        </p:txBody>
      </p:sp>
      <p:sp>
        <p:nvSpPr>
          <p:cNvPr id="31" name="concept-node">
            <a:extLst xmlns:a="http://schemas.openxmlformats.org/drawingml/2006/main">
              <a:ext uri="{FF2B5EF4-FFF2-40B4-BE49-F238E27FC236}">
                <a16:creationId xmlns:a16="http://schemas.microsoft.com/office/drawing/2014/main" id="{3C217930-B350-4421-AF79-53F08D995C97}"/>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B63B64C6-3FC4-4F7E-9174-505B78C28FF2}"/>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12AAC09-AA4E-45F1-9BCD-56821ED7D7E6}"/>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DAFD8165-BBF0-4F70-BFF9-069C6B0CED1C}"/>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30AB929F-91AC-4D24-9B08-74010FE573DB}"/>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Revisar</a:t>
            </a:r>
          </a:p>
        </p:txBody>
      </p:sp>
      <p:sp>
        <p:nvSpPr>
          <p:cNvPr id="36" name="node-body">
            <a:extLst xmlns:a="http://schemas.openxmlformats.org/drawingml/2006/main">
              <a:ext uri="{FF2B5EF4-FFF2-40B4-BE49-F238E27FC236}">
                <a16:creationId xmlns:a16="http://schemas.microsoft.com/office/drawing/2014/main" id="{6BC217B3-AA24-4C52-9322-2032886E5A54}"/>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Confirmar que el fragmento</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encontrado responde al caso.</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6D9F51EC-C271-4B3D-86AF-EB369E6B3E35}"/>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D1AF22EE-5AFA-454F-AC4A-29CE56078F07}"/>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2FE90835-B0B2-42CD-B332-52EC11D2C8B6}"/>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La similitud ayuda a encontrar texto pertinente; no decide la política.</a:t>
            </a:r>
          </a:p>
        </p:txBody>
      </p:sp>
      <p:sp>
        <p:nvSpPr>
          <p:cNvPr id="42" name="panel">
            <a:extLst xmlns:a="http://schemas.openxmlformats.org/drawingml/2006/main">
              <a:ext uri="{FF2B5EF4-FFF2-40B4-BE49-F238E27FC236}">
                <a16:creationId xmlns:a16="http://schemas.microsoft.com/office/drawing/2014/main" id="{AF23E06A-5F76-425F-86A4-6ACA87298454}"/>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173D0C33-109B-48A9-82C0-6974972E7505}"/>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El vector representa patrones útiles para recuperar información.</a:t>
            </a:r>
          </a:p>
        </p:txBody>
      </p:sp>
    </p:spTree>
    <p:extLst>
      <p:ext uri="{BB962C8B-B14F-4D97-AF65-F5344CB8AC3E}">
        <p14:creationId xmlns:p14="http://schemas.microsoft.com/office/powerpoint/2010/main" val="844137395"/>
      </p:ext>
    </p:extLst>
  </p:cSld>
</p:sld>
</file>

<file path=ppt/slides/slide3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E302508B-906E-48BE-8420-06C837B1B513}"/>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0D6FBD-2382-47F1-9592-266F4697B0FC}"/>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35079257-A343-4A4E-8AD7-C47CD30531E3}"/>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11</a:t>
            </a:r>
          </a:p>
        </p:txBody>
      </p:sp>
      <p:sp>
        <p:nvSpPr>
          <p:cNvPr id="4" name="breadcrumb">
            <a:extLst xmlns:a="http://schemas.openxmlformats.org/drawingml/2006/main">
              <a:ext uri="{FF2B5EF4-FFF2-40B4-BE49-F238E27FC236}">
                <a16:creationId xmlns:a16="http://schemas.microsoft.com/office/drawing/2014/main" id="{9DA4312B-8C87-4AAA-A7DD-B3F6C8EACD24}"/>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11</a:t>
            </a:r>
          </a:p>
        </p:txBody>
      </p:sp>
      <p:sp>
        <p:nvSpPr>
          <p:cNvPr id="5" name="slide-title">
            <a:extLst xmlns:a="http://schemas.openxmlformats.org/drawingml/2006/main">
              <a:ext uri="{FF2B5EF4-FFF2-40B4-BE49-F238E27FC236}">
                <a16:creationId xmlns:a16="http://schemas.microsoft.com/office/drawing/2014/main" id="{778FB5E9-B891-4758-A143-D9B3EBE8C7B6}"/>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Búsqueda semántica</a:t>
            </a:r>
          </a:p>
        </p:txBody>
      </p:sp>
      <p:sp>
        <p:nvSpPr>
          <p:cNvPr id="6" name="learning-purpose">
            <a:extLst xmlns:a="http://schemas.openxmlformats.org/drawingml/2006/main">
              <a:ext uri="{FF2B5EF4-FFF2-40B4-BE49-F238E27FC236}">
                <a16:creationId xmlns:a16="http://schemas.microsoft.com/office/drawing/2014/main" id="{8C806B01-7A7D-44A7-8B59-92C46B304DD4}"/>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Entender por qué se recuperan candidatos antes de responder.</a:t>
            </a:r>
          </a:p>
        </p:txBody>
      </p:sp>
      <p:sp>
        <p:nvSpPr>
          <p:cNvPr id="7" name="panel">
            <a:extLst xmlns:a="http://schemas.openxmlformats.org/drawingml/2006/main">
              <a:ext uri="{FF2B5EF4-FFF2-40B4-BE49-F238E27FC236}">
                <a16:creationId xmlns:a16="http://schemas.microsoft.com/office/drawing/2014/main" id="{4DD440C2-EE18-400B-933A-86A182BBEBE4}"/>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3C26E1D7-C1B5-4594-846C-C1DB8CF7C4A3}"/>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180FAF3D-EE7D-4F83-9A46-2DDD3187F209}"/>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62114F07-0EBA-40A9-A410-33F036DFE5AB}"/>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CA92619E-D06E-4DB8-A7C8-0F97F97209C6}"/>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7E7A1508-2133-447D-8A5D-4E49D61D5B7D}"/>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F504FA40-6ABA-49E1-9024-2E64B7051D0D}"/>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C11</a:t>
            </a:r>
          </a:p>
        </p:txBody>
      </p:sp>
      <p:sp>
        <p:nvSpPr>
          <p:cNvPr id="14" name="folio">
            <a:extLst xmlns:a="http://schemas.openxmlformats.org/drawingml/2006/main">
              <a:ext uri="{FF2B5EF4-FFF2-40B4-BE49-F238E27FC236}">
                <a16:creationId xmlns:a16="http://schemas.microsoft.com/office/drawing/2014/main" id="{8870611E-B3B8-4B15-AD5E-9234848EBD07}"/>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31</a:t>
            </a:r>
          </a:p>
        </p:txBody>
      </p:sp>
      <p:sp>
        <p:nvSpPr>
          <p:cNvPr id="15" name="section-label">
            <a:extLst xmlns:a="http://schemas.openxmlformats.org/drawingml/2006/main">
              <a:ext uri="{FF2B5EF4-FFF2-40B4-BE49-F238E27FC236}">
                <a16:creationId xmlns:a16="http://schemas.microsoft.com/office/drawing/2014/main" id="{DAF24F8E-E82D-4C6D-90B8-F25C0E998751}"/>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SEGUIR LA RELACIÓN ENTRE LAS PIEZAS</a:t>
            </a:r>
          </a:p>
        </p:txBody>
      </p:sp>
      <p:sp>
        <p:nvSpPr>
          <p:cNvPr id="16" name="concept-node">
            <a:extLst xmlns:a="http://schemas.openxmlformats.org/drawingml/2006/main">
              <a:ext uri="{FF2B5EF4-FFF2-40B4-BE49-F238E27FC236}">
                <a16:creationId xmlns:a16="http://schemas.microsoft.com/office/drawing/2014/main" id="{C51BCA05-A805-4C87-B90D-88586E014CD1}"/>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F441AB5C-8DDB-4542-BB53-B9817DD3A4EB}"/>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68CA22A-8AF8-4FD2-868A-BD0D1BB559B9}"/>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B32E87CC-712A-4735-8954-73D22B9BD56A}"/>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9244A73E-AA19-4BFA-892B-B7530DDD4DE4}"/>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Consulta</a:t>
            </a:r>
          </a:p>
        </p:txBody>
      </p:sp>
      <p:sp>
        <p:nvSpPr>
          <p:cNvPr id="21" name="node-body">
            <a:extLst xmlns:a="http://schemas.openxmlformats.org/drawingml/2006/main">
              <a:ext uri="{FF2B5EF4-FFF2-40B4-BE49-F238E27FC236}">
                <a16:creationId xmlns:a16="http://schemas.microsoft.com/office/drawing/2014/main" id="{485D274E-2681-4D5B-B12C-A9ACBF2EABC0}"/>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La pregunta se convierte en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vector.</a:t>
            </a:r>
          </a:p>
        </p:txBody>
      </p:sp>
      <p:sp>
        <p:nvSpPr>
          <p:cNvPr id="22" name="concept-node">
            <a:extLst xmlns:a="http://schemas.openxmlformats.org/drawingml/2006/main">
              <a:ext uri="{FF2B5EF4-FFF2-40B4-BE49-F238E27FC236}">
                <a16:creationId xmlns:a16="http://schemas.microsoft.com/office/drawing/2014/main" id="{0751288B-9FE5-4C27-84A5-EEFEC112E7CE}"/>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E9B3C780-756A-4B8E-9BDE-FF768C10745F}"/>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22C83C3-63A4-4AD4-AB33-CF45FA6F940E}"/>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46E1B6D7-0CD0-4941-83A8-4AB592F3F648}"/>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C42476F7-3849-4608-8FA1-9A933CAEA314}"/>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Búsqueda</a:t>
            </a:r>
          </a:p>
        </p:txBody>
      </p:sp>
      <p:sp>
        <p:nvSpPr>
          <p:cNvPr id="27" name="node-body">
            <a:extLst xmlns:a="http://schemas.openxmlformats.org/drawingml/2006/main">
              <a:ext uri="{FF2B5EF4-FFF2-40B4-BE49-F238E27FC236}">
                <a16:creationId xmlns:a16="http://schemas.microsoft.com/office/drawing/2014/main" id="{83BDD8E7-212B-4EA0-A408-EE666D1D3CF9}"/>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Se comparan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representaciones y se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recuperan candidatos.</a:t>
            </a:r>
          </a:p>
        </p:txBody>
      </p:sp>
      <p:sp>
        <p:nvSpPr>
          <p:cNvPr id="28" name="concept-node">
            <a:extLst xmlns:a="http://schemas.openxmlformats.org/drawingml/2006/main">
              <a:ext uri="{FF2B5EF4-FFF2-40B4-BE49-F238E27FC236}">
                <a16:creationId xmlns:a16="http://schemas.microsoft.com/office/drawing/2014/main" id="{727091E2-9796-4F43-8A98-7AEC96612C9E}"/>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D73232FC-F63A-46B7-94B8-7BF078F315C3}"/>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BDD9D87D-98F3-4CB2-961B-372999F62EAA}"/>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E7460ABD-E0F3-47DF-9785-A1E34A21668E}"/>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EBAC5BF6-17D0-48A3-A10B-8034063E866B}"/>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Revisión</a:t>
            </a:r>
          </a:p>
        </p:txBody>
      </p:sp>
      <p:sp>
        <p:nvSpPr>
          <p:cNvPr id="33" name="node-body">
            <a:extLst xmlns:a="http://schemas.openxmlformats.org/drawingml/2006/main">
              <a:ext uri="{FF2B5EF4-FFF2-40B4-BE49-F238E27FC236}">
                <a16:creationId xmlns:a16="http://schemas.microsoft.com/office/drawing/2014/main" id="{E8C7778C-8425-4DFF-94E0-0C1C7061572E}"/>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Se usa el texto de los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candidatos para</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fundamentar la respuesta.</a:t>
            </a:r>
          </a:p>
        </p:txBody>
      </p:sp>
      <p:cxnSp>
        <p:nvCxnSpPr>
          <p:cNvPr id="77" name=""/>
          <p:cNvCxnSpPr>
            <a:stCxn xmlns:a="http://schemas.openxmlformats.org/drawingml/2006/main" id="16" idx="3"/>
            <a:endCxn xmlns:a="http://schemas.openxmlformats.org/drawingml/2006/main" id="22" idx="1"/>
          </p:cNvCxnSpPr>
          <p:nvPr/>
        </p:nvCxnSpPr>
        <p:spPr>
          <a:xfrm xmlns:a="http://schemas.openxmlformats.org/drawingml/2006/main">
            <a:off x="495300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78" name=""/>
          <p:cNvCxnSpPr>
            <a:stCxn xmlns:a="http://schemas.openxmlformats.org/drawingml/2006/main" id="22" idx="3"/>
            <a:endCxn xmlns:a="http://schemas.openxmlformats.org/drawingml/2006/main" id="28" idx="1"/>
          </p:cNvCxnSpPr>
          <p:nvPr/>
        </p:nvCxnSpPr>
        <p:spPr>
          <a:xfrm xmlns:a="http://schemas.openxmlformats.org/drawingml/2006/main">
            <a:off x="981075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6" name="panel">
            <a:extLst xmlns:a="http://schemas.openxmlformats.org/drawingml/2006/main">
              <a:ext uri="{FF2B5EF4-FFF2-40B4-BE49-F238E27FC236}">
                <a16:creationId xmlns:a16="http://schemas.microsoft.com/office/drawing/2014/main" id="{63DB42B1-C944-4435-96CA-6727880BEF94}"/>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7" name="section-label">
            <a:extLst xmlns:a="http://schemas.openxmlformats.org/drawingml/2006/main">
              <a:ext uri="{FF2B5EF4-FFF2-40B4-BE49-F238E27FC236}">
                <a16:creationId xmlns:a16="http://schemas.microsoft.com/office/drawing/2014/main" id="{2F07AB20-4A2C-4E8A-9FC5-F155B9771D6B}"/>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8" name="concept-question">
            <a:extLst xmlns:a="http://schemas.openxmlformats.org/drawingml/2006/main">
              <a:ext uri="{FF2B5EF4-FFF2-40B4-BE49-F238E27FC236}">
                <a16:creationId xmlns:a16="http://schemas.microsoft.com/office/drawing/2014/main" id="{EEAEF925-0D8A-47F5-A39D-8C0A486FF303}"/>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¿Aceptarías el primer resultado si corresponde a otra póliza?</a:t>
            </a:r>
          </a:p>
        </p:txBody>
      </p:sp>
      <p:sp>
        <p:nvSpPr>
          <p:cNvPr id="39" name="panel">
            <a:extLst xmlns:a="http://schemas.openxmlformats.org/drawingml/2006/main">
              <a:ext uri="{FF2B5EF4-FFF2-40B4-BE49-F238E27FC236}">
                <a16:creationId xmlns:a16="http://schemas.microsoft.com/office/drawing/2014/main" id="{FE0F538B-E016-4B3C-9A02-710D0A973E14}"/>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40" name="misconception-label">
            <a:extLst xmlns:a="http://schemas.openxmlformats.org/drawingml/2006/main">
              <a:ext uri="{FF2B5EF4-FFF2-40B4-BE49-F238E27FC236}">
                <a16:creationId xmlns:a16="http://schemas.microsoft.com/office/drawing/2014/main" id="{18622DEB-DDFF-4F8C-AFCD-CED2D9FBFB74}"/>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41" name="misconception">
            <a:extLst xmlns:a="http://schemas.openxmlformats.org/drawingml/2006/main">
              <a:ext uri="{FF2B5EF4-FFF2-40B4-BE49-F238E27FC236}">
                <a16:creationId xmlns:a16="http://schemas.microsoft.com/office/drawing/2014/main" id="{316E0C4D-C76E-425D-978B-D4E5A80E87BB}"/>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Confundir top-1 con respuesta</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automáticamente correcta.</a:t>
            </a:r>
          </a:p>
        </p:txBody>
      </p:sp>
      <p:sp>
        <p:nvSpPr>
          <p:cNvPr id="42" name="panel">
            <a:extLst xmlns:a="http://schemas.openxmlformats.org/drawingml/2006/main">
              <a:ext uri="{FF2B5EF4-FFF2-40B4-BE49-F238E27FC236}">
                <a16:creationId xmlns:a16="http://schemas.microsoft.com/office/drawing/2014/main" id="{4C64D980-C4D9-4782-9A08-8B24238A6204}"/>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A6715077-B56F-4428-BE67-3512B99C7E63}"/>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Recuperar no sustituye verificar el ámbito de la fuente.</a:t>
            </a:r>
          </a:p>
        </p:txBody>
      </p:sp>
    </p:spTree>
    <p:extLst>
      <p:ext uri="{BB962C8B-B14F-4D97-AF65-F5344CB8AC3E}">
        <p14:creationId xmlns:p14="http://schemas.microsoft.com/office/powerpoint/2010/main" val="1795816701"/>
      </p:ext>
    </p:extLst>
  </p:cSld>
</p:sld>
</file>

<file path=ppt/slides/slide3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C7683629-5BA7-438E-939B-7560BF164509}"/>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4141055-C362-4CF1-98B2-67D4A02B3CB6}"/>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484F5DED-F8F7-4BF4-85DA-29FF8BA196AF}"/>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11</a:t>
            </a:r>
          </a:p>
        </p:txBody>
      </p:sp>
      <p:sp>
        <p:nvSpPr>
          <p:cNvPr id="4" name="breadcrumb">
            <a:extLst xmlns:a="http://schemas.openxmlformats.org/drawingml/2006/main">
              <a:ext uri="{FF2B5EF4-FFF2-40B4-BE49-F238E27FC236}">
                <a16:creationId xmlns:a16="http://schemas.microsoft.com/office/drawing/2014/main" id="{57929E08-FC40-4DAF-B5BC-DB36C1617A1C}"/>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11</a:t>
            </a:r>
          </a:p>
        </p:txBody>
      </p:sp>
      <p:sp>
        <p:nvSpPr>
          <p:cNvPr id="5" name="slide-title">
            <a:extLst xmlns:a="http://schemas.openxmlformats.org/drawingml/2006/main">
              <a:ext uri="{FF2B5EF4-FFF2-40B4-BE49-F238E27FC236}">
                <a16:creationId xmlns:a16="http://schemas.microsoft.com/office/drawing/2014/main" id="{9E21E680-BCB5-4515-9B9B-FEBCF0A6CCDA}"/>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Del candidato a la evidencia</a:t>
            </a:r>
          </a:p>
        </p:txBody>
      </p:sp>
      <p:sp>
        <p:nvSpPr>
          <p:cNvPr id="6" name="learning-purpose">
            <a:extLst xmlns:a="http://schemas.openxmlformats.org/drawingml/2006/main">
              <a:ext uri="{FF2B5EF4-FFF2-40B4-BE49-F238E27FC236}">
                <a16:creationId xmlns:a16="http://schemas.microsoft.com/office/drawing/2014/main" id="{C5733428-6404-48A7-8F2B-788294E40E3A}"/>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Entender por qué se recuperan candidatos antes de responder.</a:t>
            </a:r>
          </a:p>
        </p:txBody>
      </p:sp>
      <p:sp>
        <p:nvSpPr>
          <p:cNvPr id="7" name="panel">
            <a:extLst xmlns:a="http://schemas.openxmlformats.org/drawingml/2006/main">
              <a:ext uri="{FF2B5EF4-FFF2-40B4-BE49-F238E27FC236}">
                <a16:creationId xmlns:a16="http://schemas.microsoft.com/office/drawing/2014/main" id="{E328A8D3-015E-4702-8766-EA5992A7B866}"/>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9F759C04-6DD3-4657-B572-5EE28BD96E30}"/>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FFB5848E-1FD8-40F2-B987-6F817DD670E9}"/>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C4561C3C-A3AC-48F1-B6E2-029DA79917FE}"/>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B02D7ACC-3473-47B0-99C9-CEA3ED78F2C8}"/>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960E0D7D-4139-4460-BF30-049B6FECD6A1}"/>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0A75CB47-E1DA-4AB4-B768-389A654E938A}"/>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C11</a:t>
            </a:r>
          </a:p>
        </p:txBody>
      </p:sp>
      <p:sp>
        <p:nvSpPr>
          <p:cNvPr id="14" name="folio">
            <a:extLst xmlns:a="http://schemas.openxmlformats.org/drawingml/2006/main">
              <a:ext uri="{FF2B5EF4-FFF2-40B4-BE49-F238E27FC236}">
                <a16:creationId xmlns:a16="http://schemas.microsoft.com/office/drawing/2014/main" id="{969A32C5-12E3-4E5D-BC07-620683FCB7F8}"/>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32</a:t>
            </a:r>
          </a:p>
        </p:txBody>
      </p:sp>
      <p:sp>
        <p:nvSpPr>
          <p:cNvPr id="15" name="section-label">
            <a:extLst xmlns:a="http://schemas.openxmlformats.org/drawingml/2006/main">
              <a:ext uri="{FF2B5EF4-FFF2-40B4-BE49-F238E27FC236}">
                <a16:creationId xmlns:a16="http://schemas.microsoft.com/office/drawing/2014/main" id="{86E4B95A-9AA8-480B-AD15-7B7EF4632115}"/>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Pertinencia</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Comprobar que el fragmento trata la intención de</a:t>
                      </a:r>
                    </a:p>
                    <a:p>
                      <a:r>
                        <a:rPr sz="1875" b="0">
                          <a:solidFill>
                            <a:srgbClr val="1E293B"/>
                          </a:solidFill>
                          <a:latin typeface="DejaVu Sans"/>
                          <a:ea typeface="DejaVu Sans"/>
                          <a:cs typeface="DejaVu Sans"/>
                        </a:rPr>
                        <a:t>la consulta.</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Ámbito</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Revisar industria, producto y vigencia mediante</a:t>
                      </a:r>
                    </a:p>
                    <a:p>
                      <a:r>
                        <a:rPr sz="1875" b="0">
                          <a:solidFill>
                            <a:srgbClr val="1E293B"/>
                          </a:solidFill>
                          <a:latin typeface="DejaVu Sans"/>
                          <a:ea typeface="DejaVu Sans"/>
                          <a:cs typeface="DejaVu Sans"/>
                        </a:rPr>
                        <a:t>metadatos.</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Respuesta</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Afirmar solo lo que el texto seleccionado permite</a:t>
                      </a:r>
                    </a:p>
                    <a:p>
                      <a:r>
                        <a:rPr sz="1875" b="0">
                          <a:solidFill>
                            <a:srgbClr val="1E293B"/>
                          </a:solidFill>
                          <a:latin typeface="DejaVu Sans"/>
                          <a:ea typeface="DejaVu Sans"/>
                          <a:cs typeface="DejaVu Sans"/>
                        </a:rPr>
                        <a:t>sostener.</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DAAB6EC4-2670-4F31-99AB-333C7B5D6F4D}"/>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07259F05-9F72-495F-B51F-8B17435F6FF6}"/>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40C51EB7-3703-4E5B-B7A9-D5502B01F148}"/>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Confundir top-1 con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respuesta automáticamente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correcta.</a:t>
            </a:r>
          </a:p>
        </p:txBody>
      </p:sp>
      <p:sp>
        <p:nvSpPr>
          <p:cNvPr id="20" name="development-prompt">
            <a:extLst xmlns:a="http://schemas.openxmlformats.org/drawingml/2006/main">
              <a:ext uri="{FF2B5EF4-FFF2-40B4-BE49-F238E27FC236}">
                <a16:creationId xmlns:a16="http://schemas.microsoft.com/office/drawing/2014/main" id="{A59291A7-272E-4208-91A2-D9630A394B63}"/>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2D1AA650-93F6-4550-A29E-E83BDE14028E}"/>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3F143232-451E-4F20-8566-E76CBB988B58}"/>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C1CA8D52-DA08-453B-83D4-06A6C3DA5331}"/>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¿Aceptarías el primer resultado si corresponde a otra póliza?</a:t>
            </a:r>
          </a:p>
        </p:txBody>
      </p:sp>
      <p:sp>
        <p:nvSpPr>
          <p:cNvPr id="24" name="panel">
            <a:extLst xmlns:a="http://schemas.openxmlformats.org/drawingml/2006/main">
              <a:ext uri="{FF2B5EF4-FFF2-40B4-BE49-F238E27FC236}">
                <a16:creationId xmlns:a16="http://schemas.microsoft.com/office/drawing/2014/main" id="{908F60BD-473B-4BEE-B0FE-A4C3580242ED}"/>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767FCDA3-7560-41B3-A6D5-F94F5ABEA2D2}"/>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Recuperar no sustituye verificar el ámbito de la fuente.</a:t>
            </a:r>
          </a:p>
        </p:txBody>
      </p:sp>
    </p:spTree>
    <p:extLst>
      <p:ext uri="{BB962C8B-B14F-4D97-AF65-F5344CB8AC3E}">
        <p14:creationId xmlns:p14="http://schemas.microsoft.com/office/powerpoint/2010/main" val="1385074711"/>
      </p:ext>
    </p:extLst>
  </p:cSld>
</p:sld>
</file>

<file path=ppt/slides/slide3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56271A11-FF48-4BCB-98BC-B1271261FB21}"/>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DAAF79A-A5E3-4553-9F66-8925C376E078}"/>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53A4E1C5-101B-40D7-B214-F0E0E0C47839}"/>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11</a:t>
            </a:r>
          </a:p>
        </p:txBody>
      </p:sp>
      <p:sp>
        <p:nvSpPr>
          <p:cNvPr id="4" name="breadcrumb">
            <a:extLst xmlns:a="http://schemas.openxmlformats.org/drawingml/2006/main">
              <a:ext uri="{FF2B5EF4-FFF2-40B4-BE49-F238E27FC236}">
                <a16:creationId xmlns:a16="http://schemas.microsoft.com/office/drawing/2014/main" id="{F1CEE615-B46D-4276-83B4-F3A6E7D1D6ED}"/>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11</a:t>
            </a:r>
          </a:p>
        </p:txBody>
      </p:sp>
      <p:sp>
        <p:nvSpPr>
          <p:cNvPr id="5" name="slide-title">
            <a:extLst xmlns:a="http://schemas.openxmlformats.org/drawingml/2006/main">
              <a:ext uri="{FF2B5EF4-FFF2-40B4-BE49-F238E27FC236}">
                <a16:creationId xmlns:a16="http://schemas.microsoft.com/office/drawing/2014/main" id="{5AAE7C0B-AE88-453C-A032-C22701EF85F8}"/>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Búsqueda semántica</a:t>
            </a:r>
          </a:p>
        </p:txBody>
      </p:sp>
      <p:sp>
        <p:nvSpPr>
          <p:cNvPr id="6" name="learning-purpose">
            <a:extLst xmlns:a="http://schemas.openxmlformats.org/drawingml/2006/main">
              <a:ext uri="{FF2B5EF4-FFF2-40B4-BE49-F238E27FC236}">
                <a16:creationId xmlns:a16="http://schemas.microsoft.com/office/drawing/2014/main" id="{EAB9E38D-32A2-4440-9E81-8FBCE5101A39}"/>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Entender por qué se recuperan candidatos antes de responder.</a:t>
            </a:r>
          </a:p>
        </p:txBody>
      </p:sp>
      <p:sp>
        <p:nvSpPr>
          <p:cNvPr id="7" name="panel">
            <a:extLst xmlns:a="http://schemas.openxmlformats.org/drawingml/2006/main">
              <a:ext uri="{FF2B5EF4-FFF2-40B4-BE49-F238E27FC236}">
                <a16:creationId xmlns:a16="http://schemas.microsoft.com/office/drawing/2014/main" id="{2405D030-5FC2-4864-BE32-FB2444C26F84}"/>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B629B2E5-2563-45C9-91E6-AFF6F9DC11F9}"/>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165EC4C2-0196-4EFA-912F-3E6348CB86EE}"/>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01CE5FB7-4903-4B15-BB8B-9462A2AEBA3F}"/>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4CE7C26D-23EE-4BCD-BFE4-F75A7BABEC9E}"/>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C8E2F0A8-F44F-4A0C-A4AF-4D08C407DB3B}"/>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9AF6DAB4-72FA-4773-A4B6-B4E065B9074C}"/>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C11</a:t>
            </a:r>
          </a:p>
        </p:txBody>
      </p:sp>
      <p:sp>
        <p:nvSpPr>
          <p:cNvPr id="14" name="folio">
            <a:extLst xmlns:a="http://schemas.openxmlformats.org/drawingml/2006/main">
              <a:ext uri="{FF2B5EF4-FFF2-40B4-BE49-F238E27FC236}">
                <a16:creationId xmlns:a16="http://schemas.microsoft.com/office/drawing/2014/main" id="{B01A145D-9555-41B9-9197-EE755B02DC59}"/>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33</a:t>
            </a:r>
          </a:p>
        </p:txBody>
      </p:sp>
      <p:sp>
        <p:nvSpPr>
          <p:cNvPr id="15" name="section-label">
            <a:extLst xmlns:a="http://schemas.openxmlformats.org/drawingml/2006/main">
              <a:ext uri="{FF2B5EF4-FFF2-40B4-BE49-F238E27FC236}">
                <a16:creationId xmlns:a16="http://schemas.microsoft.com/office/drawing/2014/main" id="{5438AD6E-0C41-40E6-A6DB-D7002ECBA1D7}"/>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ANDINA SEGUROS · CASO DIDÁCTICO</a:t>
            </a:r>
          </a:p>
        </p:txBody>
      </p:sp>
      <p:sp>
        <p:nvSpPr>
          <p:cNvPr id="16" name="panel">
            <a:extLst xmlns:a="http://schemas.openxmlformats.org/drawingml/2006/main">
              <a:ext uri="{FF2B5EF4-FFF2-40B4-BE49-F238E27FC236}">
                <a16:creationId xmlns:a16="http://schemas.microsoft.com/office/drawing/2014/main" id="{45396AAD-17E3-4AEF-96F3-7F927B31F25A}"/>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F38F9D1A-C008-4E99-ABE5-5625EA8F13F8}"/>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513B7259-E80D-4E18-B1AD-A3D227183A77}"/>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Busca condiciones de cobertura para una póliza concreta.</a:t>
            </a:r>
          </a:p>
        </p:txBody>
      </p:sp>
      <p:sp>
        <p:nvSpPr>
          <p:cNvPr id="19" name="concept-node">
            <a:extLst xmlns:a="http://schemas.openxmlformats.org/drawingml/2006/main">
              <a:ext uri="{FF2B5EF4-FFF2-40B4-BE49-F238E27FC236}">
                <a16:creationId xmlns:a16="http://schemas.microsoft.com/office/drawing/2014/main" id="{F909B124-101B-4F96-B012-CDB5BBFA75E7}"/>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71CEA375-8CE4-4464-AD0F-AC22FDFDC6AA}"/>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60F9C72-71F8-425E-95BC-964180359008}"/>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7163A598-7545-47A4-ABE7-9584C78A4B3A}"/>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54D412CB-683D-4EE2-ADD8-C7DA7E81A2F1}"/>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Recuperar</a:t>
            </a:r>
          </a:p>
        </p:txBody>
      </p:sp>
      <p:sp>
        <p:nvSpPr>
          <p:cNvPr id="24" name="node-body">
            <a:extLst xmlns:a="http://schemas.openxmlformats.org/drawingml/2006/main">
              <a:ext uri="{FF2B5EF4-FFF2-40B4-BE49-F238E27FC236}">
                <a16:creationId xmlns:a16="http://schemas.microsoft.com/office/drawing/2014/main" id="{8F2F3F05-2666-4419-AF41-3B30C2E0EBAF}"/>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Aparece un fragmento sobre un</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producto parecido.</a:t>
            </a:r>
          </a:p>
        </p:txBody>
      </p:sp>
      <p:sp>
        <p:nvSpPr>
          <p:cNvPr id="25" name="concept-node">
            <a:extLst xmlns:a="http://schemas.openxmlformats.org/drawingml/2006/main">
              <a:ext uri="{FF2B5EF4-FFF2-40B4-BE49-F238E27FC236}">
                <a16:creationId xmlns:a16="http://schemas.microsoft.com/office/drawing/2014/main" id="{8571B58B-802A-461E-9C9B-8BA79575D913}"/>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CDA08951-CCAA-4407-AC86-2F4EB78C4AB1}"/>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08DE708-4707-4591-AA64-32D3145C0B29}"/>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38222E55-EBFC-4BF4-90A4-2ADAF57C521E}"/>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AA6A9BE9-868B-400D-827C-8631D8104A18}"/>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Filtrar</a:t>
            </a:r>
          </a:p>
        </p:txBody>
      </p:sp>
      <p:sp>
        <p:nvSpPr>
          <p:cNvPr id="30" name="node-body">
            <a:extLst xmlns:a="http://schemas.openxmlformats.org/drawingml/2006/main">
              <a:ext uri="{FF2B5EF4-FFF2-40B4-BE49-F238E27FC236}">
                <a16:creationId xmlns:a16="http://schemas.microsoft.com/office/drawing/2014/main" id="{65B1B2D6-D875-43A3-99FA-4F033B51C853}"/>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El producto no coincide: no</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basta la similitud.</a:t>
            </a:r>
          </a:p>
        </p:txBody>
      </p:sp>
      <p:sp>
        <p:nvSpPr>
          <p:cNvPr id="31" name="concept-node">
            <a:extLst xmlns:a="http://schemas.openxmlformats.org/drawingml/2006/main">
              <a:ext uri="{FF2B5EF4-FFF2-40B4-BE49-F238E27FC236}">
                <a16:creationId xmlns:a16="http://schemas.microsoft.com/office/drawing/2014/main" id="{11F14F58-FD57-4EB1-A11B-B352E82806C9}"/>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CAB92DD6-4B3C-44FD-81A2-AE8BE14BF1F8}"/>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C019A56-C4F0-4945-90CE-B871B3410070}"/>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B8FDCA04-0DC4-4557-A160-9AAA8DF82FDF}"/>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A9AFB80D-8D4B-4E36-88DE-A88D109C4BBC}"/>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Resolver</a:t>
            </a:r>
          </a:p>
        </p:txBody>
      </p:sp>
      <p:sp>
        <p:nvSpPr>
          <p:cNvPr id="36" name="node-body">
            <a:extLst xmlns:a="http://schemas.openxmlformats.org/drawingml/2006/main">
              <a:ext uri="{FF2B5EF4-FFF2-40B4-BE49-F238E27FC236}">
                <a16:creationId xmlns:a16="http://schemas.microsoft.com/office/drawing/2014/main" id="{D4C3FE00-66B7-45A5-ABFA-37149F42DDB2}"/>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Buscar la fuente correcta o</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declarar que no está disponible.</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A68FC186-EAF3-4AA6-B006-5DB05859B1A8}"/>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E45E9373-D6D7-4B19-8150-126F1D7319AF}"/>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C8EEC7E7-DFAC-4A95-811D-028961DDD5CE}"/>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Un resultado cercano puede pertenecer a otro producto.</a:t>
            </a:r>
          </a:p>
        </p:txBody>
      </p:sp>
      <p:sp>
        <p:nvSpPr>
          <p:cNvPr id="42" name="panel">
            <a:extLst xmlns:a="http://schemas.openxmlformats.org/drawingml/2006/main">
              <a:ext uri="{FF2B5EF4-FFF2-40B4-BE49-F238E27FC236}">
                <a16:creationId xmlns:a16="http://schemas.microsoft.com/office/drawing/2014/main" id="{16E1E9EC-BA04-458B-9E35-604B0DC8B627}"/>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0467E1DB-9F65-4C14-AE77-C6CE5468AF41}"/>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Recuperar no sustituye verificar el ámbito de la fuente.</a:t>
            </a:r>
          </a:p>
        </p:txBody>
      </p:sp>
    </p:spTree>
    <p:extLst>
      <p:ext uri="{BB962C8B-B14F-4D97-AF65-F5344CB8AC3E}">
        <p14:creationId xmlns:p14="http://schemas.microsoft.com/office/powerpoint/2010/main" val="407795779"/>
      </p:ext>
    </p:extLst>
  </p:cSld>
</p:sld>
</file>

<file path=ppt/slides/slide3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CB51DB6B-068F-4C75-808C-A7E7A687C791}"/>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C273B7A-4C06-4C00-91B9-41D167F5C250}"/>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BCC488D1-6B37-4192-87F7-592CDEAC269F}"/>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12</a:t>
            </a:r>
          </a:p>
        </p:txBody>
      </p:sp>
      <p:sp>
        <p:nvSpPr>
          <p:cNvPr id="4" name="breadcrumb">
            <a:extLst xmlns:a="http://schemas.openxmlformats.org/drawingml/2006/main">
              <a:ext uri="{FF2B5EF4-FFF2-40B4-BE49-F238E27FC236}">
                <a16:creationId xmlns:a16="http://schemas.microsoft.com/office/drawing/2014/main" id="{D56C84C6-33BF-49C6-B01E-25C6F05685A4}"/>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12</a:t>
            </a:r>
          </a:p>
        </p:txBody>
      </p:sp>
      <p:sp>
        <p:nvSpPr>
          <p:cNvPr id="5" name="slide-title">
            <a:extLst xmlns:a="http://schemas.openxmlformats.org/drawingml/2006/main">
              <a:ext uri="{FF2B5EF4-FFF2-40B4-BE49-F238E27FC236}">
                <a16:creationId xmlns:a16="http://schemas.microsoft.com/office/drawing/2014/main" id="{D32386DD-1CD7-4BCF-8B1E-4A1A0C2D239F}"/>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Costo de una conversación</a:t>
            </a:r>
          </a:p>
        </p:txBody>
      </p:sp>
      <p:sp>
        <p:nvSpPr>
          <p:cNvPr id="6" name="learning-purpose">
            <a:extLst xmlns:a="http://schemas.openxmlformats.org/drawingml/2006/main">
              <a:ext uri="{FF2B5EF4-FFF2-40B4-BE49-F238E27FC236}">
                <a16:creationId xmlns:a16="http://schemas.microsoft.com/office/drawing/2014/main" id="{50B7F2D8-2CA9-4EA6-82DD-A5549DBC9BFD}"/>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Calcular el costo a partir de entrada y salida de cada llamada.</a:t>
            </a:r>
          </a:p>
        </p:txBody>
      </p:sp>
      <p:sp>
        <p:nvSpPr>
          <p:cNvPr id="7" name="panel">
            <a:extLst xmlns:a="http://schemas.openxmlformats.org/drawingml/2006/main">
              <a:ext uri="{FF2B5EF4-FFF2-40B4-BE49-F238E27FC236}">
                <a16:creationId xmlns:a16="http://schemas.microsoft.com/office/drawing/2014/main" id="{433ADB99-40B9-4D7D-9EE6-195C62B6BFF3}"/>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A1F3846A-7FC4-4744-BE02-006F180CFA54}"/>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6D58DD02-6279-4662-99C3-98666E6299EB}"/>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D6515326-20A2-4B2D-AD30-D5B4F7ABE42B}"/>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AFF31239-03E3-4EEA-B7F9-7F408FCAA284}"/>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0B1FA313-68C6-45BD-B6FB-5341DCB522D3}"/>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4478E63E-02BC-43B2-86B5-7994A8509A9A}"/>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C12</a:t>
            </a:r>
          </a:p>
        </p:txBody>
      </p:sp>
      <p:sp>
        <p:nvSpPr>
          <p:cNvPr id="14" name="folio">
            <a:extLst xmlns:a="http://schemas.openxmlformats.org/drawingml/2006/main">
              <a:ext uri="{FF2B5EF4-FFF2-40B4-BE49-F238E27FC236}">
                <a16:creationId xmlns:a16="http://schemas.microsoft.com/office/drawing/2014/main" id="{389AAD85-6673-4013-8A7F-441581E8480F}"/>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34</a:t>
            </a:r>
          </a:p>
        </p:txBody>
      </p:sp>
      <p:sp>
        <p:nvSpPr>
          <p:cNvPr id="15" name="section-label">
            <a:extLst xmlns:a="http://schemas.openxmlformats.org/drawingml/2006/main">
              <a:ext uri="{FF2B5EF4-FFF2-40B4-BE49-F238E27FC236}">
                <a16:creationId xmlns:a16="http://schemas.microsoft.com/office/drawing/2014/main" id="{BC121807-4572-4054-A300-542CB286E05A}"/>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SEGUIR LA RELACIÓN ENTRE LAS PIEZAS</a:t>
            </a:r>
          </a:p>
        </p:txBody>
      </p:sp>
      <p:sp>
        <p:nvSpPr>
          <p:cNvPr id="16" name="concept-node">
            <a:extLst xmlns:a="http://schemas.openxmlformats.org/drawingml/2006/main">
              <a:ext uri="{FF2B5EF4-FFF2-40B4-BE49-F238E27FC236}">
                <a16:creationId xmlns:a16="http://schemas.microsoft.com/office/drawing/2014/main" id="{8F822407-268C-4DE8-96FC-E4D9091624B6}"/>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85FFFCE4-39EA-43D2-BF9D-0A3A00D82532}"/>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039F4C7-4754-4AA4-B893-5336CCB06FFA}"/>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F777293D-8707-42EF-8CD5-7C52E4E53378}"/>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D1949DF0-2757-45AA-BE07-33EF44ED1F33}"/>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Entrada</a:t>
            </a:r>
          </a:p>
        </p:txBody>
      </p:sp>
      <p:sp>
        <p:nvSpPr>
          <p:cNvPr id="21" name="node-body">
            <a:extLst xmlns:a="http://schemas.openxmlformats.org/drawingml/2006/main">
              <a:ext uri="{FF2B5EF4-FFF2-40B4-BE49-F238E27FC236}">
                <a16:creationId xmlns:a16="http://schemas.microsoft.com/office/drawing/2014/main" id="{24E86CCD-8884-4706-834A-723BF4B6169E}"/>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Prompt, historial,</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herramientas y documentos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reenviados.</a:t>
            </a:r>
          </a:p>
        </p:txBody>
      </p:sp>
      <p:sp>
        <p:nvSpPr>
          <p:cNvPr id="22" name="concept-node">
            <a:extLst xmlns:a="http://schemas.openxmlformats.org/drawingml/2006/main">
              <a:ext uri="{FF2B5EF4-FFF2-40B4-BE49-F238E27FC236}">
                <a16:creationId xmlns:a16="http://schemas.microsoft.com/office/drawing/2014/main" id="{1AA0F8F4-A203-44FA-95D3-07C5ECC4690A}"/>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F0CAA722-6699-4A49-A11A-89DB1B15199E}"/>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9A60D8C-1037-4CB1-BFE7-FD241F915594}"/>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F665A489-EBFA-48A5-A19A-74E6BCE7C28B}"/>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4F197840-8A5B-40A6-860A-78D72266CAFF}"/>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Salida</a:t>
            </a:r>
          </a:p>
        </p:txBody>
      </p:sp>
      <p:sp>
        <p:nvSpPr>
          <p:cNvPr id="27" name="node-body">
            <a:extLst xmlns:a="http://schemas.openxmlformats.org/drawingml/2006/main">
              <a:ext uri="{FF2B5EF4-FFF2-40B4-BE49-F238E27FC236}">
                <a16:creationId xmlns:a16="http://schemas.microsoft.com/office/drawing/2014/main" id="{4F431260-4681-482F-BDA2-3429DE9651D7}"/>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Tokens generados durante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esa llamada.</a:t>
            </a:r>
          </a:p>
        </p:txBody>
      </p:sp>
      <p:sp>
        <p:nvSpPr>
          <p:cNvPr id="28" name="concept-node">
            <a:extLst xmlns:a="http://schemas.openxmlformats.org/drawingml/2006/main">
              <a:ext uri="{FF2B5EF4-FFF2-40B4-BE49-F238E27FC236}">
                <a16:creationId xmlns:a16="http://schemas.microsoft.com/office/drawing/2014/main" id="{2D3F1B9E-9496-4732-9214-E0925A38E33C}"/>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22E23A71-A70C-43C9-BFC6-A3AEE0362162}"/>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3CD7E9C0-64AB-428E-9E87-B5DD757683AD}"/>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B7671F4A-E0D1-4B81-9330-8895683F9787}"/>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F85EFB02-4175-4E2C-B991-F7DCD46BB290}"/>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Total</a:t>
            </a:r>
          </a:p>
        </p:txBody>
      </p:sp>
      <p:sp>
        <p:nvSpPr>
          <p:cNvPr id="33" name="node-body">
            <a:extLst xmlns:a="http://schemas.openxmlformats.org/drawingml/2006/main">
              <a:ext uri="{FF2B5EF4-FFF2-40B4-BE49-F238E27FC236}">
                <a16:creationId xmlns:a16="http://schemas.microsoft.com/office/drawing/2014/main" id="{D682094D-0006-4C83-878D-D01D79460C67}"/>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Sumar el costo de todas las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llamadas del flujo.</a:t>
            </a:r>
          </a:p>
        </p:txBody>
      </p:sp>
      <p:cxnSp>
        <p:nvCxnSpPr>
          <p:cNvPr id="77" name=""/>
          <p:cNvCxnSpPr>
            <a:stCxn xmlns:a="http://schemas.openxmlformats.org/drawingml/2006/main" id="16" idx="3"/>
            <a:endCxn xmlns:a="http://schemas.openxmlformats.org/drawingml/2006/main" id="22" idx="1"/>
          </p:cNvCxnSpPr>
          <p:nvPr/>
        </p:nvCxnSpPr>
        <p:spPr>
          <a:xfrm xmlns:a="http://schemas.openxmlformats.org/drawingml/2006/main">
            <a:off x="495300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78" name=""/>
          <p:cNvCxnSpPr>
            <a:stCxn xmlns:a="http://schemas.openxmlformats.org/drawingml/2006/main" id="22" idx="3"/>
            <a:endCxn xmlns:a="http://schemas.openxmlformats.org/drawingml/2006/main" id="28" idx="1"/>
          </p:cNvCxnSpPr>
          <p:nvPr/>
        </p:nvCxnSpPr>
        <p:spPr>
          <a:xfrm xmlns:a="http://schemas.openxmlformats.org/drawingml/2006/main">
            <a:off x="981075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6" name="panel">
            <a:extLst xmlns:a="http://schemas.openxmlformats.org/drawingml/2006/main">
              <a:ext uri="{FF2B5EF4-FFF2-40B4-BE49-F238E27FC236}">
                <a16:creationId xmlns:a16="http://schemas.microsoft.com/office/drawing/2014/main" id="{EE84AFB6-AA66-40E4-8509-35B46CA574FE}"/>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7" name="section-label">
            <a:extLst xmlns:a="http://schemas.openxmlformats.org/drawingml/2006/main">
              <a:ext uri="{FF2B5EF4-FFF2-40B4-BE49-F238E27FC236}">
                <a16:creationId xmlns:a16="http://schemas.microsoft.com/office/drawing/2014/main" id="{60366289-4A8D-4D81-966D-D1395A6E08CB}"/>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8" name="concept-question">
            <a:extLst xmlns:a="http://schemas.openxmlformats.org/drawingml/2006/main">
              <a:ext uri="{FF2B5EF4-FFF2-40B4-BE49-F238E27FC236}">
                <a16:creationId xmlns:a16="http://schemas.microsoft.com/office/drawing/2014/main" id="{4F88391C-CACC-4536-90EA-47E45D8FD094}"/>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¿Por qué dos turnos cortos pueden consumir más que uno</a:t>
            </a:r>
          </a:p>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largo?</a:t>
            </a:r>
          </a:p>
        </p:txBody>
      </p:sp>
      <p:sp>
        <p:nvSpPr>
          <p:cNvPr id="39" name="panel">
            <a:extLst xmlns:a="http://schemas.openxmlformats.org/drawingml/2006/main">
              <a:ext uri="{FF2B5EF4-FFF2-40B4-BE49-F238E27FC236}">
                <a16:creationId xmlns:a16="http://schemas.microsoft.com/office/drawing/2014/main" id="{B4AE5ACC-85F5-4D7A-A5B7-355DD3B72873}"/>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40" name="misconception-label">
            <a:extLst xmlns:a="http://schemas.openxmlformats.org/drawingml/2006/main">
              <a:ext uri="{FF2B5EF4-FFF2-40B4-BE49-F238E27FC236}">
                <a16:creationId xmlns:a16="http://schemas.microsoft.com/office/drawing/2014/main" id="{ECC95EA3-176E-4E63-AEDF-7B8E25CBA36A}"/>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41" name="misconception">
            <a:extLst xmlns:a="http://schemas.openxmlformats.org/drawingml/2006/main">
              <a:ext uri="{FF2B5EF4-FFF2-40B4-BE49-F238E27FC236}">
                <a16:creationId xmlns:a16="http://schemas.microsoft.com/office/drawing/2014/main" id="{5B14F23D-841F-4F20-89BC-FCCC0A525A02}"/>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Mezclar precio por mil y por millón o</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olvidar llamadas internas.</a:t>
            </a:r>
          </a:p>
        </p:txBody>
      </p:sp>
      <p:sp>
        <p:nvSpPr>
          <p:cNvPr id="42" name="panel">
            <a:extLst xmlns:a="http://schemas.openxmlformats.org/drawingml/2006/main">
              <a:ext uri="{FF2B5EF4-FFF2-40B4-BE49-F238E27FC236}">
                <a16:creationId xmlns:a16="http://schemas.microsoft.com/office/drawing/2014/main" id="{744EF4C1-EBA4-44EE-B003-CC1C2E8B8573}"/>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037FACE6-23D5-4FF1-B8EC-33DF9717E0DB}"/>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El historial reenviado se vuelve a contar en cada entrada.</a:t>
            </a:r>
          </a:p>
        </p:txBody>
      </p:sp>
    </p:spTree>
    <p:extLst>
      <p:ext uri="{BB962C8B-B14F-4D97-AF65-F5344CB8AC3E}">
        <p14:creationId xmlns:p14="http://schemas.microsoft.com/office/powerpoint/2010/main" val="1447601464"/>
      </p:ext>
    </p:extLst>
  </p:cSld>
</p:sld>
</file>

<file path=ppt/slides/slide3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D7AC74E5-9207-4C1E-9CFB-3CF5413AEB30}"/>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323B111-3233-427B-AF11-C26841CB94E5}"/>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792BCF8A-4718-444A-881E-9FBA845975A3}"/>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12</a:t>
            </a:r>
          </a:p>
        </p:txBody>
      </p:sp>
      <p:sp>
        <p:nvSpPr>
          <p:cNvPr id="4" name="breadcrumb">
            <a:extLst xmlns:a="http://schemas.openxmlformats.org/drawingml/2006/main">
              <a:ext uri="{FF2B5EF4-FFF2-40B4-BE49-F238E27FC236}">
                <a16:creationId xmlns:a16="http://schemas.microsoft.com/office/drawing/2014/main" id="{CD12B466-BF21-474F-9E1C-DA48CB83B0E8}"/>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12</a:t>
            </a:r>
          </a:p>
        </p:txBody>
      </p:sp>
      <p:sp>
        <p:nvSpPr>
          <p:cNvPr id="5" name="slide-title">
            <a:extLst xmlns:a="http://schemas.openxmlformats.org/drawingml/2006/main">
              <a:ext uri="{FF2B5EF4-FFF2-40B4-BE49-F238E27FC236}">
                <a16:creationId xmlns:a16="http://schemas.microsoft.com/office/drawing/2014/main" id="{60072347-B266-4C5A-AA68-E348AFEF7B07}"/>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Aplicar la fórmula con unidades</a:t>
            </a:r>
          </a:p>
        </p:txBody>
      </p:sp>
      <p:sp>
        <p:nvSpPr>
          <p:cNvPr id="6" name="learning-purpose">
            <a:extLst xmlns:a="http://schemas.openxmlformats.org/drawingml/2006/main">
              <a:ext uri="{FF2B5EF4-FFF2-40B4-BE49-F238E27FC236}">
                <a16:creationId xmlns:a16="http://schemas.microsoft.com/office/drawing/2014/main" id="{F6F4B39C-7F12-4982-9270-54BF33075994}"/>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Calcular el costo a partir de entrada y salida de cada llamada.</a:t>
            </a:r>
          </a:p>
        </p:txBody>
      </p:sp>
      <p:sp>
        <p:nvSpPr>
          <p:cNvPr id="7" name="panel">
            <a:extLst xmlns:a="http://schemas.openxmlformats.org/drawingml/2006/main">
              <a:ext uri="{FF2B5EF4-FFF2-40B4-BE49-F238E27FC236}">
                <a16:creationId xmlns:a16="http://schemas.microsoft.com/office/drawing/2014/main" id="{261480EE-4952-4233-B715-587928031668}"/>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CEEF6D7A-B726-4BBF-B876-DEB56AC163E4}"/>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51E16CDF-59BB-4B62-A969-891450E6FA65}"/>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7FF9A9BB-338E-455B-8300-2FF5B440A9B3}"/>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8BDEB7F6-7058-4E97-BAD2-9B3B53BC45D0}"/>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E3062386-B05C-4D59-A433-493DC4074B86}"/>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D6A46BF3-DD8B-4EC9-9CDA-8E0CD301D863}"/>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C12</a:t>
            </a:r>
          </a:p>
        </p:txBody>
      </p:sp>
      <p:sp>
        <p:nvSpPr>
          <p:cNvPr id="14" name="folio">
            <a:extLst xmlns:a="http://schemas.openxmlformats.org/drawingml/2006/main">
              <a:ext uri="{FF2B5EF4-FFF2-40B4-BE49-F238E27FC236}">
                <a16:creationId xmlns:a16="http://schemas.microsoft.com/office/drawing/2014/main" id="{93668FF8-2AFD-4C03-8853-3EC721BAB8A4}"/>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35</a:t>
            </a:r>
          </a:p>
        </p:txBody>
      </p:sp>
      <p:sp>
        <p:nvSpPr>
          <p:cNvPr id="15" name="section-label">
            <a:extLst xmlns:a="http://schemas.openxmlformats.org/drawingml/2006/main">
              <a:ext uri="{FF2B5EF4-FFF2-40B4-BE49-F238E27FC236}">
                <a16:creationId xmlns:a16="http://schemas.microsoft.com/office/drawing/2014/main" id="{2C12E953-D41E-48D2-B92D-4C51B617205C}"/>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Entrada</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tokens_in × precio_in / unidad de precio.</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Salida</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tokens_out × precio_out / la misma unidad</a:t>
                      </a:r>
                    </a:p>
                    <a:p>
                      <a:r>
                        <a:rPr sz="1875" b="0">
                          <a:solidFill>
                            <a:srgbClr val="1E293B"/>
                          </a:solidFill>
                          <a:latin typeface="DejaVu Sans"/>
                          <a:ea typeface="DejaVu Sans"/>
                          <a:cs typeface="DejaVu Sans"/>
                        </a:rPr>
                        <a:t>publicada.</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Conversación</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Sumar ambas partes en cada turno y cada llamada</a:t>
                      </a:r>
                    </a:p>
                    <a:p>
                      <a:r>
                        <a:rPr sz="1875" b="0">
                          <a:solidFill>
                            <a:srgbClr val="1E293B"/>
                          </a:solidFill>
                          <a:latin typeface="DejaVu Sans"/>
                          <a:ea typeface="DejaVu Sans"/>
                          <a:cs typeface="DejaVu Sans"/>
                        </a:rPr>
                        <a:t>interna.</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CF803365-140D-4CFB-8AD4-F9A5BFFFCB00}"/>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686A2610-662C-441F-9C14-574BE083AF98}"/>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8CFB0C49-7749-4878-A10F-4590E0423A0B}"/>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Mezclar precio por mil y por</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millón o olvidar llamadas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internas.</a:t>
            </a:r>
          </a:p>
        </p:txBody>
      </p:sp>
      <p:sp>
        <p:nvSpPr>
          <p:cNvPr id="20" name="development-prompt">
            <a:extLst xmlns:a="http://schemas.openxmlformats.org/drawingml/2006/main">
              <a:ext uri="{FF2B5EF4-FFF2-40B4-BE49-F238E27FC236}">
                <a16:creationId xmlns:a16="http://schemas.microsoft.com/office/drawing/2014/main" id="{9195E97E-A12C-4073-8707-385FF74085CA}"/>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5671C03C-1B27-42AF-83A7-008D1FEBFAA5}"/>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8E7BA8B2-F5C1-4D12-903B-0AA5F584B526}"/>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31C19FD2-CEB7-4BA7-8314-9034EC9DB95C}"/>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¿Por qué dos turnos cortos pueden consumir más que uno largo?</a:t>
            </a:r>
          </a:p>
        </p:txBody>
      </p:sp>
      <p:sp>
        <p:nvSpPr>
          <p:cNvPr id="24" name="panel">
            <a:extLst xmlns:a="http://schemas.openxmlformats.org/drawingml/2006/main">
              <a:ext uri="{FF2B5EF4-FFF2-40B4-BE49-F238E27FC236}">
                <a16:creationId xmlns:a16="http://schemas.microsoft.com/office/drawing/2014/main" id="{08DAA321-E3D2-492D-A773-34F4CBB1EC7B}"/>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48636785-7449-4E89-8CD6-904D4B7A0DD1}"/>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El historial reenviado se vuelve a contar en cada entrada.</a:t>
            </a:r>
          </a:p>
        </p:txBody>
      </p:sp>
    </p:spTree>
    <p:extLst>
      <p:ext uri="{BB962C8B-B14F-4D97-AF65-F5344CB8AC3E}">
        <p14:creationId xmlns:p14="http://schemas.microsoft.com/office/powerpoint/2010/main" val="494826918"/>
      </p:ext>
    </p:extLst>
  </p:cSld>
</p:sld>
</file>

<file path=ppt/slides/slide3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95F349AA-B001-404F-8866-9A4EE352D7D6}"/>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D94C492-D950-43A1-BF08-55FFFC9B6B47}"/>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B4A71608-6E0A-456B-9FE9-1A869F2F6506}"/>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12</a:t>
            </a:r>
          </a:p>
        </p:txBody>
      </p:sp>
      <p:sp>
        <p:nvSpPr>
          <p:cNvPr id="4" name="breadcrumb">
            <a:extLst xmlns:a="http://schemas.openxmlformats.org/drawingml/2006/main">
              <a:ext uri="{FF2B5EF4-FFF2-40B4-BE49-F238E27FC236}">
                <a16:creationId xmlns:a16="http://schemas.microsoft.com/office/drawing/2014/main" id="{35147101-174B-4EA1-B984-4DC08034F46B}"/>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12</a:t>
            </a:r>
          </a:p>
        </p:txBody>
      </p:sp>
      <p:sp>
        <p:nvSpPr>
          <p:cNvPr id="5" name="slide-title">
            <a:extLst xmlns:a="http://schemas.openxmlformats.org/drawingml/2006/main">
              <a:ext uri="{FF2B5EF4-FFF2-40B4-BE49-F238E27FC236}">
                <a16:creationId xmlns:a16="http://schemas.microsoft.com/office/drawing/2014/main" id="{33D8F4C7-BF11-498B-93B3-DA16D669ACAC}"/>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Costo de una conversación</a:t>
            </a:r>
          </a:p>
        </p:txBody>
      </p:sp>
      <p:sp>
        <p:nvSpPr>
          <p:cNvPr id="6" name="learning-purpose">
            <a:extLst xmlns:a="http://schemas.openxmlformats.org/drawingml/2006/main">
              <a:ext uri="{FF2B5EF4-FFF2-40B4-BE49-F238E27FC236}">
                <a16:creationId xmlns:a16="http://schemas.microsoft.com/office/drawing/2014/main" id="{46EF788C-AC07-4326-9195-7BE72ED90845}"/>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Calcular el costo a partir de entrada y salida de cada llamada.</a:t>
            </a:r>
          </a:p>
        </p:txBody>
      </p:sp>
      <p:sp>
        <p:nvSpPr>
          <p:cNvPr id="7" name="panel">
            <a:extLst xmlns:a="http://schemas.openxmlformats.org/drawingml/2006/main">
              <a:ext uri="{FF2B5EF4-FFF2-40B4-BE49-F238E27FC236}">
                <a16:creationId xmlns:a16="http://schemas.microsoft.com/office/drawing/2014/main" id="{4D7FC758-B614-4885-B6FF-870232BF5551}"/>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6E3FCE6B-99DC-4ECE-A65E-4DE40BE50C14}"/>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40D08E2B-40FE-4619-80AB-47576D4B40B3}"/>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84C46E3C-96DD-4A1A-898D-6E65D4589223}"/>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FCF03FB3-2178-4325-8515-4B28A2D7A97D}"/>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5A9D16C3-ADF1-4398-B39E-242CCAB43E10}"/>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8E2217E1-4CBD-4157-8C61-B9B3CD24B1ED}"/>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C12</a:t>
            </a:r>
          </a:p>
        </p:txBody>
      </p:sp>
      <p:sp>
        <p:nvSpPr>
          <p:cNvPr id="14" name="folio">
            <a:extLst xmlns:a="http://schemas.openxmlformats.org/drawingml/2006/main">
              <a:ext uri="{FF2B5EF4-FFF2-40B4-BE49-F238E27FC236}">
                <a16:creationId xmlns:a16="http://schemas.microsoft.com/office/drawing/2014/main" id="{A7F6B423-B707-4061-9AB3-7EA01640D258}"/>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36</a:t>
            </a:r>
          </a:p>
        </p:txBody>
      </p:sp>
      <p:sp>
        <p:nvSpPr>
          <p:cNvPr id="15" name="section-label">
            <a:extLst xmlns:a="http://schemas.openxmlformats.org/drawingml/2006/main">
              <a:ext uri="{FF2B5EF4-FFF2-40B4-BE49-F238E27FC236}">
                <a16:creationId xmlns:a16="http://schemas.microsoft.com/office/drawing/2014/main" id="{2599B9F5-C490-44C4-95D9-19F8AD3F9559}"/>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ANDESMÓVIL · CASO DIDÁCTICO</a:t>
            </a:r>
          </a:p>
        </p:txBody>
      </p:sp>
      <p:sp>
        <p:nvSpPr>
          <p:cNvPr id="16" name="panel">
            <a:extLst xmlns:a="http://schemas.openxmlformats.org/drawingml/2006/main">
              <a:ext uri="{FF2B5EF4-FFF2-40B4-BE49-F238E27FC236}">
                <a16:creationId xmlns:a16="http://schemas.microsoft.com/office/drawing/2014/main" id="{EA70CFA8-354C-4929-A9F7-2C3540EE0038}"/>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493C29E7-98FC-4088-A65B-25A4138740C4}"/>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CB8F7463-5E84-4336-B8BF-FA60D96CD757}"/>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Dos llamadas consumen 1.000/200 y 2.000/300 tokens de entrada/salida.</a:t>
            </a:r>
          </a:p>
        </p:txBody>
      </p:sp>
      <p:sp>
        <p:nvSpPr>
          <p:cNvPr id="19" name="concept-node">
            <a:extLst xmlns:a="http://schemas.openxmlformats.org/drawingml/2006/main">
              <a:ext uri="{FF2B5EF4-FFF2-40B4-BE49-F238E27FC236}">
                <a16:creationId xmlns:a16="http://schemas.microsoft.com/office/drawing/2014/main" id="{ECA57ECC-312A-4D92-8A78-6433F10E42DE}"/>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CEF07C02-5A29-4A67-AB5E-6FA16E334B64}"/>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9D5B06F5-67BD-47D0-A071-328646F39268}"/>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59CE05FC-974E-4D6D-8818-E62FE07037A8}"/>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C7957EF9-18BA-417C-B8FD-206BF39BB766}"/>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Sumar</a:t>
            </a:r>
          </a:p>
        </p:txBody>
      </p:sp>
      <p:sp>
        <p:nvSpPr>
          <p:cNvPr id="24" name="node-body">
            <a:extLst xmlns:a="http://schemas.openxmlformats.org/drawingml/2006/main">
              <a:ext uri="{FF2B5EF4-FFF2-40B4-BE49-F238E27FC236}">
                <a16:creationId xmlns:a16="http://schemas.microsoft.com/office/drawing/2014/main" id="{CE3A56B7-7A49-4D7A-8D4C-1D30CA5A12D4}"/>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3.000 tokens de entrada y 500</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de salida.</a:t>
            </a:r>
          </a:p>
        </p:txBody>
      </p:sp>
      <p:sp>
        <p:nvSpPr>
          <p:cNvPr id="25" name="concept-node">
            <a:extLst xmlns:a="http://schemas.openxmlformats.org/drawingml/2006/main">
              <a:ext uri="{FF2B5EF4-FFF2-40B4-BE49-F238E27FC236}">
                <a16:creationId xmlns:a16="http://schemas.microsoft.com/office/drawing/2014/main" id="{5DBC5ECD-2864-4BAF-9804-E4E1FF00CDC9}"/>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3311C867-8E5C-47AE-834A-0F6D5C82AFEA}"/>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BD6E2B5-6CFF-4CEF-A5BA-FD3ADAB1C3E0}"/>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7F2D96C0-7AD1-4D9C-93D7-0A37D7C73D93}"/>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45B939EF-0C84-4FCB-8B8A-DEEF85CD6391}"/>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Sustituir</a:t>
            </a:r>
          </a:p>
        </p:txBody>
      </p:sp>
      <p:sp>
        <p:nvSpPr>
          <p:cNvPr id="30" name="node-body">
            <a:extLst xmlns:a="http://schemas.openxmlformats.org/drawingml/2006/main">
              <a:ext uri="{FF2B5EF4-FFF2-40B4-BE49-F238E27FC236}">
                <a16:creationId xmlns:a16="http://schemas.microsoft.com/office/drawing/2014/main" id="{34F2E0EB-6A3C-40BD-9A42-6E504507070A}"/>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Usar p_in y p_out por millón de</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tokens.</a:t>
            </a:r>
          </a:p>
        </p:txBody>
      </p:sp>
      <p:sp>
        <p:nvSpPr>
          <p:cNvPr id="31" name="concept-node">
            <a:extLst xmlns:a="http://schemas.openxmlformats.org/drawingml/2006/main">
              <a:ext uri="{FF2B5EF4-FFF2-40B4-BE49-F238E27FC236}">
                <a16:creationId xmlns:a16="http://schemas.microsoft.com/office/drawing/2014/main" id="{62B30D56-2417-473C-BA92-F011486FDA09}"/>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1146740F-EB53-4877-A188-7DE05CCF6E03}"/>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7C09D52-D32E-45C2-A3A9-A8742BA787E3}"/>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CD39900C-77F2-4ADF-A89E-018D454721BA}"/>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FF873A5B-6CBC-4AAE-92C9-6DEF96D7FDB5}"/>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Calcular</a:t>
            </a:r>
          </a:p>
        </p:txBody>
      </p:sp>
      <p:sp>
        <p:nvSpPr>
          <p:cNvPr id="36" name="node-body">
            <a:extLst xmlns:a="http://schemas.openxmlformats.org/drawingml/2006/main">
              <a:ext uri="{FF2B5EF4-FFF2-40B4-BE49-F238E27FC236}">
                <a16:creationId xmlns:a16="http://schemas.microsoft.com/office/drawing/2014/main" id="{1FB4D222-F846-4DCB-84AF-738CA117A3C7}"/>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Costo = 0,003 × p_in + 0,0005</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 p_out.</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349A1AA9-2FB5-4E43-88D6-91EE64EE9D81}"/>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8FE8E6EC-A100-4130-8ACE-EF7D240B46C4}"/>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C02A1371-EE38-4935-BDF1-74BB6F0A77F4}"/>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Fórmula didáctica: usa precios vigentes del endpoint, no una tarifa fija del curso.</a:t>
            </a:r>
          </a:p>
        </p:txBody>
      </p:sp>
      <p:sp>
        <p:nvSpPr>
          <p:cNvPr id="42" name="panel">
            <a:extLst xmlns:a="http://schemas.openxmlformats.org/drawingml/2006/main">
              <a:ext uri="{FF2B5EF4-FFF2-40B4-BE49-F238E27FC236}">
                <a16:creationId xmlns:a16="http://schemas.microsoft.com/office/drawing/2014/main" id="{08B35AAD-17AF-458A-8901-84B6DAF51B8D}"/>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08C40651-CAA5-42B2-98F9-9FC0941A0459}"/>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El historial reenviado se vuelve a contar en cada entrada.</a:t>
            </a:r>
          </a:p>
        </p:txBody>
      </p:sp>
    </p:spTree>
    <p:extLst>
      <p:ext uri="{BB962C8B-B14F-4D97-AF65-F5344CB8AC3E}">
        <p14:creationId xmlns:p14="http://schemas.microsoft.com/office/powerpoint/2010/main" val="147045511"/>
      </p:ext>
    </p:extLst>
  </p:cSld>
</p:sld>
</file>

<file path=ppt/slides/slide3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2" name="header">
            <a:extLst xmlns:a="http://schemas.openxmlformats.org/drawingml/2006/main">
              <a:ext uri="{FF2B5EF4-FFF2-40B4-BE49-F238E27FC236}">
                <a16:creationId xmlns:a16="http://schemas.microsoft.com/office/drawing/2014/main" id="{2A07F49D-8610-4583-9EFB-09130DC40D4E}"/>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6AB8E55-3445-4495-960B-17E399F7AAD3}"/>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B68FC164-6F67-4356-AF94-83FD5F351A88}"/>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13</a:t>
            </a:r>
          </a:p>
        </p:txBody>
      </p:sp>
      <p:sp>
        <p:nvSpPr>
          <p:cNvPr id="4" name="breadcrumb">
            <a:extLst xmlns:a="http://schemas.openxmlformats.org/drawingml/2006/main">
              <a:ext uri="{FF2B5EF4-FFF2-40B4-BE49-F238E27FC236}">
                <a16:creationId xmlns:a16="http://schemas.microsoft.com/office/drawing/2014/main" id="{3E4FA6FC-809B-4083-A53C-D2059548D0AD}"/>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13</a:t>
            </a:r>
          </a:p>
        </p:txBody>
      </p:sp>
      <p:sp>
        <p:nvSpPr>
          <p:cNvPr id="5" name="slide-title">
            <a:extLst xmlns:a="http://schemas.openxmlformats.org/drawingml/2006/main">
              <a:ext uri="{FF2B5EF4-FFF2-40B4-BE49-F238E27FC236}">
                <a16:creationId xmlns:a16="http://schemas.microsoft.com/office/drawing/2014/main" id="{EAE7D1B8-C579-401D-A7A3-29DAA0AFE35D}"/>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Reducir contexto con criterio</a:t>
            </a:r>
          </a:p>
        </p:txBody>
      </p:sp>
      <p:sp>
        <p:nvSpPr>
          <p:cNvPr id="6" name="learning-purpose">
            <a:extLst xmlns:a="http://schemas.openxmlformats.org/drawingml/2006/main">
              <a:ext uri="{FF2B5EF4-FFF2-40B4-BE49-F238E27FC236}">
                <a16:creationId xmlns:a16="http://schemas.microsoft.com/office/drawing/2014/main" id="{4FF1345A-BB49-4743-A09A-BED5046A3D16}"/>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Reducir tokens preservando información necesaria para responder bien.</a:t>
            </a:r>
          </a:p>
        </p:txBody>
      </p:sp>
      <p:sp>
        <p:nvSpPr>
          <p:cNvPr id="7" name="panel">
            <a:extLst xmlns:a="http://schemas.openxmlformats.org/drawingml/2006/main">
              <a:ext uri="{FF2B5EF4-FFF2-40B4-BE49-F238E27FC236}">
                <a16:creationId xmlns:a16="http://schemas.microsoft.com/office/drawing/2014/main" id="{C7F59ACF-70A8-43DB-924A-522BDD4BCF6C}"/>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A24BE22B-C3FA-427B-AD9C-E6206C42DD47}"/>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D0E2AF7B-8509-4C04-914F-763D67FF2242}"/>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ADE9EBBF-D1AC-4915-9D4E-6C5936DD5C30}"/>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92F18F25-3DD2-40B6-86E0-DBD68BEA5AB2}"/>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22D6377E-8078-42EC-83CD-BC7523BE14FF}"/>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B778E7DA-8CCB-4697-8ACA-8D2FCB1FDCAC}"/>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C13</a:t>
            </a:r>
          </a:p>
        </p:txBody>
      </p:sp>
      <p:sp>
        <p:nvSpPr>
          <p:cNvPr id="14" name="folio">
            <a:extLst xmlns:a="http://schemas.openxmlformats.org/drawingml/2006/main">
              <a:ext uri="{FF2B5EF4-FFF2-40B4-BE49-F238E27FC236}">
                <a16:creationId xmlns:a16="http://schemas.microsoft.com/office/drawing/2014/main" id="{1E738F08-89D9-4702-BAE9-DD464E657F77}"/>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37</a:t>
            </a:r>
          </a:p>
        </p:txBody>
      </p:sp>
      <p:sp>
        <p:nvSpPr>
          <p:cNvPr id="15" name="section-label">
            <a:extLst xmlns:a="http://schemas.openxmlformats.org/drawingml/2006/main">
              <a:ext uri="{FF2B5EF4-FFF2-40B4-BE49-F238E27FC236}">
                <a16:creationId xmlns:a16="http://schemas.microsoft.com/office/drawing/2014/main" id="{062153E8-930E-48DC-974B-5310C0F7BD12}"/>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COMPARAR RESPONSABILIDADES</a:t>
            </a:r>
          </a:p>
        </p:txBody>
      </p:sp>
      <p:sp>
        <p:nvSpPr>
          <p:cNvPr id="16" name="concept-node">
            <a:extLst xmlns:a="http://schemas.openxmlformats.org/drawingml/2006/main">
              <a:ext uri="{FF2B5EF4-FFF2-40B4-BE49-F238E27FC236}">
                <a16:creationId xmlns:a16="http://schemas.microsoft.com/office/drawing/2014/main" id="{08B2B547-5C7A-4DEF-9B96-C54A240C7A28}"/>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E190C89B-A482-4A91-A433-19B7F8445FE1}"/>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23B1AE0-10BB-4017-B8E9-70A623A2C146}"/>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C604A711-7D25-4335-9A46-82113AD762B7}"/>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F367C65B-23A4-4292-BD29-194FF0256067}"/>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Seleccionar</a:t>
            </a:r>
          </a:p>
        </p:txBody>
      </p:sp>
      <p:sp>
        <p:nvSpPr>
          <p:cNvPr id="21" name="node-body">
            <a:extLst xmlns:a="http://schemas.openxmlformats.org/drawingml/2006/main">
              <a:ext uri="{FF2B5EF4-FFF2-40B4-BE49-F238E27FC236}">
                <a16:creationId xmlns:a16="http://schemas.microsoft.com/office/drawing/2014/main" id="{6BDB57E0-4C76-4ECD-97C3-9BF04D2C6658}"/>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Enviar solo historial y</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documentos pertinentes.</a:t>
            </a:r>
          </a:p>
        </p:txBody>
      </p:sp>
      <p:sp>
        <p:nvSpPr>
          <p:cNvPr id="22" name="concept-node">
            <a:extLst xmlns:a="http://schemas.openxmlformats.org/drawingml/2006/main">
              <a:ext uri="{FF2B5EF4-FFF2-40B4-BE49-F238E27FC236}">
                <a16:creationId xmlns:a16="http://schemas.microsoft.com/office/drawing/2014/main" id="{BD2A4E32-8CB3-4EE9-A5D2-496A414A75BE}"/>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CF594B7C-A9AB-4B1C-8861-949AF990A013}"/>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975C89C-C322-4ADF-ACE3-11F13A6769F1}"/>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21828414-7716-4901-A668-CDA2026CCD91}"/>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B8C6E760-285F-4C2E-A45B-0AD18F99BDEC}"/>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Resumir</a:t>
            </a:r>
          </a:p>
        </p:txBody>
      </p:sp>
      <p:sp>
        <p:nvSpPr>
          <p:cNvPr id="27" name="node-body">
            <a:extLst xmlns:a="http://schemas.openxmlformats.org/drawingml/2006/main">
              <a:ext uri="{FF2B5EF4-FFF2-40B4-BE49-F238E27FC236}">
                <a16:creationId xmlns:a16="http://schemas.microsoft.com/office/drawing/2014/main" id="{9FE98F19-667D-47B0-9D3F-4BEFD8BBD430}"/>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Conservar hechos,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identificadores y</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restricciones relevantes.</a:t>
            </a:r>
          </a:p>
        </p:txBody>
      </p:sp>
      <p:sp>
        <p:nvSpPr>
          <p:cNvPr id="28" name="concept-node">
            <a:extLst xmlns:a="http://schemas.openxmlformats.org/drawingml/2006/main">
              <a:ext uri="{FF2B5EF4-FFF2-40B4-BE49-F238E27FC236}">
                <a16:creationId xmlns:a16="http://schemas.microsoft.com/office/drawing/2014/main" id="{54DFC1D3-C492-48DC-8552-5DC6F11D6828}"/>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BFC667CA-4F41-47F9-BC33-A78FEF0C7327}"/>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915B02C-A463-403B-8442-E8C24C7E2C40}"/>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F9A11E45-A046-4FB9-83BF-63FF0C219599}"/>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B4A5B73F-EFC5-4C09-8D77-CEF4044C3CA8}"/>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Medir</a:t>
            </a:r>
          </a:p>
        </p:txBody>
      </p:sp>
      <p:sp>
        <p:nvSpPr>
          <p:cNvPr id="33" name="node-body">
            <a:extLst xmlns:a="http://schemas.openxmlformats.org/drawingml/2006/main">
              <a:ext uri="{FF2B5EF4-FFF2-40B4-BE49-F238E27FC236}">
                <a16:creationId xmlns:a16="http://schemas.microsoft.com/office/drawing/2014/main" id="{1FEF8449-7A9F-4A6D-A457-FA2BFDF2532A}"/>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Comprobar ahorro y calidad</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sobre las mismas consultas.</a:t>
            </a:r>
          </a:p>
        </p:txBody>
      </p:sp>
      <p:sp>
        <p:nvSpPr>
          <p:cNvPr id="34" name="panel">
            <a:extLst xmlns:a="http://schemas.openxmlformats.org/drawingml/2006/main">
              <a:ext uri="{FF2B5EF4-FFF2-40B4-BE49-F238E27FC236}">
                <a16:creationId xmlns:a16="http://schemas.microsoft.com/office/drawing/2014/main" id="{D6BB5909-1E0C-4E70-879D-0CB9DCFCFAC9}"/>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5" name="section-label">
            <a:extLst xmlns:a="http://schemas.openxmlformats.org/drawingml/2006/main">
              <a:ext uri="{FF2B5EF4-FFF2-40B4-BE49-F238E27FC236}">
                <a16:creationId xmlns:a16="http://schemas.microsoft.com/office/drawing/2014/main" id="{091F1E3A-FD41-4805-872D-A7C78263E748}"/>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6" name="concept-question">
            <a:extLst xmlns:a="http://schemas.openxmlformats.org/drawingml/2006/main">
              <a:ext uri="{FF2B5EF4-FFF2-40B4-BE49-F238E27FC236}">
                <a16:creationId xmlns:a16="http://schemas.microsoft.com/office/drawing/2014/main" id="{969C93EE-17AC-486E-B68F-2EE19616AAFE}"/>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¿Qué dato conservarías aunque ocupe tokens?</a:t>
            </a:r>
          </a:p>
        </p:txBody>
      </p:sp>
      <p:sp>
        <p:nvSpPr>
          <p:cNvPr id="37" name="panel">
            <a:extLst xmlns:a="http://schemas.openxmlformats.org/drawingml/2006/main">
              <a:ext uri="{FF2B5EF4-FFF2-40B4-BE49-F238E27FC236}">
                <a16:creationId xmlns:a16="http://schemas.microsoft.com/office/drawing/2014/main" id="{6F33E6EB-1465-435F-98F8-5418ECF7F6C0}"/>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38" name="misconception-label">
            <a:extLst xmlns:a="http://schemas.openxmlformats.org/drawingml/2006/main">
              <a:ext uri="{FF2B5EF4-FFF2-40B4-BE49-F238E27FC236}">
                <a16:creationId xmlns:a16="http://schemas.microsoft.com/office/drawing/2014/main" id="{D12E36D9-CBEC-4D53-94AF-D33FBFF1960A}"/>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39" name="misconception">
            <a:extLst xmlns:a="http://schemas.openxmlformats.org/drawingml/2006/main">
              <a:ext uri="{FF2B5EF4-FFF2-40B4-BE49-F238E27FC236}">
                <a16:creationId xmlns:a16="http://schemas.microsoft.com/office/drawing/2014/main" id="{B721F47A-6E7D-4CE8-A829-FA6E152378B1}"/>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Eliminar instrucciones de seguridad para</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abaratar llamadas.</a:t>
            </a:r>
          </a:p>
        </p:txBody>
      </p:sp>
      <p:sp>
        <p:nvSpPr>
          <p:cNvPr id="40" name="panel">
            <a:extLst xmlns:a="http://schemas.openxmlformats.org/drawingml/2006/main">
              <a:ext uri="{FF2B5EF4-FFF2-40B4-BE49-F238E27FC236}">
                <a16:creationId xmlns:a16="http://schemas.microsoft.com/office/drawing/2014/main" id="{73C1761A-E9A2-424C-B6F7-CDD55C10B4E4}"/>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1" name="takeaway">
            <a:extLst xmlns:a="http://schemas.openxmlformats.org/drawingml/2006/main">
              <a:ext uri="{FF2B5EF4-FFF2-40B4-BE49-F238E27FC236}">
                <a16:creationId xmlns:a16="http://schemas.microsoft.com/office/drawing/2014/main" id="{A108F697-EB60-4C44-A3B0-3BA9F6BE2749}"/>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Optimiza contexto con pruebas, no borrando información a ciegas.</a:t>
            </a:r>
          </a:p>
        </p:txBody>
      </p:sp>
    </p:spTree>
    <p:extLst>
      <p:ext uri="{BB962C8B-B14F-4D97-AF65-F5344CB8AC3E}">
        <p14:creationId xmlns:p14="http://schemas.microsoft.com/office/powerpoint/2010/main" val="1026346320"/>
      </p:ext>
    </p:extLst>
  </p:cSld>
</p:sld>
</file>

<file path=ppt/slides/slide3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2DC581A1-8F60-4083-BA4F-CD579D6754BC}"/>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5C6C86D-CAF1-433C-B5BC-EA9D4339A38F}"/>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C97B38D7-0012-4A1E-BECB-7F02902E6B75}"/>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13</a:t>
            </a:r>
          </a:p>
        </p:txBody>
      </p:sp>
      <p:sp>
        <p:nvSpPr>
          <p:cNvPr id="4" name="breadcrumb">
            <a:extLst xmlns:a="http://schemas.openxmlformats.org/drawingml/2006/main">
              <a:ext uri="{FF2B5EF4-FFF2-40B4-BE49-F238E27FC236}">
                <a16:creationId xmlns:a16="http://schemas.microsoft.com/office/drawing/2014/main" id="{5DB2139A-E0C5-4CCB-A9DA-18392A055447}"/>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13</a:t>
            </a:r>
          </a:p>
        </p:txBody>
      </p:sp>
      <p:sp>
        <p:nvSpPr>
          <p:cNvPr id="5" name="slide-title">
            <a:extLst xmlns:a="http://schemas.openxmlformats.org/drawingml/2006/main">
              <a:ext uri="{FF2B5EF4-FFF2-40B4-BE49-F238E27FC236}">
                <a16:creationId xmlns:a16="http://schemas.microsoft.com/office/drawing/2014/main" id="{A7045BB5-B021-46B3-A009-6F744CF63A94}"/>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Cuatro palancas, una restricción</a:t>
            </a:r>
          </a:p>
        </p:txBody>
      </p:sp>
      <p:sp>
        <p:nvSpPr>
          <p:cNvPr id="6" name="learning-purpose">
            <a:extLst xmlns:a="http://schemas.openxmlformats.org/drawingml/2006/main">
              <a:ext uri="{FF2B5EF4-FFF2-40B4-BE49-F238E27FC236}">
                <a16:creationId xmlns:a16="http://schemas.microsoft.com/office/drawing/2014/main" id="{F803FBB4-B3AE-46BE-84E6-F1ABC63405A9}"/>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Reducir tokens preservando información necesaria para responder bien.</a:t>
            </a:r>
          </a:p>
        </p:txBody>
      </p:sp>
      <p:sp>
        <p:nvSpPr>
          <p:cNvPr id="7" name="panel">
            <a:extLst xmlns:a="http://schemas.openxmlformats.org/drawingml/2006/main">
              <a:ext uri="{FF2B5EF4-FFF2-40B4-BE49-F238E27FC236}">
                <a16:creationId xmlns:a16="http://schemas.microsoft.com/office/drawing/2014/main" id="{ECE89BA9-BC8A-4DA6-9A3A-42C77C183A98}"/>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37DE0D3E-90FB-48D7-BEAB-0A50972CC0B7}"/>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8E5FD1EB-23A4-4D16-8497-74BC77CCDF7B}"/>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A2E24006-947F-4FB0-81B8-13E2DE7E1DBD}"/>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C819861C-E294-47C9-8E12-C68E3FDD7385}"/>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4C9071AE-9016-49FB-9316-EA93EB94A90C}"/>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B5F99373-52CE-4252-8FD1-393E72F8A2C2}"/>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C13</a:t>
            </a:r>
          </a:p>
        </p:txBody>
      </p:sp>
      <p:sp>
        <p:nvSpPr>
          <p:cNvPr id="14" name="folio">
            <a:extLst xmlns:a="http://schemas.openxmlformats.org/drawingml/2006/main">
              <a:ext uri="{FF2B5EF4-FFF2-40B4-BE49-F238E27FC236}">
                <a16:creationId xmlns:a16="http://schemas.microsoft.com/office/drawing/2014/main" id="{9DB387E9-3029-4E8F-BB40-64337E07E284}"/>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38</a:t>
            </a:r>
          </a:p>
        </p:txBody>
      </p:sp>
      <p:sp>
        <p:nvSpPr>
          <p:cNvPr id="15" name="section-label">
            <a:extLst xmlns:a="http://schemas.openxmlformats.org/drawingml/2006/main">
              <a:ext uri="{FF2B5EF4-FFF2-40B4-BE49-F238E27FC236}">
                <a16:creationId xmlns:a16="http://schemas.microsoft.com/office/drawing/2014/main" id="{90F1402D-4E97-4D53-81B6-597D89E7709F}"/>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Instrucciones</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Quitar repeticiones sin borrar límites.</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Historial</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Recortar o resumir preservando referencias</a:t>
                      </a:r>
                    </a:p>
                    <a:p>
                      <a:r>
                        <a:rPr sz="1875" b="0">
                          <a:solidFill>
                            <a:srgbClr val="1E293B"/>
                          </a:solidFill>
                          <a:latin typeface="DejaVu Sans"/>
                          <a:ea typeface="DejaVu Sans"/>
                          <a:cs typeface="DejaVu Sans"/>
                        </a:rPr>
                        <a:t>necesarias.</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Recuperación y</a:t>
                      </a:r>
                    </a:p>
                    <a:p>
                      <a:r>
                        <a:rPr sz="1875" b="1">
                          <a:solidFill>
                            <a:srgbClr val="1E293B"/>
                          </a:solidFill>
                          <a:latin typeface="DejaVu Sans"/>
                          <a:ea typeface="DejaVu Sans"/>
                          <a:cs typeface="DejaVu Sans"/>
                        </a:rPr>
                        <a:t>salida</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Reducir fragmentos irrelevantes y limitar extensión</a:t>
                      </a:r>
                    </a:p>
                    <a:p>
                      <a:r>
                        <a:rPr sz="1875" b="0">
                          <a:solidFill>
                            <a:srgbClr val="1E293B"/>
                          </a:solidFill>
                          <a:latin typeface="DejaVu Sans"/>
                          <a:ea typeface="DejaVu Sans"/>
                          <a:cs typeface="DejaVu Sans"/>
                        </a:rPr>
                        <a:t>útil.</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85AD4616-082A-4BB6-A9EB-E29781E9F559}"/>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C578DE70-B5BE-401B-9CF1-58D300C1575E}"/>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739086FB-161B-4D04-9791-FC22B340C8CB}"/>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Eliminar instrucciones de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seguridad para abaratar</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llamadas.</a:t>
            </a:r>
          </a:p>
        </p:txBody>
      </p:sp>
      <p:sp>
        <p:nvSpPr>
          <p:cNvPr id="20" name="development-prompt">
            <a:extLst xmlns:a="http://schemas.openxmlformats.org/drawingml/2006/main">
              <a:ext uri="{FF2B5EF4-FFF2-40B4-BE49-F238E27FC236}">
                <a16:creationId xmlns:a16="http://schemas.microsoft.com/office/drawing/2014/main" id="{F53A6924-776A-4102-985A-239F68D56CC3}"/>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FD7A0515-6D02-4AE3-8222-B070A828525C}"/>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C5A6D4F7-B395-4A8A-B0F1-A57CA0186ED0}"/>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AAFFD060-741C-4F55-ACCC-44A5A8AB5253}"/>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¿Qué dato conservarías aunque ocupe tokens?</a:t>
            </a:r>
          </a:p>
        </p:txBody>
      </p:sp>
      <p:sp>
        <p:nvSpPr>
          <p:cNvPr id="24" name="panel">
            <a:extLst xmlns:a="http://schemas.openxmlformats.org/drawingml/2006/main">
              <a:ext uri="{FF2B5EF4-FFF2-40B4-BE49-F238E27FC236}">
                <a16:creationId xmlns:a16="http://schemas.microsoft.com/office/drawing/2014/main" id="{29524DC0-A7A8-45F5-B428-8D3D2984A295}"/>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441E53AD-51BC-4D37-8833-CCC1A1A6794E}"/>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Optimiza contexto con pruebas, no borrando información a ciegas.</a:t>
            </a:r>
          </a:p>
        </p:txBody>
      </p:sp>
    </p:spTree>
    <p:extLst>
      <p:ext uri="{BB962C8B-B14F-4D97-AF65-F5344CB8AC3E}">
        <p14:creationId xmlns:p14="http://schemas.microsoft.com/office/powerpoint/2010/main" val="624983585"/>
      </p:ext>
    </p:extLst>
  </p:cSld>
</p:sld>
</file>

<file path=ppt/slides/slide3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930F9F6C-E737-4544-8C19-A46E2AA15CE1}"/>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3FE4306-77CB-4CDD-8CE0-F7B1CD72A8F1}"/>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7AC73B35-149C-4CF8-A018-EC7349EC08B4}"/>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13</a:t>
            </a:r>
          </a:p>
        </p:txBody>
      </p:sp>
      <p:sp>
        <p:nvSpPr>
          <p:cNvPr id="4" name="breadcrumb">
            <a:extLst xmlns:a="http://schemas.openxmlformats.org/drawingml/2006/main">
              <a:ext uri="{FF2B5EF4-FFF2-40B4-BE49-F238E27FC236}">
                <a16:creationId xmlns:a16="http://schemas.microsoft.com/office/drawing/2014/main" id="{857542AB-57D4-4B4D-91C6-5033A8215B32}"/>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13</a:t>
            </a:r>
          </a:p>
        </p:txBody>
      </p:sp>
      <p:sp>
        <p:nvSpPr>
          <p:cNvPr id="5" name="slide-title">
            <a:extLst xmlns:a="http://schemas.openxmlformats.org/drawingml/2006/main">
              <a:ext uri="{FF2B5EF4-FFF2-40B4-BE49-F238E27FC236}">
                <a16:creationId xmlns:a16="http://schemas.microsoft.com/office/drawing/2014/main" id="{AF817566-1464-46BC-B66D-86E5F6CE8725}"/>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Reducir contexto con criterio</a:t>
            </a:r>
          </a:p>
        </p:txBody>
      </p:sp>
      <p:sp>
        <p:nvSpPr>
          <p:cNvPr id="6" name="learning-purpose">
            <a:extLst xmlns:a="http://schemas.openxmlformats.org/drawingml/2006/main">
              <a:ext uri="{FF2B5EF4-FFF2-40B4-BE49-F238E27FC236}">
                <a16:creationId xmlns:a16="http://schemas.microsoft.com/office/drawing/2014/main" id="{D757391B-21DF-4DE0-B7C9-561F8F319971}"/>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Reducir tokens preservando información necesaria para responder bien.</a:t>
            </a:r>
          </a:p>
        </p:txBody>
      </p:sp>
      <p:sp>
        <p:nvSpPr>
          <p:cNvPr id="7" name="panel">
            <a:extLst xmlns:a="http://schemas.openxmlformats.org/drawingml/2006/main">
              <a:ext uri="{FF2B5EF4-FFF2-40B4-BE49-F238E27FC236}">
                <a16:creationId xmlns:a16="http://schemas.microsoft.com/office/drawing/2014/main" id="{9BD55EF6-B532-4C0C-8440-2D4C14DB2FB3}"/>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1F49EDDB-B59E-4BC7-9E29-5F91163ED632}"/>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3B30709B-4E8E-4C72-B832-45BCCD589B37}"/>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54561381-8F71-493A-B447-637F568BDD55}"/>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2B53884D-C380-450B-93D0-3CA9DBD26A7D}"/>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51D8198F-5F0B-46C5-9093-360FCBBDA2CC}"/>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78BCDE01-5AB8-4936-96D2-CDA51BACB364}"/>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C13</a:t>
            </a:r>
          </a:p>
        </p:txBody>
      </p:sp>
      <p:sp>
        <p:nvSpPr>
          <p:cNvPr id="14" name="folio">
            <a:extLst xmlns:a="http://schemas.openxmlformats.org/drawingml/2006/main">
              <a:ext uri="{FF2B5EF4-FFF2-40B4-BE49-F238E27FC236}">
                <a16:creationId xmlns:a16="http://schemas.microsoft.com/office/drawing/2014/main" id="{32AEAB5B-DD7F-4804-AF00-5F00BBE721FE}"/>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39</a:t>
            </a:r>
          </a:p>
        </p:txBody>
      </p:sp>
      <p:sp>
        <p:nvSpPr>
          <p:cNvPr id="15" name="section-label">
            <a:extLst xmlns:a="http://schemas.openxmlformats.org/drawingml/2006/main">
              <a:ext uri="{FF2B5EF4-FFF2-40B4-BE49-F238E27FC236}">
                <a16:creationId xmlns:a16="http://schemas.microsoft.com/office/drawing/2014/main" id="{914B42E8-CA37-4EDD-A2CA-111870FB4506}"/>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BANCO INTI · CASO DIDÁCTICO</a:t>
            </a:r>
          </a:p>
        </p:txBody>
      </p:sp>
      <p:sp>
        <p:nvSpPr>
          <p:cNvPr id="16" name="panel">
            <a:extLst xmlns:a="http://schemas.openxmlformats.org/drawingml/2006/main">
              <a:ext uri="{FF2B5EF4-FFF2-40B4-BE49-F238E27FC236}">
                <a16:creationId xmlns:a16="http://schemas.microsoft.com/office/drawing/2014/main" id="{B193ABD1-3F09-4EED-BDA7-118DD0CE431E}"/>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83CFA8E0-A338-4A0D-BA87-2B5C69DADDA6}"/>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5D683CA4-6677-474C-A6DA-11634A497192}"/>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Un historial repite saludos y contiene el identificador del producto.</a:t>
            </a:r>
          </a:p>
        </p:txBody>
      </p:sp>
      <p:sp>
        <p:nvSpPr>
          <p:cNvPr id="19" name="concept-node">
            <a:extLst xmlns:a="http://schemas.openxmlformats.org/drawingml/2006/main">
              <a:ext uri="{FF2B5EF4-FFF2-40B4-BE49-F238E27FC236}">
                <a16:creationId xmlns:a16="http://schemas.microsoft.com/office/drawing/2014/main" id="{7B61E280-EEAC-493B-88E7-14E095F03B42}"/>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F74CEBBE-B8CA-4F88-B9CF-FE6474B933F0}"/>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09C5B7B-C60E-4A8A-A6AF-90A5F5BB5538}"/>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C8BE9EB8-E4E1-434B-B0EB-461EB03E1942}"/>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FF086EBB-1B9B-424B-A2D5-1CB9E027B4A5}"/>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Eliminar</a:t>
            </a:r>
          </a:p>
        </p:txBody>
      </p:sp>
      <p:sp>
        <p:nvSpPr>
          <p:cNvPr id="24" name="node-body">
            <a:extLst xmlns:a="http://schemas.openxmlformats.org/drawingml/2006/main">
              <a:ext uri="{FF2B5EF4-FFF2-40B4-BE49-F238E27FC236}">
                <a16:creationId xmlns:a16="http://schemas.microsoft.com/office/drawing/2014/main" id="{9BDD672A-512B-4036-A631-409E6AC7A3B3}"/>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Quitar saludos repetidos sin</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efecto en la tarea.</a:t>
            </a:r>
          </a:p>
        </p:txBody>
      </p:sp>
      <p:sp>
        <p:nvSpPr>
          <p:cNvPr id="25" name="concept-node">
            <a:extLst xmlns:a="http://schemas.openxmlformats.org/drawingml/2006/main">
              <a:ext uri="{FF2B5EF4-FFF2-40B4-BE49-F238E27FC236}">
                <a16:creationId xmlns:a16="http://schemas.microsoft.com/office/drawing/2014/main" id="{B81A7AC9-9EDC-4C0A-B94F-120B33312FF1}"/>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70897C20-458C-481C-A92E-9660E6CC586A}"/>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8E2E736E-52F5-4B96-BD25-66DBBDCF84D6}"/>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08ADB897-A260-4FCA-A90D-EA96E8542449}"/>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083F3047-BEB8-4D53-93F6-B1E6B81EA7D0}"/>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Preservar</a:t>
            </a:r>
          </a:p>
        </p:txBody>
      </p:sp>
      <p:sp>
        <p:nvSpPr>
          <p:cNvPr id="30" name="node-body">
            <a:extLst xmlns:a="http://schemas.openxmlformats.org/drawingml/2006/main">
              <a:ext uri="{FF2B5EF4-FFF2-40B4-BE49-F238E27FC236}">
                <a16:creationId xmlns:a16="http://schemas.microsoft.com/office/drawing/2014/main" id="{4946306D-8CA7-4FF2-BD61-13F5B19A0D1B}"/>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Mantener producto, pregunta</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vigente y restricciones.</a:t>
            </a:r>
          </a:p>
        </p:txBody>
      </p:sp>
      <p:sp>
        <p:nvSpPr>
          <p:cNvPr id="31" name="concept-node">
            <a:extLst xmlns:a="http://schemas.openxmlformats.org/drawingml/2006/main">
              <a:ext uri="{FF2B5EF4-FFF2-40B4-BE49-F238E27FC236}">
                <a16:creationId xmlns:a16="http://schemas.microsoft.com/office/drawing/2014/main" id="{C560194F-311E-4E7F-8B4C-5BC16E573AF4}"/>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BFEEB4DB-DCD0-4B8D-B9B2-160234045801}"/>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DAEFC939-01C4-4895-A92C-66CCF3577700}"/>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C95D928B-EC4E-491B-847E-4100A0E40916}"/>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D5416EE0-0DBE-4F75-8B46-7629F8CC92A3}"/>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Validar</a:t>
            </a:r>
          </a:p>
        </p:txBody>
      </p:sp>
      <p:sp>
        <p:nvSpPr>
          <p:cNvPr id="36" name="node-body">
            <a:extLst xmlns:a="http://schemas.openxmlformats.org/drawingml/2006/main">
              <a:ext uri="{FF2B5EF4-FFF2-40B4-BE49-F238E27FC236}">
                <a16:creationId xmlns:a16="http://schemas.microsoft.com/office/drawing/2014/main" id="{24540888-639A-4CF4-B1FF-FC3DD15016D2}"/>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Comparar la respuesta y los</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tokens antes y después.</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2CD4CE8C-CA3B-4296-BE8A-4EF24B2F68B0}"/>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805B1066-F0E4-4AC9-AA8E-4E99762CB582}"/>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6BA1443B-F0FA-41D9-9B10-4591630CF575}"/>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El ahorro deja de ser mejora si se pierde la información decisiva.</a:t>
            </a:r>
          </a:p>
        </p:txBody>
      </p:sp>
      <p:sp>
        <p:nvSpPr>
          <p:cNvPr id="42" name="panel">
            <a:extLst xmlns:a="http://schemas.openxmlformats.org/drawingml/2006/main">
              <a:ext uri="{FF2B5EF4-FFF2-40B4-BE49-F238E27FC236}">
                <a16:creationId xmlns:a16="http://schemas.microsoft.com/office/drawing/2014/main" id="{D9B37C9B-5320-4A71-88EE-01A666469F58}"/>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086002F4-4F54-4266-88A5-C2FEF1A3B20D}"/>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Optimiza contexto con pruebas, no borrando información a ciegas.</a:t>
            </a:r>
          </a:p>
        </p:txBody>
      </p:sp>
    </p:spTree>
    <p:extLst>
      <p:ext uri="{BB962C8B-B14F-4D97-AF65-F5344CB8AC3E}">
        <p14:creationId xmlns:p14="http://schemas.microsoft.com/office/powerpoint/2010/main" val="1651587315"/>
      </p:ext>
    </p:extLst>
  </p:cSld>
</p:sld>
</file>

<file path=ppt/slides/slide4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2" name="header">
            <a:extLst xmlns:a="http://schemas.openxmlformats.org/drawingml/2006/main">
              <a:ext uri="{FF2B5EF4-FFF2-40B4-BE49-F238E27FC236}">
                <a16:creationId xmlns:a16="http://schemas.microsoft.com/office/drawing/2014/main" id="{5D51D4DC-3204-4D5E-8959-C91D734A2ED0}"/>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0CEBB18-54D8-4E5B-8A64-0B101B84E303}"/>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A0DC6CE7-51B6-45D1-9A8C-0AC12B4D8BA3}"/>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14</a:t>
            </a:r>
          </a:p>
        </p:txBody>
      </p:sp>
      <p:sp>
        <p:nvSpPr>
          <p:cNvPr id="4" name="breadcrumb">
            <a:extLst xmlns:a="http://schemas.openxmlformats.org/drawingml/2006/main">
              <a:ext uri="{FF2B5EF4-FFF2-40B4-BE49-F238E27FC236}">
                <a16:creationId xmlns:a16="http://schemas.microsoft.com/office/drawing/2014/main" id="{6F694ADF-F2C5-47D9-B31F-CB4D1DDE1EB8}"/>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14</a:t>
            </a:r>
          </a:p>
        </p:txBody>
      </p:sp>
      <p:sp>
        <p:nvSpPr>
          <p:cNvPr id="5" name="slide-title">
            <a:extLst xmlns:a="http://schemas.openxmlformats.org/drawingml/2006/main">
              <a:ext uri="{FF2B5EF4-FFF2-40B4-BE49-F238E27FC236}">
                <a16:creationId xmlns:a16="http://schemas.microsoft.com/office/drawing/2014/main" id="{059AED43-54C4-4743-81B7-5A17A838583C}"/>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Pesos abiertos e inferencia en nube</a:t>
            </a:r>
          </a:p>
        </p:txBody>
      </p:sp>
      <p:sp>
        <p:nvSpPr>
          <p:cNvPr id="6" name="learning-purpose">
            <a:extLst xmlns:a="http://schemas.openxmlformats.org/drawingml/2006/main">
              <a:ext uri="{FF2B5EF4-FFF2-40B4-BE49-F238E27FC236}">
                <a16:creationId xmlns:a16="http://schemas.microsoft.com/office/drawing/2014/main" id="{E50196A3-DA0A-498C-8A39-72F248C47B3C}"/>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Separar disponibilidad de pesos y lugar donde se ejecuta el modelo.</a:t>
            </a:r>
          </a:p>
        </p:txBody>
      </p:sp>
      <p:sp>
        <p:nvSpPr>
          <p:cNvPr id="7" name="panel">
            <a:extLst xmlns:a="http://schemas.openxmlformats.org/drawingml/2006/main">
              <a:ext uri="{FF2B5EF4-FFF2-40B4-BE49-F238E27FC236}">
                <a16:creationId xmlns:a16="http://schemas.microsoft.com/office/drawing/2014/main" id="{3F806FD6-5AFC-4AD6-8B8E-316CC0435976}"/>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BB75BE6C-DE0C-41B0-AF1A-DDF4CC8EDF22}"/>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5475993B-D904-417B-A669-E9C28E82E04E}"/>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6F611CDC-1685-4F56-BC90-4E8BEB936EA3}"/>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7D2B4218-32FA-42B3-B3E5-616EAAF1AA04}"/>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0F5989AF-C7E2-4705-907F-2584E2813A6C}"/>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F1C2AADA-6FBA-4EA4-863B-20207ADFC2BD}"/>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C14</a:t>
            </a:r>
          </a:p>
        </p:txBody>
      </p:sp>
      <p:sp>
        <p:nvSpPr>
          <p:cNvPr id="14" name="folio">
            <a:extLst xmlns:a="http://schemas.openxmlformats.org/drawingml/2006/main">
              <a:ext uri="{FF2B5EF4-FFF2-40B4-BE49-F238E27FC236}">
                <a16:creationId xmlns:a16="http://schemas.microsoft.com/office/drawing/2014/main" id="{51FAD8B4-8759-4649-88F8-3BBD88555102}"/>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40</a:t>
            </a:r>
          </a:p>
        </p:txBody>
      </p:sp>
      <p:sp>
        <p:nvSpPr>
          <p:cNvPr id="15" name="section-label">
            <a:extLst xmlns:a="http://schemas.openxmlformats.org/drawingml/2006/main">
              <a:ext uri="{FF2B5EF4-FFF2-40B4-BE49-F238E27FC236}">
                <a16:creationId xmlns:a16="http://schemas.microsoft.com/office/drawing/2014/main" id="{D19C0913-26C4-42C8-A898-84342BB73648}"/>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COMPARAR RESPONSABILIDADES</a:t>
            </a:r>
          </a:p>
        </p:txBody>
      </p:sp>
      <p:sp>
        <p:nvSpPr>
          <p:cNvPr id="16" name="concept-node">
            <a:extLst xmlns:a="http://schemas.openxmlformats.org/drawingml/2006/main">
              <a:ext uri="{FF2B5EF4-FFF2-40B4-BE49-F238E27FC236}">
                <a16:creationId xmlns:a16="http://schemas.microsoft.com/office/drawing/2014/main" id="{A2AC52A5-0331-4622-B14C-BF535E1106D1}"/>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D4E607A3-678C-4C0E-B3C7-9EDD525D5736}"/>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9224F67-D849-4C5A-8D0D-F14F0FD70164}"/>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BBFC77ED-D661-4B34-8D44-C9C1FB74AD0F}"/>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C7F29A09-DBE7-4C75-A8CD-F1DAA5FCD06A}"/>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Pesos abiertos</a:t>
            </a:r>
          </a:p>
        </p:txBody>
      </p:sp>
      <p:sp>
        <p:nvSpPr>
          <p:cNvPr id="21" name="node-body">
            <a:extLst xmlns:a="http://schemas.openxmlformats.org/drawingml/2006/main">
              <a:ext uri="{FF2B5EF4-FFF2-40B4-BE49-F238E27FC236}">
                <a16:creationId xmlns:a16="http://schemas.microsoft.com/office/drawing/2014/main" id="{8309975B-8856-4C91-8A05-E994F08053DA}"/>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Puede haber acceso a los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parámetros bajo su licencia.</a:t>
            </a:r>
          </a:p>
        </p:txBody>
      </p:sp>
      <p:sp>
        <p:nvSpPr>
          <p:cNvPr id="22" name="concept-node">
            <a:extLst xmlns:a="http://schemas.openxmlformats.org/drawingml/2006/main">
              <a:ext uri="{FF2B5EF4-FFF2-40B4-BE49-F238E27FC236}">
                <a16:creationId xmlns:a16="http://schemas.microsoft.com/office/drawing/2014/main" id="{18A7C594-FFBD-4511-AECD-C646D2A1D0A0}"/>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387AE22B-B66F-4D2F-9736-CE195EC6C4C6}"/>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999BE1F-D0BF-4DF5-B301-98E266755FE1}"/>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D2CD6AC9-C047-46DC-B637-A867031BE602}"/>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520BAFF7-9B75-4BC6-A2FC-F2F653C7DE53}"/>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Inferencia remota</a:t>
            </a:r>
          </a:p>
        </p:txBody>
      </p:sp>
      <p:sp>
        <p:nvSpPr>
          <p:cNvPr id="27" name="node-body">
            <a:extLst xmlns:a="http://schemas.openxmlformats.org/drawingml/2006/main">
              <a:ext uri="{FF2B5EF4-FFF2-40B4-BE49-F238E27FC236}">
                <a16:creationId xmlns:a16="http://schemas.microsoft.com/office/drawing/2014/main" id="{6227385F-A428-44BB-B28F-3201FC66A115}"/>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Una API ejecuta el modelo</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en infraestructura externa.</a:t>
            </a:r>
          </a:p>
        </p:txBody>
      </p:sp>
      <p:sp>
        <p:nvSpPr>
          <p:cNvPr id="28" name="concept-node">
            <a:extLst xmlns:a="http://schemas.openxmlformats.org/drawingml/2006/main">
              <a:ext uri="{FF2B5EF4-FFF2-40B4-BE49-F238E27FC236}">
                <a16:creationId xmlns:a16="http://schemas.microsoft.com/office/drawing/2014/main" id="{711F43DC-C166-4F52-86D1-D740BAFC18B2}"/>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B8E90D57-AB03-4A2B-80BA-6F2333AB2B00}"/>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AFD927F-6C49-44D5-AD14-62357F73E65F}"/>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3CD3C82B-4D5F-4327-A4B7-D85DAA7D90D0}"/>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DCABA7C0-8E26-4C92-8CC0-7A25B8AE3E3F}"/>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Curso</a:t>
            </a:r>
          </a:p>
        </p:txBody>
      </p:sp>
      <p:sp>
        <p:nvSpPr>
          <p:cNvPr id="33" name="node-body">
            <a:extLst xmlns:a="http://schemas.openxmlformats.org/drawingml/2006/main">
              <a:ext uri="{FF2B5EF4-FFF2-40B4-BE49-F238E27FC236}">
                <a16:creationId xmlns:a16="http://schemas.microsoft.com/office/drawing/2014/main" id="{8550ED25-6BC5-4510-9891-56A1BE14CE7A}"/>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Python local llama al</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proveedor configurado.</a:t>
            </a:r>
          </a:p>
        </p:txBody>
      </p:sp>
      <p:sp>
        <p:nvSpPr>
          <p:cNvPr id="34" name="panel">
            <a:extLst xmlns:a="http://schemas.openxmlformats.org/drawingml/2006/main">
              <a:ext uri="{FF2B5EF4-FFF2-40B4-BE49-F238E27FC236}">
                <a16:creationId xmlns:a16="http://schemas.microsoft.com/office/drawing/2014/main" id="{179E0B53-1F03-483B-B1E2-CB2CC6006677}"/>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5" name="section-label">
            <a:extLst xmlns:a="http://schemas.openxmlformats.org/drawingml/2006/main">
              <a:ext uri="{FF2B5EF4-FFF2-40B4-BE49-F238E27FC236}">
                <a16:creationId xmlns:a16="http://schemas.microsoft.com/office/drawing/2014/main" id="{C217B6D6-DEB8-4E4E-BE49-8601853491C1}"/>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6" name="concept-question">
            <a:extLst xmlns:a="http://schemas.openxmlformats.org/drawingml/2006/main">
              <a:ext uri="{FF2B5EF4-FFF2-40B4-BE49-F238E27FC236}">
                <a16:creationId xmlns:a16="http://schemas.microsoft.com/office/drawing/2014/main" id="{F2480F89-EF91-4C3E-8C56-D2D843D2787D}"/>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¿Necesito una GPU local para llamar al endpoint del curso?</a:t>
            </a:r>
          </a:p>
        </p:txBody>
      </p:sp>
      <p:sp>
        <p:nvSpPr>
          <p:cNvPr id="37" name="panel">
            <a:extLst xmlns:a="http://schemas.openxmlformats.org/drawingml/2006/main">
              <a:ext uri="{FF2B5EF4-FFF2-40B4-BE49-F238E27FC236}">
                <a16:creationId xmlns:a16="http://schemas.microsoft.com/office/drawing/2014/main" id="{0D92D0BD-3E0B-41C3-9029-94CD0BEA4EC3}"/>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38" name="misconception-label">
            <a:extLst xmlns:a="http://schemas.openxmlformats.org/drawingml/2006/main">
              <a:ext uri="{FF2B5EF4-FFF2-40B4-BE49-F238E27FC236}">
                <a16:creationId xmlns:a16="http://schemas.microsoft.com/office/drawing/2014/main" id="{AECA922D-01C0-4C1E-865D-B08A683F61BA}"/>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39" name="misconception">
            <a:extLst xmlns:a="http://schemas.openxmlformats.org/drawingml/2006/main">
              <a:ext uri="{FF2B5EF4-FFF2-40B4-BE49-F238E27FC236}">
                <a16:creationId xmlns:a16="http://schemas.microsoft.com/office/drawing/2014/main" id="{277D1F1F-D2C4-45AC-A2E7-0FE102A27412}"/>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Equiparar abierto con gratis o afirmar</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que el modelo corre en la laptop.</a:t>
            </a:r>
          </a:p>
        </p:txBody>
      </p:sp>
      <p:sp>
        <p:nvSpPr>
          <p:cNvPr id="40" name="panel">
            <a:extLst xmlns:a="http://schemas.openxmlformats.org/drawingml/2006/main">
              <a:ext uri="{FF2B5EF4-FFF2-40B4-BE49-F238E27FC236}">
                <a16:creationId xmlns:a16="http://schemas.microsoft.com/office/drawing/2014/main" id="{DEDD9A93-46F5-4A3F-9005-B213CFC76CD7}"/>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1" name="takeaway">
            <a:extLst xmlns:a="http://schemas.openxmlformats.org/drawingml/2006/main">
              <a:ext uri="{FF2B5EF4-FFF2-40B4-BE49-F238E27FC236}">
                <a16:creationId xmlns:a16="http://schemas.microsoft.com/office/drawing/2014/main" id="{D9A0BE97-7A62-4A1F-8006-C4D1CDA1879D}"/>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Modelo y servicio de inferencia son decisiones distintas.</a:t>
            </a:r>
          </a:p>
        </p:txBody>
      </p:sp>
    </p:spTree>
    <p:extLst>
      <p:ext uri="{BB962C8B-B14F-4D97-AF65-F5344CB8AC3E}">
        <p14:creationId xmlns:p14="http://schemas.microsoft.com/office/powerpoint/2010/main" val="297747884"/>
      </p:ext>
    </p:extLst>
  </p:cSld>
</p:sld>
</file>

<file path=ppt/slides/slide4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E1F768C0-0873-4E4D-A8E0-B611FE4E7ACD}"/>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B572D0A-8DDC-4BC5-B063-19F343BDA257}"/>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09B51A59-B6E3-4A86-827F-14936396F2EE}"/>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14</a:t>
            </a:r>
          </a:p>
        </p:txBody>
      </p:sp>
      <p:sp>
        <p:nvSpPr>
          <p:cNvPr id="4" name="breadcrumb">
            <a:extLst xmlns:a="http://schemas.openxmlformats.org/drawingml/2006/main">
              <a:ext uri="{FF2B5EF4-FFF2-40B4-BE49-F238E27FC236}">
                <a16:creationId xmlns:a16="http://schemas.microsoft.com/office/drawing/2014/main" id="{995490EC-C441-407C-BFDA-2FA16FC79E65}"/>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14</a:t>
            </a:r>
          </a:p>
        </p:txBody>
      </p:sp>
      <p:sp>
        <p:nvSpPr>
          <p:cNvPr id="5" name="slide-title">
            <a:extLst xmlns:a="http://schemas.openxmlformats.org/drawingml/2006/main">
              <a:ext uri="{FF2B5EF4-FFF2-40B4-BE49-F238E27FC236}">
                <a16:creationId xmlns:a16="http://schemas.microsoft.com/office/drawing/2014/main" id="{D75C91A1-F871-4E6E-AA67-464908B2E4B8}"/>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Dos decisiones diferentes</a:t>
            </a:r>
          </a:p>
        </p:txBody>
      </p:sp>
      <p:sp>
        <p:nvSpPr>
          <p:cNvPr id="6" name="learning-purpose">
            <a:extLst xmlns:a="http://schemas.openxmlformats.org/drawingml/2006/main">
              <a:ext uri="{FF2B5EF4-FFF2-40B4-BE49-F238E27FC236}">
                <a16:creationId xmlns:a16="http://schemas.microsoft.com/office/drawing/2014/main" id="{61DED545-4C56-4444-9A45-97B4FF0C65EF}"/>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Separar disponibilidad de pesos y lugar donde se ejecuta el modelo.</a:t>
            </a:r>
          </a:p>
        </p:txBody>
      </p:sp>
      <p:sp>
        <p:nvSpPr>
          <p:cNvPr id="7" name="panel">
            <a:extLst xmlns:a="http://schemas.openxmlformats.org/drawingml/2006/main">
              <a:ext uri="{FF2B5EF4-FFF2-40B4-BE49-F238E27FC236}">
                <a16:creationId xmlns:a16="http://schemas.microsoft.com/office/drawing/2014/main" id="{1EE1DFD1-3D1E-4531-B7BC-B7B8B6522078}"/>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317B9CF6-5DD6-4DFD-A759-5616A21CC384}"/>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289901EF-FDA7-4DCA-ADA7-29D9897EFB06}"/>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CE5FCEAE-A02D-4210-9D4D-0A0F44C112B6}"/>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15D5FF05-A47C-4FB8-839B-46CF8B540C8D}"/>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B0E15A72-99FD-4492-A6CD-3D8655B4DC11}"/>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F1F039E6-3521-4950-80E8-72018B8EAA5A}"/>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C14</a:t>
            </a:r>
          </a:p>
        </p:txBody>
      </p:sp>
      <p:sp>
        <p:nvSpPr>
          <p:cNvPr id="14" name="folio">
            <a:extLst xmlns:a="http://schemas.openxmlformats.org/drawingml/2006/main">
              <a:ext uri="{FF2B5EF4-FFF2-40B4-BE49-F238E27FC236}">
                <a16:creationId xmlns:a16="http://schemas.microsoft.com/office/drawing/2014/main" id="{1A8126B3-274C-459F-89B9-9FB735508877}"/>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41</a:t>
            </a:r>
          </a:p>
        </p:txBody>
      </p:sp>
      <p:sp>
        <p:nvSpPr>
          <p:cNvPr id="15" name="section-label">
            <a:extLst xmlns:a="http://schemas.openxmlformats.org/drawingml/2006/main">
              <a:ext uri="{FF2B5EF4-FFF2-40B4-BE49-F238E27FC236}">
                <a16:creationId xmlns:a16="http://schemas.microsoft.com/office/drawing/2014/main" id="{7447178F-78A8-48F9-A0EC-E0A06D326288}"/>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Licencia</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Revisar qué permite el modelo concreto.</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Operación</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Elegir quién ejecuta y mantiene la inferencia.</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Acceso</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Configurar endpoint y credenciales según el</a:t>
                      </a:r>
                    </a:p>
                    <a:p>
                      <a:r>
                        <a:rPr sz="1875" b="0">
                          <a:solidFill>
                            <a:srgbClr val="1E293B"/>
                          </a:solidFill>
                          <a:latin typeface="DejaVu Sans"/>
                          <a:ea typeface="DejaVu Sans"/>
                          <a:cs typeface="DejaVu Sans"/>
                        </a:rPr>
                        <a:t>proveedor.</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7167E0ED-8478-46D1-B8E4-273637F3B4A6}"/>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CBDBAFDB-C36A-4E28-9DC1-BB3116661BC8}"/>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17EB06C3-0921-4033-BB9A-758293A7D499}"/>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Equiparar abierto con gratis o</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afirmar que el modelo corre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en la laptop.</a:t>
            </a:r>
          </a:p>
        </p:txBody>
      </p:sp>
      <p:sp>
        <p:nvSpPr>
          <p:cNvPr id="20" name="development-prompt">
            <a:extLst xmlns:a="http://schemas.openxmlformats.org/drawingml/2006/main">
              <a:ext uri="{FF2B5EF4-FFF2-40B4-BE49-F238E27FC236}">
                <a16:creationId xmlns:a16="http://schemas.microsoft.com/office/drawing/2014/main" id="{E4C41BA6-A7B8-4171-81AD-82D4941098DC}"/>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4B6646EF-7D8A-40FA-AD26-E34FF24F75D6}"/>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835A6AE0-E8E8-405C-AED4-48BD03812B47}"/>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17A689D9-C19D-448C-A105-D537BA8D6CF2}"/>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¿Necesito una GPU local para llamar al endpoint del curso?</a:t>
            </a:r>
          </a:p>
        </p:txBody>
      </p:sp>
      <p:sp>
        <p:nvSpPr>
          <p:cNvPr id="24" name="panel">
            <a:extLst xmlns:a="http://schemas.openxmlformats.org/drawingml/2006/main">
              <a:ext uri="{FF2B5EF4-FFF2-40B4-BE49-F238E27FC236}">
                <a16:creationId xmlns:a16="http://schemas.microsoft.com/office/drawing/2014/main" id="{DE12ACB3-1AD2-4535-8600-14D9D7796DDF}"/>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0B0E54E2-FC29-401B-A473-4724E6CA4978}"/>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Modelo y servicio de inferencia son decisiones distintas.</a:t>
            </a:r>
          </a:p>
        </p:txBody>
      </p:sp>
    </p:spTree>
    <p:extLst>
      <p:ext uri="{BB962C8B-B14F-4D97-AF65-F5344CB8AC3E}">
        <p14:creationId xmlns:p14="http://schemas.microsoft.com/office/powerpoint/2010/main" val="419243478"/>
      </p:ext>
    </p:extLst>
  </p:cSld>
</p:sld>
</file>

<file path=ppt/slides/slide4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D5A1A514-62A3-4BDD-9842-651C52F768A8}"/>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B57DF9B-1A20-45CC-83E1-3E31724FE979}"/>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7759255E-7E3A-45C8-A052-6CAFB3F858D3}"/>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14</a:t>
            </a:r>
          </a:p>
        </p:txBody>
      </p:sp>
      <p:sp>
        <p:nvSpPr>
          <p:cNvPr id="4" name="breadcrumb">
            <a:extLst xmlns:a="http://schemas.openxmlformats.org/drawingml/2006/main">
              <a:ext uri="{FF2B5EF4-FFF2-40B4-BE49-F238E27FC236}">
                <a16:creationId xmlns:a16="http://schemas.microsoft.com/office/drawing/2014/main" id="{E16631E2-8674-42FD-8052-21A90D662EBE}"/>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14</a:t>
            </a:r>
          </a:p>
        </p:txBody>
      </p:sp>
      <p:sp>
        <p:nvSpPr>
          <p:cNvPr id="5" name="slide-title">
            <a:extLst xmlns:a="http://schemas.openxmlformats.org/drawingml/2006/main">
              <a:ext uri="{FF2B5EF4-FFF2-40B4-BE49-F238E27FC236}">
                <a16:creationId xmlns:a16="http://schemas.microsoft.com/office/drawing/2014/main" id="{A4C0E8B8-2914-4D9A-A134-FA5AA5441A47}"/>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Pesos abiertos e inferencia en nube</a:t>
            </a:r>
          </a:p>
        </p:txBody>
      </p:sp>
      <p:sp>
        <p:nvSpPr>
          <p:cNvPr id="6" name="learning-purpose">
            <a:extLst xmlns:a="http://schemas.openxmlformats.org/drawingml/2006/main">
              <a:ext uri="{FF2B5EF4-FFF2-40B4-BE49-F238E27FC236}">
                <a16:creationId xmlns:a16="http://schemas.microsoft.com/office/drawing/2014/main" id="{14808478-E044-4157-B579-D19523263FCF}"/>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Separar disponibilidad de pesos y lugar donde se ejecuta el modelo.</a:t>
            </a:r>
          </a:p>
        </p:txBody>
      </p:sp>
      <p:sp>
        <p:nvSpPr>
          <p:cNvPr id="7" name="panel">
            <a:extLst xmlns:a="http://schemas.openxmlformats.org/drawingml/2006/main">
              <a:ext uri="{FF2B5EF4-FFF2-40B4-BE49-F238E27FC236}">
                <a16:creationId xmlns:a16="http://schemas.microsoft.com/office/drawing/2014/main" id="{EE91A796-C969-4C5E-B3CF-B3F1CFC4B8B8}"/>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B4B8C4A6-549C-42EB-97E7-0D4180DF1DB0}"/>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52C27F7A-EEA1-4C51-9594-51A7B08439DF}"/>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CC0229BF-CA65-4C8C-9A62-4351E7CEE9E8}"/>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FA5E6CA7-7650-4DA5-A4B6-A9F4C320E828}"/>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2D9C9AA4-7665-400A-844A-B28D477C9E5B}"/>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E630CC74-D767-47B7-81AA-CCDBA3DADC56}"/>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C14</a:t>
            </a:r>
          </a:p>
        </p:txBody>
      </p:sp>
      <p:sp>
        <p:nvSpPr>
          <p:cNvPr id="14" name="folio">
            <a:extLst xmlns:a="http://schemas.openxmlformats.org/drawingml/2006/main">
              <a:ext uri="{FF2B5EF4-FFF2-40B4-BE49-F238E27FC236}">
                <a16:creationId xmlns:a16="http://schemas.microsoft.com/office/drawing/2014/main" id="{92B94419-0327-493C-A2C3-9AE36232867B}"/>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42</a:t>
            </a:r>
          </a:p>
        </p:txBody>
      </p:sp>
      <p:sp>
        <p:nvSpPr>
          <p:cNvPr id="15" name="section-label">
            <a:extLst xmlns:a="http://schemas.openxmlformats.org/drawingml/2006/main">
              <a:ext uri="{FF2B5EF4-FFF2-40B4-BE49-F238E27FC236}">
                <a16:creationId xmlns:a16="http://schemas.microsoft.com/office/drawing/2014/main" id="{870A2D37-BEC7-4F04-BA33-EC16D64DC8DC}"/>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ANDESMÓVIL · CASO DIDÁCTICO</a:t>
            </a:r>
          </a:p>
        </p:txBody>
      </p:sp>
      <p:sp>
        <p:nvSpPr>
          <p:cNvPr id="16" name="panel">
            <a:extLst xmlns:a="http://schemas.openxmlformats.org/drawingml/2006/main">
              <a:ext uri="{FF2B5EF4-FFF2-40B4-BE49-F238E27FC236}">
                <a16:creationId xmlns:a16="http://schemas.microsoft.com/office/drawing/2014/main" id="{8210B598-DE7A-4EFB-8BE8-A092327E23CF}"/>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BF711FD8-8443-42BC-9CA7-8FD36459F9C2}"/>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9D309F0A-A11F-4D7C-AD28-105AD1F9EBAA}"/>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Un equipo usa un modelo de pesos abiertos desde Hugging Face.</a:t>
            </a:r>
          </a:p>
        </p:txBody>
      </p:sp>
      <p:sp>
        <p:nvSpPr>
          <p:cNvPr id="19" name="concept-node">
            <a:extLst xmlns:a="http://schemas.openxmlformats.org/drawingml/2006/main">
              <a:ext uri="{FF2B5EF4-FFF2-40B4-BE49-F238E27FC236}">
                <a16:creationId xmlns:a16="http://schemas.microsoft.com/office/drawing/2014/main" id="{0BE9B494-969E-4A27-AC37-600326FB55F0}"/>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DF9A5183-63BB-43F3-9C91-B52F35C6A1B7}"/>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77D7136-1B88-481B-BF64-B13109CC5053}"/>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8F9828CC-7B95-4A2C-B2D5-7CA145599072}"/>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1ABFE5A0-0881-4763-9CEB-DB11925062F8}"/>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Local</a:t>
            </a:r>
          </a:p>
        </p:txBody>
      </p:sp>
      <p:sp>
        <p:nvSpPr>
          <p:cNvPr id="24" name="node-body">
            <a:extLst xmlns:a="http://schemas.openxmlformats.org/drawingml/2006/main">
              <a:ext uri="{FF2B5EF4-FFF2-40B4-BE49-F238E27FC236}">
                <a16:creationId xmlns:a16="http://schemas.microsoft.com/office/drawing/2014/main" id="{837F8C58-EEFB-4C52-8232-9FAB20ACDC2C}"/>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Ejecuta su script Python en una</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laptop.</a:t>
            </a:r>
          </a:p>
        </p:txBody>
      </p:sp>
      <p:sp>
        <p:nvSpPr>
          <p:cNvPr id="25" name="concept-node">
            <a:extLst xmlns:a="http://schemas.openxmlformats.org/drawingml/2006/main">
              <a:ext uri="{FF2B5EF4-FFF2-40B4-BE49-F238E27FC236}">
                <a16:creationId xmlns:a16="http://schemas.microsoft.com/office/drawing/2014/main" id="{DB473C5C-9892-4AD4-9884-FA87C9529A83}"/>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1D3F7BAB-141C-4B35-ACA3-A5B9DCAC7DB0}"/>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75FC202-7AEF-4BAE-B906-59029BB53625}"/>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C20690D4-569A-4899-B85A-1F09591CDB82}"/>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EAEB8100-3201-41E0-BC5B-E9B40496F54E}"/>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Remoto</a:t>
            </a:r>
          </a:p>
        </p:txBody>
      </p:sp>
      <p:sp>
        <p:nvSpPr>
          <p:cNvPr id="30" name="node-body">
            <a:extLst xmlns:a="http://schemas.openxmlformats.org/drawingml/2006/main">
              <a:ext uri="{FF2B5EF4-FFF2-40B4-BE49-F238E27FC236}">
                <a16:creationId xmlns:a16="http://schemas.microsoft.com/office/drawing/2014/main" id="{4DFCB627-5010-41B4-A08F-466F87F17432}"/>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 solicitud llega al servicio de</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inferencia.</a:t>
            </a:r>
          </a:p>
        </p:txBody>
      </p:sp>
      <p:sp>
        <p:nvSpPr>
          <p:cNvPr id="31" name="concept-node">
            <a:extLst xmlns:a="http://schemas.openxmlformats.org/drawingml/2006/main">
              <a:ext uri="{FF2B5EF4-FFF2-40B4-BE49-F238E27FC236}">
                <a16:creationId xmlns:a16="http://schemas.microsoft.com/office/drawing/2014/main" id="{EA2EEC77-CDF1-4391-A2FE-A9208EE77820}"/>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319AF144-CAB4-47E5-85BD-4985B0999208}"/>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C0C87AAD-C421-45CC-9EB5-CD5902D5A55B}"/>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85AA027D-981B-4F56-AEBB-099A1FC7F771}"/>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B1FDE2CF-2FE8-426B-952E-26B59CCAC068}"/>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Consecuencia</a:t>
            </a:r>
          </a:p>
        </p:txBody>
      </p:sp>
      <p:sp>
        <p:nvSpPr>
          <p:cNvPr id="36" name="node-body">
            <a:extLst xmlns:a="http://schemas.openxmlformats.org/drawingml/2006/main">
              <a:ext uri="{FF2B5EF4-FFF2-40B4-BE49-F238E27FC236}">
                <a16:creationId xmlns:a16="http://schemas.microsoft.com/office/drawing/2014/main" id="{9040A5F2-3031-457C-8ACE-D69B2D435D13}"/>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No necesita descargar los pesos</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completos para esa demo.</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D2637DE9-787E-46F2-9BF1-C982B9A7F5CA}"/>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DC5D848C-4DB8-4913-B600-127C7D08CFDD}"/>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CF92190D-6A9C-450D-8AA2-5C1105547A79}"/>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Pesos abiertos no implica ejecución local ni ausencia de costo.</a:t>
            </a:r>
          </a:p>
        </p:txBody>
      </p:sp>
      <p:sp>
        <p:nvSpPr>
          <p:cNvPr id="42" name="panel">
            <a:extLst xmlns:a="http://schemas.openxmlformats.org/drawingml/2006/main">
              <a:ext uri="{FF2B5EF4-FFF2-40B4-BE49-F238E27FC236}">
                <a16:creationId xmlns:a16="http://schemas.microsoft.com/office/drawing/2014/main" id="{E6F55292-0F72-466C-A9C8-558940D7AAEE}"/>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647346AA-9D9D-468C-B112-B094996850A8}"/>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Modelo y servicio de inferencia son decisiones distintas.</a:t>
            </a:r>
          </a:p>
        </p:txBody>
      </p:sp>
    </p:spTree>
    <p:extLst>
      <p:ext uri="{BB962C8B-B14F-4D97-AF65-F5344CB8AC3E}">
        <p14:creationId xmlns:p14="http://schemas.microsoft.com/office/powerpoint/2010/main" val="2126943982"/>
      </p:ext>
    </p:extLst>
  </p:cSld>
</p:sld>
</file>

<file path=ppt/slides/slide4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2" name="header">
            <a:extLst xmlns:a="http://schemas.openxmlformats.org/drawingml/2006/main">
              <a:ext uri="{FF2B5EF4-FFF2-40B4-BE49-F238E27FC236}">
                <a16:creationId xmlns:a16="http://schemas.microsoft.com/office/drawing/2014/main" id="{CB5539E8-94DB-4BC2-895D-6E6181B625E0}"/>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D98DE0-E5B1-444B-B766-55F538F9D634}"/>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EAA63F13-8B5A-4697-BA39-C5FF2A3FFF37}"/>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15</a:t>
            </a:r>
          </a:p>
        </p:txBody>
      </p:sp>
      <p:sp>
        <p:nvSpPr>
          <p:cNvPr id="4" name="breadcrumb">
            <a:extLst xmlns:a="http://schemas.openxmlformats.org/drawingml/2006/main">
              <a:ext uri="{FF2B5EF4-FFF2-40B4-BE49-F238E27FC236}">
                <a16:creationId xmlns:a16="http://schemas.microsoft.com/office/drawing/2014/main" id="{090799D0-D7A6-4A1E-A640-80B0B6C9CE32}"/>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15</a:t>
            </a:r>
          </a:p>
        </p:txBody>
      </p:sp>
      <p:sp>
        <p:nvSpPr>
          <p:cNvPr id="5" name="slide-title">
            <a:extLst xmlns:a="http://schemas.openxmlformats.org/drawingml/2006/main">
              <a:ext uri="{FF2B5EF4-FFF2-40B4-BE49-F238E27FC236}">
                <a16:creationId xmlns:a16="http://schemas.microsoft.com/office/drawing/2014/main" id="{F9E2B7F9-F17F-4400-846C-CB5459E1525D}"/>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Prompt, RAG y fine-tuning</a:t>
            </a:r>
          </a:p>
        </p:txBody>
      </p:sp>
      <p:sp>
        <p:nvSpPr>
          <p:cNvPr id="6" name="learning-purpose">
            <a:extLst xmlns:a="http://schemas.openxmlformats.org/drawingml/2006/main">
              <a:ext uri="{FF2B5EF4-FFF2-40B4-BE49-F238E27FC236}">
                <a16:creationId xmlns:a16="http://schemas.microsoft.com/office/drawing/2014/main" id="{DA6D18AE-51D3-4B35-9A86-C88B8B3428AD}"/>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Distinguir qué cambia cada técnica y por qué el curso usa conocimiento externo.</a:t>
            </a:r>
          </a:p>
        </p:txBody>
      </p:sp>
      <p:sp>
        <p:nvSpPr>
          <p:cNvPr id="7" name="panel">
            <a:extLst xmlns:a="http://schemas.openxmlformats.org/drawingml/2006/main">
              <a:ext uri="{FF2B5EF4-FFF2-40B4-BE49-F238E27FC236}">
                <a16:creationId xmlns:a16="http://schemas.microsoft.com/office/drawing/2014/main" id="{E32E11CB-8180-438E-AD27-8D2271F9C209}"/>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90F956BC-A088-4292-8058-8C99421E545A}"/>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7CA82037-3C68-4EDB-B6DE-4668C46D63B1}"/>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52FBD171-96E0-485F-91B9-75BECA001EBB}"/>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DD5850FA-7352-48B3-A2A2-9BE6568CFC9D}"/>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6F1C17E0-96EA-4F1D-B3D0-367EAD02EC44}"/>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062AD81C-5245-49D2-B4F9-6C861F0C39C5}"/>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C15</a:t>
            </a:r>
          </a:p>
        </p:txBody>
      </p:sp>
      <p:sp>
        <p:nvSpPr>
          <p:cNvPr id="14" name="folio">
            <a:extLst xmlns:a="http://schemas.openxmlformats.org/drawingml/2006/main">
              <a:ext uri="{FF2B5EF4-FFF2-40B4-BE49-F238E27FC236}">
                <a16:creationId xmlns:a16="http://schemas.microsoft.com/office/drawing/2014/main" id="{69509E7D-5AB7-40B9-B5C3-D47976AA17B5}"/>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43</a:t>
            </a:r>
          </a:p>
        </p:txBody>
      </p:sp>
      <p:sp>
        <p:nvSpPr>
          <p:cNvPr id="15" name="section-label">
            <a:extLst xmlns:a="http://schemas.openxmlformats.org/drawingml/2006/main">
              <a:ext uri="{FF2B5EF4-FFF2-40B4-BE49-F238E27FC236}">
                <a16:creationId xmlns:a16="http://schemas.microsoft.com/office/drawing/2014/main" id="{BF00216B-B7EA-4C68-8911-770BEBB21142}"/>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COMPARAR RESPONSABILIDADES</a:t>
            </a:r>
          </a:p>
        </p:txBody>
      </p:sp>
      <p:sp>
        <p:nvSpPr>
          <p:cNvPr id="16" name="concept-node">
            <a:extLst xmlns:a="http://schemas.openxmlformats.org/drawingml/2006/main">
              <a:ext uri="{FF2B5EF4-FFF2-40B4-BE49-F238E27FC236}">
                <a16:creationId xmlns:a16="http://schemas.microsoft.com/office/drawing/2014/main" id="{A5E7EC28-5257-4D00-8726-9C05D7D37C6D}"/>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C87F0058-F487-4969-850B-38EB9ED811CC}"/>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01A15CA-3266-4DAC-963D-EE013FA75DD5}"/>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79043F50-FA41-4F18-81C0-1AB220777B09}"/>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7DED2949-0913-47F0-AA70-3BFAA30743C4}"/>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Prompt</a:t>
            </a:r>
          </a:p>
        </p:txBody>
      </p:sp>
      <p:sp>
        <p:nvSpPr>
          <p:cNvPr id="21" name="node-body">
            <a:extLst xmlns:a="http://schemas.openxmlformats.org/drawingml/2006/main">
              <a:ext uri="{FF2B5EF4-FFF2-40B4-BE49-F238E27FC236}">
                <a16:creationId xmlns:a16="http://schemas.microsoft.com/office/drawing/2014/main" id="{18DA5ACA-4EA6-42C2-8F47-F08F1290AF96}"/>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Cambia instrucciones y</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contexto de una llamada.</a:t>
            </a:r>
          </a:p>
        </p:txBody>
      </p:sp>
      <p:sp>
        <p:nvSpPr>
          <p:cNvPr id="22" name="concept-node">
            <a:extLst xmlns:a="http://schemas.openxmlformats.org/drawingml/2006/main">
              <a:ext uri="{FF2B5EF4-FFF2-40B4-BE49-F238E27FC236}">
                <a16:creationId xmlns:a16="http://schemas.microsoft.com/office/drawing/2014/main" id="{32D6F747-684B-4F8E-844B-9A0B21091A4F}"/>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B911FB00-9B66-4D61-9900-422372706B11}"/>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95FF3F5-B4F7-48F1-A08C-B74650EF94AF}"/>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55CDE8A7-BA13-4A42-8502-D9F7A8CBFE2B}"/>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90B97CE8-47F8-4FE5-BBB0-2913A7E77D6B}"/>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RAG</a:t>
            </a:r>
          </a:p>
        </p:txBody>
      </p:sp>
      <p:sp>
        <p:nvSpPr>
          <p:cNvPr id="27" name="node-body">
            <a:extLst xmlns:a="http://schemas.openxmlformats.org/drawingml/2006/main">
              <a:ext uri="{FF2B5EF4-FFF2-40B4-BE49-F238E27FC236}">
                <a16:creationId xmlns:a16="http://schemas.microsoft.com/office/drawing/2014/main" id="{EC5831E5-3531-4797-81B8-433F4AB72F3C}"/>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Recupera información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externa y la aporta al</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contexto.</a:t>
            </a:r>
          </a:p>
        </p:txBody>
      </p:sp>
      <p:sp>
        <p:nvSpPr>
          <p:cNvPr id="28" name="concept-node">
            <a:extLst xmlns:a="http://schemas.openxmlformats.org/drawingml/2006/main">
              <a:ext uri="{FF2B5EF4-FFF2-40B4-BE49-F238E27FC236}">
                <a16:creationId xmlns:a16="http://schemas.microsoft.com/office/drawing/2014/main" id="{9852A05F-B7C8-4AE4-AA2A-68E9D7C3A0E7}"/>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8FE158E0-2ECC-4EEB-9167-A63FC85343DB}"/>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737EEC6-BACE-4CBB-B11E-88B115BFC01A}"/>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42BD2319-677A-4942-BD0D-426B90CFA744}"/>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CC337340-CB3E-4143-8E31-028D62C6DA07}"/>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Fine-tuning</a:t>
            </a:r>
          </a:p>
        </p:txBody>
      </p:sp>
      <p:sp>
        <p:nvSpPr>
          <p:cNvPr id="33" name="node-body">
            <a:extLst xmlns:a="http://schemas.openxmlformats.org/drawingml/2006/main">
              <a:ext uri="{FF2B5EF4-FFF2-40B4-BE49-F238E27FC236}">
                <a16:creationId xmlns:a16="http://schemas.microsoft.com/office/drawing/2014/main" id="{F1475762-ED59-47C9-A2C4-55DD2ABD4059}"/>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Actualiza parámetros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mediante un proceso de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entrenamiento.</a:t>
            </a:r>
          </a:p>
        </p:txBody>
      </p:sp>
      <p:sp>
        <p:nvSpPr>
          <p:cNvPr id="34" name="panel">
            <a:extLst xmlns:a="http://schemas.openxmlformats.org/drawingml/2006/main">
              <a:ext uri="{FF2B5EF4-FFF2-40B4-BE49-F238E27FC236}">
                <a16:creationId xmlns:a16="http://schemas.microsoft.com/office/drawing/2014/main" id="{2EB0675C-24EE-4A7F-A86B-626B78328E24}"/>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5" name="section-label">
            <a:extLst xmlns:a="http://schemas.openxmlformats.org/drawingml/2006/main">
              <a:ext uri="{FF2B5EF4-FFF2-40B4-BE49-F238E27FC236}">
                <a16:creationId xmlns:a16="http://schemas.microsoft.com/office/drawing/2014/main" id="{90A31641-4C56-42EB-83DC-4D0B79BDF7DC}"/>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6" name="concept-question">
            <a:extLst xmlns:a="http://schemas.openxmlformats.org/drawingml/2006/main">
              <a:ext uri="{FF2B5EF4-FFF2-40B4-BE49-F238E27FC236}">
                <a16:creationId xmlns:a16="http://schemas.microsoft.com/office/drawing/2014/main" id="{0B3EED99-D032-480E-A3E5-A62135160B81}"/>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¿Qué cambia al incorporar un nuevo tarifario al índice?</a:t>
            </a:r>
          </a:p>
        </p:txBody>
      </p:sp>
      <p:sp>
        <p:nvSpPr>
          <p:cNvPr id="37" name="panel">
            <a:extLst xmlns:a="http://schemas.openxmlformats.org/drawingml/2006/main">
              <a:ext uri="{FF2B5EF4-FFF2-40B4-BE49-F238E27FC236}">
                <a16:creationId xmlns:a16="http://schemas.microsoft.com/office/drawing/2014/main" id="{D8B74656-2663-442C-AE71-EB2A23487D52}"/>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38" name="misconception-label">
            <a:extLst xmlns:a="http://schemas.openxmlformats.org/drawingml/2006/main">
              <a:ext uri="{FF2B5EF4-FFF2-40B4-BE49-F238E27FC236}">
                <a16:creationId xmlns:a16="http://schemas.microsoft.com/office/drawing/2014/main" id="{3029CA04-FEF4-4A0C-A37E-1538E14E9D16}"/>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39" name="misconception">
            <a:extLst xmlns:a="http://schemas.openxmlformats.org/drawingml/2006/main">
              <a:ext uri="{FF2B5EF4-FFF2-40B4-BE49-F238E27FC236}">
                <a16:creationId xmlns:a16="http://schemas.microsoft.com/office/drawing/2014/main" id="{42BC738F-DAF4-41FC-A234-13A8E6806F28}"/>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Llamar entrenamiento a cualquier carga</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de documentos.</a:t>
            </a:r>
          </a:p>
        </p:txBody>
      </p:sp>
      <p:sp>
        <p:nvSpPr>
          <p:cNvPr id="40" name="panel">
            <a:extLst xmlns:a="http://schemas.openxmlformats.org/drawingml/2006/main">
              <a:ext uri="{FF2B5EF4-FFF2-40B4-BE49-F238E27FC236}">
                <a16:creationId xmlns:a16="http://schemas.microsoft.com/office/drawing/2014/main" id="{419D2B2B-D25D-4EEC-9691-8B4E5213E708}"/>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1" name="takeaway">
            <a:extLst xmlns:a="http://schemas.openxmlformats.org/drawingml/2006/main">
              <a:ext uri="{FF2B5EF4-FFF2-40B4-BE49-F238E27FC236}">
                <a16:creationId xmlns:a16="http://schemas.microsoft.com/office/drawing/2014/main" id="{1ED606DF-1B7F-4D04-99AB-6394965E71E3}"/>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RAG aporta conocimiento en contexto; no modifica los pesos.</a:t>
            </a:r>
          </a:p>
        </p:txBody>
      </p:sp>
    </p:spTree>
    <p:extLst>
      <p:ext uri="{BB962C8B-B14F-4D97-AF65-F5344CB8AC3E}">
        <p14:creationId xmlns:p14="http://schemas.microsoft.com/office/powerpoint/2010/main" val="1496231805"/>
      </p:ext>
    </p:extLst>
  </p:cSld>
</p:sld>
</file>

<file path=ppt/slides/slide4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6281EE9D-B2E9-4C3B-AEE6-CEB028050AC4}"/>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B55AB57-C21B-4A85-B5FB-E91FC65D63B7}"/>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4B9303DE-CAD4-46F2-8B29-F9116977D665}"/>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15</a:t>
            </a:r>
          </a:p>
        </p:txBody>
      </p:sp>
      <p:sp>
        <p:nvSpPr>
          <p:cNvPr id="4" name="breadcrumb">
            <a:extLst xmlns:a="http://schemas.openxmlformats.org/drawingml/2006/main">
              <a:ext uri="{FF2B5EF4-FFF2-40B4-BE49-F238E27FC236}">
                <a16:creationId xmlns:a16="http://schemas.microsoft.com/office/drawing/2014/main" id="{1CFA482C-CD7B-43AD-8C43-3DACB34810DC}"/>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15</a:t>
            </a:r>
          </a:p>
        </p:txBody>
      </p:sp>
      <p:sp>
        <p:nvSpPr>
          <p:cNvPr id="5" name="slide-title">
            <a:extLst xmlns:a="http://schemas.openxmlformats.org/drawingml/2006/main">
              <a:ext uri="{FF2B5EF4-FFF2-40B4-BE49-F238E27FC236}">
                <a16:creationId xmlns:a16="http://schemas.microsoft.com/office/drawing/2014/main" id="{4FE08321-F50D-4823-8722-9CB10DEC4D4E}"/>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Elegir por la necesidad</a:t>
            </a:r>
          </a:p>
        </p:txBody>
      </p:sp>
      <p:sp>
        <p:nvSpPr>
          <p:cNvPr id="6" name="learning-purpose">
            <a:extLst xmlns:a="http://schemas.openxmlformats.org/drawingml/2006/main">
              <a:ext uri="{FF2B5EF4-FFF2-40B4-BE49-F238E27FC236}">
                <a16:creationId xmlns:a16="http://schemas.microsoft.com/office/drawing/2014/main" id="{0F380CE0-5CAD-4CF2-9008-ED0536D94B2F}"/>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Distinguir qué cambia cada técnica y por qué el curso usa conocimiento externo.</a:t>
            </a:r>
          </a:p>
        </p:txBody>
      </p:sp>
      <p:sp>
        <p:nvSpPr>
          <p:cNvPr id="7" name="panel">
            <a:extLst xmlns:a="http://schemas.openxmlformats.org/drawingml/2006/main">
              <a:ext uri="{FF2B5EF4-FFF2-40B4-BE49-F238E27FC236}">
                <a16:creationId xmlns:a16="http://schemas.microsoft.com/office/drawing/2014/main" id="{250AEEFC-2576-4B98-98A3-5246CDAFC008}"/>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D84F7947-78C5-4B2C-A077-5D80526C6FAC}"/>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C3BAF06F-79DF-4EA6-90B9-7C7CE30AAFC4}"/>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6F675F5D-1941-471A-B9C4-9EC218CA7E0B}"/>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A1EEBB33-A67F-40AE-9623-1DB3C29BD44B}"/>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5887A593-34C3-4824-934F-AD935FD65384}"/>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1B9ACBFD-255A-453C-AD61-A5A3B8469ED9}"/>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C15</a:t>
            </a:r>
          </a:p>
        </p:txBody>
      </p:sp>
      <p:sp>
        <p:nvSpPr>
          <p:cNvPr id="14" name="folio">
            <a:extLst xmlns:a="http://schemas.openxmlformats.org/drawingml/2006/main">
              <a:ext uri="{FF2B5EF4-FFF2-40B4-BE49-F238E27FC236}">
                <a16:creationId xmlns:a16="http://schemas.microsoft.com/office/drawing/2014/main" id="{B082935E-F4DE-4154-96E3-E44B239A35D3}"/>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44</a:t>
            </a:r>
          </a:p>
        </p:txBody>
      </p:sp>
      <p:sp>
        <p:nvSpPr>
          <p:cNvPr id="15" name="section-label">
            <a:extLst xmlns:a="http://schemas.openxmlformats.org/drawingml/2006/main">
              <a:ext uri="{FF2B5EF4-FFF2-40B4-BE49-F238E27FC236}">
                <a16:creationId xmlns:a16="http://schemas.microsoft.com/office/drawing/2014/main" id="{5EAAD672-C95D-400C-ABAB-25608FFEDB3E}"/>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Comportamiento</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Empezar por instrucciones claras y ejemplos.</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Conocimiento</a:t>
                      </a:r>
                    </a:p>
                    <a:p>
                      <a:r>
                        <a:rPr sz="1875" b="1">
                          <a:solidFill>
                            <a:srgbClr val="1E293B"/>
                          </a:solidFill>
                          <a:latin typeface="DejaVu Sans"/>
                          <a:ea typeface="DejaVu Sans"/>
                          <a:cs typeface="DejaVu Sans"/>
                        </a:rPr>
                        <a:t>cambiante</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Recuperar documentos vigentes y citar fuentes.</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Entrenamiento</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Es otro mecanismo; no es el camino por industria</a:t>
                      </a:r>
                    </a:p>
                    <a:p>
                      <a:r>
                        <a:rPr sz="1875" b="0">
                          <a:solidFill>
                            <a:srgbClr val="1E293B"/>
                          </a:solidFill>
                          <a:latin typeface="DejaVu Sans"/>
                          <a:ea typeface="DejaVu Sans"/>
                          <a:cs typeface="DejaVu Sans"/>
                        </a:rPr>
                        <a:t>de este curso.</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19307F6C-D96A-443E-A87F-D65369C49A1D}"/>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9CBD1A99-AD31-4BB4-B085-0A79739DDA8A}"/>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1B592EE7-ABF3-4244-8F79-F64AFFD64BAA}"/>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Llamar entrenamiento a</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cualquier carga de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documentos.</a:t>
            </a:r>
          </a:p>
        </p:txBody>
      </p:sp>
      <p:sp>
        <p:nvSpPr>
          <p:cNvPr id="20" name="development-prompt">
            <a:extLst xmlns:a="http://schemas.openxmlformats.org/drawingml/2006/main">
              <a:ext uri="{FF2B5EF4-FFF2-40B4-BE49-F238E27FC236}">
                <a16:creationId xmlns:a16="http://schemas.microsoft.com/office/drawing/2014/main" id="{93929D87-6674-4816-89E1-7B7527FEA486}"/>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6C5C9896-4DC2-421C-8D8D-1CC5E6886BEC}"/>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78D382F6-189F-4DE3-A55B-F0458943300D}"/>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B8FDC893-9E44-4B6C-830D-A749919C44E3}"/>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¿Qué cambia al incorporar un nuevo tarifario al índice?</a:t>
            </a:r>
          </a:p>
        </p:txBody>
      </p:sp>
      <p:sp>
        <p:nvSpPr>
          <p:cNvPr id="24" name="panel">
            <a:extLst xmlns:a="http://schemas.openxmlformats.org/drawingml/2006/main">
              <a:ext uri="{FF2B5EF4-FFF2-40B4-BE49-F238E27FC236}">
                <a16:creationId xmlns:a16="http://schemas.microsoft.com/office/drawing/2014/main" id="{DC57B56E-5944-45F2-AEFF-DAF0517FCF62}"/>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9EB95BF6-D030-46A0-9E84-1044D45CA856}"/>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RAG aporta conocimiento en contexto; no modifica los pesos.</a:t>
            </a:r>
          </a:p>
        </p:txBody>
      </p:sp>
    </p:spTree>
    <p:extLst>
      <p:ext uri="{BB962C8B-B14F-4D97-AF65-F5344CB8AC3E}">
        <p14:creationId xmlns:p14="http://schemas.microsoft.com/office/powerpoint/2010/main" val="1026842165"/>
      </p:ext>
    </p:extLst>
  </p:cSld>
</p:sld>
</file>

<file path=ppt/slides/slide4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E53010E6-704C-4EBD-A610-D18C43BDEF0B}"/>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0A21415-5AE7-4378-8F4B-A5DCB2F6C850}"/>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AA42203F-9662-4568-AB70-9B4F0212F750}"/>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15</a:t>
            </a:r>
          </a:p>
        </p:txBody>
      </p:sp>
      <p:sp>
        <p:nvSpPr>
          <p:cNvPr id="4" name="breadcrumb">
            <a:extLst xmlns:a="http://schemas.openxmlformats.org/drawingml/2006/main">
              <a:ext uri="{FF2B5EF4-FFF2-40B4-BE49-F238E27FC236}">
                <a16:creationId xmlns:a16="http://schemas.microsoft.com/office/drawing/2014/main" id="{67493611-3459-4788-8A3F-4EE494685FFC}"/>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15</a:t>
            </a:r>
          </a:p>
        </p:txBody>
      </p:sp>
      <p:sp>
        <p:nvSpPr>
          <p:cNvPr id="5" name="slide-title">
            <a:extLst xmlns:a="http://schemas.openxmlformats.org/drawingml/2006/main">
              <a:ext uri="{FF2B5EF4-FFF2-40B4-BE49-F238E27FC236}">
                <a16:creationId xmlns:a16="http://schemas.microsoft.com/office/drawing/2014/main" id="{57508421-4BF2-4A39-AE51-14669E414599}"/>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Prompt, RAG y fine-tuning</a:t>
            </a:r>
          </a:p>
        </p:txBody>
      </p:sp>
      <p:sp>
        <p:nvSpPr>
          <p:cNvPr id="6" name="learning-purpose">
            <a:extLst xmlns:a="http://schemas.openxmlformats.org/drawingml/2006/main">
              <a:ext uri="{FF2B5EF4-FFF2-40B4-BE49-F238E27FC236}">
                <a16:creationId xmlns:a16="http://schemas.microsoft.com/office/drawing/2014/main" id="{EC8EA430-C7A0-4635-A5EE-077FC3653317}"/>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Distinguir qué cambia cada técnica y por qué el curso usa conocimiento externo.</a:t>
            </a:r>
          </a:p>
        </p:txBody>
      </p:sp>
      <p:sp>
        <p:nvSpPr>
          <p:cNvPr id="7" name="panel">
            <a:extLst xmlns:a="http://schemas.openxmlformats.org/drawingml/2006/main">
              <a:ext uri="{FF2B5EF4-FFF2-40B4-BE49-F238E27FC236}">
                <a16:creationId xmlns:a16="http://schemas.microsoft.com/office/drawing/2014/main" id="{759A5B8A-8273-4EA3-B963-836F51C808B8}"/>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2B219064-D4BE-4722-87AF-C36406A43074}"/>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9747E8C3-4105-4F90-AE66-732604ED87AD}"/>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3481BD4F-B89D-4708-917F-D6C946BFB5CE}"/>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6F9D3E62-0E2C-4D1E-BE99-DD150A1B7406}"/>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B8B793A7-21B4-48AB-B5BD-7518840784BB}"/>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57811722-75E6-4367-9DF3-CDCA3D04749D}"/>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C15</a:t>
            </a:r>
          </a:p>
        </p:txBody>
      </p:sp>
      <p:sp>
        <p:nvSpPr>
          <p:cNvPr id="14" name="folio">
            <a:extLst xmlns:a="http://schemas.openxmlformats.org/drawingml/2006/main">
              <a:ext uri="{FF2B5EF4-FFF2-40B4-BE49-F238E27FC236}">
                <a16:creationId xmlns:a16="http://schemas.microsoft.com/office/drawing/2014/main" id="{31B3038A-EA23-499A-B1A6-1517B1C08123}"/>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45</a:t>
            </a:r>
          </a:p>
        </p:txBody>
      </p:sp>
      <p:sp>
        <p:nvSpPr>
          <p:cNvPr id="15" name="section-label">
            <a:extLst xmlns:a="http://schemas.openxmlformats.org/drawingml/2006/main">
              <a:ext uri="{FF2B5EF4-FFF2-40B4-BE49-F238E27FC236}">
                <a16:creationId xmlns:a16="http://schemas.microsoft.com/office/drawing/2014/main" id="{045AEC4D-48F2-497B-B4B0-F57FACBAF4CB}"/>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ANDESMÓVIL · CASO DIDÁCTICO</a:t>
            </a:r>
          </a:p>
        </p:txBody>
      </p:sp>
      <p:sp>
        <p:nvSpPr>
          <p:cNvPr id="16" name="panel">
            <a:extLst xmlns:a="http://schemas.openxmlformats.org/drawingml/2006/main">
              <a:ext uri="{FF2B5EF4-FFF2-40B4-BE49-F238E27FC236}">
                <a16:creationId xmlns:a16="http://schemas.microsoft.com/office/drawing/2014/main" id="{39A8C547-3913-41E9-B5CF-9A72297851BF}"/>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1D637B71-9AA0-42DF-AD61-381BCC053BD9}"/>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658E0A31-0915-474A-86C0-1F43158BD1AD}"/>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El tarifario cambia cada mes y debe poder citarse.</a:t>
            </a:r>
          </a:p>
        </p:txBody>
      </p:sp>
      <p:sp>
        <p:nvSpPr>
          <p:cNvPr id="19" name="concept-node">
            <a:extLst xmlns:a="http://schemas.openxmlformats.org/drawingml/2006/main">
              <a:ext uri="{FF2B5EF4-FFF2-40B4-BE49-F238E27FC236}">
                <a16:creationId xmlns:a16="http://schemas.microsoft.com/office/drawing/2014/main" id="{181A15BA-4A4E-4212-8CDC-33F8D669BFF8}"/>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76DCC866-4536-4027-A6B7-93505E958583}"/>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4E3A411-2FA8-4DC9-B747-8D9D84A85298}"/>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9F2F18A3-D6CA-4CEF-A046-BA51D7E8109C}"/>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90A9C7CE-929E-4A5C-89A2-508A2E1DEF4F}"/>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Necesidad</a:t>
            </a:r>
          </a:p>
        </p:txBody>
      </p:sp>
      <p:sp>
        <p:nvSpPr>
          <p:cNvPr id="24" name="node-body">
            <a:extLst xmlns:a="http://schemas.openxmlformats.org/drawingml/2006/main">
              <a:ext uri="{FF2B5EF4-FFF2-40B4-BE49-F238E27FC236}">
                <a16:creationId xmlns:a16="http://schemas.microsoft.com/office/drawing/2014/main" id="{FB3FF9DB-D235-451E-956F-85FCD89A0AAE}"/>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Actualizar datos y conservar</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trazabilidad.</a:t>
            </a:r>
          </a:p>
        </p:txBody>
      </p:sp>
      <p:sp>
        <p:nvSpPr>
          <p:cNvPr id="25" name="concept-node">
            <a:extLst xmlns:a="http://schemas.openxmlformats.org/drawingml/2006/main">
              <a:ext uri="{FF2B5EF4-FFF2-40B4-BE49-F238E27FC236}">
                <a16:creationId xmlns:a16="http://schemas.microsoft.com/office/drawing/2014/main" id="{107FEA50-1171-4139-B844-D4B509FC4E78}"/>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5D1C56EF-A864-4A9F-9902-C73485679923}"/>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0E65F0E-51C3-43D8-BF93-F7BE29CFE83C}"/>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B10832FC-1F3B-437D-8B0B-9F83FAF5A9B0}"/>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58DCE87C-9155-4AB6-A063-A41CA7FFC826}"/>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Decisión</a:t>
            </a:r>
          </a:p>
        </p:txBody>
      </p:sp>
      <p:sp>
        <p:nvSpPr>
          <p:cNvPr id="30" name="node-body">
            <a:extLst xmlns:a="http://schemas.openxmlformats.org/drawingml/2006/main">
              <a:ext uri="{FF2B5EF4-FFF2-40B4-BE49-F238E27FC236}">
                <a16:creationId xmlns:a16="http://schemas.microsoft.com/office/drawing/2014/main" id="{C36A42B8-5A4A-47A2-A9D0-B9D555B139D4}"/>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Actualizar el corpus y recuperar</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 tarifa aplicable.</a:t>
            </a:r>
          </a:p>
        </p:txBody>
      </p:sp>
      <p:sp>
        <p:nvSpPr>
          <p:cNvPr id="31" name="concept-node">
            <a:extLst xmlns:a="http://schemas.openxmlformats.org/drawingml/2006/main">
              <a:ext uri="{FF2B5EF4-FFF2-40B4-BE49-F238E27FC236}">
                <a16:creationId xmlns:a16="http://schemas.microsoft.com/office/drawing/2014/main" id="{9C0BA145-E8FA-4C00-B4A6-5AF5BC785F04}"/>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53BD5CD4-6C62-41CC-BE03-C8EA13EBDE8A}"/>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F1066E8B-4FB7-4557-92C0-E5AA0B95497D}"/>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F90597EE-FC23-42A8-BCC1-946F2C709D1B}"/>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B3CF29BA-1BB9-44F6-A48F-262523F5DB9A}"/>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Comprobar</a:t>
            </a:r>
          </a:p>
        </p:txBody>
      </p:sp>
      <p:sp>
        <p:nvSpPr>
          <p:cNvPr id="36" name="node-body">
            <a:extLst xmlns:a="http://schemas.openxmlformats.org/drawingml/2006/main">
              <a:ext uri="{FF2B5EF4-FFF2-40B4-BE49-F238E27FC236}">
                <a16:creationId xmlns:a16="http://schemas.microsoft.com/office/drawing/2014/main" id="{E6F99728-74DA-45C6-9611-E81F6555991F}"/>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 respuesta cita el documento</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vigente.</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DB6CC29F-A080-411F-B127-5F6C5B602A24}"/>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4F4F91CA-85F2-4265-BC49-49A09C583530}"/>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F4A2F26A-F14C-419F-85B7-C039DDE8C061}"/>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El corpus puede cambiar sin entrenar de nuevo el modelo.</a:t>
            </a:r>
          </a:p>
        </p:txBody>
      </p:sp>
      <p:sp>
        <p:nvSpPr>
          <p:cNvPr id="42" name="panel">
            <a:extLst xmlns:a="http://schemas.openxmlformats.org/drawingml/2006/main">
              <a:ext uri="{FF2B5EF4-FFF2-40B4-BE49-F238E27FC236}">
                <a16:creationId xmlns:a16="http://schemas.microsoft.com/office/drawing/2014/main" id="{C6E9D20E-E7CA-4554-800C-C356BA530AC9}"/>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B8A6C7E3-22EB-4950-9EC2-758F5CA5458A}"/>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RAG aporta conocimiento en contexto; no modifica los pesos.</a:t>
            </a:r>
          </a:p>
        </p:txBody>
      </p:sp>
    </p:spTree>
    <p:extLst>
      <p:ext uri="{BB962C8B-B14F-4D97-AF65-F5344CB8AC3E}">
        <p14:creationId xmlns:p14="http://schemas.microsoft.com/office/powerpoint/2010/main" val="363225571"/>
      </p:ext>
    </p:extLst>
  </p:cSld>
</p:sld>
</file>

<file path=ppt/slides/slide4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CF49B6D1-24F4-42FB-84A3-262A5DA44E24}"/>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4B5942C-D607-4C4A-96B6-EF44239E1611}"/>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2344387A-A39E-4B2F-82EA-580765AEA87D}"/>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16</a:t>
            </a:r>
          </a:p>
        </p:txBody>
      </p:sp>
      <p:sp>
        <p:nvSpPr>
          <p:cNvPr id="4" name="breadcrumb">
            <a:extLst xmlns:a="http://schemas.openxmlformats.org/drawingml/2006/main">
              <a:ext uri="{FF2B5EF4-FFF2-40B4-BE49-F238E27FC236}">
                <a16:creationId xmlns:a16="http://schemas.microsoft.com/office/drawing/2014/main" id="{C195F764-CAC1-497C-A22B-69746CAD9D27}"/>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16</a:t>
            </a:r>
          </a:p>
        </p:txBody>
      </p:sp>
      <p:sp>
        <p:nvSpPr>
          <p:cNvPr id="5" name="slide-title">
            <a:extLst xmlns:a="http://schemas.openxmlformats.org/drawingml/2006/main">
              <a:ext uri="{FF2B5EF4-FFF2-40B4-BE49-F238E27FC236}">
                <a16:creationId xmlns:a16="http://schemas.microsoft.com/office/drawing/2014/main" id="{4ADEE167-25E6-44BC-BFBD-3F7F8C3CC523}"/>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Python: aislar y verificar</a:t>
            </a:r>
          </a:p>
        </p:txBody>
      </p:sp>
      <p:sp>
        <p:nvSpPr>
          <p:cNvPr id="6" name="learning-purpose">
            <a:extLst xmlns:a="http://schemas.openxmlformats.org/drawingml/2006/main">
              <a:ext uri="{FF2B5EF4-FFF2-40B4-BE49-F238E27FC236}">
                <a16:creationId xmlns:a16="http://schemas.microsoft.com/office/drawing/2014/main" id="{0C8EAAE5-2EB3-45B6-B1EE-98123CCD55E5}"/>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Preparar un entorno reproducible para ejecutar los ejemplos del repositorio.</a:t>
            </a:r>
          </a:p>
        </p:txBody>
      </p:sp>
      <p:sp>
        <p:nvSpPr>
          <p:cNvPr id="7" name="panel">
            <a:extLst xmlns:a="http://schemas.openxmlformats.org/drawingml/2006/main">
              <a:ext uri="{FF2B5EF4-FFF2-40B4-BE49-F238E27FC236}">
                <a16:creationId xmlns:a16="http://schemas.microsoft.com/office/drawing/2014/main" id="{DF48A9F1-FADC-43F0-B371-C6FE93C26CA6}"/>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A88E66AE-54AE-4127-964C-5525FE6CA13E}"/>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B0EB6750-E226-4C4F-BB7D-E086DB1C7473}"/>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97E2C7A3-1915-4697-8F89-3272C881859D}"/>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A99AB1E1-7194-43F7-A91D-57F8EED30A20}"/>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1FD2B202-8749-4879-9CC3-14CAB89361E9}"/>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EADEBE79-6CE4-4B54-A142-9CCF957BD43C}"/>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C16</a:t>
            </a:r>
          </a:p>
        </p:txBody>
      </p:sp>
      <p:sp>
        <p:nvSpPr>
          <p:cNvPr id="14" name="folio">
            <a:extLst xmlns:a="http://schemas.openxmlformats.org/drawingml/2006/main">
              <a:ext uri="{FF2B5EF4-FFF2-40B4-BE49-F238E27FC236}">
                <a16:creationId xmlns:a16="http://schemas.microsoft.com/office/drawing/2014/main" id="{1286432D-51B4-4A0D-A926-DBAF9C408D54}"/>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46</a:t>
            </a:r>
          </a:p>
        </p:txBody>
      </p:sp>
      <p:sp>
        <p:nvSpPr>
          <p:cNvPr id="15" name="section-label">
            <a:extLst xmlns:a="http://schemas.openxmlformats.org/drawingml/2006/main">
              <a:ext uri="{FF2B5EF4-FFF2-40B4-BE49-F238E27FC236}">
                <a16:creationId xmlns:a16="http://schemas.microsoft.com/office/drawing/2014/main" id="{2D1200EB-F722-4897-9910-C14C92AEF410}"/>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SEGUIR LA RELACIÓN ENTRE LAS PIEZAS</a:t>
            </a:r>
          </a:p>
        </p:txBody>
      </p:sp>
      <p:sp>
        <p:nvSpPr>
          <p:cNvPr id="16" name="concept-node">
            <a:extLst xmlns:a="http://schemas.openxmlformats.org/drawingml/2006/main">
              <a:ext uri="{FF2B5EF4-FFF2-40B4-BE49-F238E27FC236}">
                <a16:creationId xmlns:a16="http://schemas.microsoft.com/office/drawing/2014/main" id="{3BB792E6-3B1B-4280-93FA-9DE250623171}"/>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C16F0191-7791-40E9-8351-BA32199128C1}"/>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5D25B75-E88F-4842-80AE-7F58FDD14BA4}"/>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5E29A5ED-6950-4132-AA61-64E4C8F5C305}"/>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D77CAECD-B1BF-4959-AD2F-0C9DA8BD47FB}"/>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Repositorio</a:t>
            </a:r>
          </a:p>
        </p:txBody>
      </p:sp>
      <p:sp>
        <p:nvSpPr>
          <p:cNvPr id="21" name="node-body">
            <a:extLst xmlns:a="http://schemas.openxmlformats.org/drawingml/2006/main">
              <a:ext uri="{FF2B5EF4-FFF2-40B4-BE49-F238E27FC236}">
                <a16:creationId xmlns:a16="http://schemas.microsoft.com/office/drawing/2014/main" id="{D1D767B2-0073-45CF-9B1D-9B7C963546AB}"/>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Trabajar desde la raíz del</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proyecto.</a:t>
            </a:r>
          </a:p>
        </p:txBody>
      </p:sp>
      <p:sp>
        <p:nvSpPr>
          <p:cNvPr id="22" name="concept-node">
            <a:extLst xmlns:a="http://schemas.openxmlformats.org/drawingml/2006/main">
              <a:ext uri="{FF2B5EF4-FFF2-40B4-BE49-F238E27FC236}">
                <a16:creationId xmlns:a16="http://schemas.microsoft.com/office/drawing/2014/main" id="{A98C122B-9E5C-46C8-9D18-E2CE96F1F01E}"/>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298658D3-E04C-4135-99C4-953B74B01A9C}"/>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6B2F12A-3510-4F19-B2C3-2EBFB4CA8276}"/>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1A446776-F448-4206-98B2-F4BB95D4450C}"/>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EF24F1E3-8991-4F22-9652-FF6C101F5FE8}"/>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Entorno virtual</a:t>
            </a:r>
          </a:p>
        </p:txBody>
      </p:sp>
      <p:sp>
        <p:nvSpPr>
          <p:cNvPr id="27" name="node-body">
            <a:extLst xmlns:a="http://schemas.openxmlformats.org/drawingml/2006/main">
              <a:ext uri="{FF2B5EF4-FFF2-40B4-BE49-F238E27FC236}">
                <a16:creationId xmlns:a16="http://schemas.microsoft.com/office/drawing/2014/main" id="{81F9758D-350B-4404-A5E6-DE5FB506E80E}"/>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Aislar dependencias del</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Python global.</a:t>
            </a:r>
          </a:p>
        </p:txBody>
      </p:sp>
      <p:sp>
        <p:nvSpPr>
          <p:cNvPr id="28" name="concept-node">
            <a:extLst xmlns:a="http://schemas.openxmlformats.org/drawingml/2006/main">
              <a:ext uri="{FF2B5EF4-FFF2-40B4-BE49-F238E27FC236}">
                <a16:creationId xmlns:a16="http://schemas.microsoft.com/office/drawing/2014/main" id="{1AC74BBF-FD22-4286-AB9D-D0D1D4EAC62C}"/>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ED603A8B-919E-4763-9617-F060981A4334}"/>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12082682-12DB-4E21-A292-F2AA55F26CEF}"/>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E8B1EB2B-C21E-4CB3-9447-299F10ACCC86}"/>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A18A37F6-1AC9-49A3-B355-88119057463A}"/>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Instalación</a:t>
            </a:r>
          </a:p>
        </p:txBody>
      </p:sp>
      <p:sp>
        <p:nvSpPr>
          <p:cNvPr id="33" name="node-body">
            <a:extLst xmlns:a="http://schemas.openxmlformats.org/drawingml/2006/main">
              <a:ext uri="{FF2B5EF4-FFF2-40B4-BE49-F238E27FC236}">
                <a16:creationId xmlns:a16="http://schemas.microsoft.com/office/drawing/2014/main" id="{993CFC30-BF23-478A-9066-FA70E1D67350}"/>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Instalar requirements y</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verificar imports.</a:t>
            </a:r>
          </a:p>
        </p:txBody>
      </p:sp>
      <p:cxnSp>
        <p:nvCxnSpPr>
          <p:cNvPr id="77" name=""/>
          <p:cNvCxnSpPr>
            <a:stCxn xmlns:a="http://schemas.openxmlformats.org/drawingml/2006/main" id="16" idx="3"/>
            <a:endCxn xmlns:a="http://schemas.openxmlformats.org/drawingml/2006/main" id="22" idx="1"/>
          </p:cNvCxnSpPr>
          <p:nvPr/>
        </p:nvCxnSpPr>
        <p:spPr>
          <a:xfrm xmlns:a="http://schemas.openxmlformats.org/drawingml/2006/main">
            <a:off x="495300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78" name=""/>
          <p:cNvCxnSpPr>
            <a:stCxn xmlns:a="http://schemas.openxmlformats.org/drawingml/2006/main" id="22" idx="3"/>
            <a:endCxn xmlns:a="http://schemas.openxmlformats.org/drawingml/2006/main" id="28" idx="1"/>
          </p:cNvCxnSpPr>
          <p:nvPr/>
        </p:nvCxnSpPr>
        <p:spPr>
          <a:xfrm xmlns:a="http://schemas.openxmlformats.org/drawingml/2006/main">
            <a:off x="981075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6" name="panel">
            <a:extLst xmlns:a="http://schemas.openxmlformats.org/drawingml/2006/main">
              <a:ext uri="{FF2B5EF4-FFF2-40B4-BE49-F238E27FC236}">
                <a16:creationId xmlns:a16="http://schemas.microsoft.com/office/drawing/2014/main" id="{4AA1579A-A1A6-4097-A2D8-65B7469DCF98}"/>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7" name="section-label">
            <a:extLst xmlns:a="http://schemas.openxmlformats.org/drawingml/2006/main">
              <a:ext uri="{FF2B5EF4-FFF2-40B4-BE49-F238E27FC236}">
                <a16:creationId xmlns:a16="http://schemas.microsoft.com/office/drawing/2014/main" id="{EC7D3448-83DA-479F-91E8-7E19DCB33912}"/>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8" name="concept-question">
            <a:extLst xmlns:a="http://schemas.openxmlformats.org/drawingml/2006/main">
              <a:ext uri="{FF2B5EF4-FFF2-40B4-BE49-F238E27FC236}">
                <a16:creationId xmlns:a16="http://schemas.microsoft.com/office/drawing/2014/main" id="{81ACAD6E-BACB-4B54-BAE9-89E2FBDEBB67}"/>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¿Qué comprobarías antes de reinstalar todo?</a:t>
            </a:r>
          </a:p>
        </p:txBody>
      </p:sp>
      <p:sp>
        <p:nvSpPr>
          <p:cNvPr id="39" name="panel">
            <a:extLst xmlns:a="http://schemas.openxmlformats.org/drawingml/2006/main">
              <a:ext uri="{FF2B5EF4-FFF2-40B4-BE49-F238E27FC236}">
                <a16:creationId xmlns:a16="http://schemas.microsoft.com/office/drawing/2014/main" id="{1A0C9FEF-8009-45BE-9195-4B7428EF7468}"/>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40" name="misconception-label">
            <a:extLst xmlns:a="http://schemas.openxmlformats.org/drawingml/2006/main">
              <a:ext uri="{FF2B5EF4-FFF2-40B4-BE49-F238E27FC236}">
                <a16:creationId xmlns:a16="http://schemas.microsoft.com/office/drawing/2014/main" id="{34156DDD-55CD-402F-95F6-AC03B6A94296}"/>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41" name="misconception">
            <a:extLst xmlns:a="http://schemas.openxmlformats.org/drawingml/2006/main">
              <a:ext uri="{FF2B5EF4-FFF2-40B4-BE49-F238E27FC236}">
                <a16:creationId xmlns:a16="http://schemas.microsoft.com/office/drawing/2014/main" id="{635D61C8-AE7C-40C6-A19C-34FB89986AC6}"/>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Usar pip de un Python y ejecutar con</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otro.</a:t>
            </a:r>
          </a:p>
        </p:txBody>
      </p:sp>
      <p:sp>
        <p:nvSpPr>
          <p:cNvPr id="42" name="panel">
            <a:extLst xmlns:a="http://schemas.openxmlformats.org/drawingml/2006/main">
              <a:ext uri="{FF2B5EF4-FFF2-40B4-BE49-F238E27FC236}">
                <a16:creationId xmlns:a16="http://schemas.microsoft.com/office/drawing/2014/main" id="{1A84A4F8-F235-478D-98CE-68639A1F5E72}"/>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A72A5F56-1CD3-4959-A27C-5AC07C961616}"/>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Instalar un paquete en otro intérprete no resuelve el entorno activo.</a:t>
            </a:r>
          </a:p>
        </p:txBody>
      </p:sp>
    </p:spTree>
    <p:extLst>
      <p:ext uri="{BB962C8B-B14F-4D97-AF65-F5344CB8AC3E}">
        <p14:creationId xmlns:p14="http://schemas.microsoft.com/office/powerpoint/2010/main" val="1514477540"/>
      </p:ext>
    </p:extLst>
  </p:cSld>
</p:sld>
</file>

<file path=ppt/slides/slide4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08F533F3-4AF3-411B-8CAD-BABF62081FC3}"/>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3EB5EA7-DE2D-43B6-A671-B0CE355C4A1C}"/>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513087C6-BA5A-4E5D-AB7B-4AFC69E62AA9}"/>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16</a:t>
            </a:r>
          </a:p>
        </p:txBody>
      </p:sp>
      <p:sp>
        <p:nvSpPr>
          <p:cNvPr id="4" name="breadcrumb">
            <a:extLst xmlns:a="http://schemas.openxmlformats.org/drawingml/2006/main">
              <a:ext uri="{FF2B5EF4-FFF2-40B4-BE49-F238E27FC236}">
                <a16:creationId xmlns:a16="http://schemas.microsoft.com/office/drawing/2014/main" id="{FC526CEB-F8CF-4313-92A9-3985DC1A33CB}"/>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16</a:t>
            </a:r>
          </a:p>
        </p:txBody>
      </p:sp>
      <p:sp>
        <p:nvSpPr>
          <p:cNvPr id="5" name="slide-title">
            <a:extLst xmlns:a="http://schemas.openxmlformats.org/drawingml/2006/main">
              <a:ext uri="{FF2B5EF4-FFF2-40B4-BE49-F238E27FC236}">
                <a16:creationId xmlns:a16="http://schemas.microsoft.com/office/drawing/2014/main" id="{1BEC5B0A-7616-4B46-BF45-0319EF927CAC}"/>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Orden de comprobación</a:t>
            </a:r>
          </a:p>
        </p:txBody>
      </p:sp>
      <p:sp>
        <p:nvSpPr>
          <p:cNvPr id="6" name="learning-purpose">
            <a:extLst xmlns:a="http://schemas.openxmlformats.org/drawingml/2006/main">
              <a:ext uri="{FF2B5EF4-FFF2-40B4-BE49-F238E27FC236}">
                <a16:creationId xmlns:a16="http://schemas.microsoft.com/office/drawing/2014/main" id="{AEE90E22-6CE2-4728-8C34-60E2EAC82112}"/>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Preparar un entorno reproducible para ejecutar los ejemplos del repositorio.</a:t>
            </a:r>
          </a:p>
        </p:txBody>
      </p:sp>
      <p:sp>
        <p:nvSpPr>
          <p:cNvPr id="7" name="panel">
            <a:extLst xmlns:a="http://schemas.openxmlformats.org/drawingml/2006/main">
              <a:ext uri="{FF2B5EF4-FFF2-40B4-BE49-F238E27FC236}">
                <a16:creationId xmlns:a16="http://schemas.microsoft.com/office/drawing/2014/main" id="{9E594DA5-2272-467C-9B8D-2E9EB1BDDD83}"/>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AAEB21A3-5483-46F5-8136-45D9333D111B}"/>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99532874-D138-4709-BBCD-ECCA603A63AF}"/>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A47F4161-8F86-4BC6-AF1C-C385A52292F2}"/>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D74846D2-F140-43C1-9231-216D5242F722}"/>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C533E4C2-ABC1-4A07-B083-E48A7041521B}"/>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364E208C-D562-436B-8A8C-39480AFD3BB8}"/>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C16</a:t>
            </a:r>
          </a:p>
        </p:txBody>
      </p:sp>
      <p:sp>
        <p:nvSpPr>
          <p:cNvPr id="14" name="folio">
            <a:extLst xmlns:a="http://schemas.openxmlformats.org/drawingml/2006/main">
              <a:ext uri="{FF2B5EF4-FFF2-40B4-BE49-F238E27FC236}">
                <a16:creationId xmlns:a16="http://schemas.microsoft.com/office/drawing/2014/main" id="{C7345E27-1218-4D7F-9929-C1577497A568}"/>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47</a:t>
            </a:r>
          </a:p>
        </p:txBody>
      </p:sp>
      <p:sp>
        <p:nvSpPr>
          <p:cNvPr id="15" name="section-label">
            <a:extLst xmlns:a="http://schemas.openxmlformats.org/drawingml/2006/main">
              <a:ext uri="{FF2B5EF4-FFF2-40B4-BE49-F238E27FC236}">
                <a16:creationId xmlns:a16="http://schemas.microsoft.com/office/drawing/2014/main" id="{07899651-95DD-441A-8880-65C2974DB68B}"/>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Intérprete</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Confirmar la versión requerida por el repositorio.</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Entorno</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Activar .venv y revisar qué Python se está usando.</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Dependencias</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Instalar desde requirements.txt en ese mismo</a:t>
                      </a:r>
                    </a:p>
                    <a:p>
                      <a:r>
                        <a:rPr sz="1875" b="0">
                          <a:solidFill>
                            <a:srgbClr val="1E293B"/>
                          </a:solidFill>
                          <a:latin typeface="DejaVu Sans"/>
                          <a:ea typeface="DejaVu Sans"/>
                          <a:cs typeface="DejaVu Sans"/>
                        </a:rPr>
                        <a:t>entorno.</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75969036-E9A9-4A1F-A768-7CF1B42C202A}"/>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CCD43A42-0EDD-4CA1-831C-1EB33B53626A}"/>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4B74B4D1-EB3E-4C54-97B1-6200101E14C4}"/>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Usar pip de un Python y</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ejecutar con otro.</a:t>
            </a:r>
          </a:p>
        </p:txBody>
      </p:sp>
      <p:sp>
        <p:nvSpPr>
          <p:cNvPr id="20" name="development-prompt">
            <a:extLst xmlns:a="http://schemas.openxmlformats.org/drawingml/2006/main">
              <a:ext uri="{FF2B5EF4-FFF2-40B4-BE49-F238E27FC236}">
                <a16:creationId xmlns:a16="http://schemas.microsoft.com/office/drawing/2014/main" id="{C30CDB32-BF0E-441D-A272-E8E0C1B55E23}"/>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8A269D5D-22EF-4282-AE78-5C2C8BAB69C8}"/>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E6265E8B-42A4-4EF1-AD25-B5DD5BD7F169}"/>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04423857-C3E6-4547-9977-01A818313FCF}"/>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¿Qué comprobarías antes de reinstalar todo?</a:t>
            </a:r>
          </a:p>
        </p:txBody>
      </p:sp>
      <p:sp>
        <p:nvSpPr>
          <p:cNvPr id="24" name="panel">
            <a:extLst xmlns:a="http://schemas.openxmlformats.org/drawingml/2006/main">
              <a:ext uri="{FF2B5EF4-FFF2-40B4-BE49-F238E27FC236}">
                <a16:creationId xmlns:a16="http://schemas.microsoft.com/office/drawing/2014/main" id="{03980B55-966D-4B55-8FC0-0D318454B3DE}"/>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76A3ACB3-79CD-445C-B385-D4D63B550279}"/>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Instalar un paquete en otro intérprete no resuelve el entorno activo.</a:t>
            </a:r>
          </a:p>
        </p:txBody>
      </p:sp>
    </p:spTree>
    <p:extLst>
      <p:ext uri="{BB962C8B-B14F-4D97-AF65-F5344CB8AC3E}">
        <p14:creationId xmlns:p14="http://schemas.microsoft.com/office/powerpoint/2010/main" val="376804787"/>
      </p:ext>
    </p:extLst>
  </p:cSld>
</p:sld>
</file>

<file path=ppt/slides/slide4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2DA30EFF-EEC8-4B4E-A80C-7A626E1A409F}"/>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8CA002-696D-411C-B5E8-316C2199CB7D}"/>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D24770D9-CE8C-4230-8123-A71FFFFD719E}"/>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16</a:t>
            </a:r>
          </a:p>
        </p:txBody>
      </p:sp>
      <p:sp>
        <p:nvSpPr>
          <p:cNvPr id="4" name="breadcrumb">
            <a:extLst xmlns:a="http://schemas.openxmlformats.org/drawingml/2006/main">
              <a:ext uri="{FF2B5EF4-FFF2-40B4-BE49-F238E27FC236}">
                <a16:creationId xmlns:a16="http://schemas.microsoft.com/office/drawing/2014/main" id="{D38A952A-0754-417C-B7DC-1CBE95C2F892}"/>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16</a:t>
            </a:r>
          </a:p>
        </p:txBody>
      </p:sp>
      <p:sp>
        <p:nvSpPr>
          <p:cNvPr id="5" name="slide-title">
            <a:extLst xmlns:a="http://schemas.openxmlformats.org/drawingml/2006/main">
              <a:ext uri="{FF2B5EF4-FFF2-40B4-BE49-F238E27FC236}">
                <a16:creationId xmlns:a16="http://schemas.microsoft.com/office/drawing/2014/main" id="{5CDD2F9C-D229-4643-8DF4-02B1EA9285DE}"/>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Python: aislar y verificar</a:t>
            </a:r>
          </a:p>
        </p:txBody>
      </p:sp>
      <p:sp>
        <p:nvSpPr>
          <p:cNvPr id="6" name="learning-purpose">
            <a:extLst xmlns:a="http://schemas.openxmlformats.org/drawingml/2006/main">
              <a:ext uri="{FF2B5EF4-FFF2-40B4-BE49-F238E27FC236}">
                <a16:creationId xmlns:a16="http://schemas.microsoft.com/office/drawing/2014/main" id="{75062A99-5EB7-47F4-9081-B3B2ABF3DEC4}"/>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Preparar un entorno reproducible para ejecutar los ejemplos del repositorio.</a:t>
            </a:r>
          </a:p>
        </p:txBody>
      </p:sp>
      <p:sp>
        <p:nvSpPr>
          <p:cNvPr id="7" name="panel">
            <a:extLst xmlns:a="http://schemas.openxmlformats.org/drawingml/2006/main">
              <a:ext uri="{FF2B5EF4-FFF2-40B4-BE49-F238E27FC236}">
                <a16:creationId xmlns:a16="http://schemas.microsoft.com/office/drawing/2014/main" id="{D71E5444-AC3F-425F-BECD-1EDED063641A}"/>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A939724E-F2C5-43D4-9916-61E8D8A74B5D}"/>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C8002752-4C2E-459A-A58A-5A7D573181B8}"/>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50FFACA7-729C-4604-AACD-FCCFB98EDF92}"/>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E51BE0B0-B3FF-442A-9556-444EA53DB338}"/>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BB9192CA-BC1A-4093-98C2-C2907C5A2112}"/>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0A7D11AA-C90F-461C-B992-32627C91F7A7}"/>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C16</a:t>
            </a:r>
          </a:p>
        </p:txBody>
      </p:sp>
      <p:sp>
        <p:nvSpPr>
          <p:cNvPr id="14" name="folio">
            <a:extLst xmlns:a="http://schemas.openxmlformats.org/drawingml/2006/main">
              <a:ext uri="{FF2B5EF4-FFF2-40B4-BE49-F238E27FC236}">
                <a16:creationId xmlns:a16="http://schemas.microsoft.com/office/drawing/2014/main" id="{02A61FD3-3641-4201-9A38-4C1D925397C0}"/>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48</a:t>
            </a:r>
          </a:p>
        </p:txBody>
      </p:sp>
      <p:sp>
        <p:nvSpPr>
          <p:cNvPr id="15" name="section-label">
            <a:extLst xmlns:a="http://schemas.openxmlformats.org/drawingml/2006/main">
              <a:ext uri="{FF2B5EF4-FFF2-40B4-BE49-F238E27FC236}">
                <a16:creationId xmlns:a16="http://schemas.microsoft.com/office/drawing/2014/main" id="{61282D5E-BC8F-49CD-B44A-B4359893F2B7}"/>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MERCASUR · CASO DIDÁCTICO</a:t>
            </a:r>
          </a:p>
        </p:txBody>
      </p:sp>
      <p:sp>
        <p:nvSpPr>
          <p:cNvPr id="16" name="panel">
            <a:extLst xmlns:a="http://schemas.openxmlformats.org/drawingml/2006/main">
              <a:ext uri="{FF2B5EF4-FFF2-40B4-BE49-F238E27FC236}">
                <a16:creationId xmlns:a16="http://schemas.microsoft.com/office/drawing/2014/main" id="{4E6C6D84-427D-4E18-977B-763649AEFCC0}"/>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6B812ECA-FA69-4922-B397-81503FBEBAFA}"/>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49C424CF-89A2-4F57-86DF-FF3E2F90546A}"/>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El import funciona en un notebook, pero falla en la terminal.</a:t>
            </a:r>
          </a:p>
        </p:txBody>
      </p:sp>
      <p:sp>
        <p:nvSpPr>
          <p:cNvPr id="19" name="concept-node">
            <a:extLst xmlns:a="http://schemas.openxmlformats.org/drawingml/2006/main">
              <a:ext uri="{FF2B5EF4-FFF2-40B4-BE49-F238E27FC236}">
                <a16:creationId xmlns:a16="http://schemas.microsoft.com/office/drawing/2014/main" id="{FF15B0F9-242B-4F9D-9369-BA3A12826959}"/>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712D7592-2FD5-44AD-8D65-920AB21D02CF}"/>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57F4F59-F902-4840-8333-8B4EA9036ED0}"/>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2DC7AADC-5369-4AFF-A7E7-629B5715E5C3}"/>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45992448-355D-47BF-AC6E-FFB540E615AC}"/>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Identificar</a:t>
            </a:r>
          </a:p>
        </p:txBody>
      </p:sp>
      <p:sp>
        <p:nvSpPr>
          <p:cNvPr id="24" name="node-body">
            <a:extLst xmlns:a="http://schemas.openxmlformats.org/drawingml/2006/main">
              <a:ext uri="{FF2B5EF4-FFF2-40B4-BE49-F238E27FC236}">
                <a16:creationId xmlns:a16="http://schemas.microsoft.com/office/drawing/2014/main" id="{18E08A8F-F10D-4095-8C58-CE0604746350}"/>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Notebook y terminal usan</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intérpretes distintos.</a:t>
            </a:r>
          </a:p>
        </p:txBody>
      </p:sp>
      <p:sp>
        <p:nvSpPr>
          <p:cNvPr id="25" name="concept-node">
            <a:extLst xmlns:a="http://schemas.openxmlformats.org/drawingml/2006/main">
              <a:ext uri="{FF2B5EF4-FFF2-40B4-BE49-F238E27FC236}">
                <a16:creationId xmlns:a16="http://schemas.microsoft.com/office/drawing/2014/main" id="{E57E85ED-7A2F-4CF5-B7A1-EBA3CF10C02D}"/>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28D293B0-BB60-4F99-877D-5F77EFEC2A1B}"/>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A1794098-BD13-4C20-B154-41FA89CD23DF}"/>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CAE28B52-22C6-44F6-9D1F-FB2DA75560AD}"/>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39AB96A3-3775-4A15-903B-616011EC32DB}"/>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Alinear</a:t>
            </a:r>
          </a:p>
        </p:txBody>
      </p:sp>
      <p:sp>
        <p:nvSpPr>
          <p:cNvPr id="30" name="node-body">
            <a:extLst xmlns:a="http://schemas.openxmlformats.org/drawingml/2006/main">
              <a:ext uri="{FF2B5EF4-FFF2-40B4-BE49-F238E27FC236}">
                <a16:creationId xmlns:a16="http://schemas.microsoft.com/office/drawing/2014/main" id="{47BE7D69-0C01-4056-A81B-29A6B609B497}"/>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Activar el entorno del curso en</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 terminal.</a:t>
            </a:r>
          </a:p>
        </p:txBody>
      </p:sp>
      <p:sp>
        <p:nvSpPr>
          <p:cNvPr id="31" name="concept-node">
            <a:extLst xmlns:a="http://schemas.openxmlformats.org/drawingml/2006/main">
              <a:ext uri="{FF2B5EF4-FFF2-40B4-BE49-F238E27FC236}">
                <a16:creationId xmlns:a16="http://schemas.microsoft.com/office/drawing/2014/main" id="{8355BFC8-ABAB-4CCF-8E35-47C570BB087B}"/>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9D097793-93EC-44F6-8B28-C3D60D698171}"/>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33C10DA-099F-473A-ADEB-B357374CFE4A}"/>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634D26FF-2DEA-40B0-BF6E-3B6577A9E07B}"/>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E4B86D04-EBE4-4FF1-9E73-B7CE3FFEC0A3}"/>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Repetir</a:t>
            </a:r>
          </a:p>
        </p:txBody>
      </p:sp>
      <p:sp>
        <p:nvSpPr>
          <p:cNvPr id="36" name="node-body">
            <a:extLst xmlns:a="http://schemas.openxmlformats.org/drawingml/2006/main">
              <a:ext uri="{FF2B5EF4-FFF2-40B4-BE49-F238E27FC236}">
                <a16:creationId xmlns:a16="http://schemas.microsoft.com/office/drawing/2014/main" id="{7AC1CA75-BEFA-4D59-BB3A-FFE3E7AB8DD9}"/>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Ejecutar desde la raíz con las</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dependencias instaladas.</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507DB0E4-053C-4CFC-A476-6D8346141606}"/>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399C88FF-A701-40CE-A43B-7C7309E80339}"/>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4B6CDBFD-258C-47BB-9F11-935553A6A6D0}"/>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El mismo código necesita un entorno coherente para ser reproducible.</a:t>
            </a:r>
          </a:p>
        </p:txBody>
      </p:sp>
      <p:sp>
        <p:nvSpPr>
          <p:cNvPr id="42" name="panel">
            <a:extLst xmlns:a="http://schemas.openxmlformats.org/drawingml/2006/main">
              <a:ext uri="{FF2B5EF4-FFF2-40B4-BE49-F238E27FC236}">
                <a16:creationId xmlns:a16="http://schemas.microsoft.com/office/drawing/2014/main" id="{BD8B8046-D612-4F56-A50C-D4BB56A5B836}"/>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D2310E8D-F3DD-43D7-9A4B-8B686F413028}"/>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Instalar un paquete en otro intérprete no resuelve el entorno activo.</a:t>
            </a:r>
          </a:p>
        </p:txBody>
      </p:sp>
    </p:spTree>
    <p:extLst>
      <p:ext uri="{BB962C8B-B14F-4D97-AF65-F5344CB8AC3E}">
        <p14:creationId xmlns:p14="http://schemas.microsoft.com/office/powerpoint/2010/main" val="1306164227"/>
      </p:ext>
    </p:extLst>
  </p:cSld>
</p:sld>
</file>

<file path=ppt/slides/slide4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E675C6CA-E5D8-42C1-AE99-601381C87FE3}"/>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7AD1507-3615-46D1-9E58-EB091790C91A}"/>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A6FB6523-AB44-4A16-9906-28706D895AB5}"/>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17</a:t>
            </a:r>
          </a:p>
        </p:txBody>
      </p:sp>
      <p:sp>
        <p:nvSpPr>
          <p:cNvPr id="4" name="breadcrumb">
            <a:extLst xmlns:a="http://schemas.openxmlformats.org/drawingml/2006/main">
              <a:ext uri="{FF2B5EF4-FFF2-40B4-BE49-F238E27FC236}">
                <a16:creationId xmlns:a16="http://schemas.microsoft.com/office/drawing/2014/main" id="{98240507-D85E-4582-BEA6-C6506A9A2D1A}"/>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17</a:t>
            </a:r>
          </a:p>
        </p:txBody>
      </p:sp>
      <p:sp>
        <p:nvSpPr>
          <p:cNvPr id="5" name="slide-title">
            <a:extLst xmlns:a="http://schemas.openxmlformats.org/drawingml/2006/main">
              <a:ext uri="{FF2B5EF4-FFF2-40B4-BE49-F238E27FC236}">
                <a16:creationId xmlns:a16="http://schemas.microsoft.com/office/drawing/2014/main" id="{BDBACA92-C058-40A7-A3B2-3E47D6480BDF}"/>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Configuración y secretos</a:t>
            </a:r>
          </a:p>
        </p:txBody>
      </p:sp>
      <p:sp>
        <p:nvSpPr>
          <p:cNvPr id="6" name="learning-purpose">
            <a:extLst xmlns:a="http://schemas.openxmlformats.org/drawingml/2006/main">
              <a:ext uri="{FF2B5EF4-FFF2-40B4-BE49-F238E27FC236}">
                <a16:creationId xmlns:a16="http://schemas.microsoft.com/office/drawing/2014/main" id="{DA7F98AC-D9DC-46E6-ABD9-90774C469DDF}"/>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Seguir una credencial desde el entorno hasta el proveedor sin publicarla.</a:t>
            </a:r>
          </a:p>
        </p:txBody>
      </p:sp>
      <p:sp>
        <p:nvSpPr>
          <p:cNvPr id="7" name="panel">
            <a:extLst xmlns:a="http://schemas.openxmlformats.org/drawingml/2006/main">
              <a:ext uri="{FF2B5EF4-FFF2-40B4-BE49-F238E27FC236}">
                <a16:creationId xmlns:a16="http://schemas.microsoft.com/office/drawing/2014/main" id="{D37E11E3-8D05-406E-8565-1110BC28B02F}"/>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81656E98-54E8-4CD7-A5F3-2134F2D12A32}"/>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12C0A2C5-469D-450F-8455-015B97FD1A33}"/>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31DF7EBB-68E4-4487-AF20-1D5972854474}"/>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61AFCEE0-B191-4F8D-9698-FADB0C05B60C}"/>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0489B279-41BF-4F2B-964B-20A89DF82C44}"/>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D620D86D-4721-474B-B377-30C503911835}"/>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C17</a:t>
            </a:r>
          </a:p>
        </p:txBody>
      </p:sp>
      <p:sp>
        <p:nvSpPr>
          <p:cNvPr id="14" name="folio">
            <a:extLst xmlns:a="http://schemas.openxmlformats.org/drawingml/2006/main">
              <a:ext uri="{FF2B5EF4-FFF2-40B4-BE49-F238E27FC236}">
                <a16:creationId xmlns:a16="http://schemas.microsoft.com/office/drawing/2014/main" id="{03675B9B-B8A0-4FBF-812E-7588B4E72470}"/>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49</a:t>
            </a:r>
          </a:p>
        </p:txBody>
      </p:sp>
      <p:sp>
        <p:nvSpPr>
          <p:cNvPr id="15" name="section-label">
            <a:extLst xmlns:a="http://schemas.openxmlformats.org/drawingml/2006/main">
              <a:ext uri="{FF2B5EF4-FFF2-40B4-BE49-F238E27FC236}">
                <a16:creationId xmlns:a16="http://schemas.microsoft.com/office/drawing/2014/main" id="{43012057-7B59-44F1-8ED8-25045457FD0E}"/>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SEGUIR LA RELACIÓN ENTRE LAS PIEZAS</a:t>
            </a:r>
          </a:p>
        </p:txBody>
      </p:sp>
      <p:sp>
        <p:nvSpPr>
          <p:cNvPr id="16" name="concept-node">
            <a:extLst xmlns:a="http://schemas.openxmlformats.org/drawingml/2006/main">
              <a:ext uri="{FF2B5EF4-FFF2-40B4-BE49-F238E27FC236}">
                <a16:creationId xmlns:a16="http://schemas.microsoft.com/office/drawing/2014/main" id="{908A76AF-8744-43AA-952B-1BAECCF4CE75}"/>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601C8A01-A592-4C3B-B05C-8E1D76783713}"/>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2A1607C8-D0A7-442D-AA3F-E1C5838C82DE}"/>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E729A2A1-958C-41FC-8218-45DDAF28CE77}"/>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57D74B9E-57DC-4DF1-A709-8317B65D45FB}"/>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Configuración local</a:t>
            </a:r>
          </a:p>
        </p:txBody>
      </p:sp>
      <p:sp>
        <p:nvSpPr>
          <p:cNvPr id="21" name="node-body">
            <a:extLst xmlns:a="http://schemas.openxmlformats.org/drawingml/2006/main">
              <a:ext uri="{FF2B5EF4-FFF2-40B4-BE49-F238E27FC236}">
                <a16:creationId xmlns:a16="http://schemas.microsoft.com/office/drawing/2014/main" id="{21ABC292-22DC-4122-A004-A2DFBE97F036}"/>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.env conserva valores fuera</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del código fuente.</a:t>
            </a:r>
          </a:p>
        </p:txBody>
      </p:sp>
      <p:sp>
        <p:nvSpPr>
          <p:cNvPr id="22" name="concept-node">
            <a:extLst xmlns:a="http://schemas.openxmlformats.org/drawingml/2006/main">
              <a:ext uri="{FF2B5EF4-FFF2-40B4-BE49-F238E27FC236}">
                <a16:creationId xmlns:a16="http://schemas.microsoft.com/office/drawing/2014/main" id="{1D7D1CAC-82E9-4DE8-AA6A-010693F7AAC2}"/>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C6570369-8E68-4717-A870-5D0366FDA3C7}"/>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E973E4D6-2505-48D3-A527-D1B08C0DC740}"/>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DFE82155-530A-4757-A546-60CBCBB297FB}"/>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325D9610-5706-45D8-B153-B6EB84FEAF58}"/>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Carga</a:t>
            </a:r>
          </a:p>
        </p:txBody>
      </p:sp>
      <p:sp>
        <p:nvSpPr>
          <p:cNvPr id="27" name="node-body">
            <a:extLst xmlns:a="http://schemas.openxmlformats.org/drawingml/2006/main">
              <a:ext uri="{FF2B5EF4-FFF2-40B4-BE49-F238E27FC236}">
                <a16:creationId xmlns:a16="http://schemas.microsoft.com/office/drawing/2014/main" id="{71DB12D1-A09F-4890-9051-D901079E0D61}"/>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settings lee variables y</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configura el proveedor.</a:t>
            </a:r>
          </a:p>
        </p:txBody>
      </p:sp>
      <p:sp>
        <p:nvSpPr>
          <p:cNvPr id="28" name="concept-node">
            <a:extLst xmlns:a="http://schemas.openxmlformats.org/drawingml/2006/main">
              <a:ext uri="{FF2B5EF4-FFF2-40B4-BE49-F238E27FC236}">
                <a16:creationId xmlns:a16="http://schemas.microsoft.com/office/drawing/2014/main" id="{127E4E9F-F913-4D4B-A768-166238CCC98E}"/>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F4DD2641-003F-44CF-956D-9DA044DBB74E}"/>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7F6DFFCF-197B-483C-A835-C88876CE874C}"/>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6927913E-10B1-4A60-9C1F-CFAC25BB313B}"/>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AACFC038-9DE6-47FA-AC11-01552B87A7F2}"/>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Petición</a:t>
            </a:r>
          </a:p>
        </p:txBody>
      </p:sp>
      <p:sp>
        <p:nvSpPr>
          <p:cNvPr id="33" name="node-body">
            <a:extLst xmlns:a="http://schemas.openxmlformats.org/drawingml/2006/main">
              <a:ext uri="{FF2B5EF4-FFF2-40B4-BE49-F238E27FC236}">
                <a16:creationId xmlns:a16="http://schemas.microsoft.com/office/drawing/2014/main" id="{FC71A318-B8B5-415A-AEF7-721D3F13FD0B}"/>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El cliente usa la credencial</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para autenticar la llamada.</a:t>
            </a:r>
          </a:p>
        </p:txBody>
      </p:sp>
      <p:cxnSp>
        <p:nvCxnSpPr>
          <p:cNvPr id="77" name=""/>
          <p:cNvCxnSpPr>
            <a:stCxn xmlns:a="http://schemas.openxmlformats.org/drawingml/2006/main" id="16" idx="3"/>
            <a:endCxn xmlns:a="http://schemas.openxmlformats.org/drawingml/2006/main" id="22" idx="1"/>
          </p:cNvCxnSpPr>
          <p:nvPr/>
        </p:nvCxnSpPr>
        <p:spPr>
          <a:xfrm xmlns:a="http://schemas.openxmlformats.org/drawingml/2006/main">
            <a:off x="495300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78" name=""/>
          <p:cNvCxnSpPr>
            <a:stCxn xmlns:a="http://schemas.openxmlformats.org/drawingml/2006/main" id="22" idx="3"/>
            <a:endCxn xmlns:a="http://schemas.openxmlformats.org/drawingml/2006/main" id="28" idx="1"/>
          </p:cNvCxnSpPr>
          <p:nvPr/>
        </p:nvCxnSpPr>
        <p:spPr>
          <a:xfrm xmlns:a="http://schemas.openxmlformats.org/drawingml/2006/main">
            <a:off x="981075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6" name="panel">
            <a:extLst xmlns:a="http://schemas.openxmlformats.org/drawingml/2006/main">
              <a:ext uri="{FF2B5EF4-FFF2-40B4-BE49-F238E27FC236}">
                <a16:creationId xmlns:a16="http://schemas.microsoft.com/office/drawing/2014/main" id="{06434D30-1505-4EB7-9AE6-D153ACD96150}"/>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7" name="section-label">
            <a:extLst xmlns:a="http://schemas.openxmlformats.org/drawingml/2006/main">
              <a:ext uri="{FF2B5EF4-FFF2-40B4-BE49-F238E27FC236}">
                <a16:creationId xmlns:a16="http://schemas.microsoft.com/office/drawing/2014/main" id="{04CA8807-7DAA-4621-A257-E5F925A4D7B1}"/>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8" name="concept-question">
            <a:extLst xmlns:a="http://schemas.openxmlformats.org/drawingml/2006/main">
              <a:ext uri="{FF2B5EF4-FFF2-40B4-BE49-F238E27FC236}">
                <a16:creationId xmlns:a16="http://schemas.microsoft.com/office/drawing/2014/main" id="{438A36EF-392D-4F58-85CE-A69B10DAC957}"/>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¿Qué compartirías para diagnosticar un 401 sin revelar el</a:t>
            </a:r>
          </a:p>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token?</a:t>
            </a:r>
          </a:p>
        </p:txBody>
      </p:sp>
      <p:sp>
        <p:nvSpPr>
          <p:cNvPr id="39" name="panel">
            <a:extLst xmlns:a="http://schemas.openxmlformats.org/drawingml/2006/main">
              <a:ext uri="{FF2B5EF4-FFF2-40B4-BE49-F238E27FC236}">
                <a16:creationId xmlns:a16="http://schemas.microsoft.com/office/drawing/2014/main" id="{E3DE046A-0D81-4380-A998-8F172C044B67}"/>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40" name="misconception-label">
            <a:extLst xmlns:a="http://schemas.openxmlformats.org/drawingml/2006/main">
              <a:ext uri="{FF2B5EF4-FFF2-40B4-BE49-F238E27FC236}">
                <a16:creationId xmlns:a16="http://schemas.microsoft.com/office/drawing/2014/main" id="{24C241F6-610C-41CE-9317-20DE67EC7E99}"/>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41" name="misconception">
            <a:extLst xmlns:a="http://schemas.openxmlformats.org/drawingml/2006/main">
              <a:ext uri="{FF2B5EF4-FFF2-40B4-BE49-F238E27FC236}">
                <a16:creationId xmlns:a16="http://schemas.microsoft.com/office/drawing/2014/main" id="{E5CB4C6C-6CCD-47E6-B9B2-9D1EDC0D2ED7}"/>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Pegar secretos en una diapositiva,</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captura o repositorio.</a:t>
            </a:r>
          </a:p>
        </p:txBody>
      </p:sp>
      <p:sp>
        <p:nvSpPr>
          <p:cNvPr id="42" name="panel">
            <a:extLst xmlns:a="http://schemas.openxmlformats.org/drawingml/2006/main">
              <a:ext uri="{FF2B5EF4-FFF2-40B4-BE49-F238E27FC236}">
                <a16:creationId xmlns:a16="http://schemas.microsoft.com/office/drawing/2014/main" id="{EE7C5EB9-9C23-454E-A939-3AAD0672A743}"/>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12836E7F-27AA-44F7-9672-8FEBC8C34B50}"/>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Una credencial habilita acceso y debe mantenerse fuera de evidencias públicas.</a:t>
            </a:r>
          </a:p>
        </p:txBody>
      </p:sp>
    </p:spTree>
    <p:extLst>
      <p:ext uri="{BB962C8B-B14F-4D97-AF65-F5344CB8AC3E}">
        <p14:creationId xmlns:p14="http://schemas.microsoft.com/office/powerpoint/2010/main" val="555379445"/>
      </p:ext>
    </p:extLst>
  </p:cSld>
</p:sld>
</file>

<file path=ppt/slides/slide5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352AFDC8-1B48-4548-9FFC-CD3CD294519E}"/>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334434F-715E-4E72-B9B3-BDA2DF6BC1AD}"/>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56725881-F374-41B6-B565-BC7869B46D33}"/>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17</a:t>
            </a:r>
          </a:p>
        </p:txBody>
      </p:sp>
      <p:sp>
        <p:nvSpPr>
          <p:cNvPr id="4" name="breadcrumb">
            <a:extLst xmlns:a="http://schemas.openxmlformats.org/drawingml/2006/main">
              <a:ext uri="{FF2B5EF4-FFF2-40B4-BE49-F238E27FC236}">
                <a16:creationId xmlns:a16="http://schemas.microsoft.com/office/drawing/2014/main" id="{E6EAE392-6972-4D4C-B817-0F592E0C042F}"/>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17</a:t>
            </a:r>
          </a:p>
        </p:txBody>
      </p:sp>
      <p:sp>
        <p:nvSpPr>
          <p:cNvPr id="5" name="slide-title">
            <a:extLst xmlns:a="http://schemas.openxmlformats.org/drawingml/2006/main">
              <a:ext uri="{FF2B5EF4-FFF2-40B4-BE49-F238E27FC236}">
                <a16:creationId xmlns:a16="http://schemas.microsoft.com/office/drawing/2014/main" id="{44992B96-798A-4727-B2A0-D67433421A96}"/>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Qué revisar antes de ejecutar</a:t>
            </a:r>
          </a:p>
        </p:txBody>
      </p:sp>
      <p:sp>
        <p:nvSpPr>
          <p:cNvPr id="6" name="learning-purpose">
            <a:extLst xmlns:a="http://schemas.openxmlformats.org/drawingml/2006/main">
              <a:ext uri="{FF2B5EF4-FFF2-40B4-BE49-F238E27FC236}">
                <a16:creationId xmlns:a16="http://schemas.microsoft.com/office/drawing/2014/main" id="{9881FA83-1DDC-41E4-8370-9E16AE62982B}"/>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Seguir una credencial desde el entorno hasta el proveedor sin publicarla.</a:t>
            </a:r>
          </a:p>
        </p:txBody>
      </p:sp>
      <p:sp>
        <p:nvSpPr>
          <p:cNvPr id="7" name="panel">
            <a:extLst xmlns:a="http://schemas.openxmlformats.org/drawingml/2006/main">
              <a:ext uri="{FF2B5EF4-FFF2-40B4-BE49-F238E27FC236}">
                <a16:creationId xmlns:a16="http://schemas.microsoft.com/office/drawing/2014/main" id="{60F6BA1F-968A-40C4-AFC3-23A0FC8B9E89}"/>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0720021D-348A-42AA-A704-9377EB56C00B}"/>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02857C5A-1985-4D63-B0A8-D731BC0A2F61}"/>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2DD29609-DD0E-4800-84E2-8F3095725D9F}"/>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75B18D31-BCE1-419E-970D-8F095C603D91}"/>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A4E1DA46-B58B-499A-A932-F665217CEA5E}"/>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51B8D39A-BA48-44AA-9A92-06BF35AF9B4D}"/>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C17</a:t>
            </a:r>
          </a:p>
        </p:txBody>
      </p:sp>
      <p:sp>
        <p:nvSpPr>
          <p:cNvPr id="14" name="folio">
            <a:extLst xmlns:a="http://schemas.openxmlformats.org/drawingml/2006/main">
              <a:ext uri="{FF2B5EF4-FFF2-40B4-BE49-F238E27FC236}">
                <a16:creationId xmlns:a16="http://schemas.microsoft.com/office/drawing/2014/main" id="{9770C7B8-6042-46B3-8528-1EB68860F834}"/>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50</a:t>
            </a:r>
          </a:p>
        </p:txBody>
      </p:sp>
      <p:sp>
        <p:nvSpPr>
          <p:cNvPr id="15" name="section-label">
            <a:extLst xmlns:a="http://schemas.openxmlformats.org/drawingml/2006/main">
              <a:ext uri="{FF2B5EF4-FFF2-40B4-BE49-F238E27FC236}">
                <a16:creationId xmlns:a16="http://schemas.microsoft.com/office/drawing/2014/main" id="{36FBE2FE-5977-4BCC-8DE9-9DD2EEFAC74F}"/>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Nombre</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La variable coincide con lo que lee el repositorio.</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Valor</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No está vacía ni contiene marcadores de ejemplo.</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Exposición</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No aparece en capturas, logs ni commits.</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5CAFBA8E-0017-441F-91FB-C8511A3DED58}"/>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DE564AD5-4675-47F4-86B7-C45F3C64C473}"/>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8951CEF4-0010-49CA-B008-E0F015EAF3FC}"/>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Pegar secretos en una</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diapositiva, captura o</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repositorio.</a:t>
            </a:r>
          </a:p>
        </p:txBody>
      </p:sp>
      <p:sp>
        <p:nvSpPr>
          <p:cNvPr id="20" name="development-prompt">
            <a:extLst xmlns:a="http://schemas.openxmlformats.org/drawingml/2006/main">
              <a:ext uri="{FF2B5EF4-FFF2-40B4-BE49-F238E27FC236}">
                <a16:creationId xmlns:a16="http://schemas.microsoft.com/office/drawing/2014/main" id="{D818AD2E-6D44-4546-A716-6B078852A0C9}"/>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137E4FF3-F5EB-45B0-B0AF-A64AB0840DB6}"/>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175C38E5-EA85-4955-BDBA-E3CB5FF71DF6}"/>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352827F3-24C2-4D1D-9055-1B7C2989EDAD}"/>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¿Qué compartirías para diagnosticar un 401 sin revelar el token?</a:t>
            </a:r>
          </a:p>
        </p:txBody>
      </p:sp>
      <p:sp>
        <p:nvSpPr>
          <p:cNvPr id="24" name="panel">
            <a:extLst xmlns:a="http://schemas.openxmlformats.org/drawingml/2006/main">
              <a:ext uri="{FF2B5EF4-FFF2-40B4-BE49-F238E27FC236}">
                <a16:creationId xmlns:a16="http://schemas.microsoft.com/office/drawing/2014/main" id="{1B90DD91-DF25-441B-95A9-A75C790B5F38}"/>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21043FCC-EB9F-4A9E-84AD-4CD539058681}"/>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Una credencial habilita acceso y debe mantenerse fuera de evidencias públicas.</a:t>
            </a:r>
          </a:p>
        </p:txBody>
      </p:sp>
    </p:spTree>
    <p:extLst>
      <p:ext uri="{BB962C8B-B14F-4D97-AF65-F5344CB8AC3E}">
        <p14:creationId xmlns:p14="http://schemas.microsoft.com/office/powerpoint/2010/main" val="892009651"/>
      </p:ext>
    </p:extLst>
  </p:cSld>
</p:sld>
</file>

<file path=ppt/slides/slide5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002B57D5-E1C8-4735-BDDB-E1397FC594FB}"/>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91E373F-8501-46B3-ABBC-7D2F781B631C}"/>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077534E7-51CD-47BC-AD61-868BC0D08B15}"/>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17</a:t>
            </a:r>
          </a:p>
        </p:txBody>
      </p:sp>
      <p:sp>
        <p:nvSpPr>
          <p:cNvPr id="4" name="breadcrumb">
            <a:extLst xmlns:a="http://schemas.openxmlformats.org/drawingml/2006/main">
              <a:ext uri="{FF2B5EF4-FFF2-40B4-BE49-F238E27FC236}">
                <a16:creationId xmlns:a16="http://schemas.microsoft.com/office/drawing/2014/main" id="{060E9909-BBB2-46F0-8D66-19FE277A96AA}"/>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17</a:t>
            </a:r>
          </a:p>
        </p:txBody>
      </p:sp>
      <p:sp>
        <p:nvSpPr>
          <p:cNvPr id="5" name="slide-title">
            <a:extLst xmlns:a="http://schemas.openxmlformats.org/drawingml/2006/main">
              <a:ext uri="{FF2B5EF4-FFF2-40B4-BE49-F238E27FC236}">
                <a16:creationId xmlns:a16="http://schemas.microsoft.com/office/drawing/2014/main" id="{154323A9-5C68-414B-9934-C9A94DF09F3F}"/>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Configuración y secretos</a:t>
            </a:r>
          </a:p>
        </p:txBody>
      </p:sp>
      <p:sp>
        <p:nvSpPr>
          <p:cNvPr id="6" name="learning-purpose">
            <a:extLst xmlns:a="http://schemas.openxmlformats.org/drawingml/2006/main">
              <a:ext uri="{FF2B5EF4-FFF2-40B4-BE49-F238E27FC236}">
                <a16:creationId xmlns:a16="http://schemas.microsoft.com/office/drawing/2014/main" id="{2F251C28-8709-4D82-9BD1-37B1726E44C4}"/>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Seguir una credencial desde el entorno hasta el proveedor sin publicarla.</a:t>
            </a:r>
          </a:p>
        </p:txBody>
      </p:sp>
      <p:sp>
        <p:nvSpPr>
          <p:cNvPr id="7" name="panel">
            <a:extLst xmlns:a="http://schemas.openxmlformats.org/drawingml/2006/main">
              <a:ext uri="{FF2B5EF4-FFF2-40B4-BE49-F238E27FC236}">
                <a16:creationId xmlns:a16="http://schemas.microsoft.com/office/drawing/2014/main" id="{C7F8C9C7-094C-42BE-A4D0-6E6001DD7A63}"/>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2DA6AF76-9AD5-45F0-AB5E-EA4D1C218E12}"/>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18650FE8-9881-479D-A4BE-46102736D010}"/>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65B1850E-9862-4006-BF1F-54B551C0C8A0}"/>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6FDD6D7A-3ACB-45E2-8CEA-664D899E96E6}"/>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F5D8CC4E-EFC0-4704-B399-EACBD881B9C3}"/>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4BD46A12-536D-4C17-B388-3005B6DB0499}"/>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C17</a:t>
            </a:r>
          </a:p>
        </p:txBody>
      </p:sp>
      <p:sp>
        <p:nvSpPr>
          <p:cNvPr id="14" name="folio">
            <a:extLst xmlns:a="http://schemas.openxmlformats.org/drawingml/2006/main">
              <a:ext uri="{FF2B5EF4-FFF2-40B4-BE49-F238E27FC236}">
                <a16:creationId xmlns:a16="http://schemas.microsoft.com/office/drawing/2014/main" id="{77C07C29-80BD-4ADD-B9E8-F07B891946C7}"/>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51</a:t>
            </a:r>
          </a:p>
        </p:txBody>
      </p:sp>
      <p:sp>
        <p:nvSpPr>
          <p:cNvPr id="15" name="section-label">
            <a:extLst xmlns:a="http://schemas.openxmlformats.org/drawingml/2006/main">
              <a:ext uri="{FF2B5EF4-FFF2-40B4-BE49-F238E27FC236}">
                <a16:creationId xmlns:a16="http://schemas.microsoft.com/office/drawing/2014/main" id="{2F297FDA-A64D-42F4-B03F-5A4F44D399B6}"/>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BANCO INTI · CASO DIDÁCTICO</a:t>
            </a:r>
          </a:p>
        </p:txBody>
      </p:sp>
      <p:sp>
        <p:nvSpPr>
          <p:cNvPr id="16" name="panel">
            <a:extLst xmlns:a="http://schemas.openxmlformats.org/drawingml/2006/main">
              <a:ext uri="{FF2B5EF4-FFF2-40B4-BE49-F238E27FC236}">
                <a16:creationId xmlns:a16="http://schemas.microsoft.com/office/drawing/2014/main" id="{1B4F90A1-93D9-41C2-8F58-392239762F30}"/>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21989847-E0B8-4109-92EF-02909FAF2C90}"/>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21C14FF0-62D9-44CF-BB87-CE922976B4B7}"/>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Una llamada falla porque HF_TOKEN conserva un valor de ejemplo.</a:t>
            </a:r>
          </a:p>
        </p:txBody>
      </p:sp>
      <p:sp>
        <p:nvSpPr>
          <p:cNvPr id="19" name="concept-node">
            <a:extLst xmlns:a="http://schemas.openxmlformats.org/drawingml/2006/main">
              <a:ext uri="{FF2B5EF4-FFF2-40B4-BE49-F238E27FC236}">
                <a16:creationId xmlns:a16="http://schemas.microsoft.com/office/drawing/2014/main" id="{866736DF-56B3-4A67-81E8-A6A8A0389948}"/>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9601B460-DEA2-453E-8637-9DB6109AC4B0}"/>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75C2A95-70C1-4DC5-B2E2-E1873B77DD50}"/>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E1C4DFF0-C983-436F-A097-A9E72F82B823}"/>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130C3D4F-3A2F-4957-8A01-970E770B5F96}"/>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Detectar</a:t>
            </a:r>
          </a:p>
        </p:txBody>
      </p:sp>
      <p:sp>
        <p:nvSpPr>
          <p:cNvPr id="24" name="node-body">
            <a:extLst xmlns:a="http://schemas.openxmlformats.org/drawingml/2006/main">
              <a:ext uri="{FF2B5EF4-FFF2-40B4-BE49-F238E27FC236}">
                <a16:creationId xmlns:a16="http://schemas.microsoft.com/office/drawing/2014/main" id="{F3673406-A812-4738-9D38-84E4593AA32E}"/>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El modelo no recibió una</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credencial válida.</a:t>
            </a:r>
          </a:p>
        </p:txBody>
      </p:sp>
      <p:sp>
        <p:nvSpPr>
          <p:cNvPr id="25" name="concept-node">
            <a:extLst xmlns:a="http://schemas.openxmlformats.org/drawingml/2006/main">
              <a:ext uri="{FF2B5EF4-FFF2-40B4-BE49-F238E27FC236}">
                <a16:creationId xmlns:a16="http://schemas.microsoft.com/office/drawing/2014/main" id="{389C7028-F370-4325-82A8-FAB27726757A}"/>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D3D7C256-0FE9-4C15-92B8-C8FB8889FD39}"/>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77DBD5D-3395-4FC7-BFA5-EB9F9CB9AB9D}"/>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13BA3E07-AF3E-42AB-A393-8EDFD843C2A0}"/>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C970CC11-2D05-487B-8B56-25B13B5C514A}"/>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Corregir</a:t>
            </a:r>
          </a:p>
        </p:txBody>
      </p:sp>
      <p:sp>
        <p:nvSpPr>
          <p:cNvPr id="30" name="node-body">
            <a:extLst xmlns:a="http://schemas.openxmlformats.org/drawingml/2006/main">
              <a:ext uri="{FF2B5EF4-FFF2-40B4-BE49-F238E27FC236}">
                <a16:creationId xmlns:a16="http://schemas.microsoft.com/office/drawing/2014/main" id="{2DB1F619-3DD5-4C7E-B056-C9CA66461004}"/>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Configurar el token en el</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entorno local.</a:t>
            </a:r>
          </a:p>
        </p:txBody>
      </p:sp>
      <p:sp>
        <p:nvSpPr>
          <p:cNvPr id="31" name="concept-node">
            <a:extLst xmlns:a="http://schemas.openxmlformats.org/drawingml/2006/main">
              <a:ext uri="{FF2B5EF4-FFF2-40B4-BE49-F238E27FC236}">
                <a16:creationId xmlns:a16="http://schemas.microsoft.com/office/drawing/2014/main" id="{F35AF4A0-0A49-4413-B47B-47216EDD59D4}"/>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9BA51B35-7277-4F40-A714-6A671A0BEB4F}"/>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94997CC5-85DA-436C-95E4-80254810EB5C}"/>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16D1C445-721B-4CC7-90F6-58D97A28B23F}"/>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005B66BF-BA16-422A-BF52-32EEABB692F1}"/>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Verificar</a:t>
            </a:r>
          </a:p>
        </p:txBody>
      </p:sp>
      <p:sp>
        <p:nvSpPr>
          <p:cNvPr id="36" name="node-body">
            <a:extLst xmlns:a="http://schemas.openxmlformats.org/drawingml/2006/main">
              <a:ext uri="{FF2B5EF4-FFF2-40B4-BE49-F238E27FC236}">
                <a16:creationId xmlns:a16="http://schemas.microsoft.com/office/drawing/2014/main" id="{053F3514-9EDA-4894-8785-AB1F7DECC9F1}"/>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Reintentar sin imprimir la clave</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en la terminal.</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A78719F7-B681-4E2A-90F9-A956824D3338}"/>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770D2D1A-C3E8-47ED-ABB3-94AE4DC0DEE6}"/>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972D78E4-EBE1-4176-9F8B-276B9FCBFD37}"/>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La configuración cambia entre entornos; el secreto no debe viajar en el código.</a:t>
            </a:r>
          </a:p>
        </p:txBody>
      </p:sp>
      <p:sp>
        <p:nvSpPr>
          <p:cNvPr id="42" name="panel">
            <a:extLst xmlns:a="http://schemas.openxmlformats.org/drawingml/2006/main">
              <a:ext uri="{FF2B5EF4-FFF2-40B4-BE49-F238E27FC236}">
                <a16:creationId xmlns:a16="http://schemas.microsoft.com/office/drawing/2014/main" id="{02BD2ABF-1ABC-468E-8C0C-D1DCB27ABB12}"/>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4DFA8D41-8DD7-43B2-AD3E-5A8DD1FBF5E9}"/>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Una credencial habilita acceso y debe mantenerse fuera de evidencias públicas.</a:t>
            </a:r>
          </a:p>
        </p:txBody>
      </p:sp>
    </p:spTree>
    <p:extLst>
      <p:ext uri="{BB962C8B-B14F-4D97-AF65-F5344CB8AC3E}">
        <p14:creationId xmlns:p14="http://schemas.microsoft.com/office/powerpoint/2010/main" val="1468245382"/>
      </p:ext>
    </p:extLst>
  </p:cSld>
</p:sld>
</file>

<file path=ppt/slides/slide5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897D1C2B-EA94-4195-9340-B3F2DBAD38FC}"/>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33879EF-2C4C-49C5-A26C-6F3E22BF3065}"/>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F34D3358-A93E-4982-8806-5F4398D73E9A}"/>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18</a:t>
            </a:r>
          </a:p>
        </p:txBody>
      </p:sp>
      <p:sp>
        <p:nvSpPr>
          <p:cNvPr id="4" name="breadcrumb">
            <a:extLst xmlns:a="http://schemas.openxmlformats.org/drawingml/2006/main">
              <a:ext uri="{FF2B5EF4-FFF2-40B4-BE49-F238E27FC236}">
                <a16:creationId xmlns:a16="http://schemas.microsoft.com/office/drawing/2014/main" id="{10ECBF53-AC00-4911-9814-80B5976ACB01}"/>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18</a:t>
            </a:r>
          </a:p>
        </p:txBody>
      </p:sp>
      <p:sp>
        <p:nvSpPr>
          <p:cNvPr id="5" name="slide-title">
            <a:extLst xmlns:a="http://schemas.openxmlformats.org/drawingml/2006/main">
              <a:ext uri="{FF2B5EF4-FFF2-40B4-BE49-F238E27FC236}">
                <a16:creationId xmlns:a16="http://schemas.microsoft.com/office/drawing/2014/main" id="{A47D4598-B331-422D-8D7D-0C8BA3AFA0C0}"/>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Pydantic y el contrato de salida</a:t>
            </a:r>
          </a:p>
        </p:txBody>
      </p:sp>
      <p:sp>
        <p:nvSpPr>
          <p:cNvPr id="6" name="learning-purpose">
            <a:extLst xmlns:a="http://schemas.openxmlformats.org/drawingml/2006/main">
              <a:ext uri="{FF2B5EF4-FFF2-40B4-BE49-F238E27FC236}">
                <a16:creationId xmlns:a16="http://schemas.microsoft.com/office/drawing/2014/main" id="{57FE2490-FC82-457B-A2AB-0D5C59274D7E}"/>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Usar tipos y restricciones para comprobar la estructura recibida.</a:t>
            </a:r>
          </a:p>
        </p:txBody>
      </p:sp>
      <p:sp>
        <p:nvSpPr>
          <p:cNvPr id="7" name="panel">
            <a:extLst xmlns:a="http://schemas.openxmlformats.org/drawingml/2006/main">
              <a:ext uri="{FF2B5EF4-FFF2-40B4-BE49-F238E27FC236}">
                <a16:creationId xmlns:a16="http://schemas.microsoft.com/office/drawing/2014/main" id="{B2590046-7328-48CD-A743-7A1F4AAE1F99}"/>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440CD1A6-D890-43C6-B6FC-CC3CCF8DE5DA}"/>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5A321AC7-9FB3-450F-9F25-B96A7F2B2491}"/>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EA6384A8-8514-47D4-BAB0-CB38D4F0B558}"/>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C86D481E-6933-435B-A1C2-9065EB0E8DBE}"/>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84816C4E-5B9A-419E-B67C-09BED59AE03B}"/>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99E990D9-0B28-406C-B6BD-B716EEE468A1}"/>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C18</a:t>
            </a:r>
          </a:p>
        </p:txBody>
      </p:sp>
      <p:sp>
        <p:nvSpPr>
          <p:cNvPr id="14" name="folio">
            <a:extLst xmlns:a="http://schemas.openxmlformats.org/drawingml/2006/main">
              <a:ext uri="{FF2B5EF4-FFF2-40B4-BE49-F238E27FC236}">
                <a16:creationId xmlns:a16="http://schemas.microsoft.com/office/drawing/2014/main" id="{ECF302F4-CA11-4B4E-8837-62ADA64A7624}"/>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52</a:t>
            </a:r>
          </a:p>
        </p:txBody>
      </p:sp>
      <p:sp>
        <p:nvSpPr>
          <p:cNvPr id="15" name="section-label">
            <a:extLst xmlns:a="http://schemas.openxmlformats.org/drawingml/2006/main">
              <a:ext uri="{FF2B5EF4-FFF2-40B4-BE49-F238E27FC236}">
                <a16:creationId xmlns:a16="http://schemas.microsoft.com/office/drawing/2014/main" id="{12CF5ED4-F4C0-4273-A1DE-C37523EA68E7}"/>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SEGUIR LA RELACIÓN ENTRE LAS PIEZAS</a:t>
            </a:r>
          </a:p>
        </p:txBody>
      </p:sp>
      <p:sp>
        <p:nvSpPr>
          <p:cNvPr id="16" name="concept-node">
            <a:extLst xmlns:a="http://schemas.openxmlformats.org/drawingml/2006/main">
              <a:ext uri="{FF2B5EF4-FFF2-40B4-BE49-F238E27FC236}">
                <a16:creationId xmlns:a16="http://schemas.microsoft.com/office/drawing/2014/main" id="{EACEDE7F-E08E-4F13-9E79-D5B62307DF49}"/>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52C77091-1423-49CF-9712-97EE290D3397}"/>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5581520-6906-4382-9D17-31BE0CAEAF3A}"/>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ECA9D5EC-EF06-4D9D-8EC9-718B8B4B73B7}"/>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D10AEA34-D241-4C1F-AD69-7FFE6DEAEF7D}"/>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Requisito</a:t>
            </a:r>
          </a:p>
        </p:txBody>
      </p:sp>
      <p:sp>
        <p:nvSpPr>
          <p:cNvPr id="21" name="node-body">
            <a:extLst xmlns:a="http://schemas.openxmlformats.org/drawingml/2006/main">
              <a:ext uri="{FF2B5EF4-FFF2-40B4-BE49-F238E27FC236}">
                <a16:creationId xmlns:a16="http://schemas.microsoft.com/office/drawing/2014/main" id="{F5CE5789-9909-4B77-9D2D-2B0D2DF50FB5}"/>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Definir campos, tipos y</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valores permitidos.</a:t>
            </a:r>
          </a:p>
        </p:txBody>
      </p:sp>
      <p:sp>
        <p:nvSpPr>
          <p:cNvPr id="22" name="concept-node">
            <a:extLst xmlns:a="http://schemas.openxmlformats.org/drawingml/2006/main">
              <a:ext uri="{FF2B5EF4-FFF2-40B4-BE49-F238E27FC236}">
                <a16:creationId xmlns:a16="http://schemas.microsoft.com/office/drawing/2014/main" id="{BFF261FC-5293-4DAA-8656-AEC039E861A8}"/>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D6EDFD8B-06FC-42E4-B73C-C148189B657C}"/>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66EFB2F-D34E-4BD4-90ED-80012B283779}"/>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B8ACCD99-F3F8-479B-A2FB-BEC9D3DFD26D}"/>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29E8DC9C-5134-4284-A45B-88F003BDD080}"/>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Esquema</a:t>
            </a:r>
          </a:p>
        </p:txBody>
      </p:sp>
      <p:sp>
        <p:nvSpPr>
          <p:cNvPr id="27" name="node-body">
            <a:extLst xmlns:a="http://schemas.openxmlformats.org/drawingml/2006/main">
              <a:ext uri="{FF2B5EF4-FFF2-40B4-BE49-F238E27FC236}">
                <a16:creationId xmlns:a16="http://schemas.microsoft.com/office/drawing/2014/main" id="{9F7B217D-A596-4F22-96B8-D8F622C886F4}"/>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Representarlo mediante un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modelo Pydantic.</a:t>
            </a:r>
          </a:p>
        </p:txBody>
      </p:sp>
      <p:sp>
        <p:nvSpPr>
          <p:cNvPr id="28" name="concept-node">
            <a:extLst xmlns:a="http://schemas.openxmlformats.org/drawingml/2006/main">
              <a:ext uri="{FF2B5EF4-FFF2-40B4-BE49-F238E27FC236}">
                <a16:creationId xmlns:a16="http://schemas.microsoft.com/office/drawing/2014/main" id="{4634E42E-DC53-4385-8FB1-7DEB881067AB}"/>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F861A6A3-F17A-47CE-99F3-B50B070EACE3}"/>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9F4296B-E060-4184-A445-C6FC7C0CB86C}"/>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46E9F31F-F16D-4930-9604-B77F2B573119}"/>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AA2F6174-C484-44A1-A4D6-50A74217303D}"/>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Validación</a:t>
            </a:r>
          </a:p>
        </p:txBody>
      </p:sp>
      <p:sp>
        <p:nvSpPr>
          <p:cNvPr id="33" name="node-body">
            <a:extLst xmlns:a="http://schemas.openxmlformats.org/drawingml/2006/main">
              <a:ext uri="{FF2B5EF4-FFF2-40B4-BE49-F238E27FC236}">
                <a16:creationId xmlns:a16="http://schemas.microsoft.com/office/drawing/2014/main" id="{62671344-BF3F-439A-85AC-739ED871028A}"/>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Aceptar estructura</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compatible o producir un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error explícito.</a:t>
            </a:r>
          </a:p>
        </p:txBody>
      </p:sp>
      <p:cxnSp>
        <p:nvCxnSpPr>
          <p:cNvPr id="77" name=""/>
          <p:cNvCxnSpPr>
            <a:stCxn xmlns:a="http://schemas.openxmlformats.org/drawingml/2006/main" id="16" idx="3"/>
            <a:endCxn xmlns:a="http://schemas.openxmlformats.org/drawingml/2006/main" id="22" idx="1"/>
          </p:cNvCxnSpPr>
          <p:nvPr/>
        </p:nvCxnSpPr>
        <p:spPr>
          <a:xfrm xmlns:a="http://schemas.openxmlformats.org/drawingml/2006/main">
            <a:off x="495300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78" name=""/>
          <p:cNvCxnSpPr>
            <a:stCxn xmlns:a="http://schemas.openxmlformats.org/drawingml/2006/main" id="22" idx="3"/>
            <a:endCxn xmlns:a="http://schemas.openxmlformats.org/drawingml/2006/main" id="28" idx="1"/>
          </p:cNvCxnSpPr>
          <p:nvPr/>
        </p:nvCxnSpPr>
        <p:spPr>
          <a:xfrm xmlns:a="http://schemas.openxmlformats.org/drawingml/2006/main">
            <a:off x="981075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6" name="panel">
            <a:extLst xmlns:a="http://schemas.openxmlformats.org/drawingml/2006/main">
              <a:ext uri="{FF2B5EF4-FFF2-40B4-BE49-F238E27FC236}">
                <a16:creationId xmlns:a16="http://schemas.microsoft.com/office/drawing/2014/main" id="{2B2E450E-DF14-43AD-9040-7C11A4936510}"/>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7" name="section-label">
            <a:extLst xmlns:a="http://schemas.openxmlformats.org/drawingml/2006/main">
              <a:ext uri="{FF2B5EF4-FFF2-40B4-BE49-F238E27FC236}">
                <a16:creationId xmlns:a16="http://schemas.microsoft.com/office/drawing/2014/main" id="{03FCCDC1-B71B-47B0-A57E-A7628A056E0F}"/>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8" name="concept-question">
            <a:extLst xmlns:a="http://schemas.openxmlformats.org/drawingml/2006/main">
              <a:ext uri="{FF2B5EF4-FFF2-40B4-BE49-F238E27FC236}">
                <a16:creationId xmlns:a16="http://schemas.microsoft.com/office/drawing/2014/main" id="{AD3F0BE3-E054-4578-A128-E297FE924DE5}"/>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¿Un importe numérico válido demuestra que es el saldo real?</a:t>
            </a:r>
          </a:p>
        </p:txBody>
      </p:sp>
      <p:sp>
        <p:nvSpPr>
          <p:cNvPr id="39" name="panel">
            <a:extLst xmlns:a="http://schemas.openxmlformats.org/drawingml/2006/main">
              <a:ext uri="{FF2B5EF4-FFF2-40B4-BE49-F238E27FC236}">
                <a16:creationId xmlns:a16="http://schemas.microsoft.com/office/drawing/2014/main" id="{5020E2C8-ABB6-4EFD-9CAD-84EDB09D3C98}"/>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40" name="misconception-label">
            <a:extLst xmlns:a="http://schemas.openxmlformats.org/drawingml/2006/main">
              <a:ext uri="{FF2B5EF4-FFF2-40B4-BE49-F238E27FC236}">
                <a16:creationId xmlns:a16="http://schemas.microsoft.com/office/drawing/2014/main" id="{D7E2F60E-63C8-4B2B-97EF-C07A5C70D68E}"/>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41" name="misconception">
            <a:extLst xmlns:a="http://schemas.openxmlformats.org/drawingml/2006/main">
              <a:ext uri="{FF2B5EF4-FFF2-40B4-BE49-F238E27FC236}">
                <a16:creationId xmlns:a16="http://schemas.microsoft.com/office/drawing/2014/main" id="{195F16CC-A38B-4EED-A884-B30AA3783330}"/>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Atribuir a la validación de tipos una</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comprobación factual.</a:t>
            </a:r>
          </a:p>
        </p:txBody>
      </p:sp>
      <p:sp>
        <p:nvSpPr>
          <p:cNvPr id="42" name="panel">
            <a:extLst xmlns:a="http://schemas.openxmlformats.org/drawingml/2006/main">
              <a:ext uri="{FF2B5EF4-FFF2-40B4-BE49-F238E27FC236}">
                <a16:creationId xmlns:a16="http://schemas.microsoft.com/office/drawing/2014/main" id="{1147FEB3-635C-4918-AAED-496C4C7C023E}"/>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D49BCA62-A497-444C-87EA-1D2513818E67}"/>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Pydantic verifica el contrato que definiste, no toda la realidad.</a:t>
            </a:r>
          </a:p>
        </p:txBody>
      </p:sp>
    </p:spTree>
    <p:extLst>
      <p:ext uri="{BB962C8B-B14F-4D97-AF65-F5344CB8AC3E}">
        <p14:creationId xmlns:p14="http://schemas.microsoft.com/office/powerpoint/2010/main" val="1077888068"/>
      </p:ext>
    </p:extLst>
  </p:cSld>
</p:sld>
</file>

<file path=ppt/slides/slide5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97B3DDC4-890B-49A0-A6FA-2F8B9B063CF0}"/>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1866B3E-DA5C-4696-AB8D-E76244BDDDD9}"/>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3AE526A1-4CD2-41EF-852E-3328EE36217D}"/>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18</a:t>
            </a:r>
          </a:p>
        </p:txBody>
      </p:sp>
      <p:sp>
        <p:nvSpPr>
          <p:cNvPr id="4" name="breadcrumb">
            <a:extLst xmlns:a="http://schemas.openxmlformats.org/drawingml/2006/main">
              <a:ext uri="{FF2B5EF4-FFF2-40B4-BE49-F238E27FC236}">
                <a16:creationId xmlns:a16="http://schemas.microsoft.com/office/drawing/2014/main" id="{15CAF0B6-F8DF-4656-96D1-94D6046413C9}"/>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18</a:t>
            </a:r>
          </a:p>
        </p:txBody>
      </p:sp>
      <p:sp>
        <p:nvSpPr>
          <p:cNvPr id="5" name="slide-title">
            <a:extLst xmlns:a="http://schemas.openxmlformats.org/drawingml/2006/main">
              <a:ext uri="{FF2B5EF4-FFF2-40B4-BE49-F238E27FC236}">
                <a16:creationId xmlns:a16="http://schemas.microsoft.com/office/drawing/2014/main" id="{4793D8DD-04A3-4495-ACFD-105BD02D3BE1}"/>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Formato correcto no es hecho correcto</a:t>
            </a:r>
          </a:p>
        </p:txBody>
      </p:sp>
      <p:sp>
        <p:nvSpPr>
          <p:cNvPr id="6" name="learning-purpose">
            <a:extLst xmlns:a="http://schemas.openxmlformats.org/drawingml/2006/main">
              <a:ext uri="{FF2B5EF4-FFF2-40B4-BE49-F238E27FC236}">
                <a16:creationId xmlns:a16="http://schemas.microsoft.com/office/drawing/2014/main" id="{21D4D62A-FDBA-4D38-8480-8E56E18D52A0}"/>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Usar tipos y restricciones para comprobar la estructura recibida.</a:t>
            </a:r>
          </a:p>
        </p:txBody>
      </p:sp>
      <p:sp>
        <p:nvSpPr>
          <p:cNvPr id="7" name="panel">
            <a:extLst xmlns:a="http://schemas.openxmlformats.org/drawingml/2006/main">
              <a:ext uri="{FF2B5EF4-FFF2-40B4-BE49-F238E27FC236}">
                <a16:creationId xmlns:a16="http://schemas.microsoft.com/office/drawing/2014/main" id="{2024E74B-E27D-4D27-8BD7-00CFADE7CA5B}"/>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F6867A6A-0BAD-4B01-9638-1C9002BEB308}"/>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E5C366A4-A378-4724-ACC7-5AB5B4576E28}"/>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C31518B6-0075-458A-B980-E8F4D54CFA8C}"/>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7EC99C4B-7D6F-4505-A3C7-DDCA271C4BBC}"/>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7B701676-5775-4CA2-8A78-4A664F87E286}"/>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CFA1ABF7-F745-4EC0-8376-94ABA0BEB5AC}"/>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C18</a:t>
            </a:r>
          </a:p>
        </p:txBody>
      </p:sp>
      <p:sp>
        <p:nvSpPr>
          <p:cNvPr id="14" name="folio">
            <a:extLst xmlns:a="http://schemas.openxmlformats.org/drawingml/2006/main">
              <a:ext uri="{FF2B5EF4-FFF2-40B4-BE49-F238E27FC236}">
                <a16:creationId xmlns:a16="http://schemas.microsoft.com/office/drawing/2014/main" id="{9A85EB14-2CDE-40F3-837A-9632D3CD1560}"/>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53</a:t>
            </a:r>
          </a:p>
        </p:txBody>
      </p:sp>
      <p:sp>
        <p:nvSpPr>
          <p:cNvPr id="15" name="section-label">
            <a:extLst xmlns:a="http://schemas.openxmlformats.org/drawingml/2006/main">
              <a:ext uri="{FF2B5EF4-FFF2-40B4-BE49-F238E27FC236}">
                <a16:creationId xmlns:a16="http://schemas.microsoft.com/office/drawing/2014/main" id="{F40C876C-493C-407B-A2F6-EDE1A5387F65}"/>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Tipos</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Comprobar que los valores tienen la forma</a:t>
                      </a:r>
                    </a:p>
                    <a:p>
                      <a:r>
                        <a:rPr sz="1875" b="0">
                          <a:solidFill>
                            <a:srgbClr val="1E293B"/>
                          </a:solidFill>
                          <a:latin typeface="DejaVu Sans"/>
                          <a:ea typeface="DejaVu Sans"/>
                          <a:cs typeface="DejaVu Sans"/>
                        </a:rPr>
                        <a:t>esperada.</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Restricciones</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Validar categorías y campos obligatorios.</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Semántica</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La verdad del dato necesita otra comprobación.</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2A3E1577-0B4F-416B-B941-11F9031ABCAB}"/>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A41E51B6-8AE7-4946-A98F-A9E2B027EBC6}"/>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57F2726D-FFFE-44E4-A3DB-764FAAD55932}"/>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Atribuir a la validación de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tipos una comprobación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factual.</a:t>
            </a:r>
          </a:p>
        </p:txBody>
      </p:sp>
      <p:sp>
        <p:nvSpPr>
          <p:cNvPr id="20" name="development-prompt">
            <a:extLst xmlns:a="http://schemas.openxmlformats.org/drawingml/2006/main">
              <a:ext uri="{FF2B5EF4-FFF2-40B4-BE49-F238E27FC236}">
                <a16:creationId xmlns:a16="http://schemas.microsoft.com/office/drawing/2014/main" id="{BA2CB899-A816-4770-BD28-9E7866DA14CF}"/>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C6EF17BA-3A3E-4750-9D50-4EB5E0A2693C}"/>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279C3602-BE77-4456-9CE8-FFE073159014}"/>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3B9BA393-1FEA-4F7C-8F59-16FC3FCEA655}"/>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¿Un importe numérico válido demuestra que es el saldo real?</a:t>
            </a:r>
          </a:p>
        </p:txBody>
      </p:sp>
      <p:sp>
        <p:nvSpPr>
          <p:cNvPr id="24" name="panel">
            <a:extLst xmlns:a="http://schemas.openxmlformats.org/drawingml/2006/main">
              <a:ext uri="{FF2B5EF4-FFF2-40B4-BE49-F238E27FC236}">
                <a16:creationId xmlns:a16="http://schemas.microsoft.com/office/drawing/2014/main" id="{2B37C519-7556-43FA-BA79-C841B7CEBC8C}"/>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A57FA159-E0E8-42F8-A22B-47785D06E559}"/>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Pydantic verifica el contrato que definiste, no toda la realidad.</a:t>
            </a:r>
          </a:p>
        </p:txBody>
      </p:sp>
    </p:spTree>
    <p:extLst>
      <p:ext uri="{BB962C8B-B14F-4D97-AF65-F5344CB8AC3E}">
        <p14:creationId xmlns:p14="http://schemas.microsoft.com/office/powerpoint/2010/main" val="568489068"/>
      </p:ext>
    </p:extLst>
  </p:cSld>
</p:sld>
</file>

<file path=ppt/slides/slide5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701ECB86-4CD1-45CF-9D98-453754E2809C}"/>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D3E4ED82-0102-405D-9FE6-8113438212A1}"/>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D0474DA3-4AAA-4969-9406-D33BF0BDEF39}"/>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18</a:t>
            </a:r>
          </a:p>
        </p:txBody>
      </p:sp>
      <p:sp>
        <p:nvSpPr>
          <p:cNvPr id="4" name="breadcrumb">
            <a:extLst xmlns:a="http://schemas.openxmlformats.org/drawingml/2006/main">
              <a:ext uri="{FF2B5EF4-FFF2-40B4-BE49-F238E27FC236}">
                <a16:creationId xmlns:a16="http://schemas.microsoft.com/office/drawing/2014/main" id="{5079D8F1-DC90-4DA3-8C44-0AB28D68F41E}"/>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18</a:t>
            </a:r>
          </a:p>
        </p:txBody>
      </p:sp>
      <p:sp>
        <p:nvSpPr>
          <p:cNvPr id="5" name="slide-title">
            <a:extLst xmlns:a="http://schemas.openxmlformats.org/drawingml/2006/main">
              <a:ext uri="{FF2B5EF4-FFF2-40B4-BE49-F238E27FC236}">
                <a16:creationId xmlns:a16="http://schemas.microsoft.com/office/drawing/2014/main" id="{F7C6259B-B297-46E0-B656-209162F90E0A}"/>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Pydantic y el contrato de salida</a:t>
            </a:r>
          </a:p>
        </p:txBody>
      </p:sp>
      <p:sp>
        <p:nvSpPr>
          <p:cNvPr id="6" name="learning-purpose">
            <a:extLst xmlns:a="http://schemas.openxmlformats.org/drawingml/2006/main">
              <a:ext uri="{FF2B5EF4-FFF2-40B4-BE49-F238E27FC236}">
                <a16:creationId xmlns:a16="http://schemas.microsoft.com/office/drawing/2014/main" id="{A8337637-CE47-4D64-9BFD-7CD4F1CCD850}"/>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Usar tipos y restricciones para comprobar la estructura recibida.</a:t>
            </a:r>
          </a:p>
        </p:txBody>
      </p:sp>
      <p:sp>
        <p:nvSpPr>
          <p:cNvPr id="7" name="panel">
            <a:extLst xmlns:a="http://schemas.openxmlformats.org/drawingml/2006/main">
              <a:ext uri="{FF2B5EF4-FFF2-40B4-BE49-F238E27FC236}">
                <a16:creationId xmlns:a16="http://schemas.microsoft.com/office/drawing/2014/main" id="{7EE846D3-D034-4831-85DA-F2EA8433EFAC}"/>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5D6DC1D3-2AD6-435C-AC9A-ABD43279ACAA}"/>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13D141CF-60C7-4FA6-AC51-A9D4E2D0FFB8}"/>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4279506B-83C6-4B9C-8539-30FC6CC6C860}"/>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7F63DB63-00C1-4459-89DD-1FCF07054216}"/>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D6C807D9-233C-4D59-A91F-2F2CB8CF254F}"/>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CFAE6191-3968-423A-BBDE-35528C3ED635}"/>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C18</a:t>
            </a:r>
          </a:p>
        </p:txBody>
      </p:sp>
      <p:sp>
        <p:nvSpPr>
          <p:cNvPr id="14" name="folio">
            <a:extLst xmlns:a="http://schemas.openxmlformats.org/drawingml/2006/main">
              <a:ext uri="{FF2B5EF4-FFF2-40B4-BE49-F238E27FC236}">
                <a16:creationId xmlns:a16="http://schemas.microsoft.com/office/drawing/2014/main" id="{8E0FA2DB-1F80-4117-8CB0-038F6B1373EF}"/>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54</a:t>
            </a:r>
          </a:p>
        </p:txBody>
      </p:sp>
      <p:sp>
        <p:nvSpPr>
          <p:cNvPr id="15" name="section-label">
            <a:extLst xmlns:a="http://schemas.openxmlformats.org/drawingml/2006/main">
              <a:ext uri="{FF2B5EF4-FFF2-40B4-BE49-F238E27FC236}">
                <a16:creationId xmlns:a16="http://schemas.microsoft.com/office/drawing/2014/main" id="{0D933199-9AA7-4C2D-A2E9-504D25926501}"/>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BANCO INTI · CASO DIDÁCTICO</a:t>
            </a:r>
          </a:p>
        </p:txBody>
      </p:sp>
      <p:sp>
        <p:nvSpPr>
          <p:cNvPr id="16" name="panel">
            <a:extLst xmlns:a="http://schemas.openxmlformats.org/drawingml/2006/main">
              <a:ext uri="{FF2B5EF4-FFF2-40B4-BE49-F238E27FC236}">
                <a16:creationId xmlns:a16="http://schemas.microsoft.com/office/drawing/2014/main" id="{465B321F-B1F9-4D83-9D71-0629651822B2}"/>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1A786E39-5741-48E0-883F-850A97920956}"/>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B673AF4C-78DC-490D-B636-64F440AAC004}"/>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El clasificador debe producir una categoría permitida.</a:t>
            </a:r>
          </a:p>
        </p:txBody>
      </p:sp>
      <p:sp>
        <p:nvSpPr>
          <p:cNvPr id="19" name="concept-node">
            <a:extLst xmlns:a="http://schemas.openxmlformats.org/drawingml/2006/main">
              <a:ext uri="{FF2B5EF4-FFF2-40B4-BE49-F238E27FC236}">
                <a16:creationId xmlns:a16="http://schemas.microsoft.com/office/drawing/2014/main" id="{2FF52451-69E1-4678-87E0-BDE85C9FA36E}"/>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5816FE4B-E22F-4F3D-A146-E03975D71328}"/>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A5E99D6D-2AE1-473E-B340-A550C2BA2EDF}"/>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2C91E59A-AF32-45ED-8245-4CC6CC6E8F96}"/>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53762049-9FD7-4968-B930-A5CB954BAA36}"/>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Recibir</a:t>
            </a:r>
          </a:p>
        </p:txBody>
      </p:sp>
      <p:sp>
        <p:nvSpPr>
          <p:cNvPr id="24" name="node-body">
            <a:extLst xmlns:a="http://schemas.openxmlformats.org/drawingml/2006/main">
              <a:ext uri="{FF2B5EF4-FFF2-40B4-BE49-F238E27FC236}">
                <a16:creationId xmlns:a16="http://schemas.microsoft.com/office/drawing/2014/main" id="{024CCA5C-C15C-402C-A431-3C3584495263}"/>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El modelo devuelve una</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categoría inventada.</a:t>
            </a:r>
          </a:p>
        </p:txBody>
      </p:sp>
      <p:sp>
        <p:nvSpPr>
          <p:cNvPr id="25" name="concept-node">
            <a:extLst xmlns:a="http://schemas.openxmlformats.org/drawingml/2006/main">
              <a:ext uri="{FF2B5EF4-FFF2-40B4-BE49-F238E27FC236}">
                <a16:creationId xmlns:a16="http://schemas.microsoft.com/office/drawing/2014/main" id="{8C897CD3-F544-4705-82D8-743F1F041497}"/>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2CE75849-08DC-41A5-ADE4-00C7ECF8EE54}"/>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A1799F2-80EC-466F-82D6-E5D8AFAB80B8}"/>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954B37D1-B6BC-4109-879D-8709AB2AA634}"/>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869285B0-AB4C-4D50-95F7-5C29CDF8FA7B}"/>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Rechazar</a:t>
            </a:r>
          </a:p>
        </p:txBody>
      </p:sp>
      <p:sp>
        <p:nvSpPr>
          <p:cNvPr id="30" name="node-body">
            <a:extLst xmlns:a="http://schemas.openxmlformats.org/drawingml/2006/main">
              <a:ext uri="{FF2B5EF4-FFF2-40B4-BE49-F238E27FC236}">
                <a16:creationId xmlns:a16="http://schemas.microsoft.com/office/drawing/2014/main" id="{CAD9B5C7-05EB-4F3E-BFB0-7B25980C442C}"/>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El esquema detecta que no</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pertenece al conjunto permitido.</a:t>
            </a:r>
          </a:p>
        </p:txBody>
      </p:sp>
      <p:sp>
        <p:nvSpPr>
          <p:cNvPr id="31" name="concept-node">
            <a:extLst xmlns:a="http://schemas.openxmlformats.org/drawingml/2006/main">
              <a:ext uri="{FF2B5EF4-FFF2-40B4-BE49-F238E27FC236}">
                <a16:creationId xmlns:a16="http://schemas.microsoft.com/office/drawing/2014/main" id="{5D19F7AE-209D-4882-BE59-E63F5259F237}"/>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5C22CF67-D96F-4246-AD97-029FC4643E63}"/>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BA86D285-E81B-48C2-8EBE-763D07F268BB}"/>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25E2FA63-2F3C-40F9-850F-A67C169EE2F2}"/>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75CAEDC3-C976-4C53-B820-F2187361FC4D}"/>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Recuperar</a:t>
            </a:r>
          </a:p>
        </p:txBody>
      </p:sp>
      <p:sp>
        <p:nvSpPr>
          <p:cNvPr id="36" name="node-body">
            <a:extLst xmlns:a="http://schemas.openxmlformats.org/drawingml/2006/main">
              <a:ext uri="{FF2B5EF4-FFF2-40B4-BE49-F238E27FC236}">
                <a16:creationId xmlns:a16="http://schemas.microsoft.com/office/drawing/2014/main" id="{DE4621A4-C0B6-4954-878E-7EE22C23FD62}"/>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S2 añadirá corrección y un</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reintento acotado.</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97E12668-1CF5-4EE5-B139-7964C0473AEE}"/>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4F526AF7-227F-4F7A-94CD-4147DBC0C8DC}"/>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5870CFF5-1753-45ED-B96B-E76A17AB75AC}"/>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El error de contrato se detecta antes de que otras piezas consuman el dato.</a:t>
            </a:r>
          </a:p>
        </p:txBody>
      </p:sp>
      <p:sp>
        <p:nvSpPr>
          <p:cNvPr id="42" name="panel">
            <a:extLst xmlns:a="http://schemas.openxmlformats.org/drawingml/2006/main">
              <a:ext uri="{FF2B5EF4-FFF2-40B4-BE49-F238E27FC236}">
                <a16:creationId xmlns:a16="http://schemas.microsoft.com/office/drawing/2014/main" id="{8A665731-45DD-4391-84D5-A2D7399CF2C7}"/>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81BC617F-853C-4000-BDD6-21BF4D8BD9FD}"/>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Pydantic verifica el contrato que definiste, no toda la realidad.</a:t>
            </a:r>
          </a:p>
        </p:txBody>
      </p:sp>
    </p:spTree>
    <p:extLst>
      <p:ext uri="{BB962C8B-B14F-4D97-AF65-F5344CB8AC3E}">
        <p14:creationId xmlns:p14="http://schemas.microsoft.com/office/powerpoint/2010/main" val="95588296"/>
      </p:ext>
    </p:extLst>
  </p:cSld>
</p:sld>
</file>

<file path=ppt/slides/slide5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2" name="header">
            <a:extLst xmlns:a="http://schemas.openxmlformats.org/drawingml/2006/main">
              <a:ext uri="{FF2B5EF4-FFF2-40B4-BE49-F238E27FC236}">
                <a16:creationId xmlns:a16="http://schemas.microsoft.com/office/drawing/2014/main" id="{1027C273-5454-4178-A4BC-56928F3451A8}"/>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4FED6E4-9F42-4CB3-9E58-E4F85E1CA8FE}"/>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73E00C72-7C82-4908-9216-E56BE7253F56}"/>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19</a:t>
            </a:r>
          </a:p>
        </p:txBody>
      </p:sp>
      <p:sp>
        <p:nvSpPr>
          <p:cNvPr id="4" name="breadcrumb">
            <a:extLst xmlns:a="http://schemas.openxmlformats.org/drawingml/2006/main">
              <a:ext uri="{FF2B5EF4-FFF2-40B4-BE49-F238E27FC236}">
                <a16:creationId xmlns:a16="http://schemas.microsoft.com/office/drawing/2014/main" id="{1DD35A3F-CC9C-44D3-8706-0D05CB1D8FD2}"/>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19</a:t>
            </a:r>
          </a:p>
        </p:txBody>
      </p:sp>
      <p:sp>
        <p:nvSpPr>
          <p:cNvPr id="5" name="slide-title">
            <a:extLst xmlns:a="http://schemas.openxmlformats.org/drawingml/2006/main">
              <a:ext uri="{FF2B5EF4-FFF2-40B4-BE49-F238E27FC236}">
                <a16:creationId xmlns:a16="http://schemas.microsoft.com/office/drawing/2014/main" id="{85096B35-D38B-4248-8B0A-FB7D1EE84EB7}"/>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Tres cuentas, tres funciones</a:t>
            </a:r>
          </a:p>
        </p:txBody>
      </p:sp>
      <p:sp>
        <p:nvSpPr>
          <p:cNvPr id="6" name="learning-purpose">
            <a:extLst xmlns:a="http://schemas.openxmlformats.org/drawingml/2006/main">
              <a:ext uri="{FF2B5EF4-FFF2-40B4-BE49-F238E27FC236}">
                <a16:creationId xmlns:a16="http://schemas.microsoft.com/office/drawing/2014/main" id="{D6A49050-84CE-4FCB-8BD9-CCCF3890EF3D}"/>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Relacionar cada servicio del curso con su responsabilidad.</a:t>
            </a:r>
          </a:p>
        </p:txBody>
      </p:sp>
      <p:sp>
        <p:nvSpPr>
          <p:cNvPr id="7" name="panel">
            <a:extLst xmlns:a="http://schemas.openxmlformats.org/drawingml/2006/main">
              <a:ext uri="{FF2B5EF4-FFF2-40B4-BE49-F238E27FC236}">
                <a16:creationId xmlns:a16="http://schemas.microsoft.com/office/drawing/2014/main" id="{165DFE5D-CD37-460B-8784-AABBD26B21ED}"/>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0EB1DF28-DC33-4C69-AF52-FD4A46EC6B6F}"/>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40604B95-9258-4754-8716-D1C501F78432}"/>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6CBF0E49-5A87-43B6-B9B7-2072696F279C}"/>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C6ED9B10-2399-4F6E-A2A8-AB227E552A9D}"/>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23B23703-BE39-44DC-A4C1-30E986ABE56B}"/>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A672191B-0F81-4CA6-9383-F7324E7A0DCF}"/>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C19</a:t>
            </a:r>
          </a:p>
        </p:txBody>
      </p:sp>
      <p:sp>
        <p:nvSpPr>
          <p:cNvPr id="14" name="folio">
            <a:extLst xmlns:a="http://schemas.openxmlformats.org/drawingml/2006/main">
              <a:ext uri="{FF2B5EF4-FFF2-40B4-BE49-F238E27FC236}">
                <a16:creationId xmlns:a16="http://schemas.microsoft.com/office/drawing/2014/main" id="{B966A260-157A-4D7E-AA08-74221A539B9B}"/>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55</a:t>
            </a:r>
          </a:p>
        </p:txBody>
      </p:sp>
      <p:sp>
        <p:nvSpPr>
          <p:cNvPr id="15" name="section-label">
            <a:extLst xmlns:a="http://schemas.openxmlformats.org/drawingml/2006/main">
              <a:ext uri="{FF2B5EF4-FFF2-40B4-BE49-F238E27FC236}">
                <a16:creationId xmlns:a16="http://schemas.microsoft.com/office/drawing/2014/main" id="{416D7DB5-BFDA-47C6-9D33-0BECCFCCD485}"/>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COMPARAR RESPONSABILIDADES</a:t>
            </a:r>
          </a:p>
        </p:txBody>
      </p:sp>
      <p:sp>
        <p:nvSpPr>
          <p:cNvPr id="16" name="concept-node">
            <a:extLst xmlns:a="http://schemas.openxmlformats.org/drawingml/2006/main">
              <a:ext uri="{FF2B5EF4-FFF2-40B4-BE49-F238E27FC236}">
                <a16:creationId xmlns:a16="http://schemas.microsoft.com/office/drawing/2014/main" id="{7846CF26-6996-442D-8405-180CF6AF3E8B}"/>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7427B52B-8072-47F0-BF40-5F31AEB849B6}"/>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B0D7C8F-C2E0-4C4D-A0B1-E24260BE68D6}"/>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99082570-41A5-41D3-8000-8E439888DB0A}"/>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459A3225-A827-4BD6-BE3D-DE2E2DEBE3DB}"/>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Hugging Face</a:t>
            </a:r>
          </a:p>
        </p:txBody>
      </p:sp>
      <p:sp>
        <p:nvSpPr>
          <p:cNvPr id="21" name="node-body">
            <a:extLst xmlns:a="http://schemas.openxmlformats.org/drawingml/2006/main">
              <a:ext uri="{FF2B5EF4-FFF2-40B4-BE49-F238E27FC236}">
                <a16:creationId xmlns:a16="http://schemas.microsoft.com/office/drawing/2014/main" id="{3F33EAD0-98D1-4949-AEB8-45D29B32CD5F}"/>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Acceso a modelos y, más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adelante, despliegue del</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Space.</a:t>
            </a:r>
          </a:p>
        </p:txBody>
      </p:sp>
      <p:sp>
        <p:nvSpPr>
          <p:cNvPr id="22" name="concept-node">
            <a:extLst xmlns:a="http://schemas.openxmlformats.org/drawingml/2006/main">
              <a:ext uri="{FF2B5EF4-FFF2-40B4-BE49-F238E27FC236}">
                <a16:creationId xmlns:a16="http://schemas.microsoft.com/office/drawing/2014/main" id="{FC590019-7D2F-4063-A11C-2E418FEE160C}"/>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E5EC439D-565E-47D3-82D7-7CC3FC8D3F14}"/>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A87425FB-16D2-473E-8988-B73C6F1DF8CB}"/>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31AD5D75-B88A-4F83-AA0F-73857CA07F41}"/>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D2AA7AC9-AB27-462C-BEE0-D21BF9CCFD75}"/>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Qdrant Cloud</a:t>
            </a:r>
          </a:p>
        </p:txBody>
      </p:sp>
      <p:sp>
        <p:nvSpPr>
          <p:cNvPr id="27" name="node-body">
            <a:extLst xmlns:a="http://schemas.openxmlformats.org/drawingml/2006/main">
              <a:ext uri="{FF2B5EF4-FFF2-40B4-BE49-F238E27FC236}">
                <a16:creationId xmlns:a16="http://schemas.microsoft.com/office/drawing/2014/main" id="{2BE6A6EB-7E41-4387-8E49-4C01D490E134}"/>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Almacena vectores y</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metadatos del corpus.</a:t>
            </a:r>
          </a:p>
        </p:txBody>
      </p:sp>
      <p:sp>
        <p:nvSpPr>
          <p:cNvPr id="28" name="concept-node">
            <a:extLst xmlns:a="http://schemas.openxmlformats.org/drawingml/2006/main">
              <a:ext uri="{FF2B5EF4-FFF2-40B4-BE49-F238E27FC236}">
                <a16:creationId xmlns:a16="http://schemas.microsoft.com/office/drawing/2014/main" id="{171290F8-3C89-4E57-9D14-EDEE16435AA6}"/>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222EF5C0-367E-47D3-9461-8855041081F1}"/>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8895D53-1B7E-4322-85C6-629183ADE65B}"/>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C102E574-179D-49DF-8A1C-F1E033987FEA}"/>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E4E11A12-174C-4531-9127-1BFC41ECAF0C}"/>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Langfuse Cloud</a:t>
            </a:r>
          </a:p>
        </p:txBody>
      </p:sp>
      <p:sp>
        <p:nvSpPr>
          <p:cNvPr id="33" name="node-body">
            <a:extLst xmlns:a="http://schemas.openxmlformats.org/drawingml/2006/main">
              <a:ext uri="{FF2B5EF4-FFF2-40B4-BE49-F238E27FC236}">
                <a16:creationId xmlns:a16="http://schemas.microsoft.com/office/drawing/2014/main" id="{8C946DD2-029D-4EE8-B4CC-D6CE5E0C9293}"/>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Recibe trazas y permite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examinar ejecuciones.</a:t>
            </a:r>
          </a:p>
        </p:txBody>
      </p:sp>
      <p:sp>
        <p:nvSpPr>
          <p:cNvPr id="34" name="panel">
            <a:extLst xmlns:a="http://schemas.openxmlformats.org/drawingml/2006/main">
              <a:ext uri="{FF2B5EF4-FFF2-40B4-BE49-F238E27FC236}">
                <a16:creationId xmlns:a16="http://schemas.microsoft.com/office/drawing/2014/main" id="{5C936452-81BD-4264-A162-0F5108E91BA1}"/>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5" name="section-label">
            <a:extLst xmlns:a="http://schemas.openxmlformats.org/drawingml/2006/main">
              <a:ext uri="{FF2B5EF4-FFF2-40B4-BE49-F238E27FC236}">
                <a16:creationId xmlns:a16="http://schemas.microsoft.com/office/drawing/2014/main" id="{8ECA9F92-B7DF-4FC5-B6EA-CEFEBE1E830F}"/>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6" name="concept-question">
            <a:extLst xmlns:a="http://schemas.openxmlformats.org/drawingml/2006/main">
              <a:ext uri="{FF2B5EF4-FFF2-40B4-BE49-F238E27FC236}">
                <a16:creationId xmlns:a16="http://schemas.microsoft.com/office/drawing/2014/main" id="{D04E0C88-F66B-4A49-BD98-A634950E1DFC}"/>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¿En qué servicio buscarías los fragmentos del corpus?</a:t>
            </a:r>
          </a:p>
        </p:txBody>
      </p:sp>
      <p:sp>
        <p:nvSpPr>
          <p:cNvPr id="37" name="panel">
            <a:extLst xmlns:a="http://schemas.openxmlformats.org/drawingml/2006/main">
              <a:ext uri="{FF2B5EF4-FFF2-40B4-BE49-F238E27FC236}">
                <a16:creationId xmlns:a16="http://schemas.microsoft.com/office/drawing/2014/main" id="{202D913C-9901-497C-B6C1-36EFA65AAE39}"/>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38" name="misconception-label">
            <a:extLst xmlns:a="http://schemas.openxmlformats.org/drawingml/2006/main">
              <a:ext uri="{FF2B5EF4-FFF2-40B4-BE49-F238E27FC236}">
                <a16:creationId xmlns:a16="http://schemas.microsoft.com/office/drawing/2014/main" id="{FAF1D62C-5AAE-46CA-B118-6BF4D61A0A42}"/>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39" name="misconception">
            <a:extLst xmlns:a="http://schemas.openxmlformats.org/drawingml/2006/main">
              <a:ext uri="{FF2B5EF4-FFF2-40B4-BE49-F238E27FC236}">
                <a16:creationId xmlns:a16="http://schemas.microsoft.com/office/drawing/2014/main" id="{9F131439-052D-44A3-94A1-CB9372B6FE36}"/>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Confundir la base vectorial con el</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proveedor de chat.</a:t>
            </a:r>
          </a:p>
        </p:txBody>
      </p:sp>
      <p:sp>
        <p:nvSpPr>
          <p:cNvPr id="40" name="panel">
            <a:extLst xmlns:a="http://schemas.openxmlformats.org/drawingml/2006/main">
              <a:ext uri="{FF2B5EF4-FFF2-40B4-BE49-F238E27FC236}">
                <a16:creationId xmlns:a16="http://schemas.microsoft.com/office/drawing/2014/main" id="{E5F417D4-FE70-4926-AC87-EE361F47B6A0}"/>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1" name="takeaway">
            <a:extLst xmlns:a="http://schemas.openxmlformats.org/drawingml/2006/main">
              <a:ext uri="{FF2B5EF4-FFF2-40B4-BE49-F238E27FC236}">
                <a16:creationId xmlns:a16="http://schemas.microsoft.com/office/drawing/2014/main" id="{33ABDF2B-4A62-428D-8898-8DD2270B88ED}"/>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Preparar accesos ahora evita bloquear los laboratorios posteriores.</a:t>
            </a:r>
          </a:p>
        </p:txBody>
      </p:sp>
    </p:spTree>
    <p:extLst>
      <p:ext uri="{BB962C8B-B14F-4D97-AF65-F5344CB8AC3E}">
        <p14:creationId xmlns:p14="http://schemas.microsoft.com/office/powerpoint/2010/main" val="45443661"/>
      </p:ext>
    </p:extLst>
  </p:cSld>
</p:sld>
</file>

<file path=ppt/slides/slide5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AE72D919-7B21-4CC4-BDCB-8F1F7194BCE0}"/>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744A435-6B16-4064-B03F-D0444D0D24F0}"/>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A0BF91DA-CC9D-417C-9E23-EBC63E41A417}"/>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19</a:t>
            </a:r>
          </a:p>
        </p:txBody>
      </p:sp>
      <p:sp>
        <p:nvSpPr>
          <p:cNvPr id="4" name="breadcrumb">
            <a:extLst xmlns:a="http://schemas.openxmlformats.org/drawingml/2006/main">
              <a:ext uri="{FF2B5EF4-FFF2-40B4-BE49-F238E27FC236}">
                <a16:creationId xmlns:a16="http://schemas.microsoft.com/office/drawing/2014/main" id="{90FDAF0D-4018-4F83-8D32-7CC89BE12E09}"/>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19</a:t>
            </a:r>
          </a:p>
        </p:txBody>
      </p:sp>
      <p:sp>
        <p:nvSpPr>
          <p:cNvPr id="5" name="slide-title">
            <a:extLst xmlns:a="http://schemas.openxmlformats.org/drawingml/2006/main">
              <a:ext uri="{FF2B5EF4-FFF2-40B4-BE49-F238E27FC236}">
                <a16:creationId xmlns:a16="http://schemas.microsoft.com/office/drawing/2014/main" id="{0A6B522E-D38B-4073-98C7-27EEDC825424}"/>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Cuándo entra cada servicio</a:t>
            </a:r>
          </a:p>
        </p:txBody>
      </p:sp>
      <p:sp>
        <p:nvSpPr>
          <p:cNvPr id="6" name="learning-purpose">
            <a:extLst xmlns:a="http://schemas.openxmlformats.org/drawingml/2006/main">
              <a:ext uri="{FF2B5EF4-FFF2-40B4-BE49-F238E27FC236}">
                <a16:creationId xmlns:a16="http://schemas.microsoft.com/office/drawing/2014/main" id="{5B1F18A1-60E9-4C19-921D-FF9DFE202DA9}"/>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Relacionar cada servicio del curso con su responsabilidad.</a:t>
            </a:r>
          </a:p>
        </p:txBody>
      </p:sp>
      <p:sp>
        <p:nvSpPr>
          <p:cNvPr id="7" name="panel">
            <a:extLst xmlns:a="http://schemas.openxmlformats.org/drawingml/2006/main">
              <a:ext uri="{FF2B5EF4-FFF2-40B4-BE49-F238E27FC236}">
                <a16:creationId xmlns:a16="http://schemas.microsoft.com/office/drawing/2014/main" id="{D438206B-70F3-42E4-BF1B-7707551CBA4B}"/>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01960C2E-2883-4977-8F44-ECF66644D739}"/>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AAD320BD-A840-490D-9246-D04D4680C3F8}"/>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C406CB5B-EE85-44F4-89EE-018057FB4A5F}"/>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40177AA8-74F8-470A-90A3-565152B68695}"/>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B02E948F-5647-44E5-BCA9-6E0ABBDF22B4}"/>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E1F5DD4A-EEB4-4407-9D60-8A796647CE37}"/>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C19</a:t>
            </a:r>
          </a:p>
        </p:txBody>
      </p:sp>
      <p:sp>
        <p:nvSpPr>
          <p:cNvPr id="14" name="folio">
            <a:extLst xmlns:a="http://schemas.openxmlformats.org/drawingml/2006/main">
              <a:ext uri="{FF2B5EF4-FFF2-40B4-BE49-F238E27FC236}">
                <a16:creationId xmlns:a16="http://schemas.microsoft.com/office/drawing/2014/main" id="{B782442A-BEFF-4974-9033-9A2AD89248B6}"/>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56</a:t>
            </a:r>
          </a:p>
        </p:txBody>
      </p:sp>
      <p:sp>
        <p:nvSpPr>
          <p:cNvPr id="15" name="section-label">
            <a:extLst xmlns:a="http://schemas.openxmlformats.org/drawingml/2006/main">
              <a:ext uri="{FF2B5EF4-FFF2-40B4-BE49-F238E27FC236}">
                <a16:creationId xmlns:a16="http://schemas.microsoft.com/office/drawing/2014/main" id="{18B3A09F-B32D-4C20-99BE-063F97A64431}"/>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Inicio</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Preparar acceso al proveedor del modelo.</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S5</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Configurar colección y credenciales de Qdrant.</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S9</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Configurar trazabilidad y protección de datos en</a:t>
                      </a:r>
                    </a:p>
                    <a:p>
                      <a:r>
                        <a:rPr sz="1875" b="0">
                          <a:solidFill>
                            <a:srgbClr val="1E293B"/>
                          </a:solidFill>
                          <a:latin typeface="DejaVu Sans"/>
                          <a:ea typeface="DejaVu Sans"/>
                          <a:cs typeface="DejaVu Sans"/>
                        </a:rPr>
                        <a:t>Langfuse.</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484A9355-80D6-4FD2-90FB-711AA152C154}"/>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094AAE02-A026-4F38-AD93-44C21A8064E4}"/>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834A22E2-6D1B-4FF5-A723-9F5BDE29D0E6}"/>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Confundir la base vectorial</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 el proveedor de chat.</a:t>
            </a:r>
          </a:p>
        </p:txBody>
      </p:sp>
      <p:sp>
        <p:nvSpPr>
          <p:cNvPr id="20" name="development-prompt">
            <a:extLst xmlns:a="http://schemas.openxmlformats.org/drawingml/2006/main">
              <a:ext uri="{FF2B5EF4-FFF2-40B4-BE49-F238E27FC236}">
                <a16:creationId xmlns:a16="http://schemas.microsoft.com/office/drawing/2014/main" id="{E6965719-78C7-4762-806F-5BA86A01489E}"/>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71E7E661-0007-4B1E-AB34-A82A23E66A78}"/>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F2C3A321-81F5-4384-92D1-C7D66396838F}"/>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D24F5152-DB8A-47D4-ADA6-C91EC475FE1C}"/>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¿En qué servicio buscarías los fragmentos del corpus?</a:t>
            </a:r>
          </a:p>
        </p:txBody>
      </p:sp>
      <p:sp>
        <p:nvSpPr>
          <p:cNvPr id="24" name="panel">
            <a:extLst xmlns:a="http://schemas.openxmlformats.org/drawingml/2006/main">
              <a:ext uri="{FF2B5EF4-FFF2-40B4-BE49-F238E27FC236}">
                <a16:creationId xmlns:a16="http://schemas.microsoft.com/office/drawing/2014/main" id="{F8023C43-CB65-4AF0-8C17-FD94C620631B}"/>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EEB95E18-4D78-4E29-8210-CDD99BB4FCCC}"/>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Preparar accesos ahora evita bloquear los laboratorios posteriores.</a:t>
            </a:r>
          </a:p>
        </p:txBody>
      </p:sp>
    </p:spTree>
    <p:extLst>
      <p:ext uri="{BB962C8B-B14F-4D97-AF65-F5344CB8AC3E}">
        <p14:creationId xmlns:p14="http://schemas.microsoft.com/office/powerpoint/2010/main" val="171279898"/>
      </p:ext>
    </p:extLst>
  </p:cSld>
</p:sld>
</file>

<file path=ppt/slides/slide57.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53273A3B-92E0-4019-AF87-3D3587CC8E9E}"/>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235CB04-9277-4AC3-8ACF-F4D1B0452B8B}"/>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E931EEAF-C9BA-4618-9D9E-D4BF683C5671}"/>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19</a:t>
            </a:r>
          </a:p>
        </p:txBody>
      </p:sp>
      <p:sp>
        <p:nvSpPr>
          <p:cNvPr id="4" name="breadcrumb">
            <a:extLst xmlns:a="http://schemas.openxmlformats.org/drawingml/2006/main">
              <a:ext uri="{FF2B5EF4-FFF2-40B4-BE49-F238E27FC236}">
                <a16:creationId xmlns:a16="http://schemas.microsoft.com/office/drawing/2014/main" id="{8CD9B283-2CC8-40A7-97A9-D5380EDF22D2}"/>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19</a:t>
            </a:r>
          </a:p>
        </p:txBody>
      </p:sp>
      <p:sp>
        <p:nvSpPr>
          <p:cNvPr id="5" name="slide-title">
            <a:extLst xmlns:a="http://schemas.openxmlformats.org/drawingml/2006/main">
              <a:ext uri="{FF2B5EF4-FFF2-40B4-BE49-F238E27FC236}">
                <a16:creationId xmlns:a16="http://schemas.microsoft.com/office/drawing/2014/main" id="{CBDD4AE3-3101-46EB-A271-C15F59378F2A}"/>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Tres cuentas, tres funciones</a:t>
            </a:r>
          </a:p>
        </p:txBody>
      </p:sp>
      <p:sp>
        <p:nvSpPr>
          <p:cNvPr id="6" name="learning-purpose">
            <a:extLst xmlns:a="http://schemas.openxmlformats.org/drawingml/2006/main">
              <a:ext uri="{FF2B5EF4-FFF2-40B4-BE49-F238E27FC236}">
                <a16:creationId xmlns:a16="http://schemas.microsoft.com/office/drawing/2014/main" id="{6E20572F-7869-4C9F-9B74-D61565C7B05E}"/>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Relacionar cada servicio del curso con su responsabilidad.</a:t>
            </a:r>
          </a:p>
        </p:txBody>
      </p:sp>
      <p:sp>
        <p:nvSpPr>
          <p:cNvPr id="7" name="panel">
            <a:extLst xmlns:a="http://schemas.openxmlformats.org/drawingml/2006/main">
              <a:ext uri="{FF2B5EF4-FFF2-40B4-BE49-F238E27FC236}">
                <a16:creationId xmlns:a16="http://schemas.microsoft.com/office/drawing/2014/main" id="{394FCF4B-F7F4-4A3F-8564-6F10BFA2E790}"/>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FB8A95BF-6CA5-42DE-99E5-FC86BD3194C5}"/>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FC8E51E2-1818-4F28-A08D-7EE3413915AE}"/>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675307B3-6AD8-4507-B162-CFBC8FBC088A}"/>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C78B8ADE-845D-496C-BC65-BBC46749AE02}"/>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C894B49A-1FD1-4D32-950E-6B32D657268D}"/>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B7B73491-3720-475D-8841-4062442DEE21}"/>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C19</a:t>
            </a:r>
          </a:p>
        </p:txBody>
      </p:sp>
      <p:sp>
        <p:nvSpPr>
          <p:cNvPr id="14" name="folio">
            <a:extLst xmlns:a="http://schemas.openxmlformats.org/drawingml/2006/main">
              <a:ext uri="{FF2B5EF4-FFF2-40B4-BE49-F238E27FC236}">
                <a16:creationId xmlns:a16="http://schemas.microsoft.com/office/drawing/2014/main" id="{40E4DBD1-7F4E-4AE8-835B-36FE77496883}"/>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57</a:t>
            </a:r>
          </a:p>
        </p:txBody>
      </p:sp>
      <p:sp>
        <p:nvSpPr>
          <p:cNvPr id="15" name="section-label">
            <a:extLst xmlns:a="http://schemas.openxmlformats.org/drawingml/2006/main">
              <a:ext uri="{FF2B5EF4-FFF2-40B4-BE49-F238E27FC236}">
                <a16:creationId xmlns:a16="http://schemas.microsoft.com/office/drawing/2014/main" id="{AB594A4F-594E-44CA-BFC3-1A59D4D61D9D}"/>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MERCASUR · CASO DIDÁCTICO</a:t>
            </a:r>
          </a:p>
        </p:txBody>
      </p:sp>
      <p:sp>
        <p:nvSpPr>
          <p:cNvPr id="16" name="panel">
            <a:extLst xmlns:a="http://schemas.openxmlformats.org/drawingml/2006/main">
              <a:ext uri="{FF2B5EF4-FFF2-40B4-BE49-F238E27FC236}">
                <a16:creationId xmlns:a16="http://schemas.microsoft.com/office/drawing/2014/main" id="{405471FC-F142-40BE-B44A-BCE1A6AAB2BC}"/>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6314F6D2-2E7C-4ECF-9F51-70C5879E3A0E}"/>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A611ECCC-6A79-41F7-83B2-FD098D1AEA5E}"/>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El equipo pregunta si necesita Azure para el laboratorio inicial.</a:t>
            </a:r>
          </a:p>
        </p:txBody>
      </p:sp>
      <p:sp>
        <p:nvSpPr>
          <p:cNvPr id="19" name="concept-node">
            <a:extLst xmlns:a="http://schemas.openxmlformats.org/drawingml/2006/main">
              <a:ext uri="{FF2B5EF4-FFF2-40B4-BE49-F238E27FC236}">
                <a16:creationId xmlns:a16="http://schemas.microsoft.com/office/drawing/2014/main" id="{F327C763-4352-4003-9DBA-A21BB6815095}"/>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DE15B579-C1DA-4F4C-BF0A-EDA023CC0642}"/>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AB83DC5-79FC-4258-A423-1347C3CD0E4B}"/>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704CA19C-5758-40EF-87B1-7D82857ADDC2}"/>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96DB9E63-A680-402E-AFFF-72442D277D68}"/>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Ubicar</a:t>
            </a:r>
          </a:p>
        </p:txBody>
      </p:sp>
      <p:sp>
        <p:nvSpPr>
          <p:cNvPr id="24" name="node-body">
            <a:extLst xmlns:a="http://schemas.openxmlformats.org/drawingml/2006/main">
              <a:ext uri="{FF2B5EF4-FFF2-40B4-BE49-F238E27FC236}">
                <a16:creationId xmlns:a16="http://schemas.microsoft.com/office/drawing/2014/main" id="{3086604B-3DC6-4418-ABF5-E23250864FBC}"/>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S0 prepara el stack principal del</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curso.</a:t>
            </a:r>
          </a:p>
        </p:txBody>
      </p:sp>
      <p:sp>
        <p:nvSpPr>
          <p:cNvPr id="25" name="concept-node">
            <a:extLst xmlns:a="http://schemas.openxmlformats.org/drawingml/2006/main">
              <a:ext uri="{FF2B5EF4-FFF2-40B4-BE49-F238E27FC236}">
                <a16:creationId xmlns:a16="http://schemas.microsoft.com/office/drawing/2014/main" id="{0881F7C1-5F1E-440A-9DB1-20EB603F4EDB}"/>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719FD55C-2F11-4F06-B96A-824201B42DE3}"/>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74CE1F04-AEA2-4302-A7FF-D4B4EFE58B60}"/>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FFD61F3B-7416-42BC-A052-46887F9BEF31}"/>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667C231D-7F74-424A-9D31-5B3EB6A56EDD}"/>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Diferenciar</a:t>
            </a:r>
          </a:p>
        </p:txBody>
      </p:sp>
      <p:sp>
        <p:nvSpPr>
          <p:cNvPr id="30" name="node-body">
            <a:extLst xmlns:a="http://schemas.openxmlformats.org/drawingml/2006/main">
              <a:ext uri="{FF2B5EF4-FFF2-40B4-BE49-F238E27FC236}">
                <a16:creationId xmlns:a16="http://schemas.microsoft.com/office/drawing/2014/main" id="{EEF304FB-6D75-4844-9F4C-A75B7CE0FB3E}"/>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Foundry pertenece al bonus</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asíncrono.</a:t>
            </a:r>
          </a:p>
        </p:txBody>
      </p:sp>
      <p:sp>
        <p:nvSpPr>
          <p:cNvPr id="31" name="concept-node">
            <a:extLst xmlns:a="http://schemas.openxmlformats.org/drawingml/2006/main">
              <a:ext uri="{FF2B5EF4-FFF2-40B4-BE49-F238E27FC236}">
                <a16:creationId xmlns:a16="http://schemas.microsoft.com/office/drawing/2014/main" id="{BA34FABF-7D14-41DD-9C98-AE4B9F37EF3A}"/>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A9508BB6-0068-4EAA-8245-9486A8525FAE}"/>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A36CDDB2-7985-414A-A05E-8E898A56135E}"/>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A8A2C488-0C18-49FC-83EE-1B2E6782F8A9}"/>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2DB48DE4-1E9B-4CFC-809B-A5891427D046}"/>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Continuar</a:t>
            </a:r>
          </a:p>
        </p:txBody>
      </p:sp>
      <p:sp>
        <p:nvSpPr>
          <p:cNvPr id="36" name="node-body">
            <a:extLst xmlns:a="http://schemas.openxmlformats.org/drawingml/2006/main">
              <a:ext uri="{FF2B5EF4-FFF2-40B4-BE49-F238E27FC236}">
                <a16:creationId xmlns:a16="http://schemas.microsoft.com/office/drawing/2014/main" id="{49214C38-6C63-4A63-A9A3-E9A7896588B0}"/>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Completar las cuentas y</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verificaciones requeridas para</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S1.</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A8812170-BBE1-4581-AE94-6C1B6E6DC04D}"/>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F7AE5E32-3CFE-4DB5-A63A-9DA71E1B1932}"/>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BB8BB9C7-A8C7-458D-BD1F-4DBBCE2084F7}"/>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Las tres cuentas tienen responsabilidades distintas; no son intercambiables.</a:t>
            </a:r>
          </a:p>
        </p:txBody>
      </p:sp>
      <p:sp>
        <p:nvSpPr>
          <p:cNvPr id="42" name="panel">
            <a:extLst xmlns:a="http://schemas.openxmlformats.org/drawingml/2006/main">
              <a:ext uri="{FF2B5EF4-FFF2-40B4-BE49-F238E27FC236}">
                <a16:creationId xmlns:a16="http://schemas.microsoft.com/office/drawing/2014/main" id="{AFC1C0B7-CEF0-4F0A-8871-714A4F72AFF4}"/>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BD39A439-E253-478B-97AF-2405418372F8}"/>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Preparar accesos ahora evita bloquear los laboratorios posteriores.</a:t>
            </a:r>
          </a:p>
        </p:txBody>
      </p:sp>
    </p:spTree>
    <p:extLst>
      <p:ext uri="{BB962C8B-B14F-4D97-AF65-F5344CB8AC3E}">
        <p14:creationId xmlns:p14="http://schemas.microsoft.com/office/powerpoint/2010/main" val="655859294"/>
      </p:ext>
    </p:extLst>
  </p:cSld>
</p:sld>
</file>

<file path=ppt/slides/slide58.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3C180DC7-D1A0-4C50-895D-EFF0B039A8EC}"/>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4995D79-7519-4119-834E-E0688D33F20D}"/>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7378833D-8FD6-446E-A4DD-A27647535DD5}"/>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20</a:t>
            </a:r>
          </a:p>
        </p:txBody>
      </p:sp>
      <p:sp>
        <p:nvSpPr>
          <p:cNvPr id="4" name="breadcrumb">
            <a:extLst xmlns:a="http://schemas.openxmlformats.org/drawingml/2006/main">
              <a:ext uri="{FF2B5EF4-FFF2-40B4-BE49-F238E27FC236}">
                <a16:creationId xmlns:a16="http://schemas.microsoft.com/office/drawing/2014/main" id="{7D1A7238-5CE9-4E47-A39D-47C920E13F76}"/>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20</a:t>
            </a:r>
          </a:p>
        </p:txBody>
      </p:sp>
      <p:sp>
        <p:nvSpPr>
          <p:cNvPr id="5" name="slide-title">
            <a:extLst xmlns:a="http://schemas.openxmlformats.org/drawingml/2006/main">
              <a:ext uri="{FF2B5EF4-FFF2-40B4-BE49-F238E27FC236}">
                <a16:creationId xmlns:a16="http://schemas.microsoft.com/office/drawing/2014/main" id="{1702FD2D-2C27-4742-9C7E-2EF8C03A42EC}"/>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Diagnóstico por capas</a:t>
            </a:r>
          </a:p>
        </p:txBody>
      </p:sp>
      <p:sp>
        <p:nvSpPr>
          <p:cNvPr id="6" name="learning-purpose">
            <a:extLst xmlns:a="http://schemas.openxmlformats.org/drawingml/2006/main">
              <a:ext uri="{FF2B5EF4-FFF2-40B4-BE49-F238E27FC236}">
                <a16:creationId xmlns:a16="http://schemas.microsoft.com/office/drawing/2014/main" id="{C20C4C4E-F1A1-408F-AA7E-CD3CFFD8D021}"/>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Pasar del síntoma a una comprobación específica antes de cambiar código.</a:t>
            </a:r>
          </a:p>
        </p:txBody>
      </p:sp>
      <p:sp>
        <p:nvSpPr>
          <p:cNvPr id="7" name="panel">
            <a:extLst xmlns:a="http://schemas.openxmlformats.org/drawingml/2006/main">
              <a:ext uri="{FF2B5EF4-FFF2-40B4-BE49-F238E27FC236}">
                <a16:creationId xmlns:a16="http://schemas.microsoft.com/office/drawing/2014/main" id="{8B703402-A4F8-4D5B-A7D0-DE3696C04253}"/>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3EEAF038-616E-4440-AAC8-AB0F5450E243}"/>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3C353248-C44A-44C6-8227-4AB85A1766B3}"/>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AFB320EC-F2AE-4FFE-B288-60BAD27A0F1F}"/>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7070B7E1-BA11-4448-A77B-3F6E1A5AD9A2}"/>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05F0E8EA-D948-4965-ADA1-A159432A8083}"/>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19730CB0-F2C0-4216-9544-A488921AC25D}"/>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C20</a:t>
            </a:r>
          </a:p>
        </p:txBody>
      </p:sp>
      <p:sp>
        <p:nvSpPr>
          <p:cNvPr id="14" name="folio">
            <a:extLst xmlns:a="http://schemas.openxmlformats.org/drawingml/2006/main">
              <a:ext uri="{FF2B5EF4-FFF2-40B4-BE49-F238E27FC236}">
                <a16:creationId xmlns:a16="http://schemas.microsoft.com/office/drawing/2014/main" id="{ECFF3A4E-0041-4677-A850-F118C0152611}"/>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58</a:t>
            </a:r>
          </a:p>
        </p:txBody>
      </p:sp>
      <p:sp>
        <p:nvSpPr>
          <p:cNvPr id="15" name="section-label">
            <a:extLst xmlns:a="http://schemas.openxmlformats.org/drawingml/2006/main">
              <a:ext uri="{FF2B5EF4-FFF2-40B4-BE49-F238E27FC236}">
                <a16:creationId xmlns:a16="http://schemas.microsoft.com/office/drawing/2014/main" id="{8DF23AA8-54AA-49C7-B4F5-235D88E387E6}"/>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SEGUIR LA RELACIÓN ENTRE LAS PIEZAS</a:t>
            </a:r>
          </a:p>
        </p:txBody>
      </p:sp>
      <p:sp>
        <p:nvSpPr>
          <p:cNvPr id="16" name="concept-node">
            <a:extLst xmlns:a="http://schemas.openxmlformats.org/drawingml/2006/main">
              <a:ext uri="{FF2B5EF4-FFF2-40B4-BE49-F238E27FC236}">
                <a16:creationId xmlns:a16="http://schemas.microsoft.com/office/drawing/2014/main" id="{AFE94258-B490-48B1-93C6-019E9C90F443}"/>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94F3A786-6340-411B-ABAB-81D390F481F5}"/>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A1109A8-35E2-4AAB-BC6B-E841D3992340}"/>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A80C3313-A29A-4FCB-9B39-F19666050F97}"/>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6256DCCE-846F-4DD8-ABD4-8542E1E8E0F5}"/>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Entorno</a:t>
            </a:r>
          </a:p>
        </p:txBody>
      </p:sp>
      <p:sp>
        <p:nvSpPr>
          <p:cNvPr id="21" name="node-body">
            <a:extLst xmlns:a="http://schemas.openxmlformats.org/drawingml/2006/main">
              <a:ext uri="{FF2B5EF4-FFF2-40B4-BE49-F238E27FC236}">
                <a16:creationId xmlns:a16="http://schemas.microsoft.com/office/drawing/2014/main" id="{54D866E5-AC48-4615-B9E5-3306F83D0C52}"/>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Imports, directorio actual y</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dependencias.</a:t>
            </a:r>
          </a:p>
        </p:txBody>
      </p:sp>
      <p:sp>
        <p:nvSpPr>
          <p:cNvPr id="22" name="concept-node">
            <a:extLst xmlns:a="http://schemas.openxmlformats.org/drawingml/2006/main">
              <a:ext uri="{FF2B5EF4-FFF2-40B4-BE49-F238E27FC236}">
                <a16:creationId xmlns:a16="http://schemas.microsoft.com/office/drawing/2014/main" id="{58301EE7-E62F-4012-A484-2D74F31FB341}"/>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58F6BD90-5675-4427-BB2E-08795A86FFD0}"/>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7BF899D-3015-435F-A453-BCA4AE69ED70}"/>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608C732C-D88C-4FEC-9D6B-D09888278BB0}"/>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81238EB4-1FC0-4C16-B840-43F2C6D1D2BB}"/>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Configuración</a:t>
            </a:r>
          </a:p>
        </p:txBody>
      </p:sp>
      <p:sp>
        <p:nvSpPr>
          <p:cNvPr id="27" name="node-body">
            <a:extLst xmlns:a="http://schemas.openxmlformats.org/drawingml/2006/main">
              <a:ext uri="{FF2B5EF4-FFF2-40B4-BE49-F238E27FC236}">
                <a16:creationId xmlns:a16="http://schemas.microsoft.com/office/drawing/2014/main" id="{9EB75F1B-4805-4A34-9D97-8211EEBFEE69}"/>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Variables, credenciales y</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selección de proveedor.</a:t>
            </a:r>
          </a:p>
        </p:txBody>
      </p:sp>
      <p:sp>
        <p:nvSpPr>
          <p:cNvPr id="28" name="concept-node">
            <a:extLst xmlns:a="http://schemas.openxmlformats.org/drawingml/2006/main">
              <a:ext uri="{FF2B5EF4-FFF2-40B4-BE49-F238E27FC236}">
                <a16:creationId xmlns:a16="http://schemas.microsoft.com/office/drawing/2014/main" id="{DD7A6FAA-7F59-4173-B323-414323417723}"/>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67498783-1A1C-4C48-81DE-B325E0C96556}"/>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21623F08-0C36-4066-80CC-FA68ABE0B2B4}"/>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9DBE85E3-9422-46C6-98A5-B169603D04E3}"/>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CA402016-080E-401E-915A-3095F9DAA2BE}"/>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Servicio</a:t>
            </a:r>
          </a:p>
        </p:txBody>
      </p:sp>
      <p:sp>
        <p:nvSpPr>
          <p:cNvPr id="33" name="node-body">
            <a:extLst xmlns:a="http://schemas.openxmlformats.org/drawingml/2006/main">
              <a:ext uri="{FF2B5EF4-FFF2-40B4-BE49-F238E27FC236}">
                <a16:creationId xmlns:a16="http://schemas.microsoft.com/office/drawing/2014/main" id="{CD4EB3D8-5310-41C1-B89E-5F32E453CE6C}"/>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Permisos, conectividad,</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cuota o disponibilidad.</a:t>
            </a:r>
          </a:p>
        </p:txBody>
      </p:sp>
      <p:cxnSp>
        <p:nvCxnSpPr>
          <p:cNvPr id="77" name=""/>
          <p:cNvCxnSpPr>
            <a:stCxn xmlns:a="http://schemas.openxmlformats.org/drawingml/2006/main" id="16" idx="3"/>
            <a:endCxn xmlns:a="http://schemas.openxmlformats.org/drawingml/2006/main" id="22" idx="1"/>
          </p:cNvCxnSpPr>
          <p:nvPr/>
        </p:nvCxnSpPr>
        <p:spPr>
          <a:xfrm xmlns:a="http://schemas.openxmlformats.org/drawingml/2006/main">
            <a:off x="495300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78" name=""/>
          <p:cNvCxnSpPr>
            <a:stCxn xmlns:a="http://schemas.openxmlformats.org/drawingml/2006/main" id="22" idx="3"/>
            <a:endCxn xmlns:a="http://schemas.openxmlformats.org/drawingml/2006/main" id="28" idx="1"/>
          </p:cNvCxnSpPr>
          <p:nvPr/>
        </p:nvCxnSpPr>
        <p:spPr>
          <a:xfrm xmlns:a="http://schemas.openxmlformats.org/drawingml/2006/main">
            <a:off x="981075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6" name="panel">
            <a:extLst xmlns:a="http://schemas.openxmlformats.org/drawingml/2006/main">
              <a:ext uri="{FF2B5EF4-FFF2-40B4-BE49-F238E27FC236}">
                <a16:creationId xmlns:a16="http://schemas.microsoft.com/office/drawing/2014/main" id="{8D5072FA-2540-4E0D-828A-452BBC95419F}"/>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7" name="section-label">
            <a:extLst xmlns:a="http://schemas.openxmlformats.org/drawingml/2006/main">
              <a:ext uri="{FF2B5EF4-FFF2-40B4-BE49-F238E27FC236}">
                <a16:creationId xmlns:a16="http://schemas.microsoft.com/office/drawing/2014/main" id="{120356B2-352F-4710-BDA5-B182BEBA3916}"/>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8" name="concept-question">
            <a:extLst xmlns:a="http://schemas.openxmlformats.org/drawingml/2006/main">
              <a:ext uri="{FF2B5EF4-FFF2-40B4-BE49-F238E27FC236}">
                <a16:creationId xmlns:a16="http://schemas.microsoft.com/office/drawing/2014/main" id="{582DAFCC-893A-4F93-B9F4-DDDE7CF95FC9}"/>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¿Qué prueba permite saber si el modelo llegó a recibir una</a:t>
            </a:r>
          </a:p>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llamada?</a:t>
            </a:r>
          </a:p>
        </p:txBody>
      </p:sp>
      <p:sp>
        <p:nvSpPr>
          <p:cNvPr id="39" name="panel">
            <a:extLst xmlns:a="http://schemas.openxmlformats.org/drawingml/2006/main">
              <a:ext uri="{FF2B5EF4-FFF2-40B4-BE49-F238E27FC236}">
                <a16:creationId xmlns:a16="http://schemas.microsoft.com/office/drawing/2014/main" id="{A7093C90-F6A4-4FBE-90ED-12C0788046D2}"/>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40" name="misconception-label">
            <a:extLst xmlns:a="http://schemas.openxmlformats.org/drawingml/2006/main">
              <a:ext uri="{FF2B5EF4-FFF2-40B4-BE49-F238E27FC236}">
                <a16:creationId xmlns:a16="http://schemas.microsoft.com/office/drawing/2014/main" id="{B0130FBC-F7F1-42C9-9FCF-216506093398}"/>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41" name="misconception">
            <a:extLst xmlns:a="http://schemas.openxmlformats.org/drawingml/2006/main">
              <a:ext uri="{FF2B5EF4-FFF2-40B4-BE49-F238E27FC236}">
                <a16:creationId xmlns:a16="http://schemas.microsoft.com/office/drawing/2014/main" id="{8CAA7F9A-887D-469A-89A1-138CAED720A3}"/>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Atribuir cualquier error al proveedor</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externo.</a:t>
            </a:r>
          </a:p>
        </p:txBody>
      </p:sp>
      <p:sp>
        <p:nvSpPr>
          <p:cNvPr id="42" name="panel">
            <a:extLst xmlns:a="http://schemas.openxmlformats.org/drawingml/2006/main">
              <a:ext uri="{FF2B5EF4-FFF2-40B4-BE49-F238E27FC236}">
                <a16:creationId xmlns:a16="http://schemas.microsoft.com/office/drawing/2014/main" id="{91001802-72D4-4518-9602-3871850F2A96}"/>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77F1CE5D-B227-4DDE-884B-04E7F550663E}"/>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Diagnosticar por capas reduce cambios innecesarios.</a:t>
            </a:r>
          </a:p>
        </p:txBody>
      </p:sp>
    </p:spTree>
    <p:extLst>
      <p:ext uri="{BB962C8B-B14F-4D97-AF65-F5344CB8AC3E}">
        <p14:creationId xmlns:p14="http://schemas.microsoft.com/office/powerpoint/2010/main" val="1009482785"/>
      </p:ext>
    </p:extLst>
  </p:cSld>
</p:sld>
</file>

<file path=ppt/slides/slide59.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C718A82E-431C-40F7-A8BC-948D4AEC16AD}"/>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842E166-3549-4810-9158-67B529F14A85}"/>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7DC344E2-2E70-42E6-8834-F441975A8AD8}"/>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20</a:t>
            </a:r>
          </a:p>
        </p:txBody>
      </p:sp>
      <p:sp>
        <p:nvSpPr>
          <p:cNvPr id="4" name="breadcrumb">
            <a:extLst xmlns:a="http://schemas.openxmlformats.org/drawingml/2006/main">
              <a:ext uri="{FF2B5EF4-FFF2-40B4-BE49-F238E27FC236}">
                <a16:creationId xmlns:a16="http://schemas.microsoft.com/office/drawing/2014/main" id="{75951516-6A7A-4F2F-A6BF-26B0DF3D3EC9}"/>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20</a:t>
            </a:r>
          </a:p>
        </p:txBody>
      </p:sp>
      <p:sp>
        <p:nvSpPr>
          <p:cNvPr id="5" name="slide-title">
            <a:extLst xmlns:a="http://schemas.openxmlformats.org/drawingml/2006/main">
              <a:ext uri="{FF2B5EF4-FFF2-40B4-BE49-F238E27FC236}">
                <a16:creationId xmlns:a16="http://schemas.microsoft.com/office/drawing/2014/main" id="{67AA6F88-7D43-400E-91FC-4F89B7832B56}"/>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Una hipótesis por vez</a:t>
            </a:r>
          </a:p>
        </p:txBody>
      </p:sp>
      <p:sp>
        <p:nvSpPr>
          <p:cNvPr id="6" name="learning-purpose">
            <a:extLst xmlns:a="http://schemas.openxmlformats.org/drawingml/2006/main">
              <a:ext uri="{FF2B5EF4-FFF2-40B4-BE49-F238E27FC236}">
                <a16:creationId xmlns:a16="http://schemas.microsoft.com/office/drawing/2014/main" id="{74C14443-72B0-4DB5-B301-F60C2827C8DC}"/>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Pasar del síntoma a una comprobación específica antes de cambiar código.</a:t>
            </a:r>
          </a:p>
        </p:txBody>
      </p:sp>
      <p:sp>
        <p:nvSpPr>
          <p:cNvPr id="7" name="panel">
            <a:extLst xmlns:a="http://schemas.openxmlformats.org/drawingml/2006/main">
              <a:ext uri="{FF2B5EF4-FFF2-40B4-BE49-F238E27FC236}">
                <a16:creationId xmlns:a16="http://schemas.microsoft.com/office/drawing/2014/main" id="{C8F183A7-C9D8-453C-B72F-9BA625981E83}"/>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8568A14C-AA87-47DA-8E61-E667E0CE488B}"/>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A6D5476E-E7A1-4138-ACFE-FF846EDB277B}"/>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9CC8E6DE-1D74-4155-A23B-708242E509DF}"/>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9DC8FCF6-650C-452A-AFD6-52843821C68A}"/>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A822E905-B3DE-4220-B677-A2F33D4E259B}"/>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71A39101-EE4E-432A-9B0B-8056DFAEE663}"/>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C20</a:t>
            </a:r>
          </a:p>
        </p:txBody>
      </p:sp>
      <p:sp>
        <p:nvSpPr>
          <p:cNvPr id="14" name="folio">
            <a:extLst xmlns:a="http://schemas.openxmlformats.org/drawingml/2006/main">
              <a:ext uri="{FF2B5EF4-FFF2-40B4-BE49-F238E27FC236}">
                <a16:creationId xmlns:a16="http://schemas.microsoft.com/office/drawing/2014/main" id="{3C235B88-0A00-4F4E-8CC9-357E9A70CD5A}"/>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59</a:t>
            </a:r>
          </a:p>
        </p:txBody>
      </p:sp>
      <p:sp>
        <p:nvSpPr>
          <p:cNvPr id="15" name="section-label">
            <a:extLst xmlns:a="http://schemas.openxmlformats.org/drawingml/2006/main">
              <a:ext uri="{FF2B5EF4-FFF2-40B4-BE49-F238E27FC236}">
                <a16:creationId xmlns:a16="http://schemas.microsoft.com/office/drawing/2014/main" id="{ECD47BBB-C83A-478B-A4CB-3EEA59993DC6}"/>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Observar</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Copiar el tipo de error sin secretos.</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Aislar</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Comprobar la capa más próxima al síntoma.</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Repetir</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Cambiar una causa y ejecutar la misma prueba.</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E0EAEDDB-370F-462E-87F1-81F7FC77D5D4}"/>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290BE61E-47B7-4F6F-9CD6-AA0646CEA683}"/>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F9B69AD5-B314-4E6B-8879-ECED3EC1E498}"/>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Atribuir cualquier error al</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proveedor externo.</a:t>
            </a:r>
          </a:p>
        </p:txBody>
      </p:sp>
      <p:sp>
        <p:nvSpPr>
          <p:cNvPr id="20" name="development-prompt">
            <a:extLst xmlns:a="http://schemas.openxmlformats.org/drawingml/2006/main">
              <a:ext uri="{FF2B5EF4-FFF2-40B4-BE49-F238E27FC236}">
                <a16:creationId xmlns:a16="http://schemas.microsoft.com/office/drawing/2014/main" id="{C451BD03-C703-4B33-8B3A-D6825B1DA06E}"/>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CDEFD992-F18E-4C74-8C8B-8A1D5461FBDE}"/>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31121FC8-E0AD-4D13-B31C-4DE9071A67EE}"/>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00216308-4370-4EBA-9D09-4F79DC69D630}"/>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¿Qué prueba permite saber si el modelo llegó a recibir una llamada?</a:t>
            </a:r>
          </a:p>
        </p:txBody>
      </p:sp>
      <p:sp>
        <p:nvSpPr>
          <p:cNvPr id="24" name="panel">
            <a:extLst xmlns:a="http://schemas.openxmlformats.org/drawingml/2006/main">
              <a:ext uri="{FF2B5EF4-FFF2-40B4-BE49-F238E27FC236}">
                <a16:creationId xmlns:a16="http://schemas.microsoft.com/office/drawing/2014/main" id="{92D8DBA1-581D-4962-A830-F4F0957F1240}"/>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AB806D11-2B47-4E27-A7CA-6C594768B701}"/>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Diagnosticar por capas reduce cambios innecesarios.</a:t>
            </a:r>
          </a:p>
        </p:txBody>
      </p:sp>
    </p:spTree>
    <p:extLst>
      <p:ext uri="{BB962C8B-B14F-4D97-AF65-F5344CB8AC3E}">
        <p14:creationId xmlns:p14="http://schemas.microsoft.com/office/powerpoint/2010/main" val="2112380876"/>
      </p:ext>
    </p:extLst>
  </p:cSld>
</p:sld>
</file>

<file path=ppt/slides/slide60.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6990F91E-FA6B-487B-B124-51EFEA35EA8E}"/>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C4B659-1BB0-42C0-9EC5-9F3D63B457B8}"/>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88A67AEA-3705-4684-A6BE-1ECBC1344CE6}"/>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20</a:t>
            </a:r>
          </a:p>
        </p:txBody>
      </p:sp>
      <p:sp>
        <p:nvSpPr>
          <p:cNvPr id="4" name="breadcrumb">
            <a:extLst xmlns:a="http://schemas.openxmlformats.org/drawingml/2006/main">
              <a:ext uri="{FF2B5EF4-FFF2-40B4-BE49-F238E27FC236}">
                <a16:creationId xmlns:a16="http://schemas.microsoft.com/office/drawing/2014/main" id="{876141EB-1C52-461E-A52D-2C497D24DBDA}"/>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20</a:t>
            </a:r>
          </a:p>
        </p:txBody>
      </p:sp>
      <p:sp>
        <p:nvSpPr>
          <p:cNvPr id="5" name="slide-title">
            <a:extLst xmlns:a="http://schemas.openxmlformats.org/drawingml/2006/main">
              <a:ext uri="{FF2B5EF4-FFF2-40B4-BE49-F238E27FC236}">
                <a16:creationId xmlns:a16="http://schemas.microsoft.com/office/drawing/2014/main" id="{F859A3C8-0C87-4D26-9FF6-94ACFEA3B6C7}"/>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Diagnóstico por capas</a:t>
            </a:r>
          </a:p>
        </p:txBody>
      </p:sp>
      <p:sp>
        <p:nvSpPr>
          <p:cNvPr id="6" name="learning-purpose">
            <a:extLst xmlns:a="http://schemas.openxmlformats.org/drawingml/2006/main">
              <a:ext uri="{FF2B5EF4-FFF2-40B4-BE49-F238E27FC236}">
                <a16:creationId xmlns:a16="http://schemas.microsoft.com/office/drawing/2014/main" id="{20374B7A-D971-4E42-8897-5B20D18D4927}"/>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Pasar del síntoma a una comprobación específica antes de cambiar código.</a:t>
            </a:r>
          </a:p>
        </p:txBody>
      </p:sp>
      <p:sp>
        <p:nvSpPr>
          <p:cNvPr id="7" name="panel">
            <a:extLst xmlns:a="http://schemas.openxmlformats.org/drawingml/2006/main">
              <a:ext uri="{FF2B5EF4-FFF2-40B4-BE49-F238E27FC236}">
                <a16:creationId xmlns:a16="http://schemas.microsoft.com/office/drawing/2014/main" id="{3D507A39-0372-4342-8400-3CAC1E11A68C}"/>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53CC58F6-F8B3-4A6F-A5C1-6F2A4CCEB44C}"/>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9516FC3E-4D1B-46E7-968C-D9849C856DAA}"/>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6E5A0A32-2B28-41FB-9F73-A73D001BDBE4}"/>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09A4CC81-3497-4CFE-8B47-6BBE81D03597}"/>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2BE6711A-02F1-4D1A-9FFB-2E6704C470A0}"/>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7421A720-05A9-4F43-8AF9-994A8BF79E89}"/>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C20</a:t>
            </a:r>
          </a:p>
        </p:txBody>
      </p:sp>
      <p:sp>
        <p:nvSpPr>
          <p:cNvPr id="14" name="folio">
            <a:extLst xmlns:a="http://schemas.openxmlformats.org/drawingml/2006/main">
              <a:ext uri="{FF2B5EF4-FFF2-40B4-BE49-F238E27FC236}">
                <a16:creationId xmlns:a16="http://schemas.microsoft.com/office/drawing/2014/main" id="{36C1794F-E862-4FD2-B27C-270C29045000}"/>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60</a:t>
            </a:r>
          </a:p>
        </p:txBody>
      </p:sp>
      <p:sp>
        <p:nvSpPr>
          <p:cNvPr id="15" name="section-label">
            <a:extLst xmlns:a="http://schemas.openxmlformats.org/drawingml/2006/main">
              <a:ext uri="{FF2B5EF4-FFF2-40B4-BE49-F238E27FC236}">
                <a16:creationId xmlns:a16="http://schemas.microsoft.com/office/drawing/2014/main" id="{488A2B51-8558-45BB-93A9-48456841D728}"/>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ANDESMÓVIL · CASO DIDÁCTICO</a:t>
            </a:r>
          </a:p>
        </p:txBody>
      </p:sp>
      <p:sp>
        <p:nvSpPr>
          <p:cNvPr id="16" name="panel">
            <a:extLst xmlns:a="http://schemas.openxmlformats.org/drawingml/2006/main">
              <a:ext uri="{FF2B5EF4-FFF2-40B4-BE49-F238E27FC236}">
                <a16:creationId xmlns:a16="http://schemas.microsoft.com/office/drawing/2014/main" id="{1A2AEBA8-2922-4304-80AC-854B16C6CCC7}"/>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E1E00E81-5E39-4046-8EAB-6C18DC379C0E}"/>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B4F76B04-CEB4-4951-A882-A0D6154F4ECC}"/>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El script devuelve ModuleNotFoundError antes de llamar al modelo.</a:t>
            </a:r>
          </a:p>
        </p:txBody>
      </p:sp>
      <p:sp>
        <p:nvSpPr>
          <p:cNvPr id="19" name="concept-node">
            <a:extLst xmlns:a="http://schemas.openxmlformats.org/drawingml/2006/main">
              <a:ext uri="{FF2B5EF4-FFF2-40B4-BE49-F238E27FC236}">
                <a16:creationId xmlns:a16="http://schemas.microsoft.com/office/drawing/2014/main" id="{937CE400-2868-47D0-97E7-3B3B0D930E89}"/>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8F4807A6-40BC-4A99-BDBE-3C3C7B436595}"/>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34B184F-3F06-48AF-8876-E2791F20853C}"/>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F8067F26-0B37-454A-BD13-5BFD08822F89}"/>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3195CA09-FCCB-4844-AC8B-EFFF13C2FEAD}"/>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Localizar</a:t>
            </a:r>
          </a:p>
        </p:txBody>
      </p:sp>
      <p:sp>
        <p:nvSpPr>
          <p:cNvPr id="24" name="node-body">
            <a:extLst xmlns:a="http://schemas.openxmlformats.org/drawingml/2006/main">
              <a:ext uri="{FF2B5EF4-FFF2-40B4-BE49-F238E27FC236}">
                <a16:creationId xmlns:a16="http://schemas.microsoft.com/office/drawing/2014/main" id="{C1026C84-80FE-4341-B77C-351700221AF5}"/>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El fallo ocurre en un import</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local.</a:t>
            </a:r>
          </a:p>
        </p:txBody>
      </p:sp>
      <p:sp>
        <p:nvSpPr>
          <p:cNvPr id="25" name="concept-node">
            <a:extLst xmlns:a="http://schemas.openxmlformats.org/drawingml/2006/main">
              <a:ext uri="{FF2B5EF4-FFF2-40B4-BE49-F238E27FC236}">
                <a16:creationId xmlns:a16="http://schemas.microsoft.com/office/drawing/2014/main" id="{821FD13C-6D7D-4566-8CE4-6D7A8BB541CD}"/>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454E3AB3-CBC9-44A0-B02C-905F20479AEA}"/>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1073F60E-8BF1-4440-AD71-7D3459DE2343}"/>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4B3147BD-EE94-4FE6-9794-7DD14E796247}"/>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C71B8A17-C062-47BA-BD57-E51A70D48462}"/>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Corregir</a:t>
            </a:r>
          </a:p>
        </p:txBody>
      </p:sp>
      <p:sp>
        <p:nvSpPr>
          <p:cNvPr id="30" name="node-body">
            <a:extLst xmlns:a="http://schemas.openxmlformats.org/drawingml/2006/main">
              <a:ext uri="{FF2B5EF4-FFF2-40B4-BE49-F238E27FC236}">
                <a16:creationId xmlns:a16="http://schemas.microsoft.com/office/drawing/2014/main" id="{08235871-4451-455C-AB8F-66DB1912741A}"/>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Revisar raíz, intérprete y</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requirements.</a:t>
            </a:r>
          </a:p>
        </p:txBody>
      </p:sp>
      <p:sp>
        <p:nvSpPr>
          <p:cNvPr id="31" name="concept-node">
            <a:extLst xmlns:a="http://schemas.openxmlformats.org/drawingml/2006/main">
              <a:ext uri="{FF2B5EF4-FFF2-40B4-BE49-F238E27FC236}">
                <a16:creationId xmlns:a16="http://schemas.microsoft.com/office/drawing/2014/main" id="{82E17822-85B1-4F57-84B3-3BC392D994CE}"/>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837F5A7B-36F6-4567-8905-078663411C4D}"/>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320976EF-9E47-4AFF-99BF-F57477C4E44E}"/>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13D5F46F-C437-47EF-8EE9-B4C8F875DA96}"/>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34535050-C999-4711-8508-661F75A16D59}"/>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Confirmar</a:t>
            </a:r>
          </a:p>
        </p:txBody>
      </p:sp>
      <p:sp>
        <p:nvSpPr>
          <p:cNvPr id="36" name="node-body">
            <a:extLst xmlns:a="http://schemas.openxmlformats.org/drawingml/2006/main">
              <a:ext uri="{FF2B5EF4-FFF2-40B4-BE49-F238E27FC236}">
                <a16:creationId xmlns:a16="http://schemas.microsoft.com/office/drawing/2014/main" id="{6285B5D7-2748-4A4C-A724-29B547F2173F}"/>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Volver a ejecutar antes de tocar</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 configuración del modelo.</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1990F89C-F227-4E03-A906-5FAAC5F55D19}"/>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4D3C201B-BC88-4979-8499-A08C3BC8FB33}"/>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175F29F9-A6E1-4498-B88C-AE2AE2AE107D}"/>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Un error anterior a la llamada no se resuelve cambiando la temperatura.</a:t>
            </a:r>
          </a:p>
        </p:txBody>
      </p:sp>
      <p:sp>
        <p:nvSpPr>
          <p:cNvPr id="42" name="panel">
            <a:extLst xmlns:a="http://schemas.openxmlformats.org/drawingml/2006/main">
              <a:ext uri="{FF2B5EF4-FFF2-40B4-BE49-F238E27FC236}">
                <a16:creationId xmlns:a16="http://schemas.microsoft.com/office/drawing/2014/main" id="{CEE283B7-6446-42B3-BE36-7396EA36CB0F}"/>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2C2DE0F3-C132-42B0-A9EB-F68EC6A382EE}"/>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Diagnosticar por capas reduce cambios innecesarios.</a:t>
            </a:r>
          </a:p>
        </p:txBody>
      </p:sp>
    </p:spTree>
    <p:extLst>
      <p:ext uri="{BB962C8B-B14F-4D97-AF65-F5344CB8AC3E}">
        <p14:creationId xmlns:p14="http://schemas.microsoft.com/office/powerpoint/2010/main" val="1921240677"/>
      </p:ext>
    </p:extLst>
  </p:cSld>
</p:sld>
</file>

<file path=ppt/slides/slide61.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2" name="header">
            <a:extLst xmlns:a="http://schemas.openxmlformats.org/drawingml/2006/main">
              <a:ext uri="{FF2B5EF4-FFF2-40B4-BE49-F238E27FC236}">
                <a16:creationId xmlns:a16="http://schemas.microsoft.com/office/drawing/2014/main" id="{A66B7ABA-485E-46F5-A8B6-3BFD1DCE16F7}"/>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F5C72F8-9CF6-49AB-A938-7F526C4C2B05}"/>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B2F2B583-A458-4235-B4A4-42FC90EB0A57}"/>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21</a:t>
            </a:r>
          </a:p>
        </p:txBody>
      </p:sp>
      <p:sp>
        <p:nvSpPr>
          <p:cNvPr id="4" name="breadcrumb">
            <a:extLst xmlns:a="http://schemas.openxmlformats.org/drawingml/2006/main">
              <a:ext uri="{FF2B5EF4-FFF2-40B4-BE49-F238E27FC236}">
                <a16:creationId xmlns:a16="http://schemas.microsoft.com/office/drawing/2014/main" id="{76E7D49C-99BE-467C-BFFE-EA85BA4C1DEF}"/>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21</a:t>
            </a:r>
          </a:p>
        </p:txBody>
      </p:sp>
      <p:sp>
        <p:nvSpPr>
          <p:cNvPr id="5" name="slide-title">
            <a:extLst xmlns:a="http://schemas.openxmlformats.org/drawingml/2006/main">
              <a:ext uri="{FF2B5EF4-FFF2-40B4-BE49-F238E27FC236}">
                <a16:creationId xmlns:a16="http://schemas.microsoft.com/office/drawing/2014/main" id="{E0D9F111-F1DE-49B3-B2EC-D1F22D1ECE81}"/>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Cuatro demos para observar</a:t>
            </a:r>
          </a:p>
        </p:txBody>
      </p:sp>
      <p:sp>
        <p:nvSpPr>
          <p:cNvPr id="6" name="learning-purpose">
            <a:extLst xmlns:a="http://schemas.openxmlformats.org/drawingml/2006/main">
              <a:ext uri="{FF2B5EF4-FFF2-40B4-BE49-F238E27FC236}">
                <a16:creationId xmlns:a16="http://schemas.microsoft.com/office/drawing/2014/main" id="{9EDB96BF-F99C-4E10-90DF-12CC0519AEE9}"/>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Transformar conceptos en observaciones reproducibles y anotadas.</a:t>
            </a:r>
          </a:p>
        </p:txBody>
      </p:sp>
      <p:sp>
        <p:nvSpPr>
          <p:cNvPr id="7" name="panel">
            <a:extLst xmlns:a="http://schemas.openxmlformats.org/drawingml/2006/main">
              <a:ext uri="{FF2B5EF4-FFF2-40B4-BE49-F238E27FC236}">
                <a16:creationId xmlns:a16="http://schemas.microsoft.com/office/drawing/2014/main" id="{1A6EC9A8-7740-4ED7-8007-BEB4031C10B7}"/>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5E487FE8-C4FB-4FDD-A525-8B57430D27DE}"/>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DEFD6EB2-68DC-4B82-8B59-A26F4E72DA6A}"/>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ED71660D-3CF6-41E6-89AD-02EE5F1F4261}"/>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70B997C1-0278-47A2-A924-7C10B13AC877}"/>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20744A48-BAF6-40DD-BAF8-B94B117E4593}"/>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9AEB97BA-166E-4C19-ADD1-0613BB23E894}"/>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C21</a:t>
            </a:r>
          </a:p>
        </p:txBody>
      </p:sp>
      <p:sp>
        <p:nvSpPr>
          <p:cNvPr id="14" name="folio">
            <a:extLst xmlns:a="http://schemas.openxmlformats.org/drawingml/2006/main">
              <a:ext uri="{FF2B5EF4-FFF2-40B4-BE49-F238E27FC236}">
                <a16:creationId xmlns:a16="http://schemas.microsoft.com/office/drawing/2014/main" id="{5E9A9DF3-A560-429F-9D99-A7D26901A3BB}"/>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61</a:t>
            </a:r>
          </a:p>
        </p:txBody>
      </p:sp>
      <p:sp>
        <p:nvSpPr>
          <p:cNvPr id="15" name="section-label">
            <a:extLst xmlns:a="http://schemas.openxmlformats.org/drawingml/2006/main">
              <a:ext uri="{FF2B5EF4-FFF2-40B4-BE49-F238E27FC236}">
                <a16:creationId xmlns:a16="http://schemas.microsoft.com/office/drawing/2014/main" id="{735B9C8C-FF7E-4CB6-9B86-106326A0CC24}"/>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COMPARAR RESPONSABILIDADES</a:t>
            </a:r>
          </a:p>
        </p:txBody>
      </p:sp>
      <p:sp>
        <p:nvSpPr>
          <p:cNvPr id="16" name="concept-node">
            <a:extLst xmlns:a="http://schemas.openxmlformats.org/drawingml/2006/main">
              <a:ext uri="{FF2B5EF4-FFF2-40B4-BE49-F238E27FC236}">
                <a16:creationId xmlns:a16="http://schemas.microsoft.com/office/drawing/2014/main" id="{1DED9970-3858-4929-8D7D-790271C807FD}"/>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199DD9D4-5024-4C1E-8713-2CDA32D8F7E1}"/>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CDB152DD-689A-417A-AE13-C6B5C57FC7AF}"/>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DAF552AE-ED0F-479B-B31B-D33F4F5AAE0E}"/>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B96CB040-D0B3-40D1-97BD-670AAEAB4F9E}"/>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Tokens y temperatura</a:t>
            </a:r>
          </a:p>
        </p:txBody>
      </p:sp>
      <p:sp>
        <p:nvSpPr>
          <p:cNvPr id="21" name="node-body">
            <a:extLst xmlns:a="http://schemas.openxmlformats.org/drawingml/2006/main">
              <a:ext uri="{FF2B5EF4-FFF2-40B4-BE49-F238E27FC236}">
                <a16:creationId xmlns:a16="http://schemas.microsoft.com/office/drawing/2014/main" id="{85F1D55B-E9AD-4D55-B4F9-DCF4197C21D8}"/>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Observar conteo y variación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de generación.</a:t>
            </a:r>
          </a:p>
        </p:txBody>
      </p:sp>
      <p:sp>
        <p:nvSpPr>
          <p:cNvPr id="22" name="concept-node">
            <a:extLst xmlns:a="http://schemas.openxmlformats.org/drawingml/2006/main">
              <a:ext uri="{FF2B5EF4-FFF2-40B4-BE49-F238E27FC236}">
                <a16:creationId xmlns:a16="http://schemas.microsoft.com/office/drawing/2014/main" id="{0A945EE9-73A6-4E32-988C-8DB9C53A9C5E}"/>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2E7804EF-C078-4CC8-A5A9-9C5A6228B82E}"/>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D1BD97D7-CDF6-43F9-B3F6-999D70261365}"/>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A24D8CC4-5A2E-449B-91D0-61AE7DBD8EB5}"/>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80010B55-B9A8-4DB6-8E1E-20088EA57769}"/>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Embeddings</a:t>
            </a:r>
          </a:p>
        </p:txBody>
      </p:sp>
      <p:sp>
        <p:nvSpPr>
          <p:cNvPr id="27" name="node-body">
            <a:extLst xmlns:a="http://schemas.openxmlformats.org/drawingml/2006/main">
              <a:ext uri="{FF2B5EF4-FFF2-40B4-BE49-F238E27FC236}">
                <a16:creationId xmlns:a16="http://schemas.microsoft.com/office/drawing/2014/main" id="{9146C7CA-09F1-415F-BB84-8A98E3E60E3E}"/>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Comparar representaciones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semánticas.</a:t>
            </a:r>
          </a:p>
        </p:txBody>
      </p:sp>
      <p:sp>
        <p:nvSpPr>
          <p:cNvPr id="28" name="concept-node">
            <a:extLst xmlns:a="http://schemas.openxmlformats.org/drawingml/2006/main">
              <a:ext uri="{FF2B5EF4-FFF2-40B4-BE49-F238E27FC236}">
                <a16:creationId xmlns:a16="http://schemas.microsoft.com/office/drawing/2014/main" id="{B6782803-3676-4B42-A4CC-AFE27C031126}"/>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4D893CAC-27D3-4B1E-A21B-9E4AC5F088AF}"/>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94B3714-968A-4C3C-8D1E-5E1994035B6A}"/>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441E42DE-7365-4D53-9E02-34C6E3523489}"/>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9B5BF59E-3126-4C05-8194-7B2ECE91C2E6}"/>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Costo</a:t>
            </a:r>
          </a:p>
        </p:txBody>
      </p:sp>
      <p:sp>
        <p:nvSpPr>
          <p:cNvPr id="33" name="node-body">
            <a:extLst xmlns:a="http://schemas.openxmlformats.org/drawingml/2006/main">
              <a:ext uri="{FF2B5EF4-FFF2-40B4-BE49-F238E27FC236}">
                <a16:creationId xmlns:a16="http://schemas.microsoft.com/office/drawing/2014/main" id="{FE30449D-142B-47B7-9A41-F298673226E5}"/>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Sumar entradas y salidas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con unidades explícitas.</a:t>
            </a:r>
          </a:p>
        </p:txBody>
      </p:sp>
      <p:sp>
        <p:nvSpPr>
          <p:cNvPr id="34" name="panel">
            <a:extLst xmlns:a="http://schemas.openxmlformats.org/drawingml/2006/main">
              <a:ext uri="{FF2B5EF4-FFF2-40B4-BE49-F238E27FC236}">
                <a16:creationId xmlns:a16="http://schemas.microsoft.com/office/drawing/2014/main" id="{90FA91C9-BC6C-4179-8BAF-44EC2C023847}"/>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5" name="section-label">
            <a:extLst xmlns:a="http://schemas.openxmlformats.org/drawingml/2006/main">
              <a:ext uri="{FF2B5EF4-FFF2-40B4-BE49-F238E27FC236}">
                <a16:creationId xmlns:a16="http://schemas.microsoft.com/office/drawing/2014/main" id="{88D78DEA-EFCB-444F-B61D-B2FCCF453B94}"/>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6" name="concept-question">
            <a:extLst xmlns:a="http://schemas.openxmlformats.org/drawingml/2006/main">
              <a:ext uri="{FF2B5EF4-FFF2-40B4-BE49-F238E27FC236}">
                <a16:creationId xmlns:a16="http://schemas.microsoft.com/office/drawing/2014/main" id="{649FAF59-00D6-4048-A64B-6DE9BBED5608}"/>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¿Qué conclusión sería excesiva a partir de una sola</a:t>
            </a:r>
          </a:p>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ejecución?</a:t>
            </a:r>
          </a:p>
        </p:txBody>
      </p:sp>
      <p:sp>
        <p:nvSpPr>
          <p:cNvPr id="37" name="panel">
            <a:extLst xmlns:a="http://schemas.openxmlformats.org/drawingml/2006/main">
              <a:ext uri="{FF2B5EF4-FFF2-40B4-BE49-F238E27FC236}">
                <a16:creationId xmlns:a16="http://schemas.microsoft.com/office/drawing/2014/main" id="{243CD862-475D-4857-8CEB-92BDB710A010}"/>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38" name="misconception-label">
            <a:extLst xmlns:a="http://schemas.openxmlformats.org/drawingml/2006/main">
              <a:ext uri="{FF2B5EF4-FFF2-40B4-BE49-F238E27FC236}">
                <a16:creationId xmlns:a16="http://schemas.microsoft.com/office/drawing/2014/main" id="{DC11062C-50AE-400C-846F-62EFA40FEB79}"/>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39" name="misconception">
            <a:extLst xmlns:a="http://schemas.openxmlformats.org/drawingml/2006/main">
              <a:ext uri="{FF2B5EF4-FFF2-40B4-BE49-F238E27FC236}">
                <a16:creationId xmlns:a16="http://schemas.microsoft.com/office/drawing/2014/main" id="{4396F3F2-A63A-47DB-825C-C623A5F3E638}"/>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Reportar resultados simulados o</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estimados como mediciones reales.</a:t>
            </a:r>
          </a:p>
        </p:txBody>
      </p:sp>
      <p:sp>
        <p:nvSpPr>
          <p:cNvPr id="40" name="panel">
            <a:extLst xmlns:a="http://schemas.openxmlformats.org/drawingml/2006/main">
              <a:ext uri="{FF2B5EF4-FFF2-40B4-BE49-F238E27FC236}">
                <a16:creationId xmlns:a16="http://schemas.microsoft.com/office/drawing/2014/main" id="{7F7636FC-CCA6-48F6-A97E-DB0576DB10C3}"/>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1" name="takeaway">
            <a:extLst xmlns:a="http://schemas.openxmlformats.org/drawingml/2006/main">
              <a:ext uri="{FF2B5EF4-FFF2-40B4-BE49-F238E27FC236}">
                <a16:creationId xmlns:a16="http://schemas.microsoft.com/office/drawing/2014/main" id="{B0B3CABF-64CC-46FB-9221-F5BAB20033C7}"/>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Ejecutar una demo es el inicio; explicar lo observado completa la actividad.</a:t>
            </a:r>
          </a:p>
        </p:txBody>
      </p:sp>
    </p:spTree>
    <p:extLst>
      <p:ext uri="{BB962C8B-B14F-4D97-AF65-F5344CB8AC3E}">
        <p14:creationId xmlns:p14="http://schemas.microsoft.com/office/powerpoint/2010/main" val="190312968"/>
      </p:ext>
    </p:extLst>
  </p:cSld>
</p:sld>
</file>

<file path=ppt/slides/slide62.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62B2205B-C312-4D70-B3B3-DBC7B880887A}"/>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FAAA50-D482-4E6F-93BE-38D3760199E3}"/>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8A5726EE-2CF0-4D6A-AAC7-619689167EE8}"/>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21</a:t>
            </a:r>
          </a:p>
        </p:txBody>
      </p:sp>
      <p:sp>
        <p:nvSpPr>
          <p:cNvPr id="4" name="breadcrumb">
            <a:extLst xmlns:a="http://schemas.openxmlformats.org/drawingml/2006/main">
              <a:ext uri="{FF2B5EF4-FFF2-40B4-BE49-F238E27FC236}">
                <a16:creationId xmlns:a16="http://schemas.microsoft.com/office/drawing/2014/main" id="{00D50457-1967-4085-AC45-F4218AB72B31}"/>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21</a:t>
            </a:r>
          </a:p>
        </p:txBody>
      </p:sp>
      <p:sp>
        <p:nvSpPr>
          <p:cNvPr id="5" name="slide-title">
            <a:extLst xmlns:a="http://schemas.openxmlformats.org/drawingml/2006/main">
              <a:ext uri="{FF2B5EF4-FFF2-40B4-BE49-F238E27FC236}">
                <a16:creationId xmlns:a16="http://schemas.microsoft.com/office/drawing/2014/main" id="{D6ED3191-3928-4103-B576-24B24AC04E0F}"/>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Qué registrar en cada demo</a:t>
            </a:r>
          </a:p>
        </p:txBody>
      </p:sp>
      <p:sp>
        <p:nvSpPr>
          <p:cNvPr id="6" name="learning-purpose">
            <a:extLst xmlns:a="http://schemas.openxmlformats.org/drawingml/2006/main">
              <a:ext uri="{FF2B5EF4-FFF2-40B4-BE49-F238E27FC236}">
                <a16:creationId xmlns:a16="http://schemas.microsoft.com/office/drawing/2014/main" id="{28A3BE45-24BD-4F20-B785-11698AA720E1}"/>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Transformar conceptos en observaciones reproducibles y anotadas.</a:t>
            </a:r>
          </a:p>
        </p:txBody>
      </p:sp>
      <p:sp>
        <p:nvSpPr>
          <p:cNvPr id="7" name="panel">
            <a:extLst xmlns:a="http://schemas.openxmlformats.org/drawingml/2006/main">
              <a:ext uri="{FF2B5EF4-FFF2-40B4-BE49-F238E27FC236}">
                <a16:creationId xmlns:a16="http://schemas.microsoft.com/office/drawing/2014/main" id="{02816F3C-0468-4267-8BF4-F95E49A6D4EB}"/>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53D783FC-200D-4CDA-A4CF-3FD6C75E2379}"/>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A59427E0-4144-4E65-9720-F068944FAA67}"/>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1212BAA2-39E6-49BC-810C-7128D811792E}"/>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90538D9E-16ED-4E8F-9C32-2EBCB48CBA43}"/>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6248D393-A291-4A74-9D23-B8EE10CD7437}"/>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6027798C-EDBC-49BD-B9CC-0EBC7F44A8BC}"/>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C21</a:t>
            </a:r>
          </a:p>
        </p:txBody>
      </p:sp>
      <p:sp>
        <p:nvSpPr>
          <p:cNvPr id="14" name="folio">
            <a:extLst xmlns:a="http://schemas.openxmlformats.org/drawingml/2006/main">
              <a:ext uri="{FF2B5EF4-FFF2-40B4-BE49-F238E27FC236}">
                <a16:creationId xmlns:a16="http://schemas.microsoft.com/office/drawing/2014/main" id="{AE37B82F-6DB9-47AB-816C-3BF0964C7D72}"/>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62</a:t>
            </a:r>
          </a:p>
        </p:txBody>
      </p:sp>
      <p:sp>
        <p:nvSpPr>
          <p:cNvPr id="15" name="section-label">
            <a:extLst xmlns:a="http://schemas.openxmlformats.org/drawingml/2006/main">
              <a:ext uri="{FF2B5EF4-FFF2-40B4-BE49-F238E27FC236}">
                <a16:creationId xmlns:a16="http://schemas.microsoft.com/office/drawing/2014/main" id="{CAF05143-453A-465D-ACAF-663AAE0DF0FB}"/>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Configuración</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Modelo, parámetros y modo real o estimado.</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Resultado</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Salida observada sin convertirla en regla universal.</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Interpretación</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Una conclusión y un límite de lo demostrado.</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6F51D4CE-8464-4433-9482-29A2BAE86CEE}"/>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6A5988EA-F2DF-49B7-9B71-4A2A94B26EDC}"/>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80CA1BF4-133C-45DC-8DFF-E2E923B05AC5}"/>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Reportar resultados</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simulados o estimados como</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mediciones reales.</a:t>
            </a:r>
          </a:p>
        </p:txBody>
      </p:sp>
      <p:sp>
        <p:nvSpPr>
          <p:cNvPr id="20" name="development-prompt">
            <a:extLst xmlns:a="http://schemas.openxmlformats.org/drawingml/2006/main">
              <a:ext uri="{FF2B5EF4-FFF2-40B4-BE49-F238E27FC236}">
                <a16:creationId xmlns:a16="http://schemas.microsoft.com/office/drawing/2014/main" id="{BAEE5190-9E49-4DEA-B732-DA7623DE7579}"/>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91EF2629-0A90-409C-BF35-EAD2B060E62A}"/>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A2AE3408-501D-4B19-A75B-5F619D7C30DD}"/>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B9C21201-71DA-4179-9AD8-478B39627547}"/>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¿Qué conclusión sería excesiva a partir de una sola ejecución?</a:t>
            </a:r>
          </a:p>
        </p:txBody>
      </p:sp>
      <p:sp>
        <p:nvSpPr>
          <p:cNvPr id="24" name="panel">
            <a:extLst xmlns:a="http://schemas.openxmlformats.org/drawingml/2006/main">
              <a:ext uri="{FF2B5EF4-FFF2-40B4-BE49-F238E27FC236}">
                <a16:creationId xmlns:a16="http://schemas.microsoft.com/office/drawing/2014/main" id="{35240AA9-DFAF-4B5E-8BCC-5F36FC54AE86}"/>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1B2953C3-6B15-4B13-8C25-9127D31DFC1A}"/>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Ejecutar una demo es el inicio; explicar lo observado completa la actividad.</a:t>
            </a:r>
          </a:p>
        </p:txBody>
      </p:sp>
    </p:spTree>
    <p:extLst>
      <p:ext uri="{BB962C8B-B14F-4D97-AF65-F5344CB8AC3E}">
        <p14:creationId xmlns:p14="http://schemas.microsoft.com/office/powerpoint/2010/main" val="1629845041"/>
      </p:ext>
    </p:extLst>
  </p:cSld>
</p:sld>
</file>

<file path=ppt/slides/slide63.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6146B455-F194-4581-ADAA-764DBB099CAC}"/>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24B001-CFA4-499B-AF1F-C5A0F4BF912A}"/>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0EE6ADA9-8D1D-4C8C-A3B3-D56C7466784E}"/>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21</a:t>
            </a:r>
          </a:p>
        </p:txBody>
      </p:sp>
      <p:sp>
        <p:nvSpPr>
          <p:cNvPr id="4" name="breadcrumb">
            <a:extLst xmlns:a="http://schemas.openxmlformats.org/drawingml/2006/main">
              <a:ext uri="{FF2B5EF4-FFF2-40B4-BE49-F238E27FC236}">
                <a16:creationId xmlns:a16="http://schemas.microsoft.com/office/drawing/2014/main" id="{D76A107D-56AB-4CB8-A707-143D09363D0E}"/>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21</a:t>
            </a:r>
          </a:p>
        </p:txBody>
      </p:sp>
      <p:sp>
        <p:nvSpPr>
          <p:cNvPr id="5" name="slide-title">
            <a:extLst xmlns:a="http://schemas.openxmlformats.org/drawingml/2006/main">
              <a:ext uri="{FF2B5EF4-FFF2-40B4-BE49-F238E27FC236}">
                <a16:creationId xmlns:a16="http://schemas.microsoft.com/office/drawing/2014/main" id="{71A2EF39-9DED-49C7-9352-D0E65C18A37B}"/>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Cuatro demos para observar</a:t>
            </a:r>
          </a:p>
        </p:txBody>
      </p:sp>
      <p:sp>
        <p:nvSpPr>
          <p:cNvPr id="6" name="learning-purpose">
            <a:extLst xmlns:a="http://schemas.openxmlformats.org/drawingml/2006/main">
              <a:ext uri="{FF2B5EF4-FFF2-40B4-BE49-F238E27FC236}">
                <a16:creationId xmlns:a16="http://schemas.microsoft.com/office/drawing/2014/main" id="{EA600239-460C-464E-9094-2A3D328FBA68}"/>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Transformar conceptos en observaciones reproducibles y anotadas.</a:t>
            </a:r>
          </a:p>
        </p:txBody>
      </p:sp>
      <p:sp>
        <p:nvSpPr>
          <p:cNvPr id="7" name="panel">
            <a:extLst xmlns:a="http://schemas.openxmlformats.org/drawingml/2006/main">
              <a:ext uri="{FF2B5EF4-FFF2-40B4-BE49-F238E27FC236}">
                <a16:creationId xmlns:a16="http://schemas.microsoft.com/office/drawing/2014/main" id="{7748545B-4BF1-4343-AE05-A6BB66463152}"/>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7B64E311-F506-45B8-BCC8-F33AAC4FD213}"/>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6B69B031-55D8-4F5F-8D2C-785222422527}"/>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7E149057-93F2-4577-9E67-6941A6EA57D5}"/>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5035C766-BC64-48F1-A95D-35262DD74ED8}"/>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72EC95E1-8605-49DA-BF09-B53CF3A69429}"/>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6654C493-D3DB-4D41-8210-983CF00EE5EC}"/>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C21</a:t>
            </a:r>
          </a:p>
        </p:txBody>
      </p:sp>
      <p:sp>
        <p:nvSpPr>
          <p:cNvPr id="14" name="folio">
            <a:extLst xmlns:a="http://schemas.openxmlformats.org/drawingml/2006/main">
              <a:ext uri="{FF2B5EF4-FFF2-40B4-BE49-F238E27FC236}">
                <a16:creationId xmlns:a16="http://schemas.microsoft.com/office/drawing/2014/main" id="{FB321923-9928-4D5E-B2E7-77189A93E4E2}"/>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63</a:t>
            </a:r>
          </a:p>
        </p:txBody>
      </p:sp>
      <p:sp>
        <p:nvSpPr>
          <p:cNvPr id="15" name="section-label">
            <a:extLst xmlns:a="http://schemas.openxmlformats.org/drawingml/2006/main">
              <a:ext uri="{FF2B5EF4-FFF2-40B4-BE49-F238E27FC236}">
                <a16:creationId xmlns:a16="http://schemas.microsoft.com/office/drawing/2014/main" id="{061AE65A-458B-4D16-82BB-68C283B5A3D9}"/>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ANDINA SEGUROS · CASO DIDÁCTICO</a:t>
            </a:r>
          </a:p>
        </p:txBody>
      </p:sp>
      <p:sp>
        <p:nvSpPr>
          <p:cNvPr id="16" name="panel">
            <a:extLst xmlns:a="http://schemas.openxmlformats.org/drawingml/2006/main">
              <a:ext uri="{FF2B5EF4-FFF2-40B4-BE49-F238E27FC236}">
                <a16:creationId xmlns:a16="http://schemas.microsoft.com/office/drawing/2014/main" id="{66E68120-6E79-48AF-9106-D4A2A2E84B9C}"/>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8502784E-5404-4A4C-8C53-3B6C51F151F3}"/>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DB9D17D3-CCB8-4017-9303-D0CE7B736DB7}"/>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Dos frases de seguros aparecen próximas en la demo de embeddings.</a:t>
            </a:r>
          </a:p>
        </p:txBody>
      </p:sp>
      <p:sp>
        <p:nvSpPr>
          <p:cNvPr id="19" name="concept-node">
            <a:extLst xmlns:a="http://schemas.openxmlformats.org/drawingml/2006/main">
              <a:ext uri="{FF2B5EF4-FFF2-40B4-BE49-F238E27FC236}">
                <a16:creationId xmlns:a16="http://schemas.microsoft.com/office/drawing/2014/main" id="{1C6AA10B-9F4F-4AEF-A99F-C01595CA41F5}"/>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6A8C9B67-ED1A-4C0A-A1AC-53B72DB05A0C}"/>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3244C7F8-DDF4-4341-8C97-00E5DB0CDB66}"/>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1B165675-9E15-4C8A-9567-60DD02B6B4EC}"/>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7EA1A74D-D8C3-4F44-9F7C-02567FD007E0}"/>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Observar</a:t>
            </a:r>
          </a:p>
        </p:txBody>
      </p:sp>
      <p:sp>
        <p:nvSpPr>
          <p:cNvPr id="24" name="node-body">
            <a:extLst xmlns:a="http://schemas.openxmlformats.org/drawingml/2006/main">
              <a:ext uri="{FF2B5EF4-FFF2-40B4-BE49-F238E27FC236}">
                <a16:creationId xmlns:a16="http://schemas.microsoft.com/office/drawing/2014/main" id="{840301F2-7E98-4BF2-8925-FA63F8925C76}"/>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La medida indica cercanía en</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esa representación.</a:t>
            </a:r>
          </a:p>
        </p:txBody>
      </p:sp>
      <p:sp>
        <p:nvSpPr>
          <p:cNvPr id="25" name="concept-node">
            <a:extLst xmlns:a="http://schemas.openxmlformats.org/drawingml/2006/main">
              <a:ext uri="{FF2B5EF4-FFF2-40B4-BE49-F238E27FC236}">
                <a16:creationId xmlns:a16="http://schemas.microsoft.com/office/drawing/2014/main" id="{B1927F1F-4849-4AD7-8DA9-03DBB5EA0E79}"/>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D202CE62-35BA-4D29-BC4A-28396C57314F}"/>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2C1C7F7C-8B51-4D0E-A5E1-F2EECCB0B9C7}"/>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D1687DC2-3794-4B3E-ABF8-5D96BA5F6E71}"/>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F8796C44-CA46-415F-A32B-1FCAF2B608BF}"/>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Interpretar</a:t>
            </a:r>
          </a:p>
        </p:txBody>
      </p:sp>
      <p:sp>
        <p:nvSpPr>
          <p:cNvPr id="30" name="node-body">
            <a:extLst xmlns:a="http://schemas.openxmlformats.org/drawingml/2006/main">
              <a:ext uri="{FF2B5EF4-FFF2-40B4-BE49-F238E27FC236}">
                <a16:creationId xmlns:a16="http://schemas.microsoft.com/office/drawing/2014/main" id="{3FBFF961-725A-40F7-A7CF-D2F75FB38B2F}"/>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Puede ayudar a recuperar texto</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relacionado.</a:t>
            </a:r>
          </a:p>
        </p:txBody>
      </p:sp>
      <p:sp>
        <p:nvSpPr>
          <p:cNvPr id="31" name="concept-node">
            <a:extLst xmlns:a="http://schemas.openxmlformats.org/drawingml/2006/main">
              <a:ext uri="{FF2B5EF4-FFF2-40B4-BE49-F238E27FC236}">
                <a16:creationId xmlns:a16="http://schemas.microsoft.com/office/drawing/2014/main" id="{56D72E0D-46E7-47A8-B74A-70CFA436A84A}"/>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E5E1EDC9-DB1C-4EF2-B7B8-4685417E35A7}"/>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4F394E64-58C7-4ADE-ADA7-6CE9B9E82FEE}"/>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570CD8C4-AD99-48A0-8E41-04DD4A1E4CE6}"/>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30819C34-4270-47E8-B2D4-EB8D32FA78AB}"/>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Limitar</a:t>
            </a:r>
          </a:p>
        </p:txBody>
      </p:sp>
      <p:sp>
        <p:nvSpPr>
          <p:cNvPr id="36" name="node-body">
            <a:extLst xmlns:a="http://schemas.openxmlformats.org/drawingml/2006/main">
              <a:ext uri="{FF2B5EF4-FFF2-40B4-BE49-F238E27FC236}">
                <a16:creationId xmlns:a16="http://schemas.microsoft.com/office/drawing/2014/main" id="{1655CC7D-DB23-44DF-970B-1320CA2F10CC}"/>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No demuestra que ambas</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pólizas tengan igual cobertura.</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6E9EA32A-A610-48FE-AE6F-6DC1D2F8F1A0}"/>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40B54C35-1824-4895-B62D-2BA3774E4CBA}"/>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5AD61487-0410-4A94-8DFE-BE72F03F38AD}"/>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La anotación útil explica tanto el hallazgo como su límite.</a:t>
            </a:r>
          </a:p>
        </p:txBody>
      </p:sp>
      <p:sp>
        <p:nvSpPr>
          <p:cNvPr id="42" name="panel">
            <a:extLst xmlns:a="http://schemas.openxmlformats.org/drawingml/2006/main">
              <a:ext uri="{FF2B5EF4-FFF2-40B4-BE49-F238E27FC236}">
                <a16:creationId xmlns:a16="http://schemas.microsoft.com/office/drawing/2014/main" id="{B0930A83-F34A-44DF-8AB2-44B3C37C48EC}"/>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AB5C4AF3-85FE-4D12-B7A3-319B483360EB}"/>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Ejecutar una demo es el inicio; explicar lo observado completa la actividad.</a:t>
            </a:r>
          </a:p>
        </p:txBody>
      </p:sp>
    </p:spTree>
    <p:extLst>
      <p:ext uri="{BB962C8B-B14F-4D97-AF65-F5344CB8AC3E}">
        <p14:creationId xmlns:p14="http://schemas.microsoft.com/office/powerpoint/2010/main" val="1252854593"/>
      </p:ext>
    </p:extLst>
  </p:cSld>
</p:sld>
</file>

<file path=ppt/slides/slide64.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412476DA-69E0-4FF9-9F06-7E0B32E5FE7E}"/>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7599D48-9F50-45E6-95F5-CD0A06F670AA}"/>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17FDE79A-6215-4DC9-9849-60893C1F24A6}"/>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22</a:t>
            </a:r>
          </a:p>
        </p:txBody>
      </p:sp>
      <p:sp>
        <p:nvSpPr>
          <p:cNvPr id="4" name="breadcrumb">
            <a:extLst xmlns:a="http://schemas.openxmlformats.org/drawingml/2006/main">
              <a:ext uri="{FF2B5EF4-FFF2-40B4-BE49-F238E27FC236}">
                <a16:creationId xmlns:a16="http://schemas.microsoft.com/office/drawing/2014/main" id="{0898E70A-8A04-402C-8DFE-31387D54E70B}"/>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22</a:t>
            </a:r>
          </a:p>
        </p:txBody>
      </p:sp>
      <p:sp>
        <p:nvSpPr>
          <p:cNvPr id="5" name="slide-title">
            <a:extLst xmlns:a="http://schemas.openxmlformats.org/drawingml/2006/main">
              <a:ext uri="{FF2B5EF4-FFF2-40B4-BE49-F238E27FC236}">
                <a16:creationId xmlns:a16="http://schemas.microsoft.com/office/drawing/2014/main" id="{D3CBE847-0124-43FE-A851-FDA3D590ED4D}"/>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Salida de S0 y siguiente paso</a:t>
            </a:r>
          </a:p>
        </p:txBody>
      </p:sp>
      <p:sp>
        <p:nvSpPr>
          <p:cNvPr id="6" name="learning-purpose">
            <a:extLst xmlns:a="http://schemas.openxmlformats.org/drawingml/2006/main">
              <a:ext uri="{FF2B5EF4-FFF2-40B4-BE49-F238E27FC236}">
                <a16:creationId xmlns:a16="http://schemas.microsoft.com/office/drawing/2014/main" id="{FCB37DD9-9D90-4AA1-8704-C593F3966C44}"/>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Comprobar comprensión y corregir vacíos antes de construir agentes.</a:t>
            </a:r>
          </a:p>
        </p:txBody>
      </p:sp>
      <p:sp>
        <p:nvSpPr>
          <p:cNvPr id="7" name="panel">
            <a:extLst xmlns:a="http://schemas.openxmlformats.org/drawingml/2006/main">
              <a:ext uri="{FF2B5EF4-FFF2-40B4-BE49-F238E27FC236}">
                <a16:creationId xmlns:a16="http://schemas.microsoft.com/office/drawing/2014/main" id="{C31DAC0D-2E03-4604-B23E-9B89907A6588}"/>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ACC676B4-5AF7-479F-8682-5A52E8471F13}"/>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4B0CFAE3-54B0-44BA-9DF4-DF2F2D539632}"/>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A019D122-307A-4487-BDC1-1AB3A9A36D86}"/>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E1AD6F73-411E-4CA8-BF10-3A0566A2DD15}"/>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EB4F4987-2EF1-4EAB-8F85-1E019A3B9889}"/>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39AFE161-8EF9-45F2-A8CC-BCADF673F57A}"/>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C22</a:t>
            </a:r>
          </a:p>
        </p:txBody>
      </p:sp>
      <p:sp>
        <p:nvSpPr>
          <p:cNvPr id="14" name="folio">
            <a:extLst xmlns:a="http://schemas.openxmlformats.org/drawingml/2006/main">
              <a:ext uri="{FF2B5EF4-FFF2-40B4-BE49-F238E27FC236}">
                <a16:creationId xmlns:a16="http://schemas.microsoft.com/office/drawing/2014/main" id="{D55215AC-6C3C-4B6B-B467-CE51CA8280AD}"/>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64</a:t>
            </a:r>
          </a:p>
        </p:txBody>
      </p:sp>
      <p:sp>
        <p:nvSpPr>
          <p:cNvPr id="15" name="section-label">
            <a:extLst xmlns:a="http://schemas.openxmlformats.org/drawingml/2006/main">
              <a:ext uri="{FF2B5EF4-FFF2-40B4-BE49-F238E27FC236}">
                <a16:creationId xmlns:a16="http://schemas.microsoft.com/office/drawing/2014/main" id="{1FD1AAF2-595A-405E-B34E-13B6199444B5}"/>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SEGUIR LA RELACIÓN ENTRE LAS PIEZAS</a:t>
            </a:r>
          </a:p>
        </p:txBody>
      </p:sp>
      <p:sp>
        <p:nvSpPr>
          <p:cNvPr id="16" name="concept-node">
            <a:extLst xmlns:a="http://schemas.openxmlformats.org/drawingml/2006/main">
              <a:ext uri="{FF2B5EF4-FFF2-40B4-BE49-F238E27FC236}">
                <a16:creationId xmlns:a16="http://schemas.microsoft.com/office/drawing/2014/main" id="{991E70FF-13FC-4DD3-A35A-8A809A0B2D35}"/>
              </a:ext>
            </a:extLst>
          </p:cNvPr>
          <p:cNvSpPr>
            <a:spLocks xmlns:a="http://schemas.openxmlformats.org/drawingml/2006/main" noGrp="1"/>
          </p:cNvSpPr>
          <p:nvPr/>
        </p:nvSpPr>
        <p:spPr>
          <a:xfrm xmlns:a="http://schemas.openxmlformats.org/drawingml/2006/main">
            <a:off x="5715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17" name="node-top-rule">
            <a:extLst xmlns:a="http://schemas.openxmlformats.org/drawingml/2006/main">
              <a:ext uri="{FF2B5EF4-FFF2-40B4-BE49-F238E27FC236}">
                <a16:creationId xmlns:a16="http://schemas.microsoft.com/office/drawing/2014/main" id="{2C1F047A-3652-4483-B754-0607C95628F3}"/>
              </a:ext>
            </a:extLst>
          </p:cNvPr>
          <p:cNvSpPr>
            <a:spLocks xmlns:a="http://schemas.openxmlformats.org/drawingml/2006/main" noGrp="1"/>
          </p:cNvSpPr>
          <p:nvPr/>
        </p:nvSpPr>
        <p:spPr>
          <a:xfrm xmlns:a="http://schemas.openxmlformats.org/drawingml/2006/main">
            <a:off x="5810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03661C36-860E-421D-8C13-E3318297CED8}"/>
              </a:ext>
            </a:extLst>
          </p:cNvPr>
          <p:cNvSpPr>
            <a:spLocks xmlns:a="http://schemas.openxmlformats.org/drawingml/2006/main" noGrp="1"/>
          </p:cNvSpPr>
          <p:nvPr/>
        </p:nvSpPr>
        <p:spPr>
          <a:xfrm xmlns:a="http://schemas.openxmlformats.org/drawingml/2006/main">
            <a:off x="7810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19" name="step-number">
            <a:extLst xmlns:a="http://schemas.openxmlformats.org/drawingml/2006/main">
              <a:ext uri="{FF2B5EF4-FFF2-40B4-BE49-F238E27FC236}">
                <a16:creationId xmlns:a16="http://schemas.microsoft.com/office/drawing/2014/main" id="{D37B7A85-1487-4D5C-99C6-565A4D5F8E80}"/>
              </a:ext>
            </a:extLst>
          </p:cNvPr>
          <p:cNvSpPr>
            <a:spLocks xmlns:a="http://schemas.openxmlformats.org/drawingml/2006/main" noGrp="1"/>
          </p:cNvSpPr>
          <p:nvPr/>
        </p:nvSpPr>
        <p:spPr>
          <a:xfrm xmlns:a="http://schemas.openxmlformats.org/drawingml/2006/main">
            <a:off x="7810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0" name="node-heading">
            <a:extLst xmlns:a="http://schemas.openxmlformats.org/drawingml/2006/main">
              <a:ext uri="{FF2B5EF4-FFF2-40B4-BE49-F238E27FC236}">
                <a16:creationId xmlns:a16="http://schemas.microsoft.com/office/drawing/2014/main" id="{72C044F5-387A-4188-90AB-DEB34D1EB6F7}"/>
              </a:ext>
            </a:extLst>
          </p:cNvPr>
          <p:cNvSpPr>
            <a:spLocks xmlns:a="http://schemas.openxmlformats.org/drawingml/2006/main" noGrp="1"/>
          </p:cNvSpPr>
          <p:nvPr/>
        </p:nvSpPr>
        <p:spPr>
          <a:xfrm xmlns:a="http://schemas.openxmlformats.org/drawingml/2006/main">
            <a:off x="13906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Autoevaluación</a:t>
            </a:r>
          </a:p>
        </p:txBody>
      </p:sp>
      <p:sp>
        <p:nvSpPr>
          <p:cNvPr id="21" name="node-body">
            <a:extLst xmlns:a="http://schemas.openxmlformats.org/drawingml/2006/main">
              <a:ext uri="{FF2B5EF4-FFF2-40B4-BE49-F238E27FC236}">
                <a16:creationId xmlns:a16="http://schemas.microsoft.com/office/drawing/2014/main" id="{1D195142-822E-42B3-BA80-8629C4F45134}"/>
              </a:ext>
            </a:extLst>
          </p:cNvPr>
          <p:cNvSpPr>
            <a:spLocks xmlns:a="http://schemas.openxmlformats.org/drawingml/2006/main" noGrp="1"/>
          </p:cNvSpPr>
          <p:nvPr/>
        </p:nvSpPr>
        <p:spPr>
          <a:xfrm xmlns:a="http://schemas.openxmlformats.org/drawingml/2006/main">
            <a:off x="8096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Responder 10 preguntas y</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alcanzar al menos 8</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aciertos.</a:t>
            </a:r>
          </a:p>
        </p:txBody>
      </p:sp>
      <p:sp>
        <p:nvSpPr>
          <p:cNvPr id="22" name="concept-node">
            <a:extLst xmlns:a="http://schemas.openxmlformats.org/drawingml/2006/main">
              <a:ext uri="{FF2B5EF4-FFF2-40B4-BE49-F238E27FC236}">
                <a16:creationId xmlns:a16="http://schemas.microsoft.com/office/drawing/2014/main" id="{B9612B8A-2B8A-4E0B-9AAC-B93F298D5B87}"/>
              </a:ext>
            </a:extLst>
          </p:cNvPr>
          <p:cNvSpPr>
            <a:spLocks xmlns:a="http://schemas.openxmlformats.org/drawingml/2006/main" noGrp="1"/>
          </p:cNvSpPr>
          <p:nvPr/>
        </p:nvSpPr>
        <p:spPr>
          <a:xfrm xmlns:a="http://schemas.openxmlformats.org/drawingml/2006/main">
            <a:off x="5429250" y="2667000"/>
            <a:ext cx="4381500" cy="2914650"/>
          </a:xfrm>
          <a:prstGeom xmlns:a="http://schemas.openxmlformats.org/drawingml/2006/main" prst="roundRect">
            <a:avLst>
              <a:gd name="adj" fmla="val 5882"/>
            </a:avLst>
          </a:prstGeom>
          <a:solidFill xmlns:a="http://schemas.openxmlformats.org/drawingml/2006/main">
            <a:srgbClr val="FFF0EB"/>
          </a:solidFill>
          <a:ln xmlns:a="http://schemas.openxmlformats.org/drawingml/2006/main" w="14288">
            <a:solidFill>
              <a:srgbClr val="FF5733"/>
            </a:solidFill>
          </a:ln>
        </p:spPr>
      </p:sp>
      <p:sp>
        <p:nvSpPr>
          <p:cNvPr id="23" name="node-top-rule">
            <a:extLst xmlns:a="http://schemas.openxmlformats.org/drawingml/2006/main">
              <a:ext uri="{FF2B5EF4-FFF2-40B4-BE49-F238E27FC236}">
                <a16:creationId xmlns:a16="http://schemas.microsoft.com/office/drawing/2014/main" id="{771C95B3-7FF0-4B92-A7DC-1E0D1746FCA1}"/>
              </a:ext>
            </a:extLst>
          </p:cNvPr>
          <p:cNvSpPr>
            <a:spLocks xmlns:a="http://schemas.openxmlformats.org/drawingml/2006/main" noGrp="1"/>
          </p:cNvSpPr>
          <p:nvPr/>
        </p:nvSpPr>
        <p:spPr>
          <a:xfrm xmlns:a="http://schemas.openxmlformats.org/drawingml/2006/main">
            <a:off x="5438775" y="267652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86C5F538-275C-43CF-8560-0CE6408895E8}"/>
              </a:ext>
            </a:extLst>
          </p:cNvPr>
          <p:cNvSpPr>
            <a:spLocks xmlns:a="http://schemas.openxmlformats.org/drawingml/2006/main" noGrp="1"/>
          </p:cNvSpPr>
          <p:nvPr/>
        </p:nvSpPr>
        <p:spPr>
          <a:xfrm xmlns:a="http://schemas.openxmlformats.org/drawingml/2006/main">
            <a:off x="5638800" y="290512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5" name="step-number">
            <a:extLst xmlns:a="http://schemas.openxmlformats.org/drawingml/2006/main">
              <a:ext uri="{FF2B5EF4-FFF2-40B4-BE49-F238E27FC236}">
                <a16:creationId xmlns:a16="http://schemas.microsoft.com/office/drawing/2014/main" id="{55A16C83-78B7-4DF8-BA1F-82195DD74275}"/>
              </a:ext>
            </a:extLst>
          </p:cNvPr>
          <p:cNvSpPr>
            <a:spLocks xmlns:a="http://schemas.openxmlformats.org/drawingml/2006/main" noGrp="1"/>
          </p:cNvSpPr>
          <p:nvPr/>
        </p:nvSpPr>
        <p:spPr>
          <a:xfrm xmlns:a="http://schemas.openxmlformats.org/drawingml/2006/main">
            <a:off x="563880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6" name="node-heading">
            <a:extLst xmlns:a="http://schemas.openxmlformats.org/drawingml/2006/main">
              <a:ext uri="{FF2B5EF4-FFF2-40B4-BE49-F238E27FC236}">
                <a16:creationId xmlns:a16="http://schemas.microsoft.com/office/drawing/2014/main" id="{45BA56D3-7754-43C1-9F92-F491AE0BB7AB}"/>
              </a:ext>
            </a:extLst>
          </p:cNvPr>
          <p:cNvSpPr>
            <a:spLocks xmlns:a="http://schemas.openxmlformats.org/drawingml/2006/main" noGrp="1"/>
          </p:cNvSpPr>
          <p:nvPr/>
        </p:nvSpPr>
        <p:spPr>
          <a:xfrm xmlns:a="http://schemas.openxmlformats.org/drawingml/2006/main">
            <a:off x="624840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Repaso</a:t>
            </a:r>
          </a:p>
        </p:txBody>
      </p:sp>
      <p:sp>
        <p:nvSpPr>
          <p:cNvPr id="27" name="node-body">
            <a:extLst xmlns:a="http://schemas.openxmlformats.org/drawingml/2006/main">
              <a:ext uri="{FF2B5EF4-FFF2-40B4-BE49-F238E27FC236}">
                <a16:creationId xmlns:a16="http://schemas.microsoft.com/office/drawing/2014/main" id="{D6450C4E-7396-4664-9007-3640953BDA43}"/>
              </a:ext>
            </a:extLst>
          </p:cNvPr>
          <p:cNvSpPr>
            <a:spLocks xmlns:a="http://schemas.openxmlformats.org/drawingml/2006/main" noGrp="1"/>
          </p:cNvSpPr>
          <p:nvPr/>
        </p:nvSpPr>
        <p:spPr>
          <a:xfrm xmlns:a="http://schemas.openxmlformats.org/drawingml/2006/main">
            <a:off x="566737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Volver al concepto detrás de</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cada error.</a:t>
            </a:r>
          </a:p>
        </p:txBody>
      </p:sp>
      <p:sp>
        <p:nvSpPr>
          <p:cNvPr id="28" name="concept-node">
            <a:extLst xmlns:a="http://schemas.openxmlformats.org/drawingml/2006/main">
              <a:ext uri="{FF2B5EF4-FFF2-40B4-BE49-F238E27FC236}">
                <a16:creationId xmlns:a16="http://schemas.microsoft.com/office/drawing/2014/main" id="{BC71CBAC-05CA-4606-8F31-80E1E348A04B}"/>
              </a:ext>
            </a:extLst>
          </p:cNvPr>
          <p:cNvSpPr>
            <a:spLocks xmlns:a="http://schemas.openxmlformats.org/drawingml/2006/main" noGrp="1"/>
          </p:cNvSpPr>
          <p:nvPr/>
        </p:nvSpPr>
        <p:spPr>
          <a:xfrm xmlns:a="http://schemas.openxmlformats.org/drawingml/2006/main">
            <a:off x="10287000" y="2667000"/>
            <a:ext cx="4381500" cy="29146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ED8E3"/>
            </a:solidFill>
          </a:ln>
        </p:spPr>
      </p:sp>
      <p:sp>
        <p:nvSpPr>
          <p:cNvPr id="29" name="node-top-rule">
            <a:extLst xmlns:a="http://schemas.openxmlformats.org/drawingml/2006/main">
              <a:ext uri="{FF2B5EF4-FFF2-40B4-BE49-F238E27FC236}">
                <a16:creationId xmlns:a16="http://schemas.microsoft.com/office/drawing/2014/main" id="{9C9B864D-8E51-488B-865A-9C8ADE3618BC}"/>
              </a:ext>
            </a:extLst>
          </p:cNvPr>
          <p:cNvSpPr>
            <a:spLocks xmlns:a="http://schemas.openxmlformats.org/drawingml/2006/main" noGrp="1"/>
          </p:cNvSpPr>
          <p:nvPr/>
        </p:nvSpPr>
        <p:spPr>
          <a:xfrm xmlns:a="http://schemas.openxmlformats.org/drawingml/2006/main">
            <a:off x="10296525" y="267652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71BB154-2E88-40C2-88EA-EE6CAD36BE5D}"/>
              </a:ext>
            </a:extLst>
          </p:cNvPr>
          <p:cNvSpPr>
            <a:spLocks xmlns:a="http://schemas.openxmlformats.org/drawingml/2006/main" noGrp="1"/>
          </p:cNvSpPr>
          <p:nvPr/>
        </p:nvSpPr>
        <p:spPr>
          <a:xfrm xmlns:a="http://schemas.openxmlformats.org/drawingml/2006/main">
            <a:off x="10496550" y="290512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1" name="step-number">
            <a:extLst xmlns:a="http://schemas.openxmlformats.org/drawingml/2006/main">
              <a:ext uri="{FF2B5EF4-FFF2-40B4-BE49-F238E27FC236}">
                <a16:creationId xmlns:a16="http://schemas.microsoft.com/office/drawing/2014/main" id="{3F30E517-8198-4A11-825C-70E9211DDD3E}"/>
              </a:ext>
            </a:extLst>
          </p:cNvPr>
          <p:cNvSpPr>
            <a:spLocks xmlns:a="http://schemas.openxmlformats.org/drawingml/2006/main" noGrp="1"/>
          </p:cNvSpPr>
          <p:nvPr/>
        </p:nvSpPr>
        <p:spPr>
          <a:xfrm xmlns:a="http://schemas.openxmlformats.org/drawingml/2006/main">
            <a:off x="10496550" y="298132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2" name="node-heading">
            <a:extLst xmlns:a="http://schemas.openxmlformats.org/drawingml/2006/main">
              <a:ext uri="{FF2B5EF4-FFF2-40B4-BE49-F238E27FC236}">
                <a16:creationId xmlns:a16="http://schemas.microsoft.com/office/drawing/2014/main" id="{3A21CFFE-87F8-4471-91B7-F8ED0419A52B}"/>
              </a:ext>
            </a:extLst>
          </p:cNvPr>
          <p:cNvSpPr>
            <a:spLocks xmlns:a="http://schemas.openxmlformats.org/drawingml/2006/main" noGrp="1"/>
          </p:cNvSpPr>
          <p:nvPr/>
        </p:nvSpPr>
        <p:spPr>
          <a:xfrm xmlns:a="http://schemas.openxmlformats.org/drawingml/2006/main">
            <a:off x="11106150" y="29051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Transferencia</a:t>
            </a:r>
          </a:p>
        </p:txBody>
      </p:sp>
      <p:sp>
        <p:nvSpPr>
          <p:cNvPr id="33" name="node-body">
            <a:extLst xmlns:a="http://schemas.openxmlformats.org/drawingml/2006/main">
              <a:ext uri="{FF2B5EF4-FFF2-40B4-BE49-F238E27FC236}">
                <a16:creationId xmlns:a16="http://schemas.microsoft.com/office/drawing/2014/main" id="{8B58E286-7602-49D0-8D74-D0DE47728CFC}"/>
              </a:ext>
            </a:extLst>
          </p:cNvPr>
          <p:cNvSpPr>
            <a:spLocks xmlns:a="http://schemas.openxmlformats.org/drawingml/2006/main" noGrp="1"/>
          </p:cNvSpPr>
          <p:nvPr/>
        </p:nvSpPr>
        <p:spPr>
          <a:xfrm xmlns:a="http://schemas.openxmlformats.org/drawingml/2006/main">
            <a:off x="10525125" y="3838575"/>
            <a:ext cx="3905250"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Llegar a S1 pudiendo</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distinguir generar, consultar</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y validar.</a:t>
            </a:r>
          </a:p>
        </p:txBody>
      </p:sp>
      <p:cxnSp>
        <p:nvCxnSpPr>
          <p:cNvPr id="77" name=""/>
          <p:cNvCxnSpPr>
            <a:stCxn xmlns:a="http://schemas.openxmlformats.org/drawingml/2006/main" id="16" idx="3"/>
            <a:endCxn xmlns:a="http://schemas.openxmlformats.org/drawingml/2006/main" id="22" idx="1"/>
          </p:cNvCxnSpPr>
          <p:nvPr/>
        </p:nvCxnSpPr>
        <p:spPr>
          <a:xfrm xmlns:a="http://schemas.openxmlformats.org/drawingml/2006/main">
            <a:off x="495300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78" name=""/>
          <p:cNvCxnSpPr>
            <a:stCxn xmlns:a="http://schemas.openxmlformats.org/drawingml/2006/main" id="22" idx="3"/>
            <a:endCxn xmlns:a="http://schemas.openxmlformats.org/drawingml/2006/main" id="28" idx="1"/>
          </p:cNvCxnSpPr>
          <p:nvPr/>
        </p:nvCxnSpPr>
        <p:spPr>
          <a:xfrm xmlns:a="http://schemas.openxmlformats.org/drawingml/2006/main">
            <a:off x="9810750" y="4124325"/>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6" name="panel">
            <a:extLst xmlns:a="http://schemas.openxmlformats.org/drawingml/2006/main">
              <a:ext uri="{FF2B5EF4-FFF2-40B4-BE49-F238E27FC236}">
                <a16:creationId xmlns:a16="http://schemas.microsoft.com/office/drawing/2014/main" id="{E5E7CA58-D4C8-4872-9331-3E9F0C53B680}"/>
              </a:ext>
            </a:extLst>
          </p:cNvPr>
          <p:cNvSpPr>
            <a:spLocks xmlns:a="http://schemas.openxmlformats.org/drawingml/2006/main" noGrp="1"/>
          </p:cNvSpPr>
          <p:nvPr/>
        </p:nvSpPr>
        <p:spPr>
          <a:xfrm xmlns:a="http://schemas.openxmlformats.org/drawingml/2006/main">
            <a:off x="571500" y="5905500"/>
            <a:ext cx="9048750" cy="1362075"/>
          </a:xfrm>
          <a:prstGeom xmlns:a="http://schemas.openxmlformats.org/drawingml/2006/main" prst="roundRect">
            <a:avLst>
              <a:gd name="adj" fmla="val 11189"/>
            </a:avLst>
          </a:prstGeom>
          <a:solidFill xmlns:a="http://schemas.openxmlformats.org/drawingml/2006/main">
            <a:srgbClr val="E9F0F7"/>
          </a:solidFill>
          <a:ln xmlns:a="http://schemas.openxmlformats.org/drawingml/2006/main" w="0">
            <a:noFill/>
          </a:ln>
        </p:spPr>
      </p:sp>
      <p:sp>
        <p:nvSpPr>
          <p:cNvPr id="37" name="section-label">
            <a:extLst xmlns:a="http://schemas.openxmlformats.org/drawingml/2006/main">
              <a:ext uri="{FF2B5EF4-FFF2-40B4-BE49-F238E27FC236}">
                <a16:creationId xmlns:a16="http://schemas.microsoft.com/office/drawing/2014/main" id="{5E05B521-C0F0-437E-8E95-5A25C29AC53A}"/>
              </a:ext>
            </a:extLst>
          </p:cNvPr>
          <p:cNvSpPr>
            <a:spLocks xmlns:a="http://schemas.openxmlformats.org/drawingml/2006/main" noGrp="1"/>
          </p:cNvSpPr>
          <p:nvPr/>
        </p:nvSpPr>
        <p:spPr>
          <a:xfrm xmlns:a="http://schemas.openxmlformats.org/drawingml/2006/main">
            <a:off x="781050" y="6057900"/>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PREGUNTA PARA ACTIVAR EL CONCEPTO</a:t>
            </a:r>
          </a:p>
        </p:txBody>
      </p:sp>
      <p:sp>
        <p:nvSpPr>
          <p:cNvPr id="38" name="concept-question">
            <a:extLst xmlns:a="http://schemas.openxmlformats.org/drawingml/2006/main">
              <a:ext uri="{FF2B5EF4-FFF2-40B4-BE49-F238E27FC236}">
                <a16:creationId xmlns:a16="http://schemas.microsoft.com/office/drawing/2014/main" id="{E9FAA216-C4EE-4110-A2B6-4DEB75F0A6CB}"/>
              </a:ext>
            </a:extLst>
          </p:cNvPr>
          <p:cNvSpPr>
            <a:spLocks xmlns:a="http://schemas.openxmlformats.org/drawingml/2006/main" noGrp="1"/>
          </p:cNvSpPr>
          <p:nvPr/>
        </p:nvSpPr>
        <p:spPr>
          <a:xfrm xmlns:a="http://schemas.openxmlformats.org/drawingml/2006/main">
            <a:off x="781050" y="6362700"/>
            <a:ext cx="86296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¿Cómo explicarías a un compañero por qué un LLM necesita</a:t>
            </a:r>
          </a:p>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tools?</a:t>
            </a:r>
          </a:p>
        </p:txBody>
      </p:sp>
      <p:sp>
        <p:nvSpPr>
          <p:cNvPr id="39" name="panel">
            <a:extLst xmlns:a="http://schemas.openxmlformats.org/drawingml/2006/main">
              <a:ext uri="{FF2B5EF4-FFF2-40B4-BE49-F238E27FC236}">
                <a16:creationId xmlns:a16="http://schemas.microsoft.com/office/drawing/2014/main" id="{2A3CD992-1642-4740-A321-2DFE82C830EC}"/>
              </a:ext>
            </a:extLst>
          </p:cNvPr>
          <p:cNvSpPr>
            <a:spLocks xmlns:a="http://schemas.openxmlformats.org/drawingml/2006/main" noGrp="1"/>
          </p:cNvSpPr>
          <p:nvPr/>
        </p:nvSpPr>
        <p:spPr>
          <a:xfrm xmlns:a="http://schemas.openxmlformats.org/drawingml/2006/main">
            <a:off x="9906000" y="5905500"/>
            <a:ext cx="4762500" cy="1362075"/>
          </a:xfrm>
          <a:prstGeom xmlns:a="http://schemas.openxmlformats.org/drawingml/2006/main" prst="roundRect">
            <a:avLst>
              <a:gd name="adj" fmla="val 11189"/>
            </a:avLst>
          </a:prstGeom>
          <a:solidFill xmlns:a="http://schemas.openxmlformats.org/drawingml/2006/main">
            <a:srgbClr val="FFF0EB"/>
          </a:solidFill>
          <a:ln xmlns:a="http://schemas.openxmlformats.org/drawingml/2006/main" w="0">
            <a:noFill/>
          </a:ln>
        </p:spPr>
      </p:sp>
      <p:sp>
        <p:nvSpPr>
          <p:cNvPr id="40" name="misconception-label">
            <a:extLst xmlns:a="http://schemas.openxmlformats.org/drawingml/2006/main">
              <a:ext uri="{FF2B5EF4-FFF2-40B4-BE49-F238E27FC236}">
                <a16:creationId xmlns:a16="http://schemas.microsoft.com/office/drawing/2014/main" id="{395795DD-4F0B-48DE-AF4F-86D6CAE048E6}"/>
              </a:ext>
            </a:extLst>
          </p:cNvPr>
          <p:cNvSpPr>
            <a:spLocks xmlns:a="http://schemas.openxmlformats.org/drawingml/2006/main" noGrp="1"/>
          </p:cNvSpPr>
          <p:nvPr/>
        </p:nvSpPr>
        <p:spPr>
          <a:xfrm xmlns:a="http://schemas.openxmlformats.org/drawingml/2006/main">
            <a:off x="10115550" y="6057900"/>
            <a:ext cx="43148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FF5733"/>
                </a:solidFill>
                <a:latin typeface="DejaVu Sans"/>
                <a:ea typeface="DejaVu Sans"/>
                <a:cs typeface="DejaVu Sans"/>
              </a:defRPr>
            </a:pPr>
            <a:r>
              <a:rPr sz="1275" b="1">
                <a:solidFill>
                  <a:srgbClr val="FF5733"/>
                </a:solidFill>
                <a:latin typeface="DejaVu Sans"/>
                <a:ea typeface="DejaVu Sans"/>
                <a:cs typeface="DejaVu Sans"/>
              </a:rPr>
              <a:t>EVITAR ESTA CONFUSIÓN</a:t>
            </a:r>
          </a:p>
        </p:txBody>
      </p:sp>
      <p:sp>
        <p:nvSpPr>
          <p:cNvPr id="41" name="misconception">
            <a:extLst xmlns:a="http://schemas.openxmlformats.org/drawingml/2006/main">
              <a:ext uri="{FF2B5EF4-FFF2-40B4-BE49-F238E27FC236}">
                <a16:creationId xmlns:a16="http://schemas.microsoft.com/office/drawing/2014/main" id="{D77B4ED0-8A1B-4297-B794-B2BC3D131F59}"/>
              </a:ext>
            </a:extLst>
          </p:cNvPr>
          <p:cNvSpPr>
            <a:spLocks xmlns:a="http://schemas.openxmlformats.org/drawingml/2006/main" noGrp="1"/>
          </p:cNvSpPr>
          <p:nvPr/>
        </p:nvSpPr>
        <p:spPr>
          <a:xfrm xmlns:a="http://schemas.openxmlformats.org/drawingml/2006/main">
            <a:off x="10115550" y="6372225"/>
            <a:ext cx="43148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Aprobar por memoria sin poder</a:t>
            </a:r>
          </a:p>
          <a:p xmlns:a="http://schemas.openxmlformats.org/drawingml/2006/main">
            <a:pPr algn="l">
              <a:defRPr sz="1650" b="0">
                <a:solidFill>
                  <a:srgbClr val="1E293B"/>
                </a:solidFill>
                <a:latin typeface="DejaVu Sans"/>
                <a:ea typeface="DejaVu Sans"/>
                <a:cs typeface="DejaVu Sans"/>
              </a:defRPr>
            </a:pPr>
            <a:r>
              <a:rPr sz="1650" b="0">
                <a:solidFill>
                  <a:srgbClr val="1E293B"/>
                </a:solidFill>
                <a:latin typeface="DejaVu Sans"/>
                <a:ea typeface="DejaVu Sans"/>
                <a:cs typeface="DejaVu Sans"/>
              </a:rPr>
              <a:t>transferir el concepto.</a:t>
            </a:r>
          </a:p>
        </p:txBody>
      </p:sp>
      <p:sp>
        <p:nvSpPr>
          <p:cNvPr id="42" name="panel">
            <a:extLst xmlns:a="http://schemas.openxmlformats.org/drawingml/2006/main">
              <a:ext uri="{FF2B5EF4-FFF2-40B4-BE49-F238E27FC236}">
                <a16:creationId xmlns:a16="http://schemas.microsoft.com/office/drawing/2014/main" id="{7775C1A5-A96F-4E3D-A4AF-90CCAE8434AF}"/>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920A6BFE-408A-4124-9599-FF40C7C57FEA}"/>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Corregir el razonamiento vale más que memorizar la opción correcta.</a:t>
            </a:r>
          </a:p>
        </p:txBody>
      </p:sp>
    </p:spTree>
    <p:extLst>
      <p:ext uri="{BB962C8B-B14F-4D97-AF65-F5344CB8AC3E}">
        <p14:creationId xmlns:p14="http://schemas.microsoft.com/office/powerpoint/2010/main" val="1675529359"/>
      </p:ext>
    </p:extLst>
  </p:cSld>
</p:sld>
</file>

<file path=ppt/slides/slide65.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26" name="header">
            <a:extLst xmlns:a="http://schemas.openxmlformats.org/drawingml/2006/main">
              <a:ext uri="{FF2B5EF4-FFF2-40B4-BE49-F238E27FC236}">
                <a16:creationId xmlns:a16="http://schemas.microsoft.com/office/drawing/2014/main" id="{CF804C06-8E2E-42EA-9DB5-FD40F8F39305}"/>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FDC76A-4D7E-4AA0-9912-7558C4D24930}"/>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3C09A264-DE65-463D-88C1-FBAAD48D6821}"/>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22</a:t>
            </a:r>
          </a:p>
        </p:txBody>
      </p:sp>
      <p:sp>
        <p:nvSpPr>
          <p:cNvPr id="4" name="breadcrumb">
            <a:extLst xmlns:a="http://schemas.openxmlformats.org/drawingml/2006/main">
              <a:ext uri="{FF2B5EF4-FFF2-40B4-BE49-F238E27FC236}">
                <a16:creationId xmlns:a16="http://schemas.microsoft.com/office/drawing/2014/main" id="{793A1CF3-1DFD-48C0-A825-5140B2EEA060}"/>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22</a:t>
            </a:r>
          </a:p>
        </p:txBody>
      </p:sp>
      <p:sp>
        <p:nvSpPr>
          <p:cNvPr id="5" name="slide-title">
            <a:extLst xmlns:a="http://schemas.openxmlformats.org/drawingml/2006/main">
              <a:ext uri="{FF2B5EF4-FFF2-40B4-BE49-F238E27FC236}">
                <a16:creationId xmlns:a16="http://schemas.microsoft.com/office/drawing/2014/main" id="{3F802FD6-12AC-44E0-9908-F4075159A448}"/>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Convertir un error en aprendizaje</a:t>
            </a:r>
          </a:p>
        </p:txBody>
      </p:sp>
      <p:sp>
        <p:nvSpPr>
          <p:cNvPr id="6" name="learning-purpose">
            <a:extLst xmlns:a="http://schemas.openxmlformats.org/drawingml/2006/main">
              <a:ext uri="{FF2B5EF4-FFF2-40B4-BE49-F238E27FC236}">
                <a16:creationId xmlns:a16="http://schemas.microsoft.com/office/drawing/2014/main" id="{3A7B98AE-540A-448A-B38B-A0FECC697932}"/>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Comprobar comprensión y corregir vacíos antes de construir agentes.</a:t>
            </a:r>
          </a:p>
        </p:txBody>
      </p:sp>
      <p:sp>
        <p:nvSpPr>
          <p:cNvPr id="7" name="panel">
            <a:extLst xmlns:a="http://schemas.openxmlformats.org/drawingml/2006/main">
              <a:ext uri="{FF2B5EF4-FFF2-40B4-BE49-F238E27FC236}">
                <a16:creationId xmlns:a16="http://schemas.microsoft.com/office/drawing/2014/main" id="{D214D21E-70F9-4879-86DC-EA868AD37F46}"/>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91819DE2-5B7E-47CF-B2E9-DFF9A245B74D}"/>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68D0AAC4-8993-422C-8EA8-AD7ADA34FD18}"/>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35A8E531-70C4-474A-B917-DE36C0BE6F7B}"/>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31B48102-6208-44E2-8EA1-C429F5E49295}"/>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D472C3D2-3D1F-4CB1-A334-4C5686AB2A5D}"/>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80640C35-202A-4B12-BEF0-856A6D5D4DD9}"/>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C22</a:t>
            </a:r>
          </a:p>
        </p:txBody>
      </p:sp>
      <p:sp>
        <p:nvSpPr>
          <p:cNvPr id="14" name="folio">
            <a:extLst xmlns:a="http://schemas.openxmlformats.org/drawingml/2006/main">
              <a:ext uri="{FF2B5EF4-FFF2-40B4-BE49-F238E27FC236}">
                <a16:creationId xmlns:a16="http://schemas.microsoft.com/office/drawing/2014/main" id="{DF11A284-3659-462A-8028-17F8FC36A214}"/>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65</a:t>
            </a:r>
          </a:p>
        </p:txBody>
      </p:sp>
      <p:sp>
        <p:nvSpPr>
          <p:cNvPr id="15" name="section-label">
            <a:extLst xmlns:a="http://schemas.openxmlformats.org/drawingml/2006/main">
              <a:ext uri="{FF2B5EF4-FFF2-40B4-BE49-F238E27FC236}">
                <a16:creationId xmlns:a16="http://schemas.microsoft.com/office/drawing/2014/main" id="{C6346C56-DD72-47B8-90B0-71122CB1B2C1}"/>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DEL CONCEPTO A UNA COMPROBACIÓN CONCRETA</a:t>
            </a:r>
          </a:p>
        </p:txBody>
      </p:sp>
      <p:graphicFrame>
        <p:nvGraphicFramePr>
          <p:cNvPr id="41" name=""/>
          <p:cNvGraphicFramePr/>
          <p:nvPr/>
        </p:nvGraphicFramePr>
        <p:xfrm>
          <a:off xmlns:a="http://schemas.openxmlformats.org/drawingml/2006/main" x="571500" y="2667000"/>
          <a:ext xmlns:a="http://schemas.openxmlformats.org/drawingml/2006/main" cx="9334500" cy="3676650"/>
        </p:xfrm>
        <a:graphic xmlns:a="http://schemas.openxmlformats.org/drawingml/2006/main">
          <a:graphicData uri="http://schemas.openxmlformats.org/drawingml/2006/table">
            <a:tbl>
              <a:tblPr/>
              <a:tblGrid>
                <a:gridCol w="2857500"/>
                <a:gridCol w="6477000"/>
              </a:tblGrid>
              <a:tr h="476250">
                <a:tc>
                  <a:txBody>
                    <a:bodyPr lIns="161925" tIns="57150" rIns="161925" bIns="57150">
                      <a:noAutofit/>
                    </a:bodyPr>
                    <a:lstStyle/>
                    <a:p>
                      <a:r>
                        <a:rPr sz="1350" b="1">
                          <a:solidFill>
                            <a:srgbClr val="FFFFFF"/>
                          </a:solidFill>
                          <a:latin typeface="DejaVu Sans"/>
                          <a:ea typeface="DejaVu Sans"/>
                          <a:cs typeface="DejaVu Sans"/>
                        </a:rPr>
                        <a:t>PUNTO DE REVISIÓN</a:t>
                      </a:r>
                    </a:p>
                  </a:txBody>
                  <a:tcPr marL="91440" marR="91440" marT="45720" marB="45720" anchor="ctr">
                    <a:solidFill>
                      <a:srgbClr val="1E293B"/>
                    </a:solidFill>
                  </a:tcPr>
                </a:tc>
                <a:tc>
                  <a:txBody>
                    <a:bodyPr lIns="161925" tIns="57150" rIns="161925" bIns="57150">
                      <a:noAutofit/>
                    </a:bodyPr>
                    <a:lstStyle/>
                    <a:p>
                      <a:r>
                        <a:rPr sz="1350" b="1">
                          <a:solidFill>
                            <a:srgbClr val="FFFFFF"/>
                          </a:solidFill>
                          <a:latin typeface="DejaVu Sans"/>
                          <a:ea typeface="DejaVu Sans"/>
                          <a:cs typeface="DejaVu Sans"/>
                        </a:rPr>
                        <a:t>EXPLICACIÓN / CRITERIO</a:t>
                      </a:r>
                    </a:p>
                  </a:txBody>
                  <a:tcPr marL="91440" marR="91440" marT="45720" marB="45720" anchor="ctr">
                    <a:solidFill>
                      <a:srgbClr val="1E293B"/>
                    </a:solidFill>
                  </a:tcPr>
                </a:tc>
              </a:tr>
              <a:tr h="1066800">
                <a:tc>
                  <a:txBody>
                    <a:bodyPr lIns="161925" tIns="57150" rIns="161925" bIns="57150">
                      <a:noAutofit/>
                    </a:bodyPr>
                    <a:lstStyle/>
                    <a:p>
                      <a:r>
                        <a:rPr sz="1875" b="1">
                          <a:solidFill>
                            <a:srgbClr val="1E293B"/>
                          </a:solidFill>
                          <a:latin typeface="DejaVu Sans"/>
                          <a:ea typeface="DejaVu Sans"/>
                          <a:cs typeface="DejaVu Sans"/>
                        </a:rPr>
                        <a:t>Identificar</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Anotar qué supuesto llevó a la respuesta</a:t>
                      </a:r>
                    </a:p>
                    <a:p>
                      <a:r>
                        <a:rPr sz="1875" b="0">
                          <a:solidFill>
                            <a:srgbClr val="1E293B"/>
                          </a:solidFill>
                          <a:latin typeface="DejaVu Sans"/>
                          <a:ea typeface="DejaVu Sans"/>
                          <a:cs typeface="DejaVu Sans"/>
                        </a:rPr>
                        <a:t>incorrecta.</a:t>
                      </a:r>
                    </a:p>
                  </a:txBody>
                  <a:tcPr marL="91440" marR="91440" marT="45720" marB="45720" anchor="ctr">
                    <a:solidFill>
                      <a:srgbClr val="FFFFFF"/>
                    </a:solidFill>
                  </a:tcPr>
                </a:tc>
              </a:tr>
              <a:tr h="1066800">
                <a:tc>
                  <a:txBody>
                    <a:bodyPr lIns="161925" tIns="57150" rIns="161925" bIns="57150">
                      <a:noAutofit/>
                    </a:bodyPr>
                    <a:lstStyle/>
                    <a:p>
                      <a:r>
                        <a:rPr sz="1875" b="1">
                          <a:solidFill>
                            <a:srgbClr val="1E293B"/>
                          </a:solidFill>
                          <a:latin typeface="DejaVu Sans"/>
                          <a:ea typeface="DejaVu Sans"/>
                          <a:cs typeface="DejaVu Sans"/>
                        </a:rPr>
                        <a:t>Comprobar</a:t>
                      </a:r>
                    </a:p>
                  </a:txBody>
                  <a:tcPr marL="91440" marR="91440" marT="45720" marB="45720" anchor="ctr">
                    <a:solidFill>
                      <a:srgbClr val="E9F0F7"/>
                    </a:solidFill>
                  </a:tcPr>
                </a:tc>
                <a:tc>
                  <a:txBody>
                    <a:bodyPr lIns="161925" tIns="57150" rIns="161925" bIns="57150">
                      <a:noAutofit/>
                    </a:bodyPr>
                    <a:lstStyle/>
                    <a:p>
                      <a:r>
                        <a:rPr sz="1875" b="0">
                          <a:solidFill>
                            <a:srgbClr val="1E293B"/>
                          </a:solidFill>
                          <a:latin typeface="DejaVu Sans"/>
                          <a:ea typeface="DejaVu Sans"/>
                          <a:cs typeface="DejaVu Sans"/>
                        </a:rPr>
                        <a:t>Revisar el capítulo y la demo relacionados.</a:t>
                      </a:r>
                    </a:p>
                  </a:txBody>
                  <a:tcPr marL="91440" marR="91440" marT="45720" marB="45720" anchor="ctr">
                    <a:solidFill>
                      <a:srgbClr val="E9F0F7"/>
                    </a:solidFill>
                  </a:tcPr>
                </a:tc>
              </a:tr>
              <a:tr h="1066800">
                <a:tc>
                  <a:txBody>
                    <a:bodyPr lIns="161925" tIns="57150" rIns="161925" bIns="57150">
                      <a:noAutofit/>
                    </a:bodyPr>
                    <a:lstStyle/>
                    <a:p>
                      <a:r>
                        <a:rPr sz="1875" b="1">
                          <a:solidFill>
                            <a:srgbClr val="1E293B"/>
                          </a:solidFill>
                          <a:latin typeface="DejaVu Sans"/>
                          <a:ea typeface="DejaVu Sans"/>
                          <a:cs typeface="DejaVu Sans"/>
                        </a:rPr>
                        <a:t>Explicar</a:t>
                      </a:r>
                    </a:p>
                  </a:txBody>
                  <a:tcPr marL="91440" marR="91440" marT="45720" marB="45720" anchor="ctr">
                    <a:solidFill>
                      <a:srgbClr val="FFFFFF"/>
                    </a:solidFill>
                  </a:tcPr>
                </a:tc>
                <a:tc>
                  <a:txBody>
                    <a:bodyPr lIns="161925" tIns="57150" rIns="161925" bIns="57150">
                      <a:noAutofit/>
                    </a:bodyPr>
                    <a:lstStyle/>
                    <a:p>
                      <a:r>
                        <a:rPr sz="1875" b="0">
                          <a:solidFill>
                            <a:srgbClr val="1E293B"/>
                          </a:solidFill>
                          <a:latin typeface="DejaVu Sans"/>
                          <a:ea typeface="DejaVu Sans"/>
                          <a:cs typeface="DejaVu Sans"/>
                        </a:rPr>
                        <a:t>Dar un ejemplo nuevo que muestre la distinción.</a:t>
                      </a:r>
                    </a:p>
                  </a:txBody>
                  <a:tcPr marL="91440" marR="91440" marT="45720" marB="45720" anchor="ctr">
                    <a:solidFill>
                      <a:srgbClr val="FFFFFF"/>
                    </a:solidFill>
                  </a:tcPr>
                </a:tc>
              </a:tr>
            </a:tbl>
          </a:graphicData>
        </a:graphic>
      </p:graphicFrame>
      <p:sp>
        <p:nvSpPr>
          <p:cNvPr id="17" name="panel">
            <a:extLst xmlns:a="http://schemas.openxmlformats.org/drawingml/2006/main">
              <a:ext uri="{FF2B5EF4-FFF2-40B4-BE49-F238E27FC236}">
                <a16:creationId xmlns:a16="http://schemas.microsoft.com/office/drawing/2014/main" id="{D36BF752-A761-47DF-A1AF-860A36F2B02C}"/>
              </a:ext>
            </a:extLst>
          </p:cNvPr>
          <p:cNvSpPr>
            <a:spLocks xmlns:a="http://schemas.openxmlformats.org/drawingml/2006/main" noGrp="1"/>
          </p:cNvSpPr>
          <p:nvPr/>
        </p:nvSpPr>
        <p:spPr>
          <a:xfrm xmlns:a="http://schemas.openxmlformats.org/drawingml/2006/main">
            <a:off x="10191750" y="2667000"/>
            <a:ext cx="4476750" cy="3676650"/>
          </a:xfrm>
          <a:prstGeom xmlns:a="http://schemas.openxmlformats.org/drawingml/2006/main" prst="roundRect">
            <a:avLst>
              <a:gd name="adj" fmla="val 4663"/>
            </a:avLst>
          </a:prstGeom>
          <a:solidFill xmlns:a="http://schemas.openxmlformats.org/drawingml/2006/main">
            <a:srgbClr val="FFF0EB"/>
          </a:solidFill>
          <a:ln xmlns:a="http://schemas.openxmlformats.org/drawingml/2006/main" w="14288">
            <a:solidFill>
              <a:srgbClr val="FF5733"/>
            </a:solidFill>
          </a:ln>
        </p:spPr>
      </p:sp>
      <p:sp>
        <p:nvSpPr>
          <p:cNvPr id="18" name="development-limit-label">
            <a:extLst xmlns:a="http://schemas.openxmlformats.org/drawingml/2006/main">
              <a:ext uri="{FF2B5EF4-FFF2-40B4-BE49-F238E27FC236}">
                <a16:creationId xmlns:a16="http://schemas.microsoft.com/office/drawing/2014/main" id="{F57B2424-293E-40BB-855B-463A94CEC1E7}"/>
              </a:ext>
            </a:extLst>
          </p:cNvPr>
          <p:cNvSpPr>
            <a:spLocks xmlns:a="http://schemas.openxmlformats.org/drawingml/2006/main" noGrp="1"/>
          </p:cNvSpPr>
          <p:nvPr/>
        </p:nvSpPr>
        <p:spPr>
          <a:xfrm xmlns:a="http://schemas.openxmlformats.org/drawingml/2006/main">
            <a:off x="10420350" y="2886075"/>
            <a:ext cx="4019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425" b="1">
                <a:solidFill>
                  <a:srgbClr val="FF5733"/>
                </a:solidFill>
                <a:latin typeface="DejaVu Sans"/>
                <a:ea typeface="DejaVu Sans"/>
                <a:cs typeface="DejaVu Sans"/>
              </a:defRPr>
            </a:pPr>
            <a:r>
              <a:rPr sz="1425" b="1">
                <a:solidFill>
                  <a:srgbClr val="FF5733"/>
                </a:solidFill>
                <a:latin typeface="DejaVu Sans"/>
                <a:ea typeface="DejaVu Sans"/>
                <a:cs typeface="DejaVu Sans"/>
              </a:rPr>
              <a:t>EL LÍMITE QUE IMPORTA</a:t>
            </a:r>
          </a:p>
        </p:txBody>
      </p:sp>
      <p:sp>
        <p:nvSpPr>
          <p:cNvPr id="19" name="development-limit">
            <a:extLst xmlns:a="http://schemas.openxmlformats.org/drawingml/2006/main">
              <a:ext uri="{FF2B5EF4-FFF2-40B4-BE49-F238E27FC236}">
                <a16:creationId xmlns:a16="http://schemas.microsoft.com/office/drawing/2014/main" id="{ED7A99BE-A8D1-4B80-B1AA-B521D6B97585}"/>
              </a:ext>
            </a:extLst>
          </p:cNvPr>
          <p:cNvSpPr>
            <a:spLocks xmlns:a="http://schemas.openxmlformats.org/drawingml/2006/main" noGrp="1"/>
          </p:cNvSpPr>
          <p:nvPr/>
        </p:nvSpPr>
        <p:spPr>
          <a:xfrm xmlns:a="http://schemas.openxmlformats.org/drawingml/2006/main">
            <a:off x="10420350" y="3362325"/>
            <a:ext cx="40195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Aprobar por memoria sin</a:t>
            </a:r>
          </a:p>
          <a:p xmlns:a="http://schemas.openxmlformats.org/drawingml/2006/main">
            <a:pPr algn="l">
              <a:defRPr sz="2100" b="0">
                <a:solidFill>
                  <a:srgbClr val="1E293B"/>
                </a:solidFill>
                <a:latin typeface="DejaVu Sans"/>
                <a:ea typeface="DejaVu Sans"/>
                <a:cs typeface="DejaVu Sans"/>
              </a:defRPr>
            </a:pPr>
            <a:r>
              <a:rPr sz="2100" b="0">
                <a:solidFill>
                  <a:srgbClr val="1E293B"/>
                </a:solidFill>
                <a:latin typeface="DejaVu Sans"/>
                <a:ea typeface="DejaVu Sans"/>
                <a:cs typeface="DejaVu Sans"/>
              </a:rPr>
              <a:t>poder transferir el concepto.</a:t>
            </a:r>
          </a:p>
        </p:txBody>
      </p:sp>
      <p:sp>
        <p:nvSpPr>
          <p:cNvPr id="20" name="development-prompt">
            <a:extLst xmlns:a="http://schemas.openxmlformats.org/drawingml/2006/main">
              <a:ext uri="{FF2B5EF4-FFF2-40B4-BE49-F238E27FC236}">
                <a16:creationId xmlns:a16="http://schemas.microsoft.com/office/drawing/2014/main" id="{6C55922A-3A84-499B-8488-AA804597CAF8}"/>
              </a:ext>
            </a:extLst>
          </p:cNvPr>
          <p:cNvSpPr>
            <a:spLocks xmlns:a="http://schemas.openxmlformats.org/drawingml/2006/main" noGrp="1"/>
          </p:cNvSpPr>
          <p:nvPr/>
        </p:nvSpPr>
        <p:spPr>
          <a:xfrm xmlns:a="http://schemas.openxmlformats.org/drawingml/2006/main">
            <a:off x="10420350" y="5553075"/>
            <a:ext cx="4019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Revisar este supuesto evita aplicar la</a:t>
            </a:r>
          </a:p>
          <a:p xmlns:a="http://schemas.openxmlformats.org/drawingml/2006/main">
            <a:pPr algn="l">
              <a:defRPr sz="1500" b="0">
                <a:solidFill>
                  <a:srgbClr val="526277"/>
                </a:solidFill>
                <a:latin typeface="DejaVu Sans"/>
                <a:ea typeface="DejaVu Sans"/>
                <a:cs typeface="DejaVu Sans"/>
              </a:defRPr>
            </a:pPr>
            <a:r>
              <a:rPr sz="1500" b="0">
                <a:solidFill>
                  <a:srgbClr val="526277"/>
                </a:solidFill>
                <a:latin typeface="DejaVu Sans"/>
                <a:ea typeface="DejaVu Sans"/>
                <a:cs typeface="DejaVu Sans"/>
              </a:rPr>
              <a:t>idea fuera de su alcance.</a:t>
            </a:r>
          </a:p>
        </p:txBody>
      </p:sp>
      <p:sp>
        <p:nvSpPr>
          <p:cNvPr id="21" name="panel">
            <a:extLst xmlns:a="http://schemas.openxmlformats.org/drawingml/2006/main">
              <a:ext uri="{FF2B5EF4-FFF2-40B4-BE49-F238E27FC236}">
                <a16:creationId xmlns:a16="http://schemas.microsoft.com/office/drawing/2014/main" id="{CB161D88-CC8E-46E4-9346-F27762F20D1B}"/>
              </a:ext>
            </a:extLst>
          </p:cNvPr>
          <p:cNvSpPr>
            <a:spLocks xmlns:a="http://schemas.openxmlformats.org/drawingml/2006/main" noGrp="1"/>
          </p:cNvSpPr>
          <p:nvPr/>
        </p:nvSpPr>
        <p:spPr>
          <a:xfrm xmlns:a="http://schemas.openxmlformats.org/drawingml/2006/main">
            <a:off x="571500" y="6505575"/>
            <a:ext cx="14097000" cy="752475"/>
          </a:xfrm>
          <a:prstGeom xmlns:a="http://schemas.openxmlformats.org/drawingml/2006/main" prst="roundRect">
            <a:avLst>
              <a:gd name="adj" fmla="val 20253"/>
            </a:avLst>
          </a:prstGeom>
          <a:solidFill xmlns:a="http://schemas.openxmlformats.org/drawingml/2006/main">
            <a:srgbClr val="E9F0F7"/>
          </a:solidFill>
          <a:ln xmlns:a="http://schemas.openxmlformats.org/drawingml/2006/main" w="0">
            <a:noFill/>
          </a:ln>
        </p:spPr>
      </p:sp>
      <p:sp>
        <p:nvSpPr>
          <p:cNvPr id="22" name="check-label">
            <a:extLst xmlns:a="http://schemas.openxmlformats.org/drawingml/2006/main">
              <a:ext uri="{FF2B5EF4-FFF2-40B4-BE49-F238E27FC236}">
                <a16:creationId xmlns:a16="http://schemas.microsoft.com/office/drawing/2014/main" id="{9C24FFE9-6452-49D6-A569-4541250527CF}"/>
              </a:ext>
            </a:extLst>
          </p:cNvPr>
          <p:cNvSpPr>
            <a:spLocks xmlns:a="http://schemas.openxmlformats.org/drawingml/2006/main" noGrp="1"/>
          </p:cNvSpPr>
          <p:nvPr/>
        </p:nvSpPr>
        <p:spPr>
          <a:xfrm xmlns:a="http://schemas.openxmlformats.org/drawingml/2006/main">
            <a:off x="781050" y="6600825"/>
            <a:ext cx="1367790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COMPRUEBA TU RAZONAMIENTO</a:t>
            </a:r>
          </a:p>
        </p:txBody>
      </p:sp>
      <p:sp>
        <p:nvSpPr>
          <p:cNvPr id="23" name="development-question">
            <a:extLst xmlns:a="http://schemas.openxmlformats.org/drawingml/2006/main">
              <a:ext uri="{FF2B5EF4-FFF2-40B4-BE49-F238E27FC236}">
                <a16:creationId xmlns:a16="http://schemas.microsoft.com/office/drawing/2014/main" id="{D5A47138-3614-45E7-8D38-FF2B99BF536E}"/>
              </a:ext>
            </a:extLst>
          </p:cNvPr>
          <p:cNvSpPr>
            <a:spLocks xmlns:a="http://schemas.openxmlformats.org/drawingml/2006/main" noGrp="1"/>
          </p:cNvSpPr>
          <p:nvPr/>
        </p:nvSpPr>
        <p:spPr>
          <a:xfrm xmlns:a="http://schemas.openxmlformats.org/drawingml/2006/main">
            <a:off x="781050" y="6886575"/>
            <a:ext cx="1367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E293B"/>
                </a:solidFill>
                <a:latin typeface="DejaVu Sans"/>
                <a:ea typeface="DejaVu Sans"/>
                <a:cs typeface="DejaVu Sans"/>
              </a:defRPr>
            </a:pPr>
            <a:r>
              <a:rPr sz="1800" b="1">
                <a:solidFill>
                  <a:srgbClr val="1E293B"/>
                </a:solidFill>
                <a:latin typeface="DejaVu Sans"/>
                <a:ea typeface="DejaVu Sans"/>
                <a:cs typeface="DejaVu Sans"/>
              </a:rPr>
              <a:t>¿Cómo explicarías a un compañero por qué un LLM necesita tools?</a:t>
            </a:r>
          </a:p>
        </p:txBody>
      </p:sp>
      <p:sp>
        <p:nvSpPr>
          <p:cNvPr id="24" name="panel">
            <a:extLst xmlns:a="http://schemas.openxmlformats.org/drawingml/2006/main">
              <a:ext uri="{FF2B5EF4-FFF2-40B4-BE49-F238E27FC236}">
                <a16:creationId xmlns:a16="http://schemas.microsoft.com/office/drawing/2014/main" id="{B98C078D-40E7-4CE1-850C-C1C8BA0954D2}"/>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25" name="takeaway">
            <a:extLst xmlns:a="http://schemas.openxmlformats.org/drawingml/2006/main">
              <a:ext uri="{FF2B5EF4-FFF2-40B4-BE49-F238E27FC236}">
                <a16:creationId xmlns:a16="http://schemas.microsoft.com/office/drawing/2014/main" id="{825CDE69-088B-42A3-BE47-12CB85B2F9AE}"/>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Corregir el razonamiento vale más que memorizar la opción correcta.</a:t>
            </a:r>
          </a:p>
        </p:txBody>
      </p:sp>
    </p:spTree>
    <p:extLst>
      <p:ext uri="{BB962C8B-B14F-4D97-AF65-F5344CB8AC3E}">
        <p14:creationId xmlns:p14="http://schemas.microsoft.com/office/powerpoint/2010/main" val="1784021125"/>
      </p:ext>
    </p:extLst>
  </p:cSld>
</p:sld>
</file>

<file path=ppt/slides/slide66.xml><?xml version="1.0" encoding="utf-8"?>
<p:sld xmlns:p="http://schemas.openxmlformats.org/presentationml/2006/main">
  <p:cSld>
    <p:bg>
      <p:bgPr>
        <a:solidFill xmlns:a="http://schemas.openxmlformats.org/drawingml/2006/main">
          <a:srgbClr val="F4F6F8"/>
        </a:solidFill>
      </p:bgPr>
    </p:bg>
    <p:spTree>
      <p:nvGrpSpPr>
        <p:cNvPr id="1" name=""/>
        <p:cNvGrpSpPr/>
        <p:nvPr/>
      </p:nvGrpSpPr>
      <p:grpSpPr>
        <a:xfrm xmlns:a="http://schemas.openxmlformats.org/drawingml/2006/main"/>
      </p:grpSpPr>
      <p:sp>
        <p:nvSpPr>
          <p:cNvPr id="44" name="header">
            <a:extLst xmlns:a="http://schemas.openxmlformats.org/drawingml/2006/main">
              <a:ext uri="{FF2B5EF4-FFF2-40B4-BE49-F238E27FC236}">
                <a16:creationId xmlns:a16="http://schemas.microsoft.com/office/drawing/2014/main" id="{DDDB1073-6D78-4288-B7B1-4E19F59A44A6}"/>
              </a:ext>
            </a:extLst>
          </p:cNvPr>
          <p:cNvSpPr>
            <a:spLocks xmlns:a="http://schemas.openxmlformats.org/drawingml/2006/main" noGrp="1"/>
          </p:cNvSpPr>
          <p:nvPr/>
        </p:nvSpPr>
        <p:spPr>
          <a:xfrm xmlns:a="http://schemas.openxmlformats.org/drawingml/2006/main">
            <a:off x="266700" y="247650"/>
            <a:ext cx="14706600" cy="1057275"/>
          </a:xfrm>
          <a:prstGeom xmlns:a="http://schemas.openxmlformats.org/drawingml/2006/main" prst="roundRect">
            <a:avLst>
              <a:gd name="adj" fmla="val 18018"/>
            </a:avLst>
          </a:prstGeom>
          <a:solidFill xmlns:a="http://schemas.openxmlformats.org/drawingml/2006/main">
            <a:srgbClr val="1E293B"/>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68A8173-7E46-4AFC-89B5-B6DBB3DE9C32}"/>
              </a:ext>
            </a:extLst>
          </p:cNvPr>
          <p:cNvSpPr>
            <a:spLocks xmlns:a="http://schemas.openxmlformats.org/drawingml/2006/main" noGrp="1"/>
          </p:cNvSpPr>
          <p:nvPr/>
        </p:nvSpPr>
        <p:spPr>
          <a:xfrm xmlns:a="http://schemas.openxmlformats.org/drawingml/2006/main">
            <a:off x="457200" y="514350"/>
            <a:ext cx="590550" cy="59055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3" name="step-number">
            <a:extLst xmlns:a="http://schemas.openxmlformats.org/drawingml/2006/main">
              <a:ext uri="{FF2B5EF4-FFF2-40B4-BE49-F238E27FC236}">
                <a16:creationId xmlns:a16="http://schemas.microsoft.com/office/drawing/2014/main" id="{B84B538D-1542-406E-93B5-0096FB6166AB}"/>
              </a:ext>
            </a:extLst>
          </p:cNvPr>
          <p:cNvSpPr>
            <a:spLocks xmlns:a="http://schemas.openxmlformats.org/drawingml/2006/main" noGrp="1"/>
          </p:cNvSpPr>
          <p:nvPr/>
        </p:nvSpPr>
        <p:spPr>
          <a:xfrm xmlns:a="http://schemas.openxmlformats.org/drawingml/2006/main">
            <a:off x="457200" y="590550"/>
            <a:ext cx="5905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22</a:t>
            </a:r>
          </a:p>
        </p:txBody>
      </p:sp>
      <p:sp>
        <p:nvSpPr>
          <p:cNvPr id="4" name="breadcrumb">
            <a:extLst xmlns:a="http://schemas.openxmlformats.org/drawingml/2006/main">
              <a:ext uri="{FF2B5EF4-FFF2-40B4-BE49-F238E27FC236}">
                <a16:creationId xmlns:a16="http://schemas.microsoft.com/office/drawing/2014/main" id="{B646F25B-F125-4251-BFE7-97D0017E0F4E}"/>
              </a:ext>
            </a:extLst>
          </p:cNvPr>
          <p:cNvSpPr>
            <a:spLocks xmlns:a="http://schemas.openxmlformats.org/drawingml/2006/main" noGrp="1"/>
          </p:cNvSpPr>
          <p:nvPr/>
        </p:nvSpPr>
        <p:spPr>
          <a:xfrm xmlns:a="http://schemas.openxmlformats.org/drawingml/2006/main">
            <a:off x="1228725" y="400050"/>
            <a:ext cx="12287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0">
                <a:solidFill>
                  <a:srgbClr val="DCE5EF"/>
                </a:solidFill>
                <a:latin typeface="DejaVu Sans"/>
                <a:ea typeface="DejaVu Sans"/>
                <a:cs typeface="DejaVu Sans"/>
              </a:defRPr>
            </a:pPr>
            <a:r>
              <a:rPr sz="1275" b="0">
                <a:solidFill>
                  <a:srgbClr val="DCE5EF"/>
                </a:solidFill>
                <a:latin typeface="DejaVu Sans"/>
                <a:ea typeface="DejaVu Sans"/>
                <a:cs typeface="DejaVu Sans"/>
              </a:rPr>
              <a:t>00 · Preparación: modelos de lenguaje / CAPÍTULO 22</a:t>
            </a:r>
          </a:p>
        </p:txBody>
      </p:sp>
      <p:sp>
        <p:nvSpPr>
          <p:cNvPr id="5" name="slide-title">
            <a:extLst xmlns:a="http://schemas.openxmlformats.org/drawingml/2006/main">
              <a:ext uri="{FF2B5EF4-FFF2-40B4-BE49-F238E27FC236}">
                <a16:creationId xmlns:a16="http://schemas.microsoft.com/office/drawing/2014/main" id="{95899633-15B3-4131-8AC3-62982A135E0B}"/>
              </a:ext>
            </a:extLst>
          </p:cNvPr>
          <p:cNvSpPr>
            <a:spLocks xmlns:a="http://schemas.openxmlformats.org/drawingml/2006/main" noGrp="1"/>
          </p:cNvSpPr>
          <p:nvPr/>
        </p:nvSpPr>
        <p:spPr>
          <a:xfrm xmlns:a="http://schemas.openxmlformats.org/drawingml/2006/main">
            <a:off x="1228725" y="714375"/>
            <a:ext cx="13144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75" b="1">
                <a:solidFill>
                  <a:srgbClr val="FFFFFF"/>
                </a:solidFill>
                <a:latin typeface="DejaVu Sans"/>
                <a:ea typeface="DejaVu Sans"/>
                <a:cs typeface="DejaVu Sans"/>
              </a:defRPr>
            </a:pPr>
            <a:r>
              <a:rPr sz="2775" b="1">
                <a:solidFill>
                  <a:srgbClr val="FFFFFF"/>
                </a:solidFill>
                <a:latin typeface="DejaVu Sans"/>
                <a:ea typeface="DejaVu Sans"/>
                <a:cs typeface="DejaVu Sans"/>
              </a:rPr>
              <a:t>Ejemplo · Salida de S0 y siguiente paso</a:t>
            </a:r>
          </a:p>
        </p:txBody>
      </p:sp>
      <p:sp>
        <p:nvSpPr>
          <p:cNvPr id="6" name="learning-purpose">
            <a:extLst xmlns:a="http://schemas.openxmlformats.org/drawingml/2006/main">
              <a:ext uri="{FF2B5EF4-FFF2-40B4-BE49-F238E27FC236}">
                <a16:creationId xmlns:a16="http://schemas.microsoft.com/office/drawing/2014/main" id="{5E5CBFFC-ED51-41A6-96B4-4CD9C6C6AAB7}"/>
              </a:ext>
            </a:extLst>
          </p:cNvPr>
          <p:cNvSpPr>
            <a:spLocks xmlns:a="http://schemas.openxmlformats.org/drawingml/2006/main" noGrp="1"/>
          </p:cNvSpPr>
          <p:nvPr/>
        </p:nvSpPr>
        <p:spPr>
          <a:xfrm xmlns:a="http://schemas.openxmlformats.org/drawingml/2006/main">
            <a:off x="552450" y="1514475"/>
            <a:ext cx="141351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1E293B"/>
                </a:solidFill>
                <a:latin typeface="DejaVu Sans"/>
                <a:ea typeface="DejaVu Sans"/>
                <a:cs typeface="DejaVu Sans"/>
              </a:defRPr>
            </a:pPr>
            <a:r>
              <a:rPr sz="2025" b="0">
                <a:solidFill>
                  <a:srgbClr val="1E293B"/>
                </a:solidFill>
                <a:latin typeface="DejaVu Sans"/>
                <a:ea typeface="DejaVu Sans"/>
                <a:cs typeface="DejaVu Sans"/>
              </a:rPr>
              <a:t>Comprobar comprensión y corregir vacíos antes de construir agentes.</a:t>
            </a:r>
          </a:p>
        </p:txBody>
      </p:sp>
      <p:sp>
        <p:nvSpPr>
          <p:cNvPr id="7" name="panel">
            <a:extLst xmlns:a="http://schemas.openxmlformats.org/drawingml/2006/main">
              <a:ext uri="{FF2B5EF4-FFF2-40B4-BE49-F238E27FC236}">
                <a16:creationId xmlns:a16="http://schemas.microsoft.com/office/drawing/2014/main" id="{DD6A73CA-0D86-4F9B-86F0-A2F3616F9471}"/>
              </a:ext>
            </a:extLst>
          </p:cNvPr>
          <p:cNvSpPr>
            <a:spLocks xmlns:a="http://schemas.openxmlformats.org/drawingml/2006/main" noGrp="1"/>
          </p:cNvSpPr>
          <p:nvPr/>
        </p:nvSpPr>
        <p:spPr>
          <a:xfrm xmlns:a="http://schemas.openxmlformats.org/drawingml/2006/main">
            <a:off x="10001250"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8" name="chapter-progress">
            <a:extLst xmlns:a="http://schemas.openxmlformats.org/drawingml/2006/main">
              <a:ext uri="{FF2B5EF4-FFF2-40B4-BE49-F238E27FC236}">
                <a16:creationId xmlns:a16="http://schemas.microsoft.com/office/drawing/2014/main" id="{DDA0BEF5-2C1D-478F-89E1-EDBFCF14B6A1}"/>
              </a:ext>
            </a:extLst>
          </p:cNvPr>
          <p:cNvSpPr>
            <a:spLocks xmlns:a="http://schemas.openxmlformats.org/drawingml/2006/main" noGrp="1"/>
          </p:cNvSpPr>
          <p:nvPr/>
        </p:nvSpPr>
        <p:spPr>
          <a:xfrm xmlns:a="http://schemas.openxmlformats.org/drawingml/2006/main">
            <a:off x="1006792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1 · CONCEPTO</a:t>
            </a:r>
          </a:p>
        </p:txBody>
      </p:sp>
      <p:sp>
        <p:nvSpPr>
          <p:cNvPr id="9" name="panel">
            <a:extLst xmlns:a="http://schemas.openxmlformats.org/drawingml/2006/main">
              <a:ext uri="{FF2B5EF4-FFF2-40B4-BE49-F238E27FC236}">
                <a16:creationId xmlns:a16="http://schemas.microsoft.com/office/drawing/2014/main" id="{91E77A01-B901-4914-A131-DFD4AF9EB598}"/>
              </a:ext>
            </a:extLst>
          </p:cNvPr>
          <p:cNvSpPr>
            <a:spLocks xmlns:a="http://schemas.openxmlformats.org/drawingml/2006/main" noGrp="1"/>
          </p:cNvSpPr>
          <p:nvPr/>
        </p:nvSpPr>
        <p:spPr>
          <a:xfrm xmlns:a="http://schemas.openxmlformats.org/drawingml/2006/main">
            <a:off x="11591925" y="2152650"/>
            <a:ext cx="1485900" cy="276225"/>
          </a:xfrm>
          <a:prstGeom xmlns:a="http://schemas.openxmlformats.org/drawingml/2006/main" prst="roundRect">
            <a:avLst>
              <a:gd name="adj" fmla="val 27586"/>
            </a:avLst>
          </a:prstGeom>
          <a:solidFill xmlns:a="http://schemas.openxmlformats.org/drawingml/2006/main">
            <a:srgbClr val="E9F0F7"/>
          </a:solidFill>
          <a:ln xmlns:a="http://schemas.openxmlformats.org/drawingml/2006/main" w="0">
            <a:noFill/>
          </a:ln>
        </p:spPr>
      </p:sp>
      <p:sp>
        <p:nvSpPr>
          <p:cNvPr id="10" name="chapter-progress">
            <a:extLst xmlns:a="http://schemas.openxmlformats.org/drawingml/2006/main">
              <a:ext uri="{FF2B5EF4-FFF2-40B4-BE49-F238E27FC236}">
                <a16:creationId xmlns:a16="http://schemas.microsoft.com/office/drawing/2014/main" id="{99F55CC2-3871-4109-A322-45D4C0B6F6D3}"/>
              </a:ext>
            </a:extLst>
          </p:cNvPr>
          <p:cNvSpPr>
            <a:spLocks xmlns:a="http://schemas.openxmlformats.org/drawingml/2006/main" noGrp="1"/>
          </p:cNvSpPr>
          <p:nvPr/>
        </p:nvSpPr>
        <p:spPr>
          <a:xfrm xmlns:a="http://schemas.openxmlformats.org/drawingml/2006/main">
            <a:off x="11658600"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526277"/>
                </a:solidFill>
                <a:latin typeface="DejaVu Sans"/>
                <a:ea typeface="DejaVu Sans"/>
                <a:cs typeface="DejaVu Sans"/>
              </a:defRPr>
            </a:pPr>
            <a:r>
              <a:rPr sz="1050" b="1">
                <a:solidFill>
                  <a:srgbClr val="526277"/>
                </a:solidFill>
                <a:latin typeface="DejaVu Sans"/>
                <a:ea typeface="DejaVu Sans"/>
                <a:cs typeface="DejaVu Sans"/>
              </a:rPr>
              <a:t>2 · DESARROLLO</a:t>
            </a:r>
          </a:p>
        </p:txBody>
      </p:sp>
      <p:sp>
        <p:nvSpPr>
          <p:cNvPr id="11" name="panel">
            <a:extLst xmlns:a="http://schemas.openxmlformats.org/drawingml/2006/main">
              <a:ext uri="{FF2B5EF4-FFF2-40B4-BE49-F238E27FC236}">
                <a16:creationId xmlns:a16="http://schemas.microsoft.com/office/drawing/2014/main" id="{2526F554-45B4-4310-AF2B-80428BFEF8A1}"/>
              </a:ext>
            </a:extLst>
          </p:cNvPr>
          <p:cNvSpPr>
            <a:spLocks xmlns:a="http://schemas.openxmlformats.org/drawingml/2006/main" noGrp="1"/>
          </p:cNvSpPr>
          <p:nvPr/>
        </p:nvSpPr>
        <p:spPr>
          <a:xfrm xmlns:a="http://schemas.openxmlformats.org/drawingml/2006/main">
            <a:off x="13182600" y="2152650"/>
            <a:ext cx="1485900" cy="276225"/>
          </a:xfrm>
          <a:prstGeom xmlns:a="http://schemas.openxmlformats.org/drawingml/2006/main" prst="roundRect">
            <a:avLst>
              <a:gd name="adj" fmla="val 27586"/>
            </a:avLst>
          </a:prstGeom>
          <a:solidFill xmlns:a="http://schemas.openxmlformats.org/drawingml/2006/main">
            <a:srgbClr val="FF5733"/>
          </a:solidFill>
          <a:ln xmlns:a="http://schemas.openxmlformats.org/drawingml/2006/main" w="0">
            <a:noFill/>
          </a:ln>
        </p:spPr>
      </p:sp>
      <p:sp>
        <p:nvSpPr>
          <p:cNvPr id="12" name="chapter-progress">
            <a:extLst xmlns:a="http://schemas.openxmlformats.org/drawingml/2006/main">
              <a:ext uri="{FF2B5EF4-FFF2-40B4-BE49-F238E27FC236}">
                <a16:creationId xmlns:a16="http://schemas.microsoft.com/office/drawing/2014/main" id="{49317C6D-F8CB-4454-95C4-7FBDE9D7A9F5}"/>
              </a:ext>
            </a:extLst>
          </p:cNvPr>
          <p:cNvSpPr>
            <a:spLocks xmlns:a="http://schemas.openxmlformats.org/drawingml/2006/main" noGrp="1"/>
          </p:cNvSpPr>
          <p:nvPr/>
        </p:nvSpPr>
        <p:spPr>
          <a:xfrm xmlns:a="http://schemas.openxmlformats.org/drawingml/2006/main">
            <a:off x="13249275" y="2200275"/>
            <a:ext cx="13525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050" b="1">
                <a:solidFill>
                  <a:srgbClr val="FFFFFF"/>
                </a:solidFill>
                <a:latin typeface="DejaVu Sans"/>
                <a:ea typeface="DejaVu Sans"/>
                <a:cs typeface="DejaVu Sans"/>
              </a:defRPr>
            </a:pPr>
            <a:r>
              <a:rPr sz="1050" b="1">
                <a:solidFill>
                  <a:srgbClr val="FFFFFF"/>
                </a:solidFill>
                <a:latin typeface="DejaVu Sans"/>
                <a:ea typeface="DejaVu Sans"/>
                <a:cs typeface="DejaVu Sans"/>
              </a:rPr>
              <a:t>3 · EJEMPLO</a:t>
            </a:r>
          </a:p>
        </p:txBody>
      </p:sp>
      <p:sp>
        <p:nvSpPr>
          <p:cNvPr id="13" name="footer">
            <a:extLst xmlns:a="http://schemas.openxmlformats.org/drawingml/2006/main">
              <a:ext uri="{FF2B5EF4-FFF2-40B4-BE49-F238E27FC236}">
                <a16:creationId xmlns:a16="http://schemas.microsoft.com/office/drawing/2014/main" id="{BB6683BB-2614-4EC9-9792-2255CC2B777F}"/>
              </a:ext>
            </a:extLst>
          </p:cNvPr>
          <p:cNvSpPr>
            <a:spLocks xmlns:a="http://schemas.openxmlformats.org/drawingml/2006/main" noGrp="1"/>
          </p:cNvSpPr>
          <p:nvPr/>
        </p:nvSpPr>
        <p:spPr>
          <a:xfrm xmlns:a="http://schemas.openxmlformats.org/drawingml/2006/main">
            <a:off x="552450" y="8277225"/>
            <a:ext cx="1190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526277"/>
                </a:solidFill>
                <a:latin typeface="DejaVu Sans"/>
                <a:ea typeface="DejaVu Sans"/>
                <a:cs typeface="DejaVu Sans"/>
              </a:defRPr>
            </a:pPr>
            <a:r>
              <a:rPr sz="1125" b="1">
                <a:solidFill>
                  <a:srgbClr val="526277"/>
                </a:solidFill>
                <a:latin typeface="DejaVu Sans"/>
                <a:ea typeface="DejaVu Sans"/>
                <a:cs typeface="DejaVu Sans"/>
              </a:rPr>
              <a:t>AriwaLabs · 00 / C22</a:t>
            </a:r>
          </a:p>
        </p:txBody>
      </p:sp>
      <p:sp>
        <p:nvSpPr>
          <p:cNvPr id="14" name="folio">
            <a:extLst xmlns:a="http://schemas.openxmlformats.org/drawingml/2006/main">
              <a:ext uri="{FF2B5EF4-FFF2-40B4-BE49-F238E27FC236}">
                <a16:creationId xmlns:a16="http://schemas.microsoft.com/office/drawing/2014/main" id="{316A054E-DC10-4977-833F-EA030036DFED}"/>
              </a:ext>
            </a:extLst>
          </p:cNvPr>
          <p:cNvSpPr>
            <a:spLocks xmlns:a="http://schemas.openxmlformats.org/drawingml/2006/main" noGrp="1"/>
          </p:cNvSpPr>
          <p:nvPr/>
        </p:nvSpPr>
        <p:spPr>
          <a:xfrm xmlns:a="http://schemas.openxmlformats.org/drawingml/2006/main">
            <a:off x="13906500" y="8258175"/>
            <a:ext cx="781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1">
                <a:solidFill>
                  <a:srgbClr val="526277"/>
                </a:solidFill>
                <a:latin typeface="DejaVu Sans"/>
                <a:ea typeface="DejaVu Sans"/>
                <a:cs typeface="DejaVu Sans"/>
              </a:defRPr>
            </a:pPr>
            <a:r>
              <a:rPr sz="1350" b="1">
                <a:solidFill>
                  <a:srgbClr val="526277"/>
                </a:solidFill>
                <a:latin typeface="DejaVu Sans"/>
                <a:ea typeface="DejaVu Sans"/>
                <a:cs typeface="DejaVu Sans"/>
              </a:rPr>
              <a:t>66</a:t>
            </a:r>
          </a:p>
        </p:txBody>
      </p:sp>
      <p:sp>
        <p:nvSpPr>
          <p:cNvPr id="15" name="section-label">
            <a:extLst xmlns:a="http://schemas.openxmlformats.org/drawingml/2006/main">
              <a:ext uri="{FF2B5EF4-FFF2-40B4-BE49-F238E27FC236}">
                <a16:creationId xmlns:a16="http://schemas.microsoft.com/office/drawing/2014/main" id="{CA001202-448F-4BFC-BDE3-A41104FF3F98}"/>
              </a:ext>
            </a:extLst>
          </p:cNvPr>
          <p:cNvSpPr>
            <a:spLocks xmlns:a="http://schemas.openxmlformats.org/drawingml/2006/main" noGrp="1"/>
          </p:cNvSpPr>
          <p:nvPr/>
        </p:nvSpPr>
        <p:spPr>
          <a:xfrm xmlns:a="http://schemas.openxmlformats.org/drawingml/2006/main">
            <a:off x="571500" y="2181225"/>
            <a:ext cx="1333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526277"/>
                </a:solidFill>
                <a:latin typeface="DejaVu Sans"/>
                <a:ea typeface="DejaVu Sans"/>
                <a:cs typeface="DejaVu Sans"/>
              </a:defRPr>
            </a:pPr>
            <a:r>
              <a:rPr sz="1275" b="1">
                <a:solidFill>
                  <a:srgbClr val="526277"/>
                </a:solidFill>
                <a:latin typeface="DejaVu Sans"/>
                <a:ea typeface="DejaVu Sans"/>
                <a:cs typeface="DejaVu Sans"/>
              </a:rPr>
              <a:t>BANCO INTI · CASO DIDÁCTICO</a:t>
            </a:r>
          </a:p>
        </p:txBody>
      </p:sp>
      <p:sp>
        <p:nvSpPr>
          <p:cNvPr id="16" name="panel">
            <a:extLst xmlns:a="http://schemas.openxmlformats.org/drawingml/2006/main">
              <a:ext uri="{FF2B5EF4-FFF2-40B4-BE49-F238E27FC236}">
                <a16:creationId xmlns:a16="http://schemas.microsoft.com/office/drawing/2014/main" id="{A0267A89-507B-4FC4-8769-66CC511A3023}"/>
              </a:ext>
            </a:extLst>
          </p:cNvPr>
          <p:cNvSpPr>
            <a:spLocks xmlns:a="http://schemas.openxmlformats.org/drawingml/2006/main" noGrp="1"/>
          </p:cNvSpPr>
          <p:nvPr/>
        </p:nvSpPr>
        <p:spPr>
          <a:xfrm xmlns:a="http://schemas.openxmlformats.org/drawingml/2006/main">
            <a:off x="571500" y="2638425"/>
            <a:ext cx="14097000" cy="962025"/>
          </a:xfrm>
          <a:prstGeom xmlns:a="http://schemas.openxmlformats.org/drawingml/2006/main" prst="roundRect">
            <a:avLst>
              <a:gd name="adj" fmla="val 15842"/>
            </a:avLst>
          </a:prstGeom>
          <a:solidFill xmlns:a="http://schemas.openxmlformats.org/drawingml/2006/main">
            <a:srgbClr val="E9F0F7"/>
          </a:solidFill>
          <a:ln xmlns:a="http://schemas.openxmlformats.org/drawingml/2006/main" w="0">
            <a:noFill/>
          </a:ln>
        </p:spPr>
      </p:sp>
      <p:sp>
        <p:nvSpPr>
          <p:cNvPr id="17" name="case-label">
            <a:extLst xmlns:a="http://schemas.openxmlformats.org/drawingml/2006/main">
              <a:ext uri="{FF2B5EF4-FFF2-40B4-BE49-F238E27FC236}">
                <a16:creationId xmlns:a16="http://schemas.microsoft.com/office/drawing/2014/main" id="{5A66D9F6-B47D-4236-A233-B1BE6A7333D2}"/>
              </a:ext>
            </a:extLst>
          </p:cNvPr>
          <p:cNvSpPr>
            <a:spLocks xmlns:a="http://schemas.openxmlformats.org/drawingml/2006/main" noGrp="1"/>
          </p:cNvSpPr>
          <p:nvPr/>
        </p:nvSpPr>
        <p:spPr>
          <a:xfrm xmlns:a="http://schemas.openxmlformats.org/drawingml/2006/main">
            <a:off x="800100" y="2781300"/>
            <a:ext cx="1333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526277"/>
                </a:solidFill>
                <a:latin typeface="DejaVu Sans"/>
                <a:ea typeface="DejaVu Sans"/>
                <a:cs typeface="DejaVu Sans"/>
              </a:defRPr>
            </a:pPr>
            <a:r>
              <a:rPr sz="1200" b="1">
                <a:solidFill>
                  <a:srgbClr val="526277"/>
                </a:solidFill>
                <a:latin typeface="DejaVu Sans"/>
                <a:ea typeface="DejaVu Sans"/>
                <a:cs typeface="DejaVu Sans"/>
              </a:rPr>
              <a:t>SITUACIÓN</a:t>
            </a:r>
          </a:p>
        </p:txBody>
      </p:sp>
      <p:sp>
        <p:nvSpPr>
          <p:cNvPr id="18" name="case-input">
            <a:extLst xmlns:a="http://schemas.openxmlformats.org/drawingml/2006/main">
              <a:ext uri="{FF2B5EF4-FFF2-40B4-BE49-F238E27FC236}">
                <a16:creationId xmlns:a16="http://schemas.microsoft.com/office/drawing/2014/main" id="{2A5C7E7A-7FB6-463E-9791-E950181EBF7D}"/>
              </a:ext>
            </a:extLst>
          </p:cNvPr>
          <p:cNvSpPr>
            <a:spLocks xmlns:a="http://schemas.openxmlformats.org/drawingml/2006/main" noGrp="1"/>
          </p:cNvSpPr>
          <p:nvPr/>
        </p:nvSpPr>
        <p:spPr>
          <a:xfrm xmlns:a="http://schemas.openxmlformats.org/drawingml/2006/main">
            <a:off x="2238375" y="2819400"/>
            <a:ext cx="121634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E293B"/>
                </a:solidFill>
                <a:latin typeface="DejaVu Sans"/>
                <a:ea typeface="DejaVu Sans"/>
                <a:cs typeface="DejaVu Sans"/>
              </a:defRPr>
            </a:pPr>
            <a:r>
              <a:rPr sz="2100" b="1">
                <a:solidFill>
                  <a:srgbClr val="1E293B"/>
                </a:solidFill>
                <a:latin typeface="DejaVu Sans"/>
                <a:ea typeface="DejaVu Sans"/>
                <a:cs typeface="DejaVu Sans"/>
              </a:rPr>
              <a:t>Un alumno afirma que temperatura cero elimina las alucinaciones.</a:t>
            </a:r>
          </a:p>
        </p:txBody>
      </p:sp>
      <p:sp>
        <p:nvSpPr>
          <p:cNvPr id="19" name="concept-node">
            <a:extLst xmlns:a="http://schemas.openxmlformats.org/drawingml/2006/main">
              <a:ext uri="{FF2B5EF4-FFF2-40B4-BE49-F238E27FC236}">
                <a16:creationId xmlns:a16="http://schemas.microsoft.com/office/drawing/2014/main" id="{5458FC81-9A56-4854-BED3-A9F2767C74D1}"/>
              </a:ext>
            </a:extLst>
          </p:cNvPr>
          <p:cNvSpPr>
            <a:spLocks xmlns:a="http://schemas.openxmlformats.org/drawingml/2006/main" noGrp="1"/>
          </p:cNvSpPr>
          <p:nvPr/>
        </p:nvSpPr>
        <p:spPr>
          <a:xfrm xmlns:a="http://schemas.openxmlformats.org/drawingml/2006/main">
            <a:off x="5715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20" name="node-top-rule">
            <a:extLst xmlns:a="http://schemas.openxmlformats.org/drawingml/2006/main">
              <a:ext uri="{FF2B5EF4-FFF2-40B4-BE49-F238E27FC236}">
                <a16:creationId xmlns:a16="http://schemas.microsoft.com/office/drawing/2014/main" id="{C93C2DC7-018E-4BE8-8946-E58CC9762142}"/>
              </a:ext>
            </a:extLst>
          </p:cNvPr>
          <p:cNvSpPr>
            <a:spLocks xmlns:a="http://schemas.openxmlformats.org/drawingml/2006/main" noGrp="1"/>
          </p:cNvSpPr>
          <p:nvPr/>
        </p:nvSpPr>
        <p:spPr>
          <a:xfrm xmlns:a="http://schemas.openxmlformats.org/drawingml/2006/main">
            <a:off x="5810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9122E3A-84F4-4927-A315-F786EDBC9CEC}"/>
              </a:ext>
            </a:extLst>
          </p:cNvPr>
          <p:cNvSpPr>
            <a:spLocks xmlns:a="http://schemas.openxmlformats.org/drawingml/2006/main" noGrp="1"/>
          </p:cNvSpPr>
          <p:nvPr/>
        </p:nvSpPr>
        <p:spPr>
          <a:xfrm xmlns:a="http://schemas.openxmlformats.org/drawingml/2006/main">
            <a:off x="7810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22" name="step-number">
            <a:extLst xmlns:a="http://schemas.openxmlformats.org/drawingml/2006/main">
              <a:ext uri="{FF2B5EF4-FFF2-40B4-BE49-F238E27FC236}">
                <a16:creationId xmlns:a16="http://schemas.microsoft.com/office/drawing/2014/main" id="{B6F72201-8A7A-4078-BB4A-5F10B7388F35}"/>
              </a:ext>
            </a:extLst>
          </p:cNvPr>
          <p:cNvSpPr>
            <a:spLocks xmlns:a="http://schemas.openxmlformats.org/drawingml/2006/main" noGrp="1"/>
          </p:cNvSpPr>
          <p:nvPr/>
        </p:nvSpPr>
        <p:spPr>
          <a:xfrm xmlns:a="http://schemas.openxmlformats.org/drawingml/2006/main">
            <a:off x="7810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1</a:t>
            </a:r>
          </a:p>
        </p:txBody>
      </p:sp>
      <p:sp>
        <p:nvSpPr>
          <p:cNvPr id="23" name="node-heading">
            <a:extLst xmlns:a="http://schemas.openxmlformats.org/drawingml/2006/main">
              <a:ext uri="{FF2B5EF4-FFF2-40B4-BE49-F238E27FC236}">
                <a16:creationId xmlns:a16="http://schemas.microsoft.com/office/drawing/2014/main" id="{D2CE0166-1F73-43CE-B98C-E2C81EDD39E2}"/>
              </a:ext>
            </a:extLst>
          </p:cNvPr>
          <p:cNvSpPr>
            <a:spLocks xmlns:a="http://schemas.openxmlformats.org/drawingml/2006/main" noGrp="1"/>
          </p:cNvSpPr>
          <p:nvPr/>
        </p:nvSpPr>
        <p:spPr>
          <a:xfrm xmlns:a="http://schemas.openxmlformats.org/drawingml/2006/main">
            <a:off x="13906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Detectar</a:t>
            </a:r>
          </a:p>
        </p:txBody>
      </p:sp>
      <p:sp>
        <p:nvSpPr>
          <p:cNvPr id="24" name="node-body">
            <a:extLst xmlns:a="http://schemas.openxmlformats.org/drawingml/2006/main">
              <a:ext uri="{FF2B5EF4-FFF2-40B4-BE49-F238E27FC236}">
                <a16:creationId xmlns:a16="http://schemas.microsoft.com/office/drawing/2014/main" id="{949F3C21-52CF-418F-8929-E62584FD74A9}"/>
              </a:ext>
            </a:extLst>
          </p:cNvPr>
          <p:cNvSpPr>
            <a:spLocks xmlns:a="http://schemas.openxmlformats.org/drawingml/2006/main" noGrp="1"/>
          </p:cNvSpPr>
          <p:nvPr/>
        </p:nvSpPr>
        <p:spPr>
          <a:xfrm xmlns:a="http://schemas.openxmlformats.org/drawingml/2006/main">
            <a:off x="8096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Confunde repetibilidad con</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verdad.</a:t>
            </a:r>
          </a:p>
        </p:txBody>
      </p:sp>
      <p:sp>
        <p:nvSpPr>
          <p:cNvPr id="25" name="concept-node">
            <a:extLst xmlns:a="http://schemas.openxmlformats.org/drawingml/2006/main">
              <a:ext uri="{FF2B5EF4-FFF2-40B4-BE49-F238E27FC236}">
                <a16:creationId xmlns:a16="http://schemas.microsoft.com/office/drawing/2014/main" id="{0D1AEC2F-D5D3-4324-92FB-C0F7AD391EA6}"/>
              </a:ext>
            </a:extLst>
          </p:cNvPr>
          <p:cNvSpPr>
            <a:spLocks xmlns:a="http://schemas.openxmlformats.org/drawingml/2006/main" noGrp="1"/>
          </p:cNvSpPr>
          <p:nvPr/>
        </p:nvSpPr>
        <p:spPr>
          <a:xfrm xmlns:a="http://schemas.openxmlformats.org/drawingml/2006/main">
            <a:off x="5429250" y="3943350"/>
            <a:ext cx="4381500" cy="2133600"/>
          </a:xfrm>
          <a:prstGeom xmlns:a="http://schemas.openxmlformats.org/drawingml/2006/main" prst="roundRect">
            <a:avLst>
              <a:gd name="adj" fmla="val 8036"/>
            </a:avLst>
          </a:prstGeom>
          <a:solidFill xmlns:a="http://schemas.openxmlformats.org/drawingml/2006/main">
            <a:srgbClr val="FFF0EB"/>
          </a:solidFill>
          <a:ln xmlns:a="http://schemas.openxmlformats.org/drawingml/2006/main" w="14288">
            <a:solidFill>
              <a:srgbClr val="FF5733"/>
            </a:solidFill>
          </a:ln>
        </p:spPr>
      </p:sp>
      <p:sp>
        <p:nvSpPr>
          <p:cNvPr id="26" name="node-top-rule">
            <a:extLst xmlns:a="http://schemas.openxmlformats.org/drawingml/2006/main">
              <a:ext uri="{FF2B5EF4-FFF2-40B4-BE49-F238E27FC236}">
                <a16:creationId xmlns:a16="http://schemas.microsoft.com/office/drawing/2014/main" id="{08181DAD-0CD6-429E-B6DD-29D272761D04}"/>
              </a:ext>
            </a:extLst>
          </p:cNvPr>
          <p:cNvSpPr>
            <a:spLocks xmlns:a="http://schemas.openxmlformats.org/drawingml/2006/main" noGrp="1"/>
          </p:cNvSpPr>
          <p:nvPr/>
        </p:nvSpPr>
        <p:spPr>
          <a:xfrm xmlns:a="http://schemas.openxmlformats.org/drawingml/2006/main">
            <a:off x="5438775" y="3952875"/>
            <a:ext cx="4362450" cy="85725"/>
          </a:xfrm>
          <a:prstGeom xmlns:a="http://schemas.openxmlformats.org/drawingml/2006/main" prst="roundRect">
            <a:avLst>
              <a:gd name="adj" fmla="val 44444"/>
            </a:avLst>
          </a:prstGeom>
          <a:solidFill xmlns:a="http://schemas.openxmlformats.org/drawingml/2006/main">
            <a:srgbClr val="FF5733"/>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9FF9ECBB-3736-4780-BA32-02D763299DE3}"/>
              </a:ext>
            </a:extLst>
          </p:cNvPr>
          <p:cNvSpPr>
            <a:spLocks xmlns:a="http://schemas.openxmlformats.org/drawingml/2006/main" noGrp="1"/>
          </p:cNvSpPr>
          <p:nvPr/>
        </p:nvSpPr>
        <p:spPr>
          <a:xfrm xmlns:a="http://schemas.openxmlformats.org/drawingml/2006/main">
            <a:off x="5638800" y="4181475"/>
            <a:ext cx="457200" cy="457200"/>
          </a:xfrm>
          <a:prstGeom xmlns:a="http://schemas.openxmlformats.org/drawingml/2006/main" prst="ellipse">
            <a:avLst/>
          </a:prstGeom>
          <a:solidFill xmlns:a="http://schemas.openxmlformats.org/drawingml/2006/main">
            <a:srgbClr val="FF5733"/>
          </a:solidFill>
          <a:ln xmlns:a="http://schemas.openxmlformats.org/drawingml/2006/main" w="0">
            <a:noFill/>
          </a:ln>
        </p:spPr>
      </p:sp>
      <p:sp>
        <p:nvSpPr>
          <p:cNvPr id="28" name="step-number">
            <a:extLst xmlns:a="http://schemas.openxmlformats.org/drawingml/2006/main">
              <a:ext uri="{FF2B5EF4-FFF2-40B4-BE49-F238E27FC236}">
                <a16:creationId xmlns:a16="http://schemas.microsoft.com/office/drawing/2014/main" id="{B1A5816F-092C-4E49-88F5-470229618C5E}"/>
              </a:ext>
            </a:extLst>
          </p:cNvPr>
          <p:cNvSpPr>
            <a:spLocks xmlns:a="http://schemas.openxmlformats.org/drawingml/2006/main" noGrp="1"/>
          </p:cNvSpPr>
          <p:nvPr/>
        </p:nvSpPr>
        <p:spPr>
          <a:xfrm xmlns:a="http://schemas.openxmlformats.org/drawingml/2006/main">
            <a:off x="563880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2</a:t>
            </a:r>
          </a:p>
        </p:txBody>
      </p:sp>
      <p:sp>
        <p:nvSpPr>
          <p:cNvPr id="29" name="node-heading">
            <a:extLst xmlns:a="http://schemas.openxmlformats.org/drawingml/2006/main">
              <a:ext uri="{FF2B5EF4-FFF2-40B4-BE49-F238E27FC236}">
                <a16:creationId xmlns:a16="http://schemas.microsoft.com/office/drawing/2014/main" id="{27E2BAEB-D109-4B47-B119-61C7150E7565}"/>
              </a:ext>
            </a:extLst>
          </p:cNvPr>
          <p:cNvSpPr>
            <a:spLocks xmlns:a="http://schemas.openxmlformats.org/drawingml/2006/main" noGrp="1"/>
          </p:cNvSpPr>
          <p:nvPr/>
        </p:nvSpPr>
        <p:spPr>
          <a:xfrm xmlns:a="http://schemas.openxmlformats.org/drawingml/2006/main">
            <a:off x="624840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Revisar</a:t>
            </a:r>
          </a:p>
        </p:txBody>
      </p:sp>
      <p:sp>
        <p:nvSpPr>
          <p:cNvPr id="30" name="node-body">
            <a:extLst xmlns:a="http://schemas.openxmlformats.org/drawingml/2006/main">
              <a:ext uri="{FF2B5EF4-FFF2-40B4-BE49-F238E27FC236}">
                <a16:creationId xmlns:a16="http://schemas.microsoft.com/office/drawing/2014/main" id="{4E44675E-EC87-415A-86E8-362915235BDF}"/>
              </a:ext>
            </a:extLst>
          </p:cNvPr>
          <p:cNvSpPr>
            <a:spLocks xmlns:a="http://schemas.openxmlformats.org/drawingml/2006/main" noGrp="1"/>
          </p:cNvSpPr>
          <p:nvPr/>
        </p:nvSpPr>
        <p:spPr>
          <a:xfrm xmlns:a="http://schemas.openxmlformats.org/drawingml/2006/main">
            <a:off x="566737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Contrasta variación y</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verificación de fuentes.</a:t>
            </a:r>
          </a:p>
        </p:txBody>
      </p:sp>
      <p:sp>
        <p:nvSpPr>
          <p:cNvPr id="31" name="concept-node">
            <a:extLst xmlns:a="http://schemas.openxmlformats.org/drawingml/2006/main">
              <a:ext uri="{FF2B5EF4-FFF2-40B4-BE49-F238E27FC236}">
                <a16:creationId xmlns:a16="http://schemas.microsoft.com/office/drawing/2014/main" id="{A5B199D3-A57B-41DD-9393-8A60D6225188}"/>
              </a:ext>
            </a:extLst>
          </p:cNvPr>
          <p:cNvSpPr>
            <a:spLocks xmlns:a="http://schemas.openxmlformats.org/drawingml/2006/main" noGrp="1"/>
          </p:cNvSpPr>
          <p:nvPr/>
        </p:nvSpPr>
        <p:spPr>
          <a:xfrm xmlns:a="http://schemas.openxmlformats.org/drawingml/2006/main">
            <a:off x="10287000" y="3943350"/>
            <a:ext cx="4381500" cy="2133600"/>
          </a:xfrm>
          <a:prstGeom xmlns:a="http://schemas.openxmlformats.org/drawingml/2006/main" prst="roundRect">
            <a:avLst>
              <a:gd name="adj" fmla="val 8036"/>
            </a:avLst>
          </a:prstGeom>
          <a:solidFill xmlns:a="http://schemas.openxmlformats.org/drawingml/2006/main">
            <a:srgbClr val="FFFFFF"/>
          </a:solidFill>
          <a:ln xmlns:a="http://schemas.openxmlformats.org/drawingml/2006/main" w="14288">
            <a:solidFill>
              <a:srgbClr val="CED8E3"/>
            </a:solidFill>
          </a:ln>
        </p:spPr>
      </p:sp>
      <p:sp>
        <p:nvSpPr>
          <p:cNvPr id="32" name="node-top-rule">
            <a:extLst xmlns:a="http://schemas.openxmlformats.org/drawingml/2006/main">
              <a:ext uri="{FF2B5EF4-FFF2-40B4-BE49-F238E27FC236}">
                <a16:creationId xmlns:a16="http://schemas.microsoft.com/office/drawing/2014/main" id="{9C419C7C-28C0-42B2-A090-1679D4A6E308}"/>
              </a:ext>
            </a:extLst>
          </p:cNvPr>
          <p:cNvSpPr>
            <a:spLocks xmlns:a="http://schemas.openxmlformats.org/drawingml/2006/main" noGrp="1"/>
          </p:cNvSpPr>
          <p:nvPr/>
        </p:nvSpPr>
        <p:spPr>
          <a:xfrm xmlns:a="http://schemas.openxmlformats.org/drawingml/2006/main">
            <a:off x="10296525" y="3952875"/>
            <a:ext cx="4362450" cy="85725"/>
          </a:xfrm>
          <a:prstGeom xmlns:a="http://schemas.openxmlformats.org/drawingml/2006/main" prst="roundRect">
            <a:avLst>
              <a:gd name="adj" fmla="val 44444"/>
            </a:avLst>
          </a:prstGeom>
          <a:solidFill xmlns:a="http://schemas.openxmlformats.org/drawingml/2006/main">
            <a:srgbClr val="1E293B"/>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724EC43A-AA8A-4570-9E64-A50021108718}"/>
              </a:ext>
            </a:extLst>
          </p:cNvPr>
          <p:cNvSpPr>
            <a:spLocks xmlns:a="http://schemas.openxmlformats.org/drawingml/2006/main" noGrp="1"/>
          </p:cNvSpPr>
          <p:nvPr/>
        </p:nvSpPr>
        <p:spPr>
          <a:xfrm xmlns:a="http://schemas.openxmlformats.org/drawingml/2006/main">
            <a:off x="10496550" y="4181475"/>
            <a:ext cx="457200" cy="457200"/>
          </a:xfrm>
          <a:prstGeom xmlns:a="http://schemas.openxmlformats.org/drawingml/2006/main" prst="ellipse">
            <a:avLst/>
          </a:prstGeom>
          <a:solidFill xmlns:a="http://schemas.openxmlformats.org/drawingml/2006/main">
            <a:srgbClr val="1E293B"/>
          </a:solidFill>
          <a:ln xmlns:a="http://schemas.openxmlformats.org/drawingml/2006/main" w="0">
            <a:noFill/>
          </a:ln>
        </p:spPr>
      </p:sp>
      <p:sp>
        <p:nvSpPr>
          <p:cNvPr id="34" name="step-number">
            <a:extLst xmlns:a="http://schemas.openxmlformats.org/drawingml/2006/main">
              <a:ext uri="{FF2B5EF4-FFF2-40B4-BE49-F238E27FC236}">
                <a16:creationId xmlns:a16="http://schemas.microsoft.com/office/drawing/2014/main" id="{C4A2B841-5037-4386-844B-1F2BE8D6FB24}"/>
              </a:ext>
            </a:extLst>
          </p:cNvPr>
          <p:cNvSpPr>
            <a:spLocks xmlns:a="http://schemas.openxmlformats.org/drawingml/2006/main" noGrp="1"/>
          </p:cNvSpPr>
          <p:nvPr/>
        </p:nvSpPr>
        <p:spPr>
          <a:xfrm xmlns:a="http://schemas.openxmlformats.org/drawingml/2006/main">
            <a:off x="10496550" y="4257675"/>
            <a:ext cx="457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FFFFFF"/>
                </a:solidFill>
                <a:latin typeface="DejaVu Sans"/>
                <a:ea typeface="DejaVu Sans"/>
                <a:cs typeface="DejaVu Sans"/>
              </a:defRPr>
            </a:pPr>
            <a:r>
              <a:rPr sz="2100" b="1">
                <a:solidFill>
                  <a:srgbClr val="FFFFFF"/>
                </a:solidFill>
                <a:latin typeface="DejaVu Sans"/>
                <a:ea typeface="DejaVu Sans"/>
                <a:cs typeface="DejaVu Sans"/>
              </a:rPr>
              <a:t>3</a:t>
            </a:r>
          </a:p>
        </p:txBody>
      </p:sp>
      <p:sp>
        <p:nvSpPr>
          <p:cNvPr id="35" name="node-heading">
            <a:extLst xmlns:a="http://schemas.openxmlformats.org/drawingml/2006/main">
              <a:ext uri="{FF2B5EF4-FFF2-40B4-BE49-F238E27FC236}">
                <a16:creationId xmlns:a16="http://schemas.microsoft.com/office/drawing/2014/main" id="{1E70B49E-B63E-42C1-AC03-B86373B229AB}"/>
              </a:ext>
            </a:extLst>
          </p:cNvPr>
          <p:cNvSpPr>
            <a:spLocks xmlns:a="http://schemas.openxmlformats.org/drawingml/2006/main" noGrp="1"/>
          </p:cNvSpPr>
          <p:nvPr/>
        </p:nvSpPr>
        <p:spPr>
          <a:xfrm xmlns:a="http://schemas.openxmlformats.org/drawingml/2006/main">
            <a:off x="11106150" y="4181475"/>
            <a:ext cx="3333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E293B"/>
                </a:solidFill>
                <a:latin typeface="DejaVu Sans"/>
                <a:ea typeface="DejaVu Sans"/>
                <a:cs typeface="DejaVu Sans"/>
              </a:defRPr>
            </a:pPr>
            <a:r>
              <a:rPr sz="1950" b="1">
                <a:solidFill>
                  <a:srgbClr val="1E293B"/>
                </a:solidFill>
                <a:latin typeface="DejaVu Sans"/>
                <a:ea typeface="DejaVu Sans"/>
                <a:cs typeface="DejaVu Sans"/>
              </a:rPr>
              <a:t>Reformular</a:t>
            </a:r>
          </a:p>
        </p:txBody>
      </p:sp>
      <p:sp>
        <p:nvSpPr>
          <p:cNvPr id="36" name="node-body">
            <a:extLst xmlns:a="http://schemas.openxmlformats.org/drawingml/2006/main">
              <a:ext uri="{FF2B5EF4-FFF2-40B4-BE49-F238E27FC236}">
                <a16:creationId xmlns:a16="http://schemas.microsoft.com/office/drawing/2014/main" id="{934E97B0-76F5-4BC4-98E6-2E3BD3A95B3F}"/>
              </a:ext>
            </a:extLst>
          </p:cNvPr>
          <p:cNvSpPr>
            <a:spLocks xmlns:a="http://schemas.openxmlformats.org/drawingml/2006/main" noGrp="1"/>
          </p:cNvSpPr>
          <p:nvPr/>
        </p:nvSpPr>
        <p:spPr>
          <a:xfrm xmlns:a="http://schemas.openxmlformats.org/drawingml/2006/main">
            <a:off x="10525125" y="4962525"/>
            <a:ext cx="3905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Una salida estable todavía</a:t>
            </a:r>
          </a:p>
          <a:p xmlns:a="http://schemas.openxmlformats.org/drawingml/2006/main">
            <a:pPr algn="l">
              <a:defRPr sz="1875" b="0">
                <a:solidFill>
                  <a:srgbClr val="1E293B"/>
                </a:solidFill>
                <a:latin typeface="DejaVu Sans"/>
                <a:ea typeface="DejaVu Sans"/>
                <a:cs typeface="DejaVu Sans"/>
              </a:defRPr>
            </a:pPr>
            <a:r>
              <a:rPr sz="1875" b="0">
                <a:solidFill>
                  <a:srgbClr val="1E293B"/>
                </a:solidFill>
                <a:latin typeface="DejaVu Sans"/>
                <a:ea typeface="DejaVu Sans"/>
                <a:cs typeface="DejaVu Sans"/>
              </a:rPr>
              <a:t>necesita respaldo factual.</a:t>
            </a:r>
          </a:p>
        </p:txBody>
      </p:sp>
      <p:cxnSp>
        <p:nvCxnSpPr>
          <p:cNvPr id="80" name=""/>
          <p:cNvCxnSpPr>
            <a:stCxn xmlns:a="http://schemas.openxmlformats.org/drawingml/2006/main" id="19" idx="3"/>
            <a:endCxn xmlns:a="http://schemas.openxmlformats.org/drawingml/2006/main" id="25" idx="1"/>
          </p:cNvCxnSpPr>
          <p:nvPr/>
        </p:nvCxnSpPr>
        <p:spPr>
          <a:xfrm xmlns:a="http://schemas.openxmlformats.org/drawingml/2006/main">
            <a:off x="495300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cxnSp>
        <p:nvCxnSpPr>
          <p:cNvPr id="81" name=""/>
          <p:cNvCxnSpPr>
            <a:stCxn xmlns:a="http://schemas.openxmlformats.org/drawingml/2006/main" id="25" idx="3"/>
            <a:endCxn xmlns:a="http://schemas.openxmlformats.org/drawingml/2006/main" id="31" idx="1"/>
          </p:cNvCxnSpPr>
          <p:nvPr/>
        </p:nvCxnSpPr>
        <p:spPr>
          <a:xfrm xmlns:a="http://schemas.openxmlformats.org/drawingml/2006/main">
            <a:off x="9810750" y="5010150"/>
            <a:ext cx="476250" cy="0"/>
          </a:xfrm>
          <a:prstGeom xmlns:a="http://schemas.openxmlformats.org/drawingml/2006/main" prst="straightConnector1">
            <a:avLst/>
          </a:prstGeom>
          <a:ln xmlns:a="http://schemas.openxmlformats.org/drawingml/2006/main" w="28575">
            <a:solidFill>
              <a:srgbClr val="1E293B"/>
            </a:solidFill>
            <a:tailEnd type="triangle" w="med" len="med"/>
          </a:ln>
        </p:spPr>
      </p:cxnSp>
      <p:sp>
        <p:nvSpPr>
          <p:cNvPr id="39" name="panel">
            <a:extLst xmlns:a="http://schemas.openxmlformats.org/drawingml/2006/main">
              <a:ext uri="{FF2B5EF4-FFF2-40B4-BE49-F238E27FC236}">
                <a16:creationId xmlns:a16="http://schemas.microsoft.com/office/drawing/2014/main" id="{05E74163-5C85-4798-AAE4-EC97739F2632}"/>
              </a:ext>
            </a:extLst>
          </p:cNvPr>
          <p:cNvSpPr>
            <a:spLocks xmlns:a="http://schemas.openxmlformats.org/drawingml/2006/main" noGrp="1"/>
          </p:cNvSpPr>
          <p:nvPr/>
        </p:nvSpPr>
        <p:spPr>
          <a:xfrm xmlns:a="http://schemas.openxmlformats.org/drawingml/2006/main">
            <a:off x="571500" y="6191250"/>
            <a:ext cx="14097000" cy="1066800"/>
          </a:xfrm>
          <a:prstGeom xmlns:a="http://schemas.openxmlformats.org/drawingml/2006/main" prst="roundRect">
            <a:avLst>
              <a:gd name="adj" fmla="val 14286"/>
            </a:avLst>
          </a:prstGeom>
          <a:solidFill xmlns:a="http://schemas.openxmlformats.org/drawingml/2006/main">
            <a:srgbClr val="FFF0EB"/>
          </a:solidFill>
          <a:ln xmlns:a="http://schemas.openxmlformats.org/drawingml/2006/main" w="0">
            <a:noFill/>
          </a:ln>
        </p:spPr>
      </p:sp>
      <p:sp>
        <p:nvSpPr>
          <p:cNvPr id="40" name="result-label">
            <a:extLst xmlns:a="http://schemas.openxmlformats.org/drawingml/2006/main">
              <a:ext uri="{FF2B5EF4-FFF2-40B4-BE49-F238E27FC236}">
                <a16:creationId xmlns:a16="http://schemas.microsoft.com/office/drawing/2014/main" id="{7EAC0EC4-C316-498B-9C36-DAE377D385E5}"/>
              </a:ext>
            </a:extLst>
          </p:cNvPr>
          <p:cNvSpPr>
            <a:spLocks xmlns:a="http://schemas.openxmlformats.org/drawingml/2006/main" noGrp="1"/>
          </p:cNvSpPr>
          <p:nvPr/>
        </p:nvSpPr>
        <p:spPr>
          <a:xfrm xmlns:a="http://schemas.openxmlformats.org/drawingml/2006/main">
            <a:off x="781050" y="6296025"/>
            <a:ext cx="13573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1">
                <a:solidFill>
                  <a:srgbClr val="FF5733"/>
                </a:solidFill>
                <a:latin typeface="DejaVu Sans"/>
                <a:ea typeface="DejaVu Sans"/>
                <a:cs typeface="DejaVu Sans"/>
              </a:defRPr>
            </a:pPr>
            <a:r>
              <a:rPr sz="1200" b="1">
                <a:solidFill>
                  <a:srgbClr val="FF5733"/>
                </a:solidFill>
                <a:latin typeface="DejaVu Sans"/>
                <a:ea typeface="DejaVu Sans"/>
                <a:cs typeface="DejaVu Sans"/>
              </a:rPr>
              <a:t>RESULTADO ESPERADO</a:t>
            </a:r>
          </a:p>
        </p:txBody>
      </p:sp>
      <p:sp>
        <p:nvSpPr>
          <p:cNvPr id="41" name="case-outcome">
            <a:extLst xmlns:a="http://schemas.openxmlformats.org/drawingml/2006/main">
              <a:ext uri="{FF2B5EF4-FFF2-40B4-BE49-F238E27FC236}">
                <a16:creationId xmlns:a16="http://schemas.microsoft.com/office/drawing/2014/main" id="{4F1E61FE-7A67-4583-8A0C-FACD70DE7415}"/>
              </a:ext>
            </a:extLst>
          </p:cNvPr>
          <p:cNvSpPr>
            <a:spLocks xmlns:a="http://schemas.openxmlformats.org/drawingml/2006/main" noGrp="1"/>
          </p:cNvSpPr>
          <p:nvPr/>
        </p:nvSpPr>
        <p:spPr>
          <a:xfrm xmlns:a="http://schemas.openxmlformats.org/drawingml/2006/main">
            <a:off x="781050" y="6591300"/>
            <a:ext cx="1357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E293B"/>
                </a:solidFill>
                <a:latin typeface="DejaVu Sans"/>
                <a:ea typeface="DejaVu Sans"/>
                <a:cs typeface="DejaVu Sans"/>
              </a:defRPr>
            </a:pPr>
            <a:r>
              <a:rPr sz="1875" b="1">
                <a:solidFill>
                  <a:srgbClr val="1E293B"/>
                </a:solidFill>
                <a:latin typeface="DejaVu Sans"/>
                <a:ea typeface="DejaVu Sans"/>
                <a:cs typeface="DejaVu Sans"/>
              </a:rPr>
              <a:t>La preparación termina cuando puedes explicar el límite con un ejemplo propio.</a:t>
            </a:r>
          </a:p>
        </p:txBody>
      </p:sp>
      <p:sp>
        <p:nvSpPr>
          <p:cNvPr id="42" name="panel">
            <a:extLst xmlns:a="http://schemas.openxmlformats.org/drawingml/2006/main">
              <a:ext uri="{FF2B5EF4-FFF2-40B4-BE49-F238E27FC236}">
                <a16:creationId xmlns:a16="http://schemas.microsoft.com/office/drawing/2014/main" id="{D63A44DC-E973-417A-A02B-6A3447CB214E}"/>
              </a:ext>
            </a:extLst>
          </p:cNvPr>
          <p:cNvSpPr>
            <a:spLocks xmlns:a="http://schemas.openxmlformats.org/drawingml/2006/main" noGrp="1"/>
          </p:cNvSpPr>
          <p:nvPr/>
        </p:nvSpPr>
        <p:spPr>
          <a:xfrm xmlns:a="http://schemas.openxmlformats.org/drawingml/2006/main">
            <a:off x="476250" y="7467600"/>
            <a:ext cx="14287500" cy="695325"/>
          </a:xfrm>
          <a:prstGeom xmlns:a="http://schemas.openxmlformats.org/drawingml/2006/main" prst="roundRect">
            <a:avLst>
              <a:gd name="adj" fmla="val 19178"/>
            </a:avLst>
          </a:prstGeom>
          <a:solidFill xmlns:a="http://schemas.openxmlformats.org/drawingml/2006/main">
            <a:srgbClr val="1E293B"/>
          </a:solidFill>
          <a:ln xmlns:a="http://schemas.openxmlformats.org/drawingml/2006/main" w="0">
            <a:noFill/>
          </a:ln>
        </p:spPr>
      </p:sp>
      <p:sp>
        <p:nvSpPr>
          <p:cNvPr id="43" name="takeaway">
            <a:extLst xmlns:a="http://schemas.openxmlformats.org/drawingml/2006/main">
              <a:ext uri="{FF2B5EF4-FFF2-40B4-BE49-F238E27FC236}">
                <a16:creationId xmlns:a16="http://schemas.microsoft.com/office/drawing/2014/main" id="{49D5A0FA-95B6-4AFE-B911-AA5299337064}"/>
              </a:ext>
            </a:extLst>
          </p:cNvPr>
          <p:cNvSpPr>
            <a:spLocks xmlns:a="http://schemas.openxmlformats.org/drawingml/2006/main" noGrp="1"/>
          </p:cNvSpPr>
          <p:nvPr/>
        </p:nvSpPr>
        <p:spPr>
          <a:xfrm xmlns:a="http://schemas.openxmlformats.org/drawingml/2006/main">
            <a:off x="714375" y="7639050"/>
            <a:ext cx="13811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Corregir el razonamiento vale más que memorizar la opción correcta.</a:t>
            </a:r>
          </a:p>
        </p:txBody>
      </p:sp>
    </p:spTree>
    <p:extLst>
      <p:ext uri="{BB962C8B-B14F-4D97-AF65-F5344CB8AC3E}">
        <p14:creationId xmlns:p14="http://schemas.microsoft.com/office/powerpoint/2010/main" val="515556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2026-09-23T04:07:40.7000000Z</dcterms:created>
  <dcterms:modified xsi:type="dcterms:W3CDTF">2026-09-23T04:07:40.7000000Z</dcterms:modified>
</coreProperties>
</file>