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7ef83cb95740b2" /><Relationship Type="http://schemas.openxmlformats.org/officeDocument/2006/relationships/extended-properties" Target="/docProps/app.xml" Id="R28a656a5398544a3" /><Relationship Type="http://schemas.openxmlformats.org/officeDocument/2006/relationships/officeDocument" Target="/ppt/presentation.xml" Id="R7d18f4ca7bc647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a17eecbe5e41b3"/>
  </p:sldMasterIdLst>
  <p:notesMasterIdLst>
    <p:notesMasterId xmlns:r="http://schemas.openxmlformats.org/officeDocument/2006/relationships" r:id="Re45569da84284686"/>
  </p:notesMasterIdLst>
  <p:sldIdLst>
    <p:sldId xmlns:r="http://schemas.openxmlformats.org/officeDocument/2006/relationships" id="256" r:id="Rd55387b5da1d4cbe"/>
    <p:sldId xmlns:r="http://schemas.openxmlformats.org/officeDocument/2006/relationships" id="257" r:id="Rb10ff905eb7d4440"/>
    <p:sldId xmlns:r="http://schemas.openxmlformats.org/officeDocument/2006/relationships" id="258" r:id="Re3cfa6c434b640ba"/>
    <p:sldId xmlns:r="http://schemas.openxmlformats.org/officeDocument/2006/relationships" id="259" r:id="R5230dacaf8ce4810"/>
    <p:sldId xmlns:r="http://schemas.openxmlformats.org/officeDocument/2006/relationships" id="260" r:id="Raacec56dd3aa46bf"/>
    <p:sldId xmlns:r="http://schemas.openxmlformats.org/officeDocument/2006/relationships" id="261" r:id="R0db6921a2ca44a1a"/>
    <p:sldId xmlns:r="http://schemas.openxmlformats.org/officeDocument/2006/relationships" id="262" r:id="R8a9aa50571d84a71"/>
    <p:sldId xmlns:r="http://schemas.openxmlformats.org/officeDocument/2006/relationships" id="263" r:id="R1b58163844d24e1b"/>
    <p:sldId xmlns:r="http://schemas.openxmlformats.org/officeDocument/2006/relationships" id="264" r:id="R2cbf19d65dc94d84"/>
    <p:sldId xmlns:r="http://schemas.openxmlformats.org/officeDocument/2006/relationships" id="265" r:id="Rb268a03cd4ee4ba1"/>
    <p:sldId xmlns:r="http://schemas.openxmlformats.org/officeDocument/2006/relationships" id="266" r:id="Rb34ff1892c444c52"/>
    <p:sldId xmlns:r="http://schemas.openxmlformats.org/officeDocument/2006/relationships" id="267" r:id="R0bf24102c17c4b79"/>
    <p:sldId xmlns:r="http://schemas.openxmlformats.org/officeDocument/2006/relationships" id="268" r:id="R4c3564e68c3240f3"/>
    <p:sldId xmlns:r="http://schemas.openxmlformats.org/officeDocument/2006/relationships" id="269" r:id="R770d2732393e41d1"/>
    <p:sldId xmlns:r="http://schemas.openxmlformats.org/officeDocument/2006/relationships" id="270" r:id="Re8c71f887f5f461a"/>
    <p:sldId xmlns:r="http://schemas.openxmlformats.org/officeDocument/2006/relationships" id="271" r:id="R32b626e42f384e9f"/>
    <p:sldId xmlns:r="http://schemas.openxmlformats.org/officeDocument/2006/relationships" id="272" r:id="R288d0b649e854b14"/>
    <p:sldId xmlns:r="http://schemas.openxmlformats.org/officeDocument/2006/relationships" id="273" r:id="Rdbe82596554447c2"/>
    <p:sldId xmlns:r="http://schemas.openxmlformats.org/officeDocument/2006/relationships" id="274" r:id="Ra98a5afaf03a4a8b"/>
    <p:sldId xmlns:r="http://schemas.openxmlformats.org/officeDocument/2006/relationships" id="275" r:id="R1bdc120867634a4a"/>
    <p:sldId xmlns:r="http://schemas.openxmlformats.org/officeDocument/2006/relationships" id="276" r:id="R95a60417d054430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b0205174c4488b" /><Relationship Type="http://schemas.openxmlformats.org/officeDocument/2006/relationships/slideMaster" Target="/ppt/slideMasters/slideMaster1.xml" Id="R90a17eecbe5e41b3" /><Relationship Type="http://schemas.openxmlformats.org/officeDocument/2006/relationships/notesMaster" Target="/ppt/notesMasters/notesMaster1.xml" Id="Re45569da84284686" /><Relationship Type="http://schemas.openxmlformats.org/officeDocument/2006/relationships/presProps" Target="/ppt/presProps.xml" Id="Refb4eebb8bb441d0" /><Relationship Type="http://schemas.openxmlformats.org/officeDocument/2006/relationships/tableStyles" Target="/ppt/tableStyles.xml" Id="R1719edfa338c4f26" /><Relationship Type="http://schemas.openxmlformats.org/officeDocument/2006/relationships/slide" Target="/ppt/slides/slide1.xml" Id="Rd55387b5da1d4cbe" /><Relationship Type="http://schemas.openxmlformats.org/officeDocument/2006/relationships/slide" Target="/ppt/slides/slide2.xml" Id="Rb10ff905eb7d4440" /><Relationship Type="http://schemas.openxmlformats.org/officeDocument/2006/relationships/slide" Target="/ppt/slides/slide3.xml" Id="Re3cfa6c434b640ba" /><Relationship Type="http://schemas.openxmlformats.org/officeDocument/2006/relationships/slide" Target="/ppt/slides/slide4.xml" Id="R5230dacaf8ce4810" /><Relationship Type="http://schemas.openxmlformats.org/officeDocument/2006/relationships/slide" Target="/ppt/slides/slide5.xml" Id="Raacec56dd3aa46bf" /><Relationship Type="http://schemas.openxmlformats.org/officeDocument/2006/relationships/slide" Target="/ppt/slides/slide6.xml" Id="R0db6921a2ca44a1a" /><Relationship Type="http://schemas.openxmlformats.org/officeDocument/2006/relationships/slide" Target="/ppt/slides/slide7.xml" Id="R8a9aa50571d84a71" /><Relationship Type="http://schemas.openxmlformats.org/officeDocument/2006/relationships/slide" Target="/ppt/slides/slide8.xml" Id="R1b58163844d24e1b" /><Relationship Type="http://schemas.openxmlformats.org/officeDocument/2006/relationships/slide" Target="/ppt/slides/slide9.xml" Id="R2cbf19d65dc94d84" /><Relationship Type="http://schemas.openxmlformats.org/officeDocument/2006/relationships/slide" Target="/ppt/slides/slide10.xml" Id="Rb268a03cd4ee4ba1" /><Relationship Type="http://schemas.openxmlformats.org/officeDocument/2006/relationships/slide" Target="/ppt/slides/slide11.xml" Id="Rb34ff1892c444c52" /><Relationship Type="http://schemas.openxmlformats.org/officeDocument/2006/relationships/slide" Target="/ppt/slides/slide12.xml" Id="R0bf24102c17c4b79" /><Relationship Type="http://schemas.openxmlformats.org/officeDocument/2006/relationships/slide" Target="/ppt/slides/slide13.xml" Id="R4c3564e68c3240f3" /><Relationship Type="http://schemas.openxmlformats.org/officeDocument/2006/relationships/slide" Target="/ppt/slides/slide14.xml" Id="R770d2732393e41d1" /><Relationship Type="http://schemas.openxmlformats.org/officeDocument/2006/relationships/slide" Target="/ppt/slides/slide15.xml" Id="Re8c71f887f5f461a" /><Relationship Type="http://schemas.openxmlformats.org/officeDocument/2006/relationships/slide" Target="/ppt/slides/slide16.xml" Id="R32b626e42f384e9f" /><Relationship Type="http://schemas.openxmlformats.org/officeDocument/2006/relationships/slide" Target="/ppt/slides/slide17.xml" Id="R288d0b649e854b14" /><Relationship Type="http://schemas.openxmlformats.org/officeDocument/2006/relationships/slide" Target="/ppt/slides/slide18.xml" Id="Rdbe82596554447c2" /><Relationship Type="http://schemas.openxmlformats.org/officeDocument/2006/relationships/slide" Target="/ppt/slides/slide19.xml" Id="Ra98a5afaf03a4a8b" /><Relationship Type="http://schemas.openxmlformats.org/officeDocument/2006/relationships/slide" Target="/ppt/slides/slide20.xml" Id="R1bdc120867634a4a" /><Relationship Type="http://schemas.openxmlformats.org/officeDocument/2006/relationships/slide" Target="/ppt/slides/slide21.xml" Id="R95a60417d05443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4850b7f81f4a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d2d97b33d54e91" /><Relationship Type="http://schemas.openxmlformats.org/officeDocument/2006/relationships/notesMaster" Target="/ppt/notesMasters/notesMaster1.xml" Id="R0cb906bf15164c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4cbd66d8064314" /><Relationship Type="http://schemas.openxmlformats.org/officeDocument/2006/relationships/notesMaster" Target="/ppt/notesMasters/notesMaster1.xml" Id="R3da19b11248547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47b837805c4346" /><Relationship Type="http://schemas.openxmlformats.org/officeDocument/2006/relationships/notesMaster" Target="/ppt/notesMasters/notesMaster1.xml" Id="R707b5e0cf88942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5c21df59ed403d" /><Relationship Type="http://schemas.openxmlformats.org/officeDocument/2006/relationships/notesMaster" Target="/ppt/notesMasters/notesMaster1.xml" Id="Rbad465d3bfcd4f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d7145789944e77" /><Relationship Type="http://schemas.openxmlformats.org/officeDocument/2006/relationships/notesMaster" Target="/ppt/notesMasters/notesMaster1.xml" Id="R0840379faa8d4a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cb27f1c58240f2" /><Relationship Type="http://schemas.openxmlformats.org/officeDocument/2006/relationships/notesMaster" Target="/ppt/notesMasters/notesMaster1.xml" Id="Rcd2083af11ec43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412943519d4e37" /><Relationship Type="http://schemas.openxmlformats.org/officeDocument/2006/relationships/notesMaster" Target="/ppt/notesMasters/notesMaster1.xml" Id="Ra30e6fb61d5a4e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ed7b722b554bf8" /><Relationship Type="http://schemas.openxmlformats.org/officeDocument/2006/relationships/notesMaster" Target="/ppt/notesMasters/notesMaster1.xml" Id="Rdf8be1e277da4d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9b6af622f848d0" /><Relationship Type="http://schemas.openxmlformats.org/officeDocument/2006/relationships/notesMaster" Target="/ppt/notesMasters/notesMaster1.xml" Id="R2de3caaf9ff94a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f8254003be481f" /><Relationship Type="http://schemas.openxmlformats.org/officeDocument/2006/relationships/notesMaster" Target="/ppt/notesMasters/notesMaster1.xml" Id="R6bb8313aa04e45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d61256cdc140f3" /><Relationship Type="http://schemas.openxmlformats.org/officeDocument/2006/relationships/notesMaster" Target="/ppt/notesMasters/notesMaster1.xml" Id="Rc68841af9d8b4f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1d22b2230e4420" /><Relationship Type="http://schemas.openxmlformats.org/officeDocument/2006/relationships/notesMaster" Target="/ppt/notesMasters/notesMaster1.xml" Id="Radcee09d514c41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2daaebc3d14b34" /><Relationship Type="http://schemas.openxmlformats.org/officeDocument/2006/relationships/notesMaster" Target="/ppt/notesMasters/notesMaster1.xml" Id="R24cd2f3b51674d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3b6556f29d4b9f" /><Relationship Type="http://schemas.openxmlformats.org/officeDocument/2006/relationships/notesMaster" Target="/ppt/notesMasters/notesMaster1.xml" Id="Ra6292367fa3742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e9498553c348ae" /><Relationship Type="http://schemas.openxmlformats.org/officeDocument/2006/relationships/notesMaster" Target="/ppt/notesMasters/notesMaster1.xml" Id="R80532e47c63c4b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bcf2d0538f4c12" /><Relationship Type="http://schemas.openxmlformats.org/officeDocument/2006/relationships/notesMaster" Target="/ppt/notesMasters/notesMaster1.xml" Id="R06ffb91ae7f142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7fd70378d94bbf" /><Relationship Type="http://schemas.openxmlformats.org/officeDocument/2006/relationships/notesMaster" Target="/ppt/notesMasters/notesMaster1.xml" Id="Rb8f9160c071547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7302c11ad04a9e" /><Relationship Type="http://schemas.openxmlformats.org/officeDocument/2006/relationships/notesMaster" Target="/ppt/notesMasters/notesMaster1.xml" Id="Re699575e47fb4d4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bd13c6536b46ca" /><Relationship Type="http://schemas.openxmlformats.org/officeDocument/2006/relationships/notesMaster" Target="/ppt/notesMasters/notesMaster1.xml" Id="R6377d533291347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852a10f39944f8" /><Relationship Type="http://schemas.openxmlformats.org/officeDocument/2006/relationships/notesMaster" Target="/ppt/notesMasters/notesMaster1.xml" Id="Ra1d7a4d2d60542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581d1a7df1443ed" /><Relationship Type="http://schemas.openxmlformats.org/officeDocument/2006/relationships/notesMaster" Target="/ppt/notesMasters/notesMaster1.xml" Id="R75aa508ef59a4f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Mejorar con evidencia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Medir una línea base, cambiar una cosa y volver a medir.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Mejorar con evidencia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mejora defendible tiene línea base, cambio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sabrías si v2 mejora después de cambiar modelo, prompt y corpus a la vez?».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v1: Resultados del sistema antes de la modificación.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Intervención: Un cambio dirigido a un cuello de botella de L9.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v2: Mismos casos y criterios para comparar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Una mejora defendible tiene línea base, cambio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v1; Intervención; v2.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reduce una instrucción redundante del prompt.</a:t>
            </a:r>
          </a:p>
          <a:p xmlns:a="http://schemas.openxmlformats.org/drawingml/2006/main">
            <a:r>
              <a:t>Medir: Ejecutar v1 sobre los treinta casos.</a:t>
            </a:r>
          </a:p>
          <a:p xmlns:a="http://schemas.openxmlformats.org/drawingml/2006/main">
            <a:r>
              <a:t>Cambiar: Editar solo la instrucción elegida.</a:t>
            </a:r>
          </a:p>
          <a:p xmlns:a="http://schemas.openxmlformats.org/drawingml/2006/main">
            <a:r>
              <a:t>Comparar: Revisar aciertos, tokens y latencia en v2.</a:t>
            </a:r>
          </a:p>
          <a:p xmlns:a="http://schemas.openxmlformats.org/drawingml/2006/main">
            <a:r>
              <a:t>Resultado: Si cambian varias piezas a la vez, atribuir el resultado se vuelve difícil.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sabrías si v2 mejora después de cambiar modelo, prompt y corpus a la vez?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mejora defendible tiene línea base, cambio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Optimizar por intuición o seleccionar solo casos favorables.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El golden dataset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Controlar la comparación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Medir una línea base, cambiar una cosa y volver a medir.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Mejorar con evidencia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mejora defendible tiene línea base, cambio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Constantes: Mantener dataset y condiciones relevantes.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Variable: Nombrar exactamente qué cambió.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Decisión: Conservar o revertir según calidad y costo operativo.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Optimizar por intuición o seleccionar solo casos favorables.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Constantes; Variable; Decisión.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reduce una instrucción redundante del prompt.</a:t>
            </a:r>
          </a:p>
          <a:p xmlns:a="http://schemas.openxmlformats.org/drawingml/2006/main">
            <a:r>
              <a:t>Medir: Ejecutar v1 sobre los treinta casos.</a:t>
            </a:r>
          </a:p>
          <a:p xmlns:a="http://schemas.openxmlformats.org/drawingml/2006/main">
            <a:r>
              <a:t>Cambiar: Editar solo la instrucción elegida.</a:t>
            </a:r>
          </a:p>
          <a:p xmlns:a="http://schemas.openxmlformats.org/drawingml/2006/main">
            <a:r>
              <a:t>Comparar: Revisar aciertos, tokens y latencia en v2.</a:t>
            </a:r>
          </a:p>
          <a:p xmlns:a="http://schemas.openxmlformats.org/drawingml/2006/main">
            <a:r>
              <a:t>Resultado: Si cambian varias piezas a la vez, atribuir el resultado se vuelve difícil.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sabrías si v2 mejora después de cambiar modelo, prompt y corpus a la vez?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mejora defendible tiene línea base, cambio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Optimizar por intuición o seleccionar solo casos favorables.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El golden dataset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AndesMóvil · Mejorar con evidencia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Medir una línea base, cambiar una cosa y volver a medir.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Mejorar con evidencia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mejora defendible tiene línea base, cambio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equipo reduce una instrucción redundante del prompt.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Medir: Ejecutar v1 sobre los treinta casos.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Cambiar: Editar solo la instrucción elegida.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Comparar: Revisar aciertos, tokens y latencia en v2.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Si cambian varias piezas a la vez, atribuir el resultado se vuelve difícil.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Medir; Cambiar; Comparar.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reduce una instrucción redundante del prompt.</a:t>
            </a:r>
          </a:p>
          <a:p xmlns:a="http://schemas.openxmlformats.org/drawingml/2006/main">
            <a:r>
              <a:t>Medir: Ejecutar v1 sobre los treinta casos.</a:t>
            </a:r>
          </a:p>
          <a:p xmlns:a="http://schemas.openxmlformats.org/drawingml/2006/main">
            <a:r>
              <a:t>Cambiar: Editar solo la instrucción elegida.</a:t>
            </a:r>
          </a:p>
          <a:p xmlns:a="http://schemas.openxmlformats.org/drawingml/2006/main">
            <a:r>
              <a:t>Comparar: Revisar aciertos, tokens y latencia en v2.</a:t>
            </a:r>
          </a:p>
          <a:p xmlns:a="http://schemas.openxmlformats.org/drawingml/2006/main">
            <a:r>
              <a:t>Resultado: Si cambian varias piezas a la vez, atribuir el resultado se vuelve difícil.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sabrías si v2 mejora después de cambiar modelo, prompt y corpus a la vez?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mejora defendible tiene línea base, cambio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Optimizar por intuición o seleccionar solo casos favorables.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El golden dataset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El golden dataset del curso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la continuidad de los treinta casos por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 golden dataset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evaluación depende tanto de los casos como del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significa que un evaluator apruebe por definición un campo None?».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 y S4: Veinte casos con tool esperada ayudan a clasificar y seleccionar.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Los casos OTRO amplían el trabajo con conocimiento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S10: Los treinta casos permiten comparar versiones con el mismo conjunto.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evaluación depende tanto de los casos como del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S2 y S4; S5; S10.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fila pide un dato y otra corresponde a una interacción sin dato verificable.</a:t>
            </a:r>
          </a:p>
          <a:p xmlns:a="http://schemas.openxmlformats.org/drawingml/2006/main">
            <a:r>
              <a:t>Distinguir: No todas las filas exigen una tool o una cifra.</a:t>
            </a:r>
          </a:p>
          <a:p xmlns:a="http://schemas.openxmlformats.org/drawingml/2006/main">
            <a:r>
              <a:t>Configurar: Interpretar los campos esperados del dataset.</a:t>
            </a:r>
          </a:p>
          <a:p xmlns:a="http://schemas.openxmlformats.org/drawingml/2006/main">
            <a:r>
              <a:t>Reportar: No atribuir exactitud semántica a un criterio marcado como no aplicable.</a:t>
            </a:r>
          </a:p>
          <a:p xmlns:a="http://schemas.openxmlformats.org/drawingml/2006/main">
            <a:r>
              <a:t>Resultado: Conocer el contrato del dataset evita interpretar mal sus porcentajes.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significa que un evaluator apruebe por definición un campo None?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evaluación depende tanto de los casos como del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Contar una no aplicabilidad como evidencia de un hecho correcto.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Mejorar con evidencia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Tres evaluadores determinísticos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Leer una fila antes de evaluar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la continuidad de los treinta casos por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 golden dataset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evaluación depende tanto de los casos como del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Consulta: Entrada exacta del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Esperado: tool_esperada y respuesta_esperada definen comprobaciones.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Aplicabilidad: Un campo None puede indicar que ese criterio no aplica.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Contar una no aplicabilidad como evidencia de un hecho correcto.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Consulta; Esperado; Aplicabilidad.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fila pide un dato y otra corresponde a una interacción sin dato verificable.</a:t>
            </a:r>
          </a:p>
          <a:p xmlns:a="http://schemas.openxmlformats.org/drawingml/2006/main">
            <a:r>
              <a:t>Distinguir: No todas las filas exigen una tool o una cifra.</a:t>
            </a:r>
          </a:p>
          <a:p xmlns:a="http://schemas.openxmlformats.org/drawingml/2006/main">
            <a:r>
              <a:t>Configurar: Interpretar los campos esperados del dataset.</a:t>
            </a:r>
          </a:p>
          <a:p xmlns:a="http://schemas.openxmlformats.org/drawingml/2006/main">
            <a:r>
              <a:t>Reportar: No atribuir exactitud semántica a un criterio marcado como no aplicable.</a:t>
            </a:r>
          </a:p>
          <a:p xmlns:a="http://schemas.openxmlformats.org/drawingml/2006/main">
            <a:r>
              <a:t>Resultado: Conocer el contrato del dataset evita interpretar mal sus porcentajes.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significa que un evaluator apruebe por definición un campo None?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evaluación depende tanto de los casos como del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Contar una no aplicabilidad como evidencia de un hecho correcto.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Mejorar con evidencia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Tres evaluadores determinísticos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Banco Inti · El golden dataset del curso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la continuidad de los treinta casos por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 golden dataset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evaluación depende tanto de los casos como del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fila pide un dato y otra corresponde a una interacción sin dato verificable.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Distinguir: No todas las filas exigen una tool o una cifra.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Configurar: Interpretar los campos esperados del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Reportar: No atribuir exactitud semántica a un criterio marcado como no aplicable.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Conocer el contrato del dataset evita interpretar mal sus porcentajes.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Distinguir; Configurar; Reportar.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fila pide un dato y otra corresponde a una interacción sin dato verificable.</a:t>
            </a:r>
          </a:p>
          <a:p xmlns:a="http://schemas.openxmlformats.org/drawingml/2006/main">
            <a:r>
              <a:t>Distinguir: No todas las filas exigen una tool o una cifra.</a:t>
            </a:r>
          </a:p>
          <a:p xmlns:a="http://schemas.openxmlformats.org/drawingml/2006/main">
            <a:r>
              <a:t>Configurar: Interpretar los campos esperados del dataset.</a:t>
            </a:r>
          </a:p>
          <a:p xmlns:a="http://schemas.openxmlformats.org/drawingml/2006/main">
            <a:r>
              <a:t>Reportar: No atribuir exactitud semántica a un criterio marcado como no aplicable.</a:t>
            </a:r>
          </a:p>
          <a:p xmlns:a="http://schemas.openxmlformats.org/drawingml/2006/main">
            <a:r>
              <a:t>Resultado: Conocer el contrato del dataset evita interpretar mal sus porcentajes.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significa que un evaluator apruebe por definición un campo None?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evaluación depende tanto de los casos como del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Contar una no aplicabilidad como evidencia de un hecho correcto.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Mejorar con evidencia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Tres evaluadores determinísticos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Tres evaluadores determinísticos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§2 y comun/evaluadores.py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qué comprueba realmente cada función del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Tres evaluadores determinísticos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evaluator es exacto respecto a su regla, no respecto a todo el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falso positivo puede pasar si solo buscas una subcadena?».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Tool: Compara nombre llamado y nombre esperado, incluyendo ausencia de llamada.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Exactitud: Busca respuesta_esperada como subcadena sin distinguir mayúsculas.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Groundedness: Exige ese dato tanto en la respuesta como en el contexto recuperado.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 evaluator es exacto respecto a su regla, no respecto a todo el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Tool; Exactitud; Groundedness.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Dato esperado didáctico: «30 días»; respuesta: «no son 30 días».</a:t>
            </a:r>
          </a:p>
          <a:p xmlns:a="http://schemas.openxmlformats.org/drawingml/2006/main">
            <a:r>
              <a:t>Evaluar: La subcadena «30 días» está presente.</a:t>
            </a:r>
          </a:p>
          <a:p xmlns:a="http://schemas.openxmlformats.org/drawingml/2006/main">
            <a:r>
              <a:t>Detectar límite: La comprobación lexical puede aprobar una negación incorrecta.</a:t>
            </a:r>
          </a:p>
          <a:p xmlns:a="http://schemas.openxmlformats.org/drawingml/2006/main">
            <a:r>
              <a:t>Revisar: Interpretar el resultado con el texto y la fuente.</a:t>
            </a:r>
          </a:p>
          <a:p xmlns:a="http://schemas.openxmlformats.org/drawingml/2006/main">
            <a:r>
              <a:t>Resultado: Este caso ilustra un límite del código; no cambia los criterios de calificación del curso.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falso positivo puede pasar si solo buscas una subcadena?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evaluator es exacto respecto a su regla, no respecto a todo el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la función valida semánticamente una cita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El golden dataset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LLM-as-judge: uso y sesgos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Límites de estas comprobaciones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§2 y comun/evaluadores.py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qué comprueba realmente cada función del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Tres evaluadores determinísticos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evaluator es exacto respecto a su regla, no respecto a todo el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Repetibilidad: Misma entrada produce el mismo resultado del evaluator.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Cobertura: Una coincidencia textual no interpreta todas las negaciones o relaciones.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Complemento: Revisar casos dudosos y distinguir métrica del concepto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Afirmar que la función valida semánticamente una cita completa.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Repetibilidad; Cobertura; Complemento.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Dato esperado didáctico: «30 días»; respuesta: «no son 30 días».</a:t>
            </a:r>
          </a:p>
          <a:p xmlns:a="http://schemas.openxmlformats.org/drawingml/2006/main">
            <a:r>
              <a:t>Evaluar: La subcadena «30 días» está presente.</a:t>
            </a:r>
          </a:p>
          <a:p xmlns:a="http://schemas.openxmlformats.org/drawingml/2006/main">
            <a:r>
              <a:t>Detectar límite: La comprobación lexical puede aprobar una negación incorrecta.</a:t>
            </a:r>
          </a:p>
          <a:p xmlns:a="http://schemas.openxmlformats.org/drawingml/2006/main">
            <a:r>
              <a:t>Revisar: Interpretar el resultado con el texto y la fuente.</a:t>
            </a:r>
          </a:p>
          <a:p xmlns:a="http://schemas.openxmlformats.org/drawingml/2006/main">
            <a:r>
              <a:t>Resultado: Este caso ilustra un límite del código; no cambia los criterios de calificación del curso.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falso positivo puede pasar si solo buscas una subcadena?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evaluator es exacto respecto a su regla, no respecto a todo el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la función valida semánticamente una cita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El golden dataset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LLM-as-judge: uso y sesgos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Andina Seguros · Tres evaluadores determinísticos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§2 y comun/evaluadores.py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qué comprueba realmente cada función del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Tres evaluadores determinísticos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evaluator es exacto respecto a su regla, no respecto a todo el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Dato esperado didáctico: «30 días»; respuesta: «no son 30 días».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Evaluar: La subcadena «30 días» está presente.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Detectar límite: La comprobación lexical puede aprobar una negación incorrecta.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Revisar: Interpretar el resultado con el texto y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Este caso ilustra un límite del código; no cambia los criterios de calificación del curso.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Evaluar; Detectar límite; Revisar.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Dato esperado didáctico: «30 días»; respuesta: «no son 30 días».</a:t>
            </a:r>
          </a:p>
          <a:p xmlns:a="http://schemas.openxmlformats.org/drawingml/2006/main">
            <a:r>
              <a:t>Evaluar: La subcadena «30 días» está presente.</a:t>
            </a:r>
          </a:p>
          <a:p xmlns:a="http://schemas.openxmlformats.org/drawingml/2006/main">
            <a:r>
              <a:t>Detectar límite: La comprobación lexical puede aprobar una negación incorrecta.</a:t>
            </a:r>
          </a:p>
          <a:p xmlns:a="http://schemas.openxmlformats.org/drawingml/2006/main">
            <a:r>
              <a:t>Revisar: Interpretar el resultado con el texto y la fuente.</a:t>
            </a:r>
          </a:p>
          <a:p xmlns:a="http://schemas.openxmlformats.org/drawingml/2006/main">
            <a:r>
              <a:t>Resultado: Este caso ilustra un límite del código; no cambia los criterios de calificación del curso.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falso positivo puede pasar si solo buscas una subcadena?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evaluator es exacto respecto a su regla, no respecto a todo el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la función valida semánticamente una cita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El golden dataset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LLM-as-judge: uso y sesgos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LLM-as-judge: uso y sesgos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Contrastar un juicio del modelo con los criterios determinísticos del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LLM-as-judge: uso y sesgos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No confundas una evaluación del modelo con una verdad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cambiarías para explorar un sesgo de posición en A/B?».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Juez: Un modelo puntúa o compara respuestas según instrucciones.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Utilidad: Puede aportar juicios sobre tono y utilidad.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Sesgos: Posición, verbosidad y autoevaluación pueden influir.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No confundas una evaluación del modelo con una verdad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Juez; Utilidad; Sesgos.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respuesta larga suena convincente, pero contiene un estado de pedido falso.</a:t>
            </a:r>
          </a:p>
          <a:p xmlns:a="http://schemas.openxmlformats.org/drawingml/2006/main">
            <a:r>
              <a:t>Juez: Puede valorar claridad o detalle de forma favorable.</a:t>
            </a:r>
          </a:p>
          <a:p xmlns:a="http://schemas.openxmlformats.org/drawingml/2006/main">
            <a:r>
              <a:t>Dato: La comprobación del estado revela la discrepancia.</a:t>
            </a:r>
          </a:p>
          <a:p xmlns:a="http://schemas.openxmlformats.org/drawingml/2006/main">
            <a:r>
              <a:t>Discusión: Separar estilo útil y contenido correcto.</a:t>
            </a:r>
          </a:p>
          <a:p xmlns:a="http://schemas.openxmlformats.org/drawingml/2006/main">
            <a:r>
              <a:t>Resultado: El desacuerdo sirve para analizar el criterio y los límites del juez.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cambiarías para explorar un sesgo de posición en A/B?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No confundas una evaluación del modelo con una verdad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el juez como árbitro infalible o como sustituto automático del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Tres evaluadores determinísticos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Mejora, variación y repetición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Diseñar la demostración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Contrastar un juicio del modelo con los criterios determinísticos del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LLM-as-judge: uso y sesgos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No confundas una evaluación del modelo con una verdad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Tomar diez casos ya puntuados por los evaluators.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Comparación: Presentar las dos columnas y localizar desacuerdos.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Límite: La calificación del curso se sostiene en los criterios determinísticos.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Presentar el juez como árbitro infalible o como sustituto automático del dataset.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Base; Comparación; Límite.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respuesta larga suena convincente, pero contiene un estado de pedido falso.</a:t>
            </a:r>
          </a:p>
          <a:p xmlns:a="http://schemas.openxmlformats.org/drawingml/2006/main">
            <a:r>
              <a:t>Juez: Puede valorar claridad o detalle de forma favorable.</a:t>
            </a:r>
          </a:p>
          <a:p xmlns:a="http://schemas.openxmlformats.org/drawingml/2006/main">
            <a:r>
              <a:t>Dato: La comprobación del estado revela la discrepancia.</a:t>
            </a:r>
          </a:p>
          <a:p xmlns:a="http://schemas.openxmlformats.org/drawingml/2006/main">
            <a:r>
              <a:t>Discusión: Separar estilo útil y contenido correcto.</a:t>
            </a:r>
          </a:p>
          <a:p xmlns:a="http://schemas.openxmlformats.org/drawingml/2006/main">
            <a:r>
              <a:t>Resultado: El desacuerdo sirve para analizar el criterio y los límites del juez.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cambiarías para explorar un sesgo de posición en A/B?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No confundas una evaluación del modelo con una verdad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el juez como árbitro infalible o como sustituto automático del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Tres evaluadores determinísticos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Mejora, variación y repetición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MercaSur · LLM-as-judge: uso y sesgos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Contrastar un juicio del modelo con los criterios determinísticos del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LLM-as-judge: uso y sesgos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No confundas una evaluación del modelo con una verdad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respuesta larga suena convincente, pero contiene un estado de pedido falso.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Juez: Puede valorar claridad o detalle de forma favorable.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Dato: La comprobación del estado revela la discrepancia.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Discusión: Separar estilo útil y contenido correcto.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desacuerdo sirve para analizar el criterio y los límites del juez.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Juez; Dato; Discusión.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respuesta larga suena convincente, pero contiene un estado de pedido falso.</a:t>
            </a:r>
          </a:p>
          <a:p xmlns:a="http://schemas.openxmlformats.org/drawingml/2006/main">
            <a:r>
              <a:t>Juez: Puede valorar claridad o detalle de forma favorable.</a:t>
            </a:r>
          </a:p>
          <a:p xmlns:a="http://schemas.openxmlformats.org/drawingml/2006/main">
            <a:r>
              <a:t>Dato: La comprobación del estado revela la discrepancia.</a:t>
            </a:r>
          </a:p>
          <a:p xmlns:a="http://schemas.openxmlformats.org/drawingml/2006/main">
            <a:r>
              <a:t>Discusión: Separar estilo útil y contenido correcto.</a:t>
            </a:r>
          </a:p>
          <a:p xmlns:a="http://schemas.openxmlformats.org/drawingml/2006/main">
            <a:r>
              <a:t>Resultado: El desacuerdo sirve para analizar el criterio y los límites del juez.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cambiarías para explorar un sesgo de posición en A/B?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No confundas una evaluación del modelo con una verdad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el juez como árbitro infalible o como sustituto automático del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Tres evaluadores determinísticos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Mejora, variación y repetición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Mejora, variación y repetición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Interpretar una diferencia pequeña sin convertirla en certeza estadística.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Mejora, variación y repetición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Reportar incertidumbre forma parte de medir bien.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harías si mejora la media pero empeoran siempre los mismos casos críticos?».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v1 ilustrativa: 24/30 = 80,0 % de aciertos.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v2 ilustrativa: 26/30 ≈ 86,7 % de aciertos.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Pregunta: ¿Se sostiene la diferencia y qué casos cambiaron?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Reportar incertidumbre forma parte de medir bien.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v1 ilustrativa; v2 ilustrativa; Pregunta.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v2 gana dos casos en una corrida y los pierde en la siguiente.</a:t>
            </a:r>
          </a:p>
          <a:p xmlns:a="http://schemas.openxmlformats.org/drawingml/2006/main">
            <a:r>
              <a:t>Observar: La diferencia no se mantiene.</a:t>
            </a:r>
          </a:p>
          <a:p xmlns:a="http://schemas.openxmlformats.org/drawingml/2006/main">
            <a:r>
              <a:t>Investigar: Revisar variación de selección y de condiciones.</a:t>
            </a:r>
          </a:p>
          <a:p xmlns:a="http://schemas.openxmlformats.org/drawingml/2006/main">
            <a:r>
              <a:t>Reportar: Explicar que la evidencia aún no sostiene la mejora.</a:t>
            </a:r>
          </a:p>
          <a:p xmlns:a="http://schemas.openxmlformats.org/drawingml/2006/main">
            <a:r>
              <a:t>Resultado: Las cifras son ilustrativas; el informe debe usar mediciones del equipo.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harías si mejora la media pero empeoran siempre los mismos casos críticos?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Reportar incertidumbre forma parte de medir bien.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mejora real a cualquier aumento en una sola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LLM-as-judge: uso y sesgos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Laboratorio L10: un cambio dirigido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Regla operativa del curso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Interpretar una diferencia pequeña sin convertirla en certeza estadística.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Mejora, variación y repetición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Reportar incertidumbre forma parte de medir bien.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Repetir: Comprobar la mejora en dos corridas.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Identificar: Señalar el cambio aplicado y los casos ganados o perdidos.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Limitar: La regla es pedagógica; no demuestra significancia estadística.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Llamar mejora real a cualquier aumento en una sola ejecución.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Repetir; Identificar; Limitar.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v2 gana dos casos en una corrida y los pierde en la siguiente.</a:t>
            </a:r>
          </a:p>
          <a:p xmlns:a="http://schemas.openxmlformats.org/drawingml/2006/main">
            <a:r>
              <a:t>Observar: La diferencia no se mantiene.</a:t>
            </a:r>
          </a:p>
          <a:p xmlns:a="http://schemas.openxmlformats.org/drawingml/2006/main">
            <a:r>
              <a:t>Investigar: Revisar variación de selección y de condiciones.</a:t>
            </a:r>
          </a:p>
          <a:p xmlns:a="http://schemas.openxmlformats.org/drawingml/2006/main">
            <a:r>
              <a:t>Reportar: Explicar que la evidencia aún no sostiene la mejora.</a:t>
            </a:r>
          </a:p>
          <a:p xmlns:a="http://schemas.openxmlformats.org/drawingml/2006/main">
            <a:r>
              <a:t>Resultado: Las cifras son ilustrativas; el informe debe usar mediciones del equipo.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harías si mejora la media pero empeoran siempre los mismos casos críticos?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Reportar incertidumbre forma parte de medir bien.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mejora real a cualquier aumento en una sola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LLM-as-judge: uso y sesgos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Laboratorio L10: un cambio dirigido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Banco Inti · Mejora, variación y repetición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Interpretar una diferencia pequeña sin convertirla en certeza estadística.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Mejora, variación y repetición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Reportar incertidumbre forma parte de medir bien.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v2 gana dos casos en una corrida y los pierde en la siguiente.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Observar: La diferencia no se mantiene.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Investigar: Revisar variación de selección y de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Reportar: Explicar que la evidencia aún no sostiene la mejora.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Las cifras son ilustrativas; el informe debe usar mediciones del equipo.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Observar; Investigar; Reportar.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v2 gana dos casos en una corrida y los pierde en la siguiente.</a:t>
            </a:r>
          </a:p>
          <a:p xmlns:a="http://schemas.openxmlformats.org/drawingml/2006/main">
            <a:r>
              <a:t>Observar: La diferencia no se mantiene.</a:t>
            </a:r>
          </a:p>
          <a:p xmlns:a="http://schemas.openxmlformats.org/drawingml/2006/main">
            <a:r>
              <a:t>Investigar: Revisar variación de selección y de condiciones.</a:t>
            </a:r>
          </a:p>
          <a:p xmlns:a="http://schemas.openxmlformats.org/drawingml/2006/main">
            <a:r>
              <a:t>Reportar: Explicar que la evidencia aún no sostiene la mejora.</a:t>
            </a:r>
          </a:p>
          <a:p xmlns:a="http://schemas.openxmlformats.org/drawingml/2006/main">
            <a:r>
              <a:t>Resultado: Las cifras son ilustrativas; el informe debe usar mediciones del equipo.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harías si mejora la media pero empeoran siempre los mismos casos críticos?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Reportar incertidumbre forma parte de medir bien.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mejora real a cualquier aumento en una sola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LLM-as-judge: uso y sesgos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Laboratorio L10: un cambio dirigido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Laboratorio L10: un cambio dirigido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Comparar v1 y v2 en Langfuse Datasets con una intervención trazable.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L10: un cambio dirigido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optimización debe conservar el propósito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resultado te haría revertir una versión más barata?».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Preparar: Cargar los treinta casos del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Ejecutar: Medir v1 y aplicar una modificación ligada a L9.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Decidir: Medir v2 y justificar conservar o revertir.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optimización debe conservar el propósito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Preparar; Ejecutar; Decidir.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retriever devuelve contexto redundante que incrementa tokens.</a:t>
            </a:r>
          </a:p>
          <a:p xmlns:a="http://schemas.openxmlformats.org/drawingml/2006/main">
            <a:r>
              <a:t>Hipótesis: Reducir redundancia puede bajar costo.</a:t>
            </a:r>
          </a:p>
          <a:p xmlns:a="http://schemas.openxmlformats.org/drawingml/2006/main">
            <a:r>
              <a:t>Prueba: Comparar el mismo dataset con la modificación.</a:t>
            </a:r>
          </a:p>
          <a:p xmlns:a="http://schemas.openxmlformats.org/drawingml/2006/main">
            <a:r>
              <a:t>Decisión: Revertir si la reducción deja cláusulas sin respaldo.</a:t>
            </a:r>
          </a:p>
          <a:p xmlns:a="http://schemas.openxmlformats.org/drawingml/2006/main">
            <a:r>
              <a:t>Resultado: Ahorrar tokens no justifica perder el contexto decisivo.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resultado te haría revertir una versión más barata?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optimización debe conservar el propósito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Reportar solo la métrica que mejoró y omitir regresiones.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Mejora, variación y repetición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Preparar evidencia para la sustentación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Qué debe contener el informe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Comparar v1 y v2 en Langfuse Datasets con una intervención trazable.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L10: un cambio dirigido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optimización debe conservar el propósito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Cambio: Descripción concreta de la pieza modificada.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Resultados: Métricas comparables y casos que explican las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Consecuencia: Beneficio, regresión o límite que afecta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Reportar solo la métrica que mejoró y omitir regresiones.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Cambio; Resultados; Consecuencia.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retriever devuelve contexto redundante que incrementa tokens.</a:t>
            </a:r>
          </a:p>
          <a:p xmlns:a="http://schemas.openxmlformats.org/drawingml/2006/main">
            <a:r>
              <a:t>Hipótesis: Reducir redundancia puede bajar costo.</a:t>
            </a:r>
          </a:p>
          <a:p xmlns:a="http://schemas.openxmlformats.org/drawingml/2006/main">
            <a:r>
              <a:t>Prueba: Comparar el mismo dataset con la modificación.</a:t>
            </a:r>
          </a:p>
          <a:p xmlns:a="http://schemas.openxmlformats.org/drawingml/2006/main">
            <a:r>
              <a:t>Decisión: Revertir si la reducción deja cláusulas sin respaldo.</a:t>
            </a:r>
          </a:p>
          <a:p xmlns:a="http://schemas.openxmlformats.org/drawingml/2006/main">
            <a:r>
              <a:t>Resultado: Ahorrar tokens no justifica perder el contexto decisivo.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resultado te haría revertir una versión más barata?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optimización debe conservar el propósito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Reportar solo la métrica que mejoró y omitir regresiones.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Mejora, variación y repetición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Preparar evidencia para la sustentación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Andina Seguros · Laboratorio L10: un cambio dirigido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Comparar v1 y v2 en Langfuse Datasets con una intervención trazable.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L10: un cambio dirigido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optimización debe conservar el propósito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retriever devuelve contexto redundante que incrementa tokens.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Hipótesis: Reducir redundancia puede bajar costo.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Prueba: Comparar el mismo dataset con la modificación.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Decisión: Revertir si la reducción deja cláusulas sin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Ahorrar tokens no justifica perder el contexto decisivo.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Hipótesis; Prueba; Decisión.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retriever devuelve contexto redundante que incrementa tokens.</a:t>
            </a:r>
          </a:p>
          <a:p xmlns:a="http://schemas.openxmlformats.org/drawingml/2006/main">
            <a:r>
              <a:t>Hipótesis: Reducir redundancia puede bajar costo.</a:t>
            </a:r>
          </a:p>
          <a:p xmlns:a="http://schemas.openxmlformats.org/drawingml/2006/main">
            <a:r>
              <a:t>Prueba: Comparar el mismo dataset con la modificación.</a:t>
            </a:r>
          </a:p>
          <a:p xmlns:a="http://schemas.openxmlformats.org/drawingml/2006/main">
            <a:r>
              <a:t>Decisión: Revertir si la reducción deja cláusulas sin respaldo.</a:t>
            </a:r>
          </a:p>
          <a:p xmlns:a="http://schemas.openxmlformats.org/drawingml/2006/main">
            <a:r>
              <a:t>Resultado: Ahorrar tokens no justifica perder el contexto decisivo.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resultado te haría revertir una versión más barata?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optimización debe conservar el propósito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Reportar solo la métrica que mejoró y omitir regresiones.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Mejora, variación y repetición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 · Sigue: Preparar evidencia para la sustentación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19 · CAPÍTULO 7 · CONCEPTO</a:t>
            </a:r>
          </a:p>
          <a:p xmlns:a="http://schemas.openxmlformats.org/drawingml/2006/main">
            <a:r>
              <a:t>Título: Preparar evidencia para la sustentación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§6 y conexión S11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Convertir la comparación técnica en una explicación que el panel pueda revisar.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Preparar evidencia para la sustentación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evidencia sirve para decidir, no solo para mostrar porcentajes.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pregunta del panel pondría a prueba tu interpretación de los datos?».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Problema: Un cuello de botella medido en L9.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Decisión: Una modificación concreta aplicada en L10.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Resultado: Qué mejoró, qué no y con qué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evidencia sirve para decidir, no solo para mostrar porcentajes.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Problema; Decisión; Resultado.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La nueva versión responde más rápido, pero falla una consulta de devolución.</a:t>
            </a:r>
          </a:p>
          <a:p xmlns:a="http://schemas.openxmlformats.org/drawingml/2006/main">
            <a:r>
              <a:t>Explicar: Mostrar tanto latencia como el caso perdido.</a:t>
            </a:r>
          </a:p>
          <a:p xmlns:a="http://schemas.openxmlformats.org/drawingml/2006/main">
            <a:r>
              <a:t>Valorar: La devolución puede tener mayor consecuencia que un saludo.</a:t>
            </a:r>
          </a:p>
          <a:p xmlns:a="http://schemas.openxmlformats.org/drawingml/2006/main">
            <a:r>
              <a:t>Defender: Justificar si se revierte o se investiga antes de entregar.</a:t>
            </a:r>
          </a:p>
          <a:p xmlns:a="http://schemas.openxmlformats.org/drawingml/2006/main">
            <a:r>
              <a:t>Resultado: Una conclusión útil explica la decisión de producto y su costo.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pregunta del panel pondría a prueba tu interpretación de los datos?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evidencia sirve para decidir, no solo para mostrar porcentajes.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 número sin dataset, versión o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Laboratorio L10: un cambio dirigido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20 · CAPÍTULO 7 · DESARROLLO</a:t>
            </a:r>
          </a:p>
          <a:p xmlns:a="http://schemas.openxmlformats.org/drawingml/2006/main">
            <a:r>
              <a:t>Título: De números a argumento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§6 y conexión S11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Convertir la comparación técnica en una explicación que el panel pueda revisar.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Preparar evidencia para la sustentación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evidencia sirve para decidir, no solo para mostrar porcentajes.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Contexto: Nombrar dataset y versión comparada.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Criterio: Decir qué umbral o compensación importaba al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Límite: Reconocer tamaño de muestra y casos todavía problemáticos.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Presentar un número sin dataset, versión o criterio.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Contexto; Criterio; Límite.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La nueva versión responde más rápido, pero falla una consulta de devolución.</a:t>
            </a:r>
          </a:p>
          <a:p xmlns:a="http://schemas.openxmlformats.org/drawingml/2006/main">
            <a:r>
              <a:t>Explicar: Mostrar tanto latencia como el caso perdido.</a:t>
            </a:r>
          </a:p>
          <a:p xmlns:a="http://schemas.openxmlformats.org/drawingml/2006/main">
            <a:r>
              <a:t>Valorar: La devolución puede tener mayor consecuencia que un saludo.</a:t>
            </a:r>
          </a:p>
          <a:p xmlns:a="http://schemas.openxmlformats.org/drawingml/2006/main">
            <a:r>
              <a:t>Defender: Justificar si se revierte o se investiga antes de entregar.</a:t>
            </a:r>
          </a:p>
          <a:p xmlns:a="http://schemas.openxmlformats.org/drawingml/2006/main">
            <a:r>
              <a:t>Resultado: Una conclusión útil explica la decisión de producto y su costo.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pregunta del panel pondría a prueba tu interpretación de los datos?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evidencia sirve para decidir, no solo para mostrar porcentajes.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 número sin dataset, versión o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Laboratorio L10: un cambio dirigido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21 · CAPÍTULO 7 · EJEMPLO</a:t>
            </a:r>
          </a:p>
          <a:p xmlns:a="http://schemas.openxmlformats.org/drawingml/2006/main">
            <a:r>
              <a:t>Título: MercaSur · Preparar evidencia para la sustentación</a:t>
            </a:r>
          </a:p>
          <a:p xmlns:a="http://schemas.openxmlformats.org/drawingml/2006/main">
            <a:r>
              <a:t>Sesión: Evaluación y optimización continua</a:t>
            </a:r>
          </a:p>
          <a:p xmlns:a="http://schemas.openxmlformats.org/drawingml/2006/main">
            <a:r>
              <a:t>Archivo: 10-evaluacion-optimizacion-editable.pptx</a:t>
            </a:r>
          </a:p>
          <a:p xmlns:a="http://schemas.openxmlformats.org/drawingml/2006/main">
            <a:r>
              <a:t>Sección que soporta: §6 y conexión S11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https://github.com/javierrosado/ariwalab-course-langchain/blob/27c24090f1662f9473b673d2020e7bffee04490b/modulo-3-produccion/sesion-10-evaluacion-optimizacion/README.md</a:t>
            </a:r>
          </a:p>
          <a:p xmlns:a="http://schemas.openxmlformats.org/drawingml/2006/main">
            <a:r>
              <a:t>Contexto adicional: laboratorios, demos y soluciones de modulo-3-produccion/sesion-10-evaluacion-optimizacion;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Convertir la comparación técnica en una explicación que el panel pueda revisar.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Preparar evidencia para la sustentación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evidencia sirve para decidir, no solo para mostrar porcentajes.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nueva versión responde más rápido, pero falla una consulta de devolución.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Explicar: Mostrar tanto latencia como el caso perdido.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Valorar: La devolución puede tener mayor consecuencia que un saludo.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Defender: Justificar si se revierte o se investiga antes de entregar.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Una conclusión útil explica la decisión de producto y su costo.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Explicar; Valorar; Defender.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La nueva versión responde más rápido, pero falla una consulta de devolución.</a:t>
            </a:r>
          </a:p>
          <a:p xmlns:a="http://schemas.openxmlformats.org/drawingml/2006/main">
            <a:r>
              <a:t>Explicar: Mostrar tanto latencia como el caso perdido.</a:t>
            </a:r>
          </a:p>
          <a:p xmlns:a="http://schemas.openxmlformats.org/drawingml/2006/main">
            <a:r>
              <a:t>Valorar: La devolución puede tener mayor consecuencia que un saludo.</a:t>
            </a:r>
          </a:p>
          <a:p xmlns:a="http://schemas.openxmlformats.org/drawingml/2006/main">
            <a:r>
              <a:t>Defender: Justificar si se revierte o se investiga antes de entregar.</a:t>
            </a:r>
          </a:p>
          <a:p xmlns:a="http://schemas.openxmlformats.org/drawingml/2006/main">
            <a:r>
              <a:t>Resultado: Una conclusión útil explica la decisión de producto y su costo.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pregunta del panel pondría a prueba tu interpretación de los datos?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evidencia sirve para decidir, no solo para mostrar porcentajes.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 número sin dataset, versión o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S9: dos cuellos de botella documentados · Capítulo previo: Laboratorio L10: un cambio dirigido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S11: defender la mejora ante el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c38311c7140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d5b18a9dc748a7" /><Relationship Type="http://schemas.openxmlformats.org/officeDocument/2006/relationships/slideLayout" Target="/ppt/slideLayouts/slideLayout1.xml" Id="R180da0252b4e4a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0da0252b4e4a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693891cf34434" /><Relationship Type="http://schemas.openxmlformats.org/officeDocument/2006/relationships/notesSlide" Target="/ppt/notesSlides/notesSlide1.xml" Id="Rde4f025a70c24e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fd917ba4d40d4" /><Relationship Type="http://schemas.openxmlformats.org/officeDocument/2006/relationships/notesSlide" Target="/ppt/notesSlides/notesSlide2.xml" Id="R2346c74fb3f54b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63b8acd864d27" /><Relationship Type="http://schemas.openxmlformats.org/officeDocument/2006/relationships/notesSlide" Target="/ppt/notesSlides/notesSlide3.xml" Id="Rc6281b0b9daf4c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3235970214d15" /><Relationship Type="http://schemas.openxmlformats.org/officeDocument/2006/relationships/notesSlide" Target="/ppt/notesSlides/notesSlide4.xml" Id="Rf83abba024194a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a83fe9e3c4fd4" /><Relationship Type="http://schemas.openxmlformats.org/officeDocument/2006/relationships/notesSlide" Target="/ppt/notesSlides/notesSlide5.xml" Id="R1a8d23d4e6d645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8a99b064d4e6f" /><Relationship Type="http://schemas.openxmlformats.org/officeDocument/2006/relationships/notesSlide" Target="/ppt/notesSlides/notesSlide6.xml" Id="R9c4848f069784f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02dca04b34505" /><Relationship Type="http://schemas.openxmlformats.org/officeDocument/2006/relationships/notesSlide" Target="/ppt/notesSlides/notesSlide7.xml" Id="R1d77ba35b56b45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1eb302fe84b41" /><Relationship Type="http://schemas.openxmlformats.org/officeDocument/2006/relationships/notesSlide" Target="/ppt/notesSlides/notesSlide8.xml" Id="R7fd064d1054044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c0a7706324628" /><Relationship Type="http://schemas.openxmlformats.org/officeDocument/2006/relationships/notesSlide" Target="/ppt/notesSlides/notesSlide9.xml" Id="Rf5ea84de816d42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8814f910147d3" /><Relationship Type="http://schemas.openxmlformats.org/officeDocument/2006/relationships/notesSlide" Target="/ppt/notesSlides/notesSlide10.xml" Id="R66286f6607de4e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9d5f9b6924561" /><Relationship Type="http://schemas.openxmlformats.org/officeDocument/2006/relationships/notesSlide" Target="/ppt/notesSlides/notesSlide11.xml" Id="Rba821ee0ac284c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cda86e62a4b62" /><Relationship Type="http://schemas.openxmlformats.org/officeDocument/2006/relationships/notesSlide" Target="/ppt/notesSlides/notesSlide12.xml" Id="R9714ab8503b54c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e399d9d4e4b62" /><Relationship Type="http://schemas.openxmlformats.org/officeDocument/2006/relationships/notesSlide" Target="/ppt/notesSlides/notesSlide13.xml" Id="Ra95d8ed296b148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d017d6ce14491" /><Relationship Type="http://schemas.openxmlformats.org/officeDocument/2006/relationships/notesSlide" Target="/ppt/notesSlides/notesSlide14.xml" Id="Recf9435cce6441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80d7e52a04c21" /><Relationship Type="http://schemas.openxmlformats.org/officeDocument/2006/relationships/notesSlide" Target="/ppt/notesSlides/notesSlide15.xml" Id="Rc8b81916af7845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7cd959c404aa5" /><Relationship Type="http://schemas.openxmlformats.org/officeDocument/2006/relationships/notesSlide" Target="/ppt/notesSlides/notesSlide16.xml" Id="R99a3c05c568646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7868295684669" /><Relationship Type="http://schemas.openxmlformats.org/officeDocument/2006/relationships/notesSlide" Target="/ppt/notesSlides/notesSlide17.xml" Id="Rc19aee6222ed49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15a3726204a6e" /><Relationship Type="http://schemas.openxmlformats.org/officeDocument/2006/relationships/notesSlide" Target="/ppt/notesSlides/notesSlide18.xml" Id="Rb1c8586b587c40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8e98505b3418f" /><Relationship Type="http://schemas.openxmlformats.org/officeDocument/2006/relationships/notesSlide" Target="/ppt/notesSlides/notesSlide19.xml" Id="Rc641eba38d7f418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d47919fca48a4" /><Relationship Type="http://schemas.openxmlformats.org/officeDocument/2006/relationships/notesSlide" Target="/ppt/notesSlides/notesSlide20.xml" Id="R24bef24085c8470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ed9c582b74fcc" /><Relationship Type="http://schemas.openxmlformats.org/officeDocument/2006/relationships/notesSlide" Target="/ppt/notesSlides/notesSlide21.xml" Id="R79fd6299291e46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C2A02D37-EAAD-4EE4-89E0-0ADABD23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E0D31-330F-4599-A694-5DE5CE40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58C04E5-ACFB-4C9E-B516-721E014B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D5AB403-1131-42BE-8684-1763AD16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B9FD67-9CF2-4F0F-88E4-EB2A63EA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Mejorar con evidencia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3EA563E-682E-47C1-AA4B-999B15F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 una línea base, cambiar una cosa y volver a medir.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A58A544-5747-4B54-A603-CF602EA5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6C14244-7EBE-42B1-A018-09BD404C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6AFDF9D-42A6-4ED8-A7BC-71DB6A20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E81111E-9B9F-451B-B041-49924861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5100DCD-65C3-4F19-AAB5-0F745219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5D1D394-C7D0-4B81-9F93-AF279890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53BF285-3EE4-4669-B121-71A55967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74CDD7A-DDFF-4832-8DC1-1E5DFB2B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82DA8F7-5C80-4907-B4A0-0B2601C8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A5DFC9E-34C5-472C-BEB6-E4DB7F13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7471ABB-9822-4531-A26E-B8AEC464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2A1E2-32B0-43C3-979C-BBB8B27B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7D8FC73-00D5-4AF5-9890-BD0C4C74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1B154BA-17C4-4948-9C9D-78A536A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v1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C0FB8B3A-BEEE-42A2-9592-0E719B90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Resultados del sistema antes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la modificación.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CBB7C41-AD22-459B-8847-E9A23FF3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7433CF4-EF27-41C9-94D8-C1AE6C44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83B447-AB12-4133-8D23-A9CD84DA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A69D96B-7CB9-4F48-BBA9-0FF97865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713A752-645C-4620-A541-FAFD6CFB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Intervención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4AE297D5-7A39-42CA-9EAC-4C989861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cambio dirigido a un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cuello de botella de L9.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67E5324-D426-4EEF-8189-9AAE4B1B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3015E6B-6790-45AF-A981-7B535194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48E57E-3268-467E-8C0D-719F8745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AF14933-664B-4C95-A4D5-CEFC27A7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C37D95B-A1EB-4792-9C09-90B821F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v2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71BB77D5-1D7E-40DD-95A8-0EF795E0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Mismos casos y criterios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para comparar el efecto.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2865A0D0-90A6-4FFC-9663-11E19113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E0204C2-A01B-4845-83A0-C9CABE8E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38E95EF4-D8CD-4FF8-BF4E-2380D244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sabrías si v2 mejora después de cambiar modelo,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prompt y corpus a la vez?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FF658F8E-0762-4827-9D33-78258936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CAE1D102-76C5-434A-8886-C5AE7052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0699C155-4CCB-4C17-96A4-D09F2938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Optimizar por intuición o seleccionar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solo casos favorables.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4865C4B8-769D-434E-99EC-CC0FF5CE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BA6F2093-913B-41E1-9EAF-203AF8A5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mejora defendible tiene línea base, cambio y evidencia.</a:t>
            </a:r>
          </a:p>
        </p:txBody>
      </p:sp>
    </p:spTree>
    <p:extLst>
      <p:ext uri="{BB962C8B-B14F-4D97-AF65-F5344CB8AC3E}">
        <p14:creationId xmlns:p14="http://schemas.microsoft.com/office/powerpoint/2010/main" val="932260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69C69EDF-9253-4352-A207-D8AB17B8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B6F2D-C936-45FD-8EB4-F7820E16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FCB7311-C3EA-4D34-B86C-0532D1CC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886316C-2E9D-493C-89AA-94978BD6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989E46-16B5-4BAF-8E68-B00DFAE6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Controlar la comparación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30EBBB1-3123-4E14-B8B1-91EB4FAE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 una línea base, cambiar una cosa y volver a medir.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823AACA-DA9B-472F-A32C-B3220976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C086552-2779-4360-BAE1-3E6D5720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4D9AA52-E47C-4E1F-938D-85E3EFB9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3EE0D49-83E5-4D00-A6B9-7632934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C464E53-9DC7-4580-B064-48977B65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686F59B-4DC7-4968-9AF3-773636E9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E6A95CB-F647-4BDD-9C31-48DFEDD5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0918085-E195-4D38-B2E4-CAD1C0D9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5C5927E-E0A6-452D-B6DA-52844D89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Constantes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Mantener dataset y condiciones relevantes.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Variable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Nombrar exactamente qué cambió.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 o revertir según calidad y costo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operativo.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4819900E-F7FD-4356-9F3E-B3EA3B36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7AA976D3-5DFD-40B1-8B07-71AEF2B1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518A5734-4240-4272-A05E-A72E8F24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Optimizar por intuición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seleccionar solo casos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favorables.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8EC3126D-BB43-4D03-93E2-80090225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F0B638CC-4D65-42F7-BAF4-7F0CF0C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DD343F7-5AC5-4E18-9BDF-D8FB4C6F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6925A5C0-6C89-4D6D-A6EC-6C3AE2B0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sabrías si v2 mejora después de cambiar modelo, prompt y corpus a la vez?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79F115BC-788E-4A76-9D8C-ECACADB1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B03D01BA-9C86-4E3E-91B9-A0044FF5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mejora defendible tiene línea base, cambio y evidencia.</a:t>
            </a:r>
          </a:p>
        </p:txBody>
      </p:sp>
    </p:spTree>
    <p:extLst>
      <p:ext uri="{BB962C8B-B14F-4D97-AF65-F5344CB8AC3E}">
        <p14:creationId xmlns:p14="http://schemas.microsoft.com/office/powerpoint/2010/main" val="262678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B8F78FE0-4C94-4D15-A91B-40A66D63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39EF8-E0BD-411F-8FAE-833CD3A4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CC1E8F0-6465-4979-9160-EF51C750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0ED670F-E0C8-4098-A343-C4E76D7A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40DAED-7798-4454-B8F4-989A0680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Mejorar con evidencia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BD97CB7-26D0-4FCD-AFC3-325761BA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 una línea base, cambiar una cosa y volver a medir.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A363B42-9661-4C32-A2F7-2137A66E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63C1A1A-F4F1-4BC6-963D-5C1F10B4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18163D6-5066-48B2-9CDD-DC61D965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ABB1016-2A44-4B87-B3AC-F61F5ABD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6374349-028A-4200-BAD7-2529D5D6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EFE7B44-AE84-4C13-80CC-5B76B7D6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09B8A66-02F6-4EA4-A1AB-03E90368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68CED86-2A24-4BEA-9590-A0D96D3B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EAC1E05-3B89-4382-B917-2CBAE3B8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89A5294F-5A71-4402-BEAE-C9B19F8D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FC6AEEC0-680F-4BBD-BD21-0199D72D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7567CB9-E2C0-4FBA-AF70-5A5A78FA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reduce una instrucción redundante del prompt.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382CB60-F2F2-4E09-9473-883BF52F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B7E410C-1BC1-4E62-B12A-80A13102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6BFE1-542A-4CE2-9716-5FDF258B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D798AFB-9841-459F-9043-14153BFE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D856F97-D14F-4D9D-BA31-1192136F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39535C21-C446-444D-BFC2-18D9E82B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v1 sobre los treinta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281E0BB-0B20-41DC-BE02-0B6B07EF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383D005-69B2-4DC5-B588-39252B0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FD11A7-ECDD-4388-BAC2-3254BEB7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53501B2-BC0E-4D21-A5CE-111C4856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1159939-87CA-467D-A563-E053EFCD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Cambiar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A5E65CE2-E449-417C-B68C-60E3F207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Editar solo la instrucción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elegida.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319F19D-8F67-4252-A948-AC454A7B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41B71F7-13A7-4ED6-A9A5-CD5F68C7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F1DE6D-C8FD-4172-B15A-3EFCD980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7BBF256-74E5-4B63-92E8-9326EFDB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60CA913-6E17-439C-B8CF-E2FF96F9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E0D2217B-B67F-4869-BC89-F3B4202A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aciertos, tokens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latencia en v2.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33DF8FC4-08EB-4133-B8D4-FA4E5E3C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F0180A7-116E-464F-B7C5-31831A48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7F159F82-00C4-4A76-86AE-C61DEE67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 cambian varias piezas a la vez, atribuir el resultado se vuelve difícil.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8EA38E1-DFA6-476E-9D7D-45975572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756866FC-0947-4650-9551-1B771020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mejora defendible tiene línea base, cambio y evidencia.</a:t>
            </a:r>
          </a:p>
        </p:txBody>
      </p:sp>
    </p:spTree>
    <p:extLst>
      <p:ext uri="{BB962C8B-B14F-4D97-AF65-F5344CB8AC3E}">
        <p14:creationId xmlns:p14="http://schemas.microsoft.com/office/powerpoint/2010/main" val="4657797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0B83E068-7A46-4353-ABE9-E213BF1E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61B35-C3E5-4722-9AEF-04DF95CC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34A301E-106D-4C0C-9186-0A96FB4D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EC72B61-9601-4554-8665-1742747C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E3FA3F-448D-4C75-9DF2-A672B9E4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golden dataset del curso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60579D7-8D01-4A4D-BF4F-0F70BF68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la continuidad de los treinta casos por track.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5E7AE23-75A9-4C33-9748-3A1777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ADC047E-2F6B-412F-BFA2-3B0A10EC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663DA7C-7689-4C09-9698-5B46849F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CBCF7A0-9336-4C93-9B0E-43D26694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E12E2BA-6538-42EA-971F-E1D2934B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06905A6-5485-4A5C-97A2-8CDAC31C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7AB919C-62B7-48B4-9559-7CAEF17F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EF0B4FC-113C-43A4-983C-0F634CAF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4EA883C-7701-4132-910F-9307FF7F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568315C-06CF-4694-BBD0-0E57F08B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4E545B7-FB71-4921-8A05-3D84E76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3735A-0CBF-478F-B12C-798E61D8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FC1BCA0-3719-4008-AA2C-D11E0E72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F3454C8-1993-48AD-A157-2B869D4E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S2 y S4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F05D7DEE-1F61-4E62-9CFC-88C08524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Veinte casos con tool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esperada ayudan a clasificar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seleccionar.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C07F5E0-13B6-44D2-8CF3-26AD948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F8719F1-E7F6-4502-A6D5-71FEF8A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866B3-6A94-44E3-9CEA-6F816332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3F8377F-3CB2-4F68-879E-1202FE87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943757C-FBAA-4E3C-BAAB-EDDE25E7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S5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D427CB34-CAA3-4795-AA0A-308C84B6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Los casos OTRO amplían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trabajo con conocimiento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dominio.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AC14A35-2928-4F3C-A8B2-B693BCF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77ED8CF-BC2A-4540-AB7A-4D66CC94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179E7-D276-4A93-8E5D-C1E76204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1D1F611-2C16-4710-9CC3-99083D5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DB07B00-9CF2-4B54-BD5C-64906E87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S10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4DA9CF9B-0EBD-4CCB-AFEF-2ACF574B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Los treinta casos permiten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versiones con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mismo conjunto.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B1DF30AB-D221-4D35-A12D-EA3F4702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34A67DC-039E-454F-8521-9D727623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3191D6BC-E522-40AF-865D-E08B8C15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significa que un evaluator apruebe por definición un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campo None?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A06823F6-2CD3-4380-831D-4571B49E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968F976C-D30C-49AF-877A-00CB9537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744A7325-3017-4B08-8979-FD76C7ED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Contar una no aplicabilidad como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 de un hecho correcto.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68E6AED5-3B15-4309-B7DF-AE3BE813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5911D519-7EE1-48A8-A202-F7B7A1DE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evaluación depende tanto de los casos como del criterio.</a:t>
            </a:r>
          </a:p>
        </p:txBody>
      </p:sp>
    </p:spTree>
    <p:extLst>
      <p:ext uri="{BB962C8B-B14F-4D97-AF65-F5344CB8AC3E}">
        <p14:creationId xmlns:p14="http://schemas.microsoft.com/office/powerpoint/2010/main" val="1728992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A8029541-AB44-4ADB-B389-9B60F5B5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FC21C-8F4F-4C36-89F3-1565FE40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25E67ED-29E6-46E3-A43B-98E51540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52824DE-242A-47B3-9F0C-2929E6EC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34A18B-83B1-4ADC-B105-09AD71CD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Leer una fila antes de evaluar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22E843B-990E-45AC-8270-4A178029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la continuidad de los treinta casos por track.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DE26846-A1C5-4671-A105-745ED8C6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D767548-2798-4A1B-B97A-13AC6DA8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A5D9206-A8FD-457B-B0F4-C1B9D700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745799E-39AC-4315-8DA9-BFDFC336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37594FF-035B-4A0D-B3B5-90A120ED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5733F2C-5FE9-40D3-82B2-F9962487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FCAF6F9-796C-4738-949C-936E61F1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952B0CE-1DCB-41D2-BF68-D8A72ECF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7EB8164-1F9F-4827-B8A5-A0BA1013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exacta del caso.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Esperado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tool_esperada y respuesta_esperada definen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comprobaciones.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Aplicabilidad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 campo None puede indicar que ese criterio no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aplica.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1E987A2E-FC47-4F3F-836E-4E5A863F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1CCDD8D7-FCB1-4185-A5F1-45B10C88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D8B542FB-F5D7-4498-B5A9-5B6F0847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Contar una no aplicabilidad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evidencia de un hecho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correcto.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9A717A14-6667-4DD0-A052-E84255A2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5E2BC08C-B16E-4F3A-910D-F56B5557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53E33D39-DD29-4C03-AB7A-1FAEBA2C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8D3B65F6-C339-44FC-8E09-4D78C87F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significa que un evaluator apruebe por definición un campo None?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9107A353-A65F-4809-BB90-83153F48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9097DACE-D33B-465C-A193-C188F614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evaluación depende tanto de los casos como del criterio.</a:t>
            </a:r>
          </a:p>
        </p:txBody>
      </p:sp>
    </p:spTree>
    <p:extLst>
      <p:ext uri="{BB962C8B-B14F-4D97-AF65-F5344CB8AC3E}">
        <p14:creationId xmlns:p14="http://schemas.microsoft.com/office/powerpoint/2010/main" val="1615799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7CE521A-BF1F-4892-BACA-E04FED50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7C58E-45CA-45EB-806A-83E4EBEB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BB01F9F-A498-4B3F-A8E7-2F876A67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62A89C7-F011-4B2A-A696-91D4C74F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35CF26-BC4C-4455-958D-E87B35FF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El golden dataset del curso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775C5B9-714F-4FAB-9579-91D6A154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la continuidad de los treinta casos por track.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2A57CA9-D9F1-4BBD-B7E4-41431375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BF7FE5B-98EE-43DD-B78B-429DE323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3D27448-0603-42F4-B658-360653E0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AA89428-E79B-4326-AAF4-892E9159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351E259-586E-4FE2-9306-D1587FC5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E35DAD4-7B2C-4AC6-A7D1-F832DB97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8B6390B-AEFB-4613-931F-44D381E2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8B0214B-E3E3-4E9F-847D-D0278B4F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7E953B0-7C0E-4EDD-B1C2-4043315C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E062A7C9-9106-4713-8906-DE2D3298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6A49011A-1843-45FA-A808-6DCBEA0F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DAC14E25-2D83-4AA8-8C75-2C6AC171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fila pide un dato y otra corresponde a una interacción sin dato verificable.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E24D453-40D5-44DB-997E-F2ED4DC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6E557D8-C7B1-43CE-A0A1-4D2C3CC3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7AEE8-D3D6-4C71-B31E-D41C7D2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290EA87-FDBA-497E-807E-EC1FA3ED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D8915F1-E70A-4C5E-8A28-4FD33023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C2FE1837-A33D-4C4B-8AF3-396B2651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todas las filas exigen una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 o una cifra.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CE00E32-0FC5-459E-9931-FF7E83A2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02C414F-5D11-4D93-B35E-24BA8FAE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0D9AC-4ABC-4553-92FE-22F4B16D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D163C61-84A1-45AF-8E5C-DD797522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3258D95-866C-451C-8E52-5BD50D0F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535C1584-7A01-4ED2-AED5-6300EE4F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 los campos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esperados del dataset.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BB93E0D-67E1-455A-8972-EBDF72FD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8487C3D-CA55-4BAD-A46A-32CD1193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3C7719-453B-4A15-B5E4-DB463822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50C885B-F9DD-402A-88E5-82D48EC4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0568978-53EB-4559-B995-721EA999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Reportar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C5357119-8AC4-4E0B-971F-BCE94527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atribuir exactitud semántica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 un criterio marcado como no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aplicable.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4D071059-B2BA-46F7-B503-EC6D5333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05AA2B4F-491B-4228-AC61-B7AFF56B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BE33DFD1-62A0-46B3-81A1-429527EB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Conocer el contrato del dataset evita interpretar mal sus porcentajes.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AAE5956-77D0-41C0-B442-16A616B7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FF96ACF-A379-458E-8584-8B8B4C62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evaluación depende tanto de los casos como del criterio.</a:t>
            </a:r>
          </a:p>
        </p:txBody>
      </p:sp>
    </p:spTree>
    <p:extLst>
      <p:ext uri="{BB962C8B-B14F-4D97-AF65-F5344CB8AC3E}">
        <p14:creationId xmlns:p14="http://schemas.microsoft.com/office/powerpoint/2010/main" val="421994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C0EF8672-74E4-451D-A78C-FB8A373E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EE5FF-43D4-4F63-BE79-7052D545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69A15BA-497C-425B-815B-5C3AE17F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B490B49-C531-4E1D-9DF8-97D2FBA4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8EC59F-6598-468F-BBA9-668F22EB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Tres evaluadores determinísticos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16F6C4D-A354-4B38-9AE4-B52AD8B8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qué comprueba realmente cada función del repositorio.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EBB41E7-FF4A-471A-A46A-840A56D5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11264B6-AFFF-45D8-8793-2DEC21E0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2078E82-D2D5-471E-9A49-37D9BA75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EE3EE42-6294-4BE0-B6B2-ED2AAEC7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8E44112-D498-4E31-811B-918377A5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3DB2EB6-9121-44ED-8E48-28ED4538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BEED372-692E-4963-82A8-D183CA45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3ADCA18-A214-4B62-A423-214EA0AA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0A8C2C6-EC02-48CC-9C87-1414FDBF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095BE0A-5659-45BD-8F66-D155B6A9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F33C7B0-27B2-4FBF-B499-161FFD97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55777-EC36-4E07-AA2E-A6F5EBD5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847696F-C94A-4921-9D0F-8C63068E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BCA35EE-D3DC-48B7-8561-AE26F6A2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D0E8FD87-D90E-45A5-BD22-287B0926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 nombre llamado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nombre esperado,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incluyendo ausencia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llamada.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125F845-1A72-4AEF-B399-A17F7FB4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A42D491-5F28-4038-88DA-35EBA61F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FF080-B28E-4DD2-AF80-02CD8513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4F57106-0C45-408B-AD71-522F1533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B2B6548-5AA2-4D7F-94BD-B7F13F31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Exactitud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58248B59-1204-4B07-A60A-7C1464F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Busca respuesta_esperada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subcadena sin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mayúsculas.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6D99489-85F4-4389-B1BB-342A5305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40D2232-8381-4BE6-8293-550B7D3E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7F55E-DF01-460B-85F4-F8C8A072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AA3735A-9248-45A7-A643-746228E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C30011D-F3A1-44F3-8FE3-7913FA8E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Groundedness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97AC7D9C-F052-440E-98C3-89B38AD8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Exige ese dato tanto en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 como en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contexto recuperado.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AAE8DDD0-C304-42FA-B30C-ECFB2D3B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DFCD4B2-B9B6-49DD-BF01-B2B793D7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18672ECB-3C9D-4579-AF21-082291EB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falso positivo puede pasar si solo buscas una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subcadena?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DB415F70-C5C5-41E5-940F-44937DD4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79F52192-5D02-49E2-8FE9-4E3F86DE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B60AF2E1-390F-4415-B3D2-5D0B56A0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Afirmar que la función valida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semánticamente una cita completa.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6D760733-B73F-49FF-9F9B-00EAA9A1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030A6CAE-B42A-426B-AB87-79FCB85D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evaluator es exacto respecto a su regla, no respecto a todo el significado.</a:t>
            </a:r>
          </a:p>
        </p:txBody>
      </p:sp>
    </p:spTree>
    <p:extLst>
      <p:ext uri="{BB962C8B-B14F-4D97-AF65-F5344CB8AC3E}">
        <p14:creationId xmlns:p14="http://schemas.microsoft.com/office/powerpoint/2010/main" val="2133651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DFFE8E38-9C0A-420F-8216-53302C52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FEA01-EE42-4D5A-8F3F-586BBD3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D2CBF56-DD7D-4856-8FA9-7BD07260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57DCCD3-BC33-4671-A836-6B6D04B9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E4CF0F-F7A2-4B61-B370-B338A96B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Límites de estas comprobaciones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111678D-35CE-4041-B9DF-52592935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qué comprueba realmente cada función del repositorio.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FC2A289-B3D4-449C-AC08-88273991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B04BAB6-AEA2-4320-BF00-5BBC709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D2F4B36-23E4-4EE4-A4E1-25C55126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FEFFCA6-FBEA-4C3F-BA82-46327BBC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FB27645-E6C2-4452-BED0-4167393D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895DB3E-FA6E-4F5F-8FDA-C5E09BB6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1669109-9FA4-4266-8434-FD3DD128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A24B68B-9F04-4738-8729-7C7B353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96A141-DCBC-44D6-9572-4D22AEEE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Repetibilidad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Misma entrada produce el mismo resultado del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evaluator.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Cobertura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 coincidencia textual no interpreta todas las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negaciones o relaciones.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Complemento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Revisar casos dudosos y distinguir métrica del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concepto completo.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416EF03B-6D39-43A2-9C02-7E5EFBE5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1814F887-1ED1-4102-B259-5D7480A1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596FEC4B-73AB-4A3C-A50E-3404F027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Afirmar que la función valida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semánticamente una cita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completa.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EAC1F4DF-1F27-4541-8F54-4856E81B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0D530A8-20DC-4E04-B38E-87FB158F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A1A1AC3A-13F4-4AD0-8C94-A3BEA8F8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E8CFED7D-43BA-4A0C-B144-9185D44F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falso positivo puede pasar si solo buscas una subcadena?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6784CDB9-A00A-4654-AE59-C37F82A8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828FCA06-3D25-4DC7-9C28-32A1F114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evaluator es exacto respecto a su regla, no respecto a todo el significado.</a:t>
            </a:r>
          </a:p>
        </p:txBody>
      </p:sp>
    </p:spTree>
    <p:extLst>
      <p:ext uri="{BB962C8B-B14F-4D97-AF65-F5344CB8AC3E}">
        <p14:creationId xmlns:p14="http://schemas.microsoft.com/office/powerpoint/2010/main" val="1335956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CCB02CBC-17A6-42D6-9CF8-8745C15F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806A7-DE8A-440D-B2D5-0BA84653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059FAF1-B48E-4CA3-8642-BC43ADC9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6FC38A0-7F8F-4927-AF9F-86E73CD6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2C8BB9-B8A3-4DC3-A83B-EB25772B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Tres evaluadores determinísticos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A947957-B84A-4885-BF79-60B9379D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qué comprueba realmente cada función del repositorio.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797A6ED-C0CC-4B77-96CF-DFB5E172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0C7D04F-DDD9-4944-A52E-F260A5EE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AAB651A-BDA3-4E91-B6DD-142E7F0C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ABB03DC-4FB7-41B4-AB7D-E90240E7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7D13154-1E75-4C78-A450-8D595DF4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31649F5-E5FF-400D-BEDD-55ACC20F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302B60C-92FA-4D04-A638-2E2D12E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7FF83EB-E46F-4EEA-8780-FFD84C83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E41864-7E9D-42C5-AFCA-30CAF21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66CD6D71-F1D1-4980-8449-44C06E87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7CD0B295-AD5A-40E3-A476-F3917E20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FE822F4B-7A1F-427D-ADBE-35703CEE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 esperado didáctico: «30 días»; respuesta: «no son 30 días».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45F2A54-4873-4C30-B814-400F2AB5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D448639-395F-4A1E-89DF-C6C278AB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E1848-DFF7-489E-AC40-E5CE5CC0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76538E6-BC71-40F3-BA27-48FBEF30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9E2DCAA-8BB0-45CD-8D38-CF6D8D6B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Evaluar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808AC460-11B5-4BD3-BE8A-F98D7C07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subcadena «30 días» está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B687492-FA22-4D5C-AD88-981F4214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9518EA8-C879-4FD7-9F0C-A4C3C297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36B31E-3D51-4CD3-8033-75B55EC3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8F8F8D8-7C01-4728-8861-63F827F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5FE8C40-474D-452C-890F-A014E37F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 límite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8B8640FE-74C9-49D5-8821-A31FE6AB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comprobación lexical puede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aprobar una negación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incorrecta.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5ED781A-5122-4F97-A094-B2EBB7DF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97A945E-A8C6-4334-B4E8-5606C7F5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271CD5-3325-40E6-BAEA-4AB49C98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73F1285-77CF-49E2-870D-40C5E13F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343A483-526F-43AF-AC2F-5877A6C0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B55AA1EC-85B2-4C3D-85C4-EABD78EB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 el resultado con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texto y la fuente.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1A3FF57-9C08-44C3-9EB9-ABFC9404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BA197C7-89A9-4022-9AD1-952DF799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92FA4B7F-04FF-4D73-867F-CA7AD5C6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Este caso ilustra un límite del código; no cambia los criterios de calificación del curso.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4B67CDA-A3CC-4F45-8D4B-A03EB32C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58C66BD-7313-4F5F-B6D9-D1D5CF0E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evaluator es exacto respecto a su regla, no respecto a todo el significado.</a:t>
            </a:r>
          </a:p>
        </p:txBody>
      </p:sp>
    </p:spTree>
    <p:extLst>
      <p:ext uri="{BB962C8B-B14F-4D97-AF65-F5344CB8AC3E}">
        <p14:creationId xmlns:p14="http://schemas.microsoft.com/office/powerpoint/2010/main" val="12167016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B237FFE6-BECA-4E8C-8D2B-FEB59BA5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4E90A-810D-4D50-960E-2511048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89BDED8-C2D5-4D52-B792-1D7F6C96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A0FDD46-9586-456D-A694-97B49032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2AB99F-B21A-47F2-B545-721518AB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LLM-as-judge: uso y sesgos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F217528-9330-40EA-AA16-3F20DCC6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Contrastar un juicio del modelo con los criterios determinísticos del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B0A8546-C28E-43A7-B41A-5ABD7CD6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768172B-0ADA-45B3-8ADD-F1D6353A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7B2A594-4048-44C6-AE31-621FBCA5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BB6F845-861F-4735-8620-FF3C6007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D285B68-8733-43CE-8426-630290D5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1DFF3ED-5C35-43E9-A277-A2967A8B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F5D9B27-5A6C-42BD-9EC7-6857587A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451AF13-A293-4B5A-8C45-AB460CD6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7482F8F-049C-4A6B-BCE1-78309C2B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C374E1E-968D-4E4D-BC3F-AF712F70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506B22D-5BA8-42C2-8A49-9A741911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6801B-C70B-4382-9B53-00220D9E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05D7D66-DD83-48D4-8F40-7ADD564A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31B2020-47DC-4D87-82B6-CEC29B41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Juez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48F5F90D-B876-4B22-AC50-6FCB40B1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modelo puntúa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 respuestas según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instrucciones.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3B9BA1C-5873-4C41-8A10-07CF26DE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ABC73BC-2E83-4774-A33A-69FBF80C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054FD-A7D3-4395-AE4F-8C4CE456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3709FC1-CEAB-4B09-94F7-29FADDF7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94A9217-CC7C-4595-9553-0C47918E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Utilidad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996A92ED-B1CA-4ED9-96B2-5B1C63AB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 aportar juicios sobre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tono y utilidad.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65386D3-4667-4D53-8D07-0EBA9E0C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7C20FBC-4E83-40B3-9379-398B9C96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27F0D5-354E-4A8A-AB21-54ECD39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2131148-97F3-43D8-A995-DD22E3AC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D71118D-6854-4D3F-9ECE-C6A40B53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Sesgos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5A889316-98B2-4F8B-A90E-481006D5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Posición, verbosidad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autoevaluación pueden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influir.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02236B86-9AE8-4CAC-859F-8F768B34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F2F77B5-68EC-4720-85C3-751B7B8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210A4E66-1125-4F9D-856D-0B82E4F9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cambiarías para explorar un sesgo de posición en A/B?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0BC657E2-64C7-45ED-8D18-1C2E3CF8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3C768ACB-F6B5-41AF-A86B-00D7E667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91A8F736-B3D6-493E-928F-6E361D08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el juez como árbitro infalible 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sustituto automático del dataset.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E0AC3DD7-374C-416A-AEB6-21C053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1CBB39B4-B987-4B3B-909F-CED9AF14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 confundas una evaluación del modelo con una verdad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19451842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C0040310-F906-4BDD-9C49-A792729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D3448-C1F4-48EA-9079-F41DE0B2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E62B041-7690-48C0-A20F-437B1FB5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8A42AC5-B5D6-4C60-A6A6-125FBAA0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D1E156-B474-40F8-A18C-428D019E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Diseñar la demostración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01B346B-57F9-4987-8239-A07D8E0B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Contrastar un juicio del modelo con los criterios determinísticos del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12B92AF-52C8-4898-B6DE-EF3EC8B5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A596306-40C7-4336-A967-7243F476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505E993-DAFB-43EC-9C28-5FC508E4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2447F96-BFAF-4D1C-99D5-03314801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2B0075F-568C-4C60-9E0C-1EFCAC44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06A7E24-B017-4819-9C10-89B3A099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FC97FFF-0138-4515-9F99-A280F637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FE1A1C0-4945-408C-A794-15132EF3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944D75A-FBB6-4C28-B115-41FE042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Tomar diez casos ya puntuados por los evaluators.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Comparación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Presentar las dos columnas y localizar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desacuerdos.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calificación del curso se sostiene en los criterios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determinísticos.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17C508B0-3339-460C-B252-02ADCBFC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858123B-DCF5-4481-9A35-2B5447E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F30F5378-2353-4F8E-8185-C15DC2D4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el juez como árbitro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infalible o como sustituto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automático del dataset.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F2BE69C4-A1D5-43C6-9B5F-F896EB3F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86AC390A-594A-4B74-9673-7E7DA9A3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C0F7DF33-3367-42EB-B48F-4ACC1DEB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DA8F0148-0F48-4EB8-A050-B71ABD6D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cambiarías para explorar un sesgo de posición en A/B?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DCE2A43E-B7F8-4261-84C9-1A3124C2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F06C57CD-5494-456F-81CB-AC76A2D5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 confundas una evaluación del modelo con una verdad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18684051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E5AE0833-CC43-4026-94C4-1E972513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6271F-E886-45A2-B06D-8928F486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A496100-230D-4AD5-83FA-C60A5F66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C3B5176-449A-49B2-A097-3D6F0788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A3BC3A-67E5-4A36-8D0E-006AE4F5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LLM-as-judge: uso y sesgos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AFF9F7E-58C2-40EB-B8AE-A6B79967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Contrastar un juicio del modelo con los criterios determinísticos del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68E32C7-8A4A-4267-9B56-31C45C57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A0CC25D-DE2A-45B8-A096-BD1389E2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0207740-107F-479C-8D57-E54455ED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E1E8A89-756F-4A44-9C09-7A0DA503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FC50239-E663-4382-9886-66F59AAD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9FCBF28-C60B-4D66-BB62-8FE01B38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84F477B-13D8-472E-809E-18312AF6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6F532A5-22FE-4D2D-948A-5F3E4CC7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FC3351-B972-43F9-A8A5-1B954CEB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231697C-45A4-46EA-A214-0CDA1600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CFAEBE26-DF75-43C4-A53A-161835A3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D5A667E9-1E2C-4D01-9E6C-8A2E8D4C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respuesta larga suena convincente, pero contiene un estado de pedido</a:t>
            </a:r>
          </a:p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falso.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9D6DA24-283C-47C1-89ED-ECD0A389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1585F65-9AA3-4081-8813-FDE604A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FCC6E-C0B9-4924-B6EA-2FB2F8EE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773517C-371F-402E-B505-925067C4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5B3D115-C0EA-440B-8C71-59DFF56F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Juez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AEA7B242-638F-4121-B9B5-C77F6203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 valorar claridad o detalle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forma favorable.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AC58373-DEB1-43C8-85BE-136A96BB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B83AD89-7FF8-4460-96FC-D0A08F9E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2A6EC-F04D-4478-8C48-518BD0D1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F6AA6E1-CB53-4175-85CE-CCCCD636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926AEA4-21CF-4B21-B8FF-CF310647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5FB4843E-889C-4156-B7B4-9C366189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comprobación del estado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revela la discrepancia.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6E1B41F-0C15-4A16-B9FD-A683055D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1A706A3-CAFB-4B38-B4F3-09131331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BA296-E54C-4075-8FE2-56C8B8CB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D107929-9E57-4AA7-B28C-0B2B9986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79ED2E3-E02A-46E4-9BCC-023FD5E8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Discusión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1EB39A1-F8BB-4FD2-A48B-61F1CF0E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estilo útil y contenido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correcto.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5C968E78-A44D-4CB0-B519-368C248A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1384EC1D-F5CD-4558-B144-4CD1BC8C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FE263560-F102-4601-BC7A-01A0A18D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desacuerdo sirve para analizar el criterio y los límites del juez.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CD5BD256-7A15-493F-BF82-A7202EF9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2BA8F88-A73A-49EA-8AEB-AADDB7DC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 confundas una evaluación del modelo con una verdad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16145909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43FA953D-20F1-4433-B785-510DE312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9DBCF-C8E5-4E75-BBD4-20543EF0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807EB69-E3BC-41D8-ABE0-85B13CDB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D0C3A09-C3AC-49AA-930D-93877A93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AD7C38-8A27-43AC-ACC2-468E222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Mejora, variación y repetición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AE03EB1-6AD9-4C65-A40F-49C9AA5C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 una diferencia pequeña sin convertirla en certeza estadística.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ED2B698-5CB1-45AE-B675-CD56729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7F8A321-CD1F-4177-A281-07E2F47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A2AF47F-861A-4DC9-B85D-E9551478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ADC5403-0F3C-496C-A2B5-08805255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E1092BA-B218-41EF-857D-650A5418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4A747CA-1920-478F-B822-70317BE8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CC63DD5-D9B0-40EC-8695-0A941DB6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A1B85EC-D950-4193-8278-0510884B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CC053BE-C80D-47C4-907C-8197DB24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62BCA84-08B0-49FE-A912-67799FF6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00347AC-DFF0-446D-904E-E61CD313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4A13C-FA53-49E6-9E03-B43C0CEE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51AA267-B088-448C-B535-842879C5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2AA9B09-0F31-4ED8-B998-97B92920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v1 ilustrativa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3621AE2B-83AE-4D8D-86A5-C8664BFC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24/30 = 80,0 % de aciertos.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9CA7810-12E0-41EE-8AD0-89676140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314F069-C9DC-42AF-9470-9DF2469F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1E029-30AC-4229-A132-9E7E4E22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68E02AF-6C70-4988-937A-75CA56BE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6C54D46-4100-46A3-ABCF-BC20CA7B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v2 ilustrativa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D3476E09-9CE7-4706-906A-04D1644E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26/30 ≈ 86,7 % de aciertos.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330803B-4BAC-40F6-A2FD-0BCCA945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4CDAA86-B9CD-4E00-9B3D-E3E85C18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23BCED-C195-4CD2-AE79-E5CBB635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9E6CCF1-2A4F-4D52-A082-A70D9584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FD77642-FAC8-44DF-A5CD-8DFE1C5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602CFDBA-FEF8-4D4E-AE12-B342B86E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¿Se sostiene la diferencia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casos cambiaron?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46324439-6C82-4C84-9467-24D4BA8E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641A9A8-E744-49AF-819B-9E2027D4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DA54309A-2272-4433-831E-B4BD745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harías si mejora la media pero empeoran siempre los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mismos casos críticos?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79587921-6382-4D17-9142-046226BC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90C31BA8-19A3-416A-A847-3963181C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EAFC620D-7B52-4826-8A6C-11F27CEB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Llamar mejora real a cualquier aumento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 una sola ejecución.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EC757E07-80D9-4267-9981-A8779840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0A80E47B-B03D-4AF1-85C6-942B67B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Reportar incertidumbre forma parte de medir bien.</a:t>
            </a:r>
          </a:p>
        </p:txBody>
      </p:sp>
    </p:spTree>
    <p:extLst>
      <p:ext uri="{BB962C8B-B14F-4D97-AF65-F5344CB8AC3E}">
        <p14:creationId xmlns:p14="http://schemas.microsoft.com/office/powerpoint/2010/main" val="80939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4384C4F9-28B2-4FC6-A526-BEE6B55E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0C16E-69B8-4734-B360-604D8A3C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8B5B25F-97CA-453C-B8B3-86309C6C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E15FD47-722D-488B-BC22-D1549BFF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0657F5-AE1F-48A3-B533-E61C2619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Regla operativa del curso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4572173-BC45-47BB-9B2D-4D9598C1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 una diferencia pequeña sin convertirla en certeza estadística.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2C3D609-96A7-42AD-812B-4F3FDBDF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2469CB7-E07C-4825-BCC9-8529533F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CF327A6-ED92-4925-86A7-765C5396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8B4A455-FE3E-4C60-8BD7-3B54F50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BDA1C93-A746-464D-83B5-9540040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630C824-F05B-49BA-A0EA-91A306DD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A069BD0-F462-4096-B3F4-A412764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DE240B6-C295-4A0D-A2B5-13E7DCE2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77034F2-7BE6-4419-A73F-C4B6DBE7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Repetir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Comprobar la mejora en dos corridas.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Señalar el cambio aplicado y los casos ganados 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perdidos.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Limitar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regla es pedagógica; no demuestra significancia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estadística.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B8446F34-1AE4-46B1-BABA-C2F5E4BC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1EE85E9A-FDE1-4081-88BA-923B79F4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8ED5DE69-F6E4-45FE-856E-396B0488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Llamar mejora real 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cualquier aumento en una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sola ejecución.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9DCC43CE-182F-4D0E-A33B-A0ACECE0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A051F358-8375-42D2-8A6E-76384D90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12BC7E1-E7BC-47E5-B9E9-034FB369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172BD62-C699-4ED2-97FB-8F1F16FF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harías si mejora la media pero empeoran siempre los mismos casos críticos?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6778F98E-F1BE-4963-A813-1B9E9AF1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6359093D-11DA-4E2C-AE3B-A8B4533D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Reportar incertidumbre forma parte de medir bien.</a:t>
            </a:r>
          </a:p>
        </p:txBody>
      </p:sp>
    </p:spTree>
    <p:extLst>
      <p:ext uri="{BB962C8B-B14F-4D97-AF65-F5344CB8AC3E}">
        <p14:creationId xmlns:p14="http://schemas.microsoft.com/office/powerpoint/2010/main" val="2011988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0E99F02-5855-49C1-A158-1504409C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7D7B-4E69-477D-AD06-6D87C1FB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3EDC333-1203-4A44-9B26-229EE0F4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BD33BF3-E209-4ED2-AF15-FAA89245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BB7F39-2327-4D8B-897E-27D214FA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Mejora, variación y repetición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F282379-12C5-4EB4-BA89-6668BEA6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 una diferencia pequeña sin convertirla en certeza estadística.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F43813B-1089-43BA-830E-CA0A1193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A7274B3-2767-4900-BBD6-6B36C9B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076F4CC-885E-4843-B85D-CAE83F1F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77A8B7F-D505-42D6-92D2-D4C03C6D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452F23A-A6D4-4EE1-8877-9FE7E710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53E7D48-ADBE-4CD1-B4DB-1799828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02BB79D-4EF2-404D-8F0F-8163F526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3B4638F-F3EF-4FD1-B456-445AD109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1478096-9E1F-41B9-A798-08AA3551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89DAA642-510D-41DE-8AD2-DA956C11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A0977CFE-B238-4150-B100-AB911FD0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3AC1D2CE-4CBF-4F52-B58D-202C2F50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v2 gana dos casos en una corrida y los pierde en la siguiente.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7DD5595-65FA-4C63-8239-FD212501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EFF1FFE-DD26-44B6-A8E6-5378780F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A5CDC-2425-41EF-8BC0-42589C76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326E979-FF61-4FB8-BEB0-82DFE5BB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BA3D818-9F64-4AFE-8F1F-2A029C69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A8C3C7C8-5E4B-4E90-9ABF-C86EE857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diferencia no se mantiene.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A2297AD-F126-4D64-8946-C9E18786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7FD2D5D-6287-4851-BD6F-A64D9AEB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59CC14-DB6B-4AA9-8AF7-885CFE8D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32B353F-D527-408E-ADFB-66CCAFF8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5622138-9A1E-4AA2-A408-7C9BB5D9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Investigar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A2E45C6E-D2F2-4FB3-83D3-74C93376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variación de selección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condiciones.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59817FB-F34D-4441-9BA3-B497C557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F77856E-0BDA-4394-B331-326DC804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98D49E-43A7-41EF-94A6-B20C084C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5C87AEE-85BA-4285-8D4F-332D45A2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29EA481-DBFF-4EC0-8876-A8AC2ACD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Reportar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54AB657-1DAC-491F-8509-EAE69ACF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que la evidencia aún no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sostiene la mejora.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AAA1CE9-9CF8-4FE2-AEA9-E794D3B7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7B7AC5E6-E6D4-4533-BB10-0473A2FC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073422D5-DEB6-4086-B2F6-D5A7D701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Las cifras son ilustrativas; el informe debe usar mediciones del equipo.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7A9254A4-4A84-4D15-B697-F23FEA2E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C47F3EF-068D-4FE4-96B2-DB494947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Reportar incertidumbre forma parte de medir bien.</a:t>
            </a:r>
          </a:p>
        </p:txBody>
      </p:sp>
    </p:spTree>
    <p:extLst>
      <p:ext uri="{BB962C8B-B14F-4D97-AF65-F5344CB8AC3E}">
        <p14:creationId xmlns:p14="http://schemas.microsoft.com/office/powerpoint/2010/main" val="3989445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781FA50-523C-4B0C-BEFA-F605306C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18CC9-7792-46F0-B5C4-437B580B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A8BC33F-06B8-43C3-BDCC-C0F06803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3AA01AC-24CE-4439-94CD-4D621EF2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A57AC8-F395-45D9-B75D-C67F5081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Laboratorio L10: un cambio dirigido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54AFE76-3209-421E-AB43-DA2B8122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v1 y v2 en Langfuse Datasets con una intervención trazable.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9EBFBE0-BDED-411C-AB41-2B2DEBCA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1124E7D-1825-452F-9D1F-D911F7E6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D38DAF8-B271-4F87-BA26-0ACEFE0F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D95EE07-75A1-4035-9588-B34D09A8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17A4BC3-1333-4B25-8126-3ECC1EF2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08644C8-EADF-43C6-BCBB-2B7DCB9D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CAD01B9-56A8-4DE4-9346-37798895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1E8C7FE-A6B9-4394-9335-9829C29F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3EE4504-255A-4A8F-81BF-4ED33541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7B2CB73-A15C-4F54-A832-FA62C3EE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F2745DE-9DBF-4B2F-9623-1B1785F3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96CEB-A722-4124-89F6-F24CDFE8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7FF46CF-94F1-4374-891B-E17D2CDE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1B969E2-225D-4334-AD01-24160F67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9A82CF78-1BDC-4CB8-AF86-C2D9201D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Cargar los treinta casos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track.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DCCF94E-3D01-44D3-A790-05A5398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D7F94D9-5094-458E-886C-5BD9A20E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009E9-AE02-4D1C-BFFC-AD178362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78C9461-1D64-4B6C-B946-44F28C35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D8D1EED-A097-44E7-9F44-B79AD160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57085708-75A0-416C-96B0-B7AD0288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 v1 y aplicar una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modificación ligada a L9.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A74255D-B2AC-4A69-831B-3E242D12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3889268-EE16-4FCE-A007-91141CD4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9D78E7-0839-4C04-B26A-C214DE5C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73FED4F-857E-4BE0-B2D7-8DDD5102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8C26A67-153E-4B54-A0B7-3DFD96BB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Decidir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6E02AF7C-64E8-40A6-B1EF-AE3DD618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 v2 y justificar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conservar o revertir.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89DC539C-6D60-4821-AC18-123E9CEC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E09BF34-99A4-46C1-B422-4C33E480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67835133-0E41-4799-ABC4-33161BEC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resultado te haría revertir una versión más barata?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799A6D8D-1CCD-4891-A6E4-28BBD413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466D0E16-4B4F-4F24-99DF-EFB1D2C6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7135C865-2628-4B7F-893F-3108AA9A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Reportar solo la métrica que mejoró y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omitir regresiones.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E6367EC-B01B-4ADE-9EC8-7166CC41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E98D833-0376-47C1-9890-724E03A1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optimización debe conservar el propósito del agente.</a:t>
            </a:r>
          </a:p>
        </p:txBody>
      </p:sp>
    </p:spTree>
    <p:extLst>
      <p:ext uri="{BB962C8B-B14F-4D97-AF65-F5344CB8AC3E}">
        <p14:creationId xmlns:p14="http://schemas.microsoft.com/office/powerpoint/2010/main" val="8655883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CD1F9B6F-2BFF-43CF-A7C5-88D6EE09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6E947-3EC6-43BA-B54F-C3BB64A4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9F0258D-625B-4E34-A4B3-FD1DE5AA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9C3E383-E79D-4145-8EE0-6B76176B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C7BFD2-BF1C-4FBE-B875-D5FE86F2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Qué debe contener el informe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ED3138B-1BE0-4B3E-B01E-8D9747E1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v1 y v2 en Langfuse Datasets con una intervención trazable.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66C0443-9CC8-49D8-9A71-B546A799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8FBE165-F7AC-413B-8CAB-6B474A62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7975BA4-2387-4F35-9384-E218103C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A0F2D7E-A486-4C82-85D0-A1C20A4F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89FB5B3-32C0-41D3-B564-C020A548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5ACE3F4-9B55-4D5A-B395-8E46A390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E2D098B-B5BA-4494-916A-AB48B955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694416D-F460-4C1E-9B96-86A59605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FAC17F8-85C4-4329-9CE2-8C06E977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Cambio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Descripción concreta de la pieza modificada.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Resultados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Métricas comparables y casos que explican las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diferencias.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Consecuencia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Beneficio, regresión o límite que afecta la decisión.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56CC05DF-0EE7-4904-9EBE-9019D4FA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1350BCF-ABBE-4147-BBC6-EA58B3AC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F008D68E-727C-4D77-98A4-37145AD9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Reportar solo la métrica que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mejoró y omitir regresiones.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5239BFFD-716B-4F16-99B5-A69259F6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1F9C1E9A-28D4-4C1E-897E-13906C31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DEA3BCD-29E7-4CD4-AFBD-C2E46825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6A29497-B1C9-4105-AE60-446C5ED0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resultado te haría revertir una versión más barata?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6C881DEA-16B1-4A28-B877-72466CBD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24742C34-18D8-4965-8494-6110E047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optimización debe conservar el propósito del agente.</a:t>
            </a:r>
          </a:p>
        </p:txBody>
      </p:sp>
    </p:spTree>
    <p:extLst>
      <p:ext uri="{BB962C8B-B14F-4D97-AF65-F5344CB8AC3E}">
        <p14:creationId xmlns:p14="http://schemas.microsoft.com/office/powerpoint/2010/main" val="16320418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C7FB564C-5DA5-4A4B-853C-5CD1465C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6E747-A5F3-47C9-9428-47F64CA8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8F1372C-94FD-4F6C-88B0-D3687DDA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5ED91F7-D66B-4A4D-BC89-7137A312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22C2C2-BEE3-4211-BE5C-6FB66BAF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Laboratorio L10: un cambio dirigido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6FD8931-BEBC-4159-9798-981A5D6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v1 y v2 en Langfuse Datasets con una intervención trazable.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D9F15E3-6234-48EE-B456-B5447C63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EC36741-34D2-46CC-9191-8A868A80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25EA198-71B2-4D91-922D-1AFCCB40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DE44383-4F89-4882-9E31-19E2CEC0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BC5969E-7474-4E37-9EF7-710DC242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B98212D-0418-4DD9-9FB3-B91673A2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BFB02A3-5388-4F61-9A8B-22F9C324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47CABF5-0F78-4D5F-B9F6-0C24F81B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2FFA8D8-7724-4B2C-A0DA-4FA1C8FE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C63222E-246D-41F2-A554-F9166990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691BA539-A005-4116-A6DD-02A1B8AE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3715DAC5-9802-4D29-90C7-6D971EB8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retriever devuelve contexto redundante que incrementa tokens.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0E0853B-13FD-45C0-BFA6-0705483E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A3B6234-8D1B-4971-A13C-0091A6FF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45068-C546-4610-B359-A2FB0F31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E3A573B-A5AE-41B4-8B83-C7F68D84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7084C91-7F17-47E0-A9B8-21EEC897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Hipótesis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0A92F8D3-8B02-49B1-99A2-049DE449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Reducir redundancia puede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bajar costo.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B7B01A1-F66F-4E3F-9ABD-FDA47E18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34FBD4B-4DD4-467F-92A1-BE5279DD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A19605-9D8E-4BCB-A0F0-DAB41E27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36C56C7-6679-4812-9DD9-57E858C2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5CF389F-E68B-4C67-A44D-6DBF708D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Prueba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05526A8E-10F2-4FC0-8A6E-869FD4A0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el mismo dataset con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modificación.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76D5D82-E8F7-4345-8DD7-AD09B74E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9EB9B11-E8C7-4E45-972F-580F43BD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D97776-8380-4452-A578-E9AE440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7EE7333-87DD-45BE-B78E-9C8B730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6B4C633-7B98-43CB-801E-7142657E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Decisión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6B95879C-CC85-4BFE-9036-1FCD60F2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Revertir si la reducción deja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cláusulas sin respaldo.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7B4E1B1-FF7B-4532-99EB-23C00E26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10FD93F3-B3C8-4F93-A680-98CC7155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97FE0601-7F3D-416A-A7C9-808A51FF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Ahorrar tokens no justifica perder el contexto decisivo.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AD4F1506-3AFC-401C-84C1-DEF6043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ECB3E60-4FE4-48F9-A964-E231E308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optimización debe conservar el propósito del agente.</a:t>
            </a:r>
          </a:p>
        </p:txBody>
      </p:sp>
    </p:spTree>
    <p:extLst>
      <p:ext uri="{BB962C8B-B14F-4D97-AF65-F5344CB8AC3E}">
        <p14:creationId xmlns:p14="http://schemas.microsoft.com/office/powerpoint/2010/main" val="10161673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AEF4D562-0A35-44A6-BAE0-B1067CDC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9C73E-9410-41F6-9193-6F073BF6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DE632FA-AEEC-4407-8DFF-C4DB30A1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DB9CC62-55D3-4D7D-BC16-D11E5D2A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40DED4-08A9-4C1E-8558-7009789D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Preparar evidencia para la sustentación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BE0615D-846C-456E-AD86-B2B40C1C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Convertir la comparación técnica en una explicación que el panel pueda revisar.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D0E7893-D1F3-475F-BD8C-BC854EF0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141B957-AA0E-412E-9519-903AE46B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40CE6E5-8B21-4672-99E4-BCA4B313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7322CB1-D7FE-4E8A-967C-595043C8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6EA0C0E-523A-4350-91F4-E1AEFA86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59BB127-8A0D-4E3D-B976-56A2B328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160A68D-51D6-44D8-B0F0-FF93B44C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03740CD-2AC3-4B3B-B8FB-2C631705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09F6245-2F08-41F8-9AC3-5B67901A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A4EB685-AF0B-4785-A577-AAE9A7E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21F3824-FB8B-446F-890A-8FA0A0D5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F9BFD-74B6-4403-9008-BCF26CFA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BDF015C-E8A5-4949-922F-4D0F69E0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ADA5434-75F6-46D8-BA55-B8D3DB2E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Problema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142ED98E-5279-42DF-A0E8-7E8C8382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cuello de botella medido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 L9.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3DD2613-6765-4484-8E12-D740314C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19EE1DA-F589-4989-B29C-7C262295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20F9F1-1603-4E5A-82C9-0639C762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6F126EE-B4ED-45A7-B936-0AE9ED4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FBE3033-CBE7-41EF-8429-BAAD7A8A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3A168B8B-21FB-4EA1-A1F3-62F47126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modificación concreta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aplicada en L10.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D19A3FB-4B25-4AAD-801C-449D85BB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311D9ED-71DB-4A67-939C-6B0D3B8E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403B96-387F-456F-A934-2F50CB26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B17D5BF-F12A-481C-BDD5-E190EB3C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AB5AD51-FAB4-42D8-951A-CF08B5E2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F7594206-3F40-4DD4-8DDD-40B4C50B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mejoró, qué no y con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evidencia.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A2C33C1A-227C-4A70-8DC1-DDA0BCAF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227D7AA-F14E-47B0-91E3-FF456663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D49B96F7-0AF0-48F7-8617-63AB8F53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pregunta del panel pondría a prueba tu interpretación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los datos?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47BFAA5D-F7AF-45DD-9B27-7AD7B167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8ACE75F2-DA02-41A0-9C70-A926D4EB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8DF92C27-C453-459A-96FB-72C4CF7F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un número sin dataset,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versión o criterio.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0A7E478-89D4-48B9-A210-73B7CD91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13BAAA0C-7E5E-4B9B-8F98-0EF77C6C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evidencia sirve para decidir, no solo para mostrar porcentajes.</a:t>
            </a:r>
          </a:p>
        </p:txBody>
      </p:sp>
    </p:spTree>
    <p:extLst>
      <p:ext uri="{BB962C8B-B14F-4D97-AF65-F5344CB8AC3E}">
        <p14:creationId xmlns:p14="http://schemas.microsoft.com/office/powerpoint/2010/main" val="7198650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D5B4E106-8ED0-45D7-8EE4-B682A847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3E058-651A-4B61-9B2D-92BCA263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CC5642A-1A92-4749-9966-19108DD9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703A679-F54C-41FE-B69A-544EB556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26C9B2-3860-4927-9256-30AE8FAB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números a argumento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3EDEE04-70FD-4E95-968B-C9A985A3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Convertir la comparación técnica en una explicación que el panel pueda revisar.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B2F9CC9-452A-4E2E-94D2-85BD6AD0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D9927EF-C476-470D-92F7-86351FE0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D5EF06A-C0BF-463F-88CB-59A258E0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BE89DD7-67CC-46B2-89D8-169E5C27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4B84C50-8857-4352-9E35-BDEE8F8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1CDF164-1D67-4C5B-A46D-36FCE5E8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00BF324-0A49-42D5-811D-EEA663A0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7A32BC0-2D22-4DBB-A554-E252D70D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60A9A09-1CAC-4D85-BAD8-A69BC3AD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Contexto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Nombrar dataset y versión comparada.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Decir qué umbral o compensación importaba al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Reconocer tamaño de muestra y casos todavía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problemáticos.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26B8D5A9-DE2B-409D-9F4C-49D0F506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DB2480E1-BE5F-4EED-9807-43D0E06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197B2650-CC02-4989-A3A9-6699680F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un número sin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dataset, versión o criterio.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B2B99C9A-C309-45B4-A97D-8F721DB5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183A2F57-9A4A-49A9-8D26-855ED648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5C2AD48B-AE6A-4C36-96C5-CE60B053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2F389565-0B89-43C1-A918-65889506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pregunta del panel pondría a prueba tu interpretación de los datos?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2CF3C426-607F-4F7F-ADE9-68825C3D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923D4961-BDA3-4EC7-BC32-F9037770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evidencia sirve para decidir, no solo para mostrar porcentajes.</a:t>
            </a:r>
          </a:p>
        </p:txBody>
      </p:sp>
    </p:spTree>
    <p:extLst>
      <p:ext uri="{BB962C8B-B14F-4D97-AF65-F5344CB8AC3E}">
        <p14:creationId xmlns:p14="http://schemas.microsoft.com/office/powerpoint/2010/main" val="14024239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1E13894-9F54-445F-8A89-872B6280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D9E4F-E769-44BA-80C6-49934769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81CC1E2-A77D-40EE-9C73-B91B5D1F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920F235-D657-4BCF-B56A-83F74B1E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10 · Evaluación y optimización continua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9F9A49-796E-40AB-A66D-C914BBF4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Preparar evidencia para la sustentación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E93B415-CE8E-4AA5-A165-440509CF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Convertir la comparación técnica en una explicación que el panel pueda revisar.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36DBBE6-FB85-47E2-904C-F8A1C419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5957510-D2B4-4A22-8B02-7133B509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ED62232-C743-4C89-B2BF-D653F589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F06461B-9B8E-49D6-8B26-122934C8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34EFD2C-3DAF-4768-8BEF-EF8254C8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FAE55ED-D13A-46AF-B6C7-D2101E0B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F883A31-BB82-4FF3-B253-1A5E8D80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10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2F75EEB-D15B-4EBD-A155-2976D649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9E04DCE-BF0D-450F-91BA-9D6545D3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CEAB4CDE-9E5B-4E8C-BCBE-07A5DD75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99837ED5-5C00-4859-BCFB-2699FA57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AA4665EC-2AE0-4E3D-A102-BD0097AF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nueva versión responde más rápido, pero falla una consulta de devolución.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376E8B8-72AA-45F9-885C-8B1DAF82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C495689-5F35-4D02-8D28-87DED8F8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5E05F-6259-492A-8635-B94F57EE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C68DB4A-D5D4-4F63-9075-86925045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D77BF41-B185-4DE7-A70D-F1EDD322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DF259123-E380-4B1B-8370-337D1F40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tanto latencia como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 perdido.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1088B3E-5BAE-473C-B63F-5C8C3022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F858571-6C9D-426F-91E4-221C1793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0241B-2029-47AE-838D-FDEFA813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052546E-B679-4F15-87DB-4DA04D0D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96DFA20-E857-466A-97C4-9CFC9FFF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Valorar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4F9244C1-A399-48D6-9D1C-4C73CC16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devolución puede tener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mayor consecuencia que un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saludo.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5E4E0F9-C80A-43E6-92CE-61305521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F945744-EB71-4EB1-BF9C-65342DD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B6FDFD-BEFE-4026-A5A4-2C9CDCD9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D690CDA-2561-4283-951E-0629F7F8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2FF7C62-F9F4-49A1-A1A2-A4B5054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Defender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37DF8110-A9F7-43BD-9789-45A0771C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Justificar si se revierte o se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investiga antes de entregar.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89671FD-C0CD-4A67-B7DB-C08237D4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FEB68591-BF6B-467C-A66A-2AFDBEF2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8E869A2A-4951-480B-810C-7507796E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conclusión útil explica la decisión de producto y su costo.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E3406AD-DC47-4453-8731-F37C8CB9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3E73F7BB-8AFC-4D9C-A751-1D0EA99E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evidencia sirve para decidir, no solo para mostrar porcentajes.</a:t>
            </a:r>
          </a:p>
        </p:txBody>
      </p:sp>
    </p:spTree>
    <p:extLst>
      <p:ext uri="{BB962C8B-B14F-4D97-AF65-F5344CB8AC3E}">
        <p14:creationId xmlns:p14="http://schemas.microsoft.com/office/powerpoint/2010/main" val="80682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2026-09-23T04:06:57.9140000Z</dcterms:created>
  <dcterms:modified xsi:type="dcterms:W3CDTF">2026-09-23T04:06:57.9140000Z</dcterms:modified>
</coreProperties>
</file>