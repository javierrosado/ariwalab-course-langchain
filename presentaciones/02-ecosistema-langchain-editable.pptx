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aebacc71cb04687" /><Relationship Type="http://schemas.openxmlformats.org/officeDocument/2006/relationships/extended-properties" Target="/docProps/app.xml" Id="R61bedf7dcec241d7" /><Relationship Type="http://schemas.openxmlformats.org/officeDocument/2006/relationships/officeDocument" Target="/ppt/presentation.xml" Id="R6191b3f936ab441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fe4d69ae51442bd"/>
  </p:sldMasterIdLst>
  <p:notesMasterIdLst>
    <p:notesMasterId xmlns:r="http://schemas.openxmlformats.org/officeDocument/2006/relationships" r:id="Ra8c1900bf884498c"/>
  </p:notesMasterIdLst>
  <p:sldIdLst>
    <p:sldId xmlns:r="http://schemas.openxmlformats.org/officeDocument/2006/relationships" id="256" r:id="Rc30d3806ef9d4507"/>
    <p:sldId xmlns:r="http://schemas.openxmlformats.org/officeDocument/2006/relationships" id="257" r:id="Rbb41ba500cd443d8"/>
    <p:sldId xmlns:r="http://schemas.openxmlformats.org/officeDocument/2006/relationships" id="258" r:id="R8ace04a1b41248d4"/>
    <p:sldId xmlns:r="http://schemas.openxmlformats.org/officeDocument/2006/relationships" id="259" r:id="R9f8f16003abb40c0"/>
    <p:sldId xmlns:r="http://schemas.openxmlformats.org/officeDocument/2006/relationships" id="260" r:id="Rfcc71d3f9384492f"/>
    <p:sldId xmlns:r="http://schemas.openxmlformats.org/officeDocument/2006/relationships" id="261" r:id="R70a1b93131744cf1"/>
    <p:sldId xmlns:r="http://schemas.openxmlformats.org/officeDocument/2006/relationships" id="262" r:id="R82effee5739f4370"/>
    <p:sldId xmlns:r="http://schemas.openxmlformats.org/officeDocument/2006/relationships" id="263" r:id="R8b03beeec8724a77"/>
    <p:sldId xmlns:r="http://schemas.openxmlformats.org/officeDocument/2006/relationships" id="264" r:id="Rf4028b011a214873"/>
    <p:sldId xmlns:r="http://schemas.openxmlformats.org/officeDocument/2006/relationships" id="265" r:id="Rf8b3c743afcc4bc7"/>
    <p:sldId xmlns:r="http://schemas.openxmlformats.org/officeDocument/2006/relationships" id="266" r:id="Rbb021a360094450f"/>
    <p:sldId xmlns:r="http://schemas.openxmlformats.org/officeDocument/2006/relationships" id="267" r:id="R76d8ff931664450a"/>
    <p:sldId xmlns:r="http://schemas.openxmlformats.org/officeDocument/2006/relationships" id="268" r:id="R156a64c5d3294b42"/>
    <p:sldId xmlns:r="http://schemas.openxmlformats.org/officeDocument/2006/relationships" id="269" r:id="R75f21605c7e04c71"/>
    <p:sldId xmlns:r="http://schemas.openxmlformats.org/officeDocument/2006/relationships" id="270" r:id="Rff8961bbe9614e65"/>
    <p:sldId xmlns:r="http://schemas.openxmlformats.org/officeDocument/2006/relationships" id="271" r:id="R522d96b6463a466f"/>
    <p:sldId xmlns:r="http://schemas.openxmlformats.org/officeDocument/2006/relationships" id="272" r:id="Rc361f37f9ad94ba7"/>
    <p:sldId xmlns:r="http://schemas.openxmlformats.org/officeDocument/2006/relationships" id="273" r:id="Rff0cbb3d9ddf4036"/>
    <p:sldId xmlns:r="http://schemas.openxmlformats.org/officeDocument/2006/relationships" id="274" r:id="R16683b7c3cd74114"/>
    <p:sldId xmlns:r="http://schemas.openxmlformats.org/officeDocument/2006/relationships" id="275" r:id="R0e3ba17512cc44e3"/>
    <p:sldId xmlns:r="http://schemas.openxmlformats.org/officeDocument/2006/relationships" id="276" r:id="R0773ab4c05c4427e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b6209ba3dd4411f" /><Relationship Type="http://schemas.openxmlformats.org/officeDocument/2006/relationships/slideMaster" Target="/ppt/slideMasters/slideMaster1.xml" Id="Rafe4d69ae51442bd" /><Relationship Type="http://schemas.openxmlformats.org/officeDocument/2006/relationships/notesMaster" Target="/ppt/notesMasters/notesMaster1.xml" Id="Ra8c1900bf884498c" /><Relationship Type="http://schemas.openxmlformats.org/officeDocument/2006/relationships/presProps" Target="/ppt/presProps.xml" Id="R16d3966796fd4b28" /><Relationship Type="http://schemas.openxmlformats.org/officeDocument/2006/relationships/tableStyles" Target="/ppt/tableStyles.xml" Id="Ra79b950187e64f07" /><Relationship Type="http://schemas.openxmlformats.org/officeDocument/2006/relationships/slide" Target="/ppt/slides/slide1.xml" Id="Rc30d3806ef9d4507" /><Relationship Type="http://schemas.openxmlformats.org/officeDocument/2006/relationships/slide" Target="/ppt/slides/slide2.xml" Id="Rbb41ba500cd443d8" /><Relationship Type="http://schemas.openxmlformats.org/officeDocument/2006/relationships/slide" Target="/ppt/slides/slide3.xml" Id="R8ace04a1b41248d4" /><Relationship Type="http://schemas.openxmlformats.org/officeDocument/2006/relationships/slide" Target="/ppt/slides/slide4.xml" Id="R9f8f16003abb40c0" /><Relationship Type="http://schemas.openxmlformats.org/officeDocument/2006/relationships/slide" Target="/ppt/slides/slide5.xml" Id="Rfcc71d3f9384492f" /><Relationship Type="http://schemas.openxmlformats.org/officeDocument/2006/relationships/slide" Target="/ppt/slides/slide6.xml" Id="R70a1b93131744cf1" /><Relationship Type="http://schemas.openxmlformats.org/officeDocument/2006/relationships/slide" Target="/ppt/slides/slide7.xml" Id="R82effee5739f4370" /><Relationship Type="http://schemas.openxmlformats.org/officeDocument/2006/relationships/slide" Target="/ppt/slides/slide8.xml" Id="R8b03beeec8724a77" /><Relationship Type="http://schemas.openxmlformats.org/officeDocument/2006/relationships/slide" Target="/ppt/slides/slide9.xml" Id="Rf4028b011a214873" /><Relationship Type="http://schemas.openxmlformats.org/officeDocument/2006/relationships/slide" Target="/ppt/slides/slide10.xml" Id="Rf8b3c743afcc4bc7" /><Relationship Type="http://schemas.openxmlformats.org/officeDocument/2006/relationships/slide" Target="/ppt/slides/slide11.xml" Id="Rbb021a360094450f" /><Relationship Type="http://schemas.openxmlformats.org/officeDocument/2006/relationships/slide" Target="/ppt/slides/slide12.xml" Id="R76d8ff931664450a" /><Relationship Type="http://schemas.openxmlformats.org/officeDocument/2006/relationships/slide" Target="/ppt/slides/slide13.xml" Id="R156a64c5d3294b42" /><Relationship Type="http://schemas.openxmlformats.org/officeDocument/2006/relationships/slide" Target="/ppt/slides/slide14.xml" Id="R75f21605c7e04c71" /><Relationship Type="http://schemas.openxmlformats.org/officeDocument/2006/relationships/slide" Target="/ppt/slides/slide15.xml" Id="Rff8961bbe9614e65" /><Relationship Type="http://schemas.openxmlformats.org/officeDocument/2006/relationships/slide" Target="/ppt/slides/slide16.xml" Id="R522d96b6463a466f" /><Relationship Type="http://schemas.openxmlformats.org/officeDocument/2006/relationships/slide" Target="/ppt/slides/slide17.xml" Id="Rc361f37f9ad94ba7" /><Relationship Type="http://schemas.openxmlformats.org/officeDocument/2006/relationships/slide" Target="/ppt/slides/slide18.xml" Id="Rff0cbb3d9ddf4036" /><Relationship Type="http://schemas.openxmlformats.org/officeDocument/2006/relationships/slide" Target="/ppt/slides/slide19.xml" Id="R16683b7c3cd74114" /><Relationship Type="http://schemas.openxmlformats.org/officeDocument/2006/relationships/slide" Target="/ppt/slides/slide20.xml" Id="R0e3ba17512cc44e3" /><Relationship Type="http://schemas.openxmlformats.org/officeDocument/2006/relationships/slide" Target="/ppt/slides/slide21.xml" Id="R0773ab4c05c4427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73bc9bd9e224a5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8d28b93921e457a" /><Relationship Type="http://schemas.openxmlformats.org/officeDocument/2006/relationships/notesMaster" Target="/ppt/notesMasters/notesMaster1.xml" Id="R1dfe14a7dea94b7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4b1e05af2a24b0e" /><Relationship Type="http://schemas.openxmlformats.org/officeDocument/2006/relationships/notesMaster" Target="/ppt/notesMasters/notesMaster1.xml" Id="Re00f17cdff384df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37d527ddd8f4b5b" /><Relationship Type="http://schemas.openxmlformats.org/officeDocument/2006/relationships/notesMaster" Target="/ppt/notesMasters/notesMaster1.xml" Id="R65ed2577f9d6455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98b6a9b225345e9" /><Relationship Type="http://schemas.openxmlformats.org/officeDocument/2006/relationships/notesMaster" Target="/ppt/notesMasters/notesMaster1.xml" Id="Re901a44f66ca408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5d7b771630f4111" /><Relationship Type="http://schemas.openxmlformats.org/officeDocument/2006/relationships/notesMaster" Target="/ppt/notesMasters/notesMaster1.xml" Id="R84e2649c46f041e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2d771037500474d" /><Relationship Type="http://schemas.openxmlformats.org/officeDocument/2006/relationships/notesMaster" Target="/ppt/notesMasters/notesMaster1.xml" Id="R677af01265c94f6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edec8729167493b" /><Relationship Type="http://schemas.openxmlformats.org/officeDocument/2006/relationships/notesMaster" Target="/ppt/notesMasters/notesMaster1.xml" Id="R0401fc117484403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86b7ad6a406400f" /><Relationship Type="http://schemas.openxmlformats.org/officeDocument/2006/relationships/notesMaster" Target="/ppt/notesMasters/notesMaster1.xml" Id="R825d0fe22bdb475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e16cde81a684a2f" /><Relationship Type="http://schemas.openxmlformats.org/officeDocument/2006/relationships/notesMaster" Target="/ppt/notesMasters/notesMaster1.xml" Id="R38f7dfd05eae490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f2b49e9e2714255" /><Relationship Type="http://schemas.openxmlformats.org/officeDocument/2006/relationships/notesMaster" Target="/ppt/notesMasters/notesMaster1.xml" Id="R784f6923e697465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baee9be015f404a" /><Relationship Type="http://schemas.openxmlformats.org/officeDocument/2006/relationships/notesMaster" Target="/ppt/notesMasters/notesMaster1.xml" Id="Rdc8b73d01ba8420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80bc2c9a7534547" /><Relationship Type="http://schemas.openxmlformats.org/officeDocument/2006/relationships/notesMaster" Target="/ppt/notesMasters/notesMaster1.xml" Id="Ra6f68c75f06c4492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716bcb0c3550428e" /><Relationship Type="http://schemas.openxmlformats.org/officeDocument/2006/relationships/notesMaster" Target="/ppt/notesMasters/notesMaster1.xml" Id="Rc0f9e170edac421f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92741e1427c94b93" /><Relationship Type="http://schemas.openxmlformats.org/officeDocument/2006/relationships/notesMaster" Target="/ppt/notesMasters/notesMaster1.xml" Id="R57b8e59bba874f5e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c6689de44be14fc2" /><Relationship Type="http://schemas.openxmlformats.org/officeDocument/2006/relationships/notesMaster" Target="/ppt/notesMasters/notesMaster1.xml" Id="R06eaaaad53fb484b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a53d8eb2c2154ccf" /><Relationship Type="http://schemas.openxmlformats.org/officeDocument/2006/relationships/notesMaster" Target="/ppt/notesMasters/notesMaster1.xml" Id="R3da87bfa2e1f4170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c1cb20449f434f19" /><Relationship Type="http://schemas.openxmlformats.org/officeDocument/2006/relationships/notesMaster" Target="/ppt/notesMasters/notesMaster1.xml" Id="R1792975a84074ff8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81866435be464740" /><Relationship Type="http://schemas.openxmlformats.org/officeDocument/2006/relationships/notesMaster" Target="/ppt/notesMasters/notesMaster1.xml" Id="R7d37689ce10046e0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74a22b6dbd0a487a" /><Relationship Type="http://schemas.openxmlformats.org/officeDocument/2006/relationships/notesMaster" Target="/ppt/notesMasters/notesMaster1.xml" Id="Rb2beb1a7192543e5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d67d70c01e9244b8" /><Relationship Type="http://schemas.openxmlformats.org/officeDocument/2006/relationships/notesMaster" Target="/ppt/notesMasters/notesMaster1.xml" Id="Rf29f422bf9004c68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6ef9af0666f54bc8" /><Relationship Type="http://schemas.openxmlformats.org/officeDocument/2006/relationships/notesMaster" Target="/ppt/notesMasters/notesMaster1.xml" Id="R0e52510540644cf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DIAPOSITIVA 1 · CAPÍTULO 1 · CONCEPTO</a:t>
            </a:r>
          </a:p>
          <a:p xmlns:a="http://schemas.openxmlformats.org/drawingml/2006/main">
            <a:r>
              <a:t>Título: Del primer llamado al primer contrato</a:t>
            </a:r>
          </a:p>
          <a:p xmlns:a="http://schemas.openxmlformats.org/drawingml/2006/main">
            <a:r>
              <a:t>Sesión: Prompts, mensajes y contratos</a:t>
            </a:r>
          </a:p>
          <a:p xmlns:a="http://schemas.openxmlformats.org/drawingml/2006/main">
            <a:r>
              <a:t>Archivo: 02-ecosistema-langchain-editable.pptx</a:t>
            </a:r>
          </a:p>
          <a:p xmlns:a="http://schemas.openxmlformats.org/drawingml/2006/main">
            <a:r>
              <a:t>Sección que soporta: Objetivos y §0</a:t>
            </a:r>
          </a:p>
          <a:p xmlns:a="http://schemas.openxmlformats.org/drawingml/2006/main">
            <a:r>
              <a:t>Fuente principal: https://github.com/javierrosado/ariwalab-course-langchain/blob/27c24090f1662f9473b673d2020e7bffee04490b/modulo-1-fundamentos/sesion-02-ecosistema-langchain/README.md</a:t>
            </a:r>
          </a:p>
          <a:p xmlns:a="http://schemas.openxmlformats.org/drawingml/2006/main">
            <a:r>
              <a:t>Contexto adicional: laboratorios, demos y soluciones de modulo-1-fundamentos/sesion-02-ecosistema-langchain; módulos comunes del repositorio.</a:t>
            </a:r>
          </a:p>
          <a:p xmlns:a="http://schemas.openxmlformats.org/drawingml/2006/main">
            <a:r>
              <a:t>Revisión de fuente: 27c24090f1662f9473b673d2020e7bffee04490b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OBJETIVO PEDAGÓGICO</a:t>
            </a:r>
          </a:p>
          <a:p xmlns:a="http://schemas.openxmlformats.org/drawingml/2006/main">
            <a:r>
              <a:t>Pasar de texto libre a una salida que la aplicación puede validar y consumir.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CONCEPTO PRINCIPAL</a:t>
            </a:r>
          </a:p>
          <a:p xmlns:a="http://schemas.openxmlformats.org/drawingml/2006/main">
            <a:r>
              <a:t>Del primer llamado al primer contrato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MENSAJE QUE DEBE LLEVARSE EL ALUMNO</a:t>
            </a:r>
          </a:p>
          <a:p xmlns:a="http://schemas.openxmlformats.org/drawingml/2006/main">
            <a:r>
              <a:t>Un contrato explícito hace visible el error antes de actuar.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EXPLICACIÓN SUGERIDA PARA EL DOCENTE</a:t>
            </a:r>
          </a:p>
          <a:p xmlns:a="http://schemas.openxmlformats.org/drawingml/2006/main">
            <a:r>
              <a:t>Abra con la pregunta «¿Por qué un párrafo bien redactado puede ser inútil para el consumidor?». Escuche una respuesta antes de revelar la conclusión. Explique las tres responsabilidades y pida al grupo que señale cuál aporta la evidencia y cuál solo transforma o presenta información.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Entrada: Consulta del cliente expresada en lenguaje natural.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Contrato: Campos, tipos y categorías esperados por la aplicación.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Resultado: Objeto validado o fallo explícito recuperable.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Cierre con la distinción: Un contrato explícito hace visible el error antes de actuar.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ELEMENTOS QUE CONVIENE EXPLICAR</a:t>
            </a:r>
          </a:p>
          <a:p xmlns:a="http://schemas.openxmlformats.org/drawingml/2006/main">
            <a:r>
              <a:t>Entrada; Contrato; Resultado. Las flechas indican progresión o relación según el rótulo; las comparaciones no implican una secuencia de ejecución.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EJEMPLO PRÁCTICO / APLICACIÓN A INDUSTRIA</a:t>
            </a:r>
          </a:p>
          <a:p xmlns:a="http://schemas.openxmlformats.org/drawingml/2006/main">
            <a:r>
              <a:t>MercaSur. «¿Dónde está mi pedido?» debe convertirse en una intención.</a:t>
            </a:r>
          </a:p>
          <a:p xmlns:a="http://schemas.openxmlformats.org/drawingml/2006/main">
            <a:r>
              <a:t>Definir: Elegir la categoría de seguimiento del track.</a:t>
            </a:r>
          </a:p>
          <a:p xmlns:a="http://schemas.openxmlformats.org/drawingml/2006/main">
            <a:r>
              <a:t>Extraer: Solicitar el objeto estructurado al modelo.</a:t>
            </a:r>
          </a:p>
          <a:p xmlns:a="http://schemas.openxmlformats.org/drawingml/2006/main">
            <a:r>
              <a:t>Validar: Aceptar el contrato o activar recuperación.</a:t>
            </a:r>
          </a:p>
          <a:p xmlns:a="http://schemas.openxmlformats.org/drawingml/2006/main">
            <a:r>
              <a:t>Resultado: El clasificador prepara una decisión; todavía no consulta el pedido.</a:t>
            </a:r>
          </a:p>
          <a:p xmlns:a="http://schemas.openxmlformats.org/drawingml/2006/main">
            <a:r>
              <a:t>Los casos y datos son didácticos o sintéticos. Las cifras copiadas de una demostración se identifican como tales; no son mediciones producidas al construir la presentación.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 SUGERIDA</a:t>
            </a:r>
          </a:p>
          <a:p xmlns:a="http://schemas.openxmlformats.org/drawingml/2006/main">
            <a:r>
              <a:t>¿Por qué un párrafo bien redactado puede ser inútil para el consumidor?</a:t>
            </a:r>
          </a:p>
          <a:p xmlns:a="http://schemas.openxmlformats.org/drawingml/2006/main">
            <a:r>
              <a:t>Orientación para el docente: contraste la respuesta con los criterios del desarrollo y pida evidencia. La conclusión debe respetar: Un contrato explícito hace visible el error antes de actuar.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ERRORES CONCEPTUALES FRECUENTES</a:t>
            </a:r>
          </a:p>
          <a:p xmlns:a="http://schemas.openxmlformats.org/drawingml/2006/main">
            <a:r>
              <a:t>Considerar suficiente que la salida parezca JSON.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ANTERIOR</a:t>
            </a:r>
          </a:p>
          <a:p xmlns:a="http://schemas.openxmlformats.org/drawingml/2006/main">
            <a:r>
              <a:t>S1: primera llamada al modelo.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POSTERIOR</a:t>
            </a:r>
          </a:p>
          <a:p xmlns:a="http://schemas.openxmlformats.org/drawingml/2006/main">
            <a:r>
              <a:t>S3: argumentos de herramientas; S4: selección de catálogo · Sigue: Mensajes, roles y statelessness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NOTAS PARA EDITAR Y PRESENTAR</a:t>
            </a:r>
          </a:p>
          <a:p xmlns:a="http://schemas.openxmlformats.org/drawingml/2006/main">
            <a:r>
              <a:t>Textos, contenedores, tablas y conectores son objetos nativos editables. Formato 16:9. El bloque de tres láminas puede revelarse progresivamente. Duración sugerida: 2–4 minutos según conocimientos previos; el conjunto es un banco docente y no prescribe ampliar las horas del curso. Mantenga visibles los límites y no convierta ejemplos en resultados medidos. Fuente tipográfica: DejaVu Sans; si PowerPoint la sustituye, revise los saltos de línea.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DIAPOSITIVA 2 · CAPÍTULO 1 · DESARROLLO</a:t>
            </a:r>
          </a:p>
          <a:p xmlns:a="http://schemas.openxmlformats.org/drawingml/2006/main">
            <a:r>
              <a:t>Título: Qué necesita el consumidor</a:t>
            </a:r>
          </a:p>
          <a:p xmlns:a="http://schemas.openxmlformats.org/drawingml/2006/main">
            <a:r>
              <a:t>Sesión: Prompts, mensajes y contratos</a:t>
            </a:r>
          </a:p>
          <a:p xmlns:a="http://schemas.openxmlformats.org/drawingml/2006/main">
            <a:r>
              <a:t>Archivo: 02-ecosistema-langchain-editable.pptx</a:t>
            </a:r>
          </a:p>
          <a:p xmlns:a="http://schemas.openxmlformats.org/drawingml/2006/main">
            <a:r>
              <a:t>Sección que soporta: Objetivos y §0</a:t>
            </a:r>
          </a:p>
          <a:p xmlns:a="http://schemas.openxmlformats.org/drawingml/2006/main">
            <a:r>
              <a:t>Fuente principal: https://github.com/javierrosado/ariwalab-course-langchain/blob/27c24090f1662f9473b673d2020e7bffee04490b/modulo-1-fundamentos/sesion-02-ecosistema-langchain/README.md</a:t>
            </a:r>
          </a:p>
          <a:p xmlns:a="http://schemas.openxmlformats.org/drawingml/2006/main">
            <a:r>
              <a:t>Contexto adicional: laboratorios, demos y soluciones de modulo-1-fundamentos/sesion-02-ecosistema-langchain; módulos comunes del repositorio.</a:t>
            </a:r>
          </a:p>
          <a:p xmlns:a="http://schemas.openxmlformats.org/drawingml/2006/main">
            <a:r>
              <a:t>Revisión de fuente: 27c24090f1662f9473b673d2020e7bffee04490b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OBJETIVO PEDAGÓGICO</a:t>
            </a:r>
          </a:p>
          <a:p xmlns:a="http://schemas.openxmlformats.org/drawingml/2006/main">
            <a:r>
              <a:t>Pasar de texto libre a una salida que la aplicación puede validar y consumir.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CONCEPTO PRINCIPAL</a:t>
            </a:r>
          </a:p>
          <a:p xmlns:a="http://schemas.openxmlformats.org/drawingml/2006/main">
            <a:r>
              <a:t>Del primer llamado al primer contrato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MENSAJE QUE DEBE LLEVARSE EL ALUMNO</a:t>
            </a:r>
          </a:p>
          <a:p xmlns:a="http://schemas.openxmlformats.org/drawingml/2006/main">
            <a:r>
              <a:t>Un contrato explícito hace visible el error antes de actuar.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EXPLICACIÓN SUGERIDA PARA EL DOCENTE</a:t>
            </a:r>
          </a:p>
          <a:p xmlns:a="http://schemas.openxmlformats.org/drawingml/2006/main">
            <a:r>
              <a:t>Recupere la idea de la diapositiva anterior y aplíquela a estas comprobaciones. Recorra cada fila y pregunte qué evidencia necesitarían para darla por cumplida.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Forma: El dato debe cumplir el esquema.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Categoría: Solo se aceptan valores definidos para el track.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Fallo: La ausencia de un objeto válido no se disfraza de éxito.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Contraste la regla con este error: Considerar suficiente que la salida parezca JSON. Pida que expliquen la consecuencia concreta en su propio track.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ELEMENTOS QUE CONVIENE EXPLICAR</a:t>
            </a:r>
          </a:p>
          <a:p xmlns:a="http://schemas.openxmlformats.org/drawingml/2006/main">
            <a:r>
              <a:t>Forma; Categoría; Fallo. Las flechas indican progresión o relación según el rótulo; las comparaciones no implican una secuencia de ejecución.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EJEMPLO PRÁCTICO / APLICACIÓN A INDUSTRIA</a:t>
            </a:r>
          </a:p>
          <a:p xmlns:a="http://schemas.openxmlformats.org/drawingml/2006/main">
            <a:r>
              <a:t>MercaSur. «¿Dónde está mi pedido?» debe convertirse en una intención.</a:t>
            </a:r>
          </a:p>
          <a:p xmlns:a="http://schemas.openxmlformats.org/drawingml/2006/main">
            <a:r>
              <a:t>Definir: Elegir la categoría de seguimiento del track.</a:t>
            </a:r>
          </a:p>
          <a:p xmlns:a="http://schemas.openxmlformats.org/drawingml/2006/main">
            <a:r>
              <a:t>Extraer: Solicitar el objeto estructurado al modelo.</a:t>
            </a:r>
          </a:p>
          <a:p xmlns:a="http://schemas.openxmlformats.org/drawingml/2006/main">
            <a:r>
              <a:t>Validar: Aceptar el contrato o activar recuperación.</a:t>
            </a:r>
          </a:p>
          <a:p xmlns:a="http://schemas.openxmlformats.org/drawingml/2006/main">
            <a:r>
              <a:t>Resultado: El clasificador prepara una decisión; todavía no consulta el pedido.</a:t>
            </a:r>
          </a:p>
          <a:p xmlns:a="http://schemas.openxmlformats.org/drawingml/2006/main">
            <a:r>
              <a:t>Los casos y datos son didácticos o sintéticos. Las cifras copiadas de una demostración se identifican como tales; no son mediciones producidas al construir la presentación.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 SUGERIDA</a:t>
            </a:r>
          </a:p>
          <a:p xmlns:a="http://schemas.openxmlformats.org/drawingml/2006/main">
            <a:r>
              <a:t>¿Por qué un párrafo bien redactado puede ser inútil para el consumidor?</a:t>
            </a:r>
          </a:p>
          <a:p xmlns:a="http://schemas.openxmlformats.org/drawingml/2006/main">
            <a:r>
              <a:t>Orientación para el docente: contraste la respuesta con los criterios del desarrollo y pida evidencia. La conclusión debe respetar: Un contrato explícito hace visible el error antes de actuar.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ERRORES CONCEPTUALES FRECUENTES</a:t>
            </a:r>
          </a:p>
          <a:p xmlns:a="http://schemas.openxmlformats.org/drawingml/2006/main">
            <a:r>
              <a:t>Considerar suficiente que la salida parezca JSON.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ANTERIOR</a:t>
            </a:r>
          </a:p>
          <a:p xmlns:a="http://schemas.openxmlformats.org/drawingml/2006/main">
            <a:r>
              <a:t>S1: primera llamada al modelo.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POSTERIOR</a:t>
            </a:r>
          </a:p>
          <a:p xmlns:a="http://schemas.openxmlformats.org/drawingml/2006/main">
            <a:r>
              <a:t>S3: argumentos de herramientas; S4: selección de catálogo · Sigue: Mensajes, roles y statelessness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NOTAS PARA EDITAR Y PRESENTAR</a:t>
            </a:r>
          </a:p>
          <a:p xmlns:a="http://schemas.openxmlformats.org/drawingml/2006/main">
            <a:r>
              <a:t>Textos, contenedores, tablas y conectores son objetos nativos editables. Formato 16:9. El bloque de tres láminas puede revelarse progresivamente. Duración sugerida: 2–4 minutos según conocimientos previos; el conjunto es un banco docente y no prescribe ampliar las horas del curso. Mantenga visibles los límites y no convierta ejemplos en resultados medidos. Fuente tipográfica: DejaVu Sans; si PowerPoint la sustituye, revise los saltos de línea.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DIAPOSITIVA 3 · CAPÍTULO 1 · EJEMPLO</a:t>
            </a:r>
          </a:p>
          <a:p xmlns:a="http://schemas.openxmlformats.org/drawingml/2006/main">
            <a:r>
              <a:t>Título: MercaSur · Del primer llamado al primer contrato</a:t>
            </a:r>
          </a:p>
          <a:p xmlns:a="http://schemas.openxmlformats.org/drawingml/2006/main">
            <a:r>
              <a:t>Sesión: Prompts, mensajes y contratos</a:t>
            </a:r>
          </a:p>
          <a:p xmlns:a="http://schemas.openxmlformats.org/drawingml/2006/main">
            <a:r>
              <a:t>Archivo: 02-ecosistema-langchain-editable.pptx</a:t>
            </a:r>
          </a:p>
          <a:p xmlns:a="http://schemas.openxmlformats.org/drawingml/2006/main">
            <a:r>
              <a:t>Sección que soporta: Objetivos y §0</a:t>
            </a:r>
          </a:p>
          <a:p xmlns:a="http://schemas.openxmlformats.org/drawingml/2006/main">
            <a:r>
              <a:t>Fuente principal: https://github.com/javierrosado/ariwalab-course-langchain/blob/27c24090f1662f9473b673d2020e7bffee04490b/modulo-1-fundamentos/sesion-02-ecosistema-langchain/README.md</a:t>
            </a:r>
          </a:p>
          <a:p xmlns:a="http://schemas.openxmlformats.org/drawingml/2006/main">
            <a:r>
              <a:t>Contexto adicional: laboratorios, demos y soluciones de modulo-1-fundamentos/sesion-02-ecosistema-langchain; módulos comunes del repositorio.</a:t>
            </a:r>
          </a:p>
          <a:p xmlns:a="http://schemas.openxmlformats.org/drawingml/2006/main">
            <a:r>
              <a:t>Revisión de fuente: 27c24090f1662f9473b673d2020e7bffee04490b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OBJETIVO PEDAGÓGICO</a:t>
            </a:r>
          </a:p>
          <a:p xmlns:a="http://schemas.openxmlformats.org/drawingml/2006/main">
            <a:r>
              <a:t>Pasar de texto libre a una salida que la aplicación puede validar y consumir.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CONCEPTO PRINCIPAL</a:t>
            </a:r>
          </a:p>
          <a:p xmlns:a="http://schemas.openxmlformats.org/drawingml/2006/main">
            <a:r>
              <a:t>Del primer llamado al primer contrato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MENSAJE QUE DEBE LLEVARSE EL ALUMNO</a:t>
            </a:r>
          </a:p>
          <a:p xmlns:a="http://schemas.openxmlformats.org/drawingml/2006/main">
            <a:r>
              <a:t>Un contrato explícito hace visible el error antes de actuar.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EXPLICACIÓN SUGERIDA PARA EL DOCENTE</a:t>
            </a:r>
          </a:p>
          <a:p xmlns:a="http://schemas.openxmlformats.org/drawingml/2006/main">
            <a:r>
              <a:t>Plantee el caso antes de mostrar los pasos: «¿Dónde está mi pedido?» debe convertirse en una intención. Pida una predicción.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Definir: Elegir la categoría de seguimiento del track.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Extraer: Solicitar el objeto estructurado al modelo.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Validar: Aceptar el contrato o activar recuperación.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esperado: El clasificador prepara una decisión; todavía no consulta el pedido. Discuta qué parte se observó, qué parte debe comprobarse y qué conclusión sería excesiva. No presente este caso didáctico como una ejecución real medida. Proponga cambiar un dato de entrada y preguntar si se mantiene el razonamiento.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ELEMENTOS QUE CONVIENE EXPLICAR</a:t>
            </a:r>
          </a:p>
          <a:p xmlns:a="http://schemas.openxmlformats.org/drawingml/2006/main">
            <a:r>
              <a:t>Definir; Extraer; Validar. Las flechas indican progresión o relación según el rótulo; las comparaciones no implican una secuencia de ejecución.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EJEMPLO PRÁCTICO / APLICACIÓN A INDUSTRIA</a:t>
            </a:r>
          </a:p>
          <a:p xmlns:a="http://schemas.openxmlformats.org/drawingml/2006/main">
            <a:r>
              <a:t>MercaSur. «¿Dónde está mi pedido?» debe convertirse en una intención.</a:t>
            </a:r>
          </a:p>
          <a:p xmlns:a="http://schemas.openxmlformats.org/drawingml/2006/main">
            <a:r>
              <a:t>Definir: Elegir la categoría de seguimiento del track.</a:t>
            </a:r>
          </a:p>
          <a:p xmlns:a="http://schemas.openxmlformats.org/drawingml/2006/main">
            <a:r>
              <a:t>Extraer: Solicitar el objeto estructurado al modelo.</a:t>
            </a:r>
          </a:p>
          <a:p xmlns:a="http://schemas.openxmlformats.org/drawingml/2006/main">
            <a:r>
              <a:t>Validar: Aceptar el contrato o activar recuperación.</a:t>
            </a:r>
          </a:p>
          <a:p xmlns:a="http://schemas.openxmlformats.org/drawingml/2006/main">
            <a:r>
              <a:t>Resultado: El clasificador prepara una decisión; todavía no consulta el pedido.</a:t>
            </a:r>
          </a:p>
          <a:p xmlns:a="http://schemas.openxmlformats.org/drawingml/2006/main">
            <a:r>
              <a:t>Los casos y datos son didácticos o sintéticos. Las cifras copiadas de una demostración se identifican como tales; no son mediciones producidas al construir la presentación.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 SUGERIDA</a:t>
            </a:r>
          </a:p>
          <a:p xmlns:a="http://schemas.openxmlformats.org/drawingml/2006/main">
            <a:r>
              <a:t>¿Por qué un párrafo bien redactado puede ser inútil para el consumidor?</a:t>
            </a:r>
          </a:p>
          <a:p xmlns:a="http://schemas.openxmlformats.org/drawingml/2006/main">
            <a:r>
              <a:t>Orientación para el docente: contraste la respuesta con los criterios del desarrollo y pida evidencia. La conclusión debe respetar: Un contrato explícito hace visible el error antes de actuar.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ERRORES CONCEPTUALES FRECUENTES</a:t>
            </a:r>
          </a:p>
          <a:p xmlns:a="http://schemas.openxmlformats.org/drawingml/2006/main">
            <a:r>
              <a:t>Considerar suficiente que la salida parezca JSON.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ANTERIOR</a:t>
            </a:r>
          </a:p>
          <a:p xmlns:a="http://schemas.openxmlformats.org/drawingml/2006/main">
            <a:r>
              <a:t>S1: primera llamada al modelo.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POSTERIOR</a:t>
            </a:r>
          </a:p>
          <a:p xmlns:a="http://schemas.openxmlformats.org/drawingml/2006/main">
            <a:r>
              <a:t>S3: argumentos de herramientas; S4: selección de catálogo · Sigue: Mensajes, roles y statelessness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NOTAS PARA EDITAR Y PRESENTAR</a:t>
            </a:r>
          </a:p>
          <a:p xmlns:a="http://schemas.openxmlformats.org/drawingml/2006/main">
            <a:r>
              <a:t>Textos, contenedores, tablas y conectores son objetos nativos editables. Formato 16:9. El bloque de tres láminas puede revelarse progresivamente. Duración sugerida: 3–5 minutos con discusión; el conjunto es un banco docente y no prescribe ampliar las horas del curso. Mantenga visibles los límites y no convierta ejemplos en resultados medidos. Fuente tipográfica: DejaVu Sans; si PowerPoint la sustituye, revise los saltos de línea.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DIAPOSITIVA 4 · CAPÍTULO 2 · CONCEPTO</a:t>
            </a:r>
          </a:p>
          <a:p xmlns:a="http://schemas.openxmlformats.org/drawingml/2006/main">
            <a:r>
              <a:t>Título: Mensajes, roles y statelessness</a:t>
            </a:r>
          </a:p>
          <a:p xmlns:a="http://schemas.openxmlformats.org/drawingml/2006/main">
            <a:r>
              <a:t>Sesión: Prompts, mensajes y contratos</a:t>
            </a:r>
          </a:p>
          <a:p xmlns:a="http://schemas.openxmlformats.org/drawingml/2006/main">
            <a:r>
              <a:t>Archivo: 02-ecosistema-langchain-editable.pptx</a:t>
            </a:r>
          </a:p>
          <a:p xmlns:a="http://schemas.openxmlformats.org/drawingml/2006/main">
            <a:r>
              <a:t>Sección que soporta: §1</a:t>
            </a:r>
          </a:p>
          <a:p xmlns:a="http://schemas.openxmlformats.org/drawingml/2006/main">
            <a:r>
              <a:t>Fuente principal: https://github.com/javierrosado/ariwalab-course-langchain/blob/27c24090f1662f9473b673d2020e7bffee04490b/modulo-1-fundamentos/sesion-02-ecosistema-langchain/README.md</a:t>
            </a:r>
          </a:p>
          <a:p xmlns:a="http://schemas.openxmlformats.org/drawingml/2006/main">
            <a:r>
              <a:t>Contexto adicional: laboratorios, demos y soluciones de modulo-1-fundamentos/sesion-02-ecosistema-langchain; módulos comunes del repositorio.</a:t>
            </a:r>
          </a:p>
          <a:p xmlns:a="http://schemas.openxmlformats.org/drawingml/2006/main">
            <a:r>
              <a:t>Revisión de fuente: 27c24090f1662f9473b673d2020e7bffee04490b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OBJETIVO PEDAGÓGICO</a:t>
            </a:r>
          </a:p>
          <a:p xmlns:a="http://schemas.openxmlformats.org/drawingml/2006/main">
            <a:r>
              <a:t>Construir la entrada conversacional con roles y contexto explícitos.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CONCEPTO PRINCIPAL</a:t>
            </a:r>
          </a:p>
          <a:p xmlns:a="http://schemas.openxmlformats.org/drawingml/2006/main">
            <a:r>
              <a:t>Mensajes, roles y statelessness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MENSAJE QUE DEBE LLEVARSE EL ALUMNO</a:t>
            </a:r>
          </a:p>
          <a:p xmlns:a="http://schemas.openxmlformats.org/drawingml/2006/main">
            <a:r>
              <a:t>La conversación existe porque la aplicación la administra.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EXPLICACIÓN SUGERIDA PARA EL DOCENTE</a:t>
            </a:r>
          </a:p>
          <a:p xmlns:a="http://schemas.openxmlformats.org/drawingml/2006/main">
            <a:r>
              <a:t>Abra con la pregunta «¿Qué cambia si solo envías el último mensaje?». Escuche una respuesta antes de revelar la conclusión. Explique las tres responsabilidades y pida al grupo que señale cuál aporta la evidencia y cuál solo transforma o presenta información.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System: Instrucciones de tarea y límites de la aplicación.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Human: Consulta actual y mensajes del usuario.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AI y Tool: Respuesta del modelo y, más adelante, resultados de herramientas.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Cierre con la distinción: La conversación existe porque la aplicación la administra.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ELEMENTOS QUE CONVIENE EXPLICAR</a:t>
            </a:r>
          </a:p>
          <a:p xmlns:a="http://schemas.openxmlformats.org/drawingml/2006/main">
            <a:r>
              <a:t>System; Human; AI y Tool. Las flechas indican progresión o relación según el rótulo; las comparaciones no implican una secuencia de ejecución.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EJEMPLO PRÁCTICO / APLICACIÓN A INDUSTRIA</a:t>
            </a:r>
          </a:p>
          <a:p xmlns:a="http://schemas.openxmlformats.org/drawingml/2006/main">
            <a:r>
              <a:t>AndesMóvil. El usuario dice «mi línea termina en 321» y luego «¿cuánto consumí?».</a:t>
            </a:r>
          </a:p>
          <a:p xmlns:a="http://schemas.openxmlformats.org/drawingml/2006/main">
            <a:r>
              <a:t>Separar: El segundo mensaje no contiene toda la identificación.</a:t>
            </a:r>
          </a:p>
          <a:p xmlns:a="http://schemas.openxmlformats.org/drawingml/2006/main">
            <a:r>
              <a:t>Preparar: La aplicación aporta el contexto permitido.</a:t>
            </a:r>
          </a:p>
          <a:p xmlns:a="http://schemas.openxmlformats.org/drawingml/2006/main">
            <a:r>
              <a:t>Limitar: Los datos reales se consultarán mediante tools en S3.</a:t>
            </a:r>
          </a:p>
          <a:p xmlns:a="http://schemas.openxmlformats.org/drawingml/2006/main">
            <a:r>
              <a:t>Resultado: Los roles organizan el contexto; no crean almacenamiento automático.</a:t>
            </a:r>
          </a:p>
          <a:p xmlns:a="http://schemas.openxmlformats.org/drawingml/2006/main">
            <a:r>
              <a:t>Los casos y datos son didácticos o sintéticos. Las cifras copiadas de una demostración se identifican como tales; no son mediciones producidas al construir la presentación.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 SUGERIDA</a:t>
            </a:r>
          </a:p>
          <a:p xmlns:a="http://schemas.openxmlformats.org/drawingml/2006/main">
            <a:r>
              <a:t>¿Qué cambia si solo envías el último mensaje?</a:t>
            </a:r>
          </a:p>
          <a:p xmlns:a="http://schemas.openxmlformats.org/drawingml/2006/main">
            <a:r>
              <a:t>Orientación para el docente: contraste la respuesta con los criterios del desarrollo y pida evidencia. La conclusión debe respetar: La conversación existe porque la aplicación la administra.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ERRORES CONCEPTUALES FRECUENTES</a:t>
            </a:r>
          </a:p>
          <a:p xmlns:a="http://schemas.openxmlformats.org/drawingml/2006/main">
            <a:r>
              <a:t>Suponer que los roles guardan memoria por sí mismos.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ANTERIOR</a:t>
            </a:r>
          </a:p>
          <a:p xmlns:a="http://schemas.openxmlformats.org/drawingml/2006/main">
            <a:r>
              <a:t>S1: primera llamada al modelo · Capítulo previo: Del primer llamado al primer contrato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POSTERIOR</a:t>
            </a:r>
          </a:p>
          <a:p xmlns:a="http://schemas.openxmlformats.org/drawingml/2006/main">
            <a:r>
              <a:t>S3: argumentos de herramientas; S4: selección de catálogo · Sigue: Rol, contexto, tarea y formato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NOTAS PARA EDITAR Y PRESENTAR</a:t>
            </a:r>
          </a:p>
          <a:p xmlns:a="http://schemas.openxmlformats.org/drawingml/2006/main">
            <a:r>
              <a:t>Textos, contenedores, tablas y conectores son objetos nativos editables. Formato 16:9. El bloque de tres láminas puede revelarse progresivamente. Duración sugerida: 2–4 minutos según conocimientos previos; el conjunto es un banco docente y no prescribe ampliar las horas del curso. Mantenga visibles los límites y no convierta ejemplos en resultados medidos. Fuente tipográfica: DejaVu Sans; si PowerPoint la sustituye, revise los saltos de línea.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DIAPOSITIVA 5 · CAPÍTULO 2 · DESARROLLO</a:t>
            </a:r>
          </a:p>
          <a:p xmlns:a="http://schemas.openxmlformats.org/drawingml/2006/main">
            <a:r>
              <a:t>Título: Quién conserva cada parte</a:t>
            </a:r>
          </a:p>
          <a:p xmlns:a="http://schemas.openxmlformats.org/drawingml/2006/main">
            <a:r>
              <a:t>Sesión: Prompts, mensajes y contratos</a:t>
            </a:r>
          </a:p>
          <a:p xmlns:a="http://schemas.openxmlformats.org/drawingml/2006/main">
            <a:r>
              <a:t>Archivo: 02-ecosistema-langchain-editable.pptx</a:t>
            </a:r>
          </a:p>
          <a:p xmlns:a="http://schemas.openxmlformats.org/drawingml/2006/main">
            <a:r>
              <a:t>Sección que soporta: §1</a:t>
            </a:r>
          </a:p>
          <a:p xmlns:a="http://schemas.openxmlformats.org/drawingml/2006/main">
            <a:r>
              <a:t>Fuente principal: https://github.com/javierrosado/ariwalab-course-langchain/blob/27c24090f1662f9473b673d2020e7bffee04490b/modulo-1-fundamentos/sesion-02-ecosistema-langchain/README.md</a:t>
            </a:r>
          </a:p>
          <a:p xmlns:a="http://schemas.openxmlformats.org/drawingml/2006/main">
            <a:r>
              <a:t>Contexto adicional: laboratorios, demos y soluciones de modulo-1-fundamentos/sesion-02-ecosistema-langchain; módulos comunes del repositorio.</a:t>
            </a:r>
          </a:p>
          <a:p xmlns:a="http://schemas.openxmlformats.org/drawingml/2006/main">
            <a:r>
              <a:t>Revisión de fuente: 27c24090f1662f9473b673d2020e7bffee04490b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OBJETIVO PEDAGÓGICO</a:t>
            </a:r>
          </a:p>
          <a:p xmlns:a="http://schemas.openxmlformats.org/drawingml/2006/main">
            <a:r>
              <a:t>Construir la entrada conversacional con roles y contexto explícitos.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CONCEPTO PRINCIPAL</a:t>
            </a:r>
          </a:p>
          <a:p xmlns:a="http://schemas.openxmlformats.org/drawingml/2006/main">
            <a:r>
              <a:t>Mensajes, roles y statelessness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MENSAJE QUE DEBE LLEVARSE EL ALUMNO</a:t>
            </a:r>
          </a:p>
          <a:p xmlns:a="http://schemas.openxmlformats.org/drawingml/2006/main">
            <a:r>
              <a:t>La conversación existe porque la aplicación la administra.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EXPLICACIÓN SUGERIDA PARA EL DOCENTE</a:t>
            </a:r>
          </a:p>
          <a:p xmlns:a="http://schemas.openxmlformats.org/drawingml/2006/main">
            <a:r>
              <a:t>Recupere la idea de la diapositiva anterior y aplíquela a estas comprobaciones. Recorra cada fila y pregunte qué evidencia necesitarían para darla por cumplida.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Aplicación: Construye la lista de mensajes de la llamada.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Modelo: Responde a lo que recibe en esa invocación.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Historial: Debe reenviarse cuando la tarea depende del turno anterior.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Contraste la regla con este error: Suponer que los roles guardan memoria por sí mismos. Pida que expliquen la consecuencia concreta en su propio track.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ELEMENTOS QUE CONVIENE EXPLICAR</a:t>
            </a:r>
          </a:p>
          <a:p xmlns:a="http://schemas.openxmlformats.org/drawingml/2006/main">
            <a:r>
              <a:t>Aplicación; Modelo; Historial. Las flechas indican progresión o relación según el rótulo; las comparaciones no implican una secuencia de ejecución.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EJEMPLO PRÁCTICO / APLICACIÓN A INDUSTRIA</a:t>
            </a:r>
          </a:p>
          <a:p xmlns:a="http://schemas.openxmlformats.org/drawingml/2006/main">
            <a:r>
              <a:t>AndesMóvil. El usuario dice «mi línea termina en 321» y luego «¿cuánto consumí?».</a:t>
            </a:r>
          </a:p>
          <a:p xmlns:a="http://schemas.openxmlformats.org/drawingml/2006/main">
            <a:r>
              <a:t>Separar: El segundo mensaje no contiene toda la identificación.</a:t>
            </a:r>
          </a:p>
          <a:p xmlns:a="http://schemas.openxmlformats.org/drawingml/2006/main">
            <a:r>
              <a:t>Preparar: La aplicación aporta el contexto permitido.</a:t>
            </a:r>
          </a:p>
          <a:p xmlns:a="http://schemas.openxmlformats.org/drawingml/2006/main">
            <a:r>
              <a:t>Limitar: Los datos reales se consultarán mediante tools en S3.</a:t>
            </a:r>
          </a:p>
          <a:p xmlns:a="http://schemas.openxmlformats.org/drawingml/2006/main">
            <a:r>
              <a:t>Resultado: Los roles organizan el contexto; no crean almacenamiento automático.</a:t>
            </a:r>
          </a:p>
          <a:p xmlns:a="http://schemas.openxmlformats.org/drawingml/2006/main">
            <a:r>
              <a:t>Los casos y datos son didácticos o sintéticos. Las cifras copiadas de una demostración se identifican como tales; no son mediciones producidas al construir la presentación.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 SUGERIDA</a:t>
            </a:r>
          </a:p>
          <a:p xmlns:a="http://schemas.openxmlformats.org/drawingml/2006/main">
            <a:r>
              <a:t>¿Qué cambia si solo envías el último mensaje?</a:t>
            </a:r>
          </a:p>
          <a:p xmlns:a="http://schemas.openxmlformats.org/drawingml/2006/main">
            <a:r>
              <a:t>Orientación para el docente: contraste la respuesta con los criterios del desarrollo y pida evidencia. La conclusión debe respetar: La conversación existe porque la aplicación la administra.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ERRORES CONCEPTUALES FRECUENTES</a:t>
            </a:r>
          </a:p>
          <a:p xmlns:a="http://schemas.openxmlformats.org/drawingml/2006/main">
            <a:r>
              <a:t>Suponer que los roles guardan memoria por sí mismos.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ANTERIOR</a:t>
            </a:r>
          </a:p>
          <a:p xmlns:a="http://schemas.openxmlformats.org/drawingml/2006/main">
            <a:r>
              <a:t>S1: primera llamada al modelo · Capítulo previo: Del primer llamado al primer contrato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POSTERIOR</a:t>
            </a:r>
          </a:p>
          <a:p xmlns:a="http://schemas.openxmlformats.org/drawingml/2006/main">
            <a:r>
              <a:t>S3: argumentos de herramientas; S4: selección de catálogo · Sigue: Rol, contexto, tarea y formato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NOTAS PARA EDITAR Y PRESENTAR</a:t>
            </a:r>
          </a:p>
          <a:p xmlns:a="http://schemas.openxmlformats.org/drawingml/2006/main">
            <a:r>
              <a:t>Textos, contenedores, tablas y conectores son objetos nativos editables. Formato 16:9. El bloque de tres láminas puede revelarse progresivamente. Duración sugerida: 2–4 minutos según conocimientos previos; el conjunto es un banco docente y no prescribe ampliar las horas del curso. Mantenga visibles los límites y no convierta ejemplos en resultados medidos. Fuente tipográfica: DejaVu Sans; si PowerPoint la sustituye, revise los saltos de línea.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DIAPOSITIVA 6 · CAPÍTULO 2 · EJEMPLO</a:t>
            </a:r>
          </a:p>
          <a:p xmlns:a="http://schemas.openxmlformats.org/drawingml/2006/main">
            <a:r>
              <a:t>Título: AndesMóvil · Mensajes, roles y statelessness</a:t>
            </a:r>
          </a:p>
          <a:p xmlns:a="http://schemas.openxmlformats.org/drawingml/2006/main">
            <a:r>
              <a:t>Sesión: Prompts, mensajes y contratos</a:t>
            </a:r>
          </a:p>
          <a:p xmlns:a="http://schemas.openxmlformats.org/drawingml/2006/main">
            <a:r>
              <a:t>Archivo: 02-ecosistema-langchain-editable.pptx</a:t>
            </a:r>
          </a:p>
          <a:p xmlns:a="http://schemas.openxmlformats.org/drawingml/2006/main">
            <a:r>
              <a:t>Sección que soporta: §1</a:t>
            </a:r>
          </a:p>
          <a:p xmlns:a="http://schemas.openxmlformats.org/drawingml/2006/main">
            <a:r>
              <a:t>Fuente principal: https://github.com/javierrosado/ariwalab-course-langchain/blob/27c24090f1662f9473b673d2020e7bffee04490b/modulo-1-fundamentos/sesion-02-ecosistema-langchain/README.md</a:t>
            </a:r>
          </a:p>
          <a:p xmlns:a="http://schemas.openxmlformats.org/drawingml/2006/main">
            <a:r>
              <a:t>Contexto adicional: laboratorios, demos y soluciones de modulo-1-fundamentos/sesion-02-ecosistema-langchain; módulos comunes del repositorio.</a:t>
            </a:r>
          </a:p>
          <a:p xmlns:a="http://schemas.openxmlformats.org/drawingml/2006/main">
            <a:r>
              <a:t>Revisión de fuente: 27c24090f1662f9473b673d2020e7bffee04490b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OBJETIVO PEDAGÓGICO</a:t>
            </a:r>
          </a:p>
          <a:p xmlns:a="http://schemas.openxmlformats.org/drawingml/2006/main">
            <a:r>
              <a:t>Construir la entrada conversacional con roles y contexto explícitos.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CONCEPTO PRINCIPAL</a:t>
            </a:r>
          </a:p>
          <a:p xmlns:a="http://schemas.openxmlformats.org/drawingml/2006/main">
            <a:r>
              <a:t>Mensajes, roles y statelessness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MENSAJE QUE DEBE LLEVARSE EL ALUMNO</a:t>
            </a:r>
          </a:p>
          <a:p xmlns:a="http://schemas.openxmlformats.org/drawingml/2006/main">
            <a:r>
              <a:t>La conversación existe porque la aplicación la administra.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EXPLICACIÓN SUGERIDA PARA EL DOCENTE</a:t>
            </a:r>
          </a:p>
          <a:p xmlns:a="http://schemas.openxmlformats.org/drawingml/2006/main">
            <a:r>
              <a:t>Plantee el caso antes de mostrar los pasos: El usuario dice «mi línea termina en 321» y luego «¿cuánto consumí?». Pida una predicción.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Separar: El segundo mensaje no contiene toda la identificación.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Preparar: La aplicación aporta el contexto permitido.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Limitar: Los datos reales se consultarán mediante tools en S3.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esperado: Los roles organizan el contexto; no crean almacenamiento automático. Discuta qué parte se observó, qué parte debe comprobarse y qué conclusión sería excesiva. No presente este caso didáctico como una ejecución real medida. Proponga cambiar un dato de entrada y preguntar si se mantiene el razonamiento.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ELEMENTOS QUE CONVIENE EXPLICAR</a:t>
            </a:r>
          </a:p>
          <a:p xmlns:a="http://schemas.openxmlformats.org/drawingml/2006/main">
            <a:r>
              <a:t>Separar; Preparar; Limitar. Las flechas indican progresión o relación según el rótulo; las comparaciones no implican una secuencia de ejecución.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EJEMPLO PRÁCTICO / APLICACIÓN A INDUSTRIA</a:t>
            </a:r>
          </a:p>
          <a:p xmlns:a="http://schemas.openxmlformats.org/drawingml/2006/main">
            <a:r>
              <a:t>AndesMóvil. El usuario dice «mi línea termina en 321» y luego «¿cuánto consumí?».</a:t>
            </a:r>
          </a:p>
          <a:p xmlns:a="http://schemas.openxmlformats.org/drawingml/2006/main">
            <a:r>
              <a:t>Separar: El segundo mensaje no contiene toda la identificación.</a:t>
            </a:r>
          </a:p>
          <a:p xmlns:a="http://schemas.openxmlformats.org/drawingml/2006/main">
            <a:r>
              <a:t>Preparar: La aplicación aporta el contexto permitido.</a:t>
            </a:r>
          </a:p>
          <a:p xmlns:a="http://schemas.openxmlformats.org/drawingml/2006/main">
            <a:r>
              <a:t>Limitar: Los datos reales se consultarán mediante tools en S3.</a:t>
            </a:r>
          </a:p>
          <a:p xmlns:a="http://schemas.openxmlformats.org/drawingml/2006/main">
            <a:r>
              <a:t>Resultado: Los roles organizan el contexto; no crean almacenamiento automático.</a:t>
            </a:r>
          </a:p>
          <a:p xmlns:a="http://schemas.openxmlformats.org/drawingml/2006/main">
            <a:r>
              <a:t>Los casos y datos son didácticos o sintéticos. Las cifras copiadas de una demostración se identifican como tales; no son mediciones producidas al construir la presentación.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 SUGERIDA</a:t>
            </a:r>
          </a:p>
          <a:p xmlns:a="http://schemas.openxmlformats.org/drawingml/2006/main">
            <a:r>
              <a:t>¿Qué cambia si solo envías el último mensaje?</a:t>
            </a:r>
          </a:p>
          <a:p xmlns:a="http://schemas.openxmlformats.org/drawingml/2006/main">
            <a:r>
              <a:t>Orientación para el docente: contraste la respuesta con los criterios del desarrollo y pida evidencia. La conclusión debe respetar: La conversación existe porque la aplicación la administra.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ERRORES CONCEPTUALES FRECUENTES</a:t>
            </a:r>
          </a:p>
          <a:p xmlns:a="http://schemas.openxmlformats.org/drawingml/2006/main">
            <a:r>
              <a:t>Suponer que los roles guardan memoria por sí mismos.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ANTERIOR</a:t>
            </a:r>
          </a:p>
          <a:p xmlns:a="http://schemas.openxmlformats.org/drawingml/2006/main">
            <a:r>
              <a:t>S1: primera llamada al modelo · Capítulo previo: Del primer llamado al primer contrato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POSTERIOR</a:t>
            </a:r>
          </a:p>
          <a:p xmlns:a="http://schemas.openxmlformats.org/drawingml/2006/main">
            <a:r>
              <a:t>S3: argumentos de herramientas; S4: selección de catálogo · Sigue: Rol, contexto, tarea y formato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NOTAS PARA EDITAR Y PRESENTAR</a:t>
            </a:r>
          </a:p>
          <a:p xmlns:a="http://schemas.openxmlformats.org/drawingml/2006/main">
            <a:r>
              <a:t>Textos, contenedores, tablas y conectores son objetos nativos editables. Formato 16:9. El bloque de tres láminas puede revelarse progresivamente. Duración sugerida: 3–5 minutos con discusión; el conjunto es un banco docente y no prescribe ampliar las horas del curso. Mantenga visibles los límites y no convierta ejemplos en resultados medidos. Fuente tipográfica: DejaVu Sans; si PowerPoint la sustituye, revise los saltos de línea.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DIAPOSITIVA 7 · CAPÍTULO 3 · CONCEPTO</a:t>
            </a:r>
          </a:p>
          <a:p xmlns:a="http://schemas.openxmlformats.org/drawingml/2006/main">
            <a:r>
              <a:t>Título: Rol, contexto, tarea y formato</a:t>
            </a:r>
          </a:p>
          <a:p xmlns:a="http://schemas.openxmlformats.org/drawingml/2006/main">
            <a:r>
              <a:t>Sesión: Prompts, mensajes y contratos</a:t>
            </a:r>
          </a:p>
          <a:p xmlns:a="http://schemas.openxmlformats.org/drawingml/2006/main">
            <a:r>
              <a:t>Archivo: 02-ecosistema-langchain-editable.pptx</a:t>
            </a:r>
          </a:p>
          <a:p xmlns:a="http://schemas.openxmlformats.org/drawingml/2006/main">
            <a:r>
              <a:t>Sección que soporta: §2</a:t>
            </a:r>
          </a:p>
          <a:p xmlns:a="http://schemas.openxmlformats.org/drawingml/2006/main">
            <a:r>
              <a:t>Fuente principal: https://github.com/javierrosado/ariwalab-course-langchain/blob/27c24090f1662f9473b673d2020e7bffee04490b/modulo-1-fundamentos/sesion-02-ecosistema-langchain/README.md</a:t>
            </a:r>
          </a:p>
          <a:p xmlns:a="http://schemas.openxmlformats.org/drawingml/2006/main">
            <a:r>
              <a:t>Contexto adicional: laboratorios, demos y soluciones de modulo-1-fundamentos/sesion-02-ecosistema-langchain; módulos comunes del repositorio.</a:t>
            </a:r>
          </a:p>
          <a:p xmlns:a="http://schemas.openxmlformats.org/drawingml/2006/main">
            <a:r>
              <a:t>Revisión de fuente: 27c24090f1662f9473b673d2020e7bffee04490b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OBJETIVO PEDAGÓGICO</a:t>
            </a:r>
          </a:p>
          <a:p xmlns:a="http://schemas.openxmlformats.org/drawingml/2006/main">
            <a:r>
              <a:t>Redactar un prompt con responsabilidades identificables y comprobables.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CONCEPTO PRINCIPAL</a:t>
            </a:r>
          </a:p>
          <a:p xmlns:a="http://schemas.openxmlformats.org/drawingml/2006/main">
            <a:r>
              <a:t>Rol, contexto, tarea y formato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MENSAJE QUE DEBE LLEVARSE EL ALUMNO</a:t>
            </a:r>
          </a:p>
          <a:p xmlns:a="http://schemas.openxmlformats.org/drawingml/2006/main">
            <a:r>
              <a:t>Un buen prompt puede explicarse y probarse por partes.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EXPLICACIÓN SUGERIDA PARA EL DOCENTE</a:t>
            </a:r>
          </a:p>
          <a:p xmlns:a="http://schemas.openxmlformats.org/drawingml/2006/main">
            <a:r>
              <a:t>Abra con la pregunta «¿Qué sección modificarías si la categoría es correcta pero el formato falla?». Escuche una respuesta antes de revelar la conclusión. Explique las tres responsabilidades y pida al grupo que señale cuál aporta la evidencia y cuál solo transforma o presenta información.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Rol y contexto: Definir para quién trabaja y con qué información.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Tarea: Especificar la transformación que debe realizar.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Formato: Describir la salida requerida por el consumidor.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Cierre con la distinción: Un buen prompt puede explicarse y probarse por partes.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ELEMENTOS QUE CONVIENE EXPLICAR</a:t>
            </a:r>
          </a:p>
          <a:p xmlns:a="http://schemas.openxmlformats.org/drawingml/2006/main">
            <a:r>
              <a:t>Rol y contexto; Tarea; Formato. Las flechas indican progresión o relación según el rótulo; las comparaciones no implican una secuencia de ejecución.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EJEMPLO PRÁCTICO / APLICACIÓN A INDUSTRIA</a:t>
            </a:r>
          </a:p>
          <a:p xmlns:a="http://schemas.openxmlformats.org/drawingml/2006/main">
            <a:r>
              <a:t>Banco Inti. Clasifica «No entiendo este cobro» dentro de la taxonomía bancaria.</a:t>
            </a:r>
          </a:p>
          <a:p xmlns:a="http://schemas.openxmlformats.org/drawingml/2006/main">
            <a:r>
              <a:t>Rol: Clasificador de consultas del track banca.</a:t>
            </a:r>
          </a:p>
          <a:p xmlns:a="http://schemas.openxmlformats.org/drawingml/2006/main">
            <a:r>
              <a:t>Tarea: Elegir una intención permitida sin inventar saldos.</a:t>
            </a:r>
          </a:p>
          <a:p xmlns:a="http://schemas.openxmlformats.org/drawingml/2006/main">
            <a:r>
              <a:t>Formato: Devolver el objeto que exige el esquema del laboratorio.</a:t>
            </a:r>
          </a:p>
          <a:p xmlns:a="http://schemas.openxmlformats.org/drawingml/2006/main">
            <a:r>
              <a:t>Resultado: Cada parte del prompt contribuye a una responsabilidad concreta.</a:t>
            </a:r>
          </a:p>
          <a:p xmlns:a="http://schemas.openxmlformats.org/drawingml/2006/main">
            <a:r>
              <a:t>Los casos y datos son didácticos o sintéticos. Las cifras copiadas de una demostración se identifican como tales; no son mediciones producidas al construir la presentación.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 SUGERIDA</a:t>
            </a:r>
          </a:p>
          <a:p xmlns:a="http://schemas.openxmlformats.org/drawingml/2006/main">
            <a:r>
              <a:t>¿Qué sección modificarías si la categoría es correcta pero el formato falla?</a:t>
            </a:r>
          </a:p>
          <a:p xmlns:a="http://schemas.openxmlformats.org/drawingml/2006/main">
            <a:r>
              <a:t>Orientación para el docente: contraste la respuesta con los criterios del desarrollo y pida evidencia. La conclusión debe respetar: Un buen prompt puede explicarse y probarse por partes.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ERRORES CONCEPTUALES FRECUENTES</a:t>
            </a:r>
          </a:p>
          <a:p xmlns:a="http://schemas.openxmlformats.org/drawingml/2006/main">
            <a:r>
              <a:t>Añadir instrucciones largas sin resolver la ambigüedad.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ANTERIOR</a:t>
            </a:r>
          </a:p>
          <a:p xmlns:a="http://schemas.openxmlformats.org/drawingml/2006/main">
            <a:r>
              <a:t>S1: primera llamada al modelo · Capítulo previo: Mensajes, roles y statelessness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POSTERIOR</a:t>
            </a:r>
          </a:p>
          <a:p xmlns:a="http://schemas.openxmlformats.org/drawingml/2006/main">
            <a:r>
              <a:t>S3: argumentos de herramientas; S4: selección de catálogo · Sigue: Few-shot para desambiguar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NOTAS PARA EDITAR Y PRESENTAR</a:t>
            </a:r>
          </a:p>
          <a:p xmlns:a="http://schemas.openxmlformats.org/drawingml/2006/main">
            <a:r>
              <a:t>Textos, contenedores, tablas y conectores son objetos nativos editables. Formato 16:9. El bloque de tres láminas puede revelarse progresivamente. Duración sugerida: 2–4 minutos según conocimientos previos; el conjunto es un banco docente y no prescribe ampliar las horas del curso. Mantenga visibles los límites y no convierta ejemplos en resultados medidos. Fuente tipográfica: DejaVu Sans; si PowerPoint la sustituye, revise los saltos de línea.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DIAPOSITIVA 8 · CAPÍTULO 3 · DESARROLLO</a:t>
            </a:r>
          </a:p>
          <a:p xmlns:a="http://schemas.openxmlformats.org/drawingml/2006/main">
            <a:r>
              <a:t>Título: Diagnosticar un prompt incompleto</a:t>
            </a:r>
          </a:p>
          <a:p xmlns:a="http://schemas.openxmlformats.org/drawingml/2006/main">
            <a:r>
              <a:t>Sesión: Prompts, mensajes y contratos</a:t>
            </a:r>
          </a:p>
          <a:p xmlns:a="http://schemas.openxmlformats.org/drawingml/2006/main">
            <a:r>
              <a:t>Archivo: 02-ecosistema-langchain-editable.pptx</a:t>
            </a:r>
          </a:p>
          <a:p xmlns:a="http://schemas.openxmlformats.org/drawingml/2006/main">
            <a:r>
              <a:t>Sección que soporta: §2</a:t>
            </a:r>
          </a:p>
          <a:p xmlns:a="http://schemas.openxmlformats.org/drawingml/2006/main">
            <a:r>
              <a:t>Fuente principal: https://github.com/javierrosado/ariwalab-course-langchain/blob/27c24090f1662f9473b673d2020e7bffee04490b/modulo-1-fundamentos/sesion-02-ecosistema-langchain/README.md</a:t>
            </a:r>
          </a:p>
          <a:p xmlns:a="http://schemas.openxmlformats.org/drawingml/2006/main">
            <a:r>
              <a:t>Contexto adicional: laboratorios, demos y soluciones de modulo-1-fundamentos/sesion-02-ecosistema-langchain; módulos comunes del repositorio.</a:t>
            </a:r>
          </a:p>
          <a:p xmlns:a="http://schemas.openxmlformats.org/drawingml/2006/main">
            <a:r>
              <a:t>Revisión de fuente: 27c24090f1662f9473b673d2020e7bffee04490b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OBJETIVO PEDAGÓGICO</a:t>
            </a:r>
          </a:p>
          <a:p xmlns:a="http://schemas.openxmlformats.org/drawingml/2006/main">
            <a:r>
              <a:t>Redactar un prompt con responsabilidades identificables y comprobables.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CONCEPTO PRINCIPAL</a:t>
            </a:r>
          </a:p>
          <a:p xmlns:a="http://schemas.openxmlformats.org/drawingml/2006/main">
            <a:r>
              <a:t>Rol, contexto, tarea y formato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MENSAJE QUE DEBE LLEVARSE EL ALUMNO</a:t>
            </a:r>
          </a:p>
          <a:p xmlns:a="http://schemas.openxmlformats.org/drawingml/2006/main">
            <a:r>
              <a:t>Un buen prompt puede explicarse y probarse por partes.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EXPLICACIÓN SUGERIDA PARA EL DOCENTE</a:t>
            </a:r>
          </a:p>
          <a:p xmlns:a="http://schemas.openxmlformats.org/drawingml/2006/main">
            <a:r>
              <a:t>Recupere la idea de la diapositiva anterior y aplíquela a estas comprobaciones. Recorra cada fila y pregunte qué evidencia necesitarían para darla por cumplida.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Ambigüedad: ¿Falta indicar qué debe decidir?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Información: ¿Tiene datos suficientes o debe reconocer un límite?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Contrato: ¿La salida esperada puede verificarse con un esquema?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Contraste la regla con este error: Añadir instrucciones largas sin resolver la ambigüedad. Pida que expliquen la consecuencia concreta en su propio track.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ELEMENTOS QUE CONVIENE EXPLICAR</a:t>
            </a:r>
          </a:p>
          <a:p xmlns:a="http://schemas.openxmlformats.org/drawingml/2006/main">
            <a:r>
              <a:t>Ambigüedad; Información; Contrato. Las flechas indican progresión o relación según el rótulo; las comparaciones no implican una secuencia de ejecución.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EJEMPLO PRÁCTICO / APLICACIÓN A INDUSTRIA</a:t>
            </a:r>
          </a:p>
          <a:p xmlns:a="http://schemas.openxmlformats.org/drawingml/2006/main">
            <a:r>
              <a:t>Banco Inti. Clasifica «No entiendo este cobro» dentro de la taxonomía bancaria.</a:t>
            </a:r>
          </a:p>
          <a:p xmlns:a="http://schemas.openxmlformats.org/drawingml/2006/main">
            <a:r>
              <a:t>Rol: Clasificador de consultas del track banca.</a:t>
            </a:r>
          </a:p>
          <a:p xmlns:a="http://schemas.openxmlformats.org/drawingml/2006/main">
            <a:r>
              <a:t>Tarea: Elegir una intención permitida sin inventar saldos.</a:t>
            </a:r>
          </a:p>
          <a:p xmlns:a="http://schemas.openxmlformats.org/drawingml/2006/main">
            <a:r>
              <a:t>Formato: Devolver el objeto que exige el esquema del laboratorio.</a:t>
            </a:r>
          </a:p>
          <a:p xmlns:a="http://schemas.openxmlformats.org/drawingml/2006/main">
            <a:r>
              <a:t>Resultado: Cada parte del prompt contribuye a una responsabilidad concreta.</a:t>
            </a:r>
          </a:p>
          <a:p xmlns:a="http://schemas.openxmlformats.org/drawingml/2006/main">
            <a:r>
              <a:t>Los casos y datos son didácticos o sintéticos. Las cifras copiadas de una demostración se identifican como tales; no son mediciones producidas al construir la presentación.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 SUGERIDA</a:t>
            </a:r>
          </a:p>
          <a:p xmlns:a="http://schemas.openxmlformats.org/drawingml/2006/main">
            <a:r>
              <a:t>¿Qué sección modificarías si la categoría es correcta pero el formato falla?</a:t>
            </a:r>
          </a:p>
          <a:p xmlns:a="http://schemas.openxmlformats.org/drawingml/2006/main">
            <a:r>
              <a:t>Orientación para el docente: contraste la respuesta con los criterios del desarrollo y pida evidencia. La conclusión debe respetar: Un buen prompt puede explicarse y probarse por partes.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ERRORES CONCEPTUALES FRECUENTES</a:t>
            </a:r>
          </a:p>
          <a:p xmlns:a="http://schemas.openxmlformats.org/drawingml/2006/main">
            <a:r>
              <a:t>Añadir instrucciones largas sin resolver la ambigüedad.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ANTERIOR</a:t>
            </a:r>
          </a:p>
          <a:p xmlns:a="http://schemas.openxmlformats.org/drawingml/2006/main">
            <a:r>
              <a:t>S1: primera llamada al modelo · Capítulo previo: Mensajes, roles y statelessness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POSTERIOR</a:t>
            </a:r>
          </a:p>
          <a:p xmlns:a="http://schemas.openxmlformats.org/drawingml/2006/main">
            <a:r>
              <a:t>S3: argumentos de herramientas; S4: selección de catálogo · Sigue: Few-shot para desambiguar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NOTAS PARA EDITAR Y PRESENTAR</a:t>
            </a:r>
          </a:p>
          <a:p xmlns:a="http://schemas.openxmlformats.org/drawingml/2006/main">
            <a:r>
              <a:t>Textos, contenedores, tablas y conectores son objetos nativos editables. Formato 16:9. El bloque de tres láminas puede revelarse progresivamente. Duración sugerida: 2–4 minutos según conocimientos previos; el conjunto es un banco docente y no prescribe ampliar las horas del curso. Mantenga visibles los límites y no convierta ejemplos en resultados medidos. Fuente tipográfica: DejaVu Sans; si PowerPoint la sustituye, revise los saltos de línea.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DIAPOSITIVA 9 · CAPÍTULO 3 · EJEMPLO</a:t>
            </a:r>
          </a:p>
          <a:p xmlns:a="http://schemas.openxmlformats.org/drawingml/2006/main">
            <a:r>
              <a:t>Título: Banco Inti · Rol, contexto, tarea y formato</a:t>
            </a:r>
          </a:p>
          <a:p xmlns:a="http://schemas.openxmlformats.org/drawingml/2006/main">
            <a:r>
              <a:t>Sesión: Prompts, mensajes y contratos</a:t>
            </a:r>
          </a:p>
          <a:p xmlns:a="http://schemas.openxmlformats.org/drawingml/2006/main">
            <a:r>
              <a:t>Archivo: 02-ecosistema-langchain-editable.pptx</a:t>
            </a:r>
          </a:p>
          <a:p xmlns:a="http://schemas.openxmlformats.org/drawingml/2006/main">
            <a:r>
              <a:t>Sección que soporta: §2</a:t>
            </a:r>
          </a:p>
          <a:p xmlns:a="http://schemas.openxmlformats.org/drawingml/2006/main">
            <a:r>
              <a:t>Fuente principal: https://github.com/javierrosado/ariwalab-course-langchain/blob/27c24090f1662f9473b673d2020e7bffee04490b/modulo-1-fundamentos/sesion-02-ecosistema-langchain/README.md</a:t>
            </a:r>
          </a:p>
          <a:p xmlns:a="http://schemas.openxmlformats.org/drawingml/2006/main">
            <a:r>
              <a:t>Contexto adicional: laboratorios, demos y soluciones de modulo-1-fundamentos/sesion-02-ecosistema-langchain; módulos comunes del repositorio.</a:t>
            </a:r>
          </a:p>
          <a:p xmlns:a="http://schemas.openxmlformats.org/drawingml/2006/main">
            <a:r>
              <a:t>Revisión de fuente: 27c24090f1662f9473b673d2020e7bffee04490b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OBJETIVO PEDAGÓGICO</a:t>
            </a:r>
          </a:p>
          <a:p xmlns:a="http://schemas.openxmlformats.org/drawingml/2006/main">
            <a:r>
              <a:t>Redactar un prompt con responsabilidades identificables y comprobables.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CONCEPTO PRINCIPAL</a:t>
            </a:r>
          </a:p>
          <a:p xmlns:a="http://schemas.openxmlformats.org/drawingml/2006/main">
            <a:r>
              <a:t>Rol, contexto, tarea y formato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MENSAJE QUE DEBE LLEVARSE EL ALUMNO</a:t>
            </a:r>
          </a:p>
          <a:p xmlns:a="http://schemas.openxmlformats.org/drawingml/2006/main">
            <a:r>
              <a:t>Un buen prompt puede explicarse y probarse por partes.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EXPLICACIÓN SUGERIDA PARA EL DOCENTE</a:t>
            </a:r>
          </a:p>
          <a:p xmlns:a="http://schemas.openxmlformats.org/drawingml/2006/main">
            <a:r>
              <a:t>Plantee el caso antes de mostrar los pasos: Clasifica «No entiendo este cobro» dentro de la taxonomía bancaria. Pida una predicción.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Rol: Clasificador de consultas del track banca.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Tarea: Elegir una intención permitida sin inventar saldos.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Formato: Devolver el objeto que exige el esquema del laboratorio.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esperado: Cada parte del prompt contribuye a una responsabilidad concreta. Discuta qué parte se observó, qué parte debe comprobarse y qué conclusión sería excesiva. No presente este caso didáctico como una ejecución real medida. Proponga cambiar un dato de entrada y preguntar si se mantiene el razonamiento.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ELEMENTOS QUE CONVIENE EXPLICAR</a:t>
            </a:r>
          </a:p>
          <a:p xmlns:a="http://schemas.openxmlformats.org/drawingml/2006/main">
            <a:r>
              <a:t>Rol; Tarea; Formato. Las flechas indican progresión o relación según el rótulo; las comparaciones no implican una secuencia de ejecución.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EJEMPLO PRÁCTICO / APLICACIÓN A INDUSTRIA</a:t>
            </a:r>
          </a:p>
          <a:p xmlns:a="http://schemas.openxmlformats.org/drawingml/2006/main">
            <a:r>
              <a:t>Banco Inti. Clasifica «No entiendo este cobro» dentro de la taxonomía bancaria.</a:t>
            </a:r>
          </a:p>
          <a:p xmlns:a="http://schemas.openxmlformats.org/drawingml/2006/main">
            <a:r>
              <a:t>Rol: Clasificador de consultas del track banca.</a:t>
            </a:r>
          </a:p>
          <a:p xmlns:a="http://schemas.openxmlformats.org/drawingml/2006/main">
            <a:r>
              <a:t>Tarea: Elegir una intención permitida sin inventar saldos.</a:t>
            </a:r>
          </a:p>
          <a:p xmlns:a="http://schemas.openxmlformats.org/drawingml/2006/main">
            <a:r>
              <a:t>Formato: Devolver el objeto que exige el esquema del laboratorio.</a:t>
            </a:r>
          </a:p>
          <a:p xmlns:a="http://schemas.openxmlformats.org/drawingml/2006/main">
            <a:r>
              <a:t>Resultado: Cada parte del prompt contribuye a una responsabilidad concreta.</a:t>
            </a:r>
          </a:p>
          <a:p xmlns:a="http://schemas.openxmlformats.org/drawingml/2006/main">
            <a:r>
              <a:t>Los casos y datos son didácticos o sintéticos. Las cifras copiadas de una demostración se identifican como tales; no son mediciones producidas al construir la presentación.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 SUGERIDA</a:t>
            </a:r>
          </a:p>
          <a:p xmlns:a="http://schemas.openxmlformats.org/drawingml/2006/main">
            <a:r>
              <a:t>¿Qué sección modificarías si la categoría es correcta pero el formato falla?</a:t>
            </a:r>
          </a:p>
          <a:p xmlns:a="http://schemas.openxmlformats.org/drawingml/2006/main">
            <a:r>
              <a:t>Orientación para el docente: contraste la respuesta con los criterios del desarrollo y pida evidencia. La conclusión debe respetar: Un buen prompt puede explicarse y probarse por partes.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ERRORES CONCEPTUALES FRECUENTES</a:t>
            </a:r>
          </a:p>
          <a:p xmlns:a="http://schemas.openxmlformats.org/drawingml/2006/main">
            <a:r>
              <a:t>Añadir instrucciones largas sin resolver la ambigüedad.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ANTERIOR</a:t>
            </a:r>
          </a:p>
          <a:p xmlns:a="http://schemas.openxmlformats.org/drawingml/2006/main">
            <a:r>
              <a:t>S1: primera llamada al modelo · Capítulo previo: Mensajes, roles y statelessness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POSTERIOR</a:t>
            </a:r>
          </a:p>
          <a:p xmlns:a="http://schemas.openxmlformats.org/drawingml/2006/main">
            <a:r>
              <a:t>S3: argumentos de herramientas; S4: selección de catálogo · Sigue: Few-shot para desambiguar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NOTAS PARA EDITAR Y PRESENTAR</a:t>
            </a:r>
          </a:p>
          <a:p xmlns:a="http://schemas.openxmlformats.org/drawingml/2006/main">
            <a:r>
              <a:t>Textos, contenedores, tablas y conectores son objetos nativos editables. Formato 16:9. El bloque de tres láminas puede revelarse progresivamente. Duración sugerida: 3–5 minutos con discusión; el conjunto es un banco docente y no prescribe ampliar las horas del curso. Mantenga visibles los límites y no convierta ejemplos en resultados medidos. Fuente tipográfica: DejaVu Sans; si PowerPoint la sustituye, revise los saltos de línea.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DIAPOSITIVA 10 · CAPÍTULO 4 · CONCEPTO</a:t>
            </a:r>
          </a:p>
          <a:p xmlns:a="http://schemas.openxmlformats.org/drawingml/2006/main">
            <a:r>
              <a:t>Título: Few-shot para desambiguar</a:t>
            </a:r>
          </a:p>
          <a:p xmlns:a="http://schemas.openxmlformats.org/drawingml/2006/main">
            <a:r>
              <a:t>Sesión: Prompts, mensajes y contratos</a:t>
            </a:r>
          </a:p>
          <a:p xmlns:a="http://schemas.openxmlformats.org/drawingml/2006/main">
            <a:r>
              <a:t>Archivo: 02-ecosistema-langchain-editable.pptx</a:t>
            </a:r>
          </a:p>
          <a:p xmlns:a="http://schemas.openxmlformats.org/drawingml/2006/main">
            <a:r>
              <a:t>Sección que soporta: §3 · regla A5</a:t>
            </a:r>
          </a:p>
          <a:p xmlns:a="http://schemas.openxmlformats.org/drawingml/2006/main">
            <a:r>
              <a:t>Fuente principal: https://github.com/javierrosado/ariwalab-course-langchain/blob/27c24090f1662f9473b673d2020e7bffee04490b/modulo-1-fundamentos/sesion-02-ecosistema-langchain/README.md</a:t>
            </a:r>
          </a:p>
          <a:p xmlns:a="http://schemas.openxmlformats.org/drawingml/2006/main">
            <a:r>
              <a:t>Contexto adicional: laboratorios, demos y soluciones de modulo-1-fundamentos/sesion-02-ecosistema-langchain; módulos comunes del repositorio.</a:t>
            </a:r>
          </a:p>
          <a:p xmlns:a="http://schemas.openxmlformats.org/drawingml/2006/main">
            <a:r>
              <a:t>Revisión de fuente: 27c24090f1662f9473b673d2020e7bffee04490b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OBJETIVO PEDAGÓGICO</a:t>
            </a:r>
          </a:p>
          <a:p xmlns:a="http://schemas.openxmlformats.org/drawingml/2006/main">
            <a:r>
              <a:t>Usar ejemplos contrastivos para aclarar decisiones difíciles del dominio.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CONCEPTO PRINCIPAL</a:t>
            </a:r>
          </a:p>
          <a:p xmlns:a="http://schemas.openxmlformats.org/drawingml/2006/main">
            <a:r>
              <a:t>Few-shot para desambiguar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MENSAJE QUE DEBE LLEVARSE EL ALUMNO</a:t>
            </a:r>
          </a:p>
          <a:p xmlns:a="http://schemas.openxmlformats.org/drawingml/2006/main">
            <a:r>
              <a:t>Few-shot aporta demostraciones dentro del contexto; no entrena pesos.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EXPLICACIÓN SUGERIDA PARA EL DOCENTE</a:t>
            </a:r>
          </a:p>
          <a:p xmlns:a="http://schemas.openxmlformats.org/drawingml/2006/main">
            <a:r>
              <a:t>Abra con la pregunta «¿Qué par de ejemplos ayudaría a separar tus dos categorías más confundidas?». Escuche una respuesta antes de revelar la conclusión. Explique las tres responsabilidades y pida al grupo que señale cuál aporta la evidencia y cuál solo transforma o presenta información.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Caso de entrada: Una formulación que suele generar confusión.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Salida esperada: La etiqueta y campos definidos por el contrato.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Contraste: Otro caso parecido que debe recibir una categoría distinta.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Cierre con la distinción: Few-shot aporta demostraciones dentro del contexto; no entrena pesos.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ELEMENTOS QUE CONVIENE EXPLICAR</a:t>
            </a:r>
          </a:p>
          <a:p xmlns:a="http://schemas.openxmlformats.org/drawingml/2006/main">
            <a:r>
              <a:t>Caso de entrada; Salida esperada; Contraste. Las flechas indican progresión o relación según el rótulo; las comparaciones no implican una secuencia de ejecución.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EJEMPLO PRÁCTICO / APLICACIÓN A INDUSTRIA</a:t>
            </a:r>
          </a:p>
          <a:p xmlns:a="http://schemas.openxmlformats.org/drawingml/2006/main">
            <a:r>
              <a:t>MercaSur. «¿Hay stock?» y «¿Dónde está mi pedido?» hablan de productos, pero piden cosas distintas.</a:t>
            </a:r>
          </a:p>
          <a:p xmlns:a="http://schemas.openxmlformats.org/drawingml/2006/main">
            <a:r>
              <a:t>Ejemplo 1: Existencia del producto → intención de stock.</a:t>
            </a:r>
          </a:p>
          <a:p xmlns:a="http://schemas.openxmlformats.org/drawingml/2006/main">
            <a:r>
              <a:t>Ejemplo 2: Pedido ya creado → intención de seguimiento.</a:t>
            </a:r>
          </a:p>
          <a:p xmlns:a="http://schemas.openxmlformats.org/drawingml/2006/main">
            <a:r>
              <a:t>Prueba nueva: «¿Llegó mi compra?» debe reconocer seguimiento.</a:t>
            </a:r>
          </a:p>
          <a:p xmlns:a="http://schemas.openxmlformats.org/drawingml/2006/main">
            <a:r>
              <a:t>Resultado: El ejemplo enseña el criterio de distinción, no una palabra mágica.</a:t>
            </a:r>
          </a:p>
          <a:p xmlns:a="http://schemas.openxmlformats.org/drawingml/2006/main">
            <a:r>
              <a:t>Los casos y datos son didácticos o sintéticos. Las cifras copiadas de una demostración se identifican como tales; no son mediciones producidas al construir la presentación.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 SUGERIDA</a:t>
            </a:r>
          </a:p>
          <a:p xmlns:a="http://schemas.openxmlformats.org/drawingml/2006/main">
            <a:r>
              <a:t>¿Qué par de ejemplos ayudaría a separar tus dos categorías más confundidas?</a:t>
            </a:r>
          </a:p>
          <a:p xmlns:a="http://schemas.openxmlformats.org/drawingml/2006/main">
            <a:r>
              <a:t>Orientación para el docente: contraste la respuesta con los criterios del desarrollo y pida evidencia. La conclusión debe respetar: Few-shot aporta demostraciones dentro del contexto; no entrena pesos.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ERRORES CONCEPTUALES FRECUENTES</a:t>
            </a:r>
          </a:p>
          <a:p xmlns:a="http://schemas.openxmlformats.org/drawingml/2006/main">
            <a:r>
              <a:t>Confundir ejemplos en el prompt con fine-tuning.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ANTERIOR</a:t>
            </a:r>
          </a:p>
          <a:p xmlns:a="http://schemas.openxmlformats.org/drawingml/2006/main">
            <a:r>
              <a:t>S1: primera llamada al modelo · Capítulo previo: Rol, contexto, tarea y formato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POSTERIOR</a:t>
            </a:r>
          </a:p>
          <a:p xmlns:a="http://schemas.openxmlformats.org/drawingml/2006/main">
            <a:r>
              <a:t>S3: argumentos de herramientas; S4: selección de catálogo · Sigue: Salida estructurada y validación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NOTAS PARA EDITAR Y PRESENTAR</a:t>
            </a:r>
          </a:p>
          <a:p xmlns:a="http://schemas.openxmlformats.org/drawingml/2006/main">
            <a:r>
              <a:t>Textos, contenedores, tablas y conectores son objetos nativos editables. Formato 16:9. El bloque de tres láminas puede revelarse progresivamente. Duración sugerida: 2–4 minutos según conocimientos previos; el conjunto es un banco docente y no prescribe ampliar las horas del curso. Mantenga visibles los límites y no convierta ejemplos en resultados medidos. Fuente tipográfica: DejaVu Sans; si PowerPoint la sustituye, revise los saltos de línea.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DIAPOSITIVA 11 · CAPÍTULO 4 · DESARROLLO</a:t>
            </a:r>
          </a:p>
          <a:p xmlns:a="http://schemas.openxmlformats.org/drawingml/2006/main">
            <a:r>
              <a:t>Título: Elegir ejemplos útiles</a:t>
            </a:r>
          </a:p>
          <a:p xmlns:a="http://schemas.openxmlformats.org/drawingml/2006/main">
            <a:r>
              <a:t>Sesión: Prompts, mensajes y contratos</a:t>
            </a:r>
          </a:p>
          <a:p xmlns:a="http://schemas.openxmlformats.org/drawingml/2006/main">
            <a:r>
              <a:t>Archivo: 02-ecosistema-langchain-editable.pptx</a:t>
            </a:r>
          </a:p>
          <a:p xmlns:a="http://schemas.openxmlformats.org/drawingml/2006/main">
            <a:r>
              <a:t>Sección que soporta: §3 · regla A5</a:t>
            </a:r>
          </a:p>
          <a:p xmlns:a="http://schemas.openxmlformats.org/drawingml/2006/main">
            <a:r>
              <a:t>Fuente principal: https://github.com/javierrosado/ariwalab-course-langchain/blob/27c24090f1662f9473b673d2020e7bffee04490b/modulo-1-fundamentos/sesion-02-ecosistema-langchain/README.md</a:t>
            </a:r>
          </a:p>
          <a:p xmlns:a="http://schemas.openxmlformats.org/drawingml/2006/main">
            <a:r>
              <a:t>Contexto adicional: laboratorios, demos y soluciones de modulo-1-fundamentos/sesion-02-ecosistema-langchain; módulos comunes del repositorio.</a:t>
            </a:r>
          </a:p>
          <a:p xmlns:a="http://schemas.openxmlformats.org/drawingml/2006/main">
            <a:r>
              <a:t>Revisión de fuente: 27c24090f1662f9473b673d2020e7bffee04490b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OBJETIVO PEDAGÓGICO</a:t>
            </a:r>
          </a:p>
          <a:p xmlns:a="http://schemas.openxmlformats.org/drawingml/2006/main">
            <a:r>
              <a:t>Usar ejemplos contrastivos para aclarar decisiones difíciles del dominio.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CONCEPTO PRINCIPAL</a:t>
            </a:r>
          </a:p>
          <a:p xmlns:a="http://schemas.openxmlformats.org/drawingml/2006/main">
            <a:r>
              <a:t>Few-shot para desambiguar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MENSAJE QUE DEBE LLEVARSE EL ALUMNO</a:t>
            </a:r>
          </a:p>
          <a:p xmlns:a="http://schemas.openxmlformats.org/drawingml/2006/main">
            <a:r>
              <a:t>Few-shot aporta demostraciones dentro del contexto; no entrena pesos.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EXPLICACIÓN SUGERIDA PARA EL DOCENTE</a:t>
            </a:r>
          </a:p>
          <a:p xmlns:a="http://schemas.openxmlformats.org/drawingml/2006/main">
            <a:r>
              <a:t>Recupere la idea de la diapositiva anterior y aplíquela a estas comprobaciones. Recorra cada fila y pregunte qué evidencia necesitarían para darla por cumplida.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Representativos: Incluir lenguaje realista del track.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Diferenciadores: Aclarar fronteras entre categorías cercanas.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Separados: No usar las respuestas del test como demostración de generalización.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Contraste la regla con este error: Confundir ejemplos en el prompt con fine-tuning. Pida que expliquen la consecuencia concreta en su propio track.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ELEMENTOS QUE CONVIENE EXPLICAR</a:t>
            </a:r>
          </a:p>
          <a:p xmlns:a="http://schemas.openxmlformats.org/drawingml/2006/main">
            <a:r>
              <a:t>Representativos; Diferenciadores; Separados. Las flechas indican progresión o relación según el rótulo; las comparaciones no implican una secuencia de ejecución.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EJEMPLO PRÁCTICO / APLICACIÓN A INDUSTRIA</a:t>
            </a:r>
          </a:p>
          <a:p xmlns:a="http://schemas.openxmlformats.org/drawingml/2006/main">
            <a:r>
              <a:t>MercaSur. «¿Hay stock?» y «¿Dónde está mi pedido?» hablan de productos, pero piden cosas distintas.</a:t>
            </a:r>
          </a:p>
          <a:p xmlns:a="http://schemas.openxmlformats.org/drawingml/2006/main">
            <a:r>
              <a:t>Ejemplo 1: Existencia del producto → intención de stock.</a:t>
            </a:r>
          </a:p>
          <a:p xmlns:a="http://schemas.openxmlformats.org/drawingml/2006/main">
            <a:r>
              <a:t>Ejemplo 2: Pedido ya creado → intención de seguimiento.</a:t>
            </a:r>
          </a:p>
          <a:p xmlns:a="http://schemas.openxmlformats.org/drawingml/2006/main">
            <a:r>
              <a:t>Prueba nueva: «¿Llegó mi compra?» debe reconocer seguimiento.</a:t>
            </a:r>
          </a:p>
          <a:p xmlns:a="http://schemas.openxmlformats.org/drawingml/2006/main">
            <a:r>
              <a:t>Resultado: El ejemplo enseña el criterio de distinción, no una palabra mágica.</a:t>
            </a:r>
          </a:p>
          <a:p xmlns:a="http://schemas.openxmlformats.org/drawingml/2006/main">
            <a:r>
              <a:t>Los casos y datos son didácticos o sintéticos. Las cifras copiadas de una demostración se identifican como tales; no son mediciones producidas al construir la presentación.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 SUGERIDA</a:t>
            </a:r>
          </a:p>
          <a:p xmlns:a="http://schemas.openxmlformats.org/drawingml/2006/main">
            <a:r>
              <a:t>¿Qué par de ejemplos ayudaría a separar tus dos categorías más confundidas?</a:t>
            </a:r>
          </a:p>
          <a:p xmlns:a="http://schemas.openxmlformats.org/drawingml/2006/main">
            <a:r>
              <a:t>Orientación para el docente: contraste la respuesta con los criterios del desarrollo y pida evidencia. La conclusión debe respetar: Few-shot aporta demostraciones dentro del contexto; no entrena pesos.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ERRORES CONCEPTUALES FRECUENTES</a:t>
            </a:r>
          </a:p>
          <a:p xmlns:a="http://schemas.openxmlformats.org/drawingml/2006/main">
            <a:r>
              <a:t>Confundir ejemplos en el prompt con fine-tuning.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ANTERIOR</a:t>
            </a:r>
          </a:p>
          <a:p xmlns:a="http://schemas.openxmlformats.org/drawingml/2006/main">
            <a:r>
              <a:t>S1: primera llamada al modelo · Capítulo previo: Rol, contexto, tarea y formato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POSTERIOR</a:t>
            </a:r>
          </a:p>
          <a:p xmlns:a="http://schemas.openxmlformats.org/drawingml/2006/main">
            <a:r>
              <a:t>S3: argumentos de herramientas; S4: selección de catálogo · Sigue: Salida estructurada y validación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NOTAS PARA EDITAR Y PRESENTAR</a:t>
            </a:r>
          </a:p>
          <a:p xmlns:a="http://schemas.openxmlformats.org/drawingml/2006/main">
            <a:r>
              <a:t>Textos, contenedores, tablas y conectores son objetos nativos editables. Formato 16:9. El bloque de tres láminas puede revelarse progresivamente. Duración sugerida: 2–4 minutos según conocimientos previos; el conjunto es un banco docente y no prescribe ampliar las horas del curso. Mantenga visibles los límites y no convierta ejemplos en resultados medidos. Fuente tipográfica: DejaVu Sans; si PowerPoint la sustituye, revise los saltos de línea.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DIAPOSITIVA 12 · CAPÍTULO 4 · EJEMPLO</a:t>
            </a:r>
          </a:p>
          <a:p xmlns:a="http://schemas.openxmlformats.org/drawingml/2006/main">
            <a:r>
              <a:t>Título: MercaSur · Few-shot para desambiguar</a:t>
            </a:r>
          </a:p>
          <a:p xmlns:a="http://schemas.openxmlformats.org/drawingml/2006/main">
            <a:r>
              <a:t>Sesión: Prompts, mensajes y contratos</a:t>
            </a:r>
          </a:p>
          <a:p xmlns:a="http://schemas.openxmlformats.org/drawingml/2006/main">
            <a:r>
              <a:t>Archivo: 02-ecosistema-langchain-editable.pptx</a:t>
            </a:r>
          </a:p>
          <a:p xmlns:a="http://schemas.openxmlformats.org/drawingml/2006/main">
            <a:r>
              <a:t>Sección que soporta: §3 · regla A5</a:t>
            </a:r>
          </a:p>
          <a:p xmlns:a="http://schemas.openxmlformats.org/drawingml/2006/main">
            <a:r>
              <a:t>Fuente principal: https://github.com/javierrosado/ariwalab-course-langchain/blob/27c24090f1662f9473b673d2020e7bffee04490b/modulo-1-fundamentos/sesion-02-ecosistema-langchain/README.md</a:t>
            </a:r>
          </a:p>
          <a:p xmlns:a="http://schemas.openxmlformats.org/drawingml/2006/main">
            <a:r>
              <a:t>Contexto adicional: laboratorios, demos y soluciones de modulo-1-fundamentos/sesion-02-ecosistema-langchain; módulos comunes del repositorio.</a:t>
            </a:r>
          </a:p>
          <a:p xmlns:a="http://schemas.openxmlformats.org/drawingml/2006/main">
            <a:r>
              <a:t>Revisión de fuente: 27c24090f1662f9473b673d2020e7bffee04490b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OBJETIVO PEDAGÓGICO</a:t>
            </a:r>
          </a:p>
          <a:p xmlns:a="http://schemas.openxmlformats.org/drawingml/2006/main">
            <a:r>
              <a:t>Usar ejemplos contrastivos para aclarar decisiones difíciles del dominio.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CONCEPTO PRINCIPAL</a:t>
            </a:r>
          </a:p>
          <a:p xmlns:a="http://schemas.openxmlformats.org/drawingml/2006/main">
            <a:r>
              <a:t>Few-shot para desambiguar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MENSAJE QUE DEBE LLEVARSE EL ALUMNO</a:t>
            </a:r>
          </a:p>
          <a:p xmlns:a="http://schemas.openxmlformats.org/drawingml/2006/main">
            <a:r>
              <a:t>Few-shot aporta demostraciones dentro del contexto; no entrena pesos.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EXPLICACIÓN SUGERIDA PARA EL DOCENTE</a:t>
            </a:r>
          </a:p>
          <a:p xmlns:a="http://schemas.openxmlformats.org/drawingml/2006/main">
            <a:r>
              <a:t>Plantee el caso antes de mostrar los pasos: «¿Hay stock?» y «¿Dónde está mi pedido?» hablan de productos, pero piden cosas distintas. Pida una predicción.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Ejemplo 1: Existencia del producto → intención de stock.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Ejemplo 2: Pedido ya creado → intención de seguimiento.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Prueba nueva: «¿Llegó mi compra?» debe reconocer seguimiento.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esperado: El ejemplo enseña el criterio de distinción, no una palabra mágica. Discuta qué parte se observó, qué parte debe comprobarse y qué conclusión sería excesiva. No presente este caso didáctico como una ejecución real medida. Proponga cambiar un dato de entrada y preguntar si se mantiene el razonamiento.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ELEMENTOS QUE CONVIENE EXPLICAR</a:t>
            </a:r>
          </a:p>
          <a:p xmlns:a="http://schemas.openxmlformats.org/drawingml/2006/main">
            <a:r>
              <a:t>Ejemplo 1; Ejemplo 2; Prueba nueva. Las flechas indican progresión o relación según el rótulo; las comparaciones no implican una secuencia de ejecución.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EJEMPLO PRÁCTICO / APLICACIÓN A INDUSTRIA</a:t>
            </a:r>
          </a:p>
          <a:p xmlns:a="http://schemas.openxmlformats.org/drawingml/2006/main">
            <a:r>
              <a:t>MercaSur. «¿Hay stock?» y «¿Dónde está mi pedido?» hablan de productos, pero piden cosas distintas.</a:t>
            </a:r>
          </a:p>
          <a:p xmlns:a="http://schemas.openxmlformats.org/drawingml/2006/main">
            <a:r>
              <a:t>Ejemplo 1: Existencia del producto → intención de stock.</a:t>
            </a:r>
          </a:p>
          <a:p xmlns:a="http://schemas.openxmlformats.org/drawingml/2006/main">
            <a:r>
              <a:t>Ejemplo 2: Pedido ya creado → intención de seguimiento.</a:t>
            </a:r>
          </a:p>
          <a:p xmlns:a="http://schemas.openxmlformats.org/drawingml/2006/main">
            <a:r>
              <a:t>Prueba nueva: «¿Llegó mi compra?» debe reconocer seguimiento.</a:t>
            </a:r>
          </a:p>
          <a:p xmlns:a="http://schemas.openxmlformats.org/drawingml/2006/main">
            <a:r>
              <a:t>Resultado: El ejemplo enseña el criterio de distinción, no una palabra mágica.</a:t>
            </a:r>
          </a:p>
          <a:p xmlns:a="http://schemas.openxmlformats.org/drawingml/2006/main">
            <a:r>
              <a:t>Los casos y datos son didácticos o sintéticos. Las cifras copiadas de una demostración se identifican como tales; no son mediciones producidas al construir la presentación.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 SUGERIDA</a:t>
            </a:r>
          </a:p>
          <a:p xmlns:a="http://schemas.openxmlformats.org/drawingml/2006/main">
            <a:r>
              <a:t>¿Qué par de ejemplos ayudaría a separar tus dos categorías más confundidas?</a:t>
            </a:r>
          </a:p>
          <a:p xmlns:a="http://schemas.openxmlformats.org/drawingml/2006/main">
            <a:r>
              <a:t>Orientación para el docente: contraste la respuesta con los criterios del desarrollo y pida evidencia. La conclusión debe respetar: Few-shot aporta demostraciones dentro del contexto; no entrena pesos.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ERRORES CONCEPTUALES FRECUENTES</a:t>
            </a:r>
          </a:p>
          <a:p xmlns:a="http://schemas.openxmlformats.org/drawingml/2006/main">
            <a:r>
              <a:t>Confundir ejemplos en el prompt con fine-tuning.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ANTERIOR</a:t>
            </a:r>
          </a:p>
          <a:p xmlns:a="http://schemas.openxmlformats.org/drawingml/2006/main">
            <a:r>
              <a:t>S1: primera llamada al modelo · Capítulo previo: Rol, contexto, tarea y formato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POSTERIOR</a:t>
            </a:r>
          </a:p>
          <a:p xmlns:a="http://schemas.openxmlformats.org/drawingml/2006/main">
            <a:r>
              <a:t>S3: argumentos de herramientas; S4: selección de catálogo · Sigue: Salida estructurada y validación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NOTAS PARA EDITAR Y PRESENTAR</a:t>
            </a:r>
          </a:p>
          <a:p xmlns:a="http://schemas.openxmlformats.org/drawingml/2006/main">
            <a:r>
              <a:t>Textos, contenedores, tablas y conectores son objetos nativos editables. Formato 16:9. El bloque de tres láminas puede revelarse progresivamente. Duración sugerida: 3–5 minutos con discusión; el conjunto es un banco docente y no prescribe ampliar las horas del curso. Mantenga visibles los límites y no convierta ejemplos en resultados medidos. Fuente tipográfica: DejaVu Sans; si PowerPoint la sustituye, revise los saltos de línea.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DIAPOSITIVA 13 · CAPÍTULO 5 · CONCEPTO</a:t>
            </a:r>
          </a:p>
          <a:p xmlns:a="http://schemas.openxmlformats.org/drawingml/2006/main">
            <a:r>
              <a:t>Título: Salida estructurada y validación</a:t>
            </a:r>
          </a:p>
          <a:p xmlns:a="http://schemas.openxmlformats.org/drawingml/2006/main">
            <a:r>
              <a:t>Sesión: Prompts, mensajes y contratos</a:t>
            </a:r>
          </a:p>
          <a:p xmlns:a="http://schemas.openxmlformats.org/drawingml/2006/main">
            <a:r>
              <a:t>Archivo: 02-ecosistema-langchain-editable.pptx</a:t>
            </a:r>
          </a:p>
          <a:p xmlns:a="http://schemas.openxmlformats.org/drawingml/2006/main">
            <a:r>
              <a:t>Sección que soporta: §4 y comun/structured.py</a:t>
            </a:r>
          </a:p>
          <a:p xmlns:a="http://schemas.openxmlformats.org/drawingml/2006/main">
            <a:r>
              <a:t>Fuente principal: https://github.com/javierrosado/ariwalab-course-langchain/blob/27c24090f1662f9473b673d2020e7bffee04490b/modulo-1-fundamentos/sesion-02-ecosistema-langchain/README.md</a:t>
            </a:r>
          </a:p>
          <a:p xmlns:a="http://schemas.openxmlformats.org/drawingml/2006/main">
            <a:r>
              <a:t>Contexto adicional: laboratorios, demos y soluciones de modulo-1-fundamentos/sesion-02-ecosistema-langchain; módulos comunes del repositorio.</a:t>
            </a:r>
          </a:p>
          <a:p xmlns:a="http://schemas.openxmlformats.org/drawingml/2006/main">
            <a:r>
              <a:t>Revisión de fuente: 27c24090f1662f9473b673d2020e7bffee04490b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OBJETIVO PEDAGÓGICO</a:t>
            </a:r>
          </a:p>
          <a:p xmlns:a="http://schemas.openxmlformats.org/drawingml/2006/main">
            <a:r>
              <a:t>Tratar una salida mal formada como un fallo esperable del contrato.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CONCEPTO PRINCIPAL</a:t>
            </a:r>
          </a:p>
          <a:p xmlns:a="http://schemas.openxmlformats.org/drawingml/2006/main">
            <a:r>
              <a:t>Salida estructurada y validación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MENSAJE QUE DEBE LLEVARSE EL ALUMNO</a:t>
            </a:r>
          </a:p>
          <a:p xmlns:a="http://schemas.openxmlformats.org/drawingml/2006/main">
            <a:r>
              <a:t>Solicitar estructura y validar estructura son responsabilidades distintas.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EXPLICACIÓN SUGERIDA PARA EL DOCENTE</a:t>
            </a:r>
          </a:p>
          <a:p xmlns:a="http://schemas.openxmlformats.org/drawingml/2006/main">
            <a:r>
              <a:t>Abra con la pregunta «¿Cuántos intentos hay si reintentos=1?». Escuche una respuesta antes de revelar la conclusión. Explique las tres responsabilidades y pida al grupo que señale cuál aporta la evidencia y cuál solo transforma o presenta información.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Esquema: Pydantic define campos y valores válidos.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Modelo: with_structured_output solicita esa estructura.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Validación: El wrapper detecta errores, None o tipos inesperados.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Cierre con la distinción: Solicitar estructura y validar estructura son responsabilidades distintas.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ELEMENTOS QUE CONVIENE EXPLICAR</a:t>
            </a:r>
          </a:p>
          <a:p xmlns:a="http://schemas.openxmlformats.org/drawingml/2006/main">
            <a:r>
              <a:t>Esquema; Modelo; Validación. Las flechas indican progresión o relación según el rótulo; las comparaciones no implican una secuencia de ejecución.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EJEMPLO PRÁCTICO / APLICACIÓN A INDUSTRIA</a:t>
            </a:r>
          </a:p>
          <a:p xmlns:a="http://schemas.openxmlformats.org/drawingml/2006/main">
            <a:r>
              <a:t>Andina Seguros. El clasificador devuelve una categoría fuera del enum.</a:t>
            </a:r>
          </a:p>
          <a:p xmlns:a="http://schemas.openxmlformats.org/drawingml/2006/main">
            <a:r>
              <a:t>Detectar: El contrato rechaza el valor.</a:t>
            </a:r>
          </a:p>
          <a:p xmlns:a="http://schemas.openxmlformats.org/drawingml/2006/main">
            <a:r>
              <a:t>Corregir: El segundo intento recibe la restricción incumplida.</a:t>
            </a:r>
          </a:p>
          <a:p xmlns:a="http://schemas.openxmlformats.org/drawingml/2006/main">
            <a:r>
              <a:t>Cerrar: Si vuelve a fallar, solicitar reformulación sin propagar None.</a:t>
            </a:r>
          </a:p>
          <a:p xmlns:a="http://schemas.openxmlformats.org/drawingml/2006/main">
            <a:r>
              <a:t>Resultado: La recuperación tiene un límite y un resultado de error definido.</a:t>
            </a:r>
          </a:p>
          <a:p xmlns:a="http://schemas.openxmlformats.org/drawingml/2006/main">
            <a:r>
              <a:t>Los casos y datos son didácticos o sintéticos. Las cifras copiadas de una demostración se identifican como tales; no son mediciones producidas al construir la presentación.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 SUGERIDA</a:t>
            </a:r>
          </a:p>
          <a:p xmlns:a="http://schemas.openxmlformats.org/drawingml/2006/main">
            <a:r>
              <a:t>¿Cuántos intentos hay si reintentos=1?</a:t>
            </a:r>
          </a:p>
          <a:p xmlns:a="http://schemas.openxmlformats.org/drawingml/2006/main">
            <a:r>
              <a:t>Orientación para el docente: contraste la respuesta con los criterios del desarrollo y pida evidencia. La conclusión debe respetar: Solicitar estructura y validar estructura son responsabilidades distintas.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ERRORES CONCEPTUALES FRECUENTES</a:t>
            </a:r>
          </a:p>
          <a:p xmlns:a="http://schemas.openxmlformats.org/drawingml/2006/main">
            <a:r>
              <a:t>Interpretar un reintento como intentos ilimitados o garantía de éxito.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ANTERIOR</a:t>
            </a:r>
          </a:p>
          <a:p xmlns:a="http://schemas.openxmlformats.org/drawingml/2006/main">
            <a:r>
              <a:t>S1: primera llamada al modelo · Capítulo previo: Few-shot para desambiguar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POSTERIOR</a:t>
            </a:r>
          </a:p>
          <a:p xmlns:a="http://schemas.openxmlformats.org/drawingml/2006/main">
            <a:r>
              <a:t>S3: argumentos de herramientas; S4: selección de catálogo · Sigue: Medir el clasificador en L2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NOTAS PARA EDITAR Y PRESENTAR</a:t>
            </a:r>
          </a:p>
          <a:p xmlns:a="http://schemas.openxmlformats.org/drawingml/2006/main">
            <a:r>
              <a:t>Textos, contenedores, tablas y conectores son objetos nativos editables. Formato 16:9. El bloque de tres láminas puede revelarse progresivamente. Duración sugerida: 2–4 minutos según conocimientos previos; el conjunto es un banco docente y no prescribe ampliar las horas del curso. Mantenga visibles los límites y no convierta ejemplos en resultados medidos. Fuente tipográfica: DejaVu Sans; si PowerPoint la sustituye, revise los saltos de línea.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DIAPOSITIVA 14 · CAPÍTULO 5 · DESARROLLO</a:t>
            </a:r>
          </a:p>
          <a:p xmlns:a="http://schemas.openxmlformats.org/drawingml/2006/main">
            <a:r>
              <a:t>Título: Recuperación acotada</a:t>
            </a:r>
          </a:p>
          <a:p xmlns:a="http://schemas.openxmlformats.org/drawingml/2006/main">
            <a:r>
              <a:t>Sesión: Prompts, mensajes y contratos</a:t>
            </a:r>
          </a:p>
          <a:p xmlns:a="http://schemas.openxmlformats.org/drawingml/2006/main">
            <a:r>
              <a:t>Archivo: 02-ecosistema-langchain-editable.pptx</a:t>
            </a:r>
          </a:p>
          <a:p xmlns:a="http://schemas.openxmlformats.org/drawingml/2006/main">
            <a:r>
              <a:t>Sección que soporta: §4 y comun/structured.py</a:t>
            </a:r>
          </a:p>
          <a:p xmlns:a="http://schemas.openxmlformats.org/drawingml/2006/main">
            <a:r>
              <a:t>Fuente principal: https://github.com/javierrosado/ariwalab-course-langchain/blob/27c24090f1662f9473b673d2020e7bffee04490b/modulo-1-fundamentos/sesion-02-ecosistema-langchain/README.md</a:t>
            </a:r>
          </a:p>
          <a:p xmlns:a="http://schemas.openxmlformats.org/drawingml/2006/main">
            <a:r>
              <a:t>Contexto adicional: laboratorios, demos y soluciones de modulo-1-fundamentos/sesion-02-ecosistema-langchain; módulos comunes del repositorio.</a:t>
            </a:r>
          </a:p>
          <a:p xmlns:a="http://schemas.openxmlformats.org/drawingml/2006/main">
            <a:r>
              <a:t>Revisión de fuente: 27c24090f1662f9473b673d2020e7bffee04490b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OBJETIVO PEDAGÓGICO</a:t>
            </a:r>
          </a:p>
          <a:p xmlns:a="http://schemas.openxmlformats.org/drawingml/2006/main">
            <a:r>
              <a:t>Tratar una salida mal formada como un fallo esperable del contrato.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CONCEPTO PRINCIPAL</a:t>
            </a:r>
          </a:p>
          <a:p xmlns:a="http://schemas.openxmlformats.org/drawingml/2006/main">
            <a:r>
              <a:t>Salida estructurada y validación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MENSAJE QUE DEBE LLEVARSE EL ALUMNO</a:t>
            </a:r>
          </a:p>
          <a:p xmlns:a="http://schemas.openxmlformats.org/drawingml/2006/main">
            <a:r>
              <a:t>Solicitar estructura y validar estructura son responsabilidades distintas.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EXPLICACIÓN SUGERIDA PARA EL DOCENTE</a:t>
            </a:r>
          </a:p>
          <a:p xmlns:a="http://schemas.openxmlformats.org/drawingml/2006/main">
            <a:r>
              <a:t>Recupere la idea de la diapositiva anterior y aplíquela a estas comprobaciones. Recorra cada fila y pregunte qué evidencia necesitarían para darla por cumplida.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Intento inicial: Solicitar la salida estructurada.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Corrección: Devolver el error y los campos obligatorios; reintentar una vez por defecto.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Fallo explícito: Lanzar ExtraccionFallida si ambos intentos fallan.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Contraste la regla con este error: Interpretar un reintento como intentos ilimitados o garantía de éxito. Pida que expliquen la consecuencia concreta en su propio track.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ELEMENTOS QUE CONVIENE EXPLICAR</a:t>
            </a:r>
          </a:p>
          <a:p xmlns:a="http://schemas.openxmlformats.org/drawingml/2006/main">
            <a:r>
              <a:t>Intento inicial; Corrección; Fallo explícito. Las flechas indican progresión o relación según el rótulo; las comparaciones no implican una secuencia de ejecución.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EJEMPLO PRÁCTICO / APLICACIÓN A INDUSTRIA</a:t>
            </a:r>
          </a:p>
          <a:p xmlns:a="http://schemas.openxmlformats.org/drawingml/2006/main">
            <a:r>
              <a:t>Andina Seguros. El clasificador devuelve una categoría fuera del enum.</a:t>
            </a:r>
          </a:p>
          <a:p xmlns:a="http://schemas.openxmlformats.org/drawingml/2006/main">
            <a:r>
              <a:t>Detectar: El contrato rechaza el valor.</a:t>
            </a:r>
          </a:p>
          <a:p xmlns:a="http://schemas.openxmlformats.org/drawingml/2006/main">
            <a:r>
              <a:t>Corregir: El segundo intento recibe la restricción incumplida.</a:t>
            </a:r>
          </a:p>
          <a:p xmlns:a="http://schemas.openxmlformats.org/drawingml/2006/main">
            <a:r>
              <a:t>Cerrar: Si vuelve a fallar, solicitar reformulación sin propagar None.</a:t>
            </a:r>
          </a:p>
          <a:p xmlns:a="http://schemas.openxmlformats.org/drawingml/2006/main">
            <a:r>
              <a:t>Resultado: La recuperación tiene un límite y un resultado de error definido.</a:t>
            </a:r>
          </a:p>
          <a:p xmlns:a="http://schemas.openxmlformats.org/drawingml/2006/main">
            <a:r>
              <a:t>Los casos y datos son didácticos o sintéticos. Las cifras copiadas de una demostración se identifican como tales; no son mediciones producidas al construir la presentación.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 SUGERIDA</a:t>
            </a:r>
          </a:p>
          <a:p xmlns:a="http://schemas.openxmlformats.org/drawingml/2006/main">
            <a:r>
              <a:t>¿Cuántos intentos hay si reintentos=1?</a:t>
            </a:r>
          </a:p>
          <a:p xmlns:a="http://schemas.openxmlformats.org/drawingml/2006/main">
            <a:r>
              <a:t>Orientación para el docente: contraste la respuesta con los criterios del desarrollo y pida evidencia. La conclusión debe respetar: Solicitar estructura y validar estructura son responsabilidades distintas.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ERRORES CONCEPTUALES FRECUENTES</a:t>
            </a:r>
          </a:p>
          <a:p xmlns:a="http://schemas.openxmlformats.org/drawingml/2006/main">
            <a:r>
              <a:t>Interpretar un reintento como intentos ilimitados o garantía de éxito.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ANTERIOR</a:t>
            </a:r>
          </a:p>
          <a:p xmlns:a="http://schemas.openxmlformats.org/drawingml/2006/main">
            <a:r>
              <a:t>S1: primera llamada al modelo · Capítulo previo: Few-shot para desambiguar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POSTERIOR</a:t>
            </a:r>
          </a:p>
          <a:p xmlns:a="http://schemas.openxmlformats.org/drawingml/2006/main">
            <a:r>
              <a:t>S3: argumentos de herramientas; S4: selección de catálogo · Sigue: Medir el clasificador en L2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NOTAS PARA EDITAR Y PRESENTAR</a:t>
            </a:r>
          </a:p>
          <a:p xmlns:a="http://schemas.openxmlformats.org/drawingml/2006/main">
            <a:r>
              <a:t>Textos, contenedores, tablas y conectores son objetos nativos editables. Formato 16:9. El bloque de tres láminas puede revelarse progresivamente. Duración sugerida: 2–4 minutos según conocimientos previos; el conjunto es un banco docente y no prescribe ampliar las horas del curso. Mantenga visibles los límites y no convierta ejemplos en resultados medidos. Fuente tipográfica: DejaVu Sans; si PowerPoint la sustituye, revise los saltos de línea.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DIAPOSITIVA 15 · CAPÍTULO 5 · EJEMPLO</a:t>
            </a:r>
          </a:p>
          <a:p xmlns:a="http://schemas.openxmlformats.org/drawingml/2006/main">
            <a:r>
              <a:t>Título: Andina Seguros · Salida estructurada y validación</a:t>
            </a:r>
          </a:p>
          <a:p xmlns:a="http://schemas.openxmlformats.org/drawingml/2006/main">
            <a:r>
              <a:t>Sesión: Prompts, mensajes y contratos</a:t>
            </a:r>
          </a:p>
          <a:p xmlns:a="http://schemas.openxmlformats.org/drawingml/2006/main">
            <a:r>
              <a:t>Archivo: 02-ecosistema-langchain-editable.pptx</a:t>
            </a:r>
          </a:p>
          <a:p xmlns:a="http://schemas.openxmlformats.org/drawingml/2006/main">
            <a:r>
              <a:t>Sección que soporta: §4 y comun/structured.py</a:t>
            </a:r>
          </a:p>
          <a:p xmlns:a="http://schemas.openxmlformats.org/drawingml/2006/main">
            <a:r>
              <a:t>Fuente principal: https://github.com/javierrosado/ariwalab-course-langchain/blob/27c24090f1662f9473b673d2020e7bffee04490b/modulo-1-fundamentos/sesion-02-ecosistema-langchain/README.md</a:t>
            </a:r>
          </a:p>
          <a:p xmlns:a="http://schemas.openxmlformats.org/drawingml/2006/main">
            <a:r>
              <a:t>Contexto adicional: laboratorios, demos y soluciones de modulo-1-fundamentos/sesion-02-ecosistema-langchain; módulos comunes del repositorio.</a:t>
            </a:r>
          </a:p>
          <a:p xmlns:a="http://schemas.openxmlformats.org/drawingml/2006/main">
            <a:r>
              <a:t>Revisión de fuente: 27c24090f1662f9473b673d2020e7bffee04490b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OBJETIVO PEDAGÓGICO</a:t>
            </a:r>
          </a:p>
          <a:p xmlns:a="http://schemas.openxmlformats.org/drawingml/2006/main">
            <a:r>
              <a:t>Tratar una salida mal formada como un fallo esperable del contrato.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CONCEPTO PRINCIPAL</a:t>
            </a:r>
          </a:p>
          <a:p xmlns:a="http://schemas.openxmlformats.org/drawingml/2006/main">
            <a:r>
              <a:t>Salida estructurada y validación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MENSAJE QUE DEBE LLEVARSE EL ALUMNO</a:t>
            </a:r>
          </a:p>
          <a:p xmlns:a="http://schemas.openxmlformats.org/drawingml/2006/main">
            <a:r>
              <a:t>Solicitar estructura y validar estructura son responsabilidades distintas.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EXPLICACIÓN SUGERIDA PARA EL DOCENTE</a:t>
            </a:r>
          </a:p>
          <a:p xmlns:a="http://schemas.openxmlformats.org/drawingml/2006/main">
            <a:r>
              <a:t>Plantee el caso antes de mostrar los pasos: El clasificador devuelve una categoría fuera del enum. Pida una predicción.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Detectar: El contrato rechaza el valor.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Corregir: El segundo intento recibe la restricción incumplida.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Cerrar: Si vuelve a fallar, solicitar reformulación sin propagar None.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esperado: La recuperación tiene un límite y un resultado de error definido. Discuta qué parte se observó, qué parte debe comprobarse y qué conclusión sería excesiva. No presente este caso didáctico como una ejecución real medida. Proponga cambiar un dato de entrada y preguntar si se mantiene el razonamiento.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ELEMENTOS QUE CONVIENE EXPLICAR</a:t>
            </a:r>
          </a:p>
          <a:p xmlns:a="http://schemas.openxmlformats.org/drawingml/2006/main">
            <a:r>
              <a:t>Detectar; Corregir; Cerrar. Las flechas indican progresión o relación según el rótulo; las comparaciones no implican una secuencia de ejecución.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EJEMPLO PRÁCTICO / APLICACIÓN A INDUSTRIA</a:t>
            </a:r>
          </a:p>
          <a:p xmlns:a="http://schemas.openxmlformats.org/drawingml/2006/main">
            <a:r>
              <a:t>Andina Seguros. El clasificador devuelve una categoría fuera del enum.</a:t>
            </a:r>
          </a:p>
          <a:p xmlns:a="http://schemas.openxmlformats.org/drawingml/2006/main">
            <a:r>
              <a:t>Detectar: El contrato rechaza el valor.</a:t>
            </a:r>
          </a:p>
          <a:p xmlns:a="http://schemas.openxmlformats.org/drawingml/2006/main">
            <a:r>
              <a:t>Corregir: El segundo intento recibe la restricción incumplida.</a:t>
            </a:r>
          </a:p>
          <a:p xmlns:a="http://schemas.openxmlformats.org/drawingml/2006/main">
            <a:r>
              <a:t>Cerrar: Si vuelve a fallar, solicitar reformulación sin propagar None.</a:t>
            </a:r>
          </a:p>
          <a:p xmlns:a="http://schemas.openxmlformats.org/drawingml/2006/main">
            <a:r>
              <a:t>Resultado: La recuperación tiene un límite y un resultado de error definido.</a:t>
            </a:r>
          </a:p>
          <a:p xmlns:a="http://schemas.openxmlformats.org/drawingml/2006/main">
            <a:r>
              <a:t>Los casos y datos son didácticos o sintéticos. Las cifras copiadas de una demostración se identifican como tales; no son mediciones producidas al construir la presentación.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 SUGERIDA</a:t>
            </a:r>
          </a:p>
          <a:p xmlns:a="http://schemas.openxmlformats.org/drawingml/2006/main">
            <a:r>
              <a:t>¿Cuántos intentos hay si reintentos=1?</a:t>
            </a:r>
          </a:p>
          <a:p xmlns:a="http://schemas.openxmlformats.org/drawingml/2006/main">
            <a:r>
              <a:t>Orientación para el docente: contraste la respuesta con los criterios del desarrollo y pida evidencia. La conclusión debe respetar: Solicitar estructura y validar estructura son responsabilidades distintas.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ERRORES CONCEPTUALES FRECUENTES</a:t>
            </a:r>
          </a:p>
          <a:p xmlns:a="http://schemas.openxmlformats.org/drawingml/2006/main">
            <a:r>
              <a:t>Interpretar un reintento como intentos ilimitados o garantía de éxito.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ANTERIOR</a:t>
            </a:r>
          </a:p>
          <a:p xmlns:a="http://schemas.openxmlformats.org/drawingml/2006/main">
            <a:r>
              <a:t>S1: primera llamada al modelo · Capítulo previo: Few-shot para desambiguar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POSTERIOR</a:t>
            </a:r>
          </a:p>
          <a:p xmlns:a="http://schemas.openxmlformats.org/drawingml/2006/main">
            <a:r>
              <a:t>S3: argumentos de herramientas; S4: selección de catálogo · Sigue: Medir el clasificador en L2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NOTAS PARA EDITAR Y PRESENTAR</a:t>
            </a:r>
          </a:p>
          <a:p xmlns:a="http://schemas.openxmlformats.org/drawingml/2006/main">
            <a:r>
              <a:t>Textos, contenedores, tablas y conectores son objetos nativos editables. Formato 16:9. El bloque de tres láminas puede revelarse progresivamente. Duración sugerida: 3–5 minutos con discusión; el conjunto es un banco docente y no prescribe ampliar las horas del curso. Mantenga visibles los límites y no convierta ejemplos en resultados medidos. Fuente tipográfica: DejaVu Sans; si PowerPoint la sustituye, revise los saltos de línea.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DIAPOSITIVA 16 · CAPÍTULO 6 · CONCEPTO</a:t>
            </a:r>
          </a:p>
          <a:p xmlns:a="http://schemas.openxmlformats.org/drawingml/2006/main">
            <a:r>
              <a:t>Título: Medir el clasificador en L2</a:t>
            </a:r>
          </a:p>
          <a:p xmlns:a="http://schemas.openxmlformats.org/drawingml/2006/main">
            <a:r>
              <a:t>Sesión: Prompts, mensajes y contratos</a:t>
            </a:r>
          </a:p>
          <a:p xmlns:a="http://schemas.openxmlformats.org/drawingml/2006/main">
            <a:r>
              <a:t>Archivo: 02-ecosistema-langchain-editable.pptx</a:t>
            </a:r>
          </a:p>
          <a:p xmlns:a="http://schemas.openxmlformats.org/drawingml/2006/main">
            <a:r>
              <a:t>Sección que soporta: §5 y lab/README.md</a:t>
            </a:r>
          </a:p>
          <a:p xmlns:a="http://schemas.openxmlformats.org/drawingml/2006/main">
            <a:r>
              <a:t>Fuente principal: https://github.com/javierrosado/ariwalab-course-langchain/blob/27c24090f1662f9473b673d2020e7bffee04490b/modulo-1-fundamentos/sesion-02-ecosistema-langchain/README.md</a:t>
            </a:r>
          </a:p>
          <a:p xmlns:a="http://schemas.openxmlformats.org/drawingml/2006/main">
            <a:r>
              <a:t>Contexto adicional: laboratorios, demos y soluciones de modulo-1-fundamentos/sesion-02-ecosistema-langchain; módulos comunes del repositorio.</a:t>
            </a:r>
          </a:p>
          <a:p xmlns:a="http://schemas.openxmlformats.org/drawingml/2006/main">
            <a:r>
              <a:t>Revisión de fuente: 27c24090f1662f9473b673d2020e7bffee04490b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OBJETIVO PEDAGÓGICO</a:t>
            </a:r>
          </a:p>
          <a:p xmlns:a="http://schemas.openxmlformats.org/drawingml/2006/main">
            <a:r>
              <a:t>Evaluar las decisiones sobre casos conocidos y consultas propias.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CONCEPTO PRINCIPAL</a:t>
            </a:r>
          </a:p>
          <a:p xmlns:a="http://schemas.openxmlformats.org/drawingml/2006/main">
            <a:r>
              <a:t>Medir el clasificador en L2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MENSAJE QUE DEBE LLEVARSE EL ALUMNO</a:t>
            </a:r>
          </a:p>
          <a:p xmlns:a="http://schemas.openxmlformats.org/drawingml/2006/main">
            <a:r>
              <a:t>Mide el contrato y la decisión por separado.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EXPLICACIÓN SUGERIDA PARA EL DOCENTE</a:t>
            </a:r>
          </a:p>
          <a:p xmlns:a="http://schemas.openxmlformats.org/drawingml/2006/main">
            <a:r>
              <a:t>Abra con la pregunta «¿Un objeto válido cuenta como clasificación correcta?». Escuche una respuesta antes de revelar la conclusión. Explique las tres responsabilidades y pida al grupo que señale cuál aporta la evidencia y cuál solo transforma o presenta información.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Taxonomía: Las categorías se alinean con las tools del L4.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Dataset: Casos del track permiten medir aciertos y confusiones.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Casos nuevos: Cinco consultas propias exploran límites del clasificador.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Cierre con la distinción: Mide el contrato y la decisión por separado.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ELEMENTOS QUE CONVIENE EXPLICAR</a:t>
            </a:r>
          </a:p>
          <a:p xmlns:a="http://schemas.openxmlformats.org/drawingml/2006/main">
            <a:r>
              <a:t>Taxonomía; Dataset; Casos nuevos. Las flechas indican progresión o relación según el rótulo; las comparaciones no implican una secuencia de ejecución.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EJEMPLO PRÁCTICO / APLICACIÓN A INDUSTRIA</a:t>
            </a:r>
          </a:p>
          <a:p xmlns:a="http://schemas.openxmlformats.org/drawingml/2006/main">
            <a:r>
              <a:t>AndesMóvil. El clasificador confunde consulta de plan y consulta de consumo.</a:t>
            </a:r>
          </a:p>
          <a:p xmlns:a="http://schemas.openxmlformats.org/drawingml/2006/main">
            <a:r>
              <a:t>Revisar: Separar esas filas en el resultado.</a:t>
            </a:r>
          </a:p>
          <a:p xmlns:a="http://schemas.openxmlformats.org/drawingml/2006/main">
            <a:r>
              <a:t>Modificar: Agregar ejemplos que distingan plan contratado y datos usados.</a:t>
            </a:r>
          </a:p>
          <a:p xmlns:a="http://schemas.openxmlformats.org/drawingml/2006/main">
            <a:r>
              <a:t>Repetir: Medir sobre el mismo conjunto y conservar evidencia.</a:t>
            </a:r>
          </a:p>
          <a:p xmlns:a="http://schemas.openxmlformats.org/drawingml/2006/main">
            <a:r>
              <a:t>Resultado: La mejora debe verse en casos comparables, no en una única pregunta favorable.</a:t>
            </a:r>
          </a:p>
          <a:p xmlns:a="http://schemas.openxmlformats.org/drawingml/2006/main">
            <a:r>
              <a:t>Los casos y datos son didácticos o sintéticos. Las cifras copiadas de una demostración se identifican como tales; no son mediciones producidas al construir la presentación.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 SUGERIDA</a:t>
            </a:r>
          </a:p>
          <a:p xmlns:a="http://schemas.openxmlformats.org/drawingml/2006/main">
            <a:r>
              <a:t>¿Un objeto válido cuenta como clasificación correcta?</a:t>
            </a:r>
          </a:p>
          <a:p xmlns:a="http://schemas.openxmlformats.org/drawingml/2006/main">
            <a:r>
              <a:t>Orientación para el docente: contraste la respuesta con los criterios del desarrollo y pida evidencia. La conclusión debe respetar: Mide el contrato y la decisión por separado.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ERRORES CONCEPTUALES FRECUENTES</a:t>
            </a:r>
          </a:p>
          <a:p xmlns:a="http://schemas.openxmlformats.org/drawingml/2006/main">
            <a:r>
              <a:t>Ocultar errores de validación dentro de un único porcentaje.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ANTERIOR</a:t>
            </a:r>
          </a:p>
          <a:p xmlns:a="http://schemas.openxmlformats.org/drawingml/2006/main">
            <a:r>
              <a:t>S1: primera llamada al modelo · Capítulo previo: Salida estructurada y validación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POSTERIOR</a:t>
            </a:r>
          </a:p>
          <a:p xmlns:a="http://schemas.openxmlformats.org/drawingml/2006/main">
            <a:r>
              <a:t>S3: argumentos de herramientas; S4: selección de catálogo · Sigue: Puente hacia herramientas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NOTAS PARA EDITAR Y PRESENTAR</a:t>
            </a:r>
          </a:p>
          <a:p xmlns:a="http://schemas.openxmlformats.org/drawingml/2006/main">
            <a:r>
              <a:t>Textos, contenedores, tablas y conectores son objetos nativos editables. Formato 16:9. El bloque de tres láminas puede revelarse progresivamente. Duración sugerida: 2–4 minutos según conocimientos previos; el conjunto es un banco docente y no prescribe ampliar las horas del curso. Mantenga visibles los límites y no convierta ejemplos en resultados medidos. Fuente tipográfica: DejaVu Sans; si PowerPoint la sustituye, revise los saltos de línea.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DIAPOSITIVA 17 · CAPÍTULO 6 · DESARROLLO</a:t>
            </a:r>
          </a:p>
          <a:p xmlns:a="http://schemas.openxmlformats.org/drawingml/2006/main">
            <a:r>
              <a:t>Título: Leer más que un porcentaje</a:t>
            </a:r>
          </a:p>
          <a:p xmlns:a="http://schemas.openxmlformats.org/drawingml/2006/main">
            <a:r>
              <a:t>Sesión: Prompts, mensajes y contratos</a:t>
            </a:r>
          </a:p>
          <a:p xmlns:a="http://schemas.openxmlformats.org/drawingml/2006/main">
            <a:r>
              <a:t>Archivo: 02-ecosistema-langchain-editable.pptx</a:t>
            </a:r>
          </a:p>
          <a:p xmlns:a="http://schemas.openxmlformats.org/drawingml/2006/main">
            <a:r>
              <a:t>Sección que soporta: §5 y lab/README.md</a:t>
            </a:r>
          </a:p>
          <a:p xmlns:a="http://schemas.openxmlformats.org/drawingml/2006/main">
            <a:r>
              <a:t>Fuente principal: https://github.com/javierrosado/ariwalab-course-langchain/blob/27c24090f1662f9473b673d2020e7bffee04490b/modulo-1-fundamentos/sesion-02-ecosistema-langchain/README.md</a:t>
            </a:r>
          </a:p>
          <a:p xmlns:a="http://schemas.openxmlformats.org/drawingml/2006/main">
            <a:r>
              <a:t>Contexto adicional: laboratorios, demos y soluciones de modulo-1-fundamentos/sesion-02-ecosistema-langchain; módulos comunes del repositorio.</a:t>
            </a:r>
          </a:p>
          <a:p xmlns:a="http://schemas.openxmlformats.org/drawingml/2006/main">
            <a:r>
              <a:t>Revisión de fuente: 27c24090f1662f9473b673d2020e7bffee04490b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OBJETIVO PEDAGÓGICO</a:t>
            </a:r>
          </a:p>
          <a:p xmlns:a="http://schemas.openxmlformats.org/drawingml/2006/main">
            <a:r>
              <a:t>Evaluar las decisiones sobre casos conocidos y consultas propias.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CONCEPTO PRINCIPAL</a:t>
            </a:r>
          </a:p>
          <a:p xmlns:a="http://schemas.openxmlformats.org/drawingml/2006/main">
            <a:r>
              <a:t>Medir el clasificador en L2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MENSAJE QUE DEBE LLEVARSE EL ALUMNO</a:t>
            </a:r>
          </a:p>
          <a:p xmlns:a="http://schemas.openxmlformats.org/drawingml/2006/main">
            <a:r>
              <a:t>Mide el contrato y la decisión por separado.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EXPLICACIÓN SUGERIDA PARA EL DOCENTE</a:t>
            </a:r>
          </a:p>
          <a:p xmlns:a="http://schemas.openxmlformats.org/drawingml/2006/main">
            <a:r>
              <a:t>Recupere la idea de la diapositiva anterior y aplíquela a estas comprobaciones. Recorra cada fila y pregunte qué evidencia necesitarían para darla por cumplida.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Error de contrato: La salida no pudo validarse.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Error de categoría: El objeto es válido, pero la intención es incorrecta.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Análisis: Agrupar confusiones antes de cambiar prompt o ejemplos.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Contraste la regla con este error: Ocultar errores de validación dentro de un único porcentaje. Pida que expliquen la consecuencia concreta en su propio track.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ELEMENTOS QUE CONVIENE EXPLICAR</a:t>
            </a:r>
          </a:p>
          <a:p xmlns:a="http://schemas.openxmlformats.org/drawingml/2006/main">
            <a:r>
              <a:t>Error de contrato; Error de categoría; Análisis. Las flechas indican progresión o relación según el rótulo; las comparaciones no implican una secuencia de ejecución.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EJEMPLO PRÁCTICO / APLICACIÓN A INDUSTRIA</a:t>
            </a:r>
          </a:p>
          <a:p xmlns:a="http://schemas.openxmlformats.org/drawingml/2006/main">
            <a:r>
              <a:t>AndesMóvil. El clasificador confunde consulta de plan y consulta de consumo.</a:t>
            </a:r>
          </a:p>
          <a:p xmlns:a="http://schemas.openxmlformats.org/drawingml/2006/main">
            <a:r>
              <a:t>Revisar: Separar esas filas en el resultado.</a:t>
            </a:r>
          </a:p>
          <a:p xmlns:a="http://schemas.openxmlformats.org/drawingml/2006/main">
            <a:r>
              <a:t>Modificar: Agregar ejemplos que distingan plan contratado y datos usados.</a:t>
            </a:r>
          </a:p>
          <a:p xmlns:a="http://schemas.openxmlformats.org/drawingml/2006/main">
            <a:r>
              <a:t>Repetir: Medir sobre el mismo conjunto y conservar evidencia.</a:t>
            </a:r>
          </a:p>
          <a:p xmlns:a="http://schemas.openxmlformats.org/drawingml/2006/main">
            <a:r>
              <a:t>Resultado: La mejora debe verse en casos comparables, no en una única pregunta favorable.</a:t>
            </a:r>
          </a:p>
          <a:p xmlns:a="http://schemas.openxmlformats.org/drawingml/2006/main">
            <a:r>
              <a:t>Los casos y datos son didácticos o sintéticos. Las cifras copiadas de una demostración se identifican como tales; no son mediciones producidas al construir la presentación.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 SUGERIDA</a:t>
            </a:r>
          </a:p>
          <a:p xmlns:a="http://schemas.openxmlformats.org/drawingml/2006/main">
            <a:r>
              <a:t>¿Un objeto válido cuenta como clasificación correcta?</a:t>
            </a:r>
          </a:p>
          <a:p xmlns:a="http://schemas.openxmlformats.org/drawingml/2006/main">
            <a:r>
              <a:t>Orientación para el docente: contraste la respuesta con los criterios del desarrollo y pida evidencia. La conclusión debe respetar: Mide el contrato y la decisión por separado.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ERRORES CONCEPTUALES FRECUENTES</a:t>
            </a:r>
          </a:p>
          <a:p xmlns:a="http://schemas.openxmlformats.org/drawingml/2006/main">
            <a:r>
              <a:t>Ocultar errores de validación dentro de un único porcentaje.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ANTERIOR</a:t>
            </a:r>
          </a:p>
          <a:p xmlns:a="http://schemas.openxmlformats.org/drawingml/2006/main">
            <a:r>
              <a:t>S1: primera llamada al modelo · Capítulo previo: Salida estructurada y validación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POSTERIOR</a:t>
            </a:r>
          </a:p>
          <a:p xmlns:a="http://schemas.openxmlformats.org/drawingml/2006/main">
            <a:r>
              <a:t>S3: argumentos de herramientas; S4: selección de catálogo · Sigue: Puente hacia herramientas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NOTAS PARA EDITAR Y PRESENTAR</a:t>
            </a:r>
          </a:p>
          <a:p xmlns:a="http://schemas.openxmlformats.org/drawingml/2006/main">
            <a:r>
              <a:t>Textos, contenedores, tablas y conectores son objetos nativos editables. Formato 16:9. El bloque de tres láminas puede revelarse progresivamente. Duración sugerida: 2–4 minutos según conocimientos previos; el conjunto es un banco docente y no prescribe ampliar las horas del curso. Mantenga visibles los límites y no convierta ejemplos en resultados medidos. Fuente tipográfica: DejaVu Sans; si PowerPoint la sustituye, revise los saltos de línea.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DIAPOSITIVA 18 · CAPÍTULO 6 · EJEMPLO</a:t>
            </a:r>
          </a:p>
          <a:p xmlns:a="http://schemas.openxmlformats.org/drawingml/2006/main">
            <a:r>
              <a:t>Título: AndesMóvil · Medir el clasificador en L2</a:t>
            </a:r>
          </a:p>
          <a:p xmlns:a="http://schemas.openxmlformats.org/drawingml/2006/main">
            <a:r>
              <a:t>Sesión: Prompts, mensajes y contratos</a:t>
            </a:r>
          </a:p>
          <a:p xmlns:a="http://schemas.openxmlformats.org/drawingml/2006/main">
            <a:r>
              <a:t>Archivo: 02-ecosistema-langchain-editable.pptx</a:t>
            </a:r>
          </a:p>
          <a:p xmlns:a="http://schemas.openxmlformats.org/drawingml/2006/main">
            <a:r>
              <a:t>Sección que soporta: §5 y lab/README.md</a:t>
            </a:r>
          </a:p>
          <a:p xmlns:a="http://schemas.openxmlformats.org/drawingml/2006/main">
            <a:r>
              <a:t>Fuente principal: https://github.com/javierrosado/ariwalab-course-langchain/blob/27c24090f1662f9473b673d2020e7bffee04490b/modulo-1-fundamentos/sesion-02-ecosistema-langchain/README.md</a:t>
            </a:r>
          </a:p>
          <a:p xmlns:a="http://schemas.openxmlformats.org/drawingml/2006/main">
            <a:r>
              <a:t>Contexto adicional: laboratorios, demos y soluciones de modulo-1-fundamentos/sesion-02-ecosistema-langchain; módulos comunes del repositorio.</a:t>
            </a:r>
          </a:p>
          <a:p xmlns:a="http://schemas.openxmlformats.org/drawingml/2006/main">
            <a:r>
              <a:t>Revisión de fuente: 27c24090f1662f9473b673d2020e7bffee04490b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OBJETIVO PEDAGÓGICO</a:t>
            </a:r>
          </a:p>
          <a:p xmlns:a="http://schemas.openxmlformats.org/drawingml/2006/main">
            <a:r>
              <a:t>Evaluar las decisiones sobre casos conocidos y consultas propias.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CONCEPTO PRINCIPAL</a:t>
            </a:r>
          </a:p>
          <a:p xmlns:a="http://schemas.openxmlformats.org/drawingml/2006/main">
            <a:r>
              <a:t>Medir el clasificador en L2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MENSAJE QUE DEBE LLEVARSE EL ALUMNO</a:t>
            </a:r>
          </a:p>
          <a:p xmlns:a="http://schemas.openxmlformats.org/drawingml/2006/main">
            <a:r>
              <a:t>Mide el contrato y la decisión por separado.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EXPLICACIÓN SUGERIDA PARA EL DOCENTE</a:t>
            </a:r>
          </a:p>
          <a:p xmlns:a="http://schemas.openxmlformats.org/drawingml/2006/main">
            <a:r>
              <a:t>Plantee el caso antes de mostrar los pasos: El clasificador confunde consulta de plan y consulta de consumo. Pida una predicción.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Revisar: Separar esas filas en el resultado.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Modificar: Agregar ejemplos que distingan plan contratado y datos usados.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Repetir: Medir sobre el mismo conjunto y conservar evidencia.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esperado: La mejora debe verse en casos comparables, no en una única pregunta favorable. Discuta qué parte se observó, qué parte debe comprobarse y qué conclusión sería excesiva. No presente este caso didáctico como una ejecución real medida. Proponga cambiar un dato de entrada y preguntar si se mantiene el razonamiento.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ELEMENTOS QUE CONVIENE EXPLICAR</a:t>
            </a:r>
          </a:p>
          <a:p xmlns:a="http://schemas.openxmlformats.org/drawingml/2006/main">
            <a:r>
              <a:t>Revisar; Modificar; Repetir. Las flechas indican progresión o relación según el rótulo; las comparaciones no implican una secuencia de ejecución.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EJEMPLO PRÁCTICO / APLICACIÓN A INDUSTRIA</a:t>
            </a:r>
          </a:p>
          <a:p xmlns:a="http://schemas.openxmlformats.org/drawingml/2006/main">
            <a:r>
              <a:t>AndesMóvil. El clasificador confunde consulta de plan y consulta de consumo.</a:t>
            </a:r>
          </a:p>
          <a:p xmlns:a="http://schemas.openxmlformats.org/drawingml/2006/main">
            <a:r>
              <a:t>Revisar: Separar esas filas en el resultado.</a:t>
            </a:r>
          </a:p>
          <a:p xmlns:a="http://schemas.openxmlformats.org/drawingml/2006/main">
            <a:r>
              <a:t>Modificar: Agregar ejemplos que distingan plan contratado y datos usados.</a:t>
            </a:r>
          </a:p>
          <a:p xmlns:a="http://schemas.openxmlformats.org/drawingml/2006/main">
            <a:r>
              <a:t>Repetir: Medir sobre el mismo conjunto y conservar evidencia.</a:t>
            </a:r>
          </a:p>
          <a:p xmlns:a="http://schemas.openxmlformats.org/drawingml/2006/main">
            <a:r>
              <a:t>Resultado: La mejora debe verse en casos comparables, no en una única pregunta favorable.</a:t>
            </a:r>
          </a:p>
          <a:p xmlns:a="http://schemas.openxmlformats.org/drawingml/2006/main">
            <a:r>
              <a:t>Los casos y datos son didácticos o sintéticos. Las cifras copiadas de una demostración se identifican como tales; no son mediciones producidas al construir la presentación.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 SUGERIDA</a:t>
            </a:r>
          </a:p>
          <a:p xmlns:a="http://schemas.openxmlformats.org/drawingml/2006/main">
            <a:r>
              <a:t>¿Un objeto válido cuenta como clasificación correcta?</a:t>
            </a:r>
          </a:p>
          <a:p xmlns:a="http://schemas.openxmlformats.org/drawingml/2006/main">
            <a:r>
              <a:t>Orientación para el docente: contraste la respuesta con los criterios del desarrollo y pida evidencia. La conclusión debe respetar: Mide el contrato y la decisión por separado.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ERRORES CONCEPTUALES FRECUENTES</a:t>
            </a:r>
          </a:p>
          <a:p xmlns:a="http://schemas.openxmlformats.org/drawingml/2006/main">
            <a:r>
              <a:t>Ocultar errores de validación dentro de un único porcentaje.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ANTERIOR</a:t>
            </a:r>
          </a:p>
          <a:p xmlns:a="http://schemas.openxmlformats.org/drawingml/2006/main">
            <a:r>
              <a:t>S1: primera llamada al modelo · Capítulo previo: Salida estructurada y validación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POSTERIOR</a:t>
            </a:r>
          </a:p>
          <a:p xmlns:a="http://schemas.openxmlformats.org/drawingml/2006/main">
            <a:r>
              <a:t>S3: argumentos de herramientas; S4: selección de catálogo · Sigue: Puente hacia herramientas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NOTAS PARA EDITAR Y PRESENTAR</a:t>
            </a:r>
          </a:p>
          <a:p xmlns:a="http://schemas.openxmlformats.org/drawingml/2006/main">
            <a:r>
              <a:t>Textos, contenedores, tablas y conectores son objetos nativos editables. Formato 16:9. El bloque de tres láminas puede revelarse progresivamente. Duración sugerida: 3–5 minutos con discusión; el conjunto es un banco docente y no prescribe ampliar las horas del curso. Mantenga visibles los límites y no convierta ejemplos en resultados medidos. Fuente tipográfica: DejaVu Sans; si PowerPoint la sustituye, revise los saltos de línea.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DIAPOSITIVA 19 · CAPÍTULO 7 · CONCEPTO</a:t>
            </a:r>
          </a:p>
          <a:p xmlns:a="http://schemas.openxmlformats.org/drawingml/2006/main">
            <a:r>
              <a:t>Título: Puente hacia herramientas</a:t>
            </a:r>
          </a:p>
          <a:p xmlns:a="http://schemas.openxmlformats.org/drawingml/2006/main">
            <a:r>
              <a:t>Sesión: Prompts, mensajes y contratos</a:t>
            </a:r>
          </a:p>
          <a:p xmlns:a="http://schemas.openxmlformats.org/drawingml/2006/main">
            <a:r>
              <a:t>Archivo: 02-ecosistema-langchain-editable.pptx</a:t>
            </a:r>
          </a:p>
          <a:p xmlns:a="http://schemas.openxmlformats.org/drawingml/2006/main">
            <a:r>
              <a:t>Sección que soporta: Qué NO entra hoy y conexión L3/L4</a:t>
            </a:r>
          </a:p>
          <a:p xmlns:a="http://schemas.openxmlformats.org/drawingml/2006/main">
            <a:r>
              <a:t>Fuente principal: https://github.com/javierrosado/ariwalab-course-langchain/blob/27c24090f1662f9473b673d2020e7bffee04490b/modulo-1-fundamentos/sesion-02-ecosistema-langchain/README.md</a:t>
            </a:r>
          </a:p>
          <a:p xmlns:a="http://schemas.openxmlformats.org/drawingml/2006/main">
            <a:r>
              <a:t>Contexto adicional: laboratorios, demos y soluciones de modulo-1-fundamentos/sesion-02-ecosistema-langchain; módulos comunes del repositorio.</a:t>
            </a:r>
          </a:p>
          <a:p xmlns:a="http://schemas.openxmlformats.org/drawingml/2006/main">
            <a:r>
              <a:t>Revisión de fuente: 27c24090f1662f9473b673d2020e7bffee04490b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OBJETIVO PEDAGÓGICO</a:t>
            </a:r>
          </a:p>
          <a:p xmlns:a="http://schemas.openxmlformats.org/drawingml/2006/main">
            <a:r>
              <a:t>Explicar qué reutiliza la próxima sesión y qué capacidad todavía falta.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CONCEPTO PRINCIPAL</a:t>
            </a:r>
          </a:p>
          <a:p xmlns:a="http://schemas.openxmlformats.org/drawingml/2006/main">
            <a:r>
              <a:t>Puente hacia herramientas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MENSAJE QUE DEBE LLEVARSE EL ALUMNO</a:t>
            </a:r>
          </a:p>
          <a:p xmlns:a="http://schemas.openxmlformats.org/drawingml/2006/main">
            <a:r>
              <a:t>Clasificar, consultar y autorizar son decisiones diferentes.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EXPLICACIÓN SUGERIDA PARA EL DOCENTE</a:t>
            </a:r>
          </a:p>
          <a:p xmlns:a="http://schemas.openxmlformats.org/drawingml/2006/main">
            <a:r>
              <a:t>Abra con la pregunta «¿Qué dos comprobaciones faltan entre una intención y una operación externa?». Escuche una respuesta antes de revelar la conclusión. Explique las tres responsabilidades y pida al grupo que señale cuál aporta la evidencia y cuál solo transforma o presenta información.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S2: Comprende intención y valida estructura.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S3: Usa esquemas como argumentos de una herramienta externa.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S4: Decide entre varias herramientas del catálogo.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Cierre con la distinción: Clasificar, consultar y autorizar son decisiones diferentes.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ELEMENTOS QUE CONVIENE EXPLICAR</a:t>
            </a:r>
          </a:p>
          <a:p xmlns:a="http://schemas.openxmlformats.org/drawingml/2006/main">
            <a:r>
              <a:t>S2; S3; S4. Las flechas indican progresión o relación según el rótulo; las comparaciones no implican una secuencia de ejecución.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EJEMPLO PRÁCTICO / APLICACIÓN A INDUSTRIA</a:t>
            </a:r>
          </a:p>
          <a:p xmlns:a="http://schemas.openxmlformats.org/drawingml/2006/main">
            <a:r>
              <a:t>Banco Inti. El clasificador reconoce una consulta de saldo.</a:t>
            </a:r>
          </a:p>
          <a:p xmlns:a="http://schemas.openxmlformats.org/drawingml/2006/main">
            <a:r>
              <a:t>Ahora: Devuelve la categoría permitida.</a:t>
            </a:r>
          </a:p>
          <a:p xmlns:a="http://schemas.openxmlformats.org/drawingml/2006/main">
            <a:r>
              <a:t>Después: Una tool consultará get_account_balance.</a:t>
            </a:r>
          </a:p>
          <a:p xmlns:a="http://schemas.openxmlformats.org/drawingml/2006/main">
            <a:r>
              <a:t>Límite: Reconocer saldo no autoriza una transferencia.</a:t>
            </a:r>
          </a:p>
          <a:p xmlns:a="http://schemas.openxmlformats.org/drawingml/2006/main">
            <a:r>
              <a:t>Resultado: El contrato prepara la acción, pero no la ejecuta.</a:t>
            </a:r>
          </a:p>
          <a:p xmlns:a="http://schemas.openxmlformats.org/drawingml/2006/main">
            <a:r>
              <a:t>Los casos y datos son didácticos o sintéticos. Las cifras copiadas de una demostración se identifican como tales; no son mediciones producidas al construir la presentación.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 SUGERIDA</a:t>
            </a:r>
          </a:p>
          <a:p xmlns:a="http://schemas.openxmlformats.org/drawingml/2006/main">
            <a:r>
              <a:t>¿Qué dos comprobaciones faltan entre una intención y una operación externa?</a:t>
            </a:r>
          </a:p>
          <a:p xmlns:a="http://schemas.openxmlformats.org/drawingml/2006/main">
            <a:r>
              <a:t>Orientación para el docente: contraste la respuesta con los criterios del desarrollo y pida evidencia. La conclusión debe respetar: Clasificar, consultar y autorizar son decisiones diferentes.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ERRORES CONCEPTUALES FRECUENTES</a:t>
            </a:r>
          </a:p>
          <a:p xmlns:a="http://schemas.openxmlformats.org/drawingml/2006/main">
            <a:r>
              <a:t>Presentar el clasificador como agente con tools ya implementadas.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ANTERIOR</a:t>
            </a:r>
          </a:p>
          <a:p xmlns:a="http://schemas.openxmlformats.org/drawingml/2006/main">
            <a:r>
              <a:t>S1: primera llamada al modelo · Capítulo previo: Medir el clasificador en L2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POSTERIOR</a:t>
            </a:r>
          </a:p>
          <a:p xmlns:a="http://schemas.openxmlformats.org/drawingml/2006/main">
            <a:r>
              <a:t>S3: argumentos de herramientas; S4: selección de catálogo.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NOTAS PARA EDITAR Y PRESENTAR</a:t>
            </a:r>
          </a:p>
          <a:p xmlns:a="http://schemas.openxmlformats.org/drawingml/2006/main">
            <a:r>
              <a:t>Textos, contenedores, tablas y conectores son objetos nativos editables. Formato 16:9. El bloque de tres láminas puede revelarse progresivamente. Duración sugerida: 2–4 minutos según conocimientos previos; el conjunto es un banco docente y no prescribe ampliar las horas del curso. Mantenga visibles los límites y no convierta ejemplos en resultados medidos. Fuente tipográfica: DejaVu Sans; si PowerPoint la sustituye, revise los saltos de línea.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DIAPOSITIVA 20 · CAPÍTULO 7 · DESARROLLO</a:t>
            </a:r>
          </a:p>
          <a:p xmlns:a="http://schemas.openxmlformats.org/drawingml/2006/main">
            <a:r>
              <a:t>Título: De categoría a acción controlada</a:t>
            </a:r>
          </a:p>
          <a:p xmlns:a="http://schemas.openxmlformats.org/drawingml/2006/main">
            <a:r>
              <a:t>Sesión: Prompts, mensajes y contratos</a:t>
            </a:r>
          </a:p>
          <a:p xmlns:a="http://schemas.openxmlformats.org/drawingml/2006/main">
            <a:r>
              <a:t>Archivo: 02-ecosistema-langchain-editable.pptx</a:t>
            </a:r>
          </a:p>
          <a:p xmlns:a="http://schemas.openxmlformats.org/drawingml/2006/main">
            <a:r>
              <a:t>Sección que soporta: Qué NO entra hoy y conexión L3/L4</a:t>
            </a:r>
          </a:p>
          <a:p xmlns:a="http://schemas.openxmlformats.org/drawingml/2006/main">
            <a:r>
              <a:t>Fuente principal: https://github.com/javierrosado/ariwalab-course-langchain/blob/27c24090f1662f9473b673d2020e7bffee04490b/modulo-1-fundamentos/sesion-02-ecosistema-langchain/README.md</a:t>
            </a:r>
          </a:p>
          <a:p xmlns:a="http://schemas.openxmlformats.org/drawingml/2006/main">
            <a:r>
              <a:t>Contexto adicional: laboratorios, demos y soluciones de modulo-1-fundamentos/sesion-02-ecosistema-langchain; módulos comunes del repositorio.</a:t>
            </a:r>
          </a:p>
          <a:p xmlns:a="http://schemas.openxmlformats.org/drawingml/2006/main">
            <a:r>
              <a:t>Revisión de fuente: 27c24090f1662f9473b673d2020e7bffee04490b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OBJETIVO PEDAGÓGICO</a:t>
            </a:r>
          </a:p>
          <a:p xmlns:a="http://schemas.openxmlformats.org/drawingml/2006/main">
            <a:r>
              <a:t>Explicar qué reutiliza la próxima sesión y qué capacidad todavía falta.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CONCEPTO PRINCIPAL</a:t>
            </a:r>
          </a:p>
          <a:p xmlns:a="http://schemas.openxmlformats.org/drawingml/2006/main">
            <a:r>
              <a:t>Puente hacia herramientas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MENSAJE QUE DEBE LLEVARSE EL ALUMNO</a:t>
            </a:r>
          </a:p>
          <a:p xmlns:a="http://schemas.openxmlformats.org/drawingml/2006/main">
            <a:r>
              <a:t>Clasificar, consultar y autorizar son decisiones diferentes.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EXPLICACIÓN SUGERIDA PARA EL DOCENTE</a:t>
            </a:r>
          </a:p>
          <a:p xmlns:a="http://schemas.openxmlformats.org/drawingml/2006/main">
            <a:r>
              <a:t>Recupere la idea de la diapositiva anterior y aplíquela a estas comprobaciones. Recorra cada fila y pregunte qué evidencia necesitarían para darla por cumplida.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Interpretación: Identificar la tarea y sus datos necesarios.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Contrato: Validar argumentos de entrada a la capacidad.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Ejecución: La aplicación realizará la llamada y manejará sus errores.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Contraste la regla con este error: Presentar el clasificador como agente con tools ya implementadas. Pida que expliquen la consecuencia concreta en su propio track.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ELEMENTOS QUE CONVIENE EXPLICAR</a:t>
            </a:r>
          </a:p>
          <a:p xmlns:a="http://schemas.openxmlformats.org/drawingml/2006/main">
            <a:r>
              <a:t>Interpretación; Contrato; Ejecución. Las flechas indican progresión o relación según el rótulo; las comparaciones no implican una secuencia de ejecución.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EJEMPLO PRÁCTICO / APLICACIÓN A INDUSTRIA</a:t>
            </a:r>
          </a:p>
          <a:p xmlns:a="http://schemas.openxmlformats.org/drawingml/2006/main">
            <a:r>
              <a:t>Banco Inti. El clasificador reconoce una consulta de saldo.</a:t>
            </a:r>
          </a:p>
          <a:p xmlns:a="http://schemas.openxmlformats.org/drawingml/2006/main">
            <a:r>
              <a:t>Ahora: Devuelve la categoría permitida.</a:t>
            </a:r>
          </a:p>
          <a:p xmlns:a="http://schemas.openxmlformats.org/drawingml/2006/main">
            <a:r>
              <a:t>Después: Una tool consultará get_account_balance.</a:t>
            </a:r>
          </a:p>
          <a:p xmlns:a="http://schemas.openxmlformats.org/drawingml/2006/main">
            <a:r>
              <a:t>Límite: Reconocer saldo no autoriza una transferencia.</a:t>
            </a:r>
          </a:p>
          <a:p xmlns:a="http://schemas.openxmlformats.org/drawingml/2006/main">
            <a:r>
              <a:t>Resultado: El contrato prepara la acción, pero no la ejecuta.</a:t>
            </a:r>
          </a:p>
          <a:p xmlns:a="http://schemas.openxmlformats.org/drawingml/2006/main">
            <a:r>
              <a:t>Los casos y datos son didácticos o sintéticos. Las cifras copiadas de una demostración se identifican como tales; no son mediciones producidas al construir la presentación.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 SUGERIDA</a:t>
            </a:r>
          </a:p>
          <a:p xmlns:a="http://schemas.openxmlformats.org/drawingml/2006/main">
            <a:r>
              <a:t>¿Qué dos comprobaciones faltan entre una intención y una operación externa?</a:t>
            </a:r>
          </a:p>
          <a:p xmlns:a="http://schemas.openxmlformats.org/drawingml/2006/main">
            <a:r>
              <a:t>Orientación para el docente: contraste la respuesta con los criterios del desarrollo y pida evidencia. La conclusión debe respetar: Clasificar, consultar y autorizar son decisiones diferentes.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ERRORES CONCEPTUALES FRECUENTES</a:t>
            </a:r>
          </a:p>
          <a:p xmlns:a="http://schemas.openxmlformats.org/drawingml/2006/main">
            <a:r>
              <a:t>Presentar el clasificador como agente con tools ya implementadas.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ANTERIOR</a:t>
            </a:r>
          </a:p>
          <a:p xmlns:a="http://schemas.openxmlformats.org/drawingml/2006/main">
            <a:r>
              <a:t>S1: primera llamada al modelo · Capítulo previo: Medir el clasificador en L2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POSTERIOR</a:t>
            </a:r>
          </a:p>
          <a:p xmlns:a="http://schemas.openxmlformats.org/drawingml/2006/main">
            <a:r>
              <a:t>S3: argumentos de herramientas; S4: selección de catálogo.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NOTAS PARA EDITAR Y PRESENTAR</a:t>
            </a:r>
          </a:p>
          <a:p xmlns:a="http://schemas.openxmlformats.org/drawingml/2006/main">
            <a:r>
              <a:t>Textos, contenedores, tablas y conectores son objetos nativos editables. Formato 16:9. El bloque de tres láminas puede revelarse progresivamente. Duración sugerida: 2–4 minutos según conocimientos previos; el conjunto es un banco docente y no prescribe ampliar las horas del curso. Mantenga visibles los límites y no convierta ejemplos en resultados medidos. Fuente tipográfica: DejaVu Sans; si PowerPoint la sustituye, revise los saltos de línea.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DIAPOSITIVA 21 · CAPÍTULO 7 · EJEMPLO</a:t>
            </a:r>
          </a:p>
          <a:p xmlns:a="http://schemas.openxmlformats.org/drawingml/2006/main">
            <a:r>
              <a:t>Título: Banco Inti · Puente hacia herramientas</a:t>
            </a:r>
          </a:p>
          <a:p xmlns:a="http://schemas.openxmlformats.org/drawingml/2006/main">
            <a:r>
              <a:t>Sesión: Prompts, mensajes y contratos</a:t>
            </a:r>
          </a:p>
          <a:p xmlns:a="http://schemas.openxmlformats.org/drawingml/2006/main">
            <a:r>
              <a:t>Archivo: 02-ecosistema-langchain-editable.pptx</a:t>
            </a:r>
          </a:p>
          <a:p xmlns:a="http://schemas.openxmlformats.org/drawingml/2006/main">
            <a:r>
              <a:t>Sección que soporta: Qué NO entra hoy y conexión L3/L4</a:t>
            </a:r>
          </a:p>
          <a:p xmlns:a="http://schemas.openxmlformats.org/drawingml/2006/main">
            <a:r>
              <a:t>Fuente principal: https://github.com/javierrosado/ariwalab-course-langchain/blob/27c24090f1662f9473b673d2020e7bffee04490b/modulo-1-fundamentos/sesion-02-ecosistema-langchain/README.md</a:t>
            </a:r>
          </a:p>
          <a:p xmlns:a="http://schemas.openxmlformats.org/drawingml/2006/main">
            <a:r>
              <a:t>Contexto adicional: laboratorios, demos y soluciones de modulo-1-fundamentos/sesion-02-ecosistema-langchain; módulos comunes del repositorio.</a:t>
            </a:r>
          </a:p>
          <a:p xmlns:a="http://schemas.openxmlformats.org/drawingml/2006/main">
            <a:r>
              <a:t>Revisión de fuente: 27c24090f1662f9473b673d2020e7bffee04490b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OBJETIVO PEDAGÓGICO</a:t>
            </a:r>
          </a:p>
          <a:p xmlns:a="http://schemas.openxmlformats.org/drawingml/2006/main">
            <a:r>
              <a:t>Explicar qué reutiliza la próxima sesión y qué capacidad todavía falta.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CONCEPTO PRINCIPAL</a:t>
            </a:r>
          </a:p>
          <a:p xmlns:a="http://schemas.openxmlformats.org/drawingml/2006/main">
            <a:r>
              <a:t>Puente hacia herramientas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MENSAJE QUE DEBE LLEVARSE EL ALUMNO</a:t>
            </a:r>
          </a:p>
          <a:p xmlns:a="http://schemas.openxmlformats.org/drawingml/2006/main">
            <a:r>
              <a:t>Clasificar, consultar y autorizar son decisiones diferentes.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EXPLICACIÓN SUGERIDA PARA EL DOCENTE</a:t>
            </a:r>
          </a:p>
          <a:p xmlns:a="http://schemas.openxmlformats.org/drawingml/2006/main">
            <a:r>
              <a:t>Plantee el caso antes de mostrar los pasos: El clasificador reconoce una consulta de saldo. Pida una predicción.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Ahora: Devuelve la categoría permitida.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Después: Una tool consultará get_account_balance.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Límite: Reconocer saldo no autoriza una transferencia.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esperado: El contrato prepara la acción, pero no la ejecuta. Discuta qué parte se observó, qué parte debe comprobarse y qué conclusión sería excesiva. No presente este caso didáctico como una ejecución real medida. Proponga cambiar un dato de entrada y preguntar si se mantiene el razonamiento.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ELEMENTOS QUE CONVIENE EXPLICAR</a:t>
            </a:r>
          </a:p>
          <a:p xmlns:a="http://schemas.openxmlformats.org/drawingml/2006/main">
            <a:r>
              <a:t>Ahora; Después; Límite. Las flechas indican progresión o relación según el rótulo; las comparaciones no implican una secuencia de ejecución.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EJEMPLO PRÁCTICO / APLICACIÓN A INDUSTRIA</a:t>
            </a:r>
          </a:p>
          <a:p xmlns:a="http://schemas.openxmlformats.org/drawingml/2006/main">
            <a:r>
              <a:t>Banco Inti. El clasificador reconoce una consulta de saldo.</a:t>
            </a:r>
          </a:p>
          <a:p xmlns:a="http://schemas.openxmlformats.org/drawingml/2006/main">
            <a:r>
              <a:t>Ahora: Devuelve la categoría permitida.</a:t>
            </a:r>
          </a:p>
          <a:p xmlns:a="http://schemas.openxmlformats.org/drawingml/2006/main">
            <a:r>
              <a:t>Después: Una tool consultará get_account_balance.</a:t>
            </a:r>
          </a:p>
          <a:p xmlns:a="http://schemas.openxmlformats.org/drawingml/2006/main">
            <a:r>
              <a:t>Límite: Reconocer saldo no autoriza una transferencia.</a:t>
            </a:r>
          </a:p>
          <a:p xmlns:a="http://schemas.openxmlformats.org/drawingml/2006/main">
            <a:r>
              <a:t>Resultado: El contrato prepara la acción, pero no la ejecuta.</a:t>
            </a:r>
          </a:p>
          <a:p xmlns:a="http://schemas.openxmlformats.org/drawingml/2006/main">
            <a:r>
              <a:t>Los casos y datos son didácticos o sintéticos. Las cifras copiadas de una demostración se identifican como tales; no son mediciones producidas al construir la presentación.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 SUGERIDA</a:t>
            </a:r>
          </a:p>
          <a:p xmlns:a="http://schemas.openxmlformats.org/drawingml/2006/main">
            <a:r>
              <a:t>¿Qué dos comprobaciones faltan entre una intención y una operación externa?</a:t>
            </a:r>
          </a:p>
          <a:p xmlns:a="http://schemas.openxmlformats.org/drawingml/2006/main">
            <a:r>
              <a:t>Orientación para el docente: contraste la respuesta con los criterios del desarrollo y pida evidencia. La conclusión debe respetar: Clasificar, consultar y autorizar son decisiones diferentes.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ERRORES CONCEPTUALES FRECUENTES</a:t>
            </a:r>
          </a:p>
          <a:p xmlns:a="http://schemas.openxmlformats.org/drawingml/2006/main">
            <a:r>
              <a:t>Presentar el clasificador como agente con tools ya implementadas.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ANTERIOR</a:t>
            </a:r>
          </a:p>
          <a:p xmlns:a="http://schemas.openxmlformats.org/drawingml/2006/main">
            <a:r>
              <a:t>S1: primera llamada al modelo · Capítulo previo: Medir el clasificador en L2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CONEXIÓN POSTERIOR</a:t>
            </a:r>
          </a:p>
          <a:p xmlns:a="http://schemas.openxmlformats.org/drawingml/2006/main">
            <a:r>
              <a:t>S3: argumentos de herramientas; S4: selección de catálogo.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NOTAS PARA EDITAR Y PRESENTAR</a:t>
            </a:r>
          </a:p>
          <a:p xmlns:a="http://schemas.openxmlformats.org/drawingml/2006/main">
            <a:r>
              <a:t>Textos, contenedores, tablas y conectores son objetos nativos editables. Formato 16:9. El bloque de tres láminas puede revelarse progresivamente. Duración sugerida: 3–5 minutos con discusión; el conjunto es un banco docente y no prescribe ampliar las horas del curso. Mantenga visibles los límites y no convierta ejemplos en resultados medidos. Fuente tipográfica: DejaVu Sans; si PowerPoint la sustituye, revise los saltos de línea.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017c8c4b2f747a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7cb4cf00b574203" /><Relationship Type="http://schemas.openxmlformats.org/officeDocument/2006/relationships/slideLayout" Target="/ppt/slideLayouts/slideLayout1.xml" Id="R254c8eb92abf459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54c8eb92abf459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21ade81994438b" /><Relationship Type="http://schemas.openxmlformats.org/officeDocument/2006/relationships/notesSlide" Target="/ppt/notesSlides/notesSlide1.xml" Id="R62c813dd3fd74e6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411422f8224222" /><Relationship Type="http://schemas.openxmlformats.org/officeDocument/2006/relationships/notesSlide" Target="/ppt/notesSlides/notesSlide2.xml" Id="R7fd3b6625cf141d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0b3d125af9479c" /><Relationship Type="http://schemas.openxmlformats.org/officeDocument/2006/relationships/notesSlide" Target="/ppt/notesSlides/notesSlide3.xml" Id="Rfcb39ceddb894ab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0478c777234836" /><Relationship Type="http://schemas.openxmlformats.org/officeDocument/2006/relationships/notesSlide" Target="/ppt/notesSlides/notesSlide4.xml" Id="R9f34449e1ef3416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0dca88b29246b0" /><Relationship Type="http://schemas.openxmlformats.org/officeDocument/2006/relationships/notesSlide" Target="/ppt/notesSlides/notesSlide5.xml" Id="Rbecc865b374c4a3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d67a2d2ad649cc" /><Relationship Type="http://schemas.openxmlformats.org/officeDocument/2006/relationships/notesSlide" Target="/ppt/notesSlides/notesSlide6.xml" Id="R45d937715aae47e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494576d81345c7" /><Relationship Type="http://schemas.openxmlformats.org/officeDocument/2006/relationships/notesSlide" Target="/ppt/notesSlides/notesSlide7.xml" Id="Rb5745fb678d940b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f57feb52634202" /><Relationship Type="http://schemas.openxmlformats.org/officeDocument/2006/relationships/notesSlide" Target="/ppt/notesSlides/notesSlide8.xml" Id="R40cdd220776c4e8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b16634fe784822" /><Relationship Type="http://schemas.openxmlformats.org/officeDocument/2006/relationships/notesSlide" Target="/ppt/notesSlides/notesSlide9.xml" Id="R44b2164ff9e64aa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a56aa8b43b44bc" /><Relationship Type="http://schemas.openxmlformats.org/officeDocument/2006/relationships/notesSlide" Target="/ppt/notesSlides/notesSlide10.xml" Id="R641be205010441d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eeb095883f4de0" /><Relationship Type="http://schemas.openxmlformats.org/officeDocument/2006/relationships/notesSlide" Target="/ppt/notesSlides/notesSlide11.xml" Id="Rf12f1cd8f9104be3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5e8d20d42a4480" /><Relationship Type="http://schemas.openxmlformats.org/officeDocument/2006/relationships/notesSlide" Target="/ppt/notesSlides/notesSlide12.xml" Id="R7daaa32d6853492c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1d66ec86b84dd4" /><Relationship Type="http://schemas.openxmlformats.org/officeDocument/2006/relationships/notesSlide" Target="/ppt/notesSlides/notesSlide13.xml" Id="Rf249bf049bd04a69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3dd4c17e8747b5" /><Relationship Type="http://schemas.openxmlformats.org/officeDocument/2006/relationships/notesSlide" Target="/ppt/notesSlides/notesSlide14.xml" Id="Rd3e3d3297f11466f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c59048385d4fa2" /><Relationship Type="http://schemas.openxmlformats.org/officeDocument/2006/relationships/notesSlide" Target="/ppt/notesSlides/notesSlide15.xml" Id="Rbe15b89ea0ff422b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0cd7b8092340ad" /><Relationship Type="http://schemas.openxmlformats.org/officeDocument/2006/relationships/notesSlide" Target="/ppt/notesSlides/notesSlide16.xml" Id="Rff495cafad0f41a2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a068d028d34e61" /><Relationship Type="http://schemas.openxmlformats.org/officeDocument/2006/relationships/notesSlide" Target="/ppt/notesSlides/notesSlide17.xml" Id="Rb65c0e6274a24ac6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aafeb312ed4054" /><Relationship Type="http://schemas.openxmlformats.org/officeDocument/2006/relationships/notesSlide" Target="/ppt/notesSlides/notesSlide18.xml" Id="R707e3d06a376484b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2d985ecaec43ed" /><Relationship Type="http://schemas.openxmlformats.org/officeDocument/2006/relationships/notesSlide" Target="/ppt/notesSlides/notesSlide19.xml" Id="R0b889a017939498c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c89464bea04186" /><Relationship Type="http://schemas.openxmlformats.org/officeDocument/2006/relationships/notesSlide" Target="/ppt/notesSlides/notesSlide20.xml" Id="R895fa6d936b94101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56d2ac999e44f0" /><Relationship Type="http://schemas.openxmlformats.org/officeDocument/2006/relationships/notesSlide" Target="/ppt/notesSlides/notesSlide21.xml" Id="Rf0ae0f13c33142b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4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header">
            <a:extLst xmlns:a="http://schemas.openxmlformats.org/drawingml/2006/main">
              <a:ext uri="{FF2B5EF4-FFF2-40B4-BE49-F238E27FC236}">
                <a16:creationId xmlns:a16="http://schemas.microsoft.com/office/drawing/2014/main" id="{2250ECB7-94D3-4F6F-9AC7-9E7A47276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47650"/>
            <a:ext cx="14706600" cy="1057275"/>
          </a:xfrm>
          <a:prstGeom xmlns:a="http://schemas.openxmlformats.org/drawingml/2006/main" prst="roundRect">
            <a:avLst>
              <a:gd name="adj" fmla="val 1801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300382-CA0E-4AB8-8B09-E0979D5A7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3" name="step-number">
            <a:extLst xmlns:a="http://schemas.openxmlformats.org/drawingml/2006/main">
              <a:ext uri="{FF2B5EF4-FFF2-40B4-BE49-F238E27FC236}">
                <a16:creationId xmlns:a16="http://schemas.microsoft.com/office/drawing/2014/main" id="{E1111D11-A88D-4C80-8030-65AAF0984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5905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1</a:t>
            </a:r>
          </a:p>
        </p:txBody>
      </p:sp>
      <p:sp>
        <p:nvSpPr>
          <p:cNvPr id="4" name="breadcrumb">
            <a:extLst xmlns:a="http://schemas.openxmlformats.org/drawingml/2006/main">
              <a:ext uri="{FF2B5EF4-FFF2-40B4-BE49-F238E27FC236}">
                <a16:creationId xmlns:a16="http://schemas.microsoft.com/office/drawing/2014/main" id="{F8696924-EC38-4948-A05B-AB4921535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400050"/>
            <a:ext cx="1228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rPr>
              <a:t>02 · Prompts, mensajes y contratos / CAPÍTULO 1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078DFAF-CB02-4522-9F1D-5ECEBB129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714375"/>
            <a:ext cx="1314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Del primer llamado al primer contrato</a:t>
            </a:r>
          </a:p>
        </p:txBody>
      </p:sp>
      <p:sp>
        <p:nvSpPr>
          <p:cNvPr id="6" name="learning-purpose">
            <a:extLst xmlns:a="http://schemas.openxmlformats.org/drawingml/2006/main">
              <a:ext uri="{FF2B5EF4-FFF2-40B4-BE49-F238E27FC236}">
                <a16:creationId xmlns:a16="http://schemas.microsoft.com/office/drawing/2014/main" id="{97A88F78-556F-469C-9A88-C1BB23D1D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14475"/>
            <a:ext cx="141351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Pasar de texto libre a una salida que la aplicación puede validar y consumir.</a:t>
            </a:r>
          </a:p>
        </p:txBody>
      </p:sp>
      <p:sp>
        <p:nvSpPr>
          <p:cNvPr id="7" name="panel">
            <a:extLst xmlns:a="http://schemas.openxmlformats.org/drawingml/2006/main">
              <a:ext uri="{FF2B5EF4-FFF2-40B4-BE49-F238E27FC236}">
                <a16:creationId xmlns:a16="http://schemas.microsoft.com/office/drawing/2014/main" id="{F6F12D3A-5B9B-4371-BF6C-55F748B35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8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7C27487A-5422-4D3B-848D-04E28C7D6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1 · CONCEPTO</a:t>
            </a:r>
          </a:p>
        </p:txBody>
      </p:sp>
      <p:sp>
        <p:nvSpPr>
          <p:cNvPr id="9" name="panel">
            <a:extLst xmlns:a="http://schemas.openxmlformats.org/drawingml/2006/main">
              <a:ext uri="{FF2B5EF4-FFF2-40B4-BE49-F238E27FC236}">
                <a16:creationId xmlns:a16="http://schemas.microsoft.com/office/drawing/2014/main" id="{9724E996-42C2-415C-B961-52036BF93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91925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10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8388908E-5C27-4A1C-97B6-90260F10D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8600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2 · DESARROLLO</a:t>
            </a:r>
          </a:p>
        </p:txBody>
      </p:sp>
      <p:sp>
        <p:nvSpPr>
          <p:cNvPr id="11" name="panel">
            <a:extLst xmlns:a="http://schemas.openxmlformats.org/drawingml/2006/main">
              <a:ext uri="{FF2B5EF4-FFF2-40B4-BE49-F238E27FC236}">
                <a16:creationId xmlns:a16="http://schemas.microsoft.com/office/drawing/2014/main" id="{996F14B2-F6F5-4350-9DD1-E7AAE74C3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8260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12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092522DE-35F2-4418-B129-412FE75DC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4927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3 · EJEMPLO</a:t>
            </a:r>
          </a:p>
        </p:txBody>
      </p:sp>
      <p:sp>
        <p:nvSpPr>
          <p:cNvPr id="13" name="footer">
            <a:extLst xmlns:a="http://schemas.openxmlformats.org/drawingml/2006/main">
              <a:ext uri="{FF2B5EF4-FFF2-40B4-BE49-F238E27FC236}">
                <a16:creationId xmlns:a16="http://schemas.microsoft.com/office/drawing/2014/main" id="{5793DA79-AC1F-4A40-A99C-7B4D38747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277225"/>
            <a:ext cx="1190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AriwaLabs · 02 / C01</a:t>
            </a:r>
          </a:p>
        </p:txBody>
      </p:sp>
      <p:sp>
        <p:nvSpPr>
          <p:cNvPr id="14" name="folio">
            <a:extLst xmlns:a="http://schemas.openxmlformats.org/drawingml/2006/main">
              <a:ext uri="{FF2B5EF4-FFF2-40B4-BE49-F238E27FC236}">
                <a16:creationId xmlns:a16="http://schemas.microsoft.com/office/drawing/2014/main" id="{A58A2ECD-6B81-4A73-985B-ADAE9F4A4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258175"/>
            <a:ext cx="781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1</a:t>
            </a:r>
          </a:p>
        </p:txBody>
      </p:sp>
      <p:sp>
        <p:nvSpPr>
          <p:cNvPr id="15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29351D52-1164-4296-B9FC-13B44051E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81225"/>
            <a:ext cx="1333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SEGUIR LA RELACIÓN ENTRE LAS PIEZAS</a:t>
            </a:r>
          </a:p>
        </p:txBody>
      </p:sp>
      <p:sp>
        <p:nvSpPr>
          <p:cNvPr id="16" name="concept-node">
            <a:extLst xmlns:a="http://schemas.openxmlformats.org/drawingml/2006/main">
              <a:ext uri="{FF2B5EF4-FFF2-40B4-BE49-F238E27FC236}">
                <a16:creationId xmlns:a16="http://schemas.microsoft.com/office/drawing/2014/main" id="{89848D11-A643-40CC-97D9-BA220FBF4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0"/>
            <a:ext cx="4381500" cy="291465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ED8E3"/>
            </a:solidFill>
          </a:ln>
        </p:spPr>
      </p:sp>
      <p:sp>
        <p:nvSpPr>
          <p:cNvPr id="17" name="node-top-rule">
            <a:extLst xmlns:a="http://schemas.openxmlformats.org/drawingml/2006/main">
              <a:ext uri="{FF2B5EF4-FFF2-40B4-BE49-F238E27FC236}">
                <a16:creationId xmlns:a16="http://schemas.microsoft.com/office/drawing/2014/main" id="{A3D02CD4-78D7-48BA-B7BC-91266CF66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676525"/>
            <a:ext cx="43624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C519649-896B-410C-A078-C438E1898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051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19" name="step-number">
            <a:extLst xmlns:a="http://schemas.openxmlformats.org/drawingml/2006/main">
              <a:ext uri="{FF2B5EF4-FFF2-40B4-BE49-F238E27FC236}">
                <a16:creationId xmlns:a16="http://schemas.microsoft.com/office/drawing/2014/main" id="{59071590-10DD-4E68-B9C9-FAED4C254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81325"/>
            <a:ext cx="45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1</a:t>
            </a:r>
          </a:p>
        </p:txBody>
      </p:sp>
      <p:sp>
        <p:nvSpPr>
          <p:cNvPr id="20" name="node-heading">
            <a:extLst xmlns:a="http://schemas.openxmlformats.org/drawingml/2006/main">
              <a:ext uri="{FF2B5EF4-FFF2-40B4-BE49-F238E27FC236}">
                <a16:creationId xmlns:a16="http://schemas.microsoft.com/office/drawing/2014/main" id="{030BC732-A4E0-4FE7-8A09-3C6B2DE7E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905125"/>
            <a:ext cx="33337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Entrada</a:t>
            </a:r>
          </a:p>
        </p:txBody>
      </p:sp>
      <p:sp>
        <p:nvSpPr>
          <p:cNvPr id="21" name="node-body">
            <a:extLst xmlns:a="http://schemas.openxmlformats.org/drawingml/2006/main">
              <a:ext uri="{FF2B5EF4-FFF2-40B4-BE49-F238E27FC236}">
                <a16:creationId xmlns:a16="http://schemas.microsoft.com/office/drawing/2014/main" id="{F95BEB57-E0D9-4062-9B51-EE8DFCC0D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838575"/>
            <a:ext cx="3905250" cy="1609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Consulta del cliente</a:t>
            </a:r>
          </a:p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expresada en lenguaje</a:t>
            </a:r>
          </a:p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natural.</a:t>
            </a:r>
          </a:p>
        </p:txBody>
      </p:sp>
      <p:sp>
        <p:nvSpPr>
          <p:cNvPr id="22" name="concept-node">
            <a:extLst xmlns:a="http://schemas.openxmlformats.org/drawingml/2006/main">
              <a:ext uri="{FF2B5EF4-FFF2-40B4-BE49-F238E27FC236}">
                <a16:creationId xmlns:a16="http://schemas.microsoft.com/office/drawing/2014/main" id="{93CB0DB0-C56E-4717-AAD6-AC8FF0D39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667000"/>
            <a:ext cx="4381500" cy="291465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0EB"/>
          </a:solidFill>
          <a:ln xmlns:a="http://schemas.openxmlformats.org/drawingml/2006/main" w="14288">
            <a:solidFill>
              <a:srgbClr val="FF5733"/>
            </a:solidFill>
          </a:ln>
        </p:spPr>
      </p:sp>
      <p:sp>
        <p:nvSpPr>
          <p:cNvPr id="23" name="node-top-rule">
            <a:extLst xmlns:a="http://schemas.openxmlformats.org/drawingml/2006/main">
              <a:ext uri="{FF2B5EF4-FFF2-40B4-BE49-F238E27FC236}">
                <a16:creationId xmlns:a16="http://schemas.microsoft.com/office/drawing/2014/main" id="{5B438FC9-CC85-4E3A-B50B-AA2C0EE08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775" y="2676525"/>
            <a:ext cx="43624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180C5BB-B8D1-4C4C-93E3-2D76F3B9C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9051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25" name="step-number">
            <a:extLst xmlns:a="http://schemas.openxmlformats.org/drawingml/2006/main">
              <a:ext uri="{FF2B5EF4-FFF2-40B4-BE49-F238E27FC236}">
                <a16:creationId xmlns:a16="http://schemas.microsoft.com/office/drawing/2014/main" id="{2CC9AE88-9888-4471-A303-00582E9F6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981325"/>
            <a:ext cx="45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2</a:t>
            </a:r>
          </a:p>
        </p:txBody>
      </p:sp>
      <p:sp>
        <p:nvSpPr>
          <p:cNvPr id="26" name="node-heading">
            <a:extLst xmlns:a="http://schemas.openxmlformats.org/drawingml/2006/main">
              <a:ext uri="{FF2B5EF4-FFF2-40B4-BE49-F238E27FC236}">
                <a16:creationId xmlns:a16="http://schemas.microsoft.com/office/drawing/2014/main" id="{66337F98-B335-44CE-A238-23EC36EFA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905125"/>
            <a:ext cx="33337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Contrato</a:t>
            </a:r>
          </a:p>
        </p:txBody>
      </p:sp>
      <p:sp>
        <p:nvSpPr>
          <p:cNvPr id="27" name="node-body">
            <a:extLst xmlns:a="http://schemas.openxmlformats.org/drawingml/2006/main">
              <a:ext uri="{FF2B5EF4-FFF2-40B4-BE49-F238E27FC236}">
                <a16:creationId xmlns:a16="http://schemas.microsoft.com/office/drawing/2014/main" id="{60B45AD7-8A92-4399-925F-A41AF91CE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3838575"/>
            <a:ext cx="3905250" cy="1609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Campos, tipos y categorías</a:t>
            </a:r>
          </a:p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esperados por la aplicación.</a:t>
            </a:r>
          </a:p>
        </p:txBody>
      </p:sp>
      <p:sp>
        <p:nvSpPr>
          <p:cNvPr id="28" name="concept-node">
            <a:extLst xmlns:a="http://schemas.openxmlformats.org/drawingml/2006/main">
              <a:ext uri="{FF2B5EF4-FFF2-40B4-BE49-F238E27FC236}">
                <a16:creationId xmlns:a16="http://schemas.microsoft.com/office/drawing/2014/main" id="{E1B020AE-B18D-4A66-8E8A-8E8C2CAFF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667000"/>
            <a:ext cx="4381500" cy="291465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ED8E3"/>
            </a:solidFill>
          </a:ln>
        </p:spPr>
      </p:sp>
      <p:sp>
        <p:nvSpPr>
          <p:cNvPr id="29" name="node-top-rule">
            <a:extLst xmlns:a="http://schemas.openxmlformats.org/drawingml/2006/main">
              <a:ext uri="{FF2B5EF4-FFF2-40B4-BE49-F238E27FC236}">
                <a16:creationId xmlns:a16="http://schemas.microsoft.com/office/drawing/2014/main" id="{A150DE0A-B3C1-4076-98B6-95286CBD6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2676525"/>
            <a:ext cx="43624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E65B35F-D026-47D3-9059-001F21ED9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29051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31" name="step-number">
            <a:extLst xmlns:a="http://schemas.openxmlformats.org/drawingml/2006/main">
              <a:ext uri="{FF2B5EF4-FFF2-40B4-BE49-F238E27FC236}">
                <a16:creationId xmlns:a16="http://schemas.microsoft.com/office/drawing/2014/main" id="{93364745-31F4-4884-A6BF-62ECB7DAD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2981325"/>
            <a:ext cx="45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3</a:t>
            </a:r>
          </a:p>
        </p:txBody>
      </p:sp>
      <p:sp>
        <p:nvSpPr>
          <p:cNvPr id="32" name="node-heading">
            <a:extLst xmlns:a="http://schemas.openxmlformats.org/drawingml/2006/main">
              <a:ext uri="{FF2B5EF4-FFF2-40B4-BE49-F238E27FC236}">
                <a16:creationId xmlns:a16="http://schemas.microsoft.com/office/drawing/2014/main" id="{D302D54F-92D6-4D94-8A88-E7222B023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2905125"/>
            <a:ext cx="33337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Resultado</a:t>
            </a:r>
          </a:p>
        </p:txBody>
      </p:sp>
      <p:sp>
        <p:nvSpPr>
          <p:cNvPr id="33" name="node-body">
            <a:extLst xmlns:a="http://schemas.openxmlformats.org/drawingml/2006/main">
              <a:ext uri="{FF2B5EF4-FFF2-40B4-BE49-F238E27FC236}">
                <a16:creationId xmlns:a16="http://schemas.microsoft.com/office/drawing/2014/main" id="{A7E4CF27-6B23-4602-96E4-F6A82B888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3838575"/>
            <a:ext cx="3905250" cy="1609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Objeto validado o fallo</a:t>
            </a:r>
          </a:p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explícito recuperable.</a:t>
            </a:r>
          </a:p>
        </p:txBody>
      </p:sp>
      <p:cxnSp>
        <p:nvCxnSpPr>
          <p:cNvPr id="77" name=""/>
          <p:cNvCxnSpPr>
            <a:stCxn xmlns:a="http://schemas.openxmlformats.org/drawingml/2006/main" id="16" idx="3"/>
            <a:endCxn xmlns:a="http://schemas.openxmlformats.org/drawingml/2006/main" id="22" idx="1"/>
          </p:cNvCxnSpPr>
          <p:nvPr/>
        </p:nvCxnSpPr>
        <p:spPr>
          <a:xfrm xmlns:a="http://schemas.openxmlformats.org/drawingml/2006/main">
            <a:off x="4953000" y="4124325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E293B"/>
            </a:solidFill>
            <a:tailEnd type="triangle" w="med" len="med"/>
          </a:ln>
        </p:spPr>
      </p:cxnSp>
      <p:cxnSp>
        <p:nvCxnSpPr>
          <p:cNvPr id="78" name=""/>
          <p:cNvCxnSpPr>
            <a:stCxn xmlns:a="http://schemas.openxmlformats.org/drawingml/2006/main" id="22" idx="3"/>
            <a:endCxn xmlns:a="http://schemas.openxmlformats.org/drawingml/2006/main" id="28" idx="1"/>
          </p:cNvCxnSpPr>
          <p:nvPr/>
        </p:nvCxnSpPr>
        <p:spPr>
          <a:xfrm xmlns:a="http://schemas.openxmlformats.org/drawingml/2006/main">
            <a:off x="9810750" y="4124325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E293B"/>
            </a:solidFill>
            <a:tailEnd type="triangle" w="med" len="med"/>
          </a:ln>
        </p:spPr>
      </p:cxnSp>
      <p:sp>
        <p:nvSpPr>
          <p:cNvPr id="36" name="panel">
            <a:extLst xmlns:a="http://schemas.openxmlformats.org/drawingml/2006/main">
              <a:ext uri="{FF2B5EF4-FFF2-40B4-BE49-F238E27FC236}">
                <a16:creationId xmlns:a16="http://schemas.microsoft.com/office/drawing/2014/main" id="{0CAA61D1-10A1-49A0-98A6-DA37F59D8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05500"/>
            <a:ext cx="9048750" cy="1362075"/>
          </a:xfrm>
          <a:prstGeom xmlns:a="http://schemas.openxmlformats.org/drawingml/2006/main" prst="roundRect">
            <a:avLst>
              <a:gd name="adj" fmla="val 11189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37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F85D08B6-08F8-4612-90AA-51C209ECB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057900"/>
            <a:ext cx="1333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PREGUNTA PARA ACTIVAR EL CONCEPTO</a:t>
            </a:r>
          </a:p>
        </p:txBody>
      </p:sp>
      <p:sp>
        <p:nvSpPr>
          <p:cNvPr id="38" name="concept-question">
            <a:extLst xmlns:a="http://schemas.openxmlformats.org/drawingml/2006/main">
              <a:ext uri="{FF2B5EF4-FFF2-40B4-BE49-F238E27FC236}">
                <a16:creationId xmlns:a16="http://schemas.microsoft.com/office/drawing/2014/main" id="{17C30C66-5081-4A7C-BE32-84BC74736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362700"/>
            <a:ext cx="86296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¿Por qué un párrafo bien redactado puede ser inútil para el</a:t>
            </a:r>
          </a:p>
          <a:p xmlns:a="http://schemas.openxmlformats.org/drawingml/2006/main">
            <a:pPr algn="l">
              <a:def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consumidor?</a:t>
            </a:r>
          </a:p>
        </p:txBody>
      </p:sp>
      <p:sp>
        <p:nvSpPr>
          <p:cNvPr id="39" name="panel">
            <a:extLst xmlns:a="http://schemas.openxmlformats.org/drawingml/2006/main">
              <a:ext uri="{FF2B5EF4-FFF2-40B4-BE49-F238E27FC236}">
                <a16:creationId xmlns:a16="http://schemas.microsoft.com/office/drawing/2014/main" id="{5EEBC982-F472-473F-806A-CB097961F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5905500"/>
            <a:ext cx="4762500" cy="1362075"/>
          </a:xfrm>
          <a:prstGeom xmlns:a="http://schemas.openxmlformats.org/drawingml/2006/main" prst="roundRect">
            <a:avLst>
              <a:gd name="adj" fmla="val 11189"/>
            </a:avLst>
          </a:prstGeom>
          <a:solidFill xmlns:a="http://schemas.openxmlformats.org/drawingml/2006/main">
            <a:srgbClr val="FFF0EB"/>
          </a:solidFill>
          <a:ln xmlns:a="http://schemas.openxmlformats.org/drawingml/2006/main" w="0">
            <a:noFill/>
          </a:ln>
        </p:spPr>
      </p:sp>
      <p:sp>
        <p:nvSpPr>
          <p:cNvPr id="40" name="misconception-label">
            <a:extLst xmlns:a="http://schemas.openxmlformats.org/drawingml/2006/main">
              <a:ext uri="{FF2B5EF4-FFF2-40B4-BE49-F238E27FC236}">
                <a16:creationId xmlns:a16="http://schemas.microsoft.com/office/drawing/2014/main" id="{10020299-F671-4529-8D6C-5C606A624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6057900"/>
            <a:ext cx="43148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5733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FF5733"/>
                </a:solidFill>
                <a:latin typeface="DejaVu Sans"/>
                <a:ea typeface="DejaVu Sans"/>
                <a:cs typeface="DejaVu Sans"/>
              </a:rPr>
              <a:t>EVITAR ESTA CONFUSIÓN</a:t>
            </a:r>
          </a:p>
        </p:txBody>
      </p:sp>
      <p:sp>
        <p:nvSpPr>
          <p:cNvPr id="41" name="misconception">
            <a:extLst xmlns:a="http://schemas.openxmlformats.org/drawingml/2006/main">
              <a:ext uri="{FF2B5EF4-FFF2-40B4-BE49-F238E27FC236}">
                <a16:creationId xmlns:a16="http://schemas.microsoft.com/office/drawing/2014/main" id="{A7A22BC7-8A5D-4A49-8FA5-FF288E5AC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6372225"/>
            <a:ext cx="43148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Considerar suficiente que la salida</a:t>
            </a:r>
          </a:p>
          <a:p xmlns:a="http://schemas.openxmlformats.org/drawingml/2006/main">
            <a:pPr algn="l">
              <a:defRPr sz="165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parezca JSON.</a:t>
            </a:r>
          </a:p>
        </p:txBody>
      </p:sp>
      <p:sp>
        <p:nvSpPr>
          <p:cNvPr id="42" name="panel">
            <a:extLst xmlns:a="http://schemas.openxmlformats.org/drawingml/2006/main">
              <a:ext uri="{FF2B5EF4-FFF2-40B4-BE49-F238E27FC236}">
                <a16:creationId xmlns:a16="http://schemas.microsoft.com/office/drawing/2014/main" id="{68A5E17F-8451-48EE-9386-3537583B2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467600"/>
            <a:ext cx="14287500" cy="695325"/>
          </a:xfrm>
          <a:prstGeom xmlns:a="http://schemas.openxmlformats.org/drawingml/2006/main" prst="roundRect">
            <a:avLst>
              <a:gd name="adj" fmla="val 1917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43" name="takeaway">
            <a:extLst xmlns:a="http://schemas.openxmlformats.org/drawingml/2006/main">
              <a:ext uri="{FF2B5EF4-FFF2-40B4-BE49-F238E27FC236}">
                <a16:creationId xmlns:a16="http://schemas.microsoft.com/office/drawing/2014/main" id="{B49391BD-4F4B-4B09-9848-223922944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7639050"/>
            <a:ext cx="1381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Un contrato explícito hace visible el error antes de actuar.</a:t>
            </a:r>
          </a:p>
        </p:txBody>
      </p:sp>
    </p:spTree>
    <p:extLst>
      <p:ext uri="{BB962C8B-B14F-4D97-AF65-F5344CB8AC3E}">
        <p14:creationId xmlns:p14="http://schemas.microsoft.com/office/powerpoint/2010/main" val="61301629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header">
            <a:extLst xmlns:a="http://schemas.openxmlformats.org/drawingml/2006/main">
              <a:ext uri="{FF2B5EF4-FFF2-40B4-BE49-F238E27FC236}">
                <a16:creationId xmlns:a16="http://schemas.microsoft.com/office/drawing/2014/main" id="{DE092D82-28B3-4786-95B3-F482E8DBF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47650"/>
            <a:ext cx="14706600" cy="1057275"/>
          </a:xfrm>
          <a:prstGeom xmlns:a="http://schemas.openxmlformats.org/drawingml/2006/main" prst="roundRect">
            <a:avLst>
              <a:gd name="adj" fmla="val 1801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CBDD0B-739A-4DAF-BBB4-E5796FF39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3" name="step-number">
            <a:extLst xmlns:a="http://schemas.openxmlformats.org/drawingml/2006/main">
              <a:ext uri="{FF2B5EF4-FFF2-40B4-BE49-F238E27FC236}">
                <a16:creationId xmlns:a16="http://schemas.microsoft.com/office/drawing/2014/main" id="{3140A7AD-F98C-4547-BA03-B07FF4458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5905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1</a:t>
            </a:r>
          </a:p>
        </p:txBody>
      </p:sp>
      <p:sp>
        <p:nvSpPr>
          <p:cNvPr id="4" name="breadcrumb">
            <a:extLst xmlns:a="http://schemas.openxmlformats.org/drawingml/2006/main">
              <a:ext uri="{FF2B5EF4-FFF2-40B4-BE49-F238E27FC236}">
                <a16:creationId xmlns:a16="http://schemas.microsoft.com/office/drawing/2014/main" id="{4F05A3CD-CD8D-452E-B494-4769618BA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400050"/>
            <a:ext cx="1228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rPr>
              <a:t>02 · Prompts, mensajes y contratos / CAPÍTULO 1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CF8C5AA-3357-4780-A5B5-C5A071CB9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714375"/>
            <a:ext cx="1314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Qué necesita el consumidor</a:t>
            </a:r>
          </a:p>
        </p:txBody>
      </p:sp>
      <p:sp>
        <p:nvSpPr>
          <p:cNvPr id="6" name="learning-purpose">
            <a:extLst xmlns:a="http://schemas.openxmlformats.org/drawingml/2006/main">
              <a:ext uri="{FF2B5EF4-FFF2-40B4-BE49-F238E27FC236}">
                <a16:creationId xmlns:a16="http://schemas.microsoft.com/office/drawing/2014/main" id="{58448730-7086-413B-A75C-2998E8210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14475"/>
            <a:ext cx="141351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Pasar de texto libre a una salida que la aplicación puede validar y consumir.</a:t>
            </a:r>
          </a:p>
        </p:txBody>
      </p:sp>
      <p:sp>
        <p:nvSpPr>
          <p:cNvPr id="7" name="panel">
            <a:extLst xmlns:a="http://schemas.openxmlformats.org/drawingml/2006/main">
              <a:ext uri="{FF2B5EF4-FFF2-40B4-BE49-F238E27FC236}">
                <a16:creationId xmlns:a16="http://schemas.microsoft.com/office/drawing/2014/main" id="{DA26FEA4-26D7-41F9-86E1-6A397696D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8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41596575-0FB3-4800-81E2-B64A070A1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1 · CONCEPTO</a:t>
            </a:r>
          </a:p>
        </p:txBody>
      </p:sp>
      <p:sp>
        <p:nvSpPr>
          <p:cNvPr id="9" name="panel">
            <a:extLst xmlns:a="http://schemas.openxmlformats.org/drawingml/2006/main">
              <a:ext uri="{FF2B5EF4-FFF2-40B4-BE49-F238E27FC236}">
                <a16:creationId xmlns:a16="http://schemas.microsoft.com/office/drawing/2014/main" id="{50F41573-287A-4E9B-A7A8-365739FC4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91925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10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511B1262-262F-4C4D-98BF-532ECECEC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8600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2 · DESARROLLO</a:t>
            </a:r>
          </a:p>
        </p:txBody>
      </p:sp>
      <p:sp>
        <p:nvSpPr>
          <p:cNvPr id="11" name="panel">
            <a:extLst xmlns:a="http://schemas.openxmlformats.org/drawingml/2006/main">
              <a:ext uri="{FF2B5EF4-FFF2-40B4-BE49-F238E27FC236}">
                <a16:creationId xmlns:a16="http://schemas.microsoft.com/office/drawing/2014/main" id="{A2B743DC-0EB8-47ED-A9EA-85121E50A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8260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12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55A53827-A796-4D4C-BEFF-5A45B44F5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4927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3 · EJEMPLO</a:t>
            </a:r>
          </a:p>
        </p:txBody>
      </p:sp>
      <p:sp>
        <p:nvSpPr>
          <p:cNvPr id="13" name="footer">
            <a:extLst xmlns:a="http://schemas.openxmlformats.org/drawingml/2006/main">
              <a:ext uri="{FF2B5EF4-FFF2-40B4-BE49-F238E27FC236}">
                <a16:creationId xmlns:a16="http://schemas.microsoft.com/office/drawing/2014/main" id="{99E7995B-AE47-4E8F-8D0F-021236DD6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277225"/>
            <a:ext cx="1190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AriwaLabs · 02 / C01</a:t>
            </a:r>
          </a:p>
        </p:txBody>
      </p:sp>
      <p:sp>
        <p:nvSpPr>
          <p:cNvPr id="14" name="folio">
            <a:extLst xmlns:a="http://schemas.openxmlformats.org/drawingml/2006/main">
              <a:ext uri="{FF2B5EF4-FFF2-40B4-BE49-F238E27FC236}">
                <a16:creationId xmlns:a16="http://schemas.microsoft.com/office/drawing/2014/main" id="{305CDCD9-6392-4116-9CF6-2228D6602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258175"/>
            <a:ext cx="781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2</a:t>
            </a:r>
          </a:p>
        </p:txBody>
      </p:sp>
      <p:sp>
        <p:nvSpPr>
          <p:cNvPr id="15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E2D24039-6AEA-4B6B-8D7A-C4D60E487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81225"/>
            <a:ext cx="1333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DEL CONCEPTO A UNA COMPROBACIÓN CONCRETA</a:t>
            </a:r>
          </a:p>
        </p:txBody>
      </p:sp>
      <p:graphicFrame>
        <p:nvGraphicFramePr>
          <p:cNvPr id="41" name=""/>
          <p:cNvGraphicFramePr/>
          <p:nvPr/>
        </p:nvGraphicFramePr>
        <p:xfrm>
          <a:off xmlns:a="http://schemas.openxmlformats.org/drawingml/2006/main" x="571500" y="2667000"/>
          <a:ext xmlns:a="http://schemas.openxmlformats.org/drawingml/2006/main" cx="9334500" cy="36766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6477000"/>
              </a:tblGrid>
              <a:tr h="476250"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PUNTO DE REVISIÓN</a:t>
                      </a:r>
                    </a:p>
                  </a:txBody>
                  <a:tcPr marL="91440" marR="91440" marT="45720" marB="45720" anchor="ctr">
                    <a:solidFill>
                      <a:srgbClr val="1E293B"/>
                    </a:solidFill>
                  </a:tcPr>
                </a:tc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EXPLICACIÓN / CRITERIO</a:t>
                      </a:r>
                    </a:p>
                  </a:txBody>
                  <a:tcPr marL="91440" marR="91440" marT="45720" marB="45720" anchor="ctr">
                    <a:solidFill>
                      <a:srgbClr val="1E293B"/>
                    </a:solidFill>
                  </a:tcPr>
                </a:tc>
              </a:tr>
              <a:tr h="1066800"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Forma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El dato debe cumplir el esquema.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1066800"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Categoría</a:t>
                      </a:r>
                    </a:p>
                  </a:txBody>
                  <a:tcPr marL="91440" marR="91440" marT="45720" marB="45720" anchor="ctr">
                    <a:solidFill>
                      <a:srgbClr val="E9F0F7"/>
                    </a:solidFill>
                  </a:tcPr>
                </a:tc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Solo se aceptan valores definidos para el track.</a:t>
                      </a:r>
                    </a:p>
                  </a:txBody>
                  <a:tcPr marL="91440" marR="91440" marT="45720" marB="45720" anchor="ctr">
                    <a:solidFill>
                      <a:srgbClr val="E9F0F7"/>
                    </a:solidFill>
                  </a:tcPr>
                </a:tc>
              </a:tr>
              <a:tr h="1066800"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Fallo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La ausencia de un objeto válido no se disfraza de</a:t>
                      </a:r>
                    </a:p>
                    <a:p>
                      <a:r>
                        <a:rPr sz="1875" b="0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éxito.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" name="panel">
            <a:extLst xmlns:a="http://schemas.openxmlformats.org/drawingml/2006/main">
              <a:ext uri="{FF2B5EF4-FFF2-40B4-BE49-F238E27FC236}">
                <a16:creationId xmlns:a16="http://schemas.microsoft.com/office/drawing/2014/main" id="{9EAF98F7-731D-4B14-9F75-FB3A69CF1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667000"/>
            <a:ext cx="4476750" cy="3676650"/>
          </a:xfrm>
          <a:prstGeom xmlns:a="http://schemas.openxmlformats.org/drawingml/2006/main" prst="roundRect">
            <a:avLst>
              <a:gd name="adj" fmla="val 4663"/>
            </a:avLst>
          </a:prstGeom>
          <a:solidFill xmlns:a="http://schemas.openxmlformats.org/drawingml/2006/main">
            <a:srgbClr val="FFF0EB"/>
          </a:solidFill>
          <a:ln xmlns:a="http://schemas.openxmlformats.org/drawingml/2006/main" w="14288">
            <a:solidFill>
              <a:srgbClr val="FF5733"/>
            </a:solidFill>
          </a:ln>
        </p:spPr>
      </p:sp>
      <p:sp>
        <p:nvSpPr>
          <p:cNvPr id="18" name="development-limit-label">
            <a:extLst xmlns:a="http://schemas.openxmlformats.org/drawingml/2006/main">
              <a:ext uri="{FF2B5EF4-FFF2-40B4-BE49-F238E27FC236}">
                <a16:creationId xmlns:a16="http://schemas.microsoft.com/office/drawing/2014/main" id="{23018115-39D2-42BE-922C-41BE36C6B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2886075"/>
            <a:ext cx="4019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5733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FF5733"/>
                </a:solidFill>
                <a:latin typeface="DejaVu Sans"/>
                <a:ea typeface="DejaVu Sans"/>
                <a:cs typeface="DejaVu Sans"/>
              </a:rPr>
              <a:t>EL LÍMITE QUE IMPORTA</a:t>
            </a:r>
          </a:p>
        </p:txBody>
      </p:sp>
      <p:sp>
        <p:nvSpPr>
          <p:cNvPr id="19" name="development-limit">
            <a:extLst xmlns:a="http://schemas.openxmlformats.org/drawingml/2006/main">
              <a:ext uri="{FF2B5EF4-FFF2-40B4-BE49-F238E27FC236}">
                <a16:creationId xmlns:a16="http://schemas.microsoft.com/office/drawing/2014/main" id="{887C93D0-15FD-4E03-A66C-5E05FF928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3362325"/>
            <a:ext cx="401955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Considerar suficiente que la</a:t>
            </a:r>
          </a:p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salida parezca JSON.</a:t>
            </a:r>
          </a:p>
        </p:txBody>
      </p:sp>
      <p:sp>
        <p:nvSpPr>
          <p:cNvPr id="20" name="development-prompt">
            <a:extLst xmlns:a="http://schemas.openxmlformats.org/drawingml/2006/main">
              <a:ext uri="{FF2B5EF4-FFF2-40B4-BE49-F238E27FC236}">
                <a16:creationId xmlns:a16="http://schemas.microsoft.com/office/drawing/2014/main" id="{5851814E-7C07-42FF-910E-48FF2B014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5553075"/>
            <a:ext cx="40195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Revisar este supuesto evita aplicar la</a:t>
            </a:r>
          </a:p>
          <a:p xmlns:a="http://schemas.openxmlformats.org/drawingml/2006/main">
            <a:pPr algn="l">
              <a:defRPr sz="1500" b="0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idea fuera de su alcance.</a:t>
            </a:r>
          </a:p>
        </p:txBody>
      </p:sp>
      <p:sp>
        <p:nvSpPr>
          <p:cNvPr id="21" name="panel">
            <a:extLst xmlns:a="http://schemas.openxmlformats.org/drawingml/2006/main">
              <a:ext uri="{FF2B5EF4-FFF2-40B4-BE49-F238E27FC236}">
                <a16:creationId xmlns:a16="http://schemas.microsoft.com/office/drawing/2014/main" id="{F8A77939-9CBC-43B7-AEFD-BAC4AC8DF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05575"/>
            <a:ext cx="14097000" cy="752475"/>
          </a:xfrm>
          <a:prstGeom xmlns:a="http://schemas.openxmlformats.org/drawingml/2006/main" prst="roundRect">
            <a:avLst>
              <a:gd name="adj" fmla="val 20253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22" name="check-label">
            <a:extLst xmlns:a="http://schemas.openxmlformats.org/drawingml/2006/main">
              <a:ext uri="{FF2B5EF4-FFF2-40B4-BE49-F238E27FC236}">
                <a16:creationId xmlns:a16="http://schemas.microsoft.com/office/drawing/2014/main" id="{83C96BCF-B0C2-4082-987D-601D4DF9A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600825"/>
            <a:ext cx="136779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COMPRUEBA TU RAZONAMIENTO</a:t>
            </a:r>
          </a:p>
        </p:txBody>
      </p:sp>
      <p:sp>
        <p:nvSpPr>
          <p:cNvPr id="23" name="development-question">
            <a:extLst xmlns:a="http://schemas.openxmlformats.org/drawingml/2006/main">
              <a:ext uri="{FF2B5EF4-FFF2-40B4-BE49-F238E27FC236}">
                <a16:creationId xmlns:a16="http://schemas.microsoft.com/office/drawing/2014/main" id="{5C4B694E-C31D-4C15-80B0-185FCAE64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886575"/>
            <a:ext cx="13677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¿Por qué un párrafo bien redactado puede ser inútil para el consumidor?</a:t>
            </a:r>
          </a:p>
        </p:txBody>
      </p:sp>
      <p:sp>
        <p:nvSpPr>
          <p:cNvPr id="24" name="panel">
            <a:extLst xmlns:a="http://schemas.openxmlformats.org/drawingml/2006/main">
              <a:ext uri="{FF2B5EF4-FFF2-40B4-BE49-F238E27FC236}">
                <a16:creationId xmlns:a16="http://schemas.microsoft.com/office/drawing/2014/main" id="{F145EA2A-B986-4C2C-95B4-0BA3EC2D4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467600"/>
            <a:ext cx="14287500" cy="695325"/>
          </a:xfrm>
          <a:prstGeom xmlns:a="http://schemas.openxmlformats.org/drawingml/2006/main" prst="roundRect">
            <a:avLst>
              <a:gd name="adj" fmla="val 1917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5" name="takeaway">
            <a:extLst xmlns:a="http://schemas.openxmlformats.org/drawingml/2006/main">
              <a:ext uri="{FF2B5EF4-FFF2-40B4-BE49-F238E27FC236}">
                <a16:creationId xmlns:a16="http://schemas.microsoft.com/office/drawing/2014/main" id="{7D6FA9AB-2944-4AF3-8232-3FC382369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7639050"/>
            <a:ext cx="1381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Un contrato explícito hace visible el error antes de actuar.</a:t>
            </a:r>
          </a:p>
        </p:txBody>
      </p:sp>
    </p:spTree>
    <p:extLst>
      <p:ext uri="{BB962C8B-B14F-4D97-AF65-F5344CB8AC3E}">
        <p14:creationId xmlns:p14="http://schemas.microsoft.com/office/powerpoint/2010/main" val="144542978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header">
            <a:extLst xmlns:a="http://schemas.openxmlformats.org/drawingml/2006/main">
              <a:ext uri="{FF2B5EF4-FFF2-40B4-BE49-F238E27FC236}">
                <a16:creationId xmlns:a16="http://schemas.microsoft.com/office/drawing/2014/main" id="{9BD31E6E-6A24-4591-8B5E-107B35B20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47650"/>
            <a:ext cx="14706600" cy="1057275"/>
          </a:xfrm>
          <a:prstGeom xmlns:a="http://schemas.openxmlformats.org/drawingml/2006/main" prst="roundRect">
            <a:avLst>
              <a:gd name="adj" fmla="val 1801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11509C-98FE-4269-BA4C-DB546D7BF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3" name="step-number">
            <a:extLst xmlns:a="http://schemas.openxmlformats.org/drawingml/2006/main">
              <a:ext uri="{FF2B5EF4-FFF2-40B4-BE49-F238E27FC236}">
                <a16:creationId xmlns:a16="http://schemas.microsoft.com/office/drawing/2014/main" id="{1D75FDE1-CB35-4EE6-8FB0-C7EE420EC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5905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1</a:t>
            </a:r>
          </a:p>
        </p:txBody>
      </p:sp>
      <p:sp>
        <p:nvSpPr>
          <p:cNvPr id="4" name="breadcrumb">
            <a:extLst xmlns:a="http://schemas.openxmlformats.org/drawingml/2006/main">
              <a:ext uri="{FF2B5EF4-FFF2-40B4-BE49-F238E27FC236}">
                <a16:creationId xmlns:a16="http://schemas.microsoft.com/office/drawing/2014/main" id="{E1F6B044-489C-4450-A607-28636CA71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400050"/>
            <a:ext cx="1228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rPr>
              <a:t>02 · Prompts, mensajes y contratos / CAPÍTULO 1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7594C4A-FEBE-4393-947A-A7978BC1F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714375"/>
            <a:ext cx="1314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Ejemplo · Del primer llamado al primer contrato</a:t>
            </a:r>
          </a:p>
        </p:txBody>
      </p:sp>
      <p:sp>
        <p:nvSpPr>
          <p:cNvPr id="6" name="learning-purpose">
            <a:extLst xmlns:a="http://schemas.openxmlformats.org/drawingml/2006/main">
              <a:ext uri="{FF2B5EF4-FFF2-40B4-BE49-F238E27FC236}">
                <a16:creationId xmlns:a16="http://schemas.microsoft.com/office/drawing/2014/main" id="{B48BEEE6-C72D-4FEE-B5F9-B0C43E591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14475"/>
            <a:ext cx="141351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Pasar de texto libre a una salida que la aplicación puede validar y consumir.</a:t>
            </a:r>
          </a:p>
        </p:txBody>
      </p:sp>
      <p:sp>
        <p:nvSpPr>
          <p:cNvPr id="7" name="panel">
            <a:extLst xmlns:a="http://schemas.openxmlformats.org/drawingml/2006/main">
              <a:ext uri="{FF2B5EF4-FFF2-40B4-BE49-F238E27FC236}">
                <a16:creationId xmlns:a16="http://schemas.microsoft.com/office/drawing/2014/main" id="{F8BDC391-1D0C-4A7F-B05B-3C4879FEA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8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31417A90-CB6D-4824-B05E-0A3808571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1 · CONCEPTO</a:t>
            </a:r>
          </a:p>
        </p:txBody>
      </p:sp>
      <p:sp>
        <p:nvSpPr>
          <p:cNvPr id="9" name="panel">
            <a:extLst xmlns:a="http://schemas.openxmlformats.org/drawingml/2006/main">
              <a:ext uri="{FF2B5EF4-FFF2-40B4-BE49-F238E27FC236}">
                <a16:creationId xmlns:a16="http://schemas.microsoft.com/office/drawing/2014/main" id="{FEF63958-F973-41F9-816B-EEBF1F86D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91925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10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618EC7BD-ECA7-4570-8D3D-C6595AFF8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8600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2 · DESARROLLO</a:t>
            </a:r>
          </a:p>
        </p:txBody>
      </p:sp>
      <p:sp>
        <p:nvSpPr>
          <p:cNvPr id="11" name="panel">
            <a:extLst xmlns:a="http://schemas.openxmlformats.org/drawingml/2006/main">
              <a:ext uri="{FF2B5EF4-FFF2-40B4-BE49-F238E27FC236}">
                <a16:creationId xmlns:a16="http://schemas.microsoft.com/office/drawing/2014/main" id="{5C3D5B5D-47CB-435A-B59E-BCE98C1C7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8260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12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BD1A2FD9-4EA6-4B0D-A20B-F80DF7116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4927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3 · EJEMPLO</a:t>
            </a:r>
          </a:p>
        </p:txBody>
      </p:sp>
      <p:sp>
        <p:nvSpPr>
          <p:cNvPr id="13" name="footer">
            <a:extLst xmlns:a="http://schemas.openxmlformats.org/drawingml/2006/main">
              <a:ext uri="{FF2B5EF4-FFF2-40B4-BE49-F238E27FC236}">
                <a16:creationId xmlns:a16="http://schemas.microsoft.com/office/drawing/2014/main" id="{3490606E-A18C-43A2-8C9A-E76D74243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277225"/>
            <a:ext cx="1190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AriwaLabs · 02 / C01</a:t>
            </a:r>
          </a:p>
        </p:txBody>
      </p:sp>
      <p:sp>
        <p:nvSpPr>
          <p:cNvPr id="14" name="folio">
            <a:extLst xmlns:a="http://schemas.openxmlformats.org/drawingml/2006/main">
              <a:ext uri="{FF2B5EF4-FFF2-40B4-BE49-F238E27FC236}">
                <a16:creationId xmlns:a16="http://schemas.microsoft.com/office/drawing/2014/main" id="{17187371-E514-46F3-8C84-C18D1BD0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258175"/>
            <a:ext cx="781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3</a:t>
            </a:r>
          </a:p>
        </p:txBody>
      </p:sp>
      <p:sp>
        <p:nvSpPr>
          <p:cNvPr id="15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DFB8E656-7218-4A5B-9DA9-4775ACEE5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81225"/>
            <a:ext cx="1333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MERCASUR · CASO DIDÁCTICO</a:t>
            </a:r>
          </a:p>
        </p:txBody>
      </p:sp>
      <p:sp>
        <p:nvSpPr>
          <p:cNvPr id="16" name="panel">
            <a:extLst xmlns:a="http://schemas.openxmlformats.org/drawingml/2006/main">
              <a:ext uri="{FF2B5EF4-FFF2-40B4-BE49-F238E27FC236}">
                <a16:creationId xmlns:a16="http://schemas.microsoft.com/office/drawing/2014/main" id="{72FF5CA4-DEDD-4F89-BD24-093C00B41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38425"/>
            <a:ext cx="14097000" cy="962025"/>
          </a:xfrm>
          <a:prstGeom xmlns:a="http://schemas.openxmlformats.org/drawingml/2006/main" prst="roundRect">
            <a:avLst>
              <a:gd name="adj" fmla="val 15842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17" name="case-label">
            <a:extLst xmlns:a="http://schemas.openxmlformats.org/drawingml/2006/main">
              <a:ext uri="{FF2B5EF4-FFF2-40B4-BE49-F238E27FC236}">
                <a16:creationId xmlns:a16="http://schemas.microsoft.com/office/drawing/2014/main" id="{5F5F5CB0-CEB2-4F5C-979D-69FBCDD49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81300"/>
            <a:ext cx="1333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SITUACIÓN</a:t>
            </a:r>
          </a:p>
        </p:txBody>
      </p:sp>
      <p:sp>
        <p:nvSpPr>
          <p:cNvPr id="18" name="case-input">
            <a:extLst xmlns:a="http://schemas.openxmlformats.org/drawingml/2006/main">
              <a:ext uri="{FF2B5EF4-FFF2-40B4-BE49-F238E27FC236}">
                <a16:creationId xmlns:a16="http://schemas.microsoft.com/office/drawing/2014/main" id="{F3451FC5-E212-42B7-9AE0-D7B1530B9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2819400"/>
            <a:ext cx="121634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«¿Dónde está mi pedido?» debe convertirse en una intención.</a:t>
            </a:r>
          </a:p>
        </p:txBody>
      </p:sp>
      <p:sp>
        <p:nvSpPr>
          <p:cNvPr id="19" name="concept-node">
            <a:extLst xmlns:a="http://schemas.openxmlformats.org/drawingml/2006/main">
              <a:ext uri="{FF2B5EF4-FFF2-40B4-BE49-F238E27FC236}">
                <a16:creationId xmlns:a16="http://schemas.microsoft.com/office/drawing/2014/main" id="{6B8B1678-F427-4BED-85DC-5FBACE152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943350"/>
            <a:ext cx="4381500" cy="2133600"/>
          </a:xfrm>
          <a:prstGeom xmlns:a="http://schemas.openxmlformats.org/drawingml/2006/main" prst="roundRect">
            <a:avLst>
              <a:gd name="adj" fmla="val 80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ED8E3"/>
            </a:solidFill>
          </a:ln>
        </p:spPr>
      </p:sp>
      <p:sp>
        <p:nvSpPr>
          <p:cNvPr id="20" name="node-top-rule">
            <a:extLst xmlns:a="http://schemas.openxmlformats.org/drawingml/2006/main">
              <a:ext uri="{FF2B5EF4-FFF2-40B4-BE49-F238E27FC236}">
                <a16:creationId xmlns:a16="http://schemas.microsoft.com/office/drawing/2014/main" id="{A3DCD4EE-E924-4839-BC6B-A0BB63D37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3952875"/>
            <a:ext cx="43624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411D381-D6DA-449D-A9BB-AD342F1FC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814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2" name="step-number">
            <a:extLst xmlns:a="http://schemas.openxmlformats.org/drawingml/2006/main">
              <a:ext uri="{FF2B5EF4-FFF2-40B4-BE49-F238E27FC236}">
                <a16:creationId xmlns:a16="http://schemas.microsoft.com/office/drawing/2014/main" id="{90D1C12A-E7BA-4D00-800B-5B657D4F2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57675"/>
            <a:ext cx="45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1</a:t>
            </a:r>
          </a:p>
        </p:txBody>
      </p:sp>
      <p:sp>
        <p:nvSpPr>
          <p:cNvPr id="23" name="node-heading">
            <a:extLst xmlns:a="http://schemas.openxmlformats.org/drawingml/2006/main">
              <a:ext uri="{FF2B5EF4-FFF2-40B4-BE49-F238E27FC236}">
                <a16:creationId xmlns:a16="http://schemas.microsoft.com/office/drawing/2014/main" id="{0F2C3EEE-8003-4114-8BD4-D9A7854B1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181475"/>
            <a:ext cx="333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Definir</a:t>
            </a:r>
          </a:p>
        </p:txBody>
      </p:sp>
      <p:sp>
        <p:nvSpPr>
          <p:cNvPr id="24" name="node-body">
            <a:extLst xmlns:a="http://schemas.openxmlformats.org/drawingml/2006/main">
              <a:ext uri="{FF2B5EF4-FFF2-40B4-BE49-F238E27FC236}">
                <a16:creationId xmlns:a16="http://schemas.microsoft.com/office/drawing/2014/main" id="{3CAE482A-11E8-40F0-ADC3-03BC01341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962525"/>
            <a:ext cx="3905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Elegir la categoría de</a:t>
            </a:r>
          </a:p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seguimiento del track.</a:t>
            </a:r>
          </a:p>
        </p:txBody>
      </p:sp>
      <p:sp>
        <p:nvSpPr>
          <p:cNvPr id="25" name="concept-node">
            <a:extLst xmlns:a="http://schemas.openxmlformats.org/drawingml/2006/main">
              <a:ext uri="{FF2B5EF4-FFF2-40B4-BE49-F238E27FC236}">
                <a16:creationId xmlns:a16="http://schemas.microsoft.com/office/drawing/2014/main" id="{55DAC863-BCDA-4E4D-BC33-595D57320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943350"/>
            <a:ext cx="4381500" cy="2133600"/>
          </a:xfrm>
          <a:prstGeom xmlns:a="http://schemas.openxmlformats.org/drawingml/2006/main" prst="roundRect">
            <a:avLst>
              <a:gd name="adj" fmla="val 8036"/>
            </a:avLst>
          </a:prstGeom>
          <a:solidFill xmlns:a="http://schemas.openxmlformats.org/drawingml/2006/main">
            <a:srgbClr val="FFF0EB"/>
          </a:solidFill>
          <a:ln xmlns:a="http://schemas.openxmlformats.org/drawingml/2006/main" w="14288">
            <a:solidFill>
              <a:srgbClr val="FF5733"/>
            </a:solidFill>
          </a:ln>
        </p:spPr>
      </p:sp>
      <p:sp>
        <p:nvSpPr>
          <p:cNvPr id="26" name="node-top-rule">
            <a:extLst xmlns:a="http://schemas.openxmlformats.org/drawingml/2006/main">
              <a:ext uri="{FF2B5EF4-FFF2-40B4-BE49-F238E27FC236}">
                <a16:creationId xmlns:a16="http://schemas.microsoft.com/office/drawing/2014/main" id="{F1FA2D46-8176-4BA2-B13C-1ACAD9262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775" y="3952875"/>
            <a:ext cx="43624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3676389-1EE3-4FB2-91A9-34F9E1FF7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41814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28" name="step-number">
            <a:extLst xmlns:a="http://schemas.openxmlformats.org/drawingml/2006/main">
              <a:ext uri="{FF2B5EF4-FFF2-40B4-BE49-F238E27FC236}">
                <a16:creationId xmlns:a16="http://schemas.microsoft.com/office/drawing/2014/main" id="{514432F7-9F80-4C5F-AEFB-64AC20B75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4257675"/>
            <a:ext cx="45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2</a:t>
            </a:r>
          </a:p>
        </p:txBody>
      </p:sp>
      <p:sp>
        <p:nvSpPr>
          <p:cNvPr id="29" name="node-heading">
            <a:extLst xmlns:a="http://schemas.openxmlformats.org/drawingml/2006/main">
              <a:ext uri="{FF2B5EF4-FFF2-40B4-BE49-F238E27FC236}">
                <a16:creationId xmlns:a16="http://schemas.microsoft.com/office/drawing/2014/main" id="{824E7C70-E503-4DC6-94BE-C1A6D241F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181475"/>
            <a:ext cx="333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Extraer</a:t>
            </a:r>
          </a:p>
        </p:txBody>
      </p:sp>
      <p:sp>
        <p:nvSpPr>
          <p:cNvPr id="30" name="node-body">
            <a:extLst xmlns:a="http://schemas.openxmlformats.org/drawingml/2006/main">
              <a:ext uri="{FF2B5EF4-FFF2-40B4-BE49-F238E27FC236}">
                <a16:creationId xmlns:a16="http://schemas.microsoft.com/office/drawing/2014/main" id="{389D1AF8-3499-47FB-ABBC-F0EE8F595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4962525"/>
            <a:ext cx="3905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Solicitar el objeto estructurado</a:t>
            </a:r>
          </a:p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al modelo.</a:t>
            </a:r>
          </a:p>
        </p:txBody>
      </p:sp>
      <p:sp>
        <p:nvSpPr>
          <p:cNvPr id="31" name="concept-node">
            <a:extLst xmlns:a="http://schemas.openxmlformats.org/drawingml/2006/main">
              <a:ext uri="{FF2B5EF4-FFF2-40B4-BE49-F238E27FC236}">
                <a16:creationId xmlns:a16="http://schemas.microsoft.com/office/drawing/2014/main" id="{88D356B8-70FC-4098-A23B-885E6424A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943350"/>
            <a:ext cx="4381500" cy="2133600"/>
          </a:xfrm>
          <a:prstGeom xmlns:a="http://schemas.openxmlformats.org/drawingml/2006/main" prst="roundRect">
            <a:avLst>
              <a:gd name="adj" fmla="val 80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ED8E3"/>
            </a:solidFill>
          </a:ln>
        </p:spPr>
      </p:sp>
      <p:sp>
        <p:nvSpPr>
          <p:cNvPr id="32" name="node-top-rule">
            <a:extLst xmlns:a="http://schemas.openxmlformats.org/drawingml/2006/main">
              <a:ext uri="{FF2B5EF4-FFF2-40B4-BE49-F238E27FC236}">
                <a16:creationId xmlns:a16="http://schemas.microsoft.com/office/drawing/2014/main" id="{30E74976-8472-4917-A98C-9AE3CC7B4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3952875"/>
            <a:ext cx="43624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017E37F-1428-4F52-A6CA-56CF38945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41814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34" name="step-number">
            <a:extLst xmlns:a="http://schemas.openxmlformats.org/drawingml/2006/main">
              <a:ext uri="{FF2B5EF4-FFF2-40B4-BE49-F238E27FC236}">
                <a16:creationId xmlns:a16="http://schemas.microsoft.com/office/drawing/2014/main" id="{01AF521E-50CD-444B-A17D-A964B4E2C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4257675"/>
            <a:ext cx="45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3</a:t>
            </a:r>
          </a:p>
        </p:txBody>
      </p:sp>
      <p:sp>
        <p:nvSpPr>
          <p:cNvPr id="35" name="node-heading">
            <a:extLst xmlns:a="http://schemas.openxmlformats.org/drawingml/2006/main">
              <a:ext uri="{FF2B5EF4-FFF2-40B4-BE49-F238E27FC236}">
                <a16:creationId xmlns:a16="http://schemas.microsoft.com/office/drawing/2014/main" id="{3E5F0C16-AC3D-4B4B-A618-521DF438A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4181475"/>
            <a:ext cx="333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Validar</a:t>
            </a:r>
          </a:p>
        </p:txBody>
      </p:sp>
      <p:sp>
        <p:nvSpPr>
          <p:cNvPr id="36" name="node-body">
            <a:extLst xmlns:a="http://schemas.openxmlformats.org/drawingml/2006/main">
              <a:ext uri="{FF2B5EF4-FFF2-40B4-BE49-F238E27FC236}">
                <a16:creationId xmlns:a16="http://schemas.microsoft.com/office/drawing/2014/main" id="{E052AE4D-8312-4534-A3F1-7B5FDEB6E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4962525"/>
            <a:ext cx="3905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Aceptar el contrato o activar</a:t>
            </a:r>
          </a:p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recuperación.</a:t>
            </a:r>
          </a:p>
        </p:txBody>
      </p:sp>
      <p:cxnSp>
        <p:nvCxnSpPr>
          <p:cNvPr id="80" name=""/>
          <p:cNvCxnSpPr>
            <a:stCxn xmlns:a="http://schemas.openxmlformats.org/drawingml/2006/main" id="19" idx="3"/>
            <a:endCxn xmlns:a="http://schemas.openxmlformats.org/drawingml/2006/main" id="25" idx="1"/>
          </p:cNvCxnSpPr>
          <p:nvPr/>
        </p:nvCxnSpPr>
        <p:spPr>
          <a:xfrm xmlns:a="http://schemas.openxmlformats.org/drawingml/2006/main">
            <a:off x="4953000" y="501015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E293B"/>
            </a:solidFill>
            <a:tailEnd type="triangle" w="med" len="med"/>
          </a:ln>
        </p:spPr>
      </p:cxnSp>
      <p:cxnSp>
        <p:nvCxnSpPr>
          <p:cNvPr id="81" name=""/>
          <p:cNvCxnSpPr>
            <a:stCxn xmlns:a="http://schemas.openxmlformats.org/drawingml/2006/main" id="25" idx="3"/>
            <a:endCxn xmlns:a="http://schemas.openxmlformats.org/drawingml/2006/main" id="31" idx="1"/>
          </p:cNvCxnSpPr>
          <p:nvPr/>
        </p:nvCxnSpPr>
        <p:spPr>
          <a:xfrm xmlns:a="http://schemas.openxmlformats.org/drawingml/2006/main">
            <a:off x="9810750" y="501015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E293B"/>
            </a:solidFill>
            <a:tailEnd type="triangle" w="med" len="med"/>
          </a:ln>
        </p:spPr>
      </p:cxnSp>
      <p:sp>
        <p:nvSpPr>
          <p:cNvPr id="39" name="panel">
            <a:extLst xmlns:a="http://schemas.openxmlformats.org/drawingml/2006/main">
              <a:ext uri="{FF2B5EF4-FFF2-40B4-BE49-F238E27FC236}">
                <a16:creationId xmlns:a16="http://schemas.microsoft.com/office/drawing/2014/main" id="{9B8F50B2-A505-4668-91D5-3AF174345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91250"/>
            <a:ext cx="14097000" cy="10668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0EB"/>
          </a:solidFill>
          <a:ln xmlns:a="http://schemas.openxmlformats.org/drawingml/2006/main" w="0">
            <a:noFill/>
          </a:ln>
        </p:spPr>
      </p:sp>
      <p:sp>
        <p:nvSpPr>
          <p:cNvPr id="40" name="result-label">
            <a:extLst xmlns:a="http://schemas.openxmlformats.org/drawingml/2006/main">
              <a:ext uri="{FF2B5EF4-FFF2-40B4-BE49-F238E27FC236}">
                <a16:creationId xmlns:a16="http://schemas.microsoft.com/office/drawing/2014/main" id="{7502817D-3C89-4C3D-BAE6-34F56AB0F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296025"/>
            <a:ext cx="135731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5733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FF5733"/>
                </a:solidFill>
                <a:latin typeface="DejaVu Sans"/>
                <a:ea typeface="DejaVu Sans"/>
                <a:cs typeface="DejaVu Sans"/>
              </a:rPr>
              <a:t>RESULTADO ESPERADO</a:t>
            </a:r>
          </a:p>
        </p:txBody>
      </p:sp>
      <p:sp>
        <p:nvSpPr>
          <p:cNvPr id="41" name="case-outcome">
            <a:extLst xmlns:a="http://schemas.openxmlformats.org/drawingml/2006/main">
              <a:ext uri="{FF2B5EF4-FFF2-40B4-BE49-F238E27FC236}">
                <a16:creationId xmlns:a16="http://schemas.microsoft.com/office/drawing/2014/main" id="{C89DA57D-59C4-4216-8A74-3016DF7BF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591300"/>
            <a:ext cx="13573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El clasificador prepara una decisión; todavía no consulta el pedido.</a:t>
            </a:r>
          </a:p>
        </p:txBody>
      </p:sp>
      <p:sp>
        <p:nvSpPr>
          <p:cNvPr id="42" name="panel">
            <a:extLst xmlns:a="http://schemas.openxmlformats.org/drawingml/2006/main">
              <a:ext uri="{FF2B5EF4-FFF2-40B4-BE49-F238E27FC236}">
                <a16:creationId xmlns:a16="http://schemas.microsoft.com/office/drawing/2014/main" id="{8C8B1757-F843-4F7D-A2BD-9F92B10E6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467600"/>
            <a:ext cx="14287500" cy="695325"/>
          </a:xfrm>
          <a:prstGeom xmlns:a="http://schemas.openxmlformats.org/drawingml/2006/main" prst="roundRect">
            <a:avLst>
              <a:gd name="adj" fmla="val 1917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43" name="takeaway">
            <a:extLst xmlns:a="http://schemas.openxmlformats.org/drawingml/2006/main">
              <a:ext uri="{FF2B5EF4-FFF2-40B4-BE49-F238E27FC236}">
                <a16:creationId xmlns:a16="http://schemas.microsoft.com/office/drawing/2014/main" id="{DE79C231-81A0-4A34-8BC5-C4B0B09F1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7639050"/>
            <a:ext cx="1381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Un contrato explícito hace visible el error antes de actuar.</a:t>
            </a:r>
          </a:p>
        </p:txBody>
      </p:sp>
    </p:spTree>
    <p:extLst>
      <p:ext uri="{BB962C8B-B14F-4D97-AF65-F5344CB8AC3E}">
        <p14:creationId xmlns:p14="http://schemas.microsoft.com/office/powerpoint/2010/main" val="203364175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4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header">
            <a:extLst xmlns:a="http://schemas.openxmlformats.org/drawingml/2006/main">
              <a:ext uri="{FF2B5EF4-FFF2-40B4-BE49-F238E27FC236}">
                <a16:creationId xmlns:a16="http://schemas.microsoft.com/office/drawing/2014/main" id="{603EF603-8B85-408A-8D1C-677FAA0D2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47650"/>
            <a:ext cx="14706600" cy="1057275"/>
          </a:xfrm>
          <a:prstGeom xmlns:a="http://schemas.openxmlformats.org/drawingml/2006/main" prst="roundRect">
            <a:avLst>
              <a:gd name="adj" fmla="val 1801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FD04DE-CD6D-4B2C-B804-736BCA82B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3" name="step-number">
            <a:extLst xmlns:a="http://schemas.openxmlformats.org/drawingml/2006/main">
              <a:ext uri="{FF2B5EF4-FFF2-40B4-BE49-F238E27FC236}">
                <a16:creationId xmlns:a16="http://schemas.microsoft.com/office/drawing/2014/main" id="{C6F9C746-FE02-42ED-A2EF-2E112F448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5905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2</a:t>
            </a:r>
          </a:p>
        </p:txBody>
      </p:sp>
      <p:sp>
        <p:nvSpPr>
          <p:cNvPr id="4" name="breadcrumb">
            <a:extLst xmlns:a="http://schemas.openxmlformats.org/drawingml/2006/main">
              <a:ext uri="{FF2B5EF4-FFF2-40B4-BE49-F238E27FC236}">
                <a16:creationId xmlns:a16="http://schemas.microsoft.com/office/drawing/2014/main" id="{FCCC8992-375C-4122-8D4B-44028C867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400050"/>
            <a:ext cx="1228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rPr>
              <a:t>02 · Prompts, mensajes y contratos / CAPÍTULO 2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950D56E-28C4-4673-B80A-B357A7162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714375"/>
            <a:ext cx="1314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Mensajes, roles y statelessness</a:t>
            </a:r>
          </a:p>
        </p:txBody>
      </p:sp>
      <p:sp>
        <p:nvSpPr>
          <p:cNvPr id="6" name="learning-purpose">
            <a:extLst xmlns:a="http://schemas.openxmlformats.org/drawingml/2006/main">
              <a:ext uri="{FF2B5EF4-FFF2-40B4-BE49-F238E27FC236}">
                <a16:creationId xmlns:a16="http://schemas.microsoft.com/office/drawing/2014/main" id="{2574CB0A-6424-490C-AE76-6C957F58B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14475"/>
            <a:ext cx="141351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Construir la entrada conversacional con roles y contexto explícitos.</a:t>
            </a:r>
          </a:p>
        </p:txBody>
      </p:sp>
      <p:sp>
        <p:nvSpPr>
          <p:cNvPr id="7" name="panel">
            <a:extLst xmlns:a="http://schemas.openxmlformats.org/drawingml/2006/main">
              <a:ext uri="{FF2B5EF4-FFF2-40B4-BE49-F238E27FC236}">
                <a16:creationId xmlns:a16="http://schemas.microsoft.com/office/drawing/2014/main" id="{3BC8509F-C28C-445A-A82C-86A2201CE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8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DC712058-DB8A-4A2D-BFA6-A30CD436B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1 · CONCEPTO</a:t>
            </a:r>
          </a:p>
        </p:txBody>
      </p:sp>
      <p:sp>
        <p:nvSpPr>
          <p:cNvPr id="9" name="panel">
            <a:extLst xmlns:a="http://schemas.openxmlformats.org/drawingml/2006/main">
              <a:ext uri="{FF2B5EF4-FFF2-40B4-BE49-F238E27FC236}">
                <a16:creationId xmlns:a16="http://schemas.microsoft.com/office/drawing/2014/main" id="{1D113A30-327E-4421-B151-10C1A09E0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91925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10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D9E22C33-3CC6-44AC-9287-69FCBF82E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8600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2 · DESARROLLO</a:t>
            </a:r>
          </a:p>
        </p:txBody>
      </p:sp>
      <p:sp>
        <p:nvSpPr>
          <p:cNvPr id="11" name="panel">
            <a:extLst xmlns:a="http://schemas.openxmlformats.org/drawingml/2006/main">
              <a:ext uri="{FF2B5EF4-FFF2-40B4-BE49-F238E27FC236}">
                <a16:creationId xmlns:a16="http://schemas.microsoft.com/office/drawing/2014/main" id="{37CADB9D-C570-4136-815A-F25E21526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8260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12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D6BDF690-57E2-4654-9CFB-9C8E5BE98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4927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3 · EJEMPLO</a:t>
            </a:r>
          </a:p>
        </p:txBody>
      </p:sp>
      <p:sp>
        <p:nvSpPr>
          <p:cNvPr id="13" name="footer">
            <a:extLst xmlns:a="http://schemas.openxmlformats.org/drawingml/2006/main">
              <a:ext uri="{FF2B5EF4-FFF2-40B4-BE49-F238E27FC236}">
                <a16:creationId xmlns:a16="http://schemas.microsoft.com/office/drawing/2014/main" id="{7B501D09-8FCB-4B55-AD4E-DA2534A00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277225"/>
            <a:ext cx="1190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AriwaLabs · 02 / C02</a:t>
            </a:r>
          </a:p>
        </p:txBody>
      </p:sp>
      <p:sp>
        <p:nvSpPr>
          <p:cNvPr id="14" name="folio">
            <a:extLst xmlns:a="http://schemas.openxmlformats.org/drawingml/2006/main">
              <a:ext uri="{FF2B5EF4-FFF2-40B4-BE49-F238E27FC236}">
                <a16:creationId xmlns:a16="http://schemas.microsoft.com/office/drawing/2014/main" id="{F6D7D8D7-5FFA-4B5A-A1CF-9CF554323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258175"/>
            <a:ext cx="781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4</a:t>
            </a:r>
          </a:p>
        </p:txBody>
      </p:sp>
      <p:sp>
        <p:nvSpPr>
          <p:cNvPr id="15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A419421F-22DF-47A1-94F8-1DBE8228E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81225"/>
            <a:ext cx="1333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SEGUIR LA RELACIÓN ENTRE LAS PIEZAS</a:t>
            </a:r>
          </a:p>
        </p:txBody>
      </p:sp>
      <p:sp>
        <p:nvSpPr>
          <p:cNvPr id="16" name="concept-node">
            <a:extLst xmlns:a="http://schemas.openxmlformats.org/drawingml/2006/main">
              <a:ext uri="{FF2B5EF4-FFF2-40B4-BE49-F238E27FC236}">
                <a16:creationId xmlns:a16="http://schemas.microsoft.com/office/drawing/2014/main" id="{822C8098-2945-4625-B7F3-A9DDB0F0A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0"/>
            <a:ext cx="4381500" cy="291465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ED8E3"/>
            </a:solidFill>
          </a:ln>
        </p:spPr>
      </p:sp>
      <p:sp>
        <p:nvSpPr>
          <p:cNvPr id="17" name="node-top-rule">
            <a:extLst xmlns:a="http://schemas.openxmlformats.org/drawingml/2006/main">
              <a:ext uri="{FF2B5EF4-FFF2-40B4-BE49-F238E27FC236}">
                <a16:creationId xmlns:a16="http://schemas.microsoft.com/office/drawing/2014/main" id="{AF9E8ADA-0767-4141-8DD0-47786049B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676525"/>
            <a:ext cx="43624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98E7BC3-2C9C-4D8C-96CD-4475B0D67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051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19" name="step-number">
            <a:extLst xmlns:a="http://schemas.openxmlformats.org/drawingml/2006/main">
              <a:ext uri="{FF2B5EF4-FFF2-40B4-BE49-F238E27FC236}">
                <a16:creationId xmlns:a16="http://schemas.microsoft.com/office/drawing/2014/main" id="{CCF550BF-4573-413A-92C3-86C65F2F9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81325"/>
            <a:ext cx="45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1</a:t>
            </a:r>
          </a:p>
        </p:txBody>
      </p:sp>
      <p:sp>
        <p:nvSpPr>
          <p:cNvPr id="20" name="node-heading">
            <a:extLst xmlns:a="http://schemas.openxmlformats.org/drawingml/2006/main">
              <a:ext uri="{FF2B5EF4-FFF2-40B4-BE49-F238E27FC236}">
                <a16:creationId xmlns:a16="http://schemas.microsoft.com/office/drawing/2014/main" id="{8EC3154D-4E51-4D35-8248-BFF20334B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905125"/>
            <a:ext cx="33337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System</a:t>
            </a:r>
          </a:p>
        </p:txBody>
      </p:sp>
      <p:sp>
        <p:nvSpPr>
          <p:cNvPr id="21" name="node-body">
            <a:extLst xmlns:a="http://schemas.openxmlformats.org/drawingml/2006/main">
              <a:ext uri="{FF2B5EF4-FFF2-40B4-BE49-F238E27FC236}">
                <a16:creationId xmlns:a16="http://schemas.microsoft.com/office/drawing/2014/main" id="{CE0B27E6-FC98-4551-882F-F7CA20FCB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838575"/>
            <a:ext cx="3905250" cy="1609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Instrucciones de tarea y</a:t>
            </a:r>
          </a:p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límites de la aplicación.</a:t>
            </a:r>
          </a:p>
        </p:txBody>
      </p:sp>
      <p:sp>
        <p:nvSpPr>
          <p:cNvPr id="22" name="concept-node">
            <a:extLst xmlns:a="http://schemas.openxmlformats.org/drawingml/2006/main">
              <a:ext uri="{FF2B5EF4-FFF2-40B4-BE49-F238E27FC236}">
                <a16:creationId xmlns:a16="http://schemas.microsoft.com/office/drawing/2014/main" id="{EB93F8B6-12C0-45C2-B346-DDE959B40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667000"/>
            <a:ext cx="4381500" cy="291465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0EB"/>
          </a:solidFill>
          <a:ln xmlns:a="http://schemas.openxmlformats.org/drawingml/2006/main" w="14288">
            <a:solidFill>
              <a:srgbClr val="FF5733"/>
            </a:solidFill>
          </a:ln>
        </p:spPr>
      </p:sp>
      <p:sp>
        <p:nvSpPr>
          <p:cNvPr id="23" name="node-top-rule">
            <a:extLst xmlns:a="http://schemas.openxmlformats.org/drawingml/2006/main">
              <a:ext uri="{FF2B5EF4-FFF2-40B4-BE49-F238E27FC236}">
                <a16:creationId xmlns:a16="http://schemas.microsoft.com/office/drawing/2014/main" id="{0AE4E635-CE36-4F7A-9CE7-E0922DDB8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775" y="2676525"/>
            <a:ext cx="43624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21CD242-2D17-4628-8DB1-FAFF2E75C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9051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25" name="step-number">
            <a:extLst xmlns:a="http://schemas.openxmlformats.org/drawingml/2006/main">
              <a:ext uri="{FF2B5EF4-FFF2-40B4-BE49-F238E27FC236}">
                <a16:creationId xmlns:a16="http://schemas.microsoft.com/office/drawing/2014/main" id="{35CEF5BD-7F78-4A78-A979-BB9756482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981325"/>
            <a:ext cx="45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2</a:t>
            </a:r>
          </a:p>
        </p:txBody>
      </p:sp>
      <p:sp>
        <p:nvSpPr>
          <p:cNvPr id="26" name="node-heading">
            <a:extLst xmlns:a="http://schemas.openxmlformats.org/drawingml/2006/main">
              <a:ext uri="{FF2B5EF4-FFF2-40B4-BE49-F238E27FC236}">
                <a16:creationId xmlns:a16="http://schemas.microsoft.com/office/drawing/2014/main" id="{DE312CCF-32C8-419F-96B7-F1D2546E4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905125"/>
            <a:ext cx="33337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Human</a:t>
            </a:r>
          </a:p>
        </p:txBody>
      </p:sp>
      <p:sp>
        <p:nvSpPr>
          <p:cNvPr id="27" name="node-body">
            <a:extLst xmlns:a="http://schemas.openxmlformats.org/drawingml/2006/main">
              <a:ext uri="{FF2B5EF4-FFF2-40B4-BE49-F238E27FC236}">
                <a16:creationId xmlns:a16="http://schemas.microsoft.com/office/drawing/2014/main" id="{9777EA8F-A3CF-4604-8254-BBA9DC1C3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3838575"/>
            <a:ext cx="3905250" cy="1609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Consulta actual y mensajes</a:t>
            </a:r>
          </a:p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del usuario.</a:t>
            </a:r>
          </a:p>
        </p:txBody>
      </p:sp>
      <p:sp>
        <p:nvSpPr>
          <p:cNvPr id="28" name="concept-node">
            <a:extLst xmlns:a="http://schemas.openxmlformats.org/drawingml/2006/main">
              <a:ext uri="{FF2B5EF4-FFF2-40B4-BE49-F238E27FC236}">
                <a16:creationId xmlns:a16="http://schemas.microsoft.com/office/drawing/2014/main" id="{2A6218AC-6B0F-4A9C-AB2E-DA517584B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667000"/>
            <a:ext cx="4381500" cy="291465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ED8E3"/>
            </a:solidFill>
          </a:ln>
        </p:spPr>
      </p:sp>
      <p:sp>
        <p:nvSpPr>
          <p:cNvPr id="29" name="node-top-rule">
            <a:extLst xmlns:a="http://schemas.openxmlformats.org/drawingml/2006/main">
              <a:ext uri="{FF2B5EF4-FFF2-40B4-BE49-F238E27FC236}">
                <a16:creationId xmlns:a16="http://schemas.microsoft.com/office/drawing/2014/main" id="{14187856-CC03-47C3-A490-D0DFBFF44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2676525"/>
            <a:ext cx="43624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71A3759-53C6-432F-A842-8D5C491CD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29051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31" name="step-number">
            <a:extLst xmlns:a="http://schemas.openxmlformats.org/drawingml/2006/main">
              <a:ext uri="{FF2B5EF4-FFF2-40B4-BE49-F238E27FC236}">
                <a16:creationId xmlns:a16="http://schemas.microsoft.com/office/drawing/2014/main" id="{34745E52-8769-4572-BEEC-0F728D11D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2981325"/>
            <a:ext cx="45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3</a:t>
            </a:r>
          </a:p>
        </p:txBody>
      </p:sp>
      <p:sp>
        <p:nvSpPr>
          <p:cNvPr id="32" name="node-heading">
            <a:extLst xmlns:a="http://schemas.openxmlformats.org/drawingml/2006/main">
              <a:ext uri="{FF2B5EF4-FFF2-40B4-BE49-F238E27FC236}">
                <a16:creationId xmlns:a16="http://schemas.microsoft.com/office/drawing/2014/main" id="{5C712436-A533-4897-B9C3-BEF726A3A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2905125"/>
            <a:ext cx="33337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AI y Tool</a:t>
            </a:r>
          </a:p>
        </p:txBody>
      </p:sp>
      <p:sp>
        <p:nvSpPr>
          <p:cNvPr id="33" name="node-body">
            <a:extLst xmlns:a="http://schemas.openxmlformats.org/drawingml/2006/main">
              <a:ext uri="{FF2B5EF4-FFF2-40B4-BE49-F238E27FC236}">
                <a16:creationId xmlns:a16="http://schemas.microsoft.com/office/drawing/2014/main" id="{67CB7D03-61A7-4ED8-B6B6-337992DD4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3838575"/>
            <a:ext cx="3905250" cy="1609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Respuesta del modelo y,</a:t>
            </a:r>
          </a:p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más adelante, resultados de</a:t>
            </a:r>
          </a:p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herramientas.</a:t>
            </a:r>
          </a:p>
        </p:txBody>
      </p:sp>
      <p:cxnSp>
        <p:nvCxnSpPr>
          <p:cNvPr id="77" name=""/>
          <p:cNvCxnSpPr>
            <a:stCxn xmlns:a="http://schemas.openxmlformats.org/drawingml/2006/main" id="16" idx="3"/>
            <a:endCxn xmlns:a="http://schemas.openxmlformats.org/drawingml/2006/main" id="22" idx="1"/>
          </p:cNvCxnSpPr>
          <p:nvPr/>
        </p:nvCxnSpPr>
        <p:spPr>
          <a:xfrm xmlns:a="http://schemas.openxmlformats.org/drawingml/2006/main">
            <a:off x="4953000" y="4124325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E293B"/>
            </a:solidFill>
            <a:tailEnd type="triangle" w="med" len="med"/>
          </a:ln>
        </p:spPr>
      </p:cxnSp>
      <p:cxnSp>
        <p:nvCxnSpPr>
          <p:cNvPr id="78" name=""/>
          <p:cNvCxnSpPr>
            <a:stCxn xmlns:a="http://schemas.openxmlformats.org/drawingml/2006/main" id="22" idx="3"/>
            <a:endCxn xmlns:a="http://schemas.openxmlformats.org/drawingml/2006/main" id="28" idx="1"/>
          </p:cNvCxnSpPr>
          <p:nvPr/>
        </p:nvCxnSpPr>
        <p:spPr>
          <a:xfrm xmlns:a="http://schemas.openxmlformats.org/drawingml/2006/main">
            <a:off x="9810750" y="4124325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E293B"/>
            </a:solidFill>
            <a:tailEnd type="triangle" w="med" len="med"/>
          </a:ln>
        </p:spPr>
      </p:cxnSp>
      <p:sp>
        <p:nvSpPr>
          <p:cNvPr id="36" name="panel">
            <a:extLst xmlns:a="http://schemas.openxmlformats.org/drawingml/2006/main">
              <a:ext uri="{FF2B5EF4-FFF2-40B4-BE49-F238E27FC236}">
                <a16:creationId xmlns:a16="http://schemas.microsoft.com/office/drawing/2014/main" id="{A9513112-A895-46B7-AF8D-B5A01ADB2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05500"/>
            <a:ext cx="9048750" cy="1362075"/>
          </a:xfrm>
          <a:prstGeom xmlns:a="http://schemas.openxmlformats.org/drawingml/2006/main" prst="roundRect">
            <a:avLst>
              <a:gd name="adj" fmla="val 11189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37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696807FF-7C71-481B-82BB-6EA591F59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057900"/>
            <a:ext cx="1333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PREGUNTA PARA ACTIVAR EL CONCEPTO</a:t>
            </a:r>
          </a:p>
        </p:txBody>
      </p:sp>
      <p:sp>
        <p:nvSpPr>
          <p:cNvPr id="38" name="concept-question">
            <a:extLst xmlns:a="http://schemas.openxmlformats.org/drawingml/2006/main">
              <a:ext uri="{FF2B5EF4-FFF2-40B4-BE49-F238E27FC236}">
                <a16:creationId xmlns:a16="http://schemas.microsoft.com/office/drawing/2014/main" id="{7AD6D2C3-504F-411B-8CA1-2C76A13E3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362700"/>
            <a:ext cx="86296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¿Qué cambia si solo envías el último mensaje?</a:t>
            </a:r>
          </a:p>
        </p:txBody>
      </p:sp>
      <p:sp>
        <p:nvSpPr>
          <p:cNvPr id="39" name="panel">
            <a:extLst xmlns:a="http://schemas.openxmlformats.org/drawingml/2006/main">
              <a:ext uri="{FF2B5EF4-FFF2-40B4-BE49-F238E27FC236}">
                <a16:creationId xmlns:a16="http://schemas.microsoft.com/office/drawing/2014/main" id="{8A04A707-927A-4515-9C84-DD5108525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5905500"/>
            <a:ext cx="4762500" cy="1362075"/>
          </a:xfrm>
          <a:prstGeom xmlns:a="http://schemas.openxmlformats.org/drawingml/2006/main" prst="roundRect">
            <a:avLst>
              <a:gd name="adj" fmla="val 11189"/>
            </a:avLst>
          </a:prstGeom>
          <a:solidFill xmlns:a="http://schemas.openxmlformats.org/drawingml/2006/main">
            <a:srgbClr val="FFF0EB"/>
          </a:solidFill>
          <a:ln xmlns:a="http://schemas.openxmlformats.org/drawingml/2006/main" w="0">
            <a:noFill/>
          </a:ln>
        </p:spPr>
      </p:sp>
      <p:sp>
        <p:nvSpPr>
          <p:cNvPr id="40" name="misconception-label">
            <a:extLst xmlns:a="http://schemas.openxmlformats.org/drawingml/2006/main">
              <a:ext uri="{FF2B5EF4-FFF2-40B4-BE49-F238E27FC236}">
                <a16:creationId xmlns:a16="http://schemas.microsoft.com/office/drawing/2014/main" id="{7A2C349D-ACBB-417C-9523-6DC8C4270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6057900"/>
            <a:ext cx="43148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5733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FF5733"/>
                </a:solidFill>
                <a:latin typeface="DejaVu Sans"/>
                <a:ea typeface="DejaVu Sans"/>
                <a:cs typeface="DejaVu Sans"/>
              </a:rPr>
              <a:t>EVITAR ESTA CONFUSIÓN</a:t>
            </a:r>
          </a:p>
        </p:txBody>
      </p:sp>
      <p:sp>
        <p:nvSpPr>
          <p:cNvPr id="41" name="misconception">
            <a:extLst xmlns:a="http://schemas.openxmlformats.org/drawingml/2006/main">
              <a:ext uri="{FF2B5EF4-FFF2-40B4-BE49-F238E27FC236}">
                <a16:creationId xmlns:a16="http://schemas.microsoft.com/office/drawing/2014/main" id="{46B92BE3-F8EA-43FC-8522-4403E24F7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6372225"/>
            <a:ext cx="43148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Suponer que los roles guardan memoria</a:t>
            </a:r>
          </a:p>
          <a:p xmlns:a="http://schemas.openxmlformats.org/drawingml/2006/main">
            <a:pPr algn="l">
              <a:defRPr sz="165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por sí mismos.</a:t>
            </a:r>
          </a:p>
        </p:txBody>
      </p:sp>
      <p:sp>
        <p:nvSpPr>
          <p:cNvPr id="42" name="panel">
            <a:extLst xmlns:a="http://schemas.openxmlformats.org/drawingml/2006/main">
              <a:ext uri="{FF2B5EF4-FFF2-40B4-BE49-F238E27FC236}">
                <a16:creationId xmlns:a16="http://schemas.microsoft.com/office/drawing/2014/main" id="{F5217A39-AD1F-4C8B-97C9-8E5760906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467600"/>
            <a:ext cx="14287500" cy="695325"/>
          </a:xfrm>
          <a:prstGeom xmlns:a="http://schemas.openxmlformats.org/drawingml/2006/main" prst="roundRect">
            <a:avLst>
              <a:gd name="adj" fmla="val 1917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43" name="takeaway">
            <a:extLst xmlns:a="http://schemas.openxmlformats.org/drawingml/2006/main">
              <a:ext uri="{FF2B5EF4-FFF2-40B4-BE49-F238E27FC236}">
                <a16:creationId xmlns:a16="http://schemas.microsoft.com/office/drawing/2014/main" id="{043C37AD-7A8B-422C-85CC-3544E063E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7639050"/>
            <a:ext cx="1381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La conversación existe porque la aplicación la administra.</a:t>
            </a:r>
          </a:p>
        </p:txBody>
      </p:sp>
    </p:spTree>
    <p:extLst>
      <p:ext uri="{BB962C8B-B14F-4D97-AF65-F5344CB8AC3E}">
        <p14:creationId xmlns:p14="http://schemas.microsoft.com/office/powerpoint/2010/main" val="203953988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header">
            <a:extLst xmlns:a="http://schemas.openxmlformats.org/drawingml/2006/main">
              <a:ext uri="{FF2B5EF4-FFF2-40B4-BE49-F238E27FC236}">
                <a16:creationId xmlns:a16="http://schemas.microsoft.com/office/drawing/2014/main" id="{A819D566-F15C-4293-8C47-C4890B33E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47650"/>
            <a:ext cx="14706600" cy="1057275"/>
          </a:xfrm>
          <a:prstGeom xmlns:a="http://schemas.openxmlformats.org/drawingml/2006/main" prst="roundRect">
            <a:avLst>
              <a:gd name="adj" fmla="val 1801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312DFB-70B8-437F-93BF-70B191CD6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3" name="step-number">
            <a:extLst xmlns:a="http://schemas.openxmlformats.org/drawingml/2006/main">
              <a:ext uri="{FF2B5EF4-FFF2-40B4-BE49-F238E27FC236}">
                <a16:creationId xmlns:a16="http://schemas.microsoft.com/office/drawing/2014/main" id="{3DFED6CB-A61A-4B9E-A795-7731DBF73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5905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2</a:t>
            </a:r>
          </a:p>
        </p:txBody>
      </p:sp>
      <p:sp>
        <p:nvSpPr>
          <p:cNvPr id="4" name="breadcrumb">
            <a:extLst xmlns:a="http://schemas.openxmlformats.org/drawingml/2006/main">
              <a:ext uri="{FF2B5EF4-FFF2-40B4-BE49-F238E27FC236}">
                <a16:creationId xmlns:a16="http://schemas.microsoft.com/office/drawing/2014/main" id="{C6F44F89-EC42-449C-9AB3-2BC00E859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400050"/>
            <a:ext cx="1228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rPr>
              <a:t>02 · Prompts, mensajes y contratos / CAPÍTULO 2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1B4EAB1-CDCF-46A2-A779-821D1A8F2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714375"/>
            <a:ext cx="1314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Quién conserva cada parte</a:t>
            </a:r>
          </a:p>
        </p:txBody>
      </p:sp>
      <p:sp>
        <p:nvSpPr>
          <p:cNvPr id="6" name="learning-purpose">
            <a:extLst xmlns:a="http://schemas.openxmlformats.org/drawingml/2006/main">
              <a:ext uri="{FF2B5EF4-FFF2-40B4-BE49-F238E27FC236}">
                <a16:creationId xmlns:a16="http://schemas.microsoft.com/office/drawing/2014/main" id="{EBDAFEBC-5210-4B58-80F3-E24C687A0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14475"/>
            <a:ext cx="141351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Construir la entrada conversacional con roles y contexto explícitos.</a:t>
            </a:r>
          </a:p>
        </p:txBody>
      </p:sp>
      <p:sp>
        <p:nvSpPr>
          <p:cNvPr id="7" name="panel">
            <a:extLst xmlns:a="http://schemas.openxmlformats.org/drawingml/2006/main">
              <a:ext uri="{FF2B5EF4-FFF2-40B4-BE49-F238E27FC236}">
                <a16:creationId xmlns:a16="http://schemas.microsoft.com/office/drawing/2014/main" id="{3137EB32-3365-45E2-BC1F-4743D6F4D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8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39A5DFB6-D110-48BD-94D8-A1E75F8CB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1 · CONCEPTO</a:t>
            </a:r>
          </a:p>
        </p:txBody>
      </p:sp>
      <p:sp>
        <p:nvSpPr>
          <p:cNvPr id="9" name="panel">
            <a:extLst xmlns:a="http://schemas.openxmlformats.org/drawingml/2006/main">
              <a:ext uri="{FF2B5EF4-FFF2-40B4-BE49-F238E27FC236}">
                <a16:creationId xmlns:a16="http://schemas.microsoft.com/office/drawing/2014/main" id="{27536FB3-492F-4453-ADFC-59374AE8E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91925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10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D8C7A044-710B-48BA-BE6C-4AE27A261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8600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2 · DESARROLLO</a:t>
            </a:r>
          </a:p>
        </p:txBody>
      </p:sp>
      <p:sp>
        <p:nvSpPr>
          <p:cNvPr id="11" name="panel">
            <a:extLst xmlns:a="http://schemas.openxmlformats.org/drawingml/2006/main">
              <a:ext uri="{FF2B5EF4-FFF2-40B4-BE49-F238E27FC236}">
                <a16:creationId xmlns:a16="http://schemas.microsoft.com/office/drawing/2014/main" id="{7B3C169B-8638-4F40-9210-4A1637E1D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8260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12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1DF497B7-C4C8-4203-88C8-42C5EB027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4927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3 · EJEMPLO</a:t>
            </a:r>
          </a:p>
        </p:txBody>
      </p:sp>
      <p:sp>
        <p:nvSpPr>
          <p:cNvPr id="13" name="footer">
            <a:extLst xmlns:a="http://schemas.openxmlformats.org/drawingml/2006/main">
              <a:ext uri="{FF2B5EF4-FFF2-40B4-BE49-F238E27FC236}">
                <a16:creationId xmlns:a16="http://schemas.microsoft.com/office/drawing/2014/main" id="{E0692CC6-2F4B-4035-8746-1C0C4B2D1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277225"/>
            <a:ext cx="1190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AriwaLabs · 02 / C02</a:t>
            </a:r>
          </a:p>
        </p:txBody>
      </p:sp>
      <p:sp>
        <p:nvSpPr>
          <p:cNvPr id="14" name="folio">
            <a:extLst xmlns:a="http://schemas.openxmlformats.org/drawingml/2006/main">
              <a:ext uri="{FF2B5EF4-FFF2-40B4-BE49-F238E27FC236}">
                <a16:creationId xmlns:a16="http://schemas.microsoft.com/office/drawing/2014/main" id="{17FBA696-D89F-4874-A565-05E7DB46C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258175"/>
            <a:ext cx="781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5</a:t>
            </a:r>
          </a:p>
        </p:txBody>
      </p:sp>
      <p:sp>
        <p:nvSpPr>
          <p:cNvPr id="15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8402AC1C-350C-4183-9382-5D627A0B8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81225"/>
            <a:ext cx="1333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DEL CONCEPTO A UNA COMPROBACIÓN CONCRETA</a:t>
            </a:r>
          </a:p>
        </p:txBody>
      </p:sp>
      <p:graphicFrame>
        <p:nvGraphicFramePr>
          <p:cNvPr id="41" name=""/>
          <p:cNvGraphicFramePr/>
          <p:nvPr/>
        </p:nvGraphicFramePr>
        <p:xfrm>
          <a:off xmlns:a="http://schemas.openxmlformats.org/drawingml/2006/main" x="571500" y="2667000"/>
          <a:ext xmlns:a="http://schemas.openxmlformats.org/drawingml/2006/main" cx="9334500" cy="36766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6477000"/>
              </a:tblGrid>
              <a:tr h="476250"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PUNTO DE REVISIÓN</a:t>
                      </a:r>
                    </a:p>
                  </a:txBody>
                  <a:tcPr marL="91440" marR="91440" marT="45720" marB="45720" anchor="ctr">
                    <a:solidFill>
                      <a:srgbClr val="1E293B"/>
                    </a:solidFill>
                  </a:tcPr>
                </a:tc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EXPLICACIÓN / CRITERIO</a:t>
                      </a:r>
                    </a:p>
                  </a:txBody>
                  <a:tcPr marL="91440" marR="91440" marT="45720" marB="45720" anchor="ctr">
                    <a:solidFill>
                      <a:srgbClr val="1E293B"/>
                    </a:solidFill>
                  </a:tcPr>
                </a:tc>
              </a:tr>
              <a:tr h="1066800"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Aplicación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Construye la lista de mensajes de la llamada.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1066800"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Modelo</a:t>
                      </a:r>
                    </a:p>
                  </a:txBody>
                  <a:tcPr marL="91440" marR="91440" marT="45720" marB="45720" anchor="ctr">
                    <a:solidFill>
                      <a:srgbClr val="E9F0F7"/>
                    </a:solidFill>
                  </a:tcPr>
                </a:tc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Responde a lo que recibe en esa invocación.</a:t>
                      </a:r>
                    </a:p>
                  </a:txBody>
                  <a:tcPr marL="91440" marR="91440" marT="45720" marB="45720" anchor="ctr">
                    <a:solidFill>
                      <a:srgbClr val="E9F0F7"/>
                    </a:solidFill>
                  </a:tcPr>
                </a:tc>
              </a:tr>
              <a:tr h="1066800"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Historial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Debe reenviarse cuando la tarea depende del</a:t>
                      </a:r>
                    </a:p>
                    <a:p>
                      <a:r>
                        <a:rPr sz="1875" b="0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turno anterior.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" name="panel">
            <a:extLst xmlns:a="http://schemas.openxmlformats.org/drawingml/2006/main">
              <a:ext uri="{FF2B5EF4-FFF2-40B4-BE49-F238E27FC236}">
                <a16:creationId xmlns:a16="http://schemas.microsoft.com/office/drawing/2014/main" id="{C7016335-BAD1-4845-9D86-921F12EF6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667000"/>
            <a:ext cx="4476750" cy="3676650"/>
          </a:xfrm>
          <a:prstGeom xmlns:a="http://schemas.openxmlformats.org/drawingml/2006/main" prst="roundRect">
            <a:avLst>
              <a:gd name="adj" fmla="val 4663"/>
            </a:avLst>
          </a:prstGeom>
          <a:solidFill xmlns:a="http://schemas.openxmlformats.org/drawingml/2006/main">
            <a:srgbClr val="FFF0EB"/>
          </a:solidFill>
          <a:ln xmlns:a="http://schemas.openxmlformats.org/drawingml/2006/main" w="14288">
            <a:solidFill>
              <a:srgbClr val="FF5733"/>
            </a:solidFill>
          </a:ln>
        </p:spPr>
      </p:sp>
      <p:sp>
        <p:nvSpPr>
          <p:cNvPr id="18" name="development-limit-label">
            <a:extLst xmlns:a="http://schemas.openxmlformats.org/drawingml/2006/main">
              <a:ext uri="{FF2B5EF4-FFF2-40B4-BE49-F238E27FC236}">
                <a16:creationId xmlns:a16="http://schemas.microsoft.com/office/drawing/2014/main" id="{909BEFB9-3ED3-40CD-8ED7-3F8D8893E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2886075"/>
            <a:ext cx="4019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5733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FF5733"/>
                </a:solidFill>
                <a:latin typeface="DejaVu Sans"/>
                <a:ea typeface="DejaVu Sans"/>
                <a:cs typeface="DejaVu Sans"/>
              </a:rPr>
              <a:t>EL LÍMITE QUE IMPORTA</a:t>
            </a:r>
          </a:p>
        </p:txBody>
      </p:sp>
      <p:sp>
        <p:nvSpPr>
          <p:cNvPr id="19" name="development-limit">
            <a:extLst xmlns:a="http://schemas.openxmlformats.org/drawingml/2006/main">
              <a:ext uri="{FF2B5EF4-FFF2-40B4-BE49-F238E27FC236}">
                <a16:creationId xmlns:a16="http://schemas.microsoft.com/office/drawing/2014/main" id="{43E51F71-5735-4BCD-ADB5-02F348EE5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3362325"/>
            <a:ext cx="401955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Suponer que los roles</a:t>
            </a:r>
          </a:p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guardan memoria por sí</a:t>
            </a:r>
          </a:p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mismos.</a:t>
            </a:r>
          </a:p>
        </p:txBody>
      </p:sp>
      <p:sp>
        <p:nvSpPr>
          <p:cNvPr id="20" name="development-prompt">
            <a:extLst xmlns:a="http://schemas.openxmlformats.org/drawingml/2006/main">
              <a:ext uri="{FF2B5EF4-FFF2-40B4-BE49-F238E27FC236}">
                <a16:creationId xmlns:a16="http://schemas.microsoft.com/office/drawing/2014/main" id="{25686B68-E02A-45A0-97C6-A6393D45D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5553075"/>
            <a:ext cx="40195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Revisar este supuesto evita aplicar la</a:t>
            </a:r>
          </a:p>
          <a:p xmlns:a="http://schemas.openxmlformats.org/drawingml/2006/main">
            <a:pPr algn="l">
              <a:defRPr sz="1500" b="0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idea fuera de su alcance.</a:t>
            </a:r>
          </a:p>
        </p:txBody>
      </p:sp>
      <p:sp>
        <p:nvSpPr>
          <p:cNvPr id="21" name="panel">
            <a:extLst xmlns:a="http://schemas.openxmlformats.org/drawingml/2006/main">
              <a:ext uri="{FF2B5EF4-FFF2-40B4-BE49-F238E27FC236}">
                <a16:creationId xmlns:a16="http://schemas.microsoft.com/office/drawing/2014/main" id="{DEA8E5C2-971A-4AA4-ABE7-10FF7C7D3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05575"/>
            <a:ext cx="14097000" cy="752475"/>
          </a:xfrm>
          <a:prstGeom xmlns:a="http://schemas.openxmlformats.org/drawingml/2006/main" prst="roundRect">
            <a:avLst>
              <a:gd name="adj" fmla="val 20253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22" name="check-label">
            <a:extLst xmlns:a="http://schemas.openxmlformats.org/drawingml/2006/main">
              <a:ext uri="{FF2B5EF4-FFF2-40B4-BE49-F238E27FC236}">
                <a16:creationId xmlns:a16="http://schemas.microsoft.com/office/drawing/2014/main" id="{4E9624B9-711E-4B61-B69C-DA3DF87E1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600825"/>
            <a:ext cx="136779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COMPRUEBA TU RAZONAMIENTO</a:t>
            </a:r>
          </a:p>
        </p:txBody>
      </p:sp>
      <p:sp>
        <p:nvSpPr>
          <p:cNvPr id="23" name="development-question">
            <a:extLst xmlns:a="http://schemas.openxmlformats.org/drawingml/2006/main">
              <a:ext uri="{FF2B5EF4-FFF2-40B4-BE49-F238E27FC236}">
                <a16:creationId xmlns:a16="http://schemas.microsoft.com/office/drawing/2014/main" id="{73208973-20FA-4E0F-AD20-809864190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886575"/>
            <a:ext cx="13677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¿Qué cambia si solo envías el último mensaje?</a:t>
            </a:r>
          </a:p>
        </p:txBody>
      </p:sp>
      <p:sp>
        <p:nvSpPr>
          <p:cNvPr id="24" name="panel">
            <a:extLst xmlns:a="http://schemas.openxmlformats.org/drawingml/2006/main">
              <a:ext uri="{FF2B5EF4-FFF2-40B4-BE49-F238E27FC236}">
                <a16:creationId xmlns:a16="http://schemas.microsoft.com/office/drawing/2014/main" id="{6D35DEAE-F7A4-482D-B11B-7A719FF82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467600"/>
            <a:ext cx="14287500" cy="695325"/>
          </a:xfrm>
          <a:prstGeom xmlns:a="http://schemas.openxmlformats.org/drawingml/2006/main" prst="roundRect">
            <a:avLst>
              <a:gd name="adj" fmla="val 1917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5" name="takeaway">
            <a:extLst xmlns:a="http://schemas.openxmlformats.org/drawingml/2006/main">
              <a:ext uri="{FF2B5EF4-FFF2-40B4-BE49-F238E27FC236}">
                <a16:creationId xmlns:a16="http://schemas.microsoft.com/office/drawing/2014/main" id="{A623B70E-073F-45B7-9AAC-700FDC356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7639050"/>
            <a:ext cx="1381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La conversación existe porque la aplicación la administra.</a:t>
            </a:r>
          </a:p>
        </p:txBody>
      </p:sp>
    </p:spTree>
    <p:extLst>
      <p:ext uri="{BB962C8B-B14F-4D97-AF65-F5344CB8AC3E}">
        <p14:creationId xmlns:p14="http://schemas.microsoft.com/office/powerpoint/2010/main" val="138913526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4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header">
            <a:extLst xmlns:a="http://schemas.openxmlformats.org/drawingml/2006/main">
              <a:ext uri="{FF2B5EF4-FFF2-40B4-BE49-F238E27FC236}">
                <a16:creationId xmlns:a16="http://schemas.microsoft.com/office/drawing/2014/main" id="{21562756-AA0A-4AB7-A170-787309176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47650"/>
            <a:ext cx="14706600" cy="1057275"/>
          </a:xfrm>
          <a:prstGeom xmlns:a="http://schemas.openxmlformats.org/drawingml/2006/main" prst="roundRect">
            <a:avLst>
              <a:gd name="adj" fmla="val 1801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4B7A38-3D8D-417E-AC70-0035118C8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3" name="step-number">
            <a:extLst xmlns:a="http://schemas.openxmlformats.org/drawingml/2006/main">
              <a:ext uri="{FF2B5EF4-FFF2-40B4-BE49-F238E27FC236}">
                <a16:creationId xmlns:a16="http://schemas.microsoft.com/office/drawing/2014/main" id="{C599DD5D-CA5F-46F8-986D-E3BBE53DF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5905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2</a:t>
            </a:r>
          </a:p>
        </p:txBody>
      </p:sp>
      <p:sp>
        <p:nvSpPr>
          <p:cNvPr id="4" name="breadcrumb">
            <a:extLst xmlns:a="http://schemas.openxmlformats.org/drawingml/2006/main">
              <a:ext uri="{FF2B5EF4-FFF2-40B4-BE49-F238E27FC236}">
                <a16:creationId xmlns:a16="http://schemas.microsoft.com/office/drawing/2014/main" id="{2BDCD20E-28BB-4801-9AE3-761E49E4A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400050"/>
            <a:ext cx="1228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rPr>
              <a:t>02 · Prompts, mensajes y contratos / CAPÍTULO 2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F88463C-8AF7-4CE6-93D6-A9DDE29E7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714375"/>
            <a:ext cx="1314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Ejemplo · Mensajes, roles y statelessness</a:t>
            </a:r>
          </a:p>
        </p:txBody>
      </p:sp>
      <p:sp>
        <p:nvSpPr>
          <p:cNvPr id="6" name="learning-purpose">
            <a:extLst xmlns:a="http://schemas.openxmlformats.org/drawingml/2006/main">
              <a:ext uri="{FF2B5EF4-FFF2-40B4-BE49-F238E27FC236}">
                <a16:creationId xmlns:a16="http://schemas.microsoft.com/office/drawing/2014/main" id="{C95AA0E1-B00A-4500-9233-9CAEFEC1F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14475"/>
            <a:ext cx="141351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Construir la entrada conversacional con roles y contexto explícitos.</a:t>
            </a:r>
          </a:p>
        </p:txBody>
      </p:sp>
      <p:sp>
        <p:nvSpPr>
          <p:cNvPr id="7" name="panel">
            <a:extLst xmlns:a="http://schemas.openxmlformats.org/drawingml/2006/main">
              <a:ext uri="{FF2B5EF4-FFF2-40B4-BE49-F238E27FC236}">
                <a16:creationId xmlns:a16="http://schemas.microsoft.com/office/drawing/2014/main" id="{83530B5E-9C4F-4A2F-ADA2-7DE13F8E0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8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A52E0221-4B21-4211-BF8B-200A1048A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1 · CONCEPTO</a:t>
            </a:r>
          </a:p>
        </p:txBody>
      </p:sp>
      <p:sp>
        <p:nvSpPr>
          <p:cNvPr id="9" name="panel">
            <a:extLst xmlns:a="http://schemas.openxmlformats.org/drawingml/2006/main">
              <a:ext uri="{FF2B5EF4-FFF2-40B4-BE49-F238E27FC236}">
                <a16:creationId xmlns:a16="http://schemas.microsoft.com/office/drawing/2014/main" id="{BAFC7359-F8DD-40F3-930C-C1F4D34E6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91925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10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112D3B27-3F6C-4E62-B761-5DD07F58E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8600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2 · DESARROLLO</a:t>
            </a:r>
          </a:p>
        </p:txBody>
      </p:sp>
      <p:sp>
        <p:nvSpPr>
          <p:cNvPr id="11" name="panel">
            <a:extLst xmlns:a="http://schemas.openxmlformats.org/drawingml/2006/main">
              <a:ext uri="{FF2B5EF4-FFF2-40B4-BE49-F238E27FC236}">
                <a16:creationId xmlns:a16="http://schemas.microsoft.com/office/drawing/2014/main" id="{8D7382E8-523A-45B6-9D0F-B1F130687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8260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12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BEC8DC36-803A-4211-A4EE-D3A10E858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4927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3 · EJEMPLO</a:t>
            </a:r>
          </a:p>
        </p:txBody>
      </p:sp>
      <p:sp>
        <p:nvSpPr>
          <p:cNvPr id="13" name="footer">
            <a:extLst xmlns:a="http://schemas.openxmlformats.org/drawingml/2006/main">
              <a:ext uri="{FF2B5EF4-FFF2-40B4-BE49-F238E27FC236}">
                <a16:creationId xmlns:a16="http://schemas.microsoft.com/office/drawing/2014/main" id="{48CE8EBE-24D0-4ADA-9A55-F3DC45113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277225"/>
            <a:ext cx="1190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AriwaLabs · 02 / C02</a:t>
            </a:r>
          </a:p>
        </p:txBody>
      </p:sp>
      <p:sp>
        <p:nvSpPr>
          <p:cNvPr id="14" name="folio">
            <a:extLst xmlns:a="http://schemas.openxmlformats.org/drawingml/2006/main">
              <a:ext uri="{FF2B5EF4-FFF2-40B4-BE49-F238E27FC236}">
                <a16:creationId xmlns:a16="http://schemas.microsoft.com/office/drawing/2014/main" id="{4A3BED10-332C-4888-BD39-7FF558736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258175"/>
            <a:ext cx="781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6</a:t>
            </a:r>
          </a:p>
        </p:txBody>
      </p:sp>
      <p:sp>
        <p:nvSpPr>
          <p:cNvPr id="15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65F8F5D7-F50F-44E4-917B-09A015DFE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81225"/>
            <a:ext cx="1333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ANDESMÓVIL · CASO DIDÁCTICO</a:t>
            </a:r>
          </a:p>
        </p:txBody>
      </p:sp>
      <p:sp>
        <p:nvSpPr>
          <p:cNvPr id="16" name="panel">
            <a:extLst xmlns:a="http://schemas.openxmlformats.org/drawingml/2006/main">
              <a:ext uri="{FF2B5EF4-FFF2-40B4-BE49-F238E27FC236}">
                <a16:creationId xmlns:a16="http://schemas.microsoft.com/office/drawing/2014/main" id="{A2A2CA1E-8AA6-49DC-B537-039A0DCC3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38425"/>
            <a:ext cx="14097000" cy="962025"/>
          </a:xfrm>
          <a:prstGeom xmlns:a="http://schemas.openxmlformats.org/drawingml/2006/main" prst="roundRect">
            <a:avLst>
              <a:gd name="adj" fmla="val 15842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17" name="case-label">
            <a:extLst xmlns:a="http://schemas.openxmlformats.org/drawingml/2006/main">
              <a:ext uri="{FF2B5EF4-FFF2-40B4-BE49-F238E27FC236}">
                <a16:creationId xmlns:a16="http://schemas.microsoft.com/office/drawing/2014/main" id="{83DA0DEA-99D4-4E9E-B086-75D38B15B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81300"/>
            <a:ext cx="1333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SITUACIÓN</a:t>
            </a:r>
          </a:p>
        </p:txBody>
      </p:sp>
      <p:sp>
        <p:nvSpPr>
          <p:cNvPr id="18" name="case-input">
            <a:extLst xmlns:a="http://schemas.openxmlformats.org/drawingml/2006/main">
              <a:ext uri="{FF2B5EF4-FFF2-40B4-BE49-F238E27FC236}">
                <a16:creationId xmlns:a16="http://schemas.microsoft.com/office/drawing/2014/main" id="{8B89ACC9-EC39-4C09-8FBD-6F9BE0634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2819400"/>
            <a:ext cx="121634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El usuario dice «mi línea termina en 321» y luego «¿cuánto consumí?».</a:t>
            </a:r>
          </a:p>
        </p:txBody>
      </p:sp>
      <p:sp>
        <p:nvSpPr>
          <p:cNvPr id="19" name="concept-node">
            <a:extLst xmlns:a="http://schemas.openxmlformats.org/drawingml/2006/main">
              <a:ext uri="{FF2B5EF4-FFF2-40B4-BE49-F238E27FC236}">
                <a16:creationId xmlns:a16="http://schemas.microsoft.com/office/drawing/2014/main" id="{97682EEA-C2F5-48AF-92FB-BCB592A1B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943350"/>
            <a:ext cx="4381500" cy="2133600"/>
          </a:xfrm>
          <a:prstGeom xmlns:a="http://schemas.openxmlformats.org/drawingml/2006/main" prst="roundRect">
            <a:avLst>
              <a:gd name="adj" fmla="val 80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ED8E3"/>
            </a:solidFill>
          </a:ln>
        </p:spPr>
      </p:sp>
      <p:sp>
        <p:nvSpPr>
          <p:cNvPr id="20" name="node-top-rule">
            <a:extLst xmlns:a="http://schemas.openxmlformats.org/drawingml/2006/main">
              <a:ext uri="{FF2B5EF4-FFF2-40B4-BE49-F238E27FC236}">
                <a16:creationId xmlns:a16="http://schemas.microsoft.com/office/drawing/2014/main" id="{39EE468F-C327-4A0A-BBD3-570C1ED4A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3952875"/>
            <a:ext cx="43624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F19640A-0765-467E-9B9F-C7D30EFCB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814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2" name="step-number">
            <a:extLst xmlns:a="http://schemas.openxmlformats.org/drawingml/2006/main">
              <a:ext uri="{FF2B5EF4-FFF2-40B4-BE49-F238E27FC236}">
                <a16:creationId xmlns:a16="http://schemas.microsoft.com/office/drawing/2014/main" id="{31D62D56-8503-4D3F-81B2-77F4A8F8C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57675"/>
            <a:ext cx="45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1</a:t>
            </a:r>
          </a:p>
        </p:txBody>
      </p:sp>
      <p:sp>
        <p:nvSpPr>
          <p:cNvPr id="23" name="node-heading">
            <a:extLst xmlns:a="http://schemas.openxmlformats.org/drawingml/2006/main">
              <a:ext uri="{FF2B5EF4-FFF2-40B4-BE49-F238E27FC236}">
                <a16:creationId xmlns:a16="http://schemas.microsoft.com/office/drawing/2014/main" id="{3AE4FECE-DA8E-4DB4-8C57-82D5103C2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181475"/>
            <a:ext cx="333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Separar</a:t>
            </a:r>
          </a:p>
        </p:txBody>
      </p:sp>
      <p:sp>
        <p:nvSpPr>
          <p:cNvPr id="24" name="node-body">
            <a:extLst xmlns:a="http://schemas.openxmlformats.org/drawingml/2006/main">
              <a:ext uri="{FF2B5EF4-FFF2-40B4-BE49-F238E27FC236}">
                <a16:creationId xmlns:a16="http://schemas.microsoft.com/office/drawing/2014/main" id="{4673BE42-A803-4EB1-B0BB-5A339543A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962525"/>
            <a:ext cx="3905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El segundo mensaje no contiene</a:t>
            </a:r>
          </a:p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toda la identificación.</a:t>
            </a:r>
          </a:p>
        </p:txBody>
      </p:sp>
      <p:sp>
        <p:nvSpPr>
          <p:cNvPr id="25" name="concept-node">
            <a:extLst xmlns:a="http://schemas.openxmlformats.org/drawingml/2006/main">
              <a:ext uri="{FF2B5EF4-FFF2-40B4-BE49-F238E27FC236}">
                <a16:creationId xmlns:a16="http://schemas.microsoft.com/office/drawing/2014/main" id="{0CA88139-39A4-4341-96C4-5D1B994A9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943350"/>
            <a:ext cx="4381500" cy="2133600"/>
          </a:xfrm>
          <a:prstGeom xmlns:a="http://schemas.openxmlformats.org/drawingml/2006/main" prst="roundRect">
            <a:avLst>
              <a:gd name="adj" fmla="val 8036"/>
            </a:avLst>
          </a:prstGeom>
          <a:solidFill xmlns:a="http://schemas.openxmlformats.org/drawingml/2006/main">
            <a:srgbClr val="FFF0EB"/>
          </a:solidFill>
          <a:ln xmlns:a="http://schemas.openxmlformats.org/drawingml/2006/main" w="14288">
            <a:solidFill>
              <a:srgbClr val="FF5733"/>
            </a:solidFill>
          </a:ln>
        </p:spPr>
      </p:sp>
      <p:sp>
        <p:nvSpPr>
          <p:cNvPr id="26" name="node-top-rule">
            <a:extLst xmlns:a="http://schemas.openxmlformats.org/drawingml/2006/main">
              <a:ext uri="{FF2B5EF4-FFF2-40B4-BE49-F238E27FC236}">
                <a16:creationId xmlns:a16="http://schemas.microsoft.com/office/drawing/2014/main" id="{CDB6136D-EBDD-4DCB-969A-A30BD39BD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775" y="3952875"/>
            <a:ext cx="43624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1098162-F0E8-4F1E-B5B7-5E50616E8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41814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28" name="step-number">
            <a:extLst xmlns:a="http://schemas.openxmlformats.org/drawingml/2006/main">
              <a:ext uri="{FF2B5EF4-FFF2-40B4-BE49-F238E27FC236}">
                <a16:creationId xmlns:a16="http://schemas.microsoft.com/office/drawing/2014/main" id="{013118D3-B904-49F1-A31D-8AEF1234A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4257675"/>
            <a:ext cx="45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2</a:t>
            </a:r>
          </a:p>
        </p:txBody>
      </p:sp>
      <p:sp>
        <p:nvSpPr>
          <p:cNvPr id="29" name="node-heading">
            <a:extLst xmlns:a="http://schemas.openxmlformats.org/drawingml/2006/main">
              <a:ext uri="{FF2B5EF4-FFF2-40B4-BE49-F238E27FC236}">
                <a16:creationId xmlns:a16="http://schemas.microsoft.com/office/drawing/2014/main" id="{FB5AD39C-D828-443C-A130-BFD19B4EF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181475"/>
            <a:ext cx="333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Preparar</a:t>
            </a:r>
          </a:p>
        </p:txBody>
      </p:sp>
      <p:sp>
        <p:nvSpPr>
          <p:cNvPr id="30" name="node-body">
            <a:extLst xmlns:a="http://schemas.openxmlformats.org/drawingml/2006/main">
              <a:ext uri="{FF2B5EF4-FFF2-40B4-BE49-F238E27FC236}">
                <a16:creationId xmlns:a16="http://schemas.microsoft.com/office/drawing/2014/main" id="{B68C6CAC-D11C-4B39-B95F-F7F05D98E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4962525"/>
            <a:ext cx="3905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La aplicación aporta el contexto</a:t>
            </a:r>
          </a:p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permitido.</a:t>
            </a:r>
          </a:p>
        </p:txBody>
      </p:sp>
      <p:sp>
        <p:nvSpPr>
          <p:cNvPr id="31" name="concept-node">
            <a:extLst xmlns:a="http://schemas.openxmlformats.org/drawingml/2006/main">
              <a:ext uri="{FF2B5EF4-FFF2-40B4-BE49-F238E27FC236}">
                <a16:creationId xmlns:a16="http://schemas.microsoft.com/office/drawing/2014/main" id="{F773E585-93B5-4E59-9594-103515558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943350"/>
            <a:ext cx="4381500" cy="2133600"/>
          </a:xfrm>
          <a:prstGeom xmlns:a="http://schemas.openxmlformats.org/drawingml/2006/main" prst="roundRect">
            <a:avLst>
              <a:gd name="adj" fmla="val 80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ED8E3"/>
            </a:solidFill>
          </a:ln>
        </p:spPr>
      </p:sp>
      <p:sp>
        <p:nvSpPr>
          <p:cNvPr id="32" name="node-top-rule">
            <a:extLst xmlns:a="http://schemas.openxmlformats.org/drawingml/2006/main">
              <a:ext uri="{FF2B5EF4-FFF2-40B4-BE49-F238E27FC236}">
                <a16:creationId xmlns:a16="http://schemas.microsoft.com/office/drawing/2014/main" id="{BBBBC576-55FA-4DB4-BF39-4D637B559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3952875"/>
            <a:ext cx="43624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2038B55-5560-4A1B-A75E-3F246F780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41814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34" name="step-number">
            <a:extLst xmlns:a="http://schemas.openxmlformats.org/drawingml/2006/main">
              <a:ext uri="{FF2B5EF4-FFF2-40B4-BE49-F238E27FC236}">
                <a16:creationId xmlns:a16="http://schemas.microsoft.com/office/drawing/2014/main" id="{8B7A35A1-4E7C-44EA-95F8-B30E2D43B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4257675"/>
            <a:ext cx="45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3</a:t>
            </a:r>
          </a:p>
        </p:txBody>
      </p:sp>
      <p:sp>
        <p:nvSpPr>
          <p:cNvPr id="35" name="node-heading">
            <a:extLst xmlns:a="http://schemas.openxmlformats.org/drawingml/2006/main">
              <a:ext uri="{FF2B5EF4-FFF2-40B4-BE49-F238E27FC236}">
                <a16:creationId xmlns:a16="http://schemas.microsoft.com/office/drawing/2014/main" id="{411AB577-22A0-41BE-A8BE-74743D315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4181475"/>
            <a:ext cx="333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Limitar</a:t>
            </a:r>
          </a:p>
        </p:txBody>
      </p:sp>
      <p:sp>
        <p:nvSpPr>
          <p:cNvPr id="36" name="node-body">
            <a:extLst xmlns:a="http://schemas.openxmlformats.org/drawingml/2006/main">
              <a:ext uri="{FF2B5EF4-FFF2-40B4-BE49-F238E27FC236}">
                <a16:creationId xmlns:a16="http://schemas.microsoft.com/office/drawing/2014/main" id="{359CE33B-3A14-475F-B51D-99D3B45A1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4962525"/>
            <a:ext cx="3905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Los datos reales se consultarán</a:t>
            </a:r>
          </a:p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mediante tools en S3.</a:t>
            </a:r>
          </a:p>
        </p:txBody>
      </p:sp>
      <p:cxnSp>
        <p:nvCxnSpPr>
          <p:cNvPr id="80" name=""/>
          <p:cNvCxnSpPr>
            <a:stCxn xmlns:a="http://schemas.openxmlformats.org/drawingml/2006/main" id="19" idx="3"/>
            <a:endCxn xmlns:a="http://schemas.openxmlformats.org/drawingml/2006/main" id="25" idx="1"/>
          </p:cNvCxnSpPr>
          <p:nvPr/>
        </p:nvCxnSpPr>
        <p:spPr>
          <a:xfrm xmlns:a="http://schemas.openxmlformats.org/drawingml/2006/main">
            <a:off x="4953000" y="501015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E293B"/>
            </a:solidFill>
            <a:tailEnd type="triangle" w="med" len="med"/>
          </a:ln>
        </p:spPr>
      </p:cxnSp>
      <p:cxnSp>
        <p:nvCxnSpPr>
          <p:cNvPr id="81" name=""/>
          <p:cNvCxnSpPr>
            <a:stCxn xmlns:a="http://schemas.openxmlformats.org/drawingml/2006/main" id="25" idx="3"/>
            <a:endCxn xmlns:a="http://schemas.openxmlformats.org/drawingml/2006/main" id="31" idx="1"/>
          </p:cNvCxnSpPr>
          <p:nvPr/>
        </p:nvCxnSpPr>
        <p:spPr>
          <a:xfrm xmlns:a="http://schemas.openxmlformats.org/drawingml/2006/main">
            <a:off x="9810750" y="501015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E293B"/>
            </a:solidFill>
            <a:tailEnd type="triangle" w="med" len="med"/>
          </a:ln>
        </p:spPr>
      </p:cxnSp>
      <p:sp>
        <p:nvSpPr>
          <p:cNvPr id="39" name="panel">
            <a:extLst xmlns:a="http://schemas.openxmlformats.org/drawingml/2006/main">
              <a:ext uri="{FF2B5EF4-FFF2-40B4-BE49-F238E27FC236}">
                <a16:creationId xmlns:a16="http://schemas.microsoft.com/office/drawing/2014/main" id="{6EA766B5-D2AB-4196-987B-A0D5071E5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91250"/>
            <a:ext cx="14097000" cy="10668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0EB"/>
          </a:solidFill>
          <a:ln xmlns:a="http://schemas.openxmlformats.org/drawingml/2006/main" w="0">
            <a:noFill/>
          </a:ln>
        </p:spPr>
      </p:sp>
      <p:sp>
        <p:nvSpPr>
          <p:cNvPr id="40" name="result-label">
            <a:extLst xmlns:a="http://schemas.openxmlformats.org/drawingml/2006/main">
              <a:ext uri="{FF2B5EF4-FFF2-40B4-BE49-F238E27FC236}">
                <a16:creationId xmlns:a16="http://schemas.microsoft.com/office/drawing/2014/main" id="{4AD734CF-23E2-4600-A92E-BCB4E1E5E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296025"/>
            <a:ext cx="135731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5733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FF5733"/>
                </a:solidFill>
                <a:latin typeface="DejaVu Sans"/>
                <a:ea typeface="DejaVu Sans"/>
                <a:cs typeface="DejaVu Sans"/>
              </a:rPr>
              <a:t>RESULTADO ESPERADO</a:t>
            </a:r>
          </a:p>
        </p:txBody>
      </p:sp>
      <p:sp>
        <p:nvSpPr>
          <p:cNvPr id="41" name="case-outcome">
            <a:extLst xmlns:a="http://schemas.openxmlformats.org/drawingml/2006/main">
              <a:ext uri="{FF2B5EF4-FFF2-40B4-BE49-F238E27FC236}">
                <a16:creationId xmlns:a16="http://schemas.microsoft.com/office/drawing/2014/main" id="{30D0F9DB-B8E1-41E3-9C9B-318D9F865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591300"/>
            <a:ext cx="13573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Los roles organizan el contexto; no crean almacenamiento automático.</a:t>
            </a:r>
          </a:p>
        </p:txBody>
      </p:sp>
      <p:sp>
        <p:nvSpPr>
          <p:cNvPr id="42" name="panel">
            <a:extLst xmlns:a="http://schemas.openxmlformats.org/drawingml/2006/main">
              <a:ext uri="{FF2B5EF4-FFF2-40B4-BE49-F238E27FC236}">
                <a16:creationId xmlns:a16="http://schemas.microsoft.com/office/drawing/2014/main" id="{E307CB80-4AEF-4963-85F0-A881ACD29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467600"/>
            <a:ext cx="14287500" cy="695325"/>
          </a:xfrm>
          <a:prstGeom xmlns:a="http://schemas.openxmlformats.org/drawingml/2006/main" prst="roundRect">
            <a:avLst>
              <a:gd name="adj" fmla="val 1917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43" name="takeaway">
            <a:extLst xmlns:a="http://schemas.openxmlformats.org/drawingml/2006/main">
              <a:ext uri="{FF2B5EF4-FFF2-40B4-BE49-F238E27FC236}">
                <a16:creationId xmlns:a16="http://schemas.microsoft.com/office/drawing/2014/main" id="{12EAF4C2-269E-41FF-B4A2-16DC1921D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7639050"/>
            <a:ext cx="1381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La conversación existe porque la aplicación la administra.</a:t>
            </a:r>
          </a:p>
        </p:txBody>
      </p:sp>
    </p:spTree>
    <p:extLst>
      <p:ext uri="{BB962C8B-B14F-4D97-AF65-F5344CB8AC3E}">
        <p14:creationId xmlns:p14="http://schemas.microsoft.com/office/powerpoint/2010/main" val="188914603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4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header">
            <a:extLst xmlns:a="http://schemas.openxmlformats.org/drawingml/2006/main">
              <a:ext uri="{FF2B5EF4-FFF2-40B4-BE49-F238E27FC236}">
                <a16:creationId xmlns:a16="http://schemas.microsoft.com/office/drawing/2014/main" id="{C0C71D16-FA40-486A-9288-71B85CF99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47650"/>
            <a:ext cx="14706600" cy="1057275"/>
          </a:xfrm>
          <a:prstGeom xmlns:a="http://schemas.openxmlformats.org/drawingml/2006/main" prst="roundRect">
            <a:avLst>
              <a:gd name="adj" fmla="val 1801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376862-F819-471C-A1D2-7114331C2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3" name="step-number">
            <a:extLst xmlns:a="http://schemas.openxmlformats.org/drawingml/2006/main">
              <a:ext uri="{FF2B5EF4-FFF2-40B4-BE49-F238E27FC236}">
                <a16:creationId xmlns:a16="http://schemas.microsoft.com/office/drawing/2014/main" id="{DEDDA288-FE2F-4CD4-9A36-AC14C74C5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5905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3</a:t>
            </a:r>
          </a:p>
        </p:txBody>
      </p:sp>
      <p:sp>
        <p:nvSpPr>
          <p:cNvPr id="4" name="breadcrumb">
            <a:extLst xmlns:a="http://schemas.openxmlformats.org/drawingml/2006/main">
              <a:ext uri="{FF2B5EF4-FFF2-40B4-BE49-F238E27FC236}">
                <a16:creationId xmlns:a16="http://schemas.microsoft.com/office/drawing/2014/main" id="{B4AE6D13-2AE7-44C8-B55F-A894D6A6A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400050"/>
            <a:ext cx="1228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rPr>
              <a:t>02 · Prompts, mensajes y contratos / CAPÍTULO 3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745F6AC-7087-41E8-AD70-4AE50CC74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714375"/>
            <a:ext cx="1314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Rol, contexto, tarea y formato</a:t>
            </a:r>
          </a:p>
        </p:txBody>
      </p:sp>
      <p:sp>
        <p:nvSpPr>
          <p:cNvPr id="6" name="learning-purpose">
            <a:extLst xmlns:a="http://schemas.openxmlformats.org/drawingml/2006/main">
              <a:ext uri="{FF2B5EF4-FFF2-40B4-BE49-F238E27FC236}">
                <a16:creationId xmlns:a16="http://schemas.microsoft.com/office/drawing/2014/main" id="{F2F355D0-927A-418F-9375-5D6EC5E07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14475"/>
            <a:ext cx="141351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Redactar un prompt con responsabilidades identificables y comprobables.</a:t>
            </a:r>
          </a:p>
        </p:txBody>
      </p:sp>
      <p:sp>
        <p:nvSpPr>
          <p:cNvPr id="7" name="panel">
            <a:extLst xmlns:a="http://schemas.openxmlformats.org/drawingml/2006/main">
              <a:ext uri="{FF2B5EF4-FFF2-40B4-BE49-F238E27FC236}">
                <a16:creationId xmlns:a16="http://schemas.microsoft.com/office/drawing/2014/main" id="{B8197690-7AF7-49AF-B524-86216C572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8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E9F89CD1-9C1B-47F8-AA8B-3170DCE18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1 · CONCEPTO</a:t>
            </a:r>
          </a:p>
        </p:txBody>
      </p:sp>
      <p:sp>
        <p:nvSpPr>
          <p:cNvPr id="9" name="panel">
            <a:extLst xmlns:a="http://schemas.openxmlformats.org/drawingml/2006/main">
              <a:ext uri="{FF2B5EF4-FFF2-40B4-BE49-F238E27FC236}">
                <a16:creationId xmlns:a16="http://schemas.microsoft.com/office/drawing/2014/main" id="{218CDA45-AB0A-4A88-A803-499896A8F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91925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10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F1FAB32E-CF17-4816-9800-536AFAA0B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8600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2 · DESARROLLO</a:t>
            </a:r>
          </a:p>
        </p:txBody>
      </p:sp>
      <p:sp>
        <p:nvSpPr>
          <p:cNvPr id="11" name="panel">
            <a:extLst xmlns:a="http://schemas.openxmlformats.org/drawingml/2006/main">
              <a:ext uri="{FF2B5EF4-FFF2-40B4-BE49-F238E27FC236}">
                <a16:creationId xmlns:a16="http://schemas.microsoft.com/office/drawing/2014/main" id="{67222009-1EF7-4838-8213-88E018243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8260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12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4646CA3E-0AE7-4601-9056-F252F5D3D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4927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3 · EJEMPLO</a:t>
            </a:r>
          </a:p>
        </p:txBody>
      </p:sp>
      <p:sp>
        <p:nvSpPr>
          <p:cNvPr id="13" name="footer">
            <a:extLst xmlns:a="http://schemas.openxmlformats.org/drawingml/2006/main">
              <a:ext uri="{FF2B5EF4-FFF2-40B4-BE49-F238E27FC236}">
                <a16:creationId xmlns:a16="http://schemas.microsoft.com/office/drawing/2014/main" id="{87BE81FD-B1A8-4AEA-A3DA-533CC4142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277225"/>
            <a:ext cx="1190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AriwaLabs · 02 / C03</a:t>
            </a:r>
          </a:p>
        </p:txBody>
      </p:sp>
      <p:sp>
        <p:nvSpPr>
          <p:cNvPr id="14" name="folio">
            <a:extLst xmlns:a="http://schemas.openxmlformats.org/drawingml/2006/main">
              <a:ext uri="{FF2B5EF4-FFF2-40B4-BE49-F238E27FC236}">
                <a16:creationId xmlns:a16="http://schemas.microsoft.com/office/drawing/2014/main" id="{59468755-95C0-44B3-BFD0-FF4E58221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258175"/>
            <a:ext cx="781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7</a:t>
            </a:r>
          </a:p>
        </p:txBody>
      </p:sp>
      <p:sp>
        <p:nvSpPr>
          <p:cNvPr id="15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B7F3D14F-14B0-4670-9FAD-6A7033507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81225"/>
            <a:ext cx="1333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COMPARAR RESPONSABILIDADES</a:t>
            </a:r>
          </a:p>
        </p:txBody>
      </p:sp>
      <p:sp>
        <p:nvSpPr>
          <p:cNvPr id="16" name="concept-node">
            <a:extLst xmlns:a="http://schemas.openxmlformats.org/drawingml/2006/main">
              <a:ext uri="{FF2B5EF4-FFF2-40B4-BE49-F238E27FC236}">
                <a16:creationId xmlns:a16="http://schemas.microsoft.com/office/drawing/2014/main" id="{F6842EC8-FAA2-4999-A193-DC16CFCAC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0"/>
            <a:ext cx="4381500" cy="291465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ED8E3"/>
            </a:solidFill>
          </a:ln>
        </p:spPr>
      </p:sp>
      <p:sp>
        <p:nvSpPr>
          <p:cNvPr id="17" name="node-top-rule">
            <a:extLst xmlns:a="http://schemas.openxmlformats.org/drawingml/2006/main">
              <a:ext uri="{FF2B5EF4-FFF2-40B4-BE49-F238E27FC236}">
                <a16:creationId xmlns:a16="http://schemas.microsoft.com/office/drawing/2014/main" id="{5A1AEC8F-054C-4B6C-8EA3-DDB1ADA6D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676525"/>
            <a:ext cx="43624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31740E9-C3C0-42C6-AE1A-C73DA1F51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051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19" name="step-number">
            <a:extLst xmlns:a="http://schemas.openxmlformats.org/drawingml/2006/main">
              <a:ext uri="{FF2B5EF4-FFF2-40B4-BE49-F238E27FC236}">
                <a16:creationId xmlns:a16="http://schemas.microsoft.com/office/drawing/2014/main" id="{CB28E3F6-C527-4CDD-88B3-77D29A00D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81325"/>
            <a:ext cx="45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1</a:t>
            </a:r>
          </a:p>
        </p:txBody>
      </p:sp>
      <p:sp>
        <p:nvSpPr>
          <p:cNvPr id="20" name="node-heading">
            <a:extLst xmlns:a="http://schemas.openxmlformats.org/drawingml/2006/main">
              <a:ext uri="{FF2B5EF4-FFF2-40B4-BE49-F238E27FC236}">
                <a16:creationId xmlns:a16="http://schemas.microsoft.com/office/drawing/2014/main" id="{383ADCD8-BFC2-4C70-9CE8-7C3FCE106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905125"/>
            <a:ext cx="33337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Rol y contexto</a:t>
            </a:r>
          </a:p>
        </p:txBody>
      </p:sp>
      <p:sp>
        <p:nvSpPr>
          <p:cNvPr id="21" name="node-body">
            <a:extLst xmlns:a="http://schemas.openxmlformats.org/drawingml/2006/main">
              <a:ext uri="{FF2B5EF4-FFF2-40B4-BE49-F238E27FC236}">
                <a16:creationId xmlns:a16="http://schemas.microsoft.com/office/drawing/2014/main" id="{9C9C602A-D1C7-40CF-91A3-A2929C7F1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838575"/>
            <a:ext cx="3905250" cy="1609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Definir para quién trabaja y</a:t>
            </a:r>
          </a:p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con qué información.</a:t>
            </a:r>
          </a:p>
        </p:txBody>
      </p:sp>
      <p:sp>
        <p:nvSpPr>
          <p:cNvPr id="22" name="concept-node">
            <a:extLst xmlns:a="http://schemas.openxmlformats.org/drawingml/2006/main">
              <a:ext uri="{FF2B5EF4-FFF2-40B4-BE49-F238E27FC236}">
                <a16:creationId xmlns:a16="http://schemas.microsoft.com/office/drawing/2014/main" id="{5E5BE46F-DB5F-450A-B277-EF9848CC1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667000"/>
            <a:ext cx="4381500" cy="291465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0EB"/>
          </a:solidFill>
          <a:ln xmlns:a="http://schemas.openxmlformats.org/drawingml/2006/main" w="14288">
            <a:solidFill>
              <a:srgbClr val="FF5733"/>
            </a:solidFill>
          </a:ln>
        </p:spPr>
      </p:sp>
      <p:sp>
        <p:nvSpPr>
          <p:cNvPr id="23" name="node-top-rule">
            <a:extLst xmlns:a="http://schemas.openxmlformats.org/drawingml/2006/main">
              <a:ext uri="{FF2B5EF4-FFF2-40B4-BE49-F238E27FC236}">
                <a16:creationId xmlns:a16="http://schemas.microsoft.com/office/drawing/2014/main" id="{C7226EFB-90EB-4930-AB7D-2DBDE6EF8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775" y="2676525"/>
            <a:ext cx="43624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3147374-59FA-4272-9451-772168663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9051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25" name="step-number">
            <a:extLst xmlns:a="http://schemas.openxmlformats.org/drawingml/2006/main">
              <a:ext uri="{FF2B5EF4-FFF2-40B4-BE49-F238E27FC236}">
                <a16:creationId xmlns:a16="http://schemas.microsoft.com/office/drawing/2014/main" id="{D5F8D9FE-2C3E-49A9-9472-2A9D1C0DA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981325"/>
            <a:ext cx="45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2</a:t>
            </a:r>
          </a:p>
        </p:txBody>
      </p:sp>
      <p:sp>
        <p:nvSpPr>
          <p:cNvPr id="26" name="node-heading">
            <a:extLst xmlns:a="http://schemas.openxmlformats.org/drawingml/2006/main">
              <a:ext uri="{FF2B5EF4-FFF2-40B4-BE49-F238E27FC236}">
                <a16:creationId xmlns:a16="http://schemas.microsoft.com/office/drawing/2014/main" id="{D7FBE57E-5D51-4D4F-ACB3-C25040230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905125"/>
            <a:ext cx="33337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Tarea</a:t>
            </a:r>
          </a:p>
        </p:txBody>
      </p:sp>
      <p:sp>
        <p:nvSpPr>
          <p:cNvPr id="27" name="node-body">
            <a:extLst xmlns:a="http://schemas.openxmlformats.org/drawingml/2006/main">
              <a:ext uri="{FF2B5EF4-FFF2-40B4-BE49-F238E27FC236}">
                <a16:creationId xmlns:a16="http://schemas.microsoft.com/office/drawing/2014/main" id="{9A7B821C-316C-4364-9D08-3D4D55256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3838575"/>
            <a:ext cx="3905250" cy="1609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Especificar la transformación</a:t>
            </a:r>
          </a:p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que debe realizar.</a:t>
            </a:r>
          </a:p>
        </p:txBody>
      </p:sp>
      <p:sp>
        <p:nvSpPr>
          <p:cNvPr id="28" name="concept-node">
            <a:extLst xmlns:a="http://schemas.openxmlformats.org/drawingml/2006/main">
              <a:ext uri="{FF2B5EF4-FFF2-40B4-BE49-F238E27FC236}">
                <a16:creationId xmlns:a16="http://schemas.microsoft.com/office/drawing/2014/main" id="{AC667062-45EA-47F5-85A7-8B2170426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667000"/>
            <a:ext cx="4381500" cy="291465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ED8E3"/>
            </a:solidFill>
          </a:ln>
        </p:spPr>
      </p:sp>
      <p:sp>
        <p:nvSpPr>
          <p:cNvPr id="29" name="node-top-rule">
            <a:extLst xmlns:a="http://schemas.openxmlformats.org/drawingml/2006/main">
              <a:ext uri="{FF2B5EF4-FFF2-40B4-BE49-F238E27FC236}">
                <a16:creationId xmlns:a16="http://schemas.microsoft.com/office/drawing/2014/main" id="{DB9A7C49-3C20-40A1-BB98-8D8DE453B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2676525"/>
            <a:ext cx="43624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FF62D40-AAE4-4256-9B7A-7DE73EAAC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29051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31" name="step-number">
            <a:extLst xmlns:a="http://schemas.openxmlformats.org/drawingml/2006/main">
              <a:ext uri="{FF2B5EF4-FFF2-40B4-BE49-F238E27FC236}">
                <a16:creationId xmlns:a16="http://schemas.microsoft.com/office/drawing/2014/main" id="{F442F7DD-69DC-4DDB-9587-151F00986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2981325"/>
            <a:ext cx="45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3</a:t>
            </a:r>
          </a:p>
        </p:txBody>
      </p:sp>
      <p:sp>
        <p:nvSpPr>
          <p:cNvPr id="32" name="node-heading">
            <a:extLst xmlns:a="http://schemas.openxmlformats.org/drawingml/2006/main">
              <a:ext uri="{FF2B5EF4-FFF2-40B4-BE49-F238E27FC236}">
                <a16:creationId xmlns:a16="http://schemas.microsoft.com/office/drawing/2014/main" id="{F5BC7F87-CABC-499F-B903-076C01D3D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2905125"/>
            <a:ext cx="33337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Formato</a:t>
            </a:r>
          </a:p>
        </p:txBody>
      </p:sp>
      <p:sp>
        <p:nvSpPr>
          <p:cNvPr id="33" name="node-body">
            <a:extLst xmlns:a="http://schemas.openxmlformats.org/drawingml/2006/main">
              <a:ext uri="{FF2B5EF4-FFF2-40B4-BE49-F238E27FC236}">
                <a16:creationId xmlns:a16="http://schemas.microsoft.com/office/drawing/2014/main" id="{6014A36E-F333-4D28-99A4-79C0A012B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3838575"/>
            <a:ext cx="3905250" cy="1609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Describir la salida requerida</a:t>
            </a:r>
          </a:p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por el consumidor.</a:t>
            </a:r>
          </a:p>
        </p:txBody>
      </p:sp>
      <p:sp>
        <p:nvSpPr>
          <p:cNvPr id="34" name="panel">
            <a:extLst xmlns:a="http://schemas.openxmlformats.org/drawingml/2006/main">
              <a:ext uri="{FF2B5EF4-FFF2-40B4-BE49-F238E27FC236}">
                <a16:creationId xmlns:a16="http://schemas.microsoft.com/office/drawing/2014/main" id="{C197BD8E-4325-417D-AC40-AA2A7AC4A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05500"/>
            <a:ext cx="9048750" cy="1362075"/>
          </a:xfrm>
          <a:prstGeom xmlns:a="http://schemas.openxmlformats.org/drawingml/2006/main" prst="roundRect">
            <a:avLst>
              <a:gd name="adj" fmla="val 11189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35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F15C0F62-4444-4045-AC1E-B59434F56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057900"/>
            <a:ext cx="1333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PREGUNTA PARA ACTIVAR EL CONCEPTO</a:t>
            </a:r>
          </a:p>
        </p:txBody>
      </p:sp>
      <p:sp>
        <p:nvSpPr>
          <p:cNvPr id="36" name="concept-question">
            <a:extLst xmlns:a="http://schemas.openxmlformats.org/drawingml/2006/main">
              <a:ext uri="{FF2B5EF4-FFF2-40B4-BE49-F238E27FC236}">
                <a16:creationId xmlns:a16="http://schemas.microsoft.com/office/drawing/2014/main" id="{50A23192-0612-4F70-99C9-8222A41FB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362700"/>
            <a:ext cx="86296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¿Qué sección modificarías si la categoría es correcta pero el</a:t>
            </a:r>
          </a:p>
          <a:p xmlns:a="http://schemas.openxmlformats.org/drawingml/2006/main">
            <a:pPr algn="l">
              <a:def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formato falla?</a:t>
            </a:r>
          </a:p>
        </p:txBody>
      </p:sp>
      <p:sp>
        <p:nvSpPr>
          <p:cNvPr id="37" name="panel">
            <a:extLst xmlns:a="http://schemas.openxmlformats.org/drawingml/2006/main">
              <a:ext uri="{FF2B5EF4-FFF2-40B4-BE49-F238E27FC236}">
                <a16:creationId xmlns:a16="http://schemas.microsoft.com/office/drawing/2014/main" id="{98287675-C135-40B7-9E54-147ADA2FE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5905500"/>
            <a:ext cx="4762500" cy="1362075"/>
          </a:xfrm>
          <a:prstGeom xmlns:a="http://schemas.openxmlformats.org/drawingml/2006/main" prst="roundRect">
            <a:avLst>
              <a:gd name="adj" fmla="val 11189"/>
            </a:avLst>
          </a:prstGeom>
          <a:solidFill xmlns:a="http://schemas.openxmlformats.org/drawingml/2006/main">
            <a:srgbClr val="FFF0EB"/>
          </a:solidFill>
          <a:ln xmlns:a="http://schemas.openxmlformats.org/drawingml/2006/main" w="0">
            <a:noFill/>
          </a:ln>
        </p:spPr>
      </p:sp>
      <p:sp>
        <p:nvSpPr>
          <p:cNvPr id="38" name="misconception-label">
            <a:extLst xmlns:a="http://schemas.openxmlformats.org/drawingml/2006/main">
              <a:ext uri="{FF2B5EF4-FFF2-40B4-BE49-F238E27FC236}">
                <a16:creationId xmlns:a16="http://schemas.microsoft.com/office/drawing/2014/main" id="{7B6C1D3D-ADE0-4D36-A2CC-BDEC33462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6057900"/>
            <a:ext cx="43148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5733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FF5733"/>
                </a:solidFill>
                <a:latin typeface="DejaVu Sans"/>
                <a:ea typeface="DejaVu Sans"/>
                <a:cs typeface="DejaVu Sans"/>
              </a:rPr>
              <a:t>EVITAR ESTA CONFUSIÓN</a:t>
            </a:r>
          </a:p>
        </p:txBody>
      </p:sp>
      <p:sp>
        <p:nvSpPr>
          <p:cNvPr id="39" name="misconception">
            <a:extLst xmlns:a="http://schemas.openxmlformats.org/drawingml/2006/main">
              <a:ext uri="{FF2B5EF4-FFF2-40B4-BE49-F238E27FC236}">
                <a16:creationId xmlns:a16="http://schemas.microsoft.com/office/drawing/2014/main" id="{B50D8C9B-0FFA-4773-9502-B79312CE5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6372225"/>
            <a:ext cx="43148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Añadir instrucciones largas sin resolver</a:t>
            </a:r>
          </a:p>
          <a:p xmlns:a="http://schemas.openxmlformats.org/drawingml/2006/main">
            <a:pPr algn="l">
              <a:defRPr sz="165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la ambigüedad.</a:t>
            </a:r>
          </a:p>
        </p:txBody>
      </p:sp>
      <p:sp>
        <p:nvSpPr>
          <p:cNvPr id="40" name="panel">
            <a:extLst xmlns:a="http://schemas.openxmlformats.org/drawingml/2006/main">
              <a:ext uri="{FF2B5EF4-FFF2-40B4-BE49-F238E27FC236}">
                <a16:creationId xmlns:a16="http://schemas.microsoft.com/office/drawing/2014/main" id="{330AA8DD-5A70-406E-B2A3-6964930CA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467600"/>
            <a:ext cx="14287500" cy="695325"/>
          </a:xfrm>
          <a:prstGeom xmlns:a="http://schemas.openxmlformats.org/drawingml/2006/main" prst="roundRect">
            <a:avLst>
              <a:gd name="adj" fmla="val 1917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41" name="takeaway">
            <a:extLst xmlns:a="http://schemas.openxmlformats.org/drawingml/2006/main">
              <a:ext uri="{FF2B5EF4-FFF2-40B4-BE49-F238E27FC236}">
                <a16:creationId xmlns:a16="http://schemas.microsoft.com/office/drawing/2014/main" id="{8DD2ED80-448B-46F0-932B-19FA60A8A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7639050"/>
            <a:ext cx="1381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Un buen prompt puede explicarse y probarse por partes.</a:t>
            </a:r>
          </a:p>
        </p:txBody>
      </p:sp>
    </p:spTree>
    <p:extLst>
      <p:ext uri="{BB962C8B-B14F-4D97-AF65-F5344CB8AC3E}">
        <p14:creationId xmlns:p14="http://schemas.microsoft.com/office/powerpoint/2010/main" val="146708989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4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header">
            <a:extLst xmlns:a="http://schemas.openxmlformats.org/drawingml/2006/main">
              <a:ext uri="{FF2B5EF4-FFF2-40B4-BE49-F238E27FC236}">
                <a16:creationId xmlns:a16="http://schemas.microsoft.com/office/drawing/2014/main" id="{4BE2A939-DE10-4C3A-8038-7D434E138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47650"/>
            <a:ext cx="14706600" cy="1057275"/>
          </a:xfrm>
          <a:prstGeom xmlns:a="http://schemas.openxmlformats.org/drawingml/2006/main" prst="roundRect">
            <a:avLst>
              <a:gd name="adj" fmla="val 1801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A19BA1-D0C4-4D56-98D6-9BEBBB031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3" name="step-number">
            <a:extLst xmlns:a="http://schemas.openxmlformats.org/drawingml/2006/main">
              <a:ext uri="{FF2B5EF4-FFF2-40B4-BE49-F238E27FC236}">
                <a16:creationId xmlns:a16="http://schemas.microsoft.com/office/drawing/2014/main" id="{2D907EA6-0B4B-4B59-AD25-2AE58F1E2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5905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3</a:t>
            </a:r>
          </a:p>
        </p:txBody>
      </p:sp>
      <p:sp>
        <p:nvSpPr>
          <p:cNvPr id="4" name="breadcrumb">
            <a:extLst xmlns:a="http://schemas.openxmlformats.org/drawingml/2006/main">
              <a:ext uri="{FF2B5EF4-FFF2-40B4-BE49-F238E27FC236}">
                <a16:creationId xmlns:a16="http://schemas.microsoft.com/office/drawing/2014/main" id="{8A6B8560-B1AB-4929-A6BC-A589AB249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400050"/>
            <a:ext cx="1228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rPr>
              <a:t>02 · Prompts, mensajes y contratos / CAPÍTULO 3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BAA2917-EFF3-438F-9F96-5AEC2D1B5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714375"/>
            <a:ext cx="1314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Diagnosticar un prompt incompleto</a:t>
            </a:r>
          </a:p>
        </p:txBody>
      </p:sp>
      <p:sp>
        <p:nvSpPr>
          <p:cNvPr id="6" name="learning-purpose">
            <a:extLst xmlns:a="http://schemas.openxmlformats.org/drawingml/2006/main">
              <a:ext uri="{FF2B5EF4-FFF2-40B4-BE49-F238E27FC236}">
                <a16:creationId xmlns:a16="http://schemas.microsoft.com/office/drawing/2014/main" id="{FB570ACD-F219-4CFA-B744-BBBA2A035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14475"/>
            <a:ext cx="141351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Redactar un prompt con responsabilidades identificables y comprobables.</a:t>
            </a:r>
          </a:p>
        </p:txBody>
      </p:sp>
      <p:sp>
        <p:nvSpPr>
          <p:cNvPr id="7" name="panel">
            <a:extLst xmlns:a="http://schemas.openxmlformats.org/drawingml/2006/main">
              <a:ext uri="{FF2B5EF4-FFF2-40B4-BE49-F238E27FC236}">
                <a16:creationId xmlns:a16="http://schemas.microsoft.com/office/drawing/2014/main" id="{44BF6451-99F4-4F62-BBCC-5FCA04E77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8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DF863A19-9027-4672-83D5-8A87E9BB2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1 · CONCEPTO</a:t>
            </a:r>
          </a:p>
        </p:txBody>
      </p:sp>
      <p:sp>
        <p:nvSpPr>
          <p:cNvPr id="9" name="panel">
            <a:extLst xmlns:a="http://schemas.openxmlformats.org/drawingml/2006/main">
              <a:ext uri="{FF2B5EF4-FFF2-40B4-BE49-F238E27FC236}">
                <a16:creationId xmlns:a16="http://schemas.microsoft.com/office/drawing/2014/main" id="{AB31D2B7-84DC-4787-835B-38DC051CA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91925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10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473E881E-4399-43FE-B719-977D4FFFF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8600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2 · DESARROLLO</a:t>
            </a:r>
          </a:p>
        </p:txBody>
      </p:sp>
      <p:sp>
        <p:nvSpPr>
          <p:cNvPr id="11" name="panel">
            <a:extLst xmlns:a="http://schemas.openxmlformats.org/drawingml/2006/main">
              <a:ext uri="{FF2B5EF4-FFF2-40B4-BE49-F238E27FC236}">
                <a16:creationId xmlns:a16="http://schemas.microsoft.com/office/drawing/2014/main" id="{9D5EF190-5783-4F23-82E4-BC4BD1ACB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8260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12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E09D423D-8447-40C7-BF04-69796E2F4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4927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3 · EJEMPLO</a:t>
            </a:r>
          </a:p>
        </p:txBody>
      </p:sp>
      <p:sp>
        <p:nvSpPr>
          <p:cNvPr id="13" name="footer">
            <a:extLst xmlns:a="http://schemas.openxmlformats.org/drawingml/2006/main">
              <a:ext uri="{FF2B5EF4-FFF2-40B4-BE49-F238E27FC236}">
                <a16:creationId xmlns:a16="http://schemas.microsoft.com/office/drawing/2014/main" id="{3CBC71EC-7A05-473C-BABB-D9A95210B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277225"/>
            <a:ext cx="1190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AriwaLabs · 02 / C03</a:t>
            </a:r>
          </a:p>
        </p:txBody>
      </p:sp>
      <p:sp>
        <p:nvSpPr>
          <p:cNvPr id="14" name="folio">
            <a:extLst xmlns:a="http://schemas.openxmlformats.org/drawingml/2006/main">
              <a:ext uri="{FF2B5EF4-FFF2-40B4-BE49-F238E27FC236}">
                <a16:creationId xmlns:a16="http://schemas.microsoft.com/office/drawing/2014/main" id="{6011580B-1FC0-4617-AC4F-0609353C9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258175"/>
            <a:ext cx="781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8</a:t>
            </a:r>
          </a:p>
        </p:txBody>
      </p:sp>
      <p:sp>
        <p:nvSpPr>
          <p:cNvPr id="15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56EA28FA-2E4C-4242-8E23-5F58F3AEE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81225"/>
            <a:ext cx="1333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DEL CONCEPTO A UNA COMPROBACIÓN CONCRETA</a:t>
            </a:r>
          </a:p>
        </p:txBody>
      </p:sp>
      <p:graphicFrame>
        <p:nvGraphicFramePr>
          <p:cNvPr id="41" name=""/>
          <p:cNvGraphicFramePr/>
          <p:nvPr/>
        </p:nvGraphicFramePr>
        <p:xfrm>
          <a:off xmlns:a="http://schemas.openxmlformats.org/drawingml/2006/main" x="571500" y="2667000"/>
          <a:ext xmlns:a="http://schemas.openxmlformats.org/drawingml/2006/main" cx="9334500" cy="36766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6477000"/>
              </a:tblGrid>
              <a:tr h="476250"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PUNTO DE REVISIÓN</a:t>
                      </a:r>
                    </a:p>
                  </a:txBody>
                  <a:tcPr marL="91440" marR="91440" marT="45720" marB="45720" anchor="ctr">
                    <a:solidFill>
                      <a:srgbClr val="1E293B"/>
                    </a:solidFill>
                  </a:tcPr>
                </a:tc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EXPLICACIÓN / CRITERIO</a:t>
                      </a:r>
                    </a:p>
                  </a:txBody>
                  <a:tcPr marL="91440" marR="91440" marT="45720" marB="45720" anchor="ctr">
                    <a:solidFill>
                      <a:srgbClr val="1E293B"/>
                    </a:solidFill>
                  </a:tcPr>
                </a:tc>
              </a:tr>
              <a:tr h="1066800"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Ambigüedad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¿Falta indicar qué debe decidir?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1066800"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Información</a:t>
                      </a:r>
                    </a:p>
                  </a:txBody>
                  <a:tcPr marL="91440" marR="91440" marT="45720" marB="45720" anchor="ctr">
                    <a:solidFill>
                      <a:srgbClr val="E9F0F7"/>
                    </a:solidFill>
                  </a:tcPr>
                </a:tc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¿Tiene datos suficientes o debe reconocer un</a:t>
                      </a:r>
                    </a:p>
                    <a:p>
                      <a:r>
                        <a:rPr sz="1875" b="0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límite?</a:t>
                      </a:r>
                    </a:p>
                  </a:txBody>
                  <a:tcPr marL="91440" marR="91440" marT="45720" marB="45720" anchor="ctr">
                    <a:solidFill>
                      <a:srgbClr val="E9F0F7"/>
                    </a:solidFill>
                  </a:tcPr>
                </a:tc>
              </a:tr>
              <a:tr h="1066800"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Contrato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¿La salida esperada puede verificarse con un</a:t>
                      </a:r>
                    </a:p>
                    <a:p>
                      <a:r>
                        <a:rPr sz="1875" b="0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esquema?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" name="panel">
            <a:extLst xmlns:a="http://schemas.openxmlformats.org/drawingml/2006/main">
              <a:ext uri="{FF2B5EF4-FFF2-40B4-BE49-F238E27FC236}">
                <a16:creationId xmlns:a16="http://schemas.microsoft.com/office/drawing/2014/main" id="{8B6FB85F-79CD-4CEA-8A9B-1C940AA76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667000"/>
            <a:ext cx="4476750" cy="3676650"/>
          </a:xfrm>
          <a:prstGeom xmlns:a="http://schemas.openxmlformats.org/drawingml/2006/main" prst="roundRect">
            <a:avLst>
              <a:gd name="adj" fmla="val 4663"/>
            </a:avLst>
          </a:prstGeom>
          <a:solidFill xmlns:a="http://schemas.openxmlformats.org/drawingml/2006/main">
            <a:srgbClr val="FFF0EB"/>
          </a:solidFill>
          <a:ln xmlns:a="http://schemas.openxmlformats.org/drawingml/2006/main" w="14288">
            <a:solidFill>
              <a:srgbClr val="FF5733"/>
            </a:solidFill>
          </a:ln>
        </p:spPr>
      </p:sp>
      <p:sp>
        <p:nvSpPr>
          <p:cNvPr id="18" name="development-limit-label">
            <a:extLst xmlns:a="http://schemas.openxmlformats.org/drawingml/2006/main">
              <a:ext uri="{FF2B5EF4-FFF2-40B4-BE49-F238E27FC236}">
                <a16:creationId xmlns:a16="http://schemas.microsoft.com/office/drawing/2014/main" id="{410959F3-14A6-49B6-8E99-65F7F5735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2886075"/>
            <a:ext cx="4019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5733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FF5733"/>
                </a:solidFill>
                <a:latin typeface="DejaVu Sans"/>
                <a:ea typeface="DejaVu Sans"/>
                <a:cs typeface="DejaVu Sans"/>
              </a:rPr>
              <a:t>EL LÍMITE QUE IMPORTA</a:t>
            </a:r>
          </a:p>
        </p:txBody>
      </p:sp>
      <p:sp>
        <p:nvSpPr>
          <p:cNvPr id="19" name="development-limit">
            <a:extLst xmlns:a="http://schemas.openxmlformats.org/drawingml/2006/main">
              <a:ext uri="{FF2B5EF4-FFF2-40B4-BE49-F238E27FC236}">
                <a16:creationId xmlns:a16="http://schemas.microsoft.com/office/drawing/2014/main" id="{EBEFBB3C-D01F-4570-A6AE-88BCE45FB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3362325"/>
            <a:ext cx="401955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Añadir instrucciones largas</a:t>
            </a:r>
          </a:p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sin resolver la ambigüedad.</a:t>
            </a:r>
          </a:p>
        </p:txBody>
      </p:sp>
      <p:sp>
        <p:nvSpPr>
          <p:cNvPr id="20" name="development-prompt">
            <a:extLst xmlns:a="http://schemas.openxmlformats.org/drawingml/2006/main">
              <a:ext uri="{FF2B5EF4-FFF2-40B4-BE49-F238E27FC236}">
                <a16:creationId xmlns:a16="http://schemas.microsoft.com/office/drawing/2014/main" id="{4162E85B-6DBF-4B04-B96B-D5603413B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5553075"/>
            <a:ext cx="40195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Revisar este supuesto evita aplicar la</a:t>
            </a:r>
          </a:p>
          <a:p xmlns:a="http://schemas.openxmlformats.org/drawingml/2006/main">
            <a:pPr algn="l">
              <a:defRPr sz="1500" b="0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idea fuera de su alcance.</a:t>
            </a:r>
          </a:p>
        </p:txBody>
      </p:sp>
      <p:sp>
        <p:nvSpPr>
          <p:cNvPr id="21" name="panel">
            <a:extLst xmlns:a="http://schemas.openxmlformats.org/drawingml/2006/main">
              <a:ext uri="{FF2B5EF4-FFF2-40B4-BE49-F238E27FC236}">
                <a16:creationId xmlns:a16="http://schemas.microsoft.com/office/drawing/2014/main" id="{E0C721AB-CB35-45DB-903C-4701B9928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05575"/>
            <a:ext cx="14097000" cy="752475"/>
          </a:xfrm>
          <a:prstGeom xmlns:a="http://schemas.openxmlformats.org/drawingml/2006/main" prst="roundRect">
            <a:avLst>
              <a:gd name="adj" fmla="val 20253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22" name="check-label">
            <a:extLst xmlns:a="http://schemas.openxmlformats.org/drawingml/2006/main">
              <a:ext uri="{FF2B5EF4-FFF2-40B4-BE49-F238E27FC236}">
                <a16:creationId xmlns:a16="http://schemas.microsoft.com/office/drawing/2014/main" id="{7BD8DA92-033A-440F-8DEE-7D878358B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600825"/>
            <a:ext cx="136779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COMPRUEBA TU RAZONAMIENTO</a:t>
            </a:r>
          </a:p>
        </p:txBody>
      </p:sp>
      <p:sp>
        <p:nvSpPr>
          <p:cNvPr id="23" name="development-question">
            <a:extLst xmlns:a="http://schemas.openxmlformats.org/drawingml/2006/main">
              <a:ext uri="{FF2B5EF4-FFF2-40B4-BE49-F238E27FC236}">
                <a16:creationId xmlns:a16="http://schemas.microsoft.com/office/drawing/2014/main" id="{5890327B-FF97-4A8E-B801-D6AA79FB7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886575"/>
            <a:ext cx="13677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¿Qué sección modificarías si la categoría es correcta pero el formato falla?</a:t>
            </a:r>
          </a:p>
        </p:txBody>
      </p:sp>
      <p:sp>
        <p:nvSpPr>
          <p:cNvPr id="24" name="panel">
            <a:extLst xmlns:a="http://schemas.openxmlformats.org/drawingml/2006/main">
              <a:ext uri="{FF2B5EF4-FFF2-40B4-BE49-F238E27FC236}">
                <a16:creationId xmlns:a16="http://schemas.microsoft.com/office/drawing/2014/main" id="{C85BF010-5D7B-43E5-B889-3BA369208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467600"/>
            <a:ext cx="14287500" cy="695325"/>
          </a:xfrm>
          <a:prstGeom xmlns:a="http://schemas.openxmlformats.org/drawingml/2006/main" prst="roundRect">
            <a:avLst>
              <a:gd name="adj" fmla="val 1917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5" name="takeaway">
            <a:extLst xmlns:a="http://schemas.openxmlformats.org/drawingml/2006/main">
              <a:ext uri="{FF2B5EF4-FFF2-40B4-BE49-F238E27FC236}">
                <a16:creationId xmlns:a16="http://schemas.microsoft.com/office/drawing/2014/main" id="{1A407929-F195-4CE6-83CE-2F3C23807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7639050"/>
            <a:ext cx="1381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Un buen prompt puede explicarse y probarse por partes.</a:t>
            </a:r>
          </a:p>
        </p:txBody>
      </p:sp>
    </p:spTree>
    <p:extLst>
      <p:ext uri="{BB962C8B-B14F-4D97-AF65-F5344CB8AC3E}">
        <p14:creationId xmlns:p14="http://schemas.microsoft.com/office/powerpoint/2010/main" val="56103834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4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header">
            <a:extLst xmlns:a="http://schemas.openxmlformats.org/drawingml/2006/main">
              <a:ext uri="{FF2B5EF4-FFF2-40B4-BE49-F238E27FC236}">
                <a16:creationId xmlns:a16="http://schemas.microsoft.com/office/drawing/2014/main" id="{B3F47E2D-F704-4578-9D35-DE725C6F3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47650"/>
            <a:ext cx="14706600" cy="1057275"/>
          </a:xfrm>
          <a:prstGeom xmlns:a="http://schemas.openxmlformats.org/drawingml/2006/main" prst="roundRect">
            <a:avLst>
              <a:gd name="adj" fmla="val 1801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DC4285-1F76-4163-BB64-B95A579FD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3" name="step-number">
            <a:extLst xmlns:a="http://schemas.openxmlformats.org/drawingml/2006/main">
              <a:ext uri="{FF2B5EF4-FFF2-40B4-BE49-F238E27FC236}">
                <a16:creationId xmlns:a16="http://schemas.microsoft.com/office/drawing/2014/main" id="{7DCB83B3-DA3A-4CCD-803C-0728CACA5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5905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3</a:t>
            </a:r>
          </a:p>
        </p:txBody>
      </p:sp>
      <p:sp>
        <p:nvSpPr>
          <p:cNvPr id="4" name="breadcrumb">
            <a:extLst xmlns:a="http://schemas.openxmlformats.org/drawingml/2006/main">
              <a:ext uri="{FF2B5EF4-FFF2-40B4-BE49-F238E27FC236}">
                <a16:creationId xmlns:a16="http://schemas.microsoft.com/office/drawing/2014/main" id="{6211A7E8-D319-49C8-8B2D-2A138F985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400050"/>
            <a:ext cx="1228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rPr>
              <a:t>02 · Prompts, mensajes y contratos / CAPÍTULO 3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4A4B10B-F629-4A21-AD50-4200771FA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714375"/>
            <a:ext cx="1314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Ejemplo · Rol, contexto, tarea y formato</a:t>
            </a:r>
          </a:p>
        </p:txBody>
      </p:sp>
      <p:sp>
        <p:nvSpPr>
          <p:cNvPr id="6" name="learning-purpose">
            <a:extLst xmlns:a="http://schemas.openxmlformats.org/drawingml/2006/main">
              <a:ext uri="{FF2B5EF4-FFF2-40B4-BE49-F238E27FC236}">
                <a16:creationId xmlns:a16="http://schemas.microsoft.com/office/drawing/2014/main" id="{653D3915-9B8A-4846-9F4B-6B00FB810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14475"/>
            <a:ext cx="141351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Redactar un prompt con responsabilidades identificables y comprobables.</a:t>
            </a:r>
          </a:p>
        </p:txBody>
      </p:sp>
      <p:sp>
        <p:nvSpPr>
          <p:cNvPr id="7" name="panel">
            <a:extLst xmlns:a="http://schemas.openxmlformats.org/drawingml/2006/main">
              <a:ext uri="{FF2B5EF4-FFF2-40B4-BE49-F238E27FC236}">
                <a16:creationId xmlns:a16="http://schemas.microsoft.com/office/drawing/2014/main" id="{D0CD4DCB-79FE-4BAC-9242-1E129C159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8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A413E2A1-BAE6-4388-97BE-47426B460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1 · CONCEPTO</a:t>
            </a:r>
          </a:p>
        </p:txBody>
      </p:sp>
      <p:sp>
        <p:nvSpPr>
          <p:cNvPr id="9" name="panel">
            <a:extLst xmlns:a="http://schemas.openxmlformats.org/drawingml/2006/main">
              <a:ext uri="{FF2B5EF4-FFF2-40B4-BE49-F238E27FC236}">
                <a16:creationId xmlns:a16="http://schemas.microsoft.com/office/drawing/2014/main" id="{F9A77CF6-D415-4A89-BD2E-B53CFEF7C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91925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10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4A4CB964-CE88-4D05-868E-AEAD82BFC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8600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2 · DESARROLLO</a:t>
            </a:r>
          </a:p>
        </p:txBody>
      </p:sp>
      <p:sp>
        <p:nvSpPr>
          <p:cNvPr id="11" name="panel">
            <a:extLst xmlns:a="http://schemas.openxmlformats.org/drawingml/2006/main">
              <a:ext uri="{FF2B5EF4-FFF2-40B4-BE49-F238E27FC236}">
                <a16:creationId xmlns:a16="http://schemas.microsoft.com/office/drawing/2014/main" id="{5D46CC23-387B-409C-B191-2C0F55DBA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8260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12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C2DACD75-BAF4-4C69-901C-53648D633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4927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3 · EJEMPLO</a:t>
            </a:r>
          </a:p>
        </p:txBody>
      </p:sp>
      <p:sp>
        <p:nvSpPr>
          <p:cNvPr id="13" name="footer">
            <a:extLst xmlns:a="http://schemas.openxmlformats.org/drawingml/2006/main">
              <a:ext uri="{FF2B5EF4-FFF2-40B4-BE49-F238E27FC236}">
                <a16:creationId xmlns:a16="http://schemas.microsoft.com/office/drawing/2014/main" id="{5B03C2FE-5075-41D5-BD30-8B2ABF122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277225"/>
            <a:ext cx="1190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AriwaLabs · 02 / C03</a:t>
            </a:r>
          </a:p>
        </p:txBody>
      </p:sp>
      <p:sp>
        <p:nvSpPr>
          <p:cNvPr id="14" name="folio">
            <a:extLst xmlns:a="http://schemas.openxmlformats.org/drawingml/2006/main">
              <a:ext uri="{FF2B5EF4-FFF2-40B4-BE49-F238E27FC236}">
                <a16:creationId xmlns:a16="http://schemas.microsoft.com/office/drawing/2014/main" id="{2F8C2963-D7FA-4444-BB68-B7B960D73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258175"/>
            <a:ext cx="781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9</a:t>
            </a:r>
          </a:p>
        </p:txBody>
      </p:sp>
      <p:sp>
        <p:nvSpPr>
          <p:cNvPr id="15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F7199F4A-5DF1-489F-9D2C-4B1874241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81225"/>
            <a:ext cx="1333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BANCO INTI · CASO DIDÁCTICO</a:t>
            </a:r>
          </a:p>
        </p:txBody>
      </p:sp>
      <p:sp>
        <p:nvSpPr>
          <p:cNvPr id="16" name="panel">
            <a:extLst xmlns:a="http://schemas.openxmlformats.org/drawingml/2006/main">
              <a:ext uri="{FF2B5EF4-FFF2-40B4-BE49-F238E27FC236}">
                <a16:creationId xmlns:a16="http://schemas.microsoft.com/office/drawing/2014/main" id="{A96B3BCB-D505-4143-9E74-736747821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38425"/>
            <a:ext cx="14097000" cy="962025"/>
          </a:xfrm>
          <a:prstGeom xmlns:a="http://schemas.openxmlformats.org/drawingml/2006/main" prst="roundRect">
            <a:avLst>
              <a:gd name="adj" fmla="val 15842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17" name="case-label">
            <a:extLst xmlns:a="http://schemas.openxmlformats.org/drawingml/2006/main">
              <a:ext uri="{FF2B5EF4-FFF2-40B4-BE49-F238E27FC236}">
                <a16:creationId xmlns:a16="http://schemas.microsoft.com/office/drawing/2014/main" id="{21ABC28D-F2E7-4D75-AE98-378B589DC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81300"/>
            <a:ext cx="1333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SITUACIÓN</a:t>
            </a:r>
          </a:p>
        </p:txBody>
      </p:sp>
      <p:sp>
        <p:nvSpPr>
          <p:cNvPr id="18" name="case-input">
            <a:extLst xmlns:a="http://schemas.openxmlformats.org/drawingml/2006/main">
              <a:ext uri="{FF2B5EF4-FFF2-40B4-BE49-F238E27FC236}">
                <a16:creationId xmlns:a16="http://schemas.microsoft.com/office/drawing/2014/main" id="{D6E72A31-DD3F-4695-9239-366B1FFB4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2819400"/>
            <a:ext cx="121634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Clasifica «No entiendo este cobro» dentro de la taxonomía bancaria.</a:t>
            </a:r>
          </a:p>
        </p:txBody>
      </p:sp>
      <p:sp>
        <p:nvSpPr>
          <p:cNvPr id="19" name="concept-node">
            <a:extLst xmlns:a="http://schemas.openxmlformats.org/drawingml/2006/main">
              <a:ext uri="{FF2B5EF4-FFF2-40B4-BE49-F238E27FC236}">
                <a16:creationId xmlns:a16="http://schemas.microsoft.com/office/drawing/2014/main" id="{19EE735A-C8D2-463B-A7FA-4835DE05D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943350"/>
            <a:ext cx="4381500" cy="2133600"/>
          </a:xfrm>
          <a:prstGeom xmlns:a="http://schemas.openxmlformats.org/drawingml/2006/main" prst="roundRect">
            <a:avLst>
              <a:gd name="adj" fmla="val 80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ED8E3"/>
            </a:solidFill>
          </a:ln>
        </p:spPr>
      </p:sp>
      <p:sp>
        <p:nvSpPr>
          <p:cNvPr id="20" name="node-top-rule">
            <a:extLst xmlns:a="http://schemas.openxmlformats.org/drawingml/2006/main">
              <a:ext uri="{FF2B5EF4-FFF2-40B4-BE49-F238E27FC236}">
                <a16:creationId xmlns:a16="http://schemas.microsoft.com/office/drawing/2014/main" id="{E9DE76F3-FC1B-4C37-AE2B-3DEF4649E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3952875"/>
            <a:ext cx="43624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31C25BD-BC4F-411B-B7A9-2293D0291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814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2" name="step-number">
            <a:extLst xmlns:a="http://schemas.openxmlformats.org/drawingml/2006/main">
              <a:ext uri="{FF2B5EF4-FFF2-40B4-BE49-F238E27FC236}">
                <a16:creationId xmlns:a16="http://schemas.microsoft.com/office/drawing/2014/main" id="{E021E11D-DA27-4A54-8495-922A3F1BB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57675"/>
            <a:ext cx="45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1</a:t>
            </a:r>
          </a:p>
        </p:txBody>
      </p:sp>
      <p:sp>
        <p:nvSpPr>
          <p:cNvPr id="23" name="node-heading">
            <a:extLst xmlns:a="http://schemas.openxmlformats.org/drawingml/2006/main">
              <a:ext uri="{FF2B5EF4-FFF2-40B4-BE49-F238E27FC236}">
                <a16:creationId xmlns:a16="http://schemas.microsoft.com/office/drawing/2014/main" id="{2BD246A9-E569-4F56-ACB6-9B1238650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181475"/>
            <a:ext cx="333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Rol</a:t>
            </a:r>
          </a:p>
        </p:txBody>
      </p:sp>
      <p:sp>
        <p:nvSpPr>
          <p:cNvPr id="24" name="node-body">
            <a:extLst xmlns:a="http://schemas.openxmlformats.org/drawingml/2006/main">
              <a:ext uri="{FF2B5EF4-FFF2-40B4-BE49-F238E27FC236}">
                <a16:creationId xmlns:a16="http://schemas.microsoft.com/office/drawing/2014/main" id="{F249207A-51A6-4CE6-995D-4E1626F8C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962525"/>
            <a:ext cx="3905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Clasificador de consultas del</a:t>
            </a:r>
          </a:p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track banca.</a:t>
            </a:r>
          </a:p>
        </p:txBody>
      </p:sp>
      <p:sp>
        <p:nvSpPr>
          <p:cNvPr id="25" name="concept-node">
            <a:extLst xmlns:a="http://schemas.openxmlformats.org/drawingml/2006/main">
              <a:ext uri="{FF2B5EF4-FFF2-40B4-BE49-F238E27FC236}">
                <a16:creationId xmlns:a16="http://schemas.microsoft.com/office/drawing/2014/main" id="{2317218F-AF2B-49CB-A4F9-E5199EA6C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943350"/>
            <a:ext cx="4381500" cy="2133600"/>
          </a:xfrm>
          <a:prstGeom xmlns:a="http://schemas.openxmlformats.org/drawingml/2006/main" prst="roundRect">
            <a:avLst>
              <a:gd name="adj" fmla="val 8036"/>
            </a:avLst>
          </a:prstGeom>
          <a:solidFill xmlns:a="http://schemas.openxmlformats.org/drawingml/2006/main">
            <a:srgbClr val="FFF0EB"/>
          </a:solidFill>
          <a:ln xmlns:a="http://schemas.openxmlformats.org/drawingml/2006/main" w="14288">
            <a:solidFill>
              <a:srgbClr val="FF5733"/>
            </a:solidFill>
          </a:ln>
        </p:spPr>
      </p:sp>
      <p:sp>
        <p:nvSpPr>
          <p:cNvPr id="26" name="node-top-rule">
            <a:extLst xmlns:a="http://schemas.openxmlformats.org/drawingml/2006/main">
              <a:ext uri="{FF2B5EF4-FFF2-40B4-BE49-F238E27FC236}">
                <a16:creationId xmlns:a16="http://schemas.microsoft.com/office/drawing/2014/main" id="{EB400C51-D79D-4C04-A767-A6A2CF82B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775" y="3952875"/>
            <a:ext cx="43624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2926ECF-2BBD-4479-9CDC-AD278E792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41814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28" name="step-number">
            <a:extLst xmlns:a="http://schemas.openxmlformats.org/drawingml/2006/main">
              <a:ext uri="{FF2B5EF4-FFF2-40B4-BE49-F238E27FC236}">
                <a16:creationId xmlns:a16="http://schemas.microsoft.com/office/drawing/2014/main" id="{5794050E-AA00-404C-ACAE-289367372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4257675"/>
            <a:ext cx="45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2</a:t>
            </a:r>
          </a:p>
        </p:txBody>
      </p:sp>
      <p:sp>
        <p:nvSpPr>
          <p:cNvPr id="29" name="node-heading">
            <a:extLst xmlns:a="http://schemas.openxmlformats.org/drawingml/2006/main">
              <a:ext uri="{FF2B5EF4-FFF2-40B4-BE49-F238E27FC236}">
                <a16:creationId xmlns:a16="http://schemas.microsoft.com/office/drawing/2014/main" id="{2716FBF2-B725-4BF5-AA8C-7E34358ED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181475"/>
            <a:ext cx="333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Tarea</a:t>
            </a:r>
          </a:p>
        </p:txBody>
      </p:sp>
      <p:sp>
        <p:nvSpPr>
          <p:cNvPr id="30" name="node-body">
            <a:extLst xmlns:a="http://schemas.openxmlformats.org/drawingml/2006/main">
              <a:ext uri="{FF2B5EF4-FFF2-40B4-BE49-F238E27FC236}">
                <a16:creationId xmlns:a16="http://schemas.microsoft.com/office/drawing/2014/main" id="{3D5481B5-D1CB-4D08-9757-D544271D9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4962525"/>
            <a:ext cx="3905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Elegir una intención permitida</a:t>
            </a:r>
          </a:p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sin inventar saldos.</a:t>
            </a:r>
          </a:p>
        </p:txBody>
      </p:sp>
      <p:sp>
        <p:nvSpPr>
          <p:cNvPr id="31" name="concept-node">
            <a:extLst xmlns:a="http://schemas.openxmlformats.org/drawingml/2006/main">
              <a:ext uri="{FF2B5EF4-FFF2-40B4-BE49-F238E27FC236}">
                <a16:creationId xmlns:a16="http://schemas.microsoft.com/office/drawing/2014/main" id="{7766D597-C92A-469D-9A50-69FEEDFF0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943350"/>
            <a:ext cx="4381500" cy="2133600"/>
          </a:xfrm>
          <a:prstGeom xmlns:a="http://schemas.openxmlformats.org/drawingml/2006/main" prst="roundRect">
            <a:avLst>
              <a:gd name="adj" fmla="val 80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ED8E3"/>
            </a:solidFill>
          </a:ln>
        </p:spPr>
      </p:sp>
      <p:sp>
        <p:nvSpPr>
          <p:cNvPr id="32" name="node-top-rule">
            <a:extLst xmlns:a="http://schemas.openxmlformats.org/drawingml/2006/main">
              <a:ext uri="{FF2B5EF4-FFF2-40B4-BE49-F238E27FC236}">
                <a16:creationId xmlns:a16="http://schemas.microsoft.com/office/drawing/2014/main" id="{F1B46805-DD2A-4920-BCB8-E11A54B2F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3952875"/>
            <a:ext cx="43624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827899C-E8C5-459D-BC76-6796B9F61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41814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34" name="step-number">
            <a:extLst xmlns:a="http://schemas.openxmlformats.org/drawingml/2006/main">
              <a:ext uri="{FF2B5EF4-FFF2-40B4-BE49-F238E27FC236}">
                <a16:creationId xmlns:a16="http://schemas.microsoft.com/office/drawing/2014/main" id="{F0F17D2B-84BF-4782-8195-9836C101C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4257675"/>
            <a:ext cx="45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3</a:t>
            </a:r>
          </a:p>
        </p:txBody>
      </p:sp>
      <p:sp>
        <p:nvSpPr>
          <p:cNvPr id="35" name="node-heading">
            <a:extLst xmlns:a="http://schemas.openxmlformats.org/drawingml/2006/main">
              <a:ext uri="{FF2B5EF4-FFF2-40B4-BE49-F238E27FC236}">
                <a16:creationId xmlns:a16="http://schemas.microsoft.com/office/drawing/2014/main" id="{EC7E7467-028A-47C4-827F-2DB0E04EC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4181475"/>
            <a:ext cx="333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Formato</a:t>
            </a:r>
          </a:p>
        </p:txBody>
      </p:sp>
      <p:sp>
        <p:nvSpPr>
          <p:cNvPr id="36" name="node-body">
            <a:extLst xmlns:a="http://schemas.openxmlformats.org/drawingml/2006/main">
              <a:ext uri="{FF2B5EF4-FFF2-40B4-BE49-F238E27FC236}">
                <a16:creationId xmlns:a16="http://schemas.microsoft.com/office/drawing/2014/main" id="{70F1516A-F575-4D13-ABCE-65E178DB6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4962525"/>
            <a:ext cx="3905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Devolver el objeto que exige el</a:t>
            </a:r>
          </a:p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esquema del laboratorio.</a:t>
            </a:r>
          </a:p>
        </p:txBody>
      </p:sp>
      <p:cxnSp>
        <p:nvCxnSpPr>
          <p:cNvPr id="80" name=""/>
          <p:cNvCxnSpPr>
            <a:stCxn xmlns:a="http://schemas.openxmlformats.org/drawingml/2006/main" id="19" idx="3"/>
            <a:endCxn xmlns:a="http://schemas.openxmlformats.org/drawingml/2006/main" id="25" idx="1"/>
          </p:cNvCxnSpPr>
          <p:nvPr/>
        </p:nvCxnSpPr>
        <p:spPr>
          <a:xfrm xmlns:a="http://schemas.openxmlformats.org/drawingml/2006/main">
            <a:off x="4953000" y="501015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E293B"/>
            </a:solidFill>
            <a:tailEnd type="triangle" w="med" len="med"/>
          </a:ln>
        </p:spPr>
      </p:cxnSp>
      <p:cxnSp>
        <p:nvCxnSpPr>
          <p:cNvPr id="81" name=""/>
          <p:cNvCxnSpPr>
            <a:stCxn xmlns:a="http://schemas.openxmlformats.org/drawingml/2006/main" id="25" idx="3"/>
            <a:endCxn xmlns:a="http://schemas.openxmlformats.org/drawingml/2006/main" id="31" idx="1"/>
          </p:cNvCxnSpPr>
          <p:nvPr/>
        </p:nvCxnSpPr>
        <p:spPr>
          <a:xfrm xmlns:a="http://schemas.openxmlformats.org/drawingml/2006/main">
            <a:off x="9810750" y="501015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E293B"/>
            </a:solidFill>
            <a:tailEnd type="triangle" w="med" len="med"/>
          </a:ln>
        </p:spPr>
      </p:cxnSp>
      <p:sp>
        <p:nvSpPr>
          <p:cNvPr id="39" name="panel">
            <a:extLst xmlns:a="http://schemas.openxmlformats.org/drawingml/2006/main">
              <a:ext uri="{FF2B5EF4-FFF2-40B4-BE49-F238E27FC236}">
                <a16:creationId xmlns:a16="http://schemas.microsoft.com/office/drawing/2014/main" id="{6526574E-B733-4446-BF52-3ECA70551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91250"/>
            <a:ext cx="14097000" cy="10668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0EB"/>
          </a:solidFill>
          <a:ln xmlns:a="http://schemas.openxmlformats.org/drawingml/2006/main" w="0">
            <a:noFill/>
          </a:ln>
        </p:spPr>
      </p:sp>
      <p:sp>
        <p:nvSpPr>
          <p:cNvPr id="40" name="result-label">
            <a:extLst xmlns:a="http://schemas.openxmlformats.org/drawingml/2006/main">
              <a:ext uri="{FF2B5EF4-FFF2-40B4-BE49-F238E27FC236}">
                <a16:creationId xmlns:a16="http://schemas.microsoft.com/office/drawing/2014/main" id="{698CF83F-BED8-4EBF-9594-C9C2F15AC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296025"/>
            <a:ext cx="135731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5733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FF5733"/>
                </a:solidFill>
                <a:latin typeface="DejaVu Sans"/>
                <a:ea typeface="DejaVu Sans"/>
                <a:cs typeface="DejaVu Sans"/>
              </a:rPr>
              <a:t>RESULTADO ESPERADO</a:t>
            </a:r>
          </a:p>
        </p:txBody>
      </p:sp>
      <p:sp>
        <p:nvSpPr>
          <p:cNvPr id="41" name="case-outcome">
            <a:extLst xmlns:a="http://schemas.openxmlformats.org/drawingml/2006/main">
              <a:ext uri="{FF2B5EF4-FFF2-40B4-BE49-F238E27FC236}">
                <a16:creationId xmlns:a16="http://schemas.microsoft.com/office/drawing/2014/main" id="{7D4DAB0F-1E59-4567-AF4C-FFBF099D2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591300"/>
            <a:ext cx="13573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Cada parte del prompt contribuye a una responsabilidad concreta.</a:t>
            </a:r>
          </a:p>
        </p:txBody>
      </p:sp>
      <p:sp>
        <p:nvSpPr>
          <p:cNvPr id="42" name="panel">
            <a:extLst xmlns:a="http://schemas.openxmlformats.org/drawingml/2006/main">
              <a:ext uri="{FF2B5EF4-FFF2-40B4-BE49-F238E27FC236}">
                <a16:creationId xmlns:a16="http://schemas.microsoft.com/office/drawing/2014/main" id="{0937E587-C478-4A7C-B109-0A50A1B87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467600"/>
            <a:ext cx="14287500" cy="695325"/>
          </a:xfrm>
          <a:prstGeom xmlns:a="http://schemas.openxmlformats.org/drawingml/2006/main" prst="roundRect">
            <a:avLst>
              <a:gd name="adj" fmla="val 1917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43" name="takeaway">
            <a:extLst xmlns:a="http://schemas.openxmlformats.org/drawingml/2006/main">
              <a:ext uri="{FF2B5EF4-FFF2-40B4-BE49-F238E27FC236}">
                <a16:creationId xmlns:a16="http://schemas.microsoft.com/office/drawing/2014/main" id="{F3D16CC6-F04C-4ACF-8B73-6F73FF38F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7639050"/>
            <a:ext cx="1381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Un buen prompt puede explicarse y probarse por partes.</a:t>
            </a:r>
          </a:p>
        </p:txBody>
      </p:sp>
    </p:spTree>
    <p:extLst>
      <p:ext uri="{BB962C8B-B14F-4D97-AF65-F5344CB8AC3E}">
        <p14:creationId xmlns:p14="http://schemas.microsoft.com/office/powerpoint/2010/main" val="88991245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4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header">
            <a:extLst xmlns:a="http://schemas.openxmlformats.org/drawingml/2006/main">
              <a:ext uri="{FF2B5EF4-FFF2-40B4-BE49-F238E27FC236}">
                <a16:creationId xmlns:a16="http://schemas.microsoft.com/office/drawing/2014/main" id="{2E912739-D2FD-4B0F-A3E6-55B2ABC63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47650"/>
            <a:ext cx="14706600" cy="1057275"/>
          </a:xfrm>
          <a:prstGeom xmlns:a="http://schemas.openxmlformats.org/drawingml/2006/main" prst="roundRect">
            <a:avLst>
              <a:gd name="adj" fmla="val 1801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D3067E-5A99-4986-9799-0E5C1C432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3" name="step-number">
            <a:extLst xmlns:a="http://schemas.openxmlformats.org/drawingml/2006/main">
              <a:ext uri="{FF2B5EF4-FFF2-40B4-BE49-F238E27FC236}">
                <a16:creationId xmlns:a16="http://schemas.microsoft.com/office/drawing/2014/main" id="{9B90EBB1-B77C-4E3D-8795-0CCE2C405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5905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4</a:t>
            </a:r>
          </a:p>
        </p:txBody>
      </p:sp>
      <p:sp>
        <p:nvSpPr>
          <p:cNvPr id="4" name="breadcrumb">
            <a:extLst xmlns:a="http://schemas.openxmlformats.org/drawingml/2006/main">
              <a:ext uri="{FF2B5EF4-FFF2-40B4-BE49-F238E27FC236}">
                <a16:creationId xmlns:a16="http://schemas.microsoft.com/office/drawing/2014/main" id="{8AB4D29D-0451-451F-8C68-6D073FEDA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400050"/>
            <a:ext cx="1228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rPr>
              <a:t>02 · Prompts, mensajes y contratos / CAPÍTULO 4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2E4135A-E8AB-4319-8C85-8B867797F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714375"/>
            <a:ext cx="1314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Few-shot para desambiguar</a:t>
            </a:r>
          </a:p>
        </p:txBody>
      </p:sp>
      <p:sp>
        <p:nvSpPr>
          <p:cNvPr id="6" name="learning-purpose">
            <a:extLst xmlns:a="http://schemas.openxmlformats.org/drawingml/2006/main">
              <a:ext uri="{FF2B5EF4-FFF2-40B4-BE49-F238E27FC236}">
                <a16:creationId xmlns:a16="http://schemas.microsoft.com/office/drawing/2014/main" id="{CBCBE97C-62CF-4037-BBA9-54D7E5400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14475"/>
            <a:ext cx="141351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Usar ejemplos contrastivos para aclarar decisiones difíciles del dominio.</a:t>
            </a:r>
          </a:p>
        </p:txBody>
      </p:sp>
      <p:sp>
        <p:nvSpPr>
          <p:cNvPr id="7" name="panel">
            <a:extLst xmlns:a="http://schemas.openxmlformats.org/drawingml/2006/main">
              <a:ext uri="{FF2B5EF4-FFF2-40B4-BE49-F238E27FC236}">
                <a16:creationId xmlns:a16="http://schemas.microsoft.com/office/drawing/2014/main" id="{3AF941EA-770F-452C-AA93-CA1CD5BA7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8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75862264-A95D-4ADA-B42D-111E78086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1 · CONCEPTO</a:t>
            </a:r>
          </a:p>
        </p:txBody>
      </p:sp>
      <p:sp>
        <p:nvSpPr>
          <p:cNvPr id="9" name="panel">
            <a:extLst xmlns:a="http://schemas.openxmlformats.org/drawingml/2006/main">
              <a:ext uri="{FF2B5EF4-FFF2-40B4-BE49-F238E27FC236}">
                <a16:creationId xmlns:a16="http://schemas.microsoft.com/office/drawing/2014/main" id="{D05FB2EE-0E6E-4171-A660-84A4BA4DA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91925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10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1644AF0F-85E5-4C79-9F18-83669E704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8600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2 · DESARROLLO</a:t>
            </a:r>
          </a:p>
        </p:txBody>
      </p:sp>
      <p:sp>
        <p:nvSpPr>
          <p:cNvPr id="11" name="panel">
            <a:extLst xmlns:a="http://schemas.openxmlformats.org/drawingml/2006/main">
              <a:ext uri="{FF2B5EF4-FFF2-40B4-BE49-F238E27FC236}">
                <a16:creationId xmlns:a16="http://schemas.microsoft.com/office/drawing/2014/main" id="{96964296-413F-4D31-BF08-59B639342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8260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12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1D2546B7-9140-412B-A3FE-D1083B560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4927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3 · EJEMPLO</a:t>
            </a:r>
          </a:p>
        </p:txBody>
      </p:sp>
      <p:sp>
        <p:nvSpPr>
          <p:cNvPr id="13" name="footer">
            <a:extLst xmlns:a="http://schemas.openxmlformats.org/drawingml/2006/main">
              <a:ext uri="{FF2B5EF4-FFF2-40B4-BE49-F238E27FC236}">
                <a16:creationId xmlns:a16="http://schemas.microsoft.com/office/drawing/2014/main" id="{53FAB1F1-F522-4001-9ED1-CBA426F77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277225"/>
            <a:ext cx="1190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AriwaLabs · 02 / C04</a:t>
            </a:r>
          </a:p>
        </p:txBody>
      </p:sp>
      <p:sp>
        <p:nvSpPr>
          <p:cNvPr id="14" name="folio">
            <a:extLst xmlns:a="http://schemas.openxmlformats.org/drawingml/2006/main">
              <a:ext uri="{FF2B5EF4-FFF2-40B4-BE49-F238E27FC236}">
                <a16:creationId xmlns:a16="http://schemas.microsoft.com/office/drawing/2014/main" id="{7494DEFA-166B-4552-A5F6-B4ED80666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258175"/>
            <a:ext cx="781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10</a:t>
            </a:r>
          </a:p>
        </p:txBody>
      </p:sp>
      <p:sp>
        <p:nvSpPr>
          <p:cNvPr id="15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C335FA21-C98E-4200-9A66-07456954A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81225"/>
            <a:ext cx="1333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COMPARAR RESPONSABILIDADES</a:t>
            </a:r>
          </a:p>
        </p:txBody>
      </p:sp>
      <p:sp>
        <p:nvSpPr>
          <p:cNvPr id="16" name="concept-node">
            <a:extLst xmlns:a="http://schemas.openxmlformats.org/drawingml/2006/main">
              <a:ext uri="{FF2B5EF4-FFF2-40B4-BE49-F238E27FC236}">
                <a16:creationId xmlns:a16="http://schemas.microsoft.com/office/drawing/2014/main" id="{F44D9FA0-75EB-43D8-811A-47DFEC38C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0"/>
            <a:ext cx="4381500" cy="291465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ED8E3"/>
            </a:solidFill>
          </a:ln>
        </p:spPr>
      </p:sp>
      <p:sp>
        <p:nvSpPr>
          <p:cNvPr id="17" name="node-top-rule">
            <a:extLst xmlns:a="http://schemas.openxmlformats.org/drawingml/2006/main">
              <a:ext uri="{FF2B5EF4-FFF2-40B4-BE49-F238E27FC236}">
                <a16:creationId xmlns:a16="http://schemas.microsoft.com/office/drawing/2014/main" id="{B1CB6AF3-BD38-49E4-B8DE-8CEBE7F4B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676525"/>
            <a:ext cx="43624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1DD31AF-8CE6-481E-AA9B-51E187D75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051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19" name="step-number">
            <a:extLst xmlns:a="http://schemas.openxmlformats.org/drawingml/2006/main">
              <a:ext uri="{FF2B5EF4-FFF2-40B4-BE49-F238E27FC236}">
                <a16:creationId xmlns:a16="http://schemas.microsoft.com/office/drawing/2014/main" id="{71D58A83-6152-4564-A01E-95FA4D01F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81325"/>
            <a:ext cx="45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1</a:t>
            </a:r>
          </a:p>
        </p:txBody>
      </p:sp>
      <p:sp>
        <p:nvSpPr>
          <p:cNvPr id="20" name="node-heading">
            <a:extLst xmlns:a="http://schemas.openxmlformats.org/drawingml/2006/main">
              <a:ext uri="{FF2B5EF4-FFF2-40B4-BE49-F238E27FC236}">
                <a16:creationId xmlns:a16="http://schemas.microsoft.com/office/drawing/2014/main" id="{224C3B3B-5B2F-4730-86DE-6D8B471C1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905125"/>
            <a:ext cx="33337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Caso de entrada</a:t>
            </a:r>
          </a:p>
        </p:txBody>
      </p:sp>
      <p:sp>
        <p:nvSpPr>
          <p:cNvPr id="21" name="node-body">
            <a:extLst xmlns:a="http://schemas.openxmlformats.org/drawingml/2006/main">
              <a:ext uri="{FF2B5EF4-FFF2-40B4-BE49-F238E27FC236}">
                <a16:creationId xmlns:a16="http://schemas.microsoft.com/office/drawing/2014/main" id="{08A676B9-E6D8-46A0-9263-3E883CA98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838575"/>
            <a:ext cx="3905250" cy="1609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Una formulación que suele</a:t>
            </a:r>
          </a:p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generar confusión.</a:t>
            </a:r>
          </a:p>
        </p:txBody>
      </p:sp>
      <p:sp>
        <p:nvSpPr>
          <p:cNvPr id="22" name="concept-node">
            <a:extLst xmlns:a="http://schemas.openxmlformats.org/drawingml/2006/main">
              <a:ext uri="{FF2B5EF4-FFF2-40B4-BE49-F238E27FC236}">
                <a16:creationId xmlns:a16="http://schemas.microsoft.com/office/drawing/2014/main" id="{746A3995-8FB4-4179-90FA-E018FA9E9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667000"/>
            <a:ext cx="4381500" cy="291465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0EB"/>
          </a:solidFill>
          <a:ln xmlns:a="http://schemas.openxmlformats.org/drawingml/2006/main" w="14288">
            <a:solidFill>
              <a:srgbClr val="FF5733"/>
            </a:solidFill>
          </a:ln>
        </p:spPr>
      </p:sp>
      <p:sp>
        <p:nvSpPr>
          <p:cNvPr id="23" name="node-top-rule">
            <a:extLst xmlns:a="http://schemas.openxmlformats.org/drawingml/2006/main">
              <a:ext uri="{FF2B5EF4-FFF2-40B4-BE49-F238E27FC236}">
                <a16:creationId xmlns:a16="http://schemas.microsoft.com/office/drawing/2014/main" id="{12C5680A-C6B4-4258-B6EE-D404742D0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775" y="2676525"/>
            <a:ext cx="43624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0D9A6F9-5C98-4B2D-893F-BFD03ADAA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9051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25" name="step-number">
            <a:extLst xmlns:a="http://schemas.openxmlformats.org/drawingml/2006/main">
              <a:ext uri="{FF2B5EF4-FFF2-40B4-BE49-F238E27FC236}">
                <a16:creationId xmlns:a16="http://schemas.microsoft.com/office/drawing/2014/main" id="{07E3B5D4-7B99-40B4-B603-B00070E3D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981325"/>
            <a:ext cx="45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2</a:t>
            </a:r>
          </a:p>
        </p:txBody>
      </p:sp>
      <p:sp>
        <p:nvSpPr>
          <p:cNvPr id="26" name="node-heading">
            <a:extLst xmlns:a="http://schemas.openxmlformats.org/drawingml/2006/main">
              <a:ext uri="{FF2B5EF4-FFF2-40B4-BE49-F238E27FC236}">
                <a16:creationId xmlns:a16="http://schemas.microsoft.com/office/drawing/2014/main" id="{0636EF46-37D5-42C7-ADF5-1EA0804FD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905125"/>
            <a:ext cx="33337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Salida esperada</a:t>
            </a:r>
          </a:p>
        </p:txBody>
      </p:sp>
      <p:sp>
        <p:nvSpPr>
          <p:cNvPr id="27" name="node-body">
            <a:extLst xmlns:a="http://schemas.openxmlformats.org/drawingml/2006/main">
              <a:ext uri="{FF2B5EF4-FFF2-40B4-BE49-F238E27FC236}">
                <a16:creationId xmlns:a16="http://schemas.microsoft.com/office/drawing/2014/main" id="{69894FB8-59DC-42CA-9E87-C6D89E58C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3838575"/>
            <a:ext cx="3905250" cy="1609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La etiqueta y campos</a:t>
            </a:r>
          </a:p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definidos por el contrato.</a:t>
            </a:r>
          </a:p>
        </p:txBody>
      </p:sp>
      <p:sp>
        <p:nvSpPr>
          <p:cNvPr id="28" name="concept-node">
            <a:extLst xmlns:a="http://schemas.openxmlformats.org/drawingml/2006/main">
              <a:ext uri="{FF2B5EF4-FFF2-40B4-BE49-F238E27FC236}">
                <a16:creationId xmlns:a16="http://schemas.microsoft.com/office/drawing/2014/main" id="{E013CF58-A538-419D-AD42-7746C49F3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667000"/>
            <a:ext cx="4381500" cy="291465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ED8E3"/>
            </a:solidFill>
          </a:ln>
        </p:spPr>
      </p:sp>
      <p:sp>
        <p:nvSpPr>
          <p:cNvPr id="29" name="node-top-rule">
            <a:extLst xmlns:a="http://schemas.openxmlformats.org/drawingml/2006/main">
              <a:ext uri="{FF2B5EF4-FFF2-40B4-BE49-F238E27FC236}">
                <a16:creationId xmlns:a16="http://schemas.microsoft.com/office/drawing/2014/main" id="{2627F4AF-1554-4BA8-8C9C-518B55288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2676525"/>
            <a:ext cx="43624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3DFB743-1828-4EEE-B918-16EA2A9A5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29051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31" name="step-number">
            <a:extLst xmlns:a="http://schemas.openxmlformats.org/drawingml/2006/main">
              <a:ext uri="{FF2B5EF4-FFF2-40B4-BE49-F238E27FC236}">
                <a16:creationId xmlns:a16="http://schemas.microsoft.com/office/drawing/2014/main" id="{45096ACF-7A34-41B6-A505-CC097AB22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2981325"/>
            <a:ext cx="45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3</a:t>
            </a:r>
          </a:p>
        </p:txBody>
      </p:sp>
      <p:sp>
        <p:nvSpPr>
          <p:cNvPr id="32" name="node-heading">
            <a:extLst xmlns:a="http://schemas.openxmlformats.org/drawingml/2006/main">
              <a:ext uri="{FF2B5EF4-FFF2-40B4-BE49-F238E27FC236}">
                <a16:creationId xmlns:a16="http://schemas.microsoft.com/office/drawing/2014/main" id="{612A4D84-903B-45FC-951B-B94710707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2905125"/>
            <a:ext cx="33337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Contraste</a:t>
            </a:r>
          </a:p>
        </p:txBody>
      </p:sp>
      <p:sp>
        <p:nvSpPr>
          <p:cNvPr id="33" name="node-body">
            <a:extLst xmlns:a="http://schemas.openxmlformats.org/drawingml/2006/main">
              <a:ext uri="{FF2B5EF4-FFF2-40B4-BE49-F238E27FC236}">
                <a16:creationId xmlns:a16="http://schemas.microsoft.com/office/drawing/2014/main" id="{4E68DB8F-E1BB-4EB1-8AEB-370A432D7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3838575"/>
            <a:ext cx="3905250" cy="1609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Otro caso parecido que debe</a:t>
            </a:r>
          </a:p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recibir una categoría</a:t>
            </a:r>
          </a:p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distinta.</a:t>
            </a:r>
          </a:p>
        </p:txBody>
      </p:sp>
      <p:sp>
        <p:nvSpPr>
          <p:cNvPr id="34" name="panel">
            <a:extLst xmlns:a="http://schemas.openxmlformats.org/drawingml/2006/main">
              <a:ext uri="{FF2B5EF4-FFF2-40B4-BE49-F238E27FC236}">
                <a16:creationId xmlns:a16="http://schemas.microsoft.com/office/drawing/2014/main" id="{2026B081-FCC9-418D-905E-A7910B0C2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05500"/>
            <a:ext cx="9048750" cy="1362075"/>
          </a:xfrm>
          <a:prstGeom xmlns:a="http://schemas.openxmlformats.org/drawingml/2006/main" prst="roundRect">
            <a:avLst>
              <a:gd name="adj" fmla="val 11189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35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590CD402-1A4B-4E2D-A215-9F190D2D9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057900"/>
            <a:ext cx="1333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PREGUNTA PARA ACTIVAR EL CONCEPTO</a:t>
            </a:r>
          </a:p>
        </p:txBody>
      </p:sp>
      <p:sp>
        <p:nvSpPr>
          <p:cNvPr id="36" name="concept-question">
            <a:extLst xmlns:a="http://schemas.openxmlformats.org/drawingml/2006/main">
              <a:ext uri="{FF2B5EF4-FFF2-40B4-BE49-F238E27FC236}">
                <a16:creationId xmlns:a16="http://schemas.microsoft.com/office/drawing/2014/main" id="{624E512D-6BA7-483A-A0C3-A33900500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362700"/>
            <a:ext cx="86296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¿Qué par de ejemplos ayudaría a separar tus dos categorías</a:t>
            </a:r>
          </a:p>
          <a:p xmlns:a="http://schemas.openxmlformats.org/drawingml/2006/main">
            <a:pPr algn="l">
              <a:def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más confundidas?</a:t>
            </a:r>
          </a:p>
        </p:txBody>
      </p:sp>
      <p:sp>
        <p:nvSpPr>
          <p:cNvPr id="37" name="panel">
            <a:extLst xmlns:a="http://schemas.openxmlformats.org/drawingml/2006/main">
              <a:ext uri="{FF2B5EF4-FFF2-40B4-BE49-F238E27FC236}">
                <a16:creationId xmlns:a16="http://schemas.microsoft.com/office/drawing/2014/main" id="{EC54AA45-886F-49CA-B906-05E045416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5905500"/>
            <a:ext cx="4762500" cy="1362075"/>
          </a:xfrm>
          <a:prstGeom xmlns:a="http://schemas.openxmlformats.org/drawingml/2006/main" prst="roundRect">
            <a:avLst>
              <a:gd name="adj" fmla="val 11189"/>
            </a:avLst>
          </a:prstGeom>
          <a:solidFill xmlns:a="http://schemas.openxmlformats.org/drawingml/2006/main">
            <a:srgbClr val="FFF0EB"/>
          </a:solidFill>
          <a:ln xmlns:a="http://schemas.openxmlformats.org/drawingml/2006/main" w="0">
            <a:noFill/>
          </a:ln>
        </p:spPr>
      </p:sp>
      <p:sp>
        <p:nvSpPr>
          <p:cNvPr id="38" name="misconception-label">
            <a:extLst xmlns:a="http://schemas.openxmlformats.org/drawingml/2006/main">
              <a:ext uri="{FF2B5EF4-FFF2-40B4-BE49-F238E27FC236}">
                <a16:creationId xmlns:a16="http://schemas.microsoft.com/office/drawing/2014/main" id="{72175AF1-BADA-43CE-997B-20B35A39D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6057900"/>
            <a:ext cx="43148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5733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FF5733"/>
                </a:solidFill>
                <a:latin typeface="DejaVu Sans"/>
                <a:ea typeface="DejaVu Sans"/>
                <a:cs typeface="DejaVu Sans"/>
              </a:rPr>
              <a:t>EVITAR ESTA CONFUSIÓN</a:t>
            </a:r>
          </a:p>
        </p:txBody>
      </p:sp>
      <p:sp>
        <p:nvSpPr>
          <p:cNvPr id="39" name="misconception">
            <a:extLst xmlns:a="http://schemas.openxmlformats.org/drawingml/2006/main">
              <a:ext uri="{FF2B5EF4-FFF2-40B4-BE49-F238E27FC236}">
                <a16:creationId xmlns:a16="http://schemas.microsoft.com/office/drawing/2014/main" id="{FEB8681F-68AD-441C-AF72-104E158CC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6372225"/>
            <a:ext cx="43148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Confundir ejemplos en el prompt con</a:t>
            </a:r>
          </a:p>
          <a:p xmlns:a="http://schemas.openxmlformats.org/drawingml/2006/main">
            <a:pPr algn="l">
              <a:defRPr sz="165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fine-tuning.</a:t>
            </a:r>
          </a:p>
        </p:txBody>
      </p:sp>
      <p:sp>
        <p:nvSpPr>
          <p:cNvPr id="40" name="panel">
            <a:extLst xmlns:a="http://schemas.openxmlformats.org/drawingml/2006/main">
              <a:ext uri="{FF2B5EF4-FFF2-40B4-BE49-F238E27FC236}">
                <a16:creationId xmlns:a16="http://schemas.microsoft.com/office/drawing/2014/main" id="{648E4271-AB72-473F-86EF-D3222F856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467600"/>
            <a:ext cx="14287500" cy="695325"/>
          </a:xfrm>
          <a:prstGeom xmlns:a="http://schemas.openxmlformats.org/drawingml/2006/main" prst="roundRect">
            <a:avLst>
              <a:gd name="adj" fmla="val 1917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41" name="takeaway">
            <a:extLst xmlns:a="http://schemas.openxmlformats.org/drawingml/2006/main">
              <a:ext uri="{FF2B5EF4-FFF2-40B4-BE49-F238E27FC236}">
                <a16:creationId xmlns:a16="http://schemas.microsoft.com/office/drawing/2014/main" id="{C9E2DA92-DD6E-409B-8633-75622D06B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7639050"/>
            <a:ext cx="1381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Few-shot aporta demostraciones dentro del contexto; no entrena pesos.</a:t>
            </a:r>
          </a:p>
        </p:txBody>
      </p:sp>
    </p:spTree>
    <p:extLst>
      <p:ext uri="{BB962C8B-B14F-4D97-AF65-F5344CB8AC3E}">
        <p14:creationId xmlns:p14="http://schemas.microsoft.com/office/powerpoint/2010/main" val="3946986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4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header">
            <a:extLst xmlns:a="http://schemas.openxmlformats.org/drawingml/2006/main">
              <a:ext uri="{FF2B5EF4-FFF2-40B4-BE49-F238E27FC236}">
                <a16:creationId xmlns:a16="http://schemas.microsoft.com/office/drawing/2014/main" id="{C0786925-B913-4E89-BABC-0DD949A96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47650"/>
            <a:ext cx="14706600" cy="1057275"/>
          </a:xfrm>
          <a:prstGeom xmlns:a="http://schemas.openxmlformats.org/drawingml/2006/main" prst="roundRect">
            <a:avLst>
              <a:gd name="adj" fmla="val 1801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B844BE-F8E3-4216-BB09-84A6A43D5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3" name="step-number">
            <a:extLst xmlns:a="http://schemas.openxmlformats.org/drawingml/2006/main">
              <a:ext uri="{FF2B5EF4-FFF2-40B4-BE49-F238E27FC236}">
                <a16:creationId xmlns:a16="http://schemas.microsoft.com/office/drawing/2014/main" id="{5F98F21C-EFC2-4718-ADE7-C99BCA89E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5905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4</a:t>
            </a:r>
          </a:p>
        </p:txBody>
      </p:sp>
      <p:sp>
        <p:nvSpPr>
          <p:cNvPr id="4" name="breadcrumb">
            <a:extLst xmlns:a="http://schemas.openxmlformats.org/drawingml/2006/main">
              <a:ext uri="{FF2B5EF4-FFF2-40B4-BE49-F238E27FC236}">
                <a16:creationId xmlns:a16="http://schemas.microsoft.com/office/drawing/2014/main" id="{B4FF0BD5-49EF-4EED-A41B-EFEA3DBCC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400050"/>
            <a:ext cx="1228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rPr>
              <a:t>02 · Prompts, mensajes y contratos / CAPÍTULO 4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0DE9D8F-4F94-49E4-8032-6ADBB4918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714375"/>
            <a:ext cx="1314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Elegir ejemplos útiles</a:t>
            </a:r>
          </a:p>
        </p:txBody>
      </p:sp>
      <p:sp>
        <p:nvSpPr>
          <p:cNvPr id="6" name="learning-purpose">
            <a:extLst xmlns:a="http://schemas.openxmlformats.org/drawingml/2006/main">
              <a:ext uri="{FF2B5EF4-FFF2-40B4-BE49-F238E27FC236}">
                <a16:creationId xmlns:a16="http://schemas.microsoft.com/office/drawing/2014/main" id="{297809D6-4737-4875-A710-0799FE0A3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14475"/>
            <a:ext cx="141351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Usar ejemplos contrastivos para aclarar decisiones difíciles del dominio.</a:t>
            </a:r>
          </a:p>
        </p:txBody>
      </p:sp>
      <p:sp>
        <p:nvSpPr>
          <p:cNvPr id="7" name="panel">
            <a:extLst xmlns:a="http://schemas.openxmlformats.org/drawingml/2006/main">
              <a:ext uri="{FF2B5EF4-FFF2-40B4-BE49-F238E27FC236}">
                <a16:creationId xmlns:a16="http://schemas.microsoft.com/office/drawing/2014/main" id="{5DB08404-DD39-48F5-8EDB-78A595CBC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8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C3E9CE6B-E0F1-4931-B0F3-6FC3DF657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1 · CONCEPTO</a:t>
            </a:r>
          </a:p>
        </p:txBody>
      </p:sp>
      <p:sp>
        <p:nvSpPr>
          <p:cNvPr id="9" name="panel">
            <a:extLst xmlns:a="http://schemas.openxmlformats.org/drawingml/2006/main">
              <a:ext uri="{FF2B5EF4-FFF2-40B4-BE49-F238E27FC236}">
                <a16:creationId xmlns:a16="http://schemas.microsoft.com/office/drawing/2014/main" id="{C8972C29-E2F1-4A61-B058-048C5A479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91925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10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64634F0E-2375-47DA-B754-79F9A8D4F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8600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2 · DESARROLLO</a:t>
            </a:r>
          </a:p>
        </p:txBody>
      </p:sp>
      <p:sp>
        <p:nvSpPr>
          <p:cNvPr id="11" name="panel">
            <a:extLst xmlns:a="http://schemas.openxmlformats.org/drawingml/2006/main">
              <a:ext uri="{FF2B5EF4-FFF2-40B4-BE49-F238E27FC236}">
                <a16:creationId xmlns:a16="http://schemas.microsoft.com/office/drawing/2014/main" id="{B284F2D1-4840-4C05-9F3B-480B0A2F2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8260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12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62817D57-A7FF-48BB-846F-F17A9ECC7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4927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3 · EJEMPLO</a:t>
            </a:r>
          </a:p>
        </p:txBody>
      </p:sp>
      <p:sp>
        <p:nvSpPr>
          <p:cNvPr id="13" name="footer">
            <a:extLst xmlns:a="http://schemas.openxmlformats.org/drawingml/2006/main">
              <a:ext uri="{FF2B5EF4-FFF2-40B4-BE49-F238E27FC236}">
                <a16:creationId xmlns:a16="http://schemas.microsoft.com/office/drawing/2014/main" id="{56006DB9-8B47-4A81-901C-D00FB216A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277225"/>
            <a:ext cx="1190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AriwaLabs · 02 / C04</a:t>
            </a:r>
          </a:p>
        </p:txBody>
      </p:sp>
      <p:sp>
        <p:nvSpPr>
          <p:cNvPr id="14" name="folio">
            <a:extLst xmlns:a="http://schemas.openxmlformats.org/drawingml/2006/main">
              <a:ext uri="{FF2B5EF4-FFF2-40B4-BE49-F238E27FC236}">
                <a16:creationId xmlns:a16="http://schemas.microsoft.com/office/drawing/2014/main" id="{2A9FE303-E379-432F-8F7E-ABA2C7D91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258175"/>
            <a:ext cx="781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11</a:t>
            </a:r>
          </a:p>
        </p:txBody>
      </p:sp>
      <p:sp>
        <p:nvSpPr>
          <p:cNvPr id="15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0D2867CA-6E0D-44A3-865B-BCA0FEB8A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81225"/>
            <a:ext cx="1333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DEL CONCEPTO A UNA COMPROBACIÓN CONCRETA</a:t>
            </a:r>
          </a:p>
        </p:txBody>
      </p:sp>
      <p:graphicFrame>
        <p:nvGraphicFramePr>
          <p:cNvPr id="41" name=""/>
          <p:cNvGraphicFramePr/>
          <p:nvPr/>
        </p:nvGraphicFramePr>
        <p:xfrm>
          <a:off xmlns:a="http://schemas.openxmlformats.org/drawingml/2006/main" x="571500" y="2667000"/>
          <a:ext xmlns:a="http://schemas.openxmlformats.org/drawingml/2006/main" cx="9334500" cy="36766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6477000"/>
              </a:tblGrid>
              <a:tr h="476250"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PUNTO DE REVISIÓN</a:t>
                      </a:r>
                    </a:p>
                  </a:txBody>
                  <a:tcPr marL="91440" marR="91440" marT="45720" marB="45720" anchor="ctr">
                    <a:solidFill>
                      <a:srgbClr val="1E293B"/>
                    </a:solidFill>
                  </a:tcPr>
                </a:tc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EXPLICACIÓN / CRITERIO</a:t>
                      </a:r>
                    </a:p>
                  </a:txBody>
                  <a:tcPr marL="91440" marR="91440" marT="45720" marB="45720" anchor="ctr">
                    <a:solidFill>
                      <a:srgbClr val="1E293B"/>
                    </a:solidFill>
                  </a:tcPr>
                </a:tc>
              </a:tr>
              <a:tr h="1066800"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Representativos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Incluir lenguaje realista del track.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1066800"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Diferenciadores</a:t>
                      </a:r>
                    </a:p>
                  </a:txBody>
                  <a:tcPr marL="91440" marR="91440" marT="45720" marB="45720" anchor="ctr">
                    <a:solidFill>
                      <a:srgbClr val="E9F0F7"/>
                    </a:solidFill>
                  </a:tcPr>
                </a:tc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Aclarar fronteras entre categorías cercanas.</a:t>
                      </a:r>
                    </a:p>
                  </a:txBody>
                  <a:tcPr marL="91440" marR="91440" marT="45720" marB="45720" anchor="ctr">
                    <a:solidFill>
                      <a:srgbClr val="E9F0F7"/>
                    </a:solidFill>
                  </a:tcPr>
                </a:tc>
              </a:tr>
              <a:tr h="1066800"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Separados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No usar las respuestas del test como demostración</a:t>
                      </a:r>
                    </a:p>
                    <a:p>
                      <a:r>
                        <a:rPr sz="1875" b="0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de generalización.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" name="panel">
            <a:extLst xmlns:a="http://schemas.openxmlformats.org/drawingml/2006/main">
              <a:ext uri="{FF2B5EF4-FFF2-40B4-BE49-F238E27FC236}">
                <a16:creationId xmlns:a16="http://schemas.microsoft.com/office/drawing/2014/main" id="{1E3CE0B4-8CAB-4992-B987-F8D5B0770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667000"/>
            <a:ext cx="4476750" cy="3676650"/>
          </a:xfrm>
          <a:prstGeom xmlns:a="http://schemas.openxmlformats.org/drawingml/2006/main" prst="roundRect">
            <a:avLst>
              <a:gd name="adj" fmla="val 4663"/>
            </a:avLst>
          </a:prstGeom>
          <a:solidFill xmlns:a="http://schemas.openxmlformats.org/drawingml/2006/main">
            <a:srgbClr val="FFF0EB"/>
          </a:solidFill>
          <a:ln xmlns:a="http://schemas.openxmlformats.org/drawingml/2006/main" w="14288">
            <a:solidFill>
              <a:srgbClr val="FF5733"/>
            </a:solidFill>
          </a:ln>
        </p:spPr>
      </p:sp>
      <p:sp>
        <p:nvSpPr>
          <p:cNvPr id="18" name="development-limit-label">
            <a:extLst xmlns:a="http://schemas.openxmlformats.org/drawingml/2006/main">
              <a:ext uri="{FF2B5EF4-FFF2-40B4-BE49-F238E27FC236}">
                <a16:creationId xmlns:a16="http://schemas.microsoft.com/office/drawing/2014/main" id="{16DC0124-86BF-467C-AF1E-D45B8BC55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2886075"/>
            <a:ext cx="4019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5733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FF5733"/>
                </a:solidFill>
                <a:latin typeface="DejaVu Sans"/>
                <a:ea typeface="DejaVu Sans"/>
                <a:cs typeface="DejaVu Sans"/>
              </a:rPr>
              <a:t>EL LÍMITE QUE IMPORTA</a:t>
            </a:r>
          </a:p>
        </p:txBody>
      </p:sp>
      <p:sp>
        <p:nvSpPr>
          <p:cNvPr id="19" name="development-limit">
            <a:extLst xmlns:a="http://schemas.openxmlformats.org/drawingml/2006/main">
              <a:ext uri="{FF2B5EF4-FFF2-40B4-BE49-F238E27FC236}">
                <a16:creationId xmlns:a16="http://schemas.microsoft.com/office/drawing/2014/main" id="{BADCDA13-8476-4D72-829C-2911B7BA7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3362325"/>
            <a:ext cx="401955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Confundir ejemplos en el</a:t>
            </a:r>
          </a:p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prompt con fine-tuning.</a:t>
            </a:r>
          </a:p>
        </p:txBody>
      </p:sp>
      <p:sp>
        <p:nvSpPr>
          <p:cNvPr id="20" name="development-prompt">
            <a:extLst xmlns:a="http://schemas.openxmlformats.org/drawingml/2006/main">
              <a:ext uri="{FF2B5EF4-FFF2-40B4-BE49-F238E27FC236}">
                <a16:creationId xmlns:a16="http://schemas.microsoft.com/office/drawing/2014/main" id="{15680120-D0C2-4478-B48D-775C7B2F1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5553075"/>
            <a:ext cx="40195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Revisar este supuesto evita aplicar la</a:t>
            </a:r>
          </a:p>
          <a:p xmlns:a="http://schemas.openxmlformats.org/drawingml/2006/main">
            <a:pPr algn="l">
              <a:defRPr sz="1500" b="0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idea fuera de su alcance.</a:t>
            </a:r>
          </a:p>
        </p:txBody>
      </p:sp>
      <p:sp>
        <p:nvSpPr>
          <p:cNvPr id="21" name="panel">
            <a:extLst xmlns:a="http://schemas.openxmlformats.org/drawingml/2006/main">
              <a:ext uri="{FF2B5EF4-FFF2-40B4-BE49-F238E27FC236}">
                <a16:creationId xmlns:a16="http://schemas.microsoft.com/office/drawing/2014/main" id="{87F14784-7457-422D-BE61-786CFA303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05575"/>
            <a:ext cx="14097000" cy="752475"/>
          </a:xfrm>
          <a:prstGeom xmlns:a="http://schemas.openxmlformats.org/drawingml/2006/main" prst="roundRect">
            <a:avLst>
              <a:gd name="adj" fmla="val 20253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22" name="check-label">
            <a:extLst xmlns:a="http://schemas.openxmlformats.org/drawingml/2006/main">
              <a:ext uri="{FF2B5EF4-FFF2-40B4-BE49-F238E27FC236}">
                <a16:creationId xmlns:a16="http://schemas.microsoft.com/office/drawing/2014/main" id="{3E889683-069E-4E5D-9AFD-4C70C9966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600825"/>
            <a:ext cx="136779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COMPRUEBA TU RAZONAMIENTO</a:t>
            </a:r>
          </a:p>
        </p:txBody>
      </p:sp>
      <p:sp>
        <p:nvSpPr>
          <p:cNvPr id="23" name="development-question">
            <a:extLst xmlns:a="http://schemas.openxmlformats.org/drawingml/2006/main">
              <a:ext uri="{FF2B5EF4-FFF2-40B4-BE49-F238E27FC236}">
                <a16:creationId xmlns:a16="http://schemas.microsoft.com/office/drawing/2014/main" id="{3AE4C43A-115A-433A-AE53-78E2CCDAE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886575"/>
            <a:ext cx="13677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¿Qué par de ejemplos ayudaría a separar tus dos categorías más confundidas?</a:t>
            </a:r>
          </a:p>
        </p:txBody>
      </p:sp>
      <p:sp>
        <p:nvSpPr>
          <p:cNvPr id="24" name="panel">
            <a:extLst xmlns:a="http://schemas.openxmlformats.org/drawingml/2006/main">
              <a:ext uri="{FF2B5EF4-FFF2-40B4-BE49-F238E27FC236}">
                <a16:creationId xmlns:a16="http://schemas.microsoft.com/office/drawing/2014/main" id="{F00CC8AC-A5E1-4333-ABB1-204C8CB27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467600"/>
            <a:ext cx="14287500" cy="695325"/>
          </a:xfrm>
          <a:prstGeom xmlns:a="http://schemas.openxmlformats.org/drawingml/2006/main" prst="roundRect">
            <a:avLst>
              <a:gd name="adj" fmla="val 1917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5" name="takeaway">
            <a:extLst xmlns:a="http://schemas.openxmlformats.org/drawingml/2006/main">
              <a:ext uri="{FF2B5EF4-FFF2-40B4-BE49-F238E27FC236}">
                <a16:creationId xmlns:a16="http://schemas.microsoft.com/office/drawing/2014/main" id="{D6F4DE88-81EB-42AA-A685-685BAA911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7639050"/>
            <a:ext cx="1381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Few-shot aporta demostraciones dentro del contexto; no entrena pesos.</a:t>
            </a:r>
          </a:p>
        </p:txBody>
      </p:sp>
    </p:spTree>
    <p:extLst>
      <p:ext uri="{BB962C8B-B14F-4D97-AF65-F5344CB8AC3E}">
        <p14:creationId xmlns:p14="http://schemas.microsoft.com/office/powerpoint/2010/main" val="70313503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4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header">
            <a:extLst xmlns:a="http://schemas.openxmlformats.org/drawingml/2006/main">
              <a:ext uri="{FF2B5EF4-FFF2-40B4-BE49-F238E27FC236}">
                <a16:creationId xmlns:a16="http://schemas.microsoft.com/office/drawing/2014/main" id="{F7F391E9-5B10-47AD-BDFF-4D8C07DE6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47650"/>
            <a:ext cx="14706600" cy="1057275"/>
          </a:xfrm>
          <a:prstGeom xmlns:a="http://schemas.openxmlformats.org/drawingml/2006/main" prst="roundRect">
            <a:avLst>
              <a:gd name="adj" fmla="val 1801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FA63D5-850E-423E-91E1-CA97BD558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3" name="step-number">
            <a:extLst xmlns:a="http://schemas.openxmlformats.org/drawingml/2006/main">
              <a:ext uri="{FF2B5EF4-FFF2-40B4-BE49-F238E27FC236}">
                <a16:creationId xmlns:a16="http://schemas.microsoft.com/office/drawing/2014/main" id="{7FB20A3E-E02E-4B27-BD14-AA6026F67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5905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4</a:t>
            </a:r>
          </a:p>
        </p:txBody>
      </p:sp>
      <p:sp>
        <p:nvSpPr>
          <p:cNvPr id="4" name="breadcrumb">
            <a:extLst xmlns:a="http://schemas.openxmlformats.org/drawingml/2006/main">
              <a:ext uri="{FF2B5EF4-FFF2-40B4-BE49-F238E27FC236}">
                <a16:creationId xmlns:a16="http://schemas.microsoft.com/office/drawing/2014/main" id="{C59B9B08-D56D-4C65-97C7-62D38B982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400050"/>
            <a:ext cx="1228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rPr>
              <a:t>02 · Prompts, mensajes y contratos / CAPÍTULO 4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EA74EEC-1293-4CCE-8883-F28F9FEE4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714375"/>
            <a:ext cx="1314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Ejemplo · Few-shot para desambiguar</a:t>
            </a:r>
          </a:p>
        </p:txBody>
      </p:sp>
      <p:sp>
        <p:nvSpPr>
          <p:cNvPr id="6" name="learning-purpose">
            <a:extLst xmlns:a="http://schemas.openxmlformats.org/drawingml/2006/main">
              <a:ext uri="{FF2B5EF4-FFF2-40B4-BE49-F238E27FC236}">
                <a16:creationId xmlns:a16="http://schemas.microsoft.com/office/drawing/2014/main" id="{464300E7-78DD-489D-8F36-5876E3FCB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14475"/>
            <a:ext cx="141351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Usar ejemplos contrastivos para aclarar decisiones difíciles del dominio.</a:t>
            </a:r>
          </a:p>
        </p:txBody>
      </p:sp>
      <p:sp>
        <p:nvSpPr>
          <p:cNvPr id="7" name="panel">
            <a:extLst xmlns:a="http://schemas.openxmlformats.org/drawingml/2006/main">
              <a:ext uri="{FF2B5EF4-FFF2-40B4-BE49-F238E27FC236}">
                <a16:creationId xmlns:a16="http://schemas.microsoft.com/office/drawing/2014/main" id="{7AED8CAB-2359-4D91-B1CE-31CC6A624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8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74B4EA55-2502-4052-A6FE-81A8E4E59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1 · CONCEPTO</a:t>
            </a:r>
          </a:p>
        </p:txBody>
      </p:sp>
      <p:sp>
        <p:nvSpPr>
          <p:cNvPr id="9" name="panel">
            <a:extLst xmlns:a="http://schemas.openxmlformats.org/drawingml/2006/main">
              <a:ext uri="{FF2B5EF4-FFF2-40B4-BE49-F238E27FC236}">
                <a16:creationId xmlns:a16="http://schemas.microsoft.com/office/drawing/2014/main" id="{8E4960E5-1637-4A9F-8A66-41BCA4746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91925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10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FE20968A-9A86-410B-839A-7D6DA1056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8600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2 · DESARROLLO</a:t>
            </a:r>
          </a:p>
        </p:txBody>
      </p:sp>
      <p:sp>
        <p:nvSpPr>
          <p:cNvPr id="11" name="panel">
            <a:extLst xmlns:a="http://schemas.openxmlformats.org/drawingml/2006/main">
              <a:ext uri="{FF2B5EF4-FFF2-40B4-BE49-F238E27FC236}">
                <a16:creationId xmlns:a16="http://schemas.microsoft.com/office/drawing/2014/main" id="{0CD8DE58-DC11-4731-8324-56E3F2108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8260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12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FA647354-72F6-4BDA-94B1-9496A19F6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4927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3 · EJEMPLO</a:t>
            </a:r>
          </a:p>
        </p:txBody>
      </p:sp>
      <p:sp>
        <p:nvSpPr>
          <p:cNvPr id="13" name="footer">
            <a:extLst xmlns:a="http://schemas.openxmlformats.org/drawingml/2006/main">
              <a:ext uri="{FF2B5EF4-FFF2-40B4-BE49-F238E27FC236}">
                <a16:creationId xmlns:a16="http://schemas.microsoft.com/office/drawing/2014/main" id="{C3209B28-3B09-46CD-82FE-6077C3866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277225"/>
            <a:ext cx="1190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AriwaLabs · 02 / C04</a:t>
            </a:r>
          </a:p>
        </p:txBody>
      </p:sp>
      <p:sp>
        <p:nvSpPr>
          <p:cNvPr id="14" name="folio">
            <a:extLst xmlns:a="http://schemas.openxmlformats.org/drawingml/2006/main">
              <a:ext uri="{FF2B5EF4-FFF2-40B4-BE49-F238E27FC236}">
                <a16:creationId xmlns:a16="http://schemas.microsoft.com/office/drawing/2014/main" id="{9BD8C0A2-5751-4C40-B9C8-6A806B62B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258175"/>
            <a:ext cx="781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12</a:t>
            </a:r>
          </a:p>
        </p:txBody>
      </p:sp>
      <p:sp>
        <p:nvSpPr>
          <p:cNvPr id="15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C74BB0E3-2BB4-4588-BA0B-C9C2C7CD7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81225"/>
            <a:ext cx="1333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MERCASUR · CASO DIDÁCTICO</a:t>
            </a:r>
          </a:p>
        </p:txBody>
      </p:sp>
      <p:sp>
        <p:nvSpPr>
          <p:cNvPr id="16" name="panel">
            <a:extLst xmlns:a="http://schemas.openxmlformats.org/drawingml/2006/main">
              <a:ext uri="{FF2B5EF4-FFF2-40B4-BE49-F238E27FC236}">
                <a16:creationId xmlns:a16="http://schemas.microsoft.com/office/drawing/2014/main" id="{8280FF1D-0B71-4621-8960-6117DFC75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38425"/>
            <a:ext cx="14097000" cy="962025"/>
          </a:xfrm>
          <a:prstGeom xmlns:a="http://schemas.openxmlformats.org/drawingml/2006/main" prst="roundRect">
            <a:avLst>
              <a:gd name="adj" fmla="val 15842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17" name="case-label">
            <a:extLst xmlns:a="http://schemas.openxmlformats.org/drawingml/2006/main">
              <a:ext uri="{FF2B5EF4-FFF2-40B4-BE49-F238E27FC236}">
                <a16:creationId xmlns:a16="http://schemas.microsoft.com/office/drawing/2014/main" id="{A21C5566-9919-4AF0-96BA-5A14FF719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81300"/>
            <a:ext cx="1333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SITUACIÓN</a:t>
            </a:r>
          </a:p>
        </p:txBody>
      </p:sp>
      <p:sp>
        <p:nvSpPr>
          <p:cNvPr id="18" name="case-input">
            <a:extLst xmlns:a="http://schemas.openxmlformats.org/drawingml/2006/main">
              <a:ext uri="{FF2B5EF4-FFF2-40B4-BE49-F238E27FC236}">
                <a16:creationId xmlns:a16="http://schemas.microsoft.com/office/drawing/2014/main" id="{449614CA-56F6-4715-8B0E-5A05C3FCB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2819400"/>
            <a:ext cx="121634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«¿Hay stock?» y «¿Dónde está mi pedido?» hablan de productos, pero piden</a:t>
            </a:r>
          </a:p>
          <a:p xmlns:a="http://schemas.openxmlformats.org/drawingml/2006/main">
            <a:pPr algn="l">
              <a:def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cosas distintas.</a:t>
            </a:r>
          </a:p>
        </p:txBody>
      </p:sp>
      <p:sp>
        <p:nvSpPr>
          <p:cNvPr id="19" name="concept-node">
            <a:extLst xmlns:a="http://schemas.openxmlformats.org/drawingml/2006/main">
              <a:ext uri="{FF2B5EF4-FFF2-40B4-BE49-F238E27FC236}">
                <a16:creationId xmlns:a16="http://schemas.microsoft.com/office/drawing/2014/main" id="{6E835A0E-BECC-49C8-8B4D-40D1766CA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943350"/>
            <a:ext cx="4381500" cy="2133600"/>
          </a:xfrm>
          <a:prstGeom xmlns:a="http://schemas.openxmlformats.org/drawingml/2006/main" prst="roundRect">
            <a:avLst>
              <a:gd name="adj" fmla="val 80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ED8E3"/>
            </a:solidFill>
          </a:ln>
        </p:spPr>
      </p:sp>
      <p:sp>
        <p:nvSpPr>
          <p:cNvPr id="20" name="node-top-rule">
            <a:extLst xmlns:a="http://schemas.openxmlformats.org/drawingml/2006/main">
              <a:ext uri="{FF2B5EF4-FFF2-40B4-BE49-F238E27FC236}">
                <a16:creationId xmlns:a16="http://schemas.microsoft.com/office/drawing/2014/main" id="{23A0F158-540E-4E62-B272-E311D2806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3952875"/>
            <a:ext cx="43624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070AF46-45A1-4645-9A7A-F258270C5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814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2" name="step-number">
            <a:extLst xmlns:a="http://schemas.openxmlformats.org/drawingml/2006/main">
              <a:ext uri="{FF2B5EF4-FFF2-40B4-BE49-F238E27FC236}">
                <a16:creationId xmlns:a16="http://schemas.microsoft.com/office/drawing/2014/main" id="{2F7F9E41-5DEF-4268-BA24-044C87AB2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57675"/>
            <a:ext cx="45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1</a:t>
            </a:r>
          </a:p>
        </p:txBody>
      </p:sp>
      <p:sp>
        <p:nvSpPr>
          <p:cNvPr id="23" name="node-heading">
            <a:extLst xmlns:a="http://schemas.openxmlformats.org/drawingml/2006/main">
              <a:ext uri="{FF2B5EF4-FFF2-40B4-BE49-F238E27FC236}">
                <a16:creationId xmlns:a16="http://schemas.microsoft.com/office/drawing/2014/main" id="{DE9D38BE-8464-4A73-BB5C-900AB9925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181475"/>
            <a:ext cx="333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Ejemplo 1</a:t>
            </a:r>
          </a:p>
        </p:txBody>
      </p:sp>
      <p:sp>
        <p:nvSpPr>
          <p:cNvPr id="24" name="node-body">
            <a:extLst xmlns:a="http://schemas.openxmlformats.org/drawingml/2006/main">
              <a:ext uri="{FF2B5EF4-FFF2-40B4-BE49-F238E27FC236}">
                <a16:creationId xmlns:a16="http://schemas.microsoft.com/office/drawing/2014/main" id="{D36F8442-E8B9-4C94-9A41-223F33A09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962525"/>
            <a:ext cx="3905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Existencia del producto →</a:t>
            </a:r>
          </a:p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intención de stock.</a:t>
            </a:r>
          </a:p>
        </p:txBody>
      </p:sp>
      <p:sp>
        <p:nvSpPr>
          <p:cNvPr id="25" name="concept-node">
            <a:extLst xmlns:a="http://schemas.openxmlformats.org/drawingml/2006/main">
              <a:ext uri="{FF2B5EF4-FFF2-40B4-BE49-F238E27FC236}">
                <a16:creationId xmlns:a16="http://schemas.microsoft.com/office/drawing/2014/main" id="{BCFE9DC0-6907-4D6E-B3C4-777DA0394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943350"/>
            <a:ext cx="4381500" cy="2133600"/>
          </a:xfrm>
          <a:prstGeom xmlns:a="http://schemas.openxmlformats.org/drawingml/2006/main" prst="roundRect">
            <a:avLst>
              <a:gd name="adj" fmla="val 8036"/>
            </a:avLst>
          </a:prstGeom>
          <a:solidFill xmlns:a="http://schemas.openxmlformats.org/drawingml/2006/main">
            <a:srgbClr val="FFF0EB"/>
          </a:solidFill>
          <a:ln xmlns:a="http://schemas.openxmlformats.org/drawingml/2006/main" w="14288">
            <a:solidFill>
              <a:srgbClr val="FF5733"/>
            </a:solidFill>
          </a:ln>
        </p:spPr>
      </p:sp>
      <p:sp>
        <p:nvSpPr>
          <p:cNvPr id="26" name="node-top-rule">
            <a:extLst xmlns:a="http://schemas.openxmlformats.org/drawingml/2006/main">
              <a:ext uri="{FF2B5EF4-FFF2-40B4-BE49-F238E27FC236}">
                <a16:creationId xmlns:a16="http://schemas.microsoft.com/office/drawing/2014/main" id="{00488936-1D5C-4AE1-A759-12720B726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775" y="3952875"/>
            <a:ext cx="43624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DE833B4-B965-4EFB-8365-17E1980ED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41814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28" name="step-number">
            <a:extLst xmlns:a="http://schemas.openxmlformats.org/drawingml/2006/main">
              <a:ext uri="{FF2B5EF4-FFF2-40B4-BE49-F238E27FC236}">
                <a16:creationId xmlns:a16="http://schemas.microsoft.com/office/drawing/2014/main" id="{A5BC70CD-3D93-46E6-A5A7-D61EDC5F9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4257675"/>
            <a:ext cx="45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2</a:t>
            </a:r>
          </a:p>
        </p:txBody>
      </p:sp>
      <p:sp>
        <p:nvSpPr>
          <p:cNvPr id="29" name="node-heading">
            <a:extLst xmlns:a="http://schemas.openxmlformats.org/drawingml/2006/main">
              <a:ext uri="{FF2B5EF4-FFF2-40B4-BE49-F238E27FC236}">
                <a16:creationId xmlns:a16="http://schemas.microsoft.com/office/drawing/2014/main" id="{83B431DF-B39C-4EC9-AFE9-A38AC681F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181475"/>
            <a:ext cx="333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Ejemplo 2</a:t>
            </a:r>
          </a:p>
        </p:txBody>
      </p:sp>
      <p:sp>
        <p:nvSpPr>
          <p:cNvPr id="30" name="node-body">
            <a:extLst xmlns:a="http://schemas.openxmlformats.org/drawingml/2006/main">
              <a:ext uri="{FF2B5EF4-FFF2-40B4-BE49-F238E27FC236}">
                <a16:creationId xmlns:a16="http://schemas.microsoft.com/office/drawing/2014/main" id="{FF77F292-E0FF-44F8-96F9-D0422451F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4962525"/>
            <a:ext cx="3905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Pedido ya creado → intención de</a:t>
            </a:r>
          </a:p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seguimiento.</a:t>
            </a:r>
          </a:p>
        </p:txBody>
      </p:sp>
      <p:sp>
        <p:nvSpPr>
          <p:cNvPr id="31" name="concept-node">
            <a:extLst xmlns:a="http://schemas.openxmlformats.org/drawingml/2006/main">
              <a:ext uri="{FF2B5EF4-FFF2-40B4-BE49-F238E27FC236}">
                <a16:creationId xmlns:a16="http://schemas.microsoft.com/office/drawing/2014/main" id="{82914BCB-AC97-49F6-BA24-1E3D70063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943350"/>
            <a:ext cx="4381500" cy="2133600"/>
          </a:xfrm>
          <a:prstGeom xmlns:a="http://schemas.openxmlformats.org/drawingml/2006/main" prst="roundRect">
            <a:avLst>
              <a:gd name="adj" fmla="val 80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ED8E3"/>
            </a:solidFill>
          </a:ln>
        </p:spPr>
      </p:sp>
      <p:sp>
        <p:nvSpPr>
          <p:cNvPr id="32" name="node-top-rule">
            <a:extLst xmlns:a="http://schemas.openxmlformats.org/drawingml/2006/main">
              <a:ext uri="{FF2B5EF4-FFF2-40B4-BE49-F238E27FC236}">
                <a16:creationId xmlns:a16="http://schemas.microsoft.com/office/drawing/2014/main" id="{1C8332F0-2C75-482C-B98A-1F00418CF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3952875"/>
            <a:ext cx="43624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2A295A2-B922-42DC-8984-FB1362005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41814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34" name="step-number">
            <a:extLst xmlns:a="http://schemas.openxmlformats.org/drawingml/2006/main">
              <a:ext uri="{FF2B5EF4-FFF2-40B4-BE49-F238E27FC236}">
                <a16:creationId xmlns:a16="http://schemas.microsoft.com/office/drawing/2014/main" id="{1A146213-3978-4A80-9FB6-63AF00423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4257675"/>
            <a:ext cx="45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3</a:t>
            </a:r>
          </a:p>
        </p:txBody>
      </p:sp>
      <p:sp>
        <p:nvSpPr>
          <p:cNvPr id="35" name="node-heading">
            <a:extLst xmlns:a="http://schemas.openxmlformats.org/drawingml/2006/main">
              <a:ext uri="{FF2B5EF4-FFF2-40B4-BE49-F238E27FC236}">
                <a16:creationId xmlns:a16="http://schemas.microsoft.com/office/drawing/2014/main" id="{D6DB238D-FC6C-4EA8-92AC-40D063B61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4181475"/>
            <a:ext cx="333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Prueba nueva</a:t>
            </a:r>
          </a:p>
        </p:txBody>
      </p:sp>
      <p:sp>
        <p:nvSpPr>
          <p:cNvPr id="36" name="node-body">
            <a:extLst xmlns:a="http://schemas.openxmlformats.org/drawingml/2006/main">
              <a:ext uri="{FF2B5EF4-FFF2-40B4-BE49-F238E27FC236}">
                <a16:creationId xmlns:a16="http://schemas.microsoft.com/office/drawing/2014/main" id="{02629ABC-046D-414F-8170-9C24AC801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4962525"/>
            <a:ext cx="3905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«¿Llegó mi compra?» debe</a:t>
            </a:r>
          </a:p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reconocer seguimiento.</a:t>
            </a:r>
          </a:p>
        </p:txBody>
      </p:sp>
      <p:cxnSp>
        <p:nvCxnSpPr>
          <p:cNvPr id="80" name=""/>
          <p:cNvCxnSpPr>
            <a:stCxn xmlns:a="http://schemas.openxmlformats.org/drawingml/2006/main" id="19" idx="3"/>
            <a:endCxn xmlns:a="http://schemas.openxmlformats.org/drawingml/2006/main" id="25" idx="1"/>
          </p:cNvCxnSpPr>
          <p:nvPr/>
        </p:nvCxnSpPr>
        <p:spPr>
          <a:xfrm xmlns:a="http://schemas.openxmlformats.org/drawingml/2006/main">
            <a:off x="4953000" y="501015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E293B"/>
            </a:solidFill>
            <a:tailEnd type="triangle" w="med" len="med"/>
          </a:ln>
        </p:spPr>
      </p:cxnSp>
      <p:cxnSp>
        <p:nvCxnSpPr>
          <p:cNvPr id="81" name=""/>
          <p:cNvCxnSpPr>
            <a:stCxn xmlns:a="http://schemas.openxmlformats.org/drawingml/2006/main" id="25" idx="3"/>
            <a:endCxn xmlns:a="http://schemas.openxmlformats.org/drawingml/2006/main" id="31" idx="1"/>
          </p:cNvCxnSpPr>
          <p:nvPr/>
        </p:nvCxnSpPr>
        <p:spPr>
          <a:xfrm xmlns:a="http://schemas.openxmlformats.org/drawingml/2006/main">
            <a:off x="9810750" y="501015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E293B"/>
            </a:solidFill>
            <a:tailEnd type="triangle" w="med" len="med"/>
          </a:ln>
        </p:spPr>
      </p:cxnSp>
      <p:sp>
        <p:nvSpPr>
          <p:cNvPr id="39" name="panel">
            <a:extLst xmlns:a="http://schemas.openxmlformats.org/drawingml/2006/main">
              <a:ext uri="{FF2B5EF4-FFF2-40B4-BE49-F238E27FC236}">
                <a16:creationId xmlns:a16="http://schemas.microsoft.com/office/drawing/2014/main" id="{EEB0CDAB-E605-4615-A939-794FE218C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91250"/>
            <a:ext cx="14097000" cy="10668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0EB"/>
          </a:solidFill>
          <a:ln xmlns:a="http://schemas.openxmlformats.org/drawingml/2006/main" w="0">
            <a:noFill/>
          </a:ln>
        </p:spPr>
      </p:sp>
      <p:sp>
        <p:nvSpPr>
          <p:cNvPr id="40" name="result-label">
            <a:extLst xmlns:a="http://schemas.openxmlformats.org/drawingml/2006/main">
              <a:ext uri="{FF2B5EF4-FFF2-40B4-BE49-F238E27FC236}">
                <a16:creationId xmlns:a16="http://schemas.microsoft.com/office/drawing/2014/main" id="{51EBE94D-3377-4BD0-A4B9-B8382B707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296025"/>
            <a:ext cx="135731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5733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FF5733"/>
                </a:solidFill>
                <a:latin typeface="DejaVu Sans"/>
                <a:ea typeface="DejaVu Sans"/>
                <a:cs typeface="DejaVu Sans"/>
              </a:rPr>
              <a:t>RESULTADO ESPERADO</a:t>
            </a:r>
          </a:p>
        </p:txBody>
      </p:sp>
      <p:sp>
        <p:nvSpPr>
          <p:cNvPr id="41" name="case-outcome">
            <a:extLst xmlns:a="http://schemas.openxmlformats.org/drawingml/2006/main">
              <a:ext uri="{FF2B5EF4-FFF2-40B4-BE49-F238E27FC236}">
                <a16:creationId xmlns:a16="http://schemas.microsoft.com/office/drawing/2014/main" id="{CFD8D2D7-0C54-464E-8C26-DE7CF2DB5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591300"/>
            <a:ext cx="13573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El ejemplo enseña el criterio de distinción, no una palabra mágica.</a:t>
            </a:r>
          </a:p>
        </p:txBody>
      </p:sp>
      <p:sp>
        <p:nvSpPr>
          <p:cNvPr id="42" name="panel">
            <a:extLst xmlns:a="http://schemas.openxmlformats.org/drawingml/2006/main">
              <a:ext uri="{FF2B5EF4-FFF2-40B4-BE49-F238E27FC236}">
                <a16:creationId xmlns:a16="http://schemas.microsoft.com/office/drawing/2014/main" id="{4A4A3735-D37A-451F-980A-E18744E89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467600"/>
            <a:ext cx="14287500" cy="695325"/>
          </a:xfrm>
          <a:prstGeom xmlns:a="http://schemas.openxmlformats.org/drawingml/2006/main" prst="roundRect">
            <a:avLst>
              <a:gd name="adj" fmla="val 1917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43" name="takeaway">
            <a:extLst xmlns:a="http://schemas.openxmlformats.org/drawingml/2006/main">
              <a:ext uri="{FF2B5EF4-FFF2-40B4-BE49-F238E27FC236}">
                <a16:creationId xmlns:a16="http://schemas.microsoft.com/office/drawing/2014/main" id="{3EA93219-50C3-4A79-A127-F2FDF88E2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7639050"/>
            <a:ext cx="1381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Few-shot aporta demostraciones dentro del contexto; no entrena pesos.</a:t>
            </a:r>
          </a:p>
        </p:txBody>
      </p:sp>
    </p:spTree>
    <p:extLst>
      <p:ext uri="{BB962C8B-B14F-4D97-AF65-F5344CB8AC3E}">
        <p14:creationId xmlns:p14="http://schemas.microsoft.com/office/powerpoint/2010/main" val="25091591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4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header">
            <a:extLst xmlns:a="http://schemas.openxmlformats.org/drawingml/2006/main">
              <a:ext uri="{FF2B5EF4-FFF2-40B4-BE49-F238E27FC236}">
                <a16:creationId xmlns:a16="http://schemas.microsoft.com/office/drawing/2014/main" id="{360B22F4-646F-4DC9-B7AD-E822935B0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47650"/>
            <a:ext cx="14706600" cy="1057275"/>
          </a:xfrm>
          <a:prstGeom xmlns:a="http://schemas.openxmlformats.org/drawingml/2006/main" prst="roundRect">
            <a:avLst>
              <a:gd name="adj" fmla="val 1801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D834E1-07D3-4C03-857E-FF741CC11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3" name="step-number">
            <a:extLst xmlns:a="http://schemas.openxmlformats.org/drawingml/2006/main">
              <a:ext uri="{FF2B5EF4-FFF2-40B4-BE49-F238E27FC236}">
                <a16:creationId xmlns:a16="http://schemas.microsoft.com/office/drawing/2014/main" id="{165439AA-2318-4166-BDAA-9916F162B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5905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5</a:t>
            </a:r>
          </a:p>
        </p:txBody>
      </p:sp>
      <p:sp>
        <p:nvSpPr>
          <p:cNvPr id="4" name="breadcrumb">
            <a:extLst xmlns:a="http://schemas.openxmlformats.org/drawingml/2006/main">
              <a:ext uri="{FF2B5EF4-FFF2-40B4-BE49-F238E27FC236}">
                <a16:creationId xmlns:a16="http://schemas.microsoft.com/office/drawing/2014/main" id="{A82C5CF7-B71D-4A98-BF0B-266DFF971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400050"/>
            <a:ext cx="1228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rPr>
              <a:t>02 · Prompts, mensajes y contratos / CAPÍTULO 5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6E847F8-754F-457A-B9D4-934F8A230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714375"/>
            <a:ext cx="1314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Salida estructurada y validación</a:t>
            </a:r>
          </a:p>
        </p:txBody>
      </p:sp>
      <p:sp>
        <p:nvSpPr>
          <p:cNvPr id="6" name="learning-purpose">
            <a:extLst xmlns:a="http://schemas.openxmlformats.org/drawingml/2006/main">
              <a:ext uri="{FF2B5EF4-FFF2-40B4-BE49-F238E27FC236}">
                <a16:creationId xmlns:a16="http://schemas.microsoft.com/office/drawing/2014/main" id="{AE5872DC-B1F8-46D2-8D80-2841609BC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14475"/>
            <a:ext cx="141351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Tratar una salida mal formada como un fallo esperable del contrato.</a:t>
            </a:r>
          </a:p>
        </p:txBody>
      </p:sp>
      <p:sp>
        <p:nvSpPr>
          <p:cNvPr id="7" name="panel">
            <a:extLst xmlns:a="http://schemas.openxmlformats.org/drawingml/2006/main">
              <a:ext uri="{FF2B5EF4-FFF2-40B4-BE49-F238E27FC236}">
                <a16:creationId xmlns:a16="http://schemas.microsoft.com/office/drawing/2014/main" id="{66101B62-9AC7-4497-848C-D0D5D44EC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8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468574E0-2376-4AAD-B68B-CBF9ABC53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1 · CONCEPTO</a:t>
            </a:r>
          </a:p>
        </p:txBody>
      </p:sp>
      <p:sp>
        <p:nvSpPr>
          <p:cNvPr id="9" name="panel">
            <a:extLst xmlns:a="http://schemas.openxmlformats.org/drawingml/2006/main">
              <a:ext uri="{FF2B5EF4-FFF2-40B4-BE49-F238E27FC236}">
                <a16:creationId xmlns:a16="http://schemas.microsoft.com/office/drawing/2014/main" id="{52ED1911-38DA-4F37-853A-A8EF8BADE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91925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10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40EEDC07-75CB-488C-9F3C-D1329A94A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8600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2 · DESARROLLO</a:t>
            </a:r>
          </a:p>
        </p:txBody>
      </p:sp>
      <p:sp>
        <p:nvSpPr>
          <p:cNvPr id="11" name="panel">
            <a:extLst xmlns:a="http://schemas.openxmlformats.org/drawingml/2006/main">
              <a:ext uri="{FF2B5EF4-FFF2-40B4-BE49-F238E27FC236}">
                <a16:creationId xmlns:a16="http://schemas.microsoft.com/office/drawing/2014/main" id="{8D7679FF-CB71-4696-8EFB-CD5285334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8260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12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480F2805-BEB4-4BF5-BF02-260044D31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4927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3 · EJEMPLO</a:t>
            </a:r>
          </a:p>
        </p:txBody>
      </p:sp>
      <p:sp>
        <p:nvSpPr>
          <p:cNvPr id="13" name="footer">
            <a:extLst xmlns:a="http://schemas.openxmlformats.org/drawingml/2006/main">
              <a:ext uri="{FF2B5EF4-FFF2-40B4-BE49-F238E27FC236}">
                <a16:creationId xmlns:a16="http://schemas.microsoft.com/office/drawing/2014/main" id="{07F35840-B3D5-4D46-BDD8-EF9789F88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277225"/>
            <a:ext cx="1190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AriwaLabs · 02 / C05</a:t>
            </a:r>
          </a:p>
        </p:txBody>
      </p:sp>
      <p:sp>
        <p:nvSpPr>
          <p:cNvPr id="14" name="folio">
            <a:extLst xmlns:a="http://schemas.openxmlformats.org/drawingml/2006/main">
              <a:ext uri="{FF2B5EF4-FFF2-40B4-BE49-F238E27FC236}">
                <a16:creationId xmlns:a16="http://schemas.microsoft.com/office/drawing/2014/main" id="{E1C06B21-985E-441C-9B0C-D6F0EADAF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258175"/>
            <a:ext cx="781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13</a:t>
            </a:r>
          </a:p>
        </p:txBody>
      </p:sp>
      <p:sp>
        <p:nvSpPr>
          <p:cNvPr id="15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8742A499-B3A1-4BB6-9850-2E292EA87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81225"/>
            <a:ext cx="1333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SEGUIR LA RELACIÓN ENTRE LAS PIEZAS</a:t>
            </a:r>
          </a:p>
        </p:txBody>
      </p:sp>
      <p:sp>
        <p:nvSpPr>
          <p:cNvPr id="16" name="concept-node">
            <a:extLst xmlns:a="http://schemas.openxmlformats.org/drawingml/2006/main">
              <a:ext uri="{FF2B5EF4-FFF2-40B4-BE49-F238E27FC236}">
                <a16:creationId xmlns:a16="http://schemas.microsoft.com/office/drawing/2014/main" id="{305F23E9-B27A-47C7-A3EE-5AB561202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0"/>
            <a:ext cx="4381500" cy="291465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ED8E3"/>
            </a:solidFill>
          </a:ln>
        </p:spPr>
      </p:sp>
      <p:sp>
        <p:nvSpPr>
          <p:cNvPr id="17" name="node-top-rule">
            <a:extLst xmlns:a="http://schemas.openxmlformats.org/drawingml/2006/main">
              <a:ext uri="{FF2B5EF4-FFF2-40B4-BE49-F238E27FC236}">
                <a16:creationId xmlns:a16="http://schemas.microsoft.com/office/drawing/2014/main" id="{E7105E99-E378-4CB5-9691-2F28CF9BF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676525"/>
            <a:ext cx="43624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97937D9-22BE-45C5-B4D3-EB0103957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051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19" name="step-number">
            <a:extLst xmlns:a="http://schemas.openxmlformats.org/drawingml/2006/main">
              <a:ext uri="{FF2B5EF4-FFF2-40B4-BE49-F238E27FC236}">
                <a16:creationId xmlns:a16="http://schemas.microsoft.com/office/drawing/2014/main" id="{588C6CE6-8A48-4F2F-9A76-E5A78D5E7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81325"/>
            <a:ext cx="45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1</a:t>
            </a:r>
          </a:p>
        </p:txBody>
      </p:sp>
      <p:sp>
        <p:nvSpPr>
          <p:cNvPr id="20" name="node-heading">
            <a:extLst xmlns:a="http://schemas.openxmlformats.org/drawingml/2006/main">
              <a:ext uri="{FF2B5EF4-FFF2-40B4-BE49-F238E27FC236}">
                <a16:creationId xmlns:a16="http://schemas.microsoft.com/office/drawing/2014/main" id="{A6110022-1151-4E9E-801C-FDB3E97A2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905125"/>
            <a:ext cx="33337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Esquema</a:t>
            </a:r>
          </a:p>
        </p:txBody>
      </p:sp>
      <p:sp>
        <p:nvSpPr>
          <p:cNvPr id="21" name="node-body">
            <a:extLst xmlns:a="http://schemas.openxmlformats.org/drawingml/2006/main">
              <a:ext uri="{FF2B5EF4-FFF2-40B4-BE49-F238E27FC236}">
                <a16:creationId xmlns:a16="http://schemas.microsoft.com/office/drawing/2014/main" id="{708514AC-EA0A-4E7B-8585-BF880D798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838575"/>
            <a:ext cx="3905250" cy="1609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Pydantic define campos y</a:t>
            </a:r>
          </a:p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valores válidos.</a:t>
            </a:r>
          </a:p>
        </p:txBody>
      </p:sp>
      <p:sp>
        <p:nvSpPr>
          <p:cNvPr id="22" name="concept-node">
            <a:extLst xmlns:a="http://schemas.openxmlformats.org/drawingml/2006/main">
              <a:ext uri="{FF2B5EF4-FFF2-40B4-BE49-F238E27FC236}">
                <a16:creationId xmlns:a16="http://schemas.microsoft.com/office/drawing/2014/main" id="{559830C0-5ABF-4A96-A315-095BCCC4E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667000"/>
            <a:ext cx="4381500" cy="291465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0EB"/>
          </a:solidFill>
          <a:ln xmlns:a="http://schemas.openxmlformats.org/drawingml/2006/main" w="14288">
            <a:solidFill>
              <a:srgbClr val="FF5733"/>
            </a:solidFill>
          </a:ln>
        </p:spPr>
      </p:sp>
      <p:sp>
        <p:nvSpPr>
          <p:cNvPr id="23" name="node-top-rule">
            <a:extLst xmlns:a="http://schemas.openxmlformats.org/drawingml/2006/main">
              <a:ext uri="{FF2B5EF4-FFF2-40B4-BE49-F238E27FC236}">
                <a16:creationId xmlns:a16="http://schemas.microsoft.com/office/drawing/2014/main" id="{EE1F467C-07CA-4082-B575-BC0B0F00F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775" y="2676525"/>
            <a:ext cx="43624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B571D4C-24F3-44EE-BE9E-71B0B4E01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9051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25" name="step-number">
            <a:extLst xmlns:a="http://schemas.openxmlformats.org/drawingml/2006/main">
              <a:ext uri="{FF2B5EF4-FFF2-40B4-BE49-F238E27FC236}">
                <a16:creationId xmlns:a16="http://schemas.microsoft.com/office/drawing/2014/main" id="{8E94EED3-D144-4934-913C-D09D7E73E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981325"/>
            <a:ext cx="45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2</a:t>
            </a:r>
          </a:p>
        </p:txBody>
      </p:sp>
      <p:sp>
        <p:nvSpPr>
          <p:cNvPr id="26" name="node-heading">
            <a:extLst xmlns:a="http://schemas.openxmlformats.org/drawingml/2006/main">
              <a:ext uri="{FF2B5EF4-FFF2-40B4-BE49-F238E27FC236}">
                <a16:creationId xmlns:a16="http://schemas.microsoft.com/office/drawing/2014/main" id="{C584E2CF-7F41-4E0C-8B1D-F5F49ABC3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905125"/>
            <a:ext cx="33337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Modelo</a:t>
            </a:r>
          </a:p>
        </p:txBody>
      </p:sp>
      <p:sp>
        <p:nvSpPr>
          <p:cNvPr id="27" name="node-body">
            <a:extLst xmlns:a="http://schemas.openxmlformats.org/drawingml/2006/main">
              <a:ext uri="{FF2B5EF4-FFF2-40B4-BE49-F238E27FC236}">
                <a16:creationId xmlns:a16="http://schemas.microsoft.com/office/drawing/2014/main" id="{3FCE651D-D9AD-45BA-B984-4CE981E96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3838575"/>
            <a:ext cx="3905250" cy="1609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with_structured_output</a:t>
            </a:r>
          </a:p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solicita esa estructura.</a:t>
            </a:r>
          </a:p>
        </p:txBody>
      </p:sp>
      <p:sp>
        <p:nvSpPr>
          <p:cNvPr id="28" name="concept-node">
            <a:extLst xmlns:a="http://schemas.openxmlformats.org/drawingml/2006/main">
              <a:ext uri="{FF2B5EF4-FFF2-40B4-BE49-F238E27FC236}">
                <a16:creationId xmlns:a16="http://schemas.microsoft.com/office/drawing/2014/main" id="{07BCC5C5-282F-4EA3-9793-8D2018AA4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667000"/>
            <a:ext cx="4381500" cy="291465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ED8E3"/>
            </a:solidFill>
          </a:ln>
        </p:spPr>
      </p:sp>
      <p:sp>
        <p:nvSpPr>
          <p:cNvPr id="29" name="node-top-rule">
            <a:extLst xmlns:a="http://schemas.openxmlformats.org/drawingml/2006/main">
              <a:ext uri="{FF2B5EF4-FFF2-40B4-BE49-F238E27FC236}">
                <a16:creationId xmlns:a16="http://schemas.microsoft.com/office/drawing/2014/main" id="{A894959C-8A1F-4D79-A4A3-7A9DC6D48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2676525"/>
            <a:ext cx="43624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DF6F28A-FBEC-4064-894B-E6C6D260B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29051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31" name="step-number">
            <a:extLst xmlns:a="http://schemas.openxmlformats.org/drawingml/2006/main">
              <a:ext uri="{FF2B5EF4-FFF2-40B4-BE49-F238E27FC236}">
                <a16:creationId xmlns:a16="http://schemas.microsoft.com/office/drawing/2014/main" id="{038D9CD9-C767-4EDC-A42F-C124793C6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2981325"/>
            <a:ext cx="45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3</a:t>
            </a:r>
          </a:p>
        </p:txBody>
      </p:sp>
      <p:sp>
        <p:nvSpPr>
          <p:cNvPr id="32" name="node-heading">
            <a:extLst xmlns:a="http://schemas.openxmlformats.org/drawingml/2006/main">
              <a:ext uri="{FF2B5EF4-FFF2-40B4-BE49-F238E27FC236}">
                <a16:creationId xmlns:a16="http://schemas.microsoft.com/office/drawing/2014/main" id="{58B8F6E0-D747-4EA8-8B75-B54797311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2905125"/>
            <a:ext cx="33337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Validación</a:t>
            </a:r>
          </a:p>
        </p:txBody>
      </p:sp>
      <p:sp>
        <p:nvSpPr>
          <p:cNvPr id="33" name="node-body">
            <a:extLst xmlns:a="http://schemas.openxmlformats.org/drawingml/2006/main">
              <a:ext uri="{FF2B5EF4-FFF2-40B4-BE49-F238E27FC236}">
                <a16:creationId xmlns:a16="http://schemas.microsoft.com/office/drawing/2014/main" id="{A87467F1-F5EC-4F2C-9E72-23B45BE35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3838575"/>
            <a:ext cx="3905250" cy="1609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El wrapper detecta errores,</a:t>
            </a:r>
          </a:p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None o tipos inesperados.</a:t>
            </a:r>
          </a:p>
        </p:txBody>
      </p:sp>
      <p:cxnSp>
        <p:nvCxnSpPr>
          <p:cNvPr id="77" name=""/>
          <p:cNvCxnSpPr>
            <a:stCxn xmlns:a="http://schemas.openxmlformats.org/drawingml/2006/main" id="16" idx="3"/>
            <a:endCxn xmlns:a="http://schemas.openxmlformats.org/drawingml/2006/main" id="22" idx="1"/>
          </p:cNvCxnSpPr>
          <p:nvPr/>
        </p:nvCxnSpPr>
        <p:spPr>
          <a:xfrm xmlns:a="http://schemas.openxmlformats.org/drawingml/2006/main">
            <a:off x="4953000" y="4124325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E293B"/>
            </a:solidFill>
            <a:tailEnd type="triangle" w="med" len="med"/>
          </a:ln>
        </p:spPr>
      </p:cxnSp>
      <p:cxnSp>
        <p:nvCxnSpPr>
          <p:cNvPr id="78" name=""/>
          <p:cNvCxnSpPr>
            <a:stCxn xmlns:a="http://schemas.openxmlformats.org/drawingml/2006/main" id="22" idx="3"/>
            <a:endCxn xmlns:a="http://schemas.openxmlformats.org/drawingml/2006/main" id="28" idx="1"/>
          </p:cNvCxnSpPr>
          <p:nvPr/>
        </p:nvCxnSpPr>
        <p:spPr>
          <a:xfrm xmlns:a="http://schemas.openxmlformats.org/drawingml/2006/main">
            <a:off x="9810750" y="4124325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E293B"/>
            </a:solidFill>
            <a:tailEnd type="triangle" w="med" len="med"/>
          </a:ln>
        </p:spPr>
      </p:cxnSp>
      <p:sp>
        <p:nvSpPr>
          <p:cNvPr id="36" name="panel">
            <a:extLst xmlns:a="http://schemas.openxmlformats.org/drawingml/2006/main">
              <a:ext uri="{FF2B5EF4-FFF2-40B4-BE49-F238E27FC236}">
                <a16:creationId xmlns:a16="http://schemas.microsoft.com/office/drawing/2014/main" id="{EA5DE59B-20F6-4906-8F93-9EA082810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05500"/>
            <a:ext cx="9048750" cy="1362075"/>
          </a:xfrm>
          <a:prstGeom xmlns:a="http://schemas.openxmlformats.org/drawingml/2006/main" prst="roundRect">
            <a:avLst>
              <a:gd name="adj" fmla="val 11189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37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8F25F157-7304-4DC5-9E57-EFFD97241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057900"/>
            <a:ext cx="1333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PREGUNTA PARA ACTIVAR EL CONCEPTO</a:t>
            </a:r>
          </a:p>
        </p:txBody>
      </p:sp>
      <p:sp>
        <p:nvSpPr>
          <p:cNvPr id="38" name="concept-question">
            <a:extLst xmlns:a="http://schemas.openxmlformats.org/drawingml/2006/main">
              <a:ext uri="{FF2B5EF4-FFF2-40B4-BE49-F238E27FC236}">
                <a16:creationId xmlns:a16="http://schemas.microsoft.com/office/drawing/2014/main" id="{9D2ABDDA-D1FA-40A1-A727-E5F6C1C04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362700"/>
            <a:ext cx="86296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¿Cuántos intentos hay si reintentos=1?</a:t>
            </a:r>
          </a:p>
        </p:txBody>
      </p:sp>
      <p:sp>
        <p:nvSpPr>
          <p:cNvPr id="39" name="panel">
            <a:extLst xmlns:a="http://schemas.openxmlformats.org/drawingml/2006/main">
              <a:ext uri="{FF2B5EF4-FFF2-40B4-BE49-F238E27FC236}">
                <a16:creationId xmlns:a16="http://schemas.microsoft.com/office/drawing/2014/main" id="{99D0D6D8-B8D8-4A8C-840A-96D088A77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5905500"/>
            <a:ext cx="4762500" cy="1362075"/>
          </a:xfrm>
          <a:prstGeom xmlns:a="http://schemas.openxmlformats.org/drawingml/2006/main" prst="roundRect">
            <a:avLst>
              <a:gd name="adj" fmla="val 11189"/>
            </a:avLst>
          </a:prstGeom>
          <a:solidFill xmlns:a="http://schemas.openxmlformats.org/drawingml/2006/main">
            <a:srgbClr val="FFF0EB"/>
          </a:solidFill>
          <a:ln xmlns:a="http://schemas.openxmlformats.org/drawingml/2006/main" w="0">
            <a:noFill/>
          </a:ln>
        </p:spPr>
      </p:sp>
      <p:sp>
        <p:nvSpPr>
          <p:cNvPr id="40" name="misconception-label">
            <a:extLst xmlns:a="http://schemas.openxmlformats.org/drawingml/2006/main">
              <a:ext uri="{FF2B5EF4-FFF2-40B4-BE49-F238E27FC236}">
                <a16:creationId xmlns:a16="http://schemas.microsoft.com/office/drawing/2014/main" id="{51E46FD4-42FD-4535-A1CE-5011FCB29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6057900"/>
            <a:ext cx="43148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5733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FF5733"/>
                </a:solidFill>
                <a:latin typeface="DejaVu Sans"/>
                <a:ea typeface="DejaVu Sans"/>
                <a:cs typeface="DejaVu Sans"/>
              </a:rPr>
              <a:t>EVITAR ESTA CONFUSIÓN</a:t>
            </a:r>
          </a:p>
        </p:txBody>
      </p:sp>
      <p:sp>
        <p:nvSpPr>
          <p:cNvPr id="41" name="misconception">
            <a:extLst xmlns:a="http://schemas.openxmlformats.org/drawingml/2006/main">
              <a:ext uri="{FF2B5EF4-FFF2-40B4-BE49-F238E27FC236}">
                <a16:creationId xmlns:a16="http://schemas.microsoft.com/office/drawing/2014/main" id="{B2B83D54-0355-4EF1-9C2B-41C39F546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6372225"/>
            <a:ext cx="43148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Interpretar un reintento como intentos</a:t>
            </a:r>
          </a:p>
          <a:p xmlns:a="http://schemas.openxmlformats.org/drawingml/2006/main">
            <a:pPr algn="l">
              <a:defRPr sz="165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ilimitados o garantía de éxito.</a:t>
            </a:r>
          </a:p>
        </p:txBody>
      </p:sp>
      <p:sp>
        <p:nvSpPr>
          <p:cNvPr id="42" name="panel">
            <a:extLst xmlns:a="http://schemas.openxmlformats.org/drawingml/2006/main">
              <a:ext uri="{FF2B5EF4-FFF2-40B4-BE49-F238E27FC236}">
                <a16:creationId xmlns:a16="http://schemas.microsoft.com/office/drawing/2014/main" id="{678AC15B-C42E-41C0-83C6-F40361D5B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467600"/>
            <a:ext cx="14287500" cy="695325"/>
          </a:xfrm>
          <a:prstGeom xmlns:a="http://schemas.openxmlformats.org/drawingml/2006/main" prst="roundRect">
            <a:avLst>
              <a:gd name="adj" fmla="val 1917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43" name="takeaway">
            <a:extLst xmlns:a="http://schemas.openxmlformats.org/drawingml/2006/main">
              <a:ext uri="{FF2B5EF4-FFF2-40B4-BE49-F238E27FC236}">
                <a16:creationId xmlns:a16="http://schemas.microsoft.com/office/drawing/2014/main" id="{B2A5DE58-E47D-441E-B184-7167D6EBC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7639050"/>
            <a:ext cx="1381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Solicitar estructura y validar estructura son responsabilidades distintas.</a:t>
            </a:r>
          </a:p>
        </p:txBody>
      </p:sp>
    </p:spTree>
    <p:extLst>
      <p:ext uri="{BB962C8B-B14F-4D97-AF65-F5344CB8AC3E}">
        <p14:creationId xmlns:p14="http://schemas.microsoft.com/office/powerpoint/2010/main" val="153237340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4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header">
            <a:extLst xmlns:a="http://schemas.openxmlformats.org/drawingml/2006/main">
              <a:ext uri="{FF2B5EF4-FFF2-40B4-BE49-F238E27FC236}">
                <a16:creationId xmlns:a16="http://schemas.microsoft.com/office/drawing/2014/main" id="{D505802C-E592-4BB7-8037-E033E7717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47650"/>
            <a:ext cx="14706600" cy="1057275"/>
          </a:xfrm>
          <a:prstGeom xmlns:a="http://schemas.openxmlformats.org/drawingml/2006/main" prst="roundRect">
            <a:avLst>
              <a:gd name="adj" fmla="val 1801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80E101-F343-4B24-8D30-42EEABBAD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3" name="step-number">
            <a:extLst xmlns:a="http://schemas.openxmlformats.org/drawingml/2006/main">
              <a:ext uri="{FF2B5EF4-FFF2-40B4-BE49-F238E27FC236}">
                <a16:creationId xmlns:a16="http://schemas.microsoft.com/office/drawing/2014/main" id="{5226F8DE-5D25-43B8-A94B-F39332F6B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5905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5</a:t>
            </a:r>
          </a:p>
        </p:txBody>
      </p:sp>
      <p:sp>
        <p:nvSpPr>
          <p:cNvPr id="4" name="breadcrumb">
            <a:extLst xmlns:a="http://schemas.openxmlformats.org/drawingml/2006/main">
              <a:ext uri="{FF2B5EF4-FFF2-40B4-BE49-F238E27FC236}">
                <a16:creationId xmlns:a16="http://schemas.microsoft.com/office/drawing/2014/main" id="{EE924798-3B26-4822-88E2-F36759D49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400050"/>
            <a:ext cx="1228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rPr>
              <a:t>02 · Prompts, mensajes y contratos / CAPÍTULO 5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24C7EBB-4116-4779-AFE3-1ADF0FD13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714375"/>
            <a:ext cx="1314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Recuperación acotada</a:t>
            </a:r>
          </a:p>
        </p:txBody>
      </p:sp>
      <p:sp>
        <p:nvSpPr>
          <p:cNvPr id="6" name="learning-purpose">
            <a:extLst xmlns:a="http://schemas.openxmlformats.org/drawingml/2006/main">
              <a:ext uri="{FF2B5EF4-FFF2-40B4-BE49-F238E27FC236}">
                <a16:creationId xmlns:a16="http://schemas.microsoft.com/office/drawing/2014/main" id="{686609C9-E589-4393-B94D-7AD56FF11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14475"/>
            <a:ext cx="141351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Tratar una salida mal formada como un fallo esperable del contrato.</a:t>
            </a:r>
          </a:p>
        </p:txBody>
      </p:sp>
      <p:sp>
        <p:nvSpPr>
          <p:cNvPr id="7" name="panel">
            <a:extLst xmlns:a="http://schemas.openxmlformats.org/drawingml/2006/main">
              <a:ext uri="{FF2B5EF4-FFF2-40B4-BE49-F238E27FC236}">
                <a16:creationId xmlns:a16="http://schemas.microsoft.com/office/drawing/2014/main" id="{96F02DC7-7D6E-4A5E-8CFF-C60CAD073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8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2291874C-D793-40D8-9BD9-BC85F696A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1 · CONCEPTO</a:t>
            </a:r>
          </a:p>
        </p:txBody>
      </p:sp>
      <p:sp>
        <p:nvSpPr>
          <p:cNvPr id="9" name="panel">
            <a:extLst xmlns:a="http://schemas.openxmlformats.org/drawingml/2006/main">
              <a:ext uri="{FF2B5EF4-FFF2-40B4-BE49-F238E27FC236}">
                <a16:creationId xmlns:a16="http://schemas.microsoft.com/office/drawing/2014/main" id="{4C0D9A4B-29EB-44C5-96F2-562C12750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91925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10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9F9CB710-D4F3-4436-BCA8-C0923370A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8600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2 · DESARROLLO</a:t>
            </a:r>
          </a:p>
        </p:txBody>
      </p:sp>
      <p:sp>
        <p:nvSpPr>
          <p:cNvPr id="11" name="panel">
            <a:extLst xmlns:a="http://schemas.openxmlformats.org/drawingml/2006/main">
              <a:ext uri="{FF2B5EF4-FFF2-40B4-BE49-F238E27FC236}">
                <a16:creationId xmlns:a16="http://schemas.microsoft.com/office/drawing/2014/main" id="{73700601-4D2D-4C88-951D-0B43DED5C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8260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12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B0A4C190-87E9-4887-B0A6-4E1120395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4927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3 · EJEMPLO</a:t>
            </a:r>
          </a:p>
        </p:txBody>
      </p:sp>
      <p:sp>
        <p:nvSpPr>
          <p:cNvPr id="13" name="footer">
            <a:extLst xmlns:a="http://schemas.openxmlformats.org/drawingml/2006/main">
              <a:ext uri="{FF2B5EF4-FFF2-40B4-BE49-F238E27FC236}">
                <a16:creationId xmlns:a16="http://schemas.microsoft.com/office/drawing/2014/main" id="{76260B75-5AAD-47A6-8C67-4BE6C21BF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277225"/>
            <a:ext cx="1190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AriwaLabs · 02 / C05</a:t>
            </a:r>
          </a:p>
        </p:txBody>
      </p:sp>
      <p:sp>
        <p:nvSpPr>
          <p:cNvPr id="14" name="folio">
            <a:extLst xmlns:a="http://schemas.openxmlformats.org/drawingml/2006/main">
              <a:ext uri="{FF2B5EF4-FFF2-40B4-BE49-F238E27FC236}">
                <a16:creationId xmlns:a16="http://schemas.microsoft.com/office/drawing/2014/main" id="{24750DD3-763F-428E-8F21-EAEAEDD5B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258175"/>
            <a:ext cx="781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14</a:t>
            </a:r>
          </a:p>
        </p:txBody>
      </p:sp>
      <p:sp>
        <p:nvSpPr>
          <p:cNvPr id="15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FE69BFC9-480F-4275-83B3-CFC5D8AF1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81225"/>
            <a:ext cx="1333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DEL CONCEPTO A UNA COMPROBACIÓN CONCRETA</a:t>
            </a:r>
          </a:p>
        </p:txBody>
      </p:sp>
      <p:graphicFrame>
        <p:nvGraphicFramePr>
          <p:cNvPr id="41" name=""/>
          <p:cNvGraphicFramePr/>
          <p:nvPr/>
        </p:nvGraphicFramePr>
        <p:xfrm>
          <a:off xmlns:a="http://schemas.openxmlformats.org/drawingml/2006/main" x="571500" y="2667000"/>
          <a:ext xmlns:a="http://schemas.openxmlformats.org/drawingml/2006/main" cx="9334500" cy="36766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6477000"/>
              </a:tblGrid>
              <a:tr h="476250"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PUNTO DE REVISIÓN</a:t>
                      </a:r>
                    </a:p>
                  </a:txBody>
                  <a:tcPr marL="91440" marR="91440" marT="45720" marB="45720" anchor="ctr">
                    <a:solidFill>
                      <a:srgbClr val="1E293B"/>
                    </a:solidFill>
                  </a:tcPr>
                </a:tc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EXPLICACIÓN / CRITERIO</a:t>
                      </a:r>
                    </a:p>
                  </a:txBody>
                  <a:tcPr marL="91440" marR="91440" marT="45720" marB="45720" anchor="ctr">
                    <a:solidFill>
                      <a:srgbClr val="1E293B"/>
                    </a:solidFill>
                  </a:tcPr>
                </a:tc>
              </a:tr>
              <a:tr h="1066800"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Intento inicial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Solicitar la salida estructurada.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1066800"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Corrección</a:t>
                      </a:r>
                    </a:p>
                  </a:txBody>
                  <a:tcPr marL="91440" marR="91440" marT="45720" marB="45720" anchor="ctr">
                    <a:solidFill>
                      <a:srgbClr val="E9F0F7"/>
                    </a:solidFill>
                  </a:tcPr>
                </a:tc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Devolver el error y los campos obligatorios;</a:t>
                      </a:r>
                    </a:p>
                    <a:p>
                      <a:r>
                        <a:rPr sz="1875" b="0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reintentar una vez por defecto.</a:t>
                      </a:r>
                    </a:p>
                  </a:txBody>
                  <a:tcPr marL="91440" marR="91440" marT="45720" marB="45720" anchor="ctr">
                    <a:solidFill>
                      <a:srgbClr val="E9F0F7"/>
                    </a:solidFill>
                  </a:tcPr>
                </a:tc>
              </a:tr>
              <a:tr h="1066800"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Fallo explícito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Lanzar ExtraccionFallida si ambos intentos fallan.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" name="panel">
            <a:extLst xmlns:a="http://schemas.openxmlformats.org/drawingml/2006/main">
              <a:ext uri="{FF2B5EF4-FFF2-40B4-BE49-F238E27FC236}">
                <a16:creationId xmlns:a16="http://schemas.microsoft.com/office/drawing/2014/main" id="{57704443-DEC4-4BCA-A82E-2F6455C49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667000"/>
            <a:ext cx="4476750" cy="3676650"/>
          </a:xfrm>
          <a:prstGeom xmlns:a="http://schemas.openxmlformats.org/drawingml/2006/main" prst="roundRect">
            <a:avLst>
              <a:gd name="adj" fmla="val 4663"/>
            </a:avLst>
          </a:prstGeom>
          <a:solidFill xmlns:a="http://schemas.openxmlformats.org/drawingml/2006/main">
            <a:srgbClr val="FFF0EB"/>
          </a:solidFill>
          <a:ln xmlns:a="http://schemas.openxmlformats.org/drawingml/2006/main" w="14288">
            <a:solidFill>
              <a:srgbClr val="FF5733"/>
            </a:solidFill>
          </a:ln>
        </p:spPr>
      </p:sp>
      <p:sp>
        <p:nvSpPr>
          <p:cNvPr id="18" name="development-limit-label">
            <a:extLst xmlns:a="http://schemas.openxmlformats.org/drawingml/2006/main">
              <a:ext uri="{FF2B5EF4-FFF2-40B4-BE49-F238E27FC236}">
                <a16:creationId xmlns:a16="http://schemas.microsoft.com/office/drawing/2014/main" id="{99D9E123-E26F-4E9B-9B36-BA7879B7A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2886075"/>
            <a:ext cx="4019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5733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FF5733"/>
                </a:solidFill>
                <a:latin typeface="DejaVu Sans"/>
                <a:ea typeface="DejaVu Sans"/>
                <a:cs typeface="DejaVu Sans"/>
              </a:rPr>
              <a:t>EL LÍMITE QUE IMPORTA</a:t>
            </a:r>
          </a:p>
        </p:txBody>
      </p:sp>
      <p:sp>
        <p:nvSpPr>
          <p:cNvPr id="19" name="development-limit">
            <a:extLst xmlns:a="http://schemas.openxmlformats.org/drawingml/2006/main">
              <a:ext uri="{FF2B5EF4-FFF2-40B4-BE49-F238E27FC236}">
                <a16:creationId xmlns:a16="http://schemas.microsoft.com/office/drawing/2014/main" id="{1517BC13-965D-4093-B4D6-B701BD612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3362325"/>
            <a:ext cx="401955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Interpretar un reintento como</a:t>
            </a:r>
          </a:p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intentos ilimitados o garantía</a:t>
            </a:r>
          </a:p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de éxito.</a:t>
            </a:r>
          </a:p>
        </p:txBody>
      </p:sp>
      <p:sp>
        <p:nvSpPr>
          <p:cNvPr id="20" name="development-prompt">
            <a:extLst xmlns:a="http://schemas.openxmlformats.org/drawingml/2006/main">
              <a:ext uri="{FF2B5EF4-FFF2-40B4-BE49-F238E27FC236}">
                <a16:creationId xmlns:a16="http://schemas.microsoft.com/office/drawing/2014/main" id="{E422D116-B273-4E0B-9FD7-83564EBE1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5553075"/>
            <a:ext cx="40195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Revisar este supuesto evita aplicar la</a:t>
            </a:r>
          </a:p>
          <a:p xmlns:a="http://schemas.openxmlformats.org/drawingml/2006/main">
            <a:pPr algn="l">
              <a:defRPr sz="1500" b="0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idea fuera de su alcance.</a:t>
            </a:r>
          </a:p>
        </p:txBody>
      </p:sp>
      <p:sp>
        <p:nvSpPr>
          <p:cNvPr id="21" name="panel">
            <a:extLst xmlns:a="http://schemas.openxmlformats.org/drawingml/2006/main">
              <a:ext uri="{FF2B5EF4-FFF2-40B4-BE49-F238E27FC236}">
                <a16:creationId xmlns:a16="http://schemas.microsoft.com/office/drawing/2014/main" id="{EE6274B3-1174-4875-8D79-31A211203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05575"/>
            <a:ext cx="14097000" cy="752475"/>
          </a:xfrm>
          <a:prstGeom xmlns:a="http://schemas.openxmlformats.org/drawingml/2006/main" prst="roundRect">
            <a:avLst>
              <a:gd name="adj" fmla="val 20253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22" name="check-label">
            <a:extLst xmlns:a="http://schemas.openxmlformats.org/drawingml/2006/main">
              <a:ext uri="{FF2B5EF4-FFF2-40B4-BE49-F238E27FC236}">
                <a16:creationId xmlns:a16="http://schemas.microsoft.com/office/drawing/2014/main" id="{28F7885C-367C-4B42-B5D9-C48C6F357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600825"/>
            <a:ext cx="136779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COMPRUEBA TU RAZONAMIENTO</a:t>
            </a:r>
          </a:p>
        </p:txBody>
      </p:sp>
      <p:sp>
        <p:nvSpPr>
          <p:cNvPr id="23" name="development-question">
            <a:extLst xmlns:a="http://schemas.openxmlformats.org/drawingml/2006/main">
              <a:ext uri="{FF2B5EF4-FFF2-40B4-BE49-F238E27FC236}">
                <a16:creationId xmlns:a16="http://schemas.microsoft.com/office/drawing/2014/main" id="{E6252364-F0EF-4ECE-BC42-F2F597224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886575"/>
            <a:ext cx="13677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¿Cuántos intentos hay si reintentos=1?</a:t>
            </a:r>
          </a:p>
        </p:txBody>
      </p:sp>
      <p:sp>
        <p:nvSpPr>
          <p:cNvPr id="24" name="panel">
            <a:extLst xmlns:a="http://schemas.openxmlformats.org/drawingml/2006/main">
              <a:ext uri="{FF2B5EF4-FFF2-40B4-BE49-F238E27FC236}">
                <a16:creationId xmlns:a16="http://schemas.microsoft.com/office/drawing/2014/main" id="{37034D8D-60F5-47E7-A5F4-386F0CB50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467600"/>
            <a:ext cx="14287500" cy="695325"/>
          </a:xfrm>
          <a:prstGeom xmlns:a="http://schemas.openxmlformats.org/drawingml/2006/main" prst="roundRect">
            <a:avLst>
              <a:gd name="adj" fmla="val 1917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5" name="takeaway">
            <a:extLst xmlns:a="http://schemas.openxmlformats.org/drawingml/2006/main">
              <a:ext uri="{FF2B5EF4-FFF2-40B4-BE49-F238E27FC236}">
                <a16:creationId xmlns:a16="http://schemas.microsoft.com/office/drawing/2014/main" id="{C45AB010-CE64-4A26-B368-73C3B5AE3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7639050"/>
            <a:ext cx="1381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Solicitar estructura y validar estructura son responsabilidades distintas.</a:t>
            </a:r>
          </a:p>
        </p:txBody>
      </p:sp>
    </p:spTree>
    <p:extLst>
      <p:ext uri="{BB962C8B-B14F-4D97-AF65-F5344CB8AC3E}">
        <p14:creationId xmlns:p14="http://schemas.microsoft.com/office/powerpoint/2010/main" val="1680757703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4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header">
            <a:extLst xmlns:a="http://schemas.openxmlformats.org/drawingml/2006/main">
              <a:ext uri="{FF2B5EF4-FFF2-40B4-BE49-F238E27FC236}">
                <a16:creationId xmlns:a16="http://schemas.microsoft.com/office/drawing/2014/main" id="{B88EC4EE-FD77-4124-9B76-D742C0FFA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47650"/>
            <a:ext cx="14706600" cy="1057275"/>
          </a:xfrm>
          <a:prstGeom xmlns:a="http://schemas.openxmlformats.org/drawingml/2006/main" prst="roundRect">
            <a:avLst>
              <a:gd name="adj" fmla="val 1801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A9CDAD-1FF8-47D8-B7A4-9ABE632AC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3" name="step-number">
            <a:extLst xmlns:a="http://schemas.openxmlformats.org/drawingml/2006/main">
              <a:ext uri="{FF2B5EF4-FFF2-40B4-BE49-F238E27FC236}">
                <a16:creationId xmlns:a16="http://schemas.microsoft.com/office/drawing/2014/main" id="{CDBC71EB-4323-4822-931A-D14CA0E5D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5905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5</a:t>
            </a:r>
          </a:p>
        </p:txBody>
      </p:sp>
      <p:sp>
        <p:nvSpPr>
          <p:cNvPr id="4" name="breadcrumb">
            <a:extLst xmlns:a="http://schemas.openxmlformats.org/drawingml/2006/main">
              <a:ext uri="{FF2B5EF4-FFF2-40B4-BE49-F238E27FC236}">
                <a16:creationId xmlns:a16="http://schemas.microsoft.com/office/drawing/2014/main" id="{AD4D7D11-B381-40FF-8332-C130A912E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400050"/>
            <a:ext cx="1228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rPr>
              <a:t>02 · Prompts, mensajes y contratos / CAPÍTULO 5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A94DD00-71DC-47BE-9DBF-4A2370229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714375"/>
            <a:ext cx="1314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Ejemplo · Salida estructurada y validación</a:t>
            </a:r>
          </a:p>
        </p:txBody>
      </p:sp>
      <p:sp>
        <p:nvSpPr>
          <p:cNvPr id="6" name="learning-purpose">
            <a:extLst xmlns:a="http://schemas.openxmlformats.org/drawingml/2006/main">
              <a:ext uri="{FF2B5EF4-FFF2-40B4-BE49-F238E27FC236}">
                <a16:creationId xmlns:a16="http://schemas.microsoft.com/office/drawing/2014/main" id="{753B52F7-3AE1-4FFC-A373-5E552A228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14475"/>
            <a:ext cx="141351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Tratar una salida mal formada como un fallo esperable del contrato.</a:t>
            </a:r>
          </a:p>
        </p:txBody>
      </p:sp>
      <p:sp>
        <p:nvSpPr>
          <p:cNvPr id="7" name="panel">
            <a:extLst xmlns:a="http://schemas.openxmlformats.org/drawingml/2006/main">
              <a:ext uri="{FF2B5EF4-FFF2-40B4-BE49-F238E27FC236}">
                <a16:creationId xmlns:a16="http://schemas.microsoft.com/office/drawing/2014/main" id="{1D92D72C-1A07-4DC6-827A-E93DE42FA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8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B1520EBD-CD1D-489B-B44C-4441D8C7E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1 · CONCEPTO</a:t>
            </a:r>
          </a:p>
        </p:txBody>
      </p:sp>
      <p:sp>
        <p:nvSpPr>
          <p:cNvPr id="9" name="panel">
            <a:extLst xmlns:a="http://schemas.openxmlformats.org/drawingml/2006/main">
              <a:ext uri="{FF2B5EF4-FFF2-40B4-BE49-F238E27FC236}">
                <a16:creationId xmlns:a16="http://schemas.microsoft.com/office/drawing/2014/main" id="{ABBBD46A-967C-4AF7-97C7-0A5763367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91925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10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E1444969-3FF2-40ED-98C6-2EE6869C7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8600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2 · DESARROLLO</a:t>
            </a:r>
          </a:p>
        </p:txBody>
      </p:sp>
      <p:sp>
        <p:nvSpPr>
          <p:cNvPr id="11" name="panel">
            <a:extLst xmlns:a="http://schemas.openxmlformats.org/drawingml/2006/main">
              <a:ext uri="{FF2B5EF4-FFF2-40B4-BE49-F238E27FC236}">
                <a16:creationId xmlns:a16="http://schemas.microsoft.com/office/drawing/2014/main" id="{53C9A792-35F9-4DE3-85B1-57D069D1D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8260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12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27B31DB8-435D-4F1C-9DCD-ADC64B16A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4927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3 · EJEMPLO</a:t>
            </a:r>
          </a:p>
        </p:txBody>
      </p:sp>
      <p:sp>
        <p:nvSpPr>
          <p:cNvPr id="13" name="footer">
            <a:extLst xmlns:a="http://schemas.openxmlformats.org/drawingml/2006/main">
              <a:ext uri="{FF2B5EF4-FFF2-40B4-BE49-F238E27FC236}">
                <a16:creationId xmlns:a16="http://schemas.microsoft.com/office/drawing/2014/main" id="{5521E390-B255-4640-956C-C25964673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277225"/>
            <a:ext cx="1190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AriwaLabs · 02 / C05</a:t>
            </a:r>
          </a:p>
        </p:txBody>
      </p:sp>
      <p:sp>
        <p:nvSpPr>
          <p:cNvPr id="14" name="folio">
            <a:extLst xmlns:a="http://schemas.openxmlformats.org/drawingml/2006/main">
              <a:ext uri="{FF2B5EF4-FFF2-40B4-BE49-F238E27FC236}">
                <a16:creationId xmlns:a16="http://schemas.microsoft.com/office/drawing/2014/main" id="{B5A9466D-0C37-4CF8-8BA3-214AA9345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258175"/>
            <a:ext cx="781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15</a:t>
            </a:r>
          </a:p>
        </p:txBody>
      </p:sp>
      <p:sp>
        <p:nvSpPr>
          <p:cNvPr id="15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4A0C79AE-E100-42B2-9536-9F4FC07CA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81225"/>
            <a:ext cx="1333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ANDINA SEGUROS · CASO DIDÁCTICO</a:t>
            </a:r>
          </a:p>
        </p:txBody>
      </p:sp>
      <p:sp>
        <p:nvSpPr>
          <p:cNvPr id="16" name="panel">
            <a:extLst xmlns:a="http://schemas.openxmlformats.org/drawingml/2006/main">
              <a:ext uri="{FF2B5EF4-FFF2-40B4-BE49-F238E27FC236}">
                <a16:creationId xmlns:a16="http://schemas.microsoft.com/office/drawing/2014/main" id="{34CC1815-066A-4641-82A1-DF12AE49E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38425"/>
            <a:ext cx="14097000" cy="962025"/>
          </a:xfrm>
          <a:prstGeom xmlns:a="http://schemas.openxmlformats.org/drawingml/2006/main" prst="roundRect">
            <a:avLst>
              <a:gd name="adj" fmla="val 15842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17" name="case-label">
            <a:extLst xmlns:a="http://schemas.openxmlformats.org/drawingml/2006/main">
              <a:ext uri="{FF2B5EF4-FFF2-40B4-BE49-F238E27FC236}">
                <a16:creationId xmlns:a16="http://schemas.microsoft.com/office/drawing/2014/main" id="{AE1E9419-825D-49E0-9CF0-51F9C0BFB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81300"/>
            <a:ext cx="1333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SITUACIÓN</a:t>
            </a:r>
          </a:p>
        </p:txBody>
      </p:sp>
      <p:sp>
        <p:nvSpPr>
          <p:cNvPr id="18" name="case-input">
            <a:extLst xmlns:a="http://schemas.openxmlformats.org/drawingml/2006/main">
              <a:ext uri="{FF2B5EF4-FFF2-40B4-BE49-F238E27FC236}">
                <a16:creationId xmlns:a16="http://schemas.microsoft.com/office/drawing/2014/main" id="{4C01109E-3D87-491F-BA48-E95F12B25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2819400"/>
            <a:ext cx="121634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El clasificador devuelve una categoría fuera del enum.</a:t>
            </a:r>
          </a:p>
        </p:txBody>
      </p:sp>
      <p:sp>
        <p:nvSpPr>
          <p:cNvPr id="19" name="concept-node">
            <a:extLst xmlns:a="http://schemas.openxmlformats.org/drawingml/2006/main">
              <a:ext uri="{FF2B5EF4-FFF2-40B4-BE49-F238E27FC236}">
                <a16:creationId xmlns:a16="http://schemas.microsoft.com/office/drawing/2014/main" id="{85311688-5DA9-4E2A-8E9A-5F8D44CB4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943350"/>
            <a:ext cx="4381500" cy="2133600"/>
          </a:xfrm>
          <a:prstGeom xmlns:a="http://schemas.openxmlformats.org/drawingml/2006/main" prst="roundRect">
            <a:avLst>
              <a:gd name="adj" fmla="val 80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ED8E3"/>
            </a:solidFill>
          </a:ln>
        </p:spPr>
      </p:sp>
      <p:sp>
        <p:nvSpPr>
          <p:cNvPr id="20" name="node-top-rule">
            <a:extLst xmlns:a="http://schemas.openxmlformats.org/drawingml/2006/main">
              <a:ext uri="{FF2B5EF4-FFF2-40B4-BE49-F238E27FC236}">
                <a16:creationId xmlns:a16="http://schemas.microsoft.com/office/drawing/2014/main" id="{3D374E16-636B-4FAC-8692-B840198B0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3952875"/>
            <a:ext cx="43624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0957C00-928F-4CC8-B4ED-534221EDB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814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2" name="step-number">
            <a:extLst xmlns:a="http://schemas.openxmlformats.org/drawingml/2006/main">
              <a:ext uri="{FF2B5EF4-FFF2-40B4-BE49-F238E27FC236}">
                <a16:creationId xmlns:a16="http://schemas.microsoft.com/office/drawing/2014/main" id="{E38888D9-684D-4520-941E-5D95CF1BE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57675"/>
            <a:ext cx="45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1</a:t>
            </a:r>
          </a:p>
        </p:txBody>
      </p:sp>
      <p:sp>
        <p:nvSpPr>
          <p:cNvPr id="23" name="node-heading">
            <a:extLst xmlns:a="http://schemas.openxmlformats.org/drawingml/2006/main">
              <a:ext uri="{FF2B5EF4-FFF2-40B4-BE49-F238E27FC236}">
                <a16:creationId xmlns:a16="http://schemas.microsoft.com/office/drawing/2014/main" id="{A0E369FF-41A7-479B-8B3B-042BEEB15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181475"/>
            <a:ext cx="333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Detectar</a:t>
            </a:r>
          </a:p>
        </p:txBody>
      </p:sp>
      <p:sp>
        <p:nvSpPr>
          <p:cNvPr id="24" name="node-body">
            <a:extLst xmlns:a="http://schemas.openxmlformats.org/drawingml/2006/main">
              <a:ext uri="{FF2B5EF4-FFF2-40B4-BE49-F238E27FC236}">
                <a16:creationId xmlns:a16="http://schemas.microsoft.com/office/drawing/2014/main" id="{4CDB4636-E5E1-4104-9003-9DF2865E7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962525"/>
            <a:ext cx="3905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El contrato rechaza el valor.</a:t>
            </a:r>
          </a:p>
        </p:txBody>
      </p:sp>
      <p:sp>
        <p:nvSpPr>
          <p:cNvPr id="25" name="concept-node">
            <a:extLst xmlns:a="http://schemas.openxmlformats.org/drawingml/2006/main">
              <a:ext uri="{FF2B5EF4-FFF2-40B4-BE49-F238E27FC236}">
                <a16:creationId xmlns:a16="http://schemas.microsoft.com/office/drawing/2014/main" id="{F2EE1347-DE7F-408E-A5CE-6F8244E88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943350"/>
            <a:ext cx="4381500" cy="2133600"/>
          </a:xfrm>
          <a:prstGeom xmlns:a="http://schemas.openxmlformats.org/drawingml/2006/main" prst="roundRect">
            <a:avLst>
              <a:gd name="adj" fmla="val 8036"/>
            </a:avLst>
          </a:prstGeom>
          <a:solidFill xmlns:a="http://schemas.openxmlformats.org/drawingml/2006/main">
            <a:srgbClr val="FFF0EB"/>
          </a:solidFill>
          <a:ln xmlns:a="http://schemas.openxmlformats.org/drawingml/2006/main" w="14288">
            <a:solidFill>
              <a:srgbClr val="FF5733"/>
            </a:solidFill>
          </a:ln>
        </p:spPr>
      </p:sp>
      <p:sp>
        <p:nvSpPr>
          <p:cNvPr id="26" name="node-top-rule">
            <a:extLst xmlns:a="http://schemas.openxmlformats.org/drawingml/2006/main">
              <a:ext uri="{FF2B5EF4-FFF2-40B4-BE49-F238E27FC236}">
                <a16:creationId xmlns:a16="http://schemas.microsoft.com/office/drawing/2014/main" id="{F92F28A1-E85E-4EFE-85D9-31D9F8CFF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775" y="3952875"/>
            <a:ext cx="43624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D586481-86F7-464D-9340-6FD167049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41814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28" name="step-number">
            <a:extLst xmlns:a="http://schemas.openxmlformats.org/drawingml/2006/main">
              <a:ext uri="{FF2B5EF4-FFF2-40B4-BE49-F238E27FC236}">
                <a16:creationId xmlns:a16="http://schemas.microsoft.com/office/drawing/2014/main" id="{76E884E9-A800-44D3-9E8B-9C3BBAB0F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4257675"/>
            <a:ext cx="45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2</a:t>
            </a:r>
          </a:p>
        </p:txBody>
      </p:sp>
      <p:sp>
        <p:nvSpPr>
          <p:cNvPr id="29" name="node-heading">
            <a:extLst xmlns:a="http://schemas.openxmlformats.org/drawingml/2006/main">
              <a:ext uri="{FF2B5EF4-FFF2-40B4-BE49-F238E27FC236}">
                <a16:creationId xmlns:a16="http://schemas.microsoft.com/office/drawing/2014/main" id="{0BEC5379-7D22-4052-9BE7-1862490CF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181475"/>
            <a:ext cx="333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Corregir</a:t>
            </a:r>
          </a:p>
        </p:txBody>
      </p:sp>
      <p:sp>
        <p:nvSpPr>
          <p:cNvPr id="30" name="node-body">
            <a:extLst xmlns:a="http://schemas.openxmlformats.org/drawingml/2006/main">
              <a:ext uri="{FF2B5EF4-FFF2-40B4-BE49-F238E27FC236}">
                <a16:creationId xmlns:a16="http://schemas.microsoft.com/office/drawing/2014/main" id="{417F0C3A-297E-4638-8AA8-562B71788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4962525"/>
            <a:ext cx="3905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El segundo intento recibe la</a:t>
            </a:r>
          </a:p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restricción incumplida.</a:t>
            </a:r>
          </a:p>
        </p:txBody>
      </p:sp>
      <p:sp>
        <p:nvSpPr>
          <p:cNvPr id="31" name="concept-node">
            <a:extLst xmlns:a="http://schemas.openxmlformats.org/drawingml/2006/main">
              <a:ext uri="{FF2B5EF4-FFF2-40B4-BE49-F238E27FC236}">
                <a16:creationId xmlns:a16="http://schemas.microsoft.com/office/drawing/2014/main" id="{B476776B-744D-49A2-AED9-865B6F462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943350"/>
            <a:ext cx="4381500" cy="2133600"/>
          </a:xfrm>
          <a:prstGeom xmlns:a="http://schemas.openxmlformats.org/drawingml/2006/main" prst="roundRect">
            <a:avLst>
              <a:gd name="adj" fmla="val 80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ED8E3"/>
            </a:solidFill>
          </a:ln>
        </p:spPr>
      </p:sp>
      <p:sp>
        <p:nvSpPr>
          <p:cNvPr id="32" name="node-top-rule">
            <a:extLst xmlns:a="http://schemas.openxmlformats.org/drawingml/2006/main">
              <a:ext uri="{FF2B5EF4-FFF2-40B4-BE49-F238E27FC236}">
                <a16:creationId xmlns:a16="http://schemas.microsoft.com/office/drawing/2014/main" id="{E542224D-AB74-4453-8B82-E60CF9272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3952875"/>
            <a:ext cx="43624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D2EC80A-1BF3-467D-A283-DB884540C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41814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34" name="step-number">
            <a:extLst xmlns:a="http://schemas.openxmlformats.org/drawingml/2006/main">
              <a:ext uri="{FF2B5EF4-FFF2-40B4-BE49-F238E27FC236}">
                <a16:creationId xmlns:a16="http://schemas.microsoft.com/office/drawing/2014/main" id="{7B3B315A-68A2-47C7-BA6F-CF23FEE61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4257675"/>
            <a:ext cx="45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3</a:t>
            </a:r>
          </a:p>
        </p:txBody>
      </p:sp>
      <p:sp>
        <p:nvSpPr>
          <p:cNvPr id="35" name="node-heading">
            <a:extLst xmlns:a="http://schemas.openxmlformats.org/drawingml/2006/main">
              <a:ext uri="{FF2B5EF4-FFF2-40B4-BE49-F238E27FC236}">
                <a16:creationId xmlns:a16="http://schemas.microsoft.com/office/drawing/2014/main" id="{665E54C2-D177-47FE-9BAF-55DD5BF55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4181475"/>
            <a:ext cx="333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Cerrar</a:t>
            </a:r>
          </a:p>
        </p:txBody>
      </p:sp>
      <p:sp>
        <p:nvSpPr>
          <p:cNvPr id="36" name="node-body">
            <a:extLst xmlns:a="http://schemas.openxmlformats.org/drawingml/2006/main">
              <a:ext uri="{FF2B5EF4-FFF2-40B4-BE49-F238E27FC236}">
                <a16:creationId xmlns:a16="http://schemas.microsoft.com/office/drawing/2014/main" id="{A5EAA829-6695-4B57-8609-67145A361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4962525"/>
            <a:ext cx="3905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Si vuelve a fallar, solicitar</a:t>
            </a:r>
          </a:p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reformulación sin propagar</a:t>
            </a:r>
          </a:p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None.</a:t>
            </a:r>
          </a:p>
        </p:txBody>
      </p:sp>
      <p:cxnSp>
        <p:nvCxnSpPr>
          <p:cNvPr id="80" name=""/>
          <p:cNvCxnSpPr>
            <a:stCxn xmlns:a="http://schemas.openxmlformats.org/drawingml/2006/main" id="19" idx="3"/>
            <a:endCxn xmlns:a="http://schemas.openxmlformats.org/drawingml/2006/main" id="25" idx="1"/>
          </p:cNvCxnSpPr>
          <p:nvPr/>
        </p:nvCxnSpPr>
        <p:spPr>
          <a:xfrm xmlns:a="http://schemas.openxmlformats.org/drawingml/2006/main">
            <a:off x="4953000" y="501015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E293B"/>
            </a:solidFill>
            <a:tailEnd type="triangle" w="med" len="med"/>
          </a:ln>
        </p:spPr>
      </p:cxnSp>
      <p:cxnSp>
        <p:nvCxnSpPr>
          <p:cNvPr id="81" name=""/>
          <p:cNvCxnSpPr>
            <a:stCxn xmlns:a="http://schemas.openxmlformats.org/drawingml/2006/main" id="25" idx="3"/>
            <a:endCxn xmlns:a="http://schemas.openxmlformats.org/drawingml/2006/main" id="31" idx="1"/>
          </p:cNvCxnSpPr>
          <p:nvPr/>
        </p:nvCxnSpPr>
        <p:spPr>
          <a:xfrm xmlns:a="http://schemas.openxmlformats.org/drawingml/2006/main">
            <a:off x="9810750" y="501015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E293B"/>
            </a:solidFill>
            <a:tailEnd type="triangle" w="med" len="med"/>
          </a:ln>
        </p:spPr>
      </p:cxnSp>
      <p:sp>
        <p:nvSpPr>
          <p:cNvPr id="39" name="panel">
            <a:extLst xmlns:a="http://schemas.openxmlformats.org/drawingml/2006/main">
              <a:ext uri="{FF2B5EF4-FFF2-40B4-BE49-F238E27FC236}">
                <a16:creationId xmlns:a16="http://schemas.microsoft.com/office/drawing/2014/main" id="{A06D35EB-A58C-4CFF-B614-3882A5C77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91250"/>
            <a:ext cx="14097000" cy="10668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0EB"/>
          </a:solidFill>
          <a:ln xmlns:a="http://schemas.openxmlformats.org/drawingml/2006/main" w="0">
            <a:noFill/>
          </a:ln>
        </p:spPr>
      </p:sp>
      <p:sp>
        <p:nvSpPr>
          <p:cNvPr id="40" name="result-label">
            <a:extLst xmlns:a="http://schemas.openxmlformats.org/drawingml/2006/main">
              <a:ext uri="{FF2B5EF4-FFF2-40B4-BE49-F238E27FC236}">
                <a16:creationId xmlns:a16="http://schemas.microsoft.com/office/drawing/2014/main" id="{EA2B45F6-D1D8-4560-B110-97FA89FF1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296025"/>
            <a:ext cx="135731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5733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FF5733"/>
                </a:solidFill>
                <a:latin typeface="DejaVu Sans"/>
                <a:ea typeface="DejaVu Sans"/>
                <a:cs typeface="DejaVu Sans"/>
              </a:rPr>
              <a:t>RESULTADO ESPERADO</a:t>
            </a:r>
          </a:p>
        </p:txBody>
      </p:sp>
      <p:sp>
        <p:nvSpPr>
          <p:cNvPr id="41" name="case-outcome">
            <a:extLst xmlns:a="http://schemas.openxmlformats.org/drawingml/2006/main">
              <a:ext uri="{FF2B5EF4-FFF2-40B4-BE49-F238E27FC236}">
                <a16:creationId xmlns:a16="http://schemas.microsoft.com/office/drawing/2014/main" id="{3C4E9ADD-DF6A-454A-9052-54EA913F5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591300"/>
            <a:ext cx="13573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La recuperación tiene un límite y un resultado de error definido.</a:t>
            </a:r>
          </a:p>
        </p:txBody>
      </p:sp>
      <p:sp>
        <p:nvSpPr>
          <p:cNvPr id="42" name="panel">
            <a:extLst xmlns:a="http://schemas.openxmlformats.org/drawingml/2006/main">
              <a:ext uri="{FF2B5EF4-FFF2-40B4-BE49-F238E27FC236}">
                <a16:creationId xmlns:a16="http://schemas.microsoft.com/office/drawing/2014/main" id="{D2C562A8-7696-42EB-B189-AC52ECEEC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467600"/>
            <a:ext cx="14287500" cy="695325"/>
          </a:xfrm>
          <a:prstGeom xmlns:a="http://schemas.openxmlformats.org/drawingml/2006/main" prst="roundRect">
            <a:avLst>
              <a:gd name="adj" fmla="val 1917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43" name="takeaway">
            <a:extLst xmlns:a="http://schemas.openxmlformats.org/drawingml/2006/main">
              <a:ext uri="{FF2B5EF4-FFF2-40B4-BE49-F238E27FC236}">
                <a16:creationId xmlns:a16="http://schemas.microsoft.com/office/drawing/2014/main" id="{23DB38A6-FBC7-4839-9CAC-BB02DBC9A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7639050"/>
            <a:ext cx="1381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Solicitar estructura y validar estructura son responsabilidades distintas.</a:t>
            </a:r>
          </a:p>
        </p:txBody>
      </p:sp>
    </p:spTree>
    <p:extLst>
      <p:ext uri="{BB962C8B-B14F-4D97-AF65-F5344CB8AC3E}">
        <p14:creationId xmlns:p14="http://schemas.microsoft.com/office/powerpoint/2010/main" val="164956105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4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header">
            <a:extLst xmlns:a="http://schemas.openxmlformats.org/drawingml/2006/main">
              <a:ext uri="{FF2B5EF4-FFF2-40B4-BE49-F238E27FC236}">
                <a16:creationId xmlns:a16="http://schemas.microsoft.com/office/drawing/2014/main" id="{680F3214-0E1D-4993-A098-A881D8B31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47650"/>
            <a:ext cx="14706600" cy="1057275"/>
          </a:xfrm>
          <a:prstGeom xmlns:a="http://schemas.openxmlformats.org/drawingml/2006/main" prst="roundRect">
            <a:avLst>
              <a:gd name="adj" fmla="val 1801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B2A90F-5B13-41EC-B3BE-8807CCAB4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3" name="step-number">
            <a:extLst xmlns:a="http://schemas.openxmlformats.org/drawingml/2006/main">
              <a:ext uri="{FF2B5EF4-FFF2-40B4-BE49-F238E27FC236}">
                <a16:creationId xmlns:a16="http://schemas.microsoft.com/office/drawing/2014/main" id="{FF0ECD2B-F75B-4503-A13E-456726B6E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5905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6</a:t>
            </a:r>
          </a:p>
        </p:txBody>
      </p:sp>
      <p:sp>
        <p:nvSpPr>
          <p:cNvPr id="4" name="breadcrumb">
            <a:extLst xmlns:a="http://schemas.openxmlformats.org/drawingml/2006/main">
              <a:ext uri="{FF2B5EF4-FFF2-40B4-BE49-F238E27FC236}">
                <a16:creationId xmlns:a16="http://schemas.microsoft.com/office/drawing/2014/main" id="{C6DFF533-9953-4700-8D9E-912525BA9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400050"/>
            <a:ext cx="1228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rPr>
              <a:t>02 · Prompts, mensajes y contratos / CAPÍTULO 6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69AEBBA-B633-45FD-A7D3-26B8415BA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714375"/>
            <a:ext cx="1314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Medir el clasificador en L2</a:t>
            </a:r>
          </a:p>
        </p:txBody>
      </p:sp>
      <p:sp>
        <p:nvSpPr>
          <p:cNvPr id="6" name="learning-purpose">
            <a:extLst xmlns:a="http://schemas.openxmlformats.org/drawingml/2006/main">
              <a:ext uri="{FF2B5EF4-FFF2-40B4-BE49-F238E27FC236}">
                <a16:creationId xmlns:a16="http://schemas.microsoft.com/office/drawing/2014/main" id="{53547F1F-4323-4EA9-A8EE-8C8862702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14475"/>
            <a:ext cx="141351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Evaluar las decisiones sobre casos conocidos y consultas propias.</a:t>
            </a:r>
          </a:p>
        </p:txBody>
      </p:sp>
      <p:sp>
        <p:nvSpPr>
          <p:cNvPr id="7" name="panel">
            <a:extLst xmlns:a="http://schemas.openxmlformats.org/drawingml/2006/main">
              <a:ext uri="{FF2B5EF4-FFF2-40B4-BE49-F238E27FC236}">
                <a16:creationId xmlns:a16="http://schemas.microsoft.com/office/drawing/2014/main" id="{F53A227A-FD3B-4CE0-B6CF-AAF506BEB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8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F63C1AA3-2365-4B0C-B01C-9A9A5B158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1 · CONCEPTO</a:t>
            </a:r>
          </a:p>
        </p:txBody>
      </p:sp>
      <p:sp>
        <p:nvSpPr>
          <p:cNvPr id="9" name="panel">
            <a:extLst xmlns:a="http://schemas.openxmlformats.org/drawingml/2006/main">
              <a:ext uri="{FF2B5EF4-FFF2-40B4-BE49-F238E27FC236}">
                <a16:creationId xmlns:a16="http://schemas.microsoft.com/office/drawing/2014/main" id="{2BC62A3D-95D6-4A38-8634-138C0285B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91925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10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4B5B91DF-19BF-4C82-B9B6-B5A805D14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8600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2 · DESARROLLO</a:t>
            </a:r>
          </a:p>
        </p:txBody>
      </p:sp>
      <p:sp>
        <p:nvSpPr>
          <p:cNvPr id="11" name="panel">
            <a:extLst xmlns:a="http://schemas.openxmlformats.org/drawingml/2006/main">
              <a:ext uri="{FF2B5EF4-FFF2-40B4-BE49-F238E27FC236}">
                <a16:creationId xmlns:a16="http://schemas.microsoft.com/office/drawing/2014/main" id="{15B07874-4C8A-4D1B-9E8C-221EC0049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8260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12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ED94A723-8D7F-4474-94CC-6570DF8B4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4927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3 · EJEMPLO</a:t>
            </a:r>
          </a:p>
        </p:txBody>
      </p:sp>
      <p:sp>
        <p:nvSpPr>
          <p:cNvPr id="13" name="footer">
            <a:extLst xmlns:a="http://schemas.openxmlformats.org/drawingml/2006/main">
              <a:ext uri="{FF2B5EF4-FFF2-40B4-BE49-F238E27FC236}">
                <a16:creationId xmlns:a16="http://schemas.microsoft.com/office/drawing/2014/main" id="{94398B6B-833B-4F00-8097-D2EE6BB5D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277225"/>
            <a:ext cx="1190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AriwaLabs · 02 / C06</a:t>
            </a:r>
          </a:p>
        </p:txBody>
      </p:sp>
      <p:sp>
        <p:nvSpPr>
          <p:cNvPr id="14" name="folio">
            <a:extLst xmlns:a="http://schemas.openxmlformats.org/drawingml/2006/main">
              <a:ext uri="{FF2B5EF4-FFF2-40B4-BE49-F238E27FC236}">
                <a16:creationId xmlns:a16="http://schemas.microsoft.com/office/drawing/2014/main" id="{8FA03CC3-4E83-42C6-B7B8-058DA19D3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258175"/>
            <a:ext cx="781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16</a:t>
            </a:r>
          </a:p>
        </p:txBody>
      </p:sp>
      <p:sp>
        <p:nvSpPr>
          <p:cNvPr id="15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5DFF12CD-0970-40A4-A606-91429A02A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81225"/>
            <a:ext cx="1333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SEGUIR LA RELACIÓN ENTRE LAS PIEZAS</a:t>
            </a:r>
          </a:p>
        </p:txBody>
      </p:sp>
      <p:sp>
        <p:nvSpPr>
          <p:cNvPr id="16" name="concept-node">
            <a:extLst xmlns:a="http://schemas.openxmlformats.org/drawingml/2006/main">
              <a:ext uri="{FF2B5EF4-FFF2-40B4-BE49-F238E27FC236}">
                <a16:creationId xmlns:a16="http://schemas.microsoft.com/office/drawing/2014/main" id="{FE513591-FA2F-4CAC-A1EA-247989D9B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0"/>
            <a:ext cx="4381500" cy="291465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ED8E3"/>
            </a:solidFill>
          </a:ln>
        </p:spPr>
      </p:sp>
      <p:sp>
        <p:nvSpPr>
          <p:cNvPr id="17" name="node-top-rule">
            <a:extLst xmlns:a="http://schemas.openxmlformats.org/drawingml/2006/main">
              <a:ext uri="{FF2B5EF4-FFF2-40B4-BE49-F238E27FC236}">
                <a16:creationId xmlns:a16="http://schemas.microsoft.com/office/drawing/2014/main" id="{91CF3A49-193F-48D2-B509-C5E048686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676525"/>
            <a:ext cx="43624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17F241D-0DAA-460A-9B63-6B074CB7E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051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19" name="step-number">
            <a:extLst xmlns:a="http://schemas.openxmlformats.org/drawingml/2006/main">
              <a:ext uri="{FF2B5EF4-FFF2-40B4-BE49-F238E27FC236}">
                <a16:creationId xmlns:a16="http://schemas.microsoft.com/office/drawing/2014/main" id="{1AF143B8-3CEF-41CA-AF16-AE312E421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81325"/>
            <a:ext cx="45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1</a:t>
            </a:r>
          </a:p>
        </p:txBody>
      </p:sp>
      <p:sp>
        <p:nvSpPr>
          <p:cNvPr id="20" name="node-heading">
            <a:extLst xmlns:a="http://schemas.openxmlformats.org/drawingml/2006/main">
              <a:ext uri="{FF2B5EF4-FFF2-40B4-BE49-F238E27FC236}">
                <a16:creationId xmlns:a16="http://schemas.microsoft.com/office/drawing/2014/main" id="{4078FF0D-4690-44F5-8337-A0C106AFF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905125"/>
            <a:ext cx="33337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Taxonomía</a:t>
            </a:r>
          </a:p>
        </p:txBody>
      </p:sp>
      <p:sp>
        <p:nvSpPr>
          <p:cNvPr id="21" name="node-body">
            <a:extLst xmlns:a="http://schemas.openxmlformats.org/drawingml/2006/main">
              <a:ext uri="{FF2B5EF4-FFF2-40B4-BE49-F238E27FC236}">
                <a16:creationId xmlns:a16="http://schemas.microsoft.com/office/drawing/2014/main" id="{8EEE2C11-9042-472A-8C5B-268E655EC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838575"/>
            <a:ext cx="3905250" cy="1609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Las categorías se alinean</a:t>
            </a:r>
          </a:p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con las tools del L4.</a:t>
            </a:r>
          </a:p>
        </p:txBody>
      </p:sp>
      <p:sp>
        <p:nvSpPr>
          <p:cNvPr id="22" name="concept-node">
            <a:extLst xmlns:a="http://schemas.openxmlformats.org/drawingml/2006/main">
              <a:ext uri="{FF2B5EF4-FFF2-40B4-BE49-F238E27FC236}">
                <a16:creationId xmlns:a16="http://schemas.microsoft.com/office/drawing/2014/main" id="{48EFA97B-F018-4E35-8871-AF600F20A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667000"/>
            <a:ext cx="4381500" cy="291465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0EB"/>
          </a:solidFill>
          <a:ln xmlns:a="http://schemas.openxmlformats.org/drawingml/2006/main" w="14288">
            <a:solidFill>
              <a:srgbClr val="FF5733"/>
            </a:solidFill>
          </a:ln>
        </p:spPr>
      </p:sp>
      <p:sp>
        <p:nvSpPr>
          <p:cNvPr id="23" name="node-top-rule">
            <a:extLst xmlns:a="http://schemas.openxmlformats.org/drawingml/2006/main">
              <a:ext uri="{FF2B5EF4-FFF2-40B4-BE49-F238E27FC236}">
                <a16:creationId xmlns:a16="http://schemas.microsoft.com/office/drawing/2014/main" id="{DE20B70C-5001-4336-92AC-6AAE429C5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775" y="2676525"/>
            <a:ext cx="43624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4EA4525-533F-4B8E-B298-DFFDCDCD3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9051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25" name="step-number">
            <a:extLst xmlns:a="http://schemas.openxmlformats.org/drawingml/2006/main">
              <a:ext uri="{FF2B5EF4-FFF2-40B4-BE49-F238E27FC236}">
                <a16:creationId xmlns:a16="http://schemas.microsoft.com/office/drawing/2014/main" id="{F83F42B5-E2CA-4853-AE21-4E0522B31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981325"/>
            <a:ext cx="45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2</a:t>
            </a:r>
          </a:p>
        </p:txBody>
      </p:sp>
      <p:sp>
        <p:nvSpPr>
          <p:cNvPr id="26" name="node-heading">
            <a:extLst xmlns:a="http://schemas.openxmlformats.org/drawingml/2006/main">
              <a:ext uri="{FF2B5EF4-FFF2-40B4-BE49-F238E27FC236}">
                <a16:creationId xmlns:a16="http://schemas.microsoft.com/office/drawing/2014/main" id="{F0E1164F-8BEB-4ECB-B2EB-AD9AC373E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905125"/>
            <a:ext cx="33337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Dataset</a:t>
            </a:r>
          </a:p>
        </p:txBody>
      </p:sp>
      <p:sp>
        <p:nvSpPr>
          <p:cNvPr id="27" name="node-body">
            <a:extLst xmlns:a="http://schemas.openxmlformats.org/drawingml/2006/main">
              <a:ext uri="{FF2B5EF4-FFF2-40B4-BE49-F238E27FC236}">
                <a16:creationId xmlns:a16="http://schemas.microsoft.com/office/drawing/2014/main" id="{8195039A-1F54-4F95-AE63-3C6701328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3838575"/>
            <a:ext cx="3905250" cy="1609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Casos del track permiten</a:t>
            </a:r>
          </a:p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medir aciertos y</a:t>
            </a:r>
          </a:p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confusiones.</a:t>
            </a:r>
          </a:p>
        </p:txBody>
      </p:sp>
      <p:sp>
        <p:nvSpPr>
          <p:cNvPr id="28" name="concept-node">
            <a:extLst xmlns:a="http://schemas.openxmlformats.org/drawingml/2006/main">
              <a:ext uri="{FF2B5EF4-FFF2-40B4-BE49-F238E27FC236}">
                <a16:creationId xmlns:a16="http://schemas.microsoft.com/office/drawing/2014/main" id="{AB1AEBF5-CFA8-4572-9E51-256F27D29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667000"/>
            <a:ext cx="4381500" cy="291465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ED8E3"/>
            </a:solidFill>
          </a:ln>
        </p:spPr>
      </p:sp>
      <p:sp>
        <p:nvSpPr>
          <p:cNvPr id="29" name="node-top-rule">
            <a:extLst xmlns:a="http://schemas.openxmlformats.org/drawingml/2006/main">
              <a:ext uri="{FF2B5EF4-FFF2-40B4-BE49-F238E27FC236}">
                <a16:creationId xmlns:a16="http://schemas.microsoft.com/office/drawing/2014/main" id="{F14BF304-D3B1-4EE0-B6F0-A110FAF4A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2676525"/>
            <a:ext cx="43624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F4D3403-35C1-426A-8073-065A4FFDF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29051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31" name="step-number">
            <a:extLst xmlns:a="http://schemas.openxmlformats.org/drawingml/2006/main">
              <a:ext uri="{FF2B5EF4-FFF2-40B4-BE49-F238E27FC236}">
                <a16:creationId xmlns:a16="http://schemas.microsoft.com/office/drawing/2014/main" id="{1957443C-CE70-4E3A-8AF5-711715E79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2981325"/>
            <a:ext cx="45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3</a:t>
            </a:r>
          </a:p>
        </p:txBody>
      </p:sp>
      <p:sp>
        <p:nvSpPr>
          <p:cNvPr id="32" name="node-heading">
            <a:extLst xmlns:a="http://schemas.openxmlformats.org/drawingml/2006/main">
              <a:ext uri="{FF2B5EF4-FFF2-40B4-BE49-F238E27FC236}">
                <a16:creationId xmlns:a16="http://schemas.microsoft.com/office/drawing/2014/main" id="{68667381-62D3-4807-94ED-19691379D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2905125"/>
            <a:ext cx="33337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Casos nuevos</a:t>
            </a:r>
          </a:p>
        </p:txBody>
      </p:sp>
      <p:sp>
        <p:nvSpPr>
          <p:cNvPr id="33" name="node-body">
            <a:extLst xmlns:a="http://schemas.openxmlformats.org/drawingml/2006/main">
              <a:ext uri="{FF2B5EF4-FFF2-40B4-BE49-F238E27FC236}">
                <a16:creationId xmlns:a16="http://schemas.microsoft.com/office/drawing/2014/main" id="{14C9DD92-3CD4-430E-A925-B912EEBD1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3838575"/>
            <a:ext cx="3905250" cy="1609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Cinco consultas propias</a:t>
            </a:r>
          </a:p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exploran límites del</a:t>
            </a:r>
          </a:p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clasificador.</a:t>
            </a:r>
          </a:p>
        </p:txBody>
      </p:sp>
      <p:cxnSp>
        <p:nvCxnSpPr>
          <p:cNvPr id="77" name=""/>
          <p:cNvCxnSpPr>
            <a:stCxn xmlns:a="http://schemas.openxmlformats.org/drawingml/2006/main" id="16" idx="3"/>
            <a:endCxn xmlns:a="http://schemas.openxmlformats.org/drawingml/2006/main" id="22" idx="1"/>
          </p:cNvCxnSpPr>
          <p:nvPr/>
        </p:nvCxnSpPr>
        <p:spPr>
          <a:xfrm xmlns:a="http://schemas.openxmlformats.org/drawingml/2006/main">
            <a:off x="4953000" y="4124325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E293B"/>
            </a:solidFill>
            <a:tailEnd type="triangle" w="med" len="med"/>
          </a:ln>
        </p:spPr>
      </p:cxnSp>
      <p:cxnSp>
        <p:nvCxnSpPr>
          <p:cNvPr id="78" name=""/>
          <p:cNvCxnSpPr>
            <a:stCxn xmlns:a="http://schemas.openxmlformats.org/drawingml/2006/main" id="22" idx="3"/>
            <a:endCxn xmlns:a="http://schemas.openxmlformats.org/drawingml/2006/main" id="28" idx="1"/>
          </p:cNvCxnSpPr>
          <p:nvPr/>
        </p:nvCxnSpPr>
        <p:spPr>
          <a:xfrm xmlns:a="http://schemas.openxmlformats.org/drawingml/2006/main">
            <a:off x="9810750" y="4124325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E293B"/>
            </a:solidFill>
            <a:tailEnd type="triangle" w="med" len="med"/>
          </a:ln>
        </p:spPr>
      </p:cxnSp>
      <p:sp>
        <p:nvSpPr>
          <p:cNvPr id="36" name="panel">
            <a:extLst xmlns:a="http://schemas.openxmlformats.org/drawingml/2006/main">
              <a:ext uri="{FF2B5EF4-FFF2-40B4-BE49-F238E27FC236}">
                <a16:creationId xmlns:a16="http://schemas.microsoft.com/office/drawing/2014/main" id="{557F39F4-C6E4-4682-A44C-4B7EFE9E0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05500"/>
            <a:ext cx="9048750" cy="1362075"/>
          </a:xfrm>
          <a:prstGeom xmlns:a="http://schemas.openxmlformats.org/drawingml/2006/main" prst="roundRect">
            <a:avLst>
              <a:gd name="adj" fmla="val 11189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37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6AD8035C-4C48-4F5F-90EC-947F057F5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057900"/>
            <a:ext cx="1333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PREGUNTA PARA ACTIVAR EL CONCEPTO</a:t>
            </a:r>
          </a:p>
        </p:txBody>
      </p:sp>
      <p:sp>
        <p:nvSpPr>
          <p:cNvPr id="38" name="concept-question">
            <a:extLst xmlns:a="http://schemas.openxmlformats.org/drawingml/2006/main">
              <a:ext uri="{FF2B5EF4-FFF2-40B4-BE49-F238E27FC236}">
                <a16:creationId xmlns:a16="http://schemas.microsoft.com/office/drawing/2014/main" id="{5B9F4FD0-D3E5-44E9-B08D-D1D4FBD23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362700"/>
            <a:ext cx="86296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¿Un objeto válido cuenta como clasificación correcta?</a:t>
            </a:r>
          </a:p>
        </p:txBody>
      </p:sp>
      <p:sp>
        <p:nvSpPr>
          <p:cNvPr id="39" name="panel">
            <a:extLst xmlns:a="http://schemas.openxmlformats.org/drawingml/2006/main">
              <a:ext uri="{FF2B5EF4-FFF2-40B4-BE49-F238E27FC236}">
                <a16:creationId xmlns:a16="http://schemas.microsoft.com/office/drawing/2014/main" id="{6A86FD51-9B26-4AA7-899F-86B9D4296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5905500"/>
            <a:ext cx="4762500" cy="1362075"/>
          </a:xfrm>
          <a:prstGeom xmlns:a="http://schemas.openxmlformats.org/drawingml/2006/main" prst="roundRect">
            <a:avLst>
              <a:gd name="adj" fmla="val 11189"/>
            </a:avLst>
          </a:prstGeom>
          <a:solidFill xmlns:a="http://schemas.openxmlformats.org/drawingml/2006/main">
            <a:srgbClr val="FFF0EB"/>
          </a:solidFill>
          <a:ln xmlns:a="http://schemas.openxmlformats.org/drawingml/2006/main" w="0">
            <a:noFill/>
          </a:ln>
        </p:spPr>
      </p:sp>
      <p:sp>
        <p:nvSpPr>
          <p:cNvPr id="40" name="misconception-label">
            <a:extLst xmlns:a="http://schemas.openxmlformats.org/drawingml/2006/main">
              <a:ext uri="{FF2B5EF4-FFF2-40B4-BE49-F238E27FC236}">
                <a16:creationId xmlns:a16="http://schemas.microsoft.com/office/drawing/2014/main" id="{99FC4009-89A4-4EA7-9B94-99BE83D69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6057900"/>
            <a:ext cx="43148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5733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FF5733"/>
                </a:solidFill>
                <a:latin typeface="DejaVu Sans"/>
                <a:ea typeface="DejaVu Sans"/>
                <a:cs typeface="DejaVu Sans"/>
              </a:rPr>
              <a:t>EVITAR ESTA CONFUSIÓN</a:t>
            </a:r>
          </a:p>
        </p:txBody>
      </p:sp>
      <p:sp>
        <p:nvSpPr>
          <p:cNvPr id="41" name="misconception">
            <a:extLst xmlns:a="http://schemas.openxmlformats.org/drawingml/2006/main">
              <a:ext uri="{FF2B5EF4-FFF2-40B4-BE49-F238E27FC236}">
                <a16:creationId xmlns:a16="http://schemas.microsoft.com/office/drawing/2014/main" id="{7DFFFAF1-98B2-4875-8F02-1ADD26D67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6372225"/>
            <a:ext cx="43148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Ocultar errores de validación dentro de</a:t>
            </a:r>
          </a:p>
          <a:p xmlns:a="http://schemas.openxmlformats.org/drawingml/2006/main">
            <a:pPr algn="l">
              <a:defRPr sz="165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un único porcentaje.</a:t>
            </a:r>
          </a:p>
        </p:txBody>
      </p:sp>
      <p:sp>
        <p:nvSpPr>
          <p:cNvPr id="42" name="panel">
            <a:extLst xmlns:a="http://schemas.openxmlformats.org/drawingml/2006/main">
              <a:ext uri="{FF2B5EF4-FFF2-40B4-BE49-F238E27FC236}">
                <a16:creationId xmlns:a16="http://schemas.microsoft.com/office/drawing/2014/main" id="{BB4AB334-5B12-439B-8428-B303A57FC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467600"/>
            <a:ext cx="14287500" cy="695325"/>
          </a:xfrm>
          <a:prstGeom xmlns:a="http://schemas.openxmlformats.org/drawingml/2006/main" prst="roundRect">
            <a:avLst>
              <a:gd name="adj" fmla="val 1917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43" name="takeaway">
            <a:extLst xmlns:a="http://schemas.openxmlformats.org/drawingml/2006/main">
              <a:ext uri="{FF2B5EF4-FFF2-40B4-BE49-F238E27FC236}">
                <a16:creationId xmlns:a16="http://schemas.microsoft.com/office/drawing/2014/main" id="{9FDD7677-6DD8-4CC4-A7B4-ED4ECA070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7639050"/>
            <a:ext cx="1381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Mide el contrato y la decisión por separado.</a:t>
            </a:r>
          </a:p>
        </p:txBody>
      </p:sp>
    </p:spTree>
    <p:extLst>
      <p:ext uri="{BB962C8B-B14F-4D97-AF65-F5344CB8AC3E}">
        <p14:creationId xmlns:p14="http://schemas.microsoft.com/office/powerpoint/2010/main" val="600776860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4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header">
            <a:extLst xmlns:a="http://schemas.openxmlformats.org/drawingml/2006/main">
              <a:ext uri="{FF2B5EF4-FFF2-40B4-BE49-F238E27FC236}">
                <a16:creationId xmlns:a16="http://schemas.microsoft.com/office/drawing/2014/main" id="{D9613661-F430-47C1-ADFE-6A62A2173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47650"/>
            <a:ext cx="14706600" cy="1057275"/>
          </a:xfrm>
          <a:prstGeom xmlns:a="http://schemas.openxmlformats.org/drawingml/2006/main" prst="roundRect">
            <a:avLst>
              <a:gd name="adj" fmla="val 1801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0A500E-8EA2-4EAD-B700-8A424795C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3" name="step-number">
            <a:extLst xmlns:a="http://schemas.openxmlformats.org/drawingml/2006/main">
              <a:ext uri="{FF2B5EF4-FFF2-40B4-BE49-F238E27FC236}">
                <a16:creationId xmlns:a16="http://schemas.microsoft.com/office/drawing/2014/main" id="{1B3E563C-389E-43D3-8E2B-4DD81D577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5905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6</a:t>
            </a:r>
          </a:p>
        </p:txBody>
      </p:sp>
      <p:sp>
        <p:nvSpPr>
          <p:cNvPr id="4" name="breadcrumb">
            <a:extLst xmlns:a="http://schemas.openxmlformats.org/drawingml/2006/main">
              <a:ext uri="{FF2B5EF4-FFF2-40B4-BE49-F238E27FC236}">
                <a16:creationId xmlns:a16="http://schemas.microsoft.com/office/drawing/2014/main" id="{251004AC-060A-483A-9992-E3E579004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400050"/>
            <a:ext cx="1228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rPr>
              <a:t>02 · Prompts, mensajes y contratos / CAPÍTULO 6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924C017-C0D2-4A49-9C84-88BCA5670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714375"/>
            <a:ext cx="1314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Leer más que un porcentaje</a:t>
            </a:r>
          </a:p>
        </p:txBody>
      </p:sp>
      <p:sp>
        <p:nvSpPr>
          <p:cNvPr id="6" name="learning-purpose">
            <a:extLst xmlns:a="http://schemas.openxmlformats.org/drawingml/2006/main">
              <a:ext uri="{FF2B5EF4-FFF2-40B4-BE49-F238E27FC236}">
                <a16:creationId xmlns:a16="http://schemas.microsoft.com/office/drawing/2014/main" id="{3DD39CF4-CB7D-4B96-BCAF-01D5319C8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14475"/>
            <a:ext cx="141351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Evaluar las decisiones sobre casos conocidos y consultas propias.</a:t>
            </a:r>
          </a:p>
        </p:txBody>
      </p:sp>
      <p:sp>
        <p:nvSpPr>
          <p:cNvPr id="7" name="panel">
            <a:extLst xmlns:a="http://schemas.openxmlformats.org/drawingml/2006/main">
              <a:ext uri="{FF2B5EF4-FFF2-40B4-BE49-F238E27FC236}">
                <a16:creationId xmlns:a16="http://schemas.microsoft.com/office/drawing/2014/main" id="{DC5AA337-00FE-4474-83D1-D811B8992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8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EF3560DB-E197-4848-9334-7812B9419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1 · CONCEPTO</a:t>
            </a:r>
          </a:p>
        </p:txBody>
      </p:sp>
      <p:sp>
        <p:nvSpPr>
          <p:cNvPr id="9" name="panel">
            <a:extLst xmlns:a="http://schemas.openxmlformats.org/drawingml/2006/main">
              <a:ext uri="{FF2B5EF4-FFF2-40B4-BE49-F238E27FC236}">
                <a16:creationId xmlns:a16="http://schemas.microsoft.com/office/drawing/2014/main" id="{9A1C2343-D705-4EC7-BAA5-87DF2893E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91925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10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22BAD7A5-D404-494B-9A14-21CFFCF73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8600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2 · DESARROLLO</a:t>
            </a:r>
          </a:p>
        </p:txBody>
      </p:sp>
      <p:sp>
        <p:nvSpPr>
          <p:cNvPr id="11" name="panel">
            <a:extLst xmlns:a="http://schemas.openxmlformats.org/drawingml/2006/main">
              <a:ext uri="{FF2B5EF4-FFF2-40B4-BE49-F238E27FC236}">
                <a16:creationId xmlns:a16="http://schemas.microsoft.com/office/drawing/2014/main" id="{FE632049-3CA8-480F-A401-E9E58A88D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8260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12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3D1DDB74-FBD9-4A45-995B-67ED01BB0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4927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3 · EJEMPLO</a:t>
            </a:r>
          </a:p>
        </p:txBody>
      </p:sp>
      <p:sp>
        <p:nvSpPr>
          <p:cNvPr id="13" name="footer">
            <a:extLst xmlns:a="http://schemas.openxmlformats.org/drawingml/2006/main">
              <a:ext uri="{FF2B5EF4-FFF2-40B4-BE49-F238E27FC236}">
                <a16:creationId xmlns:a16="http://schemas.microsoft.com/office/drawing/2014/main" id="{34E90BB3-01BF-463C-940E-2262211AD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277225"/>
            <a:ext cx="1190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AriwaLabs · 02 / C06</a:t>
            </a:r>
          </a:p>
        </p:txBody>
      </p:sp>
      <p:sp>
        <p:nvSpPr>
          <p:cNvPr id="14" name="folio">
            <a:extLst xmlns:a="http://schemas.openxmlformats.org/drawingml/2006/main">
              <a:ext uri="{FF2B5EF4-FFF2-40B4-BE49-F238E27FC236}">
                <a16:creationId xmlns:a16="http://schemas.microsoft.com/office/drawing/2014/main" id="{87976895-5162-4AEF-831E-B536C72CF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258175"/>
            <a:ext cx="781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17</a:t>
            </a:r>
          </a:p>
        </p:txBody>
      </p:sp>
      <p:sp>
        <p:nvSpPr>
          <p:cNvPr id="15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8EBC052C-2758-4133-9498-B4C6A73A1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81225"/>
            <a:ext cx="1333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DEL CONCEPTO A UNA COMPROBACIÓN CONCRETA</a:t>
            </a:r>
          </a:p>
        </p:txBody>
      </p:sp>
      <p:graphicFrame>
        <p:nvGraphicFramePr>
          <p:cNvPr id="41" name=""/>
          <p:cNvGraphicFramePr/>
          <p:nvPr/>
        </p:nvGraphicFramePr>
        <p:xfrm>
          <a:off xmlns:a="http://schemas.openxmlformats.org/drawingml/2006/main" x="571500" y="2667000"/>
          <a:ext xmlns:a="http://schemas.openxmlformats.org/drawingml/2006/main" cx="9334500" cy="36766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6477000"/>
              </a:tblGrid>
              <a:tr h="476250"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PUNTO DE REVISIÓN</a:t>
                      </a:r>
                    </a:p>
                  </a:txBody>
                  <a:tcPr marL="91440" marR="91440" marT="45720" marB="45720" anchor="ctr">
                    <a:solidFill>
                      <a:srgbClr val="1E293B"/>
                    </a:solidFill>
                  </a:tcPr>
                </a:tc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EXPLICACIÓN / CRITERIO</a:t>
                      </a:r>
                    </a:p>
                  </a:txBody>
                  <a:tcPr marL="91440" marR="91440" marT="45720" marB="45720" anchor="ctr">
                    <a:solidFill>
                      <a:srgbClr val="1E293B"/>
                    </a:solidFill>
                  </a:tcPr>
                </a:tc>
              </a:tr>
              <a:tr h="1066800"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Error de contrato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La salida no pudo validarse.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1066800"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Error de categoría</a:t>
                      </a:r>
                    </a:p>
                  </a:txBody>
                  <a:tcPr marL="91440" marR="91440" marT="45720" marB="45720" anchor="ctr">
                    <a:solidFill>
                      <a:srgbClr val="E9F0F7"/>
                    </a:solidFill>
                  </a:tcPr>
                </a:tc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El objeto es válido, pero la intención es incorrecta.</a:t>
                      </a:r>
                    </a:p>
                  </a:txBody>
                  <a:tcPr marL="91440" marR="91440" marT="45720" marB="45720" anchor="ctr">
                    <a:solidFill>
                      <a:srgbClr val="E9F0F7"/>
                    </a:solidFill>
                  </a:tcPr>
                </a:tc>
              </a:tr>
              <a:tr h="1066800"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Análisis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Agrupar confusiones antes de cambiar prompt o</a:t>
                      </a:r>
                    </a:p>
                    <a:p>
                      <a:r>
                        <a:rPr sz="1875" b="0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ejemplos.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" name="panel">
            <a:extLst xmlns:a="http://schemas.openxmlformats.org/drawingml/2006/main">
              <a:ext uri="{FF2B5EF4-FFF2-40B4-BE49-F238E27FC236}">
                <a16:creationId xmlns:a16="http://schemas.microsoft.com/office/drawing/2014/main" id="{A157B6C2-E255-4546-956E-B084FA128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667000"/>
            <a:ext cx="4476750" cy="3676650"/>
          </a:xfrm>
          <a:prstGeom xmlns:a="http://schemas.openxmlformats.org/drawingml/2006/main" prst="roundRect">
            <a:avLst>
              <a:gd name="adj" fmla="val 4663"/>
            </a:avLst>
          </a:prstGeom>
          <a:solidFill xmlns:a="http://schemas.openxmlformats.org/drawingml/2006/main">
            <a:srgbClr val="FFF0EB"/>
          </a:solidFill>
          <a:ln xmlns:a="http://schemas.openxmlformats.org/drawingml/2006/main" w="14288">
            <a:solidFill>
              <a:srgbClr val="FF5733"/>
            </a:solidFill>
          </a:ln>
        </p:spPr>
      </p:sp>
      <p:sp>
        <p:nvSpPr>
          <p:cNvPr id="18" name="development-limit-label">
            <a:extLst xmlns:a="http://schemas.openxmlformats.org/drawingml/2006/main">
              <a:ext uri="{FF2B5EF4-FFF2-40B4-BE49-F238E27FC236}">
                <a16:creationId xmlns:a16="http://schemas.microsoft.com/office/drawing/2014/main" id="{DFF1F471-409E-4BA2-9FB7-B58039B4A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2886075"/>
            <a:ext cx="4019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5733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FF5733"/>
                </a:solidFill>
                <a:latin typeface="DejaVu Sans"/>
                <a:ea typeface="DejaVu Sans"/>
                <a:cs typeface="DejaVu Sans"/>
              </a:rPr>
              <a:t>EL LÍMITE QUE IMPORTA</a:t>
            </a:r>
          </a:p>
        </p:txBody>
      </p:sp>
      <p:sp>
        <p:nvSpPr>
          <p:cNvPr id="19" name="development-limit">
            <a:extLst xmlns:a="http://schemas.openxmlformats.org/drawingml/2006/main">
              <a:ext uri="{FF2B5EF4-FFF2-40B4-BE49-F238E27FC236}">
                <a16:creationId xmlns:a16="http://schemas.microsoft.com/office/drawing/2014/main" id="{25FEF27F-259F-4BD2-A814-BB4C7C832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3362325"/>
            <a:ext cx="401955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Ocultar errores de validación</a:t>
            </a:r>
          </a:p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dentro de un único</a:t>
            </a:r>
          </a:p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porcentaje.</a:t>
            </a:r>
          </a:p>
        </p:txBody>
      </p:sp>
      <p:sp>
        <p:nvSpPr>
          <p:cNvPr id="20" name="development-prompt">
            <a:extLst xmlns:a="http://schemas.openxmlformats.org/drawingml/2006/main">
              <a:ext uri="{FF2B5EF4-FFF2-40B4-BE49-F238E27FC236}">
                <a16:creationId xmlns:a16="http://schemas.microsoft.com/office/drawing/2014/main" id="{F0579D95-EA25-48DD-AA32-90F8AD45A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5553075"/>
            <a:ext cx="40195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Revisar este supuesto evita aplicar la</a:t>
            </a:r>
          </a:p>
          <a:p xmlns:a="http://schemas.openxmlformats.org/drawingml/2006/main">
            <a:pPr algn="l">
              <a:defRPr sz="1500" b="0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idea fuera de su alcance.</a:t>
            </a:r>
          </a:p>
        </p:txBody>
      </p:sp>
      <p:sp>
        <p:nvSpPr>
          <p:cNvPr id="21" name="panel">
            <a:extLst xmlns:a="http://schemas.openxmlformats.org/drawingml/2006/main">
              <a:ext uri="{FF2B5EF4-FFF2-40B4-BE49-F238E27FC236}">
                <a16:creationId xmlns:a16="http://schemas.microsoft.com/office/drawing/2014/main" id="{0A88A745-A731-45C8-BC3F-73C137188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05575"/>
            <a:ext cx="14097000" cy="752475"/>
          </a:xfrm>
          <a:prstGeom xmlns:a="http://schemas.openxmlformats.org/drawingml/2006/main" prst="roundRect">
            <a:avLst>
              <a:gd name="adj" fmla="val 20253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22" name="check-label">
            <a:extLst xmlns:a="http://schemas.openxmlformats.org/drawingml/2006/main">
              <a:ext uri="{FF2B5EF4-FFF2-40B4-BE49-F238E27FC236}">
                <a16:creationId xmlns:a16="http://schemas.microsoft.com/office/drawing/2014/main" id="{783AA69C-2B3E-49B8-AF96-12886F929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600825"/>
            <a:ext cx="136779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COMPRUEBA TU RAZONAMIENTO</a:t>
            </a:r>
          </a:p>
        </p:txBody>
      </p:sp>
      <p:sp>
        <p:nvSpPr>
          <p:cNvPr id="23" name="development-question">
            <a:extLst xmlns:a="http://schemas.openxmlformats.org/drawingml/2006/main">
              <a:ext uri="{FF2B5EF4-FFF2-40B4-BE49-F238E27FC236}">
                <a16:creationId xmlns:a16="http://schemas.microsoft.com/office/drawing/2014/main" id="{ED431557-F880-4A02-99D3-48DBBDE66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886575"/>
            <a:ext cx="13677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¿Un objeto válido cuenta como clasificación correcta?</a:t>
            </a:r>
          </a:p>
        </p:txBody>
      </p:sp>
      <p:sp>
        <p:nvSpPr>
          <p:cNvPr id="24" name="panel">
            <a:extLst xmlns:a="http://schemas.openxmlformats.org/drawingml/2006/main">
              <a:ext uri="{FF2B5EF4-FFF2-40B4-BE49-F238E27FC236}">
                <a16:creationId xmlns:a16="http://schemas.microsoft.com/office/drawing/2014/main" id="{FFDB59B2-6D23-41A7-A7FD-D9955BE05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467600"/>
            <a:ext cx="14287500" cy="695325"/>
          </a:xfrm>
          <a:prstGeom xmlns:a="http://schemas.openxmlformats.org/drawingml/2006/main" prst="roundRect">
            <a:avLst>
              <a:gd name="adj" fmla="val 1917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5" name="takeaway">
            <a:extLst xmlns:a="http://schemas.openxmlformats.org/drawingml/2006/main">
              <a:ext uri="{FF2B5EF4-FFF2-40B4-BE49-F238E27FC236}">
                <a16:creationId xmlns:a16="http://schemas.microsoft.com/office/drawing/2014/main" id="{DADC8332-F8F9-4181-B192-047769296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7639050"/>
            <a:ext cx="1381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Mide el contrato y la decisión por separado.</a:t>
            </a:r>
          </a:p>
        </p:txBody>
      </p:sp>
    </p:spTree>
    <p:extLst>
      <p:ext uri="{BB962C8B-B14F-4D97-AF65-F5344CB8AC3E}">
        <p14:creationId xmlns:p14="http://schemas.microsoft.com/office/powerpoint/2010/main" val="1571050990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4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header">
            <a:extLst xmlns:a="http://schemas.openxmlformats.org/drawingml/2006/main">
              <a:ext uri="{FF2B5EF4-FFF2-40B4-BE49-F238E27FC236}">
                <a16:creationId xmlns:a16="http://schemas.microsoft.com/office/drawing/2014/main" id="{817A3A90-1D80-447C-87E6-F3487D78A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47650"/>
            <a:ext cx="14706600" cy="1057275"/>
          </a:xfrm>
          <a:prstGeom xmlns:a="http://schemas.openxmlformats.org/drawingml/2006/main" prst="roundRect">
            <a:avLst>
              <a:gd name="adj" fmla="val 1801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E0221D-225B-41FB-9633-301D2C035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3" name="step-number">
            <a:extLst xmlns:a="http://schemas.openxmlformats.org/drawingml/2006/main">
              <a:ext uri="{FF2B5EF4-FFF2-40B4-BE49-F238E27FC236}">
                <a16:creationId xmlns:a16="http://schemas.microsoft.com/office/drawing/2014/main" id="{C1548C94-12A9-4F50-A41C-F695FC9A8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5905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6</a:t>
            </a:r>
          </a:p>
        </p:txBody>
      </p:sp>
      <p:sp>
        <p:nvSpPr>
          <p:cNvPr id="4" name="breadcrumb">
            <a:extLst xmlns:a="http://schemas.openxmlformats.org/drawingml/2006/main">
              <a:ext uri="{FF2B5EF4-FFF2-40B4-BE49-F238E27FC236}">
                <a16:creationId xmlns:a16="http://schemas.microsoft.com/office/drawing/2014/main" id="{5DA92402-D02A-4877-B796-2D0FD2ED6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400050"/>
            <a:ext cx="1228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rPr>
              <a:t>02 · Prompts, mensajes y contratos / CAPÍTULO 6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36F37AF-F962-4709-BFA4-97B2169B9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714375"/>
            <a:ext cx="1314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Ejemplo · Medir el clasificador en L2</a:t>
            </a:r>
          </a:p>
        </p:txBody>
      </p:sp>
      <p:sp>
        <p:nvSpPr>
          <p:cNvPr id="6" name="learning-purpose">
            <a:extLst xmlns:a="http://schemas.openxmlformats.org/drawingml/2006/main">
              <a:ext uri="{FF2B5EF4-FFF2-40B4-BE49-F238E27FC236}">
                <a16:creationId xmlns:a16="http://schemas.microsoft.com/office/drawing/2014/main" id="{09BADC9D-3CF1-4F19-9375-D9C84A94B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14475"/>
            <a:ext cx="141351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Evaluar las decisiones sobre casos conocidos y consultas propias.</a:t>
            </a:r>
          </a:p>
        </p:txBody>
      </p:sp>
      <p:sp>
        <p:nvSpPr>
          <p:cNvPr id="7" name="panel">
            <a:extLst xmlns:a="http://schemas.openxmlformats.org/drawingml/2006/main">
              <a:ext uri="{FF2B5EF4-FFF2-40B4-BE49-F238E27FC236}">
                <a16:creationId xmlns:a16="http://schemas.microsoft.com/office/drawing/2014/main" id="{92AF6EEB-DB89-4009-9FA2-62DCE5BE8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8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3A2825B1-98D5-4729-8FDD-916652C2F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1 · CONCEPTO</a:t>
            </a:r>
          </a:p>
        </p:txBody>
      </p:sp>
      <p:sp>
        <p:nvSpPr>
          <p:cNvPr id="9" name="panel">
            <a:extLst xmlns:a="http://schemas.openxmlformats.org/drawingml/2006/main">
              <a:ext uri="{FF2B5EF4-FFF2-40B4-BE49-F238E27FC236}">
                <a16:creationId xmlns:a16="http://schemas.microsoft.com/office/drawing/2014/main" id="{8E86F49F-1896-4212-856A-18A81A0DA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91925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10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C8245598-819C-471C-8F74-049A71F3F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8600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2 · DESARROLLO</a:t>
            </a:r>
          </a:p>
        </p:txBody>
      </p:sp>
      <p:sp>
        <p:nvSpPr>
          <p:cNvPr id="11" name="panel">
            <a:extLst xmlns:a="http://schemas.openxmlformats.org/drawingml/2006/main">
              <a:ext uri="{FF2B5EF4-FFF2-40B4-BE49-F238E27FC236}">
                <a16:creationId xmlns:a16="http://schemas.microsoft.com/office/drawing/2014/main" id="{24F807A7-BB3B-47D4-B219-FE1A335A1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8260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12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531365A0-7649-4501-A88F-AD085A379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4927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3 · EJEMPLO</a:t>
            </a:r>
          </a:p>
        </p:txBody>
      </p:sp>
      <p:sp>
        <p:nvSpPr>
          <p:cNvPr id="13" name="footer">
            <a:extLst xmlns:a="http://schemas.openxmlformats.org/drawingml/2006/main">
              <a:ext uri="{FF2B5EF4-FFF2-40B4-BE49-F238E27FC236}">
                <a16:creationId xmlns:a16="http://schemas.microsoft.com/office/drawing/2014/main" id="{CA5E83BE-1EC9-4CF1-86EA-28BB5ACE2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277225"/>
            <a:ext cx="1190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AriwaLabs · 02 / C06</a:t>
            </a:r>
          </a:p>
        </p:txBody>
      </p:sp>
      <p:sp>
        <p:nvSpPr>
          <p:cNvPr id="14" name="folio">
            <a:extLst xmlns:a="http://schemas.openxmlformats.org/drawingml/2006/main">
              <a:ext uri="{FF2B5EF4-FFF2-40B4-BE49-F238E27FC236}">
                <a16:creationId xmlns:a16="http://schemas.microsoft.com/office/drawing/2014/main" id="{24C014DC-F5F7-4CEC-B5C0-6FED6A3CF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258175"/>
            <a:ext cx="781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18</a:t>
            </a:r>
          </a:p>
        </p:txBody>
      </p:sp>
      <p:sp>
        <p:nvSpPr>
          <p:cNvPr id="15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7598C9F6-E05B-40C4-B793-EE37D48E7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81225"/>
            <a:ext cx="1333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ANDESMÓVIL · CASO DIDÁCTICO</a:t>
            </a:r>
          </a:p>
        </p:txBody>
      </p:sp>
      <p:sp>
        <p:nvSpPr>
          <p:cNvPr id="16" name="panel">
            <a:extLst xmlns:a="http://schemas.openxmlformats.org/drawingml/2006/main">
              <a:ext uri="{FF2B5EF4-FFF2-40B4-BE49-F238E27FC236}">
                <a16:creationId xmlns:a16="http://schemas.microsoft.com/office/drawing/2014/main" id="{DA98EB7C-8038-4DB2-B752-C099AD3AD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38425"/>
            <a:ext cx="14097000" cy="962025"/>
          </a:xfrm>
          <a:prstGeom xmlns:a="http://schemas.openxmlformats.org/drawingml/2006/main" prst="roundRect">
            <a:avLst>
              <a:gd name="adj" fmla="val 15842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17" name="case-label">
            <a:extLst xmlns:a="http://schemas.openxmlformats.org/drawingml/2006/main">
              <a:ext uri="{FF2B5EF4-FFF2-40B4-BE49-F238E27FC236}">
                <a16:creationId xmlns:a16="http://schemas.microsoft.com/office/drawing/2014/main" id="{8605DFAB-1E03-46F6-9FE4-A610E25AB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81300"/>
            <a:ext cx="1333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SITUACIÓN</a:t>
            </a:r>
          </a:p>
        </p:txBody>
      </p:sp>
      <p:sp>
        <p:nvSpPr>
          <p:cNvPr id="18" name="case-input">
            <a:extLst xmlns:a="http://schemas.openxmlformats.org/drawingml/2006/main">
              <a:ext uri="{FF2B5EF4-FFF2-40B4-BE49-F238E27FC236}">
                <a16:creationId xmlns:a16="http://schemas.microsoft.com/office/drawing/2014/main" id="{C6DD0DD1-73D3-4318-A20F-5292094E0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2819400"/>
            <a:ext cx="121634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El clasificador confunde consulta de plan y consulta de consumo.</a:t>
            </a:r>
          </a:p>
        </p:txBody>
      </p:sp>
      <p:sp>
        <p:nvSpPr>
          <p:cNvPr id="19" name="concept-node">
            <a:extLst xmlns:a="http://schemas.openxmlformats.org/drawingml/2006/main">
              <a:ext uri="{FF2B5EF4-FFF2-40B4-BE49-F238E27FC236}">
                <a16:creationId xmlns:a16="http://schemas.microsoft.com/office/drawing/2014/main" id="{6B83A3E9-977F-4192-8801-3AF90C582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943350"/>
            <a:ext cx="4381500" cy="2133600"/>
          </a:xfrm>
          <a:prstGeom xmlns:a="http://schemas.openxmlformats.org/drawingml/2006/main" prst="roundRect">
            <a:avLst>
              <a:gd name="adj" fmla="val 80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ED8E3"/>
            </a:solidFill>
          </a:ln>
        </p:spPr>
      </p:sp>
      <p:sp>
        <p:nvSpPr>
          <p:cNvPr id="20" name="node-top-rule">
            <a:extLst xmlns:a="http://schemas.openxmlformats.org/drawingml/2006/main">
              <a:ext uri="{FF2B5EF4-FFF2-40B4-BE49-F238E27FC236}">
                <a16:creationId xmlns:a16="http://schemas.microsoft.com/office/drawing/2014/main" id="{E6708C60-F475-47C7-944A-3F645A5E9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3952875"/>
            <a:ext cx="43624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B620756-FE4F-4E9C-846B-9304F0077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814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2" name="step-number">
            <a:extLst xmlns:a="http://schemas.openxmlformats.org/drawingml/2006/main">
              <a:ext uri="{FF2B5EF4-FFF2-40B4-BE49-F238E27FC236}">
                <a16:creationId xmlns:a16="http://schemas.microsoft.com/office/drawing/2014/main" id="{E77CA4D5-7CED-4FA5-8A93-A882307AF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57675"/>
            <a:ext cx="45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1</a:t>
            </a:r>
          </a:p>
        </p:txBody>
      </p:sp>
      <p:sp>
        <p:nvSpPr>
          <p:cNvPr id="23" name="node-heading">
            <a:extLst xmlns:a="http://schemas.openxmlformats.org/drawingml/2006/main">
              <a:ext uri="{FF2B5EF4-FFF2-40B4-BE49-F238E27FC236}">
                <a16:creationId xmlns:a16="http://schemas.microsoft.com/office/drawing/2014/main" id="{388A5C28-A7D0-426B-8396-399FC7F39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181475"/>
            <a:ext cx="333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Revisar</a:t>
            </a:r>
          </a:p>
        </p:txBody>
      </p:sp>
      <p:sp>
        <p:nvSpPr>
          <p:cNvPr id="24" name="node-body">
            <a:extLst xmlns:a="http://schemas.openxmlformats.org/drawingml/2006/main">
              <a:ext uri="{FF2B5EF4-FFF2-40B4-BE49-F238E27FC236}">
                <a16:creationId xmlns:a16="http://schemas.microsoft.com/office/drawing/2014/main" id="{9FA90294-888B-44A3-8E03-D42CA71B5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962525"/>
            <a:ext cx="3905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Separar esas filas en el</a:t>
            </a:r>
          </a:p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resultado.</a:t>
            </a:r>
          </a:p>
        </p:txBody>
      </p:sp>
      <p:sp>
        <p:nvSpPr>
          <p:cNvPr id="25" name="concept-node">
            <a:extLst xmlns:a="http://schemas.openxmlformats.org/drawingml/2006/main">
              <a:ext uri="{FF2B5EF4-FFF2-40B4-BE49-F238E27FC236}">
                <a16:creationId xmlns:a16="http://schemas.microsoft.com/office/drawing/2014/main" id="{9DF67C7A-AC35-4C27-B322-1CFE29510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943350"/>
            <a:ext cx="4381500" cy="2133600"/>
          </a:xfrm>
          <a:prstGeom xmlns:a="http://schemas.openxmlformats.org/drawingml/2006/main" prst="roundRect">
            <a:avLst>
              <a:gd name="adj" fmla="val 8036"/>
            </a:avLst>
          </a:prstGeom>
          <a:solidFill xmlns:a="http://schemas.openxmlformats.org/drawingml/2006/main">
            <a:srgbClr val="FFF0EB"/>
          </a:solidFill>
          <a:ln xmlns:a="http://schemas.openxmlformats.org/drawingml/2006/main" w="14288">
            <a:solidFill>
              <a:srgbClr val="FF5733"/>
            </a:solidFill>
          </a:ln>
        </p:spPr>
      </p:sp>
      <p:sp>
        <p:nvSpPr>
          <p:cNvPr id="26" name="node-top-rule">
            <a:extLst xmlns:a="http://schemas.openxmlformats.org/drawingml/2006/main">
              <a:ext uri="{FF2B5EF4-FFF2-40B4-BE49-F238E27FC236}">
                <a16:creationId xmlns:a16="http://schemas.microsoft.com/office/drawing/2014/main" id="{2B23A37F-AE5F-48EA-B828-DD801FA4F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775" y="3952875"/>
            <a:ext cx="43624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EC6338A-2E4B-4FA4-928C-2925A16BD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41814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28" name="step-number">
            <a:extLst xmlns:a="http://schemas.openxmlformats.org/drawingml/2006/main">
              <a:ext uri="{FF2B5EF4-FFF2-40B4-BE49-F238E27FC236}">
                <a16:creationId xmlns:a16="http://schemas.microsoft.com/office/drawing/2014/main" id="{4A376A34-7111-40DC-AB92-F255F4DDD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4257675"/>
            <a:ext cx="45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2</a:t>
            </a:r>
          </a:p>
        </p:txBody>
      </p:sp>
      <p:sp>
        <p:nvSpPr>
          <p:cNvPr id="29" name="node-heading">
            <a:extLst xmlns:a="http://schemas.openxmlformats.org/drawingml/2006/main">
              <a:ext uri="{FF2B5EF4-FFF2-40B4-BE49-F238E27FC236}">
                <a16:creationId xmlns:a16="http://schemas.microsoft.com/office/drawing/2014/main" id="{3ADE6D98-EDD4-4BEC-8418-011B47F07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181475"/>
            <a:ext cx="333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Modificar</a:t>
            </a:r>
          </a:p>
        </p:txBody>
      </p:sp>
      <p:sp>
        <p:nvSpPr>
          <p:cNvPr id="30" name="node-body">
            <a:extLst xmlns:a="http://schemas.openxmlformats.org/drawingml/2006/main">
              <a:ext uri="{FF2B5EF4-FFF2-40B4-BE49-F238E27FC236}">
                <a16:creationId xmlns:a16="http://schemas.microsoft.com/office/drawing/2014/main" id="{CA0E23D7-080D-46E4-9744-9834C3707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4962525"/>
            <a:ext cx="3905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Agregar ejemplos que distingan</a:t>
            </a:r>
          </a:p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plan contratado y datos usados.</a:t>
            </a:r>
          </a:p>
        </p:txBody>
      </p:sp>
      <p:sp>
        <p:nvSpPr>
          <p:cNvPr id="31" name="concept-node">
            <a:extLst xmlns:a="http://schemas.openxmlformats.org/drawingml/2006/main">
              <a:ext uri="{FF2B5EF4-FFF2-40B4-BE49-F238E27FC236}">
                <a16:creationId xmlns:a16="http://schemas.microsoft.com/office/drawing/2014/main" id="{9CD1E03E-088E-4C7E-A0F1-485419DDB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943350"/>
            <a:ext cx="4381500" cy="2133600"/>
          </a:xfrm>
          <a:prstGeom xmlns:a="http://schemas.openxmlformats.org/drawingml/2006/main" prst="roundRect">
            <a:avLst>
              <a:gd name="adj" fmla="val 80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ED8E3"/>
            </a:solidFill>
          </a:ln>
        </p:spPr>
      </p:sp>
      <p:sp>
        <p:nvSpPr>
          <p:cNvPr id="32" name="node-top-rule">
            <a:extLst xmlns:a="http://schemas.openxmlformats.org/drawingml/2006/main">
              <a:ext uri="{FF2B5EF4-FFF2-40B4-BE49-F238E27FC236}">
                <a16:creationId xmlns:a16="http://schemas.microsoft.com/office/drawing/2014/main" id="{1F28C57A-FD18-42CA-8260-7EC7C67D8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3952875"/>
            <a:ext cx="43624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F359204-BCA8-4214-B725-C14DEE567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41814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34" name="step-number">
            <a:extLst xmlns:a="http://schemas.openxmlformats.org/drawingml/2006/main">
              <a:ext uri="{FF2B5EF4-FFF2-40B4-BE49-F238E27FC236}">
                <a16:creationId xmlns:a16="http://schemas.microsoft.com/office/drawing/2014/main" id="{26B2F163-0A09-4033-9E9F-97119CF39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4257675"/>
            <a:ext cx="45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3</a:t>
            </a:r>
          </a:p>
        </p:txBody>
      </p:sp>
      <p:sp>
        <p:nvSpPr>
          <p:cNvPr id="35" name="node-heading">
            <a:extLst xmlns:a="http://schemas.openxmlformats.org/drawingml/2006/main">
              <a:ext uri="{FF2B5EF4-FFF2-40B4-BE49-F238E27FC236}">
                <a16:creationId xmlns:a16="http://schemas.microsoft.com/office/drawing/2014/main" id="{1EC9A09B-A4AA-4E67-B870-2FD590033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4181475"/>
            <a:ext cx="333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Repetir</a:t>
            </a:r>
          </a:p>
        </p:txBody>
      </p:sp>
      <p:sp>
        <p:nvSpPr>
          <p:cNvPr id="36" name="node-body">
            <a:extLst xmlns:a="http://schemas.openxmlformats.org/drawingml/2006/main">
              <a:ext uri="{FF2B5EF4-FFF2-40B4-BE49-F238E27FC236}">
                <a16:creationId xmlns:a16="http://schemas.microsoft.com/office/drawing/2014/main" id="{B9524FAF-5C4D-4CA0-82F8-C805A4FA7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4962525"/>
            <a:ext cx="3905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Medir sobre el mismo conjunto y</a:t>
            </a:r>
          </a:p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conservar evidencia.</a:t>
            </a:r>
          </a:p>
        </p:txBody>
      </p:sp>
      <p:cxnSp>
        <p:nvCxnSpPr>
          <p:cNvPr id="80" name=""/>
          <p:cNvCxnSpPr>
            <a:stCxn xmlns:a="http://schemas.openxmlformats.org/drawingml/2006/main" id="19" idx="3"/>
            <a:endCxn xmlns:a="http://schemas.openxmlformats.org/drawingml/2006/main" id="25" idx="1"/>
          </p:cNvCxnSpPr>
          <p:nvPr/>
        </p:nvCxnSpPr>
        <p:spPr>
          <a:xfrm xmlns:a="http://schemas.openxmlformats.org/drawingml/2006/main">
            <a:off x="4953000" y="501015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E293B"/>
            </a:solidFill>
            <a:tailEnd type="triangle" w="med" len="med"/>
          </a:ln>
        </p:spPr>
      </p:cxnSp>
      <p:cxnSp>
        <p:nvCxnSpPr>
          <p:cNvPr id="81" name=""/>
          <p:cNvCxnSpPr>
            <a:stCxn xmlns:a="http://schemas.openxmlformats.org/drawingml/2006/main" id="25" idx="3"/>
            <a:endCxn xmlns:a="http://schemas.openxmlformats.org/drawingml/2006/main" id="31" idx="1"/>
          </p:cNvCxnSpPr>
          <p:nvPr/>
        </p:nvCxnSpPr>
        <p:spPr>
          <a:xfrm xmlns:a="http://schemas.openxmlformats.org/drawingml/2006/main">
            <a:off x="9810750" y="501015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E293B"/>
            </a:solidFill>
            <a:tailEnd type="triangle" w="med" len="med"/>
          </a:ln>
        </p:spPr>
      </p:cxnSp>
      <p:sp>
        <p:nvSpPr>
          <p:cNvPr id="39" name="panel">
            <a:extLst xmlns:a="http://schemas.openxmlformats.org/drawingml/2006/main">
              <a:ext uri="{FF2B5EF4-FFF2-40B4-BE49-F238E27FC236}">
                <a16:creationId xmlns:a16="http://schemas.microsoft.com/office/drawing/2014/main" id="{562261EF-58F4-4EA2-8366-BECDAE643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91250"/>
            <a:ext cx="14097000" cy="10668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0EB"/>
          </a:solidFill>
          <a:ln xmlns:a="http://schemas.openxmlformats.org/drawingml/2006/main" w="0">
            <a:noFill/>
          </a:ln>
        </p:spPr>
      </p:sp>
      <p:sp>
        <p:nvSpPr>
          <p:cNvPr id="40" name="result-label">
            <a:extLst xmlns:a="http://schemas.openxmlformats.org/drawingml/2006/main">
              <a:ext uri="{FF2B5EF4-FFF2-40B4-BE49-F238E27FC236}">
                <a16:creationId xmlns:a16="http://schemas.microsoft.com/office/drawing/2014/main" id="{A2290497-1863-4576-B88B-850104AE9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296025"/>
            <a:ext cx="135731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5733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FF5733"/>
                </a:solidFill>
                <a:latin typeface="DejaVu Sans"/>
                <a:ea typeface="DejaVu Sans"/>
                <a:cs typeface="DejaVu Sans"/>
              </a:rPr>
              <a:t>RESULTADO ESPERADO</a:t>
            </a:r>
          </a:p>
        </p:txBody>
      </p:sp>
      <p:sp>
        <p:nvSpPr>
          <p:cNvPr id="41" name="case-outcome">
            <a:extLst xmlns:a="http://schemas.openxmlformats.org/drawingml/2006/main">
              <a:ext uri="{FF2B5EF4-FFF2-40B4-BE49-F238E27FC236}">
                <a16:creationId xmlns:a16="http://schemas.microsoft.com/office/drawing/2014/main" id="{097A0BF8-7B7D-4B7F-A668-BCFBCBDB2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591300"/>
            <a:ext cx="13573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La mejora debe verse en casos comparables, no en una única pregunta favorable.</a:t>
            </a:r>
          </a:p>
        </p:txBody>
      </p:sp>
      <p:sp>
        <p:nvSpPr>
          <p:cNvPr id="42" name="panel">
            <a:extLst xmlns:a="http://schemas.openxmlformats.org/drawingml/2006/main">
              <a:ext uri="{FF2B5EF4-FFF2-40B4-BE49-F238E27FC236}">
                <a16:creationId xmlns:a16="http://schemas.microsoft.com/office/drawing/2014/main" id="{539CEA9B-EA3D-43E0-83B5-C76355F04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467600"/>
            <a:ext cx="14287500" cy="695325"/>
          </a:xfrm>
          <a:prstGeom xmlns:a="http://schemas.openxmlformats.org/drawingml/2006/main" prst="roundRect">
            <a:avLst>
              <a:gd name="adj" fmla="val 1917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43" name="takeaway">
            <a:extLst xmlns:a="http://schemas.openxmlformats.org/drawingml/2006/main">
              <a:ext uri="{FF2B5EF4-FFF2-40B4-BE49-F238E27FC236}">
                <a16:creationId xmlns:a16="http://schemas.microsoft.com/office/drawing/2014/main" id="{CD1DC186-EA49-4F77-BFF1-1FFF21315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7639050"/>
            <a:ext cx="1381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Mide el contrato y la decisión por separado.</a:t>
            </a:r>
          </a:p>
        </p:txBody>
      </p:sp>
    </p:spTree>
    <p:extLst>
      <p:ext uri="{BB962C8B-B14F-4D97-AF65-F5344CB8AC3E}">
        <p14:creationId xmlns:p14="http://schemas.microsoft.com/office/powerpoint/2010/main" val="1513075015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4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header">
            <a:extLst xmlns:a="http://schemas.openxmlformats.org/drawingml/2006/main">
              <a:ext uri="{FF2B5EF4-FFF2-40B4-BE49-F238E27FC236}">
                <a16:creationId xmlns:a16="http://schemas.microsoft.com/office/drawing/2014/main" id="{4C8BFF59-1654-4B06-92EC-E71A88CE6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47650"/>
            <a:ext cx="14706600" cy="1057275"/>
          </a:xfrm>
          <a:prstGeom xmlns:a="http://schemas.openxmlformats.org/drawingml/2006/main" prst="roundRect">
            <a:avLst>
              <a:gd name="adj" fmla="val 1801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6EF710-B9F0-4755-89E2-17A093309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3" name="step-number">
            <a:extLst xmlns:a="http://schemas.openxmlformats.org/drawingml/2006/main">
              <a:ext uri="{FF2B5EF4-FFF2-40B4-BE49-F238E27FC236}">
                <a16:creationId xmlns:a16="http://schemas.microsoft.com/office/drawing/2014/main" id="{5379D6F0-B28D-423D-ACA8-A5855D527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5905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7</a:t>
            </a:r>
          </a:p>
        </p:txBody>
      </p:sp>
      <p:sp>
        <p:nvSpPr>
          <p:cNvPr id="4" name="breadcrumb">
            <a:extLst xmlns:a="http://schemas.openxmlformats.org/drawingml/2006/main">
              <a:ext uri="{FF2B5EF4-FFF2-40B4-BE49-F238E27FC236}">
                <a16:creationId xmlns:a16="http://schemas.microsoft.com/office/drawing/2014/main" id="{F492B091-883B-4B31-A221-788D6DFFA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400050"/>
            <a:ext cx="1228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rPr>
              <a:t>02 · Prompts, mensajes y contratos / CAPÍTULO 7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2CFB3EA-818E-4A2B-83A1-E3C9B7C25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714375"/>
            <a:ext cx="1314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Puente hacia herramientas</a:t>
            </a:r>
          </a:p>
        </p:txBody>
      </p:sp>
      <p:sp>
        <p:nvSpPr>
          <p:cNvPr id="6" name="learning-purpose">
            <a:extLst xmlns:a="http://schemas.openxmlformats.org/drawingml/2006/main">
              <a:ext uri="{FF2B5EF4-FFF2-40B4-BE49-F238E27FC236}">
                <a16:creationId xmlns:a16="http://schemas.microsoft.com/office/drawing/2014/main" id="{E737EAAC-41DC-4BA5-AE04-EB969DB29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14475"/>
            <a:ext cx="141351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Explicar qué reutiliza la próxima sesión y qué capacidad todavía falta.</a:t>
            </a:r>
          </a:p>
        </p:txBody>
      </p:sp>
      <p:sp>
        <p:nvSpPr>
          <p:cNvPr id="7" name="panel">
            <a:extLst xmlns:a="http://schemas.openxmlformats.org/drawingml/2006/main">
              <a:ext uri="{FF2B5EF4-FFF2-40B4-BE49-F238E27FC236}">
                <a16:creationId xmlns:a16="http://schemas.microsoft.com/office/drawing/2014/main" id="{D4346BBF-FB79-4716-96D5-ED29F748C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8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CE614DA2-3E16-4F83-87CF-F85741A7F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1 · CONCEPTO</a:t>
            </a:r>
          </a:p>
        </p:txBody>
      </p:sp>
      <p:sp>
        <p:nvSpPr>
          <p:cNvPr id="9" name="panel">
            <a:extLst xmlns:a="http://schemas.openxmlformats.org/drawingml/2006/main">
              <a:ext uri="{FF2B5EF4-FFF2-40B4-BE49-F238E27FC236}">
                <a16:creationId xmlns:a16="http://schemas.microsoft.com/office/drawing/2014/main" id="{B076E517-B891-4226-9E12-4BC8F592E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91925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10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C4B3A793-BD6F-4889-B4B7-B73728983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8600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2 · DESARROLLO</a:t>
            </a:r>
          </a:p>
        </p:txBody>
      </p:sp>
      <p:sp>
        <p:nvSpPr>
          <p:cNvPr id="11" name="panel">
            <a:extLst xmlns:a="http://schemas.openxmlformats.org/drawingml/2006/main">
              <a:ext uri="{FF2B5EF4-FFF2-40B4-BE49-F238E27FC236}">
                <a16:creationId xmlns:a16="http://schemas.microsoft.com/office/drawing/2014/main" id="{BC5A1892-EAB3-42CF-B940-DB78175E9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8260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12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0ADFCA91-BA8C-4C7C-815B-E11826BD0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4927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3 · EJEMPLO</a:t>
            </a:r>
          </a:p>
        </p:txBody>
      </p:sp>
      <p:sp>
        <p:nvSpPr>
          <p:cNvPr id="13" name="footer">
            <a:extLst xmlns:a="http://schemas.openxmlformats.org/drawingml/2006/main">
              <a:ext uri="{FF2B5EF4-FFF2-40B4-BE49-F238E27FC236}">
                <a16:creationId xmlns:a16="http://schemas.microsoft.com/office/drawing/2014/main" id="{2D21217C-68A7-4B89-9E0E-2F36D0689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277225"/>
            <a:ext cx="1190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AriwaLabs · 02 / C07</a:t>
            </a:r>
          </a:p>
        </p:txBody>
      </p:sp>
      <p:sp>
        <p:nvSpPr>
          <p:cNvPr id="14" name="folio">
            <a:extLst xmlns:a="http://schemas.openxmlformats.org/drawingml/2006/main">
              <a:ext uri="{FF2B5EF4-FFF2-40B4-BE49-F238E27FC236}">
                <a16:creationId xmlns:a16="http://schemas.microsoft.com/office/drawing/2014/main" id="{2D562DA8-463F-4C41-9811-14169B5E5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258175"/>
            <a:ext cx="781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19</a:t>
            </a:r>
          </a:p>
        </p:txBody>
      </p:sp>
      <p:sp>
        <p:nvSpPr>
          <p:cNvPr id="15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07D8CBBF-4186-410D-80CB-01DFFDB7A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81225"/>
            <a:ext cx="1333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SEGUIR LA RELACIÓN ENTRE LAS PIEZAS</a:t>
            </a:r>
          </a:p>
        </p:txBody>
      </p:sp>
      <p:sp>
        <p:nvSpPr>
          <p:cNvPr id="16" name="concept-node">
            <a:extLst xmlns:a="http://schemas.openxmlformats.org/drawingml/2006/main">
              <a:ext uri="{FF2B5EF4-FFF2-40B4-BE49-F238E27FC236}">
                <a16:creationId xmlns:a16="http://schemas.microsoft.com/office/drawing/2014/main" id="{9888BB9E-0B58-4FD2-B3A4-4AB345F63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0"/>
            <a:ext cx="4381500" cy="291465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ED8E3"/>
            </a:solidFill>
          </a:ln>
        </p:spPr>
      </p:sp>
      <p:sp>
        <p:nvSpPr>
          <p:cNvPr id="17" name="node-top-rule">
            <a:extLst xmlns:a="http://schemas.openxmlformats.org/drawingml/2006/main">
              <a:ext uri="{FF2B5EF4-FFF2-40B4-BE49-F238E27FC236}">
                <a16:creationId xmlns:a16="http://schemas.microsoft.com/office/drawing/2014/main" id="{F7F89117-30B3-4075-B7E1-9A4974709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676525"/>
            <a:ext cx="43624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58275CF-4E11-4E27-A377-4ACC58754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051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19" name="step-number">
            <a:extLst xmlns:a="http://schemas.openxmlformats.org/drawingml/2006/main">
              <a:ext uri="{FF2B5EF4-FFF2-40B4-BE49-F238E27FC236}">
                <a16:creationId xmlns:a16="http://schemas.microsoft.com/office/drawing/2014/main" id="{A97DE533-0580-41C3-B00D-94D8A3735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81325"/>
            <a:ext cx="45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1</a:t>
            </a:r>
          </a:p>
        </p:txBody>
      </p:sp>
      <p:sp>
        <p:nvSpPr>
          <p:cNvPr id="20" name="node-heading">
            <a:extLst xmlns:a="http://schemas.openxmlformats.org/drawingml/2006/main">
              <a:ext uri="{FF2B5EF4-FFF2-40B4-BE49-F238E27FC236}">
                <a16:creationId xmlns:a16="http://schemas.microsoft.com/office/drawing/2014/main" id="{83E555F4-F7E2-47C7-A5E8-059754066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905125"/>
            <a:ext cx="33337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S2</a:t>
            </a:r>
          </a:p>
        </p:txBody>
      </p:sp>
      <p:sp>
        <p:nvSpPr>
          <p:cNvPr id="21" name="node-body">
            <a:extLst xmlns:a="http://schemas.openxmlformats.org/drawingml/2006/main">
              <a:ext uri="{FF2B5EF4-FFF2-40B4-BE49-F238E27FC236}">
                <a16:creationId xmlns:a16="http://schemas.microsoft.com/office/drawing/2014/main" id="{8C0B45F8-DE32-4A22-8C22-9D7CF0F15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838575"/>
            <a:ext cx="3905250" cy="1609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Comprende intención y</a:t>
            </a:r>
          </a:p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valida estructura.</a:t>
            </a:r>
          </a:p>
        </p:txBody>
      </p:sp>
      <p:sp>
        <p:nvSpPr>
          <p:cNvPr id="22" name="concept-node">
            <a:extLst xmlns:a="http://schemas.openxmlformats.org/drawingml/2006/main">
              <a:ext uri="{FF2B5EF4-FFF2-40B4-BE49-F238E27FC236}">
                <a16:creationId xmlns:a16="http://schemas.microsoft.com/office/drawing/2014/main" id="{C434902F-C13B-46B6-B235-E8CF9273D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667000"/>
            <a:ext cx="4381500" cy="291465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0EB"/>
          </a:solidFill>
          <a:ln xmlns:a="http://schemas.openxmlformats.org/drawingml/2006/main" w="14288">
            <a:solidFill>
              <a:srgbClr val="FF5733"/>
            </a:solidFill>
          </a:ln>
        </p:spPr>
      </p:sp>
      <p:sp>
        <p:nvSpPr>
          <p:cNvPr id="23" name="node-top-rule">
            <a:extLst xmlns:a="http://schemas.openxmlformats.org/drawingml/2006/main">
              <a:ext uri="{FF2B5EF4-FFF2-40B4-BE49-F238E27FC236}">
                <a16:creationId xmlns:a16="http://schemas.microsoft.com/office/drawing/2014/main" id="{507638F6-5FA6-4246-8ADA-9E1C4D916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775" y="2676525"/>
            <a:ext cx="43624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DFBC172-72C5-4AE8-90D3-624EB0B8B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9051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25" name="step-number">
            <a:extLst xmlns:a="http://schemas.openxmlformats.org/drawingml/2006/main">
              <a:ext uri="{FF2B5EF4-FFF2-40B4-BE49-F238E27FC236}">
                <a16:creationId xmlns:a16="http://schemas.microsoft.com/office/drawing/2014/main" id="{B1EF0A18-5ED9-4138-B427-2D89E1CC9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981325"/>
            <a:ext cx="45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2</a:t>
            </a:r>
          </a:p>
        </p:txBody>
      </p:sp>
      <p:sp>
        <p:nvSpPr>
          <p:cNvPr id="26" name="node-heading">
            <a:extLst xmlns:a="http://schemas.openxmlformats.org/drawingml/2006/main">
              <a:ext uri="{FF2B5EF4-FFF2-40B4-BE49-F238E27FC236}">
                <a16:creationId xmlns:a16="http://schemas.microsoft.com/office/drawing/2014/main" id="{A875C8DB-258F-479A-98BB-6F6CBFF06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905125"/>
            <a:ext cx="33337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S3</a:t>
            </a:r>
          </a:p>
        </p:txBody>
      </p:sp>
      <p:sp>
        <p:nvSpPr>
          <p:cNvPr id="27" name="node-body">
            <a:extLst xmlns:a="http://schemas.openxmlformats.org/drawingml/2006/main">
              <a:ext uri="{FF2B5EF4-FFF2-40B4-BE49-F238E27FC236}">
                <a16:creationId xmlns:a16="http://schemas.microsoft.com/office/drawing/2014/main" id="{DD0F2470-0F32-491F-A28E-B36FD5EE6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3838575"/>
            <a:ext cx="3905250" cy="1609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Usa esquemas como</a:t>
            </a:r>
          </a:p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argumentos de una</a:t>
            </a:r>
          </a:p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herramienta externa.</a:t>
            </a:r>
          </a:p>
        </p:txBody>
      </p:sp>
      <p:sp>
        <p:nvSpPr>
          <p:cNvPr id="28" name="concept-node">
            <a:extLst xmlns:a="http://schemas.openxmlformats.org/drawingml/2006/main">
              <a:ext uri="{FF2B5EF4-FFF2-40B4-BE49-F238E27FC236}">
                <a16:creationId xmlns:a16="http://schemas.microsoft.com/office/drawing/2014/main" id="{77B94004-ACDF-4CE6-BCDC-944B77454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667000"/>
            <a:ext cx="4381500" cy="291465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ED8E3"/>
            </a:solidFill>
          </a:ln>
        </p:spPr>
      </p:sp>
      <p:sp>
        <p:nvSpPr>
          <p:cNvPr id="29" name="node-top-rule">
            <a:extLst xmlns:a="http://schemas.openxmlformats.org/drawingml/2006/main">
              <a:ext uri="{FF2B5EF4-FFF2-40B4-BE49-F238E27FC236}">
                <a16:creationId xmlns:a16="http://schemas.microsoft.com/office/drawing/2014/main" id="{2AF8A523-B89B-4A5F-8C73-DF6491FD3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2676525"/>
            <a:ext cx="43624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DFDFDB9-079C-43F5-8340-9B66F010A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29051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31" name="step-number">
            <a:extLst xmlns:a="http://schemas.openxmlformats.org/drawingml/2006/main">
              <a:ext uri="{FF2B5EF4-FFF2-40B4-BE49-F238E27FC236}">
                <a16:creationId xmlns:a16="http://schemas.microsoft.com/office/drawing/2014/main" id="{DC03315A-791D-4214-9F23-2843B6045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2981325"/>
            <a:ext cx="45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3</a:t>
            </a:r>
          </a:p>
        </p:txBody>
      </p:sp>
      <p:sp>
        <p:nvSpPr>
          <p:cNvPr id="32" name="node-heading">
            <a:extLst xmlns:a="http://schemas.openxmlformats.org/drawingml/2006/main">
              <a:ext uri="{FF2B5EF4-FFF2-40B4-BE49-F238E27FC236}">
                <a16:creationId xmlns:a16="http://schemas.microsoft.com/office/drawing/2014/main" id="{F6EA897D-78F7-4E36-A7AE-F1E50E89F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2905125"/>
            <a:ext cx="33337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S4</a:t>
            </a:r>
          </a:p>
        </p:txBody>
      </p:sp>
      <p:sp>
        <p:nvSpPr>
          <p:cNvPr id="33" name="node-body">
            <a:extLst xmlns:a="http://schemas.openxmlformats.org/drawingml/2006/main">
              <a:ext uri="{FF2B5EF4-FFF2-40B4-BE49-F238E27FC236}">
                <a16:creationId xmlns:a16="http://schemas.microsoft.com/office/drawing/2014/main" id="{F919CEF5-3EAA-4B9A-BE02-5D4B493D0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3838575"/>
            <a:ext cx="3905250" cy="1609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Decide entre varias</a:t>
            </a:r>
          </a:p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herramientas del catálogo.</a:t>
            </a:r>
          </a:p>
        </p:txBody>
      </p:sp>
      <p:cxnSp>
        <p:nvCxnSpPr>
          <p:cNvPr id="77" name=""/>
          <p:cNvCxnSpPr>
            <a:stCxn xmlns:a="http://schemas.openxmlformats.org/drawingml/2006/main" id="16" idx="3"/>
            <a:endCxn xmlns:a="http://schemas.openxmlformats.org/drawingml/2006/main" id="22" idx="1"/>
          </p:cNvCxnSpPr>
          <p:nvPr/>
        </p:nvCxnSpPr>
        <p:spPr>
          <a:xfrm xmlns:a="http://schemas.openxmlformats.org/drawingml/2006/main">
            <a:off x="4953000" y="4124325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E293B"/>
            </a:solidFill>
            <a:tailEnd type="triangle" w="med" len="med"/>
          </a:ln>
        </p:spPr>
      </p:cxnSp>
      <p:cxnSp>
        <p:nvCxnSpPr>
          <p:cNvPr id="78" name=""/>
          <p:cNvCxnSpPr>
            <a:stCxn xmlns:a="http://schemas.openxmlformats.org/drawingml/2006/main" id="22" idx="3"/>
            <a:endCxn xmlns:a="http://schemas.openxmlformats.org/drawingml/2006/main" id="28" idx="1"/>
          </p:cNvCxnSpPr>
          <p:nvPr/>
        </p:nvCxnSpPr>
        <p:spPr>
          <a:xfrm xmlns:a="http://schemas.openxmlformats.org/drawingml/2006/main">
            <a:off x="9810750" y="4124325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E293B"/>
            </a:solidFill>
            <a:tailEnd type="triangle" w="med" len="med"/>
          </a:ln>
        </p:spPr>
      </p:cxnSp>
      <p:sp>
        <p:nvSpPr>
          <p:cNvPr id="36" name="panel">
            <a:extLst xmlns:a="http://schemas.openxmlformats.org/drawingml/2006/main">
              <a:ext uri="{FF2B5EF4-FFF2-40B4-BE49-F238E27FC236}">
                <a16:creationId xmlns:a16="http://schemas.microsoft.com/office/drawing/2014/main" id="{FDC21F31-68CC-41A4-B896-4BD9BE87A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05500"/>
            <a:ext cx="9048750" cy="1362075"/>
          </a:xfrm>
          <a:prstGeom xmlns:a="http://schemas.openxmlformats.org/drawingml/2006/main" prst="roundRect">
            <a:avLst>
              <a:gd name="adj" fmla="val 11189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37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21B4EEDC-81D0-4755-A1B0-3F8FBC2F3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057900"/>
            <a:ext cx="1333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PREGUNTA PARA ACTIVAR EL CONCEPTO</a:t>
            </a:r>
          </a:p>
        </p:txBody>
      </p:sp>
      <p:sp>
        <p:nvSpPr>
          <p:cNvPr id="38" name="concept-question">
            <a:extLst xmlns:a="http://schemas.openxmlformats.org/drawingml/2006/main">
              <a:ext uri="{FF2B5EF4-FFF2-40B4-BE49-F238E27FC236}">
                <a16:creationId xmlns:a16="http://schemas.microsoft.com/office/drawing/2014/main" id="{B2D28405-2079-4997-8AE7-B8735919B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362700"/>
            <a:ext cx="86296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¿Qué dos comprobaciones faltan entre una intención y una</a:t>
            </a:r>
          </a:p>
          <a:p xmlns:a="http://schemas.openxmlformats.org/drawingml/2006/main">
            <a:pPr algn="l">
              <a:def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operación externa?</a:t>
            </a:r>
          </a:p>
        </p:txBody>
      </p:sp>
      <p:sp>
        <p:nvSpPr>
          <p:cNvPr id="39" name="panel">
            <a:extLst xmlns:a="http://schemas.openxmlformats.org/drawingml/2006/main">
              <a:ext uri="{FF2B5EF4-FFF2-40B4-BE49-F238E27FC236}">
                <a16:creationId xmlns:a16="http://schemas.microsoft.com/office/drawing/2014/main" id="{23D3D658-FA1C-4D56-92AC-E4FC3E343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5905500"/>
            <a:ext cx="4762500" cy="1362075"/>
          </a:xfrm>
          <a:prstGeom xmlns:a="http://schemas.openxmlformats.org/drawingml/2006/main" prst="roundRect">
            <a:avLst>
              <a:gd name="adj" fmla="val 11189"/>
            </a:avLst>
          </a:prstGeom>
          <a:solidFill xmlns:a="http://schemas.openxmlformats.org/drawingml/2006/main">
            <a:srgbClr val="FFF0EB"/>
          </a:solidFill>
          <a:ln xmlns:a="http://schemas.openxmlformats.org/drawingml/2006/main" w="0">
            <a:noFill/>
          </a:ln>
        </p:spPr>
      </p:sp>
      <p:sp>
        <p:nvSpPr>
          <p:cNvPr id="40" name="misconception-label">
            <a:extLst xmlns:a="http://schemas.openxmlformats.org/drawingml/2006/main">
              <a:ext uri="{FF2B5EF4-FFF2-40B4-BE49-F238E27FC236}">
                <a16:creationId xmlns:a16="http://schemas.microsoft.com/office/drawing/2014/main" id="{07714B71-A146-49D0-B106-EA0964CC3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6057900"/>
            <a:ext cx="43148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5733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FF5733"/>
                </a:solidFill>
                <a:latin typeface="DejaVu Sans"/>
                <a:ea typeface="DejaVu Sans"/>
                <a:cs typeface="DejaVu Sans"/>
              </a:rPr>
              <a:t>EVITAR ESTA CONFUSIÓN</a:t>
            </a:r>
          </a:p>
        </p:txBody>
      </p:sp>
      <p:sp>
        <p:nvSpPr>
          <p:cNvPr id="41" name="misconception">
            <a:extLst xmlns:a="http://schemas.openxmlformats.org/drawingml/2006/main">
              <a:ext uri="{FF2B5EF4-FFF2-40B4-BE49-F238E27FC236}">
                <a16:creationId xmlns:a16="http://schemas.microsoft.com/office/drawing/2014/main" id="{94D92180-8664-4018-BD3C-CA7D4A11A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6372225"/>
            <a:ext cx="43148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Presentar el clasificador como agente</a:t>
            </a:r>
          </a:p>
          <a:p xmlns:a="http://schemas.openxmlformats.org/drawingml/2006/main">
            <a:pPr algn="l">
              <a:defRPr sz="165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con tools ya implementadas.</a:t>
            </a:r>
          </a:p>
        </p:txBody>
      </p:sp>
      <p:sp>
        <p:nvSpPr>
          <p:cNvPr id="42" name="panel">
            <a:extLst xmlns:a="http://schemas.openxmlformats.org/drawingml/2006/main">
              <a:ext uri="{FF2B5EF4-FFF2-40B4-BE49-F238E27FC236}">
                <a16:creationId xmlns:a16="http://schemas.microsoft.com/office/drawing/2014/main" id="{DC5F3E9B-FEC0-4FF2-B2EB-497C1C875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467600"/>
            <a:ext cx="14287500" cy="695325"/>
          </a:xfrm>
          <a:prstGeom xmlns:a="http://schemas.openxmlformats.org/drawingml/2006/main" prst="roundRect">
            <a:avLst>
              <a:gd name="adj" fmla="val 1917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43" name="takeaway">
            <a:extLst xmlns:a="http://schemas.openxmlformats.org/drawingml/2006/main">
              <a:ext uri="{FF2B5EF4-FFF2-40B4-BE49-F238E27FC236}">
                <a16:creationId xmlns:a16="http://schemas.microsoft.com/office/drawing/2014/main" id="{5DCC828F-59EC-4DD2-BAF4-C11F2B01B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7639050"/>
            <a:ext cx="1381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Clasificar, consultar y autorizar son decisiones diferentes.</a:t>
            </a:r>
          </a:p>
        </p:txBody>
      </p:sp>
    </p:spTree>
    <p:extLst>
      <p:ext uri="{BB962C8B-B14F-4D97-AF65-F5344CB8AC3E}">
        <p14:creationId xmlns:p14="http://schemas.microsoft.com/office/powerpoint/2010/main" val="1810297048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4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header">
            <a:extLst xmlns:a="http://schemas.openxmlformats.org/drawingml/2006/main">
              <a:ext uri="{FF2B5EF4-FFF2-40B4-BE49-F238E27FC236}">
                <a16:creationId xmlns:a16="http://schemas.microsoft.com/office/drawing/2014/main" id="{4C2CE79D-63F4-4FB7-BB5A-5CB285907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47650"/>
            <a:ext cx="14706600" cy="1057275"/>
          </a:xfrm>
          <a:prstGeom xmlns:a="http://schemas.openxmlformats.org/drawingml/2006/main" prst="roundRect">
            <a:avLst>
              <a:gd name="adj" fmla="val 1801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246575-C20A-42FD-B944-9761C4D90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3" name="step-number">
            <a:extLst xmlns:a="http://schemas.openxmlformats.org/drawingml/2006/main">
              <a:ext uri="{FF2B5EF4-FFF2-40B4-BE49-F238E27FC236}">
                <a16:creationId xmlns:a16="http://schemas.microsoft.com/office/drawing/2014/main" id="{51565106-0088-44E7-8037-76B18720C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5905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7</a:t>
            </a:r>
          </a:p>
        </p:txBody>
      </p:sp>
      <p:sp>
        <p:nvSpPr>
          <p:cNvPr id="4" name="breadcrumb">
            <a:extLst xmlns:a="http://schemas.openxmlformats.org/drawingml/2006/main">
              <a:ext uri="{FF2B5EF4-FFF2-40B4-BE49-F238E27FC236}">
                <a16:creationId xmlns:a16="http://schemas.microsoft.com/office/drawing/2014/main" id="{DCC9F267-62F4-4491-ABD6-04537FC2A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400050"/>
            <a:ext cx="1228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rPr>
              <a:t>02 · Prompts, mensajes y contratos / CAPÍTULO 7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5D649AF-1E54-4FBE-97FE-5F37137DC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714375"/>
            <a:ext cx="1314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De categoría a acción controlada</a:t>
            </a:r>
          </a:p>
        </p:txBody>
      </p:sp>
      <p:sp>
        <p:nvSpPr>
          <p:cNvPr id="6" name="learning-purpose">
            <a:extLst xmlns:a="http://schemas.openxmlformats.org/drawingml/2006/main">
              <a:ext uri="{FF2B5EF4-FFF2-40B4-BE49-F238E27FC236}">
                <a16:creationId xmlns:a16="http://schemas.microsoft.com/office/drawing/2014/main" id="{13CEE708-9E06-4570-B5BE-9AED3CCEF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14475"/>
            <a:ext cx="141351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Explicar qué reutiliza la próxima sesión y qué capacidad todavía falta.</a:t>
            </a:r>
          </a:p>
        </p:txBody>
      </p:sp>
      <p:sp>
        <p:nvSpPr>
          <p:cNvPr id="7" name="panel">
            <a:extLst xmlns:a="http://schemas.openxmlformats.org/drawingml/2006/main">
              <a:ext uri="{FF2B5EF4-FFF2-40B4-BE49-F238E27FC236}">
                <a16:creationId xmlns:a16="http://schemas.microsoft.com/office/drawing/2014/main" id="{3267F094-5751-4C1C-BB69-3BC86F06D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8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BC40A586-F43D-4E3D-918A-FB77B2C19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1 · CONCEPTO</a:t>
            </a:r>
          </a:p>
        </p:txBody>
      </p:sp>
      <p:sp>
        <p:nvSpPr>
          <p:cNvPr id="9" name="panel">
            <a:extLst xmlns:a="http://schemas.openxmlformats.org/drawingml/2006/main">
              <a:ext uri="{FF2B5EF4-FFF2-40B4-BE49-F238E27FC236}">
                <a16:creationId xmlns:a16="http://schemas.microsoft.com/office/drawing/2014/main" id="{56AB8368-8AF7-49F5-BAA4-3CC3AB9BD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91925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10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D6745557-607F-4911-8FC4-938087341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8600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2 · DESARROLLO</a:t>
            </a:r>
          </a:p>
        </p:txBody>
      </p:sp>
      <p:sp>
        <p:nvSpPr>
          <p:cNvPr id="11" name="panel">
            <a:extLst xmlns:a="http://schemas.openxmlformats.org/drawingml/2006/main">
              <a:ext uri="{FF2B5EF4-FFF2-40B4-BE49-F238E27FC236}">
                <a16:creationId xmlns:a16="http://schemas.microsoft.com/office/drawing/2014/main" id="{D29C12B7-BDC5-40D1-ADB5-E2BFB83DF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8260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12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6860C9BC-8163-4D3E-9598-CB427439D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4927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3 · EJEMPLO</a:t>
            </a:r>
          </a:p>
        </p:txBody>
      </p:sp>
      <p:sp>
        <p:nvSpPr>
          <p:cNvPr id="13" name="footer">
            <a:extLst xmlns:a="http://schemas.openxmlformats.org/drawingml/2006/main">
              <a:ext uri="{FF2B5EF4-FFF2-40B4-BE49-F238E27FC236}">
                <a16:creationId xmlns:a16="http://schemas.microsoft.com/office/drawing/2014/main" id="{C1B74A92-B523-4876-983D-8E08E1E48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277225"/>
            <a:ext cx="1190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AriwaLabs · 02 / C07</a:t>
            </a:r>
          </a:p>
        </p:txBody>
      </p:sp>
      <p:sp>
        <p:nvSpPr>
          <p:cNvPr id="14" name="folio">
            <a:extLst xmlns:a="http://schemas.openxmlformats.org/drawingml/2006/main">
              <a:ext uri="{FF2B5EF4-FFF2-40B4-BE49-F238E27FC236}">
                <a16:creationId xmlns:a16="http://schemas.microsoft.com/office/drawing/2014/main" id="{6E23B15E-F163-4473-9F4F-51C2D9E37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258175"/>
            <a:ext cx="781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20</a:t>
            </a:r>
          </a:p>
        </p:txBody>
      </p:sp>
      <p:sp>
        <p:nvSpPr>
          <p:cNvPr id="15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BA61EC80-F17D-491F-9D78-621788CDC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81225"/>
            <a:ext cx="1333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DEL CONCEPTO A UNA COMPROBACIÓN CONCRETA</a:t>
            </a:r>
          </a:p>
        </p:txBody>
      </p:sp>
      <p:graphicFrame>
        <p:nvGraphicFramePr>
          <p:cNvPr id="41" name=""/>
          <p:cNvGraphicFramePr/>
          <p:nvPr/>
        </p:nvGraphicFramePr>
        <p:xfrm>
          <a:off xmlns:a="http://schemas.openxmlformats.org/drawingml/2006/main" x="571500" y="2667000"/>
          <a:ext xmlns:a="http://schemas.openxmlformats.org/drawingml/2006/main" cx="9334500" cy="36766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6477000"/>
              </a:tblGrid>
              <a:tr h="476250"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PUNTO DE REVISIÓN</a:t>
                      </a:r>
                    </a:p>
                  </a:txBody>
                  <a:tcPr marL="91440" marR="91440" marT="45720" marB="45720" anchor="ctr">
                    <a:solidFill>
                      <a:srgbClr val="1E293B"/>
                    </a:solidFill>
                  </a:tcPr>
                </a:tc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EXPLICACIÓN / CRITERIO</a:t>
                      </a:r>
                    </a:p>
                  </a:txBody>
                  <a:tcPr marL="91440" marR="91440" marT="45720" marB="45720" anchor="ctr">
                    <a:solidFill>
                      <a:srgbClr val="1E293B"/>
                    </a:solidFill>
                  </a:tcPr>
                </a:tc>
              </a:tr>
              <a:tr h="1066800"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Interpretación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Identificar la tarea y sus datos necesarios.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1066800"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Contrato</a:t>
                      </a:r>
                    </a:p>
                  </a:txBody>
                  <a:tcPr marL="91440" marR="91440" marT="45720" marB="45720" anchor="ctr">
                    <a:solidFill>
                      <a:srgbClr val="E9F0F7"/>
                    </a:solidFill>
                  </a:tcPr>
                </a:tc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Validar argumentos de entrada a la capacidad.</a:t>
                      </a:r>
                    </a:p>
                  </a:txBody>
                  <a:tcPr marL="91440" marR="91440" marT="45720" marB="45720" anchor="ctr">
                    <a:solidFill>
                      <a:srgbClr val="E9F0F7"/>
                    </a:solidFill>
                  </a:tcPr>
                </a:tc>
              </a:tr>
              <a:tr h="1066800"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Ejecución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61925" tIns="57150" rIns="161925" bIns="57150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La aplicación realizará la llamada y manejará sus</a:t>
                      </a:r>
                    </a:p>
                    <a:p>
                      <a:r>
                        <a:rPr sz="1875" b="0">
                          <a:solidFill>
                            <a:srgbClr val="1E293B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errores.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" name="panel">
            <a:extLst xmlns:a="http://schemas.openxmlformats.org/drawingml/2006/main">
              <a:ext uri="{FF2B5EF4-FFF2-40B4-BE49-F238E27FC236}">
                <a16:creationId xmlns:a16="http://schemas.microsoft.com/office/drawing/2014/main" id="{70F8D4CB-F39E-4B41-B6EA-907B75286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667000"/>
            <a:ext cx="4476750" cy="3676650"/>
          </a:xfrm>
          <a:prstGeom xmlns:a="http://schemas.openxmlformats.org/drawingml/2006/main" prst="roundRect">
            <a:avLst>
              <a:gd name="adj" fmla="val 4663"/>
            </a:avLst>
          </a:prstGeom>
          <a:solidFill xmlns:a="http://schemas.openxmlformats.org/drawingml/2006/main">
            <a:srgbClr val="FFF0EB"/>
          </a:solidFill>
          <a:ln xmlns:a="http://schemas.openxmlformats.org/drawingml/2006/main" w="14288">
            <a:solidFill>
              <a:srgbClr val="FF5733"/>
            </a:solidFill>
          </a:ln>
        </p:spPr>
      </p:sp>
      <p:sp>
        <p:nvSpPr>
          <p:cNvPr id="18" name="development-limit-label">
            <a:extLst xmlns:a="http://schemas.openxmlformats.org/drawingml/2006/main">
              <a:ext uri="{FF2B5EF4-FFF2-40B4-BE49-F238E27FC236}">
                <a16:creationId xmlns:a16="http://schemas.microsoft.com/office/drawing/2014/main" id="{9C40FA44-E066-4C97-B3DB-60D6F318F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2886075"/>
            <a:ext cx="4019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5733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FF5733"/>
                </a:solidFill>
                <a:latin typeface="DejaVu Sans"/>
                <a:ea typeface="DejaVu Sans"/>
                <a:cs typeface="DejaVu Sans"/>
              </a:rPr>
              <a:t>EL LÍMITE QUE IMPORTA</a:t>
            </a:r>
          </a:p>
        </p:txBody>
      </p:sp>
      <p:sp>
        <p:nvSpPr>
          <p:cNvPr id="19" name="development-limit">
            <a:extLst xmlns:a="http://schemas.openxmlformats.org/drawingml/2006/main">
              <a:ext uri="{FF2B5EF4-FFF2-40B4-BE49-F238E27FC236}">
                <a16:creationId xmlns:a16="http://schemas.microsoft.com/office/drawing/2014/main" id="{07FD6B6D-74FC-4DDD-BE57-855D899E6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3362325"/>
            <a:ext cx="401955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Presentar el clasificador como</a:t>
            </a:r>
          </a:p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agente con tools ya</a:t>
            </a:r>
          </a:p>
          <a:p xmlns:a="http://schemas.openxmlformats.org/drawingml/2006/main">
            <a:pPr algn="l">
              <a:def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implementadas.</a:t>
            </a:r>
          </a:p>
        </p:txBody>
      </p:sp>
      <p:sp>
        <p:nvSpPr>
          <p:cNvPr id="20" name="development-prompt">
            <a:extLst xmlns:a="http://schemas.openxmlformats.org/drawingml/2006/main">
              <a:ext uri="{FF2B5EF4-FFF2-40B4-BE49-F238E27FC236}">
                <a16:creationId xmlns:a16="http://schemas.microsoft.com/office/drawing/2014/main" id="{B4AAB966-56BC-478C-8763-77FADAED4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5553075"/>
            <a:ext cx="40195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Revisar este supuesto evita aplicar la</a:t>
            </a:r>
          </a:p>
          <a:p xmlns:a="http://schemas.openxmlformats.org/drawingml/2006/main">
            <a:pPr algn="l">
              <a:defRPr sz="1500" b="0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idea fuera de su alcance.</a:t>
            </a:r>
          </a:p>
        </p:txBody>
      </p:sp>
      <p:sp>
        <p:nvSpPr>
          <p:cNvPr id="21" name="panel">
            <a:extLst xmlns:a="http://schemas.openxmlformats.org/drawingml/2006/main">
              <a:ext uri="{FF2B5EF4-FFF2-40B4-BE49-F238E27FC236}">
                <a16:creationId xmlns:a16="http://schemas.microsoft.com/office/drawing/2014/main" id="{7D26EA4F-11B0-416A-8FE5-41E67577A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05575"/>
            <a:ext cx="14097000" cy="752475"/>
          </a:xfrm>
          <a:prstGeom xmlns:a="http://schemas.openxmlformats.org/drawingml/2006/main" prst="roundRect">
            <a:avLst>
              <a:gd name="adj" fmla="val 20253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22" name="check-label">
            <a:extLst xmlns:a="http://schemas.openxmlformats.org/drawingml/2006/main">
              <a:ext uri="{FF2B5EF4-FFF2-40B4-BE49-F238E27FC236}">
                <a16:creationId xmlns:a16="http://schemas.microsoft.com/office/drawing/2014/main" id="{7C5DFA1D-ACA4-45B1-85C0-FB2680747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600825"/>
            <a:ext cx="136779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COMPRUEBA TU RAZONAMIENTO</a:t>
            </a:r>
          </a:p>
        </p:txBody>
      </p:sp>
      <p:sp>
        <p:nvSpPr>
          <p:cNvPr id="23" name="development-question">
            <a:extLst xmlns:a="http://schemas.openxmlformats.org/drawingml/2006/main">
              <a:ext uri="{FF2B5EF4-FFF2-40B4-BE49-F238E27FC236}">
                <a16:creationId xmlns:a16="http://schemas.microsoft.com/office/drawing/2014/main" id="{CF0CA94B-CA19-45CE-9F16-8230DD887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886575"/>
            <a:ext cx="13677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¿Qué dos comprobaciones faltan entre una intención y una operación externa?</a:t>
            </a:r>
          </a:p>
        </p:txBody>
      </p:sp>
      <p:sp>
        <p:nvSpPr>
          <p:cNvPr id="24" name="panel">
            <a:extLst xmlns:a="http://schemas.openxmlformats.org/drawingml/2006/main">
              <a:ext uri="{FF2B5EF4-FFF2-40B4-BE49-F238E27FC236}">
                <a16:creationId xmlns:a16="http://schemas.microsoft.com/office/drawing/2014/main" id="{80588C89-1845-4F4A-A1D4-2F948E56B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467600"/>
            <a:ext cx="14287500" cy="695325"/>
          </a:xfrm>
          <a:prstGeom xmlns:a="http://schemas.openxmlformats.org/drawingml/2006/main" prst="roundRect">
            <a:avLst>
              <a:gd name="adj" fmla="val 1917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5" name="takeaway">
            <a:extLst xmlns:a="http://schemas.openxmlformats.org/drawingml/2006/main">
              <a:ext uri="{FF2B5EF4-FFF2-40B4-BE49-F238E27FC236}">
                <a16:creationId xmlns:a16="http://schemas.microsoft.com/office/drawing/2014/main" id="{777B168D-9419-4ED7-9EA5-CA476F268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7639050"/>
            <a:ext cx="1381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Clasificar, consultar y autorizar son decisiones diferentes.</a:t>
            </a:r>
          </a:p>
        </p:txBody>
      </p:sp>
    </p:spTree>
    <p:extLst>
      <p:ext uri="{BB962C8B-B14F-4D97-AF65-F5344CB8AC3E}">
        <p14:creationId xmlns:p14="http://schemas.microsoft.com/office/powerpoint/2010/main" val="287223873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4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header">
            <a:extLst xmlns:a="http://schemas.openxmlformats.org/drawingml/2006/main">
              <a:ext uri="{FF2B5EF4-FFF2-40B4-BE49-F238E27FC236}">
                <a16:creationId xmlns:a16="http://schemas.microsoft.com/office/drawing/2014/main" id="{3B210405-6A61-467D-9E83-AAFCBC806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47650"/>
            <a:ext cx="14706600" cy="1057275"/>
          </a:xfrm>
          <a:prstGeom xmlns:a="http://schemas.openxmlformats.org/drawingml/2006/main" prst="roundRect">
            <a:avLst>
              <a:gd name="adj" fmla="val 1801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B6A33D-2226-4153-9B93-31EF40931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435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3" name="step-number">
            <a:extLst xmlns:a="http://schemas.openxmlformats.org/drawingml/2006/main">
              <a:ext uri="{FF2B5EF4-FFF2-40B4-BE49-F238E27FC236}">
                <a16:creationId xmlns:a16="http://schemas.microsoft.com/office/drawing/2014/main" id="{68711D2D-890F-40AF-8486-A7F158172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5905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7</a:t>
            </a:r>
          </a:p>
        </p:txBody>
      </p:sp>
      <p:sp>
        <p:nvSpPr>
          <p:cNvPr id="4" name="breadcrumb">
            <a:extLst xmlns:a="http://schemas.openxmlformats.org/drawingml/2006/main">
              <a:ext uri="{FF2B5EF4-FFF2-40B4-BE49-F238E27FC236}">
                <a16:creationId xmlns:a16="http://schemas.microsoft.com/office/drawing/2014/main" id="{3607E1F9-77A6-4C83-AB21-1E1D0B437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400050"/>
            <a:ext cx="1228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DCE5EF"/>
                </a:solidFill>
                <a:latin typeface="DejaVu Sans"/>
                <a:ea typeface="DejaVu Sans"/>
                <a:cs typeface="DejaVu Sans"/>
              </a:rPr>
              <a:t>02 · Prompts, mensajes y contratos / CAPÍTULO 7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6E88562-C2AC-48BC-9D48-A01EE1D85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714375"/>
            <a:ext cx="1314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7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Ejemplo · Puente hacia herramientas</a:t>
            </a:r>
          </a:p>
        </p:txBody>
      </p:sp>
      <p:sp>
        <p:nvSpPr>
          <p:cNvPr id="6" name="learning-purpose">
            <a:extLst xmlns:a="http://schemas.openxmlformats.org/drawingml/2006/main">
              <a:ext uri="{FF2B5EF4-FFF2-40B4-BE49-F238E27FC236}">
                <a16:creationId xmlns:a16="http://schemas.microsoft.com/office/drawing/2014/main" id="{F43FE5AB-9489-4064-B2FE-D4D06BF50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14475"/>
            <a:ext cx="141351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Explicar qué reutiliza la próxima sesión y qué capacidad todavía falta.</a:t>
            </a:r>
          </a:p>
        </p:txBody>
      </p:sp>
      <p:sp>
        <p:nvSpPr>
          <p:cNvPr id="7" name="panel">
            <a:extLst xmlns:a="http://schemas.openxmlformats.org/drawingml/2006/main">
              <a:ext uri="{FF2B5EF4-FFF2-40B4-BE49-F238E27FC236}">
                <a16:creationId xmlns:a16="http://schemas.microsoft.com/office/drawing/2014/main" id="{3E9243B9-FD06-495D-890A-C4F01FF79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8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AA1C3938-EA5D-4BA8-972B-DDC8B38D0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1 · CONCEPTO</a:t>
            </a:r>
          </a:p>
        </p:txBody>
      </p:sp>
      <p:sp>
        <p:nvSpPr>
          <p:cNvPr id="9" name="panel">
            <a:extLst xmlns:a="http://schemas.openxmlformats.org/drawingml/2006/main">
              <a:ext uri="{FF2B5EF4-FFF2-40B4-BE49-F238E27FC236}">
                <a16:creationId xmlns:a16="http://schemas.microsoft.com/office/drawing/2014/main" id="{92D81EBA-0873-4845-AA8C-74B1E70AA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91925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10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ABF4D538-D3F7-4899-B827-4FDF55BA3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8600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2 · DESARROLLO</a:t>
            </a:r>
          </a:p>
        </p:txBody>
      </p:sp>
      <p:sp>
        <p:nvSpPr>
          <p:cNvPr id="11" name="panel">
            <a:extLst xmlns:a="http://schemas.openxmlformats.org/drawingml/2006/main">
              <a:ext uri="{FF2B5EF4-FFF2-40B4-BE49-F238E27FC236}">
                <a16:creationId xmlns:a16="http://schemas.microsoft.com/office/drawing/2014/main" id="{A886D996-5044-4CCF-86BB-D881247AF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82600" y="2152650"/>
            <a:ext cx="1485900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12" name="chapter-progress">
            <a:extLst xmlns:a="http://schemas.openxmlformats.org/drawingml/2006/main">
              <a:ext uri="{FF2B5EF4-FFF2-40B4-BE49-F238E27FC236}">
                <a16:creationId xmlns:a16="http://schemas.microsoft.com/office/drawing/2014/main" id="{B730962A-F333-4728-BB2E-C307A8D25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49275" y="2200275"/>
            <a:ext cx="1352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05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3 · EJEMPLO</a:t>
            </a:r>
          </a:p>
        </p:txBody>
      </p:sp>
      <p:sp>
        <p:nvSpPr>
          <p:cNvPr id="13" name="footer">
            <a:extLst xmlns:a="http://schemas.openxmlformats.org/drawingml/2006/main">
              <a:ext uri="{FF2B5EF4-FFF2-40B4-BE49-F238E27FC236}">
                <a16:creationId xmlns:a16="http://schemas.microsoft.com/office/drawing/2014/main" id="{1022B468-D9B1-4158-86DA-899EECE71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277225"/>
            <a:ext cx="1190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AriwaLabs · 02 / C07</a:t>
            </a:r>
          </a:p>
        </p:txBody>
      </p:sp>
      <p:sp>
        <p:nvSpPr>
          <p:cNvPr id="14" name="folio">
            <a:extLst xmlns:a="http://schemas.openxmlformats.org/drawingml/2006/main">
              <a:ext uri="{FF2B5EF4-FFF2-40B4-BE49-F238E27FC236}">
                <a16:creationId xmlns:a16="http://schemas.microsoft.com/office/drawing/2014/main" id="{7629378A-1E73-4528-80E7-DF497FEC6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8258175"/>
            <a:ext cx="781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21</a:t>
            </a:r>
          </a:p>
        </p:txBody>
      </p:sp>
      <p:sp>
        <p:nvSpPr>
          <p:cNvPr id="15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77BFC185-F5E0-4DB0-B62A-73EAFBBCB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81225"/>
            <a:ext cx="1333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BANCO INTI · CASO DIDÁCTICO</a:t>
            </a:r>
          </a:p>
        </p:txBody>
      </p:sp>
      <p:sp>
        <p:nvSpPr>
          <p:cNvPr id="16" name="panel">
            <a:extLst xmlns:a="http://schemas.openxmlformats.org/drawingml/2006/main">
              <a:ext uri="{FF2B5EF4-FFF2-40B4-BE49-F238E27FC236}">
                <a16:creationId xmlns:a16="http://schemas.microsoft.com/office/drawing/2014/main" id="{7C583CCD-3519-4407-9F66-920BE1A48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38425"/>
            <a:ext cx="14097000" cy="962025"/>
          </a:xfrm>
          <a:prstGeom xmlns:a="http://schemas.openxmlformats.org/drawingml/2006/main" prst="roundRect">
            <a:avLst>
              <a:gd name="adj" fmla="val 15842"/>
            </a:avLst>
          </a:prstGeom>
          <a:solidFill xmlns:a="http://schemas.openxmlformats.org/drawingml/2006/main">
            <a:srgbClr val="E9F0F7"/>
          </a:solidFill>
          <a:ln xmlns:a="http://schemas.openxmlformats.org/drawingml/2006/main" w="0">
            <a:noFill/>
          </a:ln>
        </p:spPr>
      </p:sp>
      <p:sp>
        <p:nvSpPr>
          <p:cNvPr id="17" name="case-label">
            <a:extLst xmlns:a="http://schemas.openxmlformats.org/drawingml/2006/main">
              <a:ext uri="{FF2B5EF4-FFF2-40B4-BE49-F238E27FC236}">
                <a16:creationId xmlns:a16="http://schemas.microsoft.com/office/drawing/2014/main" id="{8532A7F4-29BF-41DC-8A75-369649B4A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81300"/>
            <a:ext cx="1333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26277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526277"/>
                </a:solidFill>
                <a:latin typeface="DejaVu Sans"/>
                <a:ea typeface="DejaVu Sans"/>
                <a:cs typeface="DejaVu Sans"/>
              </a:rPr>
              <a:t>SITUACIÓN</a:t>
            </a:r>
          </a:p>
        </p:txBody>
      </p:sp>
      <p:sp>
        <p:nvSpPr>
          <p:cNvPr id="18" name="case-input">
            <a:extLst xmlns:a="http://schemas.openxmlformats.org/drawingml/2006/main">
              <a:ext uri="{FF2B5EF4-FFF2-40B4-BE49-F238E27FC236}">
                <a16:creationId xmlns:a16="http://schemas.microsoft.com/office/drawing/2014/main" id="{C7AC1B5F-CCEE-4746-9F43-6A66A9379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2819400"/>
            <a:ext cx="121634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El clasificador reconoce una consulta de saldo.</a:t>
            </a:r>
          </a:p>
        </p:txBody>
      </p:sp>
      <p:sp>
        <p:nvSpPr>
          <p:cNvPr id="19" name="concept-node">
            <a:extLst xmlns:a="http://schemas.openxmlformats.org/drawingml/2006/main">
              <a:ext uri="{FF2B5EF4-FFF2-40B4-BE49-F238E27FC236}">
                <a16:creationId xmlns:a16="http://schemas.microsoft.com/office/drawing/2014/main" id="{E8EFF49E-FBD8-44E8-A443-A8983922F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943350"/>
            <a:ext cx="4381500" cy="2133600"/>
          </a:xfrm>
          <a:prstGeom xmlns:a="http://schemas.openxmlformats.org/drawingml/2006/main" prst="roundRect">
            <a:avLst>
              <a:gd name="adj" fmla="val 80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ED8E3"/>
            </a:solidFill>
          </a:ln>
        </p:spPr>
      </p:sp>
      <p:sp>
        <p:nvSpPr>
          <p:cNvPr id="20" name="node-top-rule">
            <a:extLst xmlns:a="http://schemas.openxmlformats.org/drawingml/2006/main">
              <a:ext uri="{FF2B5EF4-FFF2-40B4-BE49-F238E27FC236}">
                <a16:creationId xmlns:a16="http://schemas.microsoft.com/office/drawing/2014/main" id="{8621B3E2-3EF3-4796-8A27-C6C5AA886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3952875"/>
            <a:ext cx="43624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39488AC-AC43-4173-8CF7-0B20BE293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814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22" name="step-number">
            <a:extLst xmlns:a="http://schemas.openxmlformats.org/drawingml/2006/main">
              <a:ext uri="{FF2B5EF4-FFF2-40B4-BE49-F238E27FC236}">
                <a16:creationId xmlns:a16="http://schemas.microsoft.com/office/drawing/2014/main" id="{8EA587A0-3D5B-4F14-885E-6E28A34DD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57675"/>
            <a:ext cx="45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1</a:t>
            </a:r>
          </a:p>
        </p:txBody>
      </p:sp>
      <p:sp>
        <p:nvSpPr>
          <p:cNvPr id="23" name="node-heading">
            <a:extLst xmlns:a="http://schemas.openxmlformats.org/drawingml/2006/main">
              <a:ext uri="{FF2B5EF4-FFF2-40B4-BE49-F238E27FC236}">
                <a16:creationId xmlns:a16="http://schemas.microsoft.com/office/drawing/2014/main" id="{9BDD32E1-8543-4297-A839-F067D929A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181475"/>
            <a:ext cx="333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Ahora</a:t>
            </a:r>
          </a:p>
        </p:txBody>
      </p:sp>
      <p:sp>
        <p:nvSpPr>
          <p:cNvPr id="24" name="node-body">
            <a:extLst xmlns:a="http://schemas.openxmlformats.org/drawingml/2006/main">
              <a:ext uri="{FF2B5EF4-FFF2-40B4-BE49-F238E27FC236}">
                <a16:creationId xmlns:a16="http://schemas.microsoft.com/office/drawing/2014/main" id="{41490C20-D335-4FC4-9190-A1E4C0DDF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962525"/>
            <a:ext cx="3905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Devuelve la categoría</a:t>
            </a:r>
          </a:p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permitida.</a:t>
            </a:r>
          </a:p>
        </p:txBody>
      </p:sp>
      <p:sp>
        <p:nvSpPr>
          <p:cNvPr id="25" name="concept-node">
            <a:extLst xmlns:a="http://schemas.openxmlformats.org/drawingml/2006/main">
              <a:ext uri="{FF2B5EF4-FFF2-40B4-BE49-F238E27FC236}">
                <a16:creationId xmlns:a16="http://schemas.microsoft.com/office/drawing/2014/main" id="{19EDB1BD-6F87-42FF-AFE6-1EC9B4D0D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943350"/>
            <a:ext cx="4381500" cy="2133600"/>
          </a:xfrm>
          <a:prstGeom xmlns:a="http://schemas.openxmlformats.org/drawingml/2006/main" prst="roundRect">
            <a:avLst>
              <a:gd name="adj" fmla="val 8036"/>
            </a:avLst>
          </a:prstGeom>
          <a:solidFill xmlns:a="http://schemas.openxmlformats.org/drawingml/2006/main">
            <a:srgbClr val="FFF0EB"/>
          </a:solidFill>
          <a:ln xmlns:a="http://schemas.openxmlformats.org/drawingml/2006/main" w="14288">
            <a:solidFill>
              <a:srgbClr val="FF5733"/>
            </a:solidFill>
          </a:ln>
        </p:spPr>
      </p:sp>
      <p:sp>
        <p:nvSpPr>
          <p:cNvPr id="26" name="node-top-rule">
            <a:extLst xmlns:a="http://schemas.openxmlformats.org/drawingml/2006/main">
              <a:ext uri="{FF2B5EF4-FFF2-40B4-BE49-F238E27FC236}">
                <a16:creationId xmlns:a16="http://schemas.microsoft.com/office/drawing/2014/main" id="{B01268A4-E8ED-4D15-B7A3-B33684B76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775" y="3952875"/>
            <a:ext cx="43624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EB2DAE5-9B2F-4DB8-B463-6C89A6437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41814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733"/>
          </a:solidFill>
          <a:ln xmlns:a="http://schemas.openxmlformats.org/drawingml/2006/main" w="0">
            <a:noFill/>
          </a:ln>
        </p:spPr>
      </p:sp>
      <p:sp>
        <p:nvSpPr>
          <p:cNvPr id="28" name="step-number">
            <a:extLst xmlns:a="http://schemas.openxmlformats.org/drawingml/2006/main">
              <a:ext uri="{FF2B5EF4-FFF2-40B4-BE49-F238E27FC236}">
                <a16:creationId xmlns:a16="http://schemas.microsoft.com/office/drawing/2014/main" id="{0FCCE07A-ACC1-4066-8C07-96A69B6C2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4257675"/>
            <a:ext cx="45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2</a:t>
            </a:r>
          </a:p>
        </p:txBody>
      </p:sp>
      <p:sp>
        <p:nvSpPr>
          <p:cNvPr id="29" name="node-heading">
            <a:extLst xmlns:a="http://schemas.openxmlformats.org/drawingml/2006/main">
              <a:ext uri="{FF2B5EF4-FFF2-40B4-BE49-F238E27FC236}">
                <a16:creationId xmlns:a16="http://schemas.microsoft.com/office/drawing/2014/main" id="{D94AFC93-CD9D-4C18-8CF2-72318D8CD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181475"/>
            <a:ext cx="333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Después</a:t>
            </a:r>
          </a:p>
        </p:txBody>
      </p:sp>
      <p:sp>
        <p:nvSpPr>
          <p:cNvPr id="30" name="node-body">
            <a:extLst xmlns:a="http://schemas.openxmlformats.org/drawingml/2006/main">
              <a:ext uri="{FF2B5EF4-FFF2-40B4-BE49-F238E27FC236}">
                <a16:creationId xmlns:a16="http://schemas.microsoft.com/office/drawing/2014/main" id="{05CAC9CE-467D-4EA1-9A2B-E31318409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4962525"/>
            <a:ext cx="3905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Una tool consultará</a:t>
            </a:r>
          </a:p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get_account_balance.</a:t>
            </a:r>
          </a:p>
        </p:txBody>
      </p:sp>
      <p:sp>
        <p:nvSpPr>
          <p:cNvPr id="31" name="concept-node">
            <a:extLst xmlns:a="http://schemas.openxmlformats.org/drawingml/2006/main">
              <a:ext uri="{FF2B5EF4-FFF2-40B4-BE49-F238E27FC236}">
                <a16:creationId xmlns:a16="http://schemas.microsoft.com/office/drawing/2014/main" id="{235B11EB-AD69-49FC-B26C-90BCEBBC8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943350"/>
            <a:ext cx="4381500" cy="2133600"/>
          </a:xfrm>
          <a:prstGeom xmlns:a="http://schemas.openxmlformats.org/drawingml/2006/main" prst="roundRect">
            <a:avLst>
              <a:gd name="adj" fmla="val 80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ED8E3"/>
            </a:solidFill>
          </a:ln>
        </p:spPr>
      </p:sp>
      <p:sp>
        <p:nvSpPr>
          <p:cNvPr id="32" name="node-top-rule">
            <a:extLst xmlns:a="http://schemas.openxmlformats.org/drawingml/2006/main">
              <a:ext uri="{FF2B5EF4-FFF2-40B4-BE49-F238E27FC236}">
                <a16:creationId xmlns:a16="http://schemas.microsoft.com/office/drawing/2014/main" id="{5C0954D6-3175-4BBB-92C1-A279810EA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3952875"/>
            <a:ext cx="4362450" cy="8572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74341C1-6157-4F0C-BF56-DA94CAE35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41814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34" name="step-number">
            <a:extLst xmlns:a="http://schemas.openxmlformats.org/drawingml/2006/main">
              <a:ext uri="{FF2B5EF4-FFF2-40B4-BE49-F238E27FC236}">
                <a16:creationId xmlns:a16="http://schemas.microsoft.com/office/drawing/2014/main" id="{5B0DD978-61E6-4191-AC9A-9C3ACB7CA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4257675"/>
            <a:ext cx="457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3</a:t>
            </a:r>
          </a:p>
        </p:txBody>
      </p:sp>
      <p:sp>
        <p:nvSpPr>
          <p:cNvPr id="35" name="node-heading">
            <a:extLst xmlns:a="http://schemas.openxmlformats.org/drawingml/2006/main">
              <a:ext uri="{FF2B5EF4-FFF2-40B4-BE49-F238E27FC236}">
                <a16:creationId xmlns:a16="http://schemas.microsoft.com/office/drawing/2014/main" id="{09FD6DB4-EE57-4C99-AE7B-B94C5B934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4181475"/>
            <a:ext cx="333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Límite</a:t>
            </a:r>
          </a:p>
        </p:txBody>
      </p:sp>
      <p:sp>
        <p:nvSpPr>
          <p:cNvPr id="36" name="node-body">
            <a:extLst xmlns:a="http://schemas.openxmlformats.org/drawingml/2006/main">
              <a:ext uri="{FF2B5EF4-FFF2-40B4-BE49-F238E27FC236}">
                <a16:creationId xmlns:a16="http://schemas.microsoft.com/office/drawing/2014/main" id="{25E53583-851E-427C-BFF5-D0450D8D3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4962525"/>
            <a:ext cx="3905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Reconocer saldo no autoriza una</a:t>
            </a:r>
          </a:p>
          <a:p xmlns:a="http://schemas.openxmlformats.org/drawingml/2006/main">
            <a:pPr algn="l">
              <a:def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transferencia.</a:t>
            </a:r>
          </a:p>
        </p:txBody>
      </p:sp>
      <p:cxnSp>
        <p:nvCxnSpPr>
          <p:cNvPr id="80" name=""/>
          <p:cNvCxnSpPr>
            <a:stCxn xmlns:a="http://schemas.openxmlformats.org/drawingml/2006/main" id="19" idx="3"/>
            <a:endCxn xmlns:a="http://schemas.openxmlformats.org/drawingml/2006/main" id="25" idx="1"/>
          </p:cNvCxnSpPr>
          <p:nvPr/>
        </p:nvCxnSpPr>
        <p:spPr>
          <a:xfrm xmlns:a="http://schemas.openxmlformats.org/drawingml/2006/main">
            <a:off x="4953000" y="501015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E293B"/>
            </a:solidFill>
            <a:tailEnd type="triangle" w="med" len="med"/>
          </a:ln>
        </p:spPr>
      </p:cxnSp>
      <p:cxnSp>
        <p:nvCxnSpPr>
          <p:cNvPr id="81" name=""/>
          <p:cNvCxnSpPr>
            <a:stCxn xmlns:a="http://schemas.openxmlformats.org/drawingml/2006/main" id="25" idx="3"/>
            <a:endCxn xmlns:a="http://schemas.openxmlformats.org/drawingml/2006/main" id="31" idx="1"/>
          </p:cNvCxnSpPr>
          <p:nvPr/>
        </p:nvCxnSpPr>
        <p:spPr>
          <a:xfrm xmlns:a="http://schemas.openxmlformats.org/drawingml/2006/main">
            <a:off x="9810750" y="501015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E293B"/>
            </a:solidFill>
            <a:tailEnd type="triangle" w="med" len="med"/>
          </a:ln>
        </p:spPr>
      </p:cxnSp>
      <p:sp>
        <p:nvSpPr>
          <p:cNvPr id="39" name="panel">
            <a:extLst xmlns:a="http://schemas.openxmlformats.org/drawingml/2006/main">
              <a:ext uri="{FF2B5EF4-FFF2-40B4-BE49-F238E27FC236}">
                <a16:creationId xmlns:a16="http://schemas.microsoft.com/office/drawing/2014/main" id="{17930E74-E912-4C0E-BC73-B8296A2A3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91250"/>
            <a:ext cx="14097000" cy="10668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0EB"/>
          </a:solidFill>
          <a:ln xmlns:a="http://schemas.openxmlformats.org/drawingml/2006/main" w="0">
            <a:noFill/>
          </a:ln>
        </p:spPr>
      </p:sp>
      <p:sp>
        <p:nvSpPr>
          <p:cNvPr id="40" name="result-label">
            <a:extLst xmlns:a="http://schemas.openxmlformats.org/drawingml/2006/main">
              <a:ext uri="{FF2B5EF4-FFF2-40B4-BE49-F238E27FC236}">
                <a16:creationId xmlns:a16="http://schemas.microsoft.com/office/drawing/2014/main" id="{BA77B4C6-0E34-4337-AC25-638D15620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296025"/>
            <a:ext cx="135731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5733"/>
                </a:solidFill>
                <a:latin typeface="DejaVu Sans"/>
                <a:ea typeface="DejaVu Sans"/>
                <a:cs typeface="DejaVu Sans"/>
              </a:defRPr>
            </a:pPr>
            <a:r>
              <a:rPr sz="1200" b="1">
                <a:solidFill>
                  <a:srgbClr val="FF5733"/>
                </a:solidFill>
                <a:latin typeface="DejaVu Sans"/>
                <a:ea typeface="DejaVu Sans"/>
                <a:cs typeface="DejaVu Sans"/>
              </a:rPr>
              <a:t>RESULTADO ESPERADO</a:t>
            </a:r>
          </a:p>
        </p:txBody>
      </p:sp>
      <p:sp>
        <p:nvSpPr>
          <p:cNvPr id="41" name="case-outcome">
            <a:extLst xmlns:a="http://schemas.openxmlformats.org/drawingml/2006/main">
              <a:ext uri="{FF2B5EF4-FFF2-40B4-BE49-F238E27FC236}">
                <a16:creationId xmlns:a16="http://schemas.microsoft.com/office/drawing/2014/main" id="{0179B213-D4A7-40FB-8656-A0343B4BA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591300"/>
            <a:ext cx="13573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E293B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1E293B"/>
                </a:solidFill>
                <a:latin typeface="DejaVu Sans"/>
                <a:ea typeface="DejaVu Sans"/>
                <a:cs typeface="DejaVu Sans"/>
              </a:rPr>
              <a:t>El contrato prepara la acción, pero no la ejecuta.</a:t>
            </a:r>
          </a:p>
        </p:txBody>
      </p:sp>
      <p:sp>
        <p:nvSpPr>
          <p:cNvPr id="42" name="panel">
            <a:extLst xmlns:a="http://schemas.openxmlformats.org/drawingml/2006/main">
              <a:ext uri="{FF2B5EF4-FFF2-40B4-BE49-F238E27FC236}">
                <a16:creationId xmlns:a16="http://schemas.microsoft.com/office/drawing/2014/main" id="{68BDEBAD-89E4-4BDC-8965-4BB5C4EAD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467600"/>
            <a:ext cx="14287500" cy="695325"/>
          </a:xfrm>
          <a:prstGeom xmlns:a="http://schemas.openxmlformats.org/drawingml/2006/main" prst="roundRect">
            <a:avLst>
              <a:gd name="adj" fmla="val 19178"/>
            </a:avLst>
          </a:prstGeom>
          <a:solidFill xmlns:a="http://schemas.openxmlformats.org/drawingml/2006/main">
            <a:srgbClr val="1E293B"/>
          </a:solidFill>
          <a:ln xmlns:a="http://schemas.openxmlformats.org/drawingml/2006/main" w="0">
            <a:noFill/>
          </a:ln>
        </p:spPr>
      </p:sp>
      <p:sp>
        <p:nvSpPr>
          <p:cNvPr id="43" name="takeaway">
            <a:extLst xmlns:a="http://schemas.openxmlformats.org/drawingml/2006/main">
              <a:ext uri="{FF2B5EF4-FFF2-40B4-BE49-F238E27FC236}">
                <a16:creationId xmlns:a16="http://schemas.microsoft.com/office/drawing/2014/main" id="{A9670B10-BE2B-4530-A04B-51018B5AE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7639050"/>
            <a:ext cx="1381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Clasificar, consultar y autorizar son decisiones diferentes.</a:t>
            </a:r>
          </a:p>
        </p:txBody>
      </p:sp>
    </p:spTree>
    <p:extLst>
      <p:ext uri="{BB962C8B-B14F-4D97-AF65-F5344CB8AC3E}">
        <p14:creationId xmlns:p14="http://schemas.microsoft.com/office/powerpoint/2010/main" val="184652932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2026-09-23T04:05:20.6680000Z</dcterms:created>
  <dcterms:modified xsi:type="dcterms:W3CDTF">2026-09-23T04:05:20.6680000Z</dcterms:modified>
</coreProperties>
</file>