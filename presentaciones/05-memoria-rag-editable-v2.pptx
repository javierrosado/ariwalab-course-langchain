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7701d18cc4264" /><Relationship Type="http://schemas.openxmlformats.org/officeDocument/2006/relationships/extended-properties" Target="/docProps/app.xml" Id="Rf204e85e1c16401f" /><Relationship Type="http://schemas.openxmlformats.org/officeDocument/2006/relationships/officeDocument" Target="/ppt/presentation.xml" Id="R76dc07e09c3b4c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da6b8b4f0436a"/>
  </p:sldMasterIdLst>
  <p:notesMasterIdLst>
    <p:notesMasterId xmlns:r="http://schemas.openxmlformats.org/officeDocument/2006/relationships" r:id="R4b7c4def2e9a4570"/>
  </p:notesMasterIdLst>
  <p:sldIdLst>
    <p:sldId xmlns:r="http://schemas.openxmlformats.org/officeDocument/2006/relationships" id="256" r:id="R51009b28721f4df3"/>
    <p:sldId xmlns:r="http://schemas.openxmlformats.org/officeDocument/2006/relationships" id="257" r:id="Ra0ba3bc06c724b03"/>
    <p:sldId xmlns:r="http://schemas.openxmlformats.org/officeDocument/2006/relationships" id="258" r:id="Rc1f3e4ac6b764542"/>
    <p:sldId xmlns:r="http://schemas.openxmlformats.org/officeDocument/2006/relationships" id="259" r:id="R3d2b2f08c286442e"/>
    <p:sldId xmlns:r="http://schemas.openxmlformats.org/officeDocument/2006/relationships" id="260" r:id="R56ce0b0bcd584eac"/>
    <p:sldId xmlns:r="http://schemas.openxmlformats.org/officeDocument/2006/relationships" id="261" r:id="Rbc1b2ecb77344c5b"/>
    <p:sldId xmlns:r="http://schemas.openxmlformats.org/officeDocument/2006/relationships" id="262" r:id="R91b480c32f6f48bc"/>
    <p:sldId xmlns:r="http://schemas.openxmlformats.org/officeDocument/2006/relationships" id="263" r:id="R6fcd7c3135da4c26"/>
    <p:sldId xmlns:r="http://schemas.openxmlformats.org/officeDocument/2006/relationships" id="264" r:id="R821624cbbf8846b1"/>
    <p:sldId xmlns:r="http://schemas.openxmlformats.org/officeDocument/2006/relationships" id="265" r:id="R103036391f1e4c1e"/>
    <p:sldId xmlns:r="http://schemas.openxmlformats.org/officeDocument/2006/relationships" id="266" r:id="Rc171da68831f4843"/>
    <p:sldId xmlns:r="http://schemas.openxmlformats.org/officeDocument/2006/relationships" id="267" r:id="Rd006cdce18cd4cec"/>
    <p:sldId xmlns:r="http://schemas.openxmlformats.org/officeDocument/2006/relationships" id="268" r:id="R2bb7958725774481"/>
    <p:sldId xmlns:r="http://schemas.openxmlformats.org/officeDocument/2006/relationships" id="269" r:id="Ra631c486cc0f4172"/>
    <p:sldId xmlns:r="http://schemas.openxmlformats.org/officeDocument/2006/relationships" id="270" r:id="R2d03339306db46e4"/>
    <p:sldId xmlns:r="http://schemas.openxmlformats.org/officeDocument/2006/relationships" id="271" r:id="R4a4ee3c204e34154"/>
    <p:sldId xmlns:r="http://schemas.openxmlformats.org/officeDocument/2006/relationships" id="272" r:id="R86e2de6400b24e72"/>
    <p:sldId xmlns:r="http://schemas.openxmlformats.org/officeDocument/2006/relationships" id="273" r:id="Ra20f18ded39b4e38"/>
    <p:sldId xmlns:r="http://schemas.openxmlformats.org/officeDocument/2006/relationships" id="274" r:id="R621c90e628944d96"/>
    <p:sldId xmlns:r="http://schemas.openxmlformats.org/officeDocument/2006/relationships" id="275" r:id="Red0ded0ecee9405b"/>
    <p:sldId xmlns:r="http://schemas.openxmlformats.org/officeDocument/2006/relationships" id="276" r:id="Rfc11ff74083b4383"/>
    <p:sldId xmlns:r="http://schemas.openxmlformats.org/officeDocument/2006/relationships" id="277" r:id="R1527d885fc0d4128"/>
    <p:sldId xmlns:r="http://schemas.openxmlformats.org/officeDocument/2006/relationships" id="278" r:id="R6d3eaf2fb8844fc7"/>
    <p:sldId xmlns:r="http://schemas.openxmlformats.org/officeDocument/2006/relationships" id="279" r:id="R45fc460ed72e4e10"/>
    <p:sldId xmlns:r="http://schemas.openxmlformats.org/officeDocument/2006/relationships" id="280" r:id="Rcdf04e0422574b52"/>
    <p:sldId xmlns:r="http://schemas.openxmlformats.org/officeDocument/2006/relationships" id="281" r:id="Rd946f01ac6d84361"/>
    <p:sldId xmlns:r="http://schemas.openxmlformats.org/officeDocument/2006/relationships" id="282" r:id="Re9339311482d4c8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9c0d1ecb24041" /><Relationship Type="http://schemas.openxmlformats.org/officeDocument/2006/relationships/slideMaster" Target="/ppt/slideMasters/slideMaster1.xml" Id="R301da6b8b4f0436a" /><Relationship Type="http://schemas.openxmlformats.org/officeDocument/2006/relationships/notesMaster" Target="/ppt/notesMasters/notesMaster1.xml" Id="R4b7c4def2e9a4570" /><Relationship Type="http://schemas.openxmlformats.org/officeDocument/2006/relationships/presProps" Target="/ppt/presProps.xml" Id="R874d936afd384d88" /><Relationship Type="http://schemas.openxmlformats.org/officeDocument/2006/relationships/tableStyles" Target="/ppt/tableStyles.xml" Id="Rf40d41d129ba4e98" /><Relationship Type="http://schemas.openxmlformats.org/officeDocument/2006/relationships/slide" Target="/ppt/slides/slide1.xml" Id="R51009b28721f4df3" /><Relationship Type="http://schemas.openxmlformats.org/officeDocument/2006/relationships/slide" Target="/ppt/slides/slide2.xml" Id="Ra0ba3bc06c724b03" /><Relationship Type="http://schemas.openxmlformats.org/officeDocument/2006/relationships/slide" Target="/ppt/slides/slide3.xml" Id="Rc1f3e4ac6b764542" /><Relationship Type="http://schemas.openxmlformats.org/officeDocument/2006/relationships/slide" Target="/ppt/slides/slide4.xml" Id="R3d2b2f08c286442e" /><Relationship Type="http://schemas.openxmlformats.org/officeDocument/2006/relationships/slide" Target="/ppt/slides/slide5.xml" Id="R56ce0b0bcd584eac" /><Relationship Type="http://schemas.openxmlformats.org/officeDocument/2006/relationships/slide" Target="/ppt/slides/slide6.xml" Id="Rbc1b2ecb77344c5b" /><Relationship Type="http://schemas.openxmlformats.org/officeDocument/2006/relationships/slide" Target="/ppt/slides/slide7.xml" Id="R91b480c32f6f48bc" /><Relationship Type="http://schemas.openxmlformats.org/officeDocument/2006/relationships/slide" Target="/ppt/slides/slide8.xml" Id="R6fcd7c3135da4c26" /><Relationship Type="http://schemas.openxmlformats.org/officeDocument/2006/relationships/slide" Target="/ppt/slides/slide9.xml" Id="R821624cbbf8846b1" /><Relationship Type="http://schemas.openxmlformats.org/officeDocument/2006/relationships/slide" Target="/ppt/slides/slide10.xml" Id="R103036391f1e4c1e" /><Relationship Type="http://schemas.openxmlformats.org/officeDocument/2006/relationships/slide" Target="/ppt/slides/slide11.xml" Id="Rc171da68831f4843" /><Relationship Type="http://schemas.openxmlformats.org/officeDocument/2006/relationships/slide" Target="/ppt/slides/slide12.xml" Id="Rd006cdce18cd4cec" /><Relationship Type="http://schemas.openxmlformats.org/officeDocument/2006/relationships/slide" Target="/ppt/slides/slide13.xml" Id="R2bb7958725774481" /><Relationship Type="http://schemas.openxmlformats.org/officeDocument/2006/relationships/slide" Target="/ppt/slides/slide14.xml" Id="Ra631c486cc0f4172" /><Relationship Type="http://schemas.openxmlformats.org/officeDocument/2006/relationships/slide" Target="/ppt/slides/slide15.xml" Id="R2d03339306db46e4" /><Relationship Type="http://schemas.openxmlformats.org/officeDocument/2006/relationships/slide" Target="/ppt/slides/slide16.xml" Id="R4a4ee3c204e34154" /><Relationship Type="http://schemas.openxmlformats.org/officeDocument/2006/relationships/slide" Target="/ppt/slides/slide17.xml" Id="R86e2de6400b24e72" /><Relationship Type="http://schemas.openxmlformats.org/officeDocument/2006/relationships/slide" Target="/ppt/slides/slide18.xml" Id="Ra20f18ded39b4e38" /><Relationship Type="http://schemas.openxmlformats.org/officeDocument/2006/relationships/slide" Target="/ppt/slides/slide19.xml" Id="R621c90e628944d96" /><Relationship Type="http://schemas.openxmlformats.org/officeDocument/2006/relationships/slide" Target="/ppt/slides/slide20.xml" Id="Red0ded0ecee9405b" /><Relationship Type="http://schemas.openxmlformats.org/officeDocument/2006/relationships/slide" Target="/ppt/slides/slide21.xml" Id="Rfc11ff74083b4383" /><Relationship Type="http://schemas.openxmlformats.org/officeDocument/2006/relationships/slide" Target="/ppt/slides/slide22.xml" Id="R1527d885fc0d4128" /><Relationship Type="http://schemas.openxmlformats.org/officeDocument/2006/relationships/slide" Target="/ppt/slides/slide23.xml" Id="R6d3eaf2fb8844fc7" /><Relationship Type="http://schemas.openxmlformats.org/officeDocument/2006/relationships/slide" Target="/ppt/slides/slide24.xml" Id="R45fc460ed72e4e10" /><Relationship Type="http://schemas.openxmlformats.org/officeDocument/2006/relationships/slide" Target="/ppt/slides/slide25.xml" Id="Rcdf04e0422574b52" /><Relationship Type="http://schemas.openxmlformats.org/officeDocument/2006/relationships/slide" Target="/ppt/slides/slide26.xml" Id="Rd946f01ac6d84361" /><Relationship Type="http://schemas.openxmlformats.org/officeDocument/2006/relationships/slide" Target="/ppt/slides/slide27.xml" Id="Re9339311482d4c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aece25a85541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8390611e9450c" /><Relationship Type="http://schemas.openxmlformats.org/officeDocument/2006/relationships/notesMaster" Target="/ppt/notesMasters/notesMaster1.xml" Id="R9906495cd2c541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bd50d9b96f44b4" /><Relationship Type="http://schemas.openxmlformats.org/officeDocument/2006/relationships/notesMaster" Target="/ppt/notesMasters/notesMaster1.xml" Id="Rdd022bbef32146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724af179148cd" /><Relationship Type="http://schemas.openxmlformats.org/officeDocument/2006/relationships/notesMaster" Target="/ppt/notesMasters/notesMaster1.xml" Id="R9f2a2f7d5a28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5745aba23947e4" /><Relationship Type="http://schemas.openxmlformats.org/officeDocument/2006/relationships/notesMaster" Target="/ppt/notesMasters/notesMaster1.xml" Id="R381eeb07118743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66322112a14c00" /><Relationship Type="http://schemas.openxmlformats.org/officeDocument/2006/relationships/notesMaster" Target="/ppt/notesMasters/notesMaster1.xml" Id="Rcf67a9fa48c6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b2846acff54764" /><Relationship Type="http://schemas.openxmlformats.org/officeDocument/2006/relationships/notesMaster" Target="/ppt/notesMasters/notesMaster1.xml" Id="R4e8ccc945ddd42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f0f2d3a0ef461c" /><Relationship Type="http://schemas.openxmlformats.org/officeDocument/2006/relationships/notesMaster" Target="/ppt/notesMasters/notesMaster1.xml" Id="R1ff59d2ea6304f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8e1819fde44d69" /><Relationship Type="http://schemas.openxmlformats.org/officeDocument/2006/relationships/notesMaster" Target="/ppt/notesMasters/notesMaster1.xml" Id="R68222fd1f7f449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c18e76f2a7461c" /><Relationship Type="http://schemas.openxmlformats.org/officeDocument/2006/relationships/notesMaster" Target="/ppt/notesMasters/notesMaster1.xml" Id="Rc25b530f0de144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e3fe1639174443" /><Relationship Type="http://schemas.openxmlformats.org/officeDocument/2006/relationships/notesMaster" Target="/ppt/notesMasters/notesMaster1.xml" Id="R3faadab168b44b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7303a827514887" /><Relationship Type="http://schemas.openxmlformats.org/officeDocument/2006/relationships/notesMaster" Target="/ppt/notesMasters/notesMaster1.xml" Id="Rf70b136bc5624f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00614ed002432e" /><Relationship Type="http://schemas.openxmlformats.org/officeDocument/2006/relationships/notesMaster" Target="/ppt/notesMasters/notesMaster1.xml" Id="Rf9796b3f197e43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66bf553ee94526" /><Relationship Type="http://schemas.openxmlformats.org/officeDocument/2006/relationships/notesMaster" Target="/ppt/notesMasters/notesMaster1.xml" Id="R016593cf7b6548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2a7e1e747e4d91" /><Relationship Type="http://schemas.openxmlformats.org/officeDocument/2006/relationships/notesMaster" Target="/ppt/notesMasters/notesMaster1.xml" Id="R9d9b96a6834044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e53590f6c54350" /><Relationship Type="http://schemas.openxmlformats.org/officeDocument/2006/relationships/notesMaster" Target="/ppt/notesMasters/notesMaster1.xml" Id="Re65e3483bb374f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4105e032244d9e" /><Relationship Type="http://schemas.openxmlformats.org/officeDocument/2006/relationships/notesMaster" Target="/ppt/notesMasters/notesMaster1.xml" Id="R69f592b3719249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0e02f4cae94748" /><Relationship Type="http://schemas.openxmlformats.org/officeDocument/2006/relationships/notesMaster" Target="/ppt/notesMasters/notesMaster1.xml" Id="Rd8cac1cd75b4492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4d2ad2dacc42f2" /><Relationship Type="http://schemas.openxmlformats.org/officeDocument/2006/relationships/notesMaster" Target="/ppt/notesMasters/notesMaster1.xml" Id="Rc6ccfff846194b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5447a05b284157" /><Relationship Type="http://schemas.openxmlformats.org/officeDocument/2006/relationships/notesMaster" Target="/ppt/notesMasters/notesMaster1.xml" Id="Rb1e9f30cadbb45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9f4d847807443b" /><Relationship Type="http://schemas.openxmlformats.org/officeDocument/2006/relationships/notesMaster" Target="/ppt/notesMasters/notesMaster1.xml" Id="Rbd34d41bf99a4f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f16dc27c75431b" /><Relationship Type="http://schemas.openxmlformats.org/officeDocument/2006/relationships/notesMaster" Target="/ppt/notesMasters/notesMaster1.xml" Id="R4efbd5e4c0ac4a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142e2203f142ca" /><Relationship Type="http://schemas.openxmlformats.org/officeDocument/2006/relationships/notesMaster" Target="/ppt/notesMasters/notesMaster1.xml" Id="R650bc7cd4acc4d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9b70325c0b4214" /><Relationship Type="http://schemas.openxmlformats.org/officeDocument/2006/relationships/notesMaster" Target="/ppt/notesMasters/notesMaster1.xml" Id="R7808095787bf45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9e07fcd8c04a51" /><Relationship Type="http://schemas.openxmlformats.org/officeDocument/2006/relationships/notesMaster" Target="/ppt/notesMasters/notesMaster1.xml" Id="Ra59c584ed8fb4b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6cef77cbea4d5a" /><Relationship Type="http://schemas.openxmlformats.org/officeDocument/2006/relationships/notesMaster" Target="/ppt/notesMasters/notesMaster1.xml" Id="R0f29cd2cb101427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95ccbe25344549" /><Relationship Type="http://schemas.openxmlformats.org/officeDocument/2006/relationships/notesMaster" Target="/ppt/notesMasters/notesMaster1.xml" Id="R3866cf6392c043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e444720422a4dd6" /><Relationship Type="http://schemas.openxmlformats.org/officeDocument/2006/relationships/notesMaster" Target="/ppt/notesMasters/notesMaster1.xml" Id="R4d43e009a7a94b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No recuerda y no sabe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contexto conversacional y conocimiento documental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No recuerda y no sabe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Memoria, RAG y tools resuelven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mecanismo falta si recuerda el producto pero inventa el plazo?».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Memoria: Recupera mensajes de esa conversación.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RAG: Recupera fragmentos de un corpus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 de negocio: Obtienen estados y datos del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Memoria, RAG y tools resuelven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Memoria; RAG; Tools de negocio.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«¿Puedo devolverlo?» llega después de identificar un producto dañado.</a:t>
            </a:r>
          </a:p>
          <a:p xmlns:a="http://schemas.openxmlformats.org/drawingml/2006/main">
            <a:r>
              <a:t>Memoria: Conservar a qué producto se refiere «lo».</a:t>
            </a:r>
          </a:p>
          <a:p xmlns:a="http://schemas.openxmlformats.org/drawingml/2006/main">
            <a:r>
              <a:t>RAG: Recuperar la política aplicable.</a:t>
            </a:r>
          </a:p>
          <a:p xmlns:a="http://schemas.openxmlformats.org/drawingml/2006/main">
            <a:r>
              <a:t>Respuesta: Explicar la regla y citar el documento.</a:t>
            </a:r>
          </a:p>
          <a:p xmlns:a="http://schemas.openxmlformats.org/drawingml/2006/main">
            <a:r>
              <a:t>Resultado: Añadir historial no reemplaza una política ausente del contexto.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mecanismo falta si recuerda el producto pero inventa el plazo?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Memoria, RAG y tools resuelven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Resolver falta de conocimiento con más mensajes de conversación.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Elegir el mecanismo adecuado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contexto conversacional y conocimiento documental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No recuerda y no sabe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Memoria, RAG y tools resuelven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 previa: «¿Y el mes pasado?» necesita historial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Política: Una regla de devolución necesita su documento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Estado actual: Un pedido concreto requiere la tool de pedidos.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Resolver falta de conocimiento con más mensajes de conversación.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Referencia previa; Política; Estado actual.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«¿Puedo devolverlo?» llega después de identificar un producto dañado.</a:t>
            </a:r>
          </a:p>
          <a:p xmlns:a="http://schemas.openxmlformats.org/drawingml/2006/main">
            <a:r>
              <a:t>Memoria: Conservar a qué producto se refiere «lo».</a:t>
            </a:r>
          </a:p>
          <a:p xmlns:a="http://schemas.openxmlformats.org/drawingml/2006/main">
            <a:r>
              <a:t>RAG: Recuperar la política aplicable.</a:t>
            </a:r>
          </a:p>
          <a:p xmlns:a="http://schemas.openxmlformats.org/drawingml/2006/main">
            <a:r>
              <a:t>Respuesta: Explicar la regla y citar el documento.</a:t>
            </a:r>
          </a:p>
          <a:p xmlns:a="http://schemas.openxmlformats.org/drawingml/2006/main">
            <a:r>
              <a:t>Resultado: Añadir historial no reemplaza una política ausente del contexto.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mecanismo falta si recuerda el producto pero inventa el plazo?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Memoria, RAG y tools resuelven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Resolver falta de conocimiento con más mensajes de conversación.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MercaSur · No recuerda y no sabe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contexto conversacional y conocimiento documental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No recuerda y no sabe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Memoria, RAG y tools resuelven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«¿Puedo devolverlo?» llega después de identificar un producto dañado.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Memoria: Conservar a qué producto se refiere «lo».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RAG: Recuperar la política aplicable.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Respuesta: Explicar la regla y citar el documento.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Añadir historial no reemplaza una política ausente del contexto.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Memoria; RAG; Respuesta.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«¿Puedo devolverlo?» llega después de identificar un producto dañado.</a:t>
            </a:r>
          </a:p>
          <a:p xmlns:a="http://schemas.openxmlformats.org/drawingml/2006/main">
            <a:r>
              <a:t>Memoria: Conservar a qué producto se refiere «lo».</a:t>
            </a:r>
          </a:p>
          <a:p xmlns:a="http://schemas.openxmlformats.org/drawingml/2006/main">
            <a:r>
              <a:t>RAG: Recuperar la política aplicable.</a:t>
            </a:r>
          </a:p>
          <a:p xmlns:a="http://schemas.openxmlformats.org/drawingml/2006/main">
            <a:r>
              <a:t>Respuesta: Explicar la regla y citar el documento.</a:t>
            </a:r>
          </a:p>
          <a:p xmlns:a="http://schemas.openxmlformats.org/drawingml/2006/main">
            <a:r>
              <a:t>Resultado: Añadir historial no reemplaza una política ausente del contexto.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mecanismo falta si recuerda el producto pero inventa el plazo?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Memoria, RAG y tools resuelven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Resolver falta de conocimiento con más mensajes de conversación.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Estado por thread_id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§1 y solucion/*/memory.py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Aislar conversaciones y entender los límites de la memoria del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memoria de L5 vive en el proceso y no es persistencia duradera.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ocurre con el historial cuando se reinicia el Space?».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Identificador: thread_id selecciona una conversación.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Historial: Un diccionario del proceso conserva la lista de mensajes.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Nueva llamada: La aplicación reenvía ese historial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memoria de L5 vive en el proceso y no es persistencia duradera.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Identificador; Historial; Nueva llamada.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Dos clientes hacen preguntas consecutivas sobre sus cuentas.</a:t>
            </a:r>
          </a:p>
          <a:p xmlns:a="http://schemas.openxmlformats.org/drawingml/2006/main">
            <a:r>
              <a:t>Separar: Asignar una conversación diferente a cada cliente.</a:t>
            </a:r>
          </a:p>
          <a:p xmlns:a="http://schemas.openxmlformats.org/drawingml/2006/main">
            <a:r>
              <a:t>Reutilizar: Cada cliente continúa con su propio thread_id.</a:t>
            </a:r>
          </a:p>
          <a:p xmlns:a="http://schemas.openxmlformats.org/drawingml/2006/main">
            <a:r>
              <a:t>Verificar: El contexto de uno no aparece en la respuesta del otro.</a:t>
            </a:r>
          </a:p>
          <a:p xmlns:a="http://schemas.openxmlformats.org/drawingml/2006/main">
            <a:r>
              <a:t>Resultado: El identificador organiza estado; no autentica por sí mismo al usuario.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ocurre con el historial cuando se reinicia el Space?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memoria de L5 vive en el proceso y no es persistencia duradera.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un checkpointer duradero que el código no implementa.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No recuerda y no sabe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Qué garantiza esta implementación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§1 y solucion/*/memory.py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Aislar conversaciones y entender los límites de la memoria del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memoria de L5 vive en el proceso y no es persistencia duradera.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Aislamiento lógico: Usar identificadores distintos evita compartir la misma lista.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Continuidad: Reutilizar el identificador conserva el contexto en ese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Límite: Reiniciar el proceso pierde este almacenamiento en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Dibujar un checkpointer duradero que el código no implementa.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Aislamiento lógico; Continuidad; Límite.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Dos clientes hacen preguntas consecutivas sobre sus cuentas.</a:t>
            </a:r>
          </a:p>
          <a:p xmlns:a="http://schemas.openxmlformats.org/drawingml/2006/main">
            <a:r>
              <a:t>Separar: Asignar una conversación diferente a cada cliente.</a:t>
            </a:r>
          </a:p>
          <a:p xmlns:a="http://schemas.openxmlformats.org/drawingml/2006/main">
            <a:r>
              <a:t>Reutilizar: Cada cliente continúa con su propio thread_id.</a:t>
            </a:r>
          </a:p>
          <a:p xmlns:a="http://schemas.openxmlformats.org/drawingml/2006/main">
            <a:r>
              <a:t>Verificar: El contexto de uno no aparece en la respuesta del otro.</a:t>
            </a:r>
          </a:p>
          <a:p xmlns:a="http://schemas.openxmlformats.org/drawingml/2006/main">
            <a:r>
              <a:t>Resultado: El identificador organiza estado; no autentica por sí mismo al usuario.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ocurre con el historial cuando se reinicia el Space?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memoria de L5 vive en el proceso y no es persistencia duradera.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un checkpointer duradero que el código no implementa.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No recuerda y no sabe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Banco Inti · Estado por thread_id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§1 y solucion/*/memory.py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Aislar conversaciones y entender los límites de la memoria del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memoria de L5 vive en el proceso y no es persistencia duradera.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Dos clientes hacen preguntas consecutivas sobre sus cuentas.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Separar: Asignar una conversación diferente a cada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Reutilizar: Cada cliente continúa con su propio thread_id.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El contexto de uno no aparece en la respuesta del otro.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identificador organiza estado; no autentica por sí mismo al usuario.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Separar; Reutilizar;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Dos clientes hacen preguntas consecutivas sobre sus cuentas.</a:t>
            </a:r>
          </a:p>
          <a:p xmlns:a="http://schemas.openxmlformats.org/drawingml/2006/main">
            <a:r>
              <a:t>Separar: Asignar una conversación diferente a cada cliente.</a:t>
            </a:r>
          </a:p>
          <a:p xmlns:a="http://schemas.openxmlformats.org/drawingml/2006/main">
            <a:r>
              <a:t>Reutilizar: Cada cliente continúa con su propio thread_id.</a:t>
            </a:r>
          </a:p>
          <a:p xmlns:a="http://schemas.openxmlformats.org/drawingml/2006/main">
            <a:r>
              <a:t>Verificar: El contexto de uno no aparece en la respuesta del otro.</a:t>
            </a:r>
          </a:p>
          <a:p xmlns:a="http://schemas.openxmlformats.org/drawingml/2006/main">
            <a:r>
              <a:t>Resultado: El identificador organiza estado; no autentica por sí mismo al usuario.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ocurre con el historial cuando se reinicia el Space?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memoria de L5 vive en el proceso y no es persistencia duradera.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un checkpointer duradero que el código no implementa.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No recuerda y no sabe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Embeddings del dominio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§2 y comun/provider.py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Representar consulta y documentos en un espacio compatible para recuperar candidatos.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representación ayuda con sinónimos sin convertir similitud en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falla si cambias el modelo de consulta sin reindexar?».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Corpus: Documentos del track divididos en fragmentos.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Representación: El mismo modelo de embeddings representa corpus y consultas.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Comparación: La similitud ordena candidatos pertinentes.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representación ayuda con sinónimos sin convertir similitud en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Corpus; Representación; Comparación.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«¿Cuántos gigas incluye el plan?» usa vocabulario distinto al tarifario.</a:t>
            </a:r>
          </a:p>
          <a:p xmlns:a="http://schemas.openxmlformats.org/drawingml/2006/main">
            <a:r>
              <a:t>Representar: Convertir pregunta y fragmentos en vectores.</a:t>
            </a:r>
          </a:p>
          <a:p xmlns:a="http://schemas.openxmlformats.org/drawingml/2006/main">
            <a:r>
              <a:t>Recuperar: Encontrar la entrada semánticamente relacionada.</a:t>
            </a:r>
          </a:p>
          <a:p xmlns:a="http://schemas.openxmlformats.org/drawingml/2006/main">
            <a:r>
              <a:t>Contrastar: Comprobar plan, vigencia y cifra antes de responder.</a:t>
            </a:r>
          </a:p>
          <a:p xmlns:a="http://schemas.openxmlformats.org/drawingml/2006/main">
            <a:r>
              <a:t>Resultado: La similitud encuentra candidatos; el texto recuperado sostiene la afirmación.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cambias el modelo de consulta sin reindexar?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representación ayuda con sinónimos sin convertir similitud en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Comparar vectores de espacios incompatibles.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Tres comprobaciones de compatibilidad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§2 y comun/provider.py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Representar consulta y documentos en un espacio compatible para recuperar candidatos.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representación ayuda con sinónimos sin convertir similitud en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Mantener la misma configuración en ingesta y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Dimensión: La colección debe aceptar la dimensión del vector.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Dominio: Revisar que los candidatos pertenezcan al corpus esperado.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Comparar vectores de espacios incompatibles.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Modelo; Dimensión; Dominio.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«¿Cuántos gigas incluye el plan?» usa vocabulario distinto al tarifario.</a:t>
            </a:r>
          </a:p>
          <a:p xmlns:a="http://schemas.openxmlformats.org/drawingml/2006/main">
            <a:r>
              <a:t>Representar: Convertir pregunta y fragmentos en vectores.</a:t>
            </a:r>
          </a:p>
          <a:p xmlns:a="http://schemas.openxmlformats.org/drawingml/2006/main">
            <a:r>
              <a:t>Recuperar: Encontrar la entrada semánticamente relacionada.</a:t>
            </a:r>
          </a:p>
          <a:p xmlns:a="http://schemas.openxmlformats.org/drawingml/2006/main">
            <a:r>
              <a:t>Contrastar: Comprobar plan, vigencia y cifra antes de responder.</a:t>
            </a:r>
          </a:p>
          <a:p xmlns:a="http://schemas.openxmlformats.org/drawingml/2006/main">
            <a:r>
              <a:t>Resultado: La similitud encuentra candidatos; el texto recuperado sostiene la afirmación.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cambias el modelo de consulta sin reindexar?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representación ayuda con sinónimos sin convertir similitud en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Comparar vectores de espacios incompatibles.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AndesMóvil · Embeddings del dominio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§2 y comun/provider.py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Representar consulta y documentos en un espacio compatible para recuperar candidatos.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representación ayuda con sinónimos sin convertir similitud en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«¿Cuántos gigas incluye el plan?» usa vocabulario distinto al tarifario.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Representar: Convertir pregunta y fragmentos en vectores.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Recuperar: Encontrar la entrada semánticamente relacionada.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Contrastar: Comprobar plan, vigencia y cifra antes de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similitud encuentra candidatos; el texto recuperado sostiene la afirmación.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Representar; Recuperar; Contrastar.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«¿Cuántos gigas incluye el plan?» usa vocabulario distinto al tarifario.</a:t>
            </a:r>
          </a:p>
          <a:p xmlns:a="http://schemas.openxmlformats.org/drawingml/2006/main">
            <a:r>
              <a:t>Representar: Convertir pregunta y fragmentos en vectores.</a:t>
            </a:r>
          </a:p>
          <a:p xmlns:a="http://schemas.openxmlformats.org/drawingml/2006/main">
            <a:r>
              <a:t>Recuperar: Encontrar la entrada semánticamente relacionada.</a:t>
            </a:r>
          </a:p>
          <a:p xmlns:a="http://schemas.openxmlformats.org/drawingml/2006/main">
            <a:r>
              <a:t>Contrastar: Comprobar plan, vigencia y cifra antes de responder.</a:t>
            </a:r>
          </a:p>
          <a:p xmlns:a="http://schemas.openxmlformats.org/drawingml/2006/main">
            <a:r>
              <a:t>Resultado: La similitud encuentra candidatos; el texto recuperado sostiene la afirmación.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cambias el modelo de consulta sin reindexar?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representación ayuda con sinónimos sin convertir similitud en verdad.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Comparar vectores de espacios incompatibles.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Estado por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Chunking y contexto de la cláusula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Defender el tamaño de fragmento por equilibrio entre información y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tamaño se justifica por el documento y se valida con preguntas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error de respuesta causaría recuperar solo la primera mitad?».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Fragmento pequeño: Puede aislar con precisión, pero separar una condición de su excepción.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Fragmento grande: Puede conservar más contexto y añadir información irrelevante.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Overlap: Repite contenido cercano para reducir cortes problemáticos.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tamaño se justifica por el documento y se valida con preguntas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Fragmento pequeño; Fragmento grande; Overlap.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cláusula describe cobertura y a continuación una exclusión.</a:t>
            </a:r>
          </a:p>
          <a:p xmlns:a="http://schemas.openxmlformats.org/drawingml/2006/main">
            <a:r>
              <a:t>Cortar: Un fragmento demasiado pequeño separa la excepción.</a:t>
            </a:r>
          </a:p>
          <a:p xmlns:a="http://schemas.openxmlformats.org/drawingml/2006/main">
            <a:r>
              <a:t>Recuperar: El modelo solo recibe la mitad favorable.</a:t>
            </a:r>
          </a:p>
          <a:p xmlns:a="http://schemas.openxmlformats.org/drawingml/2006/main">
            <a:r>
              <a:t>Revisar: Verificar cortes y preservar el sentido completo de la condición.</a:t>
            </a:r>
          </a:p>
          <a:p xmlns:a="http://schemas.openxmlformats.org/drawingml/2006/main">
            <a:r>
              <a:t>Resultado: Un chunk grande tampoco garantiza que jamás parta una idea.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error de respuesta causaría recuperar solo la primera mitad?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tamaño se justifica por el documento y se valida con preguntas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tokens a unidades del splitter sin comprobar su configuración.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Parámetros fijados por el curso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Defender el tamaño de fragmento por equilibrio entre información y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tamaño se justifica por el documento y se valida con preguntas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Telco y banca: chunk_size 400; overlap 60.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Retail: chunk_size 350; overlap 50.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Seguros: chunk_size 600; overlap 100 para conservar contexto de cláusulas.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Llamar tokens a unidades del splitter sin comprobar su configuración.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Telco y banca; Retail; Seguros.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cláusula describe cobertura y a continuación una exclusión.</a:t>
            </a:r>
          </a:p>
          <a:p xmlns:a="http://schemas.openxmlformats.org/drawingml/2006/main">
            <a:r>
              <a:t>Cortar: Un fragmento demasiado pequeño separa la excepción.</a:t>
            </a:r>
          </a:p>
          <a:p xmlns:a="http://schemas.openxmlformats.org/drawingml/2006/main">
            <a:r>
              <a:t>Recuperar: El modelo solo recibe la mitad favorable.</a:t>
            </a:r>
          </a:p>
          <a:p xmlns:a="http://schemas.openxmlformats.org/drawingml/2006/main">
            <a:r>
              <a:t>Revisar: Verificar cortes y preservar el sentido completo de la condición.</a:t>
            </a:r>
          </a:p>
          <a:p xmlns:a="http://schemas.openxmlformats.org/drawingml/2006/main">
            <a:r>
              <a:t>Resultado: Un chunk grande tampoco garantiza que jamás parta una idea.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error de respuesta causaría recuperar solo la primera mitad?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tamaño se justifica por el documento y se valida con preguntas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tokens a unidades del splitter sin comprobar su configuración.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Andina Seguros · Chunking y contexto de la cláusula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Defender el tamaño de fragmento por equilibrio entre información y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tamaño se justifica por el documento y se valida con preguntas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cláusula describe cobertura y a continuación una exclusión.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Cortar: Un fragmento demasiado pequeño separa la excepción.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Recuperar: El modelo solo recibe la mitad favorable.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Verificar cortes y preservar el sentido completo de la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 chunk grande tampoco garantiza que jamás parta una idea.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Cortar; Recuperar; Revisar.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cláusula describe cobertura y a continuación una exclusión.</a:t>
            </a:r>
          </a:p>
          <a:p xmlns:a="http://schemas.openxmlformats.org/drawingml/2006/main">
            <a:r>
              <a:t>Cortar: Un fragmento demasiado pequeño separa la excepción.</a:t>
            </a:r>
          </a:p>
          <a:p xmlns:a="http://schemas.openxmlformats.org/drawingml/2006/main">
            <a:r>
              <a:t>Recuperar: El modelo solo recibe la mitad favorable.</a:t>
            </a:r>
          </a:p>
          <a:p xmlns:a="http://schemas.openxmlformats.org/drawingml/2006/main">
            <a:r>
              <a:t>Revisar: Verificar cortes y preservar el sentido completo de la condición.</a:t>
            </a:r>
          </a:p>
          <a:p xmlns:a="http://schemas.openxmlformats.org/drawingml/2006/main">
            <a:r>
              <a:t>Resultado: Un chunk grande tampoco garantiza que jamás parta una idea.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error de respuesta causaría recuperar solo la primera mitad?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tamaño se justifica por el documento y se valida con preguntas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tokens a unidades del splitter sin comprobar su configuración.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Embeddings del dominio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Colección, punto y payload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Vincular búsqueda vectorial y trazabilidad del texto recuperado.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payload conecta el vector con una fuente que el docente puede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información perderías guardando solo vectores?».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Colección: Agrupa vectores con una configuración 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Punto: Contiene un vector y su payload.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Payload: Conserva texto, fuente y metadatos útiles para filtrar y citar.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payload conecta el vector con una fuente que el docente puede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Colección; Punto; Payload.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Dos versiones de una política contienen plazos distintos.</a:t>
            </a:r>
          </a:p>
          <a:p xmlns:a="http://schemas.openxmlformats.org/drawingml/2006/main">
            <a:r>
              <a:t>Indexar: Guardar texto y procedencia como metadatos.</a:t>
            </a:r>
          </a:p>
          <a:p xmlns:a="http://schemas.openxmlformats.org/drawingml/2006/main">
            <a:r>
              <a:t>Seleccionar: Recuperar la versión aplicable al caso.</a:t>
            </a:r>
          </a:p>
          <a:p xmlns:a="http://schemas.openxmlformats.org/drawingml/2006/main">
            <a:r>
              <a:t>Citar: Identificar el documento que respalda el plazo.</a:t>
            </a:r>
          </a:p>
          <a:p xmlns:a="http://schemas.openxmlformats.org/drawingml/2006/main">
            <a:r>
              <a:t>Resultado: Sin procedencia, un fragmento correcto puede quedar sin una cita verificable.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información perderías guardando solo vectores?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payload conecta el vector con una fuente que el docente puede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vector con el texto que el modelo debe leer.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Recuperar con procedencia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Vincular búsqueda vectorial y trazabilidad del texto recuperado.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payload conecta el vector con una fuente que el docente puede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Texto: El resultado debe incluir el fragmento utilizable.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Conservar el documento de origen junto al fragmento.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Filtro: Restringir por metadatos cuando la consulta exige un ámbito.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el vector con el texto que el modelo debe leer.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Texto; Fuente; Filtro.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Dos versiones de una política contienen plazos distintos.</a:t>
            </a:r>
          </a:p>
          <a:p xmlns:a="http://schemas.openxmlformats.org/drawingml/2006/main">
            <a:r>
              <a:t>Indexar: Guardar texto y procedencia como metadatos.</a:t>
            </a:r>
          </a:p>
          <a:p xmlns:a="http://schemas.openxmlformats.org/drawingml/2006/main">
            <a:r>
              <a:t>Seleccionar: Recuperar la versión aplicable al caso.</a:t>
            </a:r>
          </a:p>
          <a:p xmlns:a="http://schemas.openxmlformats.org/drawingml/2006/main">
            <a:r>
              <a:t>Citar: Identificar el documento que respalda el plazo.</a:t>
            </a:r>
          </a:p>
          <a:p xmlns:a="http://schemas.openxmlformats.org/drawingml/2006/main">
            <a:r>
              <a:t>Resultado: Sin procedencia, un fragmento correcto puede quedar sin una cita verificable.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información perderías guardando solo vectores?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payload conecta el vector con una fuente que el docente puede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vector con el texto que el modelo debe leer.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MercaSur · Colección, punto y payload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Vincular búsqueda vectorial y trazabilidad del texto recuperado.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payload conecta el vector con una fuente que el docente puede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Dos versiones de una política contienen plazos distintos.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Indexar: Guardar texto y procedencia como metadatos.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Seleccionar: Recuperar la versión aplicable al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Citar: Identificar el documento que respalda el plazo.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Sin procedencia, un fragmento correcto puede quedar sin una cita verificable.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Indexar; Seleccionar; Citar.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Dos versiones de una política contienen plazos distintos.</a:t>
            </a:r>
          </a:p>
          <a:p xmlns:a="http://schemas.openxmlformats.org/drawingml/2006/main">
            <a:r>
              <a:t>Indexar: Guardar texto y procedencia como metadatos.</a:t>
            </a:r>
          </a:p>
          <a:p xmlns:a="http://schemas.openxmlformats.org/drawingml/2006/main">
            <a:r>
              <a:t>Seleccionar: Recuperar la versión aplicable al caso.</a:t>
            </a:r>
          </a:p>
          <a:p xmlns:a="http://schemas.openxmlformats.org/drawingml/2006/main">
            <a:r>
              <a:t>Citar: Identificar el documento que respalda el plazo.</a:t>
            </a:r>
          </a:p>
          <a:p xmlns:a="http://schemas.openxmlformats.org/drawingml/2006/main">
            <a:r>
              <a:t>Resultado: Sin procedencia, un fragmento correcto puede quedar sin una cita verificable.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información perderías guardando solo vectores?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payload conecta el vector con una fuente que el docente puede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vector con el texto que el modelo debe leer.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Chunking y contexto de la cláusula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RAG tradicional y RAG agéntico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una recuperación fijada en el flujo con una elegida como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No toda consulta necesita RAG, pero una política sí necesita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riesgo nuevo aparece al permitir que el agente elija buscar?».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Tradicional: El flujo incluye la búsqueda antes de generar.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Agéntico: El retriever es una tool que el agente puede seleccionar.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Compensación: Evitar búsquedas innecesarias añade riesgo de omitir una necesaria.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No toda consulta necesita RAG, pero una política sí necesita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Tradicional; Agéntico; Compensación.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Compara «Hola» con «¿Cuál es la comisión de mantenimiento?».</a:t>
            </a:r>
          </a:p>
          <a:p xmlns:a="http://schemas.openxmlformats.org/drawingml/2006/main">
            <a:r>
              <a:t>Saludo: Responder sin cargar fragmentos irrelevantes.</a:t>
            </a:r>
          </a:p>
          <a:p xmlns:a="http://schemas.openxmlformats.org/drawingml/2006/main">
            <a:r>
              <a:t>Comisión: Seleccionar retrieve_knowledge_base.</a:t>
            </a:r>
          </a:p>
          <a:p xmlns:a="http://schemas.openxmlformats.org/drawingml/2006/main">
            <a:r>
              <a:t>Resultado: Explicar lo que respalda el texto recuperado.</a:t>
            </a:r>
          </a:p>
          <a:p xmlns:a="http://schemas.openxmlformats.org/drawingml/2006/main">
            <a:r>
              <a:t>Resultado: El patrón agéntico aporta selección; esa selección también debe comprobarse.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riesgo nuevo aparece al permitir que el agente elija buscar?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No toda consulta necesita RAG, pero una política sí necesita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la latencia del RAG tradicional es siempre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Decidir cuándo recuperar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una recuperación fijada en el flujo con una elegida como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No toda consulta necesita RAG, pero una política sí necesita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Saludo: No requiere consultar el corpus del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 operativo: Usar la tool de negocio que ya resuelve la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Política o tarifa: Recuperar la fuente correspondiente y citarla.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Afirmar que la latencia del RAG tradicional es siempre constante.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Saludo; Dato operativo; Política o tarifa.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Compara «Hola» con «¿Cuál es la comisión de mantenimiento?».</a:t>
            </a:r>
          </a:p>
          <a:p xmlns:a="http://schemas.openxmlformats.org/drawingml/2006/main">
            <a:r>
              <a:t>Saludo: Responder sin cargar fragmentos irrelevantes.</a:t>
            </a:r>
          </a:p>
          <a:p xmlns:a="http://schemas.openxmlformats.org/drawingml/2006/main">
            <a:r>
              <a:t>Comisión: Seleccionar retrieve_knowledge_base.</a:t>
            </a:r>
          </a:p>
          <a:p xmlns:a="http://schemas.openxmlformats.org/drawingml/2006/main">
            <a:r>
              <a:t>Resultado: Explicar lo que respalda el texto recuperado.</a:t>
            </a:r>
          </a:p>
          <a:p xmlns:a="http://schemas.openxmlformats.org/drawingml/2006/main">
            <a:r>
              <a:t>Resultado: El patrón agéntico aporta selección; esa selección también debe comprobarse.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riesgo nuevo aparece al permitir que el agente elija buscar?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No toda consulta necesita RAG, pero una política sí necesita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la latencia del RAG tradicional es siempre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Banco Inti · RAG tradicional y RAG agéntico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una recuperación fijada en el flujo con una elegida como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No toda consulta necesita RAG, pero una política sí necesita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Compara «Hola» con «¿Cuál es la comisión de mantenimiento?».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Saludo: Responder sin cargar fragmentos irrelevantes.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Comisión: Seleccionar retrieve_knowledge_base.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Resultado: Explicar lo que respalda el texto recuperado.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patrón agéntico aporta selección; esa selección también debe comprobarse.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Saludo; Comisión; Resultado.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Compara «Hola» con «¿Cuál es la comisión de mantenimiento?».</a:t>
            </a:r>
          </a:p>
          <a:p xmlns:a="http://schemas.openxmlformats.org/drawingml/2006/main">
            <a:r>
              <a:t>Saludo: Responder sin cargar fragmentos irrelevantes.</a:t>
            </a:r>
          </a:p>
          <a:p xmlns:a="http://schemas.openxmlformats.org/drawingml/2006/main">
            <a:r>
              <a:t>Comisión: Seleccionar retrieve_knowledge_base.</a:t>
            </a:r>
          </a:p>
          <a:p xmlns:a="http://schemas.openxmlformats.org/drawingml/2006/main">
            <a:r>
              <a:t>Resultado: Explicar lo que respalda el texto recuperado.</a:t>
            </a:r>
          </a:p>
          <a:p xmlns:a="http://schemas.openxmlformats.org/drawingml/2006/main">
            <a:r>
              <a:t>Resultado: El patrón agéntico aporta selección; esa selección también debe comprobarse.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riesgo nuevo aparece al permitir que el agente elija buscar?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No toda consulta necesita RAG, pero una política sí necesita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la latencia del RAG tradicional es siempre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Colección, punto y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Recuperar y citar: salvaguarda A6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§6 y comun/prompts_industria.py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Exigir fuente ante afirmaciones sobre tarifas, coberturas, plazos o políticas.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A6 define una obligación; hay que observar si el agente la cumple.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«¿Basta con que aparezca el nombre de un documento en la respuesta?».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Afirmación sensible: El usuario pide una regla concreta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Recuperación: El agente debe buscar el documento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Fundamentación: La respuesta cita la fuente y reconoce cuando no la encuentra.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A6 define una obligación; hay que observar si el agente la cumple.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Afirmación sensible; Recuperación; Fundamentación.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cliente pregunta si una situación específica está cubierta.</a:t>
            </a:r>
          </a:p>
          <a:p xmlns:a="http://schemas.openxmlformats.org/drawingml/2006/main">
            <a:r>
              <a:t>Buscar: Recuperar el condicionado aplicable.</a:t>
            </a:r>
          </a:p>
          <a:p xmlns:a="http://schemas.openxmlformats.org/drawingml/2006/main">
            <a:r>
              <a:t>Comprobar: La cláusula recibida debe sostener la respuesta.</a:t>
            </a:r>
          </a:p>
          <a:p xmlns:a="http://schemas.openxmlformats.org/drawingml/2006/main">
            <a:r>
              <a:t>Limitar: Si no hay respaldo, decir que no se puede confirmar.</a:t>
            </a:r>
          </a:p>
          <a:p xmlns:a="http://schemas.openxmlformats.org/drawingml/2006/main">
            <a:r>
              <a:t>Resultado: Incluir una cita decorativa no convierte una afirmación en fundamentada.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¿Basta con que aparezca el nombre de un documento en la respuesta?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A6 define una obligación; hay que observar si el agente la cumple.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instrucción del prompt como garantía técnica absoluta.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Tres preguntas antes de afirmar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§6 y comun/prompts_industria.py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Exigir fuente ante afirmaciones sobre tarifas, coberturas, plazos o políticas.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A6 define una obligación; hay que observar si el agente la cumple.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Existencia: ¿Se recuperó realmente algún fragmento?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Pertinencia: ¿Ese texto corresponde a la pregunta y al ámbito?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Respaldo: ¿Contiene la información que se va a afirmar?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una instrucción del prompt como garantía técnica absoluta.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Existencia; Pertinencia; Respaldo.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cliente pregunta si una situación específica está cubierta.</a:t>
            </a:r>
          </a:p>
          <a:p xmlns:a="http://schemas.openxmlformats.org/drawingml/2006/main">
            <a:r>
              <a:t>Buscar: Recuperar el condicionado aplicable.</a:t>
            </a:r>
          </a:p>
          <a:p xmlns:a="http://schemas.openxmlformats.org/drawingml/2006/main">
            <a:r>
              <a:t>Comprobar: La cláusula recibida debe sostener la respuesta.</a:t>
            </a:r>
          </a:p>
          <a:p xmlns:a="http://schemas.openxmlformats.org/drawingml/2006/main">
            <a:r>
              <a:t>Limitar: Si no hay respaldo, decir que no se puede confirmar.</a:t>
            </a:r>
          </a:p>
          <a:p xmlns:a="http://schemas.openxmlformats.org/drawingml/2006/main">
            <a:r>
              <a:t>Resultado: Incluir una cita decorativa no convierte una afirmación en fundamentada.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¿Basta con que aparezca el nombre de un documento en la respuesta?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A6 define una obligación; hay que observar si el agente la cumple.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instrucción del prompt como garantía técnica absoluta.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Andina Seguros · Recuperar y citar: salvaguarda A6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§6 y comun/prompts_industria.py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Exigir fuente ante afirmaciones sobre tarifas, coberturas, plazos o políticas.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A6 define una obligación; hay que observar si el agente la cumple.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cliente pregunta si una situación específica está cubierta.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Buscar: Recuperar el condicionado aplicable.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La cláusula recibida debe sostener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Limitar: Si no hay respaldo, decir que no se puede confirmar.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Incluir una cita decorativa no convierte una afirmación en fundamentada.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Buscar; Comprobar; Limitar.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cliente pregunta si una situación específica está cubierta.</a:t>
            </a:r>
          </a:p>
          <a:p xmlns:a="http://schemas.openxmlformats.org/drawingml/2006/main">
            <a:r>
              <a:t>Buscar: Recuperar el condicionado aplicable.</a:t>
            </a:r>
          </a:p>
          <a:p xmlns:a="http://schemas.openxmlformats.org/drawingml/2006/main">
            <a:r>
              <a:t>Comprobar: La cláusula recibida debe sostener la respuesta.</a:t>
            </a:r>
          </a:p>
          <a:p xmlns:a="http://schemas.openxmlformats.org/drawingml/2006/main">
            <a:r>
              <a:t>Limitar: Si no hay respaldo, decir que no se puede confirmar.</a:t>
            </a:r>
          </a:p>
          <a:p xmlns:a="http://schemas.openxmlformats.org/drawingml/2006/main">
            <a:r>
              <a:t>Resultado: Incluir una cita decorativa no convierte una afirmación en fundamentada.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¿Basta con que aparezca el nombre de un documento en la respuesta?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A6 define una obligación; hay que observar si el agente la cumple.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instrucción del prompt como garantía técnica absoluta.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RAG tradicional y RAG agéntico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22 · CAPÍTULO 8 · CONCEPTO</a:t>
            </a:r>
          </a:p>
          <a:p xmlns:a="http://schemas.openxmlformats.org/drawingml/2006/main">
            <a:r>
              <a:t>Título: Conocimiento recuperable y actualización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Demo paramétrico vs recuperable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Mostrar por qué el curso conserva reglas cambiantes fuera de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conocimiento externo puede renovarse sin modificar los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paso falta entre editar un archivo y esperar resultados nuevos?».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Documento: Contiene el dato y su versión vigente.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Índice: Representa los fragmentos disponibles para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Usa el contexto recuperado sin reentrenar sus parámetros.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conocimiento externo puede renovarse sin modificar los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Documento; Índice; Modelo.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 tarifario didáctico cambia una condición del plan.</a:t>
            </a:r>
          </a:p>
          <a:p xmlns:a="http://schemas.openxmlformats.org/drawingml/2006/main">
            <a:r>
              <a:t>Antes: La consulta recupera la versión previa.</a:t>
            </a:r>
          </a:p>
          <a:p xmlns:a="http://schemas.openxmlformats.org/drawingml/2006/main">
            <a:r>
              <a:t>Actualizar: Incorporar la nueva fuente al índice según la demo.</a:t>
            </a:r>
          </a:p>
          <a:p xmlns:a="http://schemas.openxmlformats.org/drawingml/2006/main">
            <a:r>
              <a:t>Después: Verificar que la respuesta usa el nuevo dato con su fuente.</a:t>
            </a:r>
          </a:p>
          <a:p xmlns:a="http://schemas.openxmlformats.org/drawingml/2006/main">
            <a:r>
              <a:t>Resultado: Actualizar el documento sin actualizar el índice puede dejar resultados antiguos.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paso falta entre editar un archivo y esperar resultados nuevos?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conocimiento externo puede renovarse sin modificar los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Qdrant vigila y reindexa archivos automáticamente.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Laboratorio L5: integrar memoria y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23 · CAPÍTULO 8 · DESARROLLO</a:t>
            </a:r>
          </a:p>
          <a:p xmlns:a="http://schemas.openxmlformats.org/drawingml/2006/main">
            <a:r>
              <a:t>Título: Actualizar de forma verificable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Demo paramétrico vs recuperable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Mostrar por qué el curso conserva reglas cambiantes fuera de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conocimiento externo puede renovarse sin modificar los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Cambiar: Modificar la fuente de conocimiento que corresponde.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Indexar: Actualizar los puntos afectados mediante el proceso de ingesta.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Probar: Repetir la consulta y comprobar dato y procedencia.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Suponer que Qdrant vigila y reindexa archivos automáticamente.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Cambiar; Indexar; 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 tarifario didáctico cambia una condición del plan.</a:t>
            </a:r>
          </a:p>
          <a:p xmlns:a="http://schemas.openxmlformats.org/drawingml/2006/main">
            <a:r>
              <a:t>Antes: La consulta recupera la versión previa.</a:t>
            </a:r>
          </a:p>
          <a:p xmlns:a="http://schemas.openxmlformats.org/drawingml/2006/main">
            <a:r>
              <a:t>Actualizar: Incorporar la nueva fuente al índice según la demo.</a:t>
            </a:r>
          </a:p>
          <a:p xmlns:a="http://schemas.openxmlformats.org/drawingml/2006/main">
            <a:r>
              <a:t>Después: Verificar que la respuesta usa el nuevo dato con su fuente.</a:t>
            </a:r>
          </a:p>
          <a:p xmlns:a="http://schemas.openxmlformats.org/drawingml/2006/main">
            <a:r>
              <a:t>Resultado: Actualizar el documento sin actualizar el índice puede dejar resultados antiguos.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paso falta entre editar un archivo y esperar resultados nuevos?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conocimiento externo puede renovarse sin modificar los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Qdrant vigila y reindexa archivos automáticamente.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Laboratorio L5: integrar memoria y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24 · CAPÍTULO 8 · EJEMPLO</a:t>
            </a:r>
          </a:p>
          <a:p xmlns:a="http://schemas.openxmlformats.org/drawingml/2006/main">
            <a:r>
              <a:t>Título: AndesMóvil · Conocimiento recuperable y actualización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Demo paramétrico vs recuperable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Mostrar por qué el curso conserva reglas cambiantes fuera de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conocimiento externo puede renovarse sin modificar los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tarifario didáctico cambia una condición del plan.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Antes: La consulta recupera la versión previa.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Actualizar: Incorporar la nueva fuente al índice según la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Después: Verificar que la respuesta usa el nuevo dato con su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Actualizar el documento sin actualizar el índice puede dejar resultados antiguos.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Antes; Actualizar; Después.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 tarifario didáctico cambia una condición del plan.</a:t>
            </a:r>
          </a:p>
          <a:p xmlns:a="http://schemas.openxmlformats.org/drawingml/2006/main">
            <a:r>
              <a:t>Antes: La consulta recupera la versión previa.</a:t>
            </a:r>
          </a:p>
          <a:p xmlns:a="http://schemas.openxmlformats.org/drawingml/2006/main">
            <a:r>
              <a:t>Actualizar: Incorporar la nueva fuente al índice según la demo.</a:t>
            </a:r>
          </a:p>
          <a:p xmlns:a="http://schemas.openxmlformats.org/drawingml/2006/main">
            <a:r>
              <a:t>Después: Verificar que la respuesta usa el nuevo dato con su fuente.</a:t>
            </a:r>
          </a:p>
          <a:p xmlns:a="http://schemas.openxmlformats.org/drawingml/2006/main">
            <a:r>
              <a:t>Resultado: Actualizar el documento sin actualizar el índice puede dejar resultados antiguos.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paso falta entre editar un archivo y esperar resultados nuevos?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conocimiento externo puede renovarse sin modificar los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Qdrant vigila y reindexa archivos automáticamente.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Recuperar y citar: salvaguarda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 · Sigue: Laboratorio L5: integrar memoria y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25 · CAPÍTULO 9 · CONCEPTO</a:t>
            </a:r>
          </a:p>
          <a:p xmlns:a="http://schemas.openxmlformats.org/drawingml/2006/main">
            <a:r>
              <a:t>Título: Laboratorio L5: integrar memoria y RAG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lab/README.md y requisitos de entrada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Construir y verificar la nueva capacidad sobre el catálogo de L4.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L5: integrar memoria y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Separar preparación operativa y aprendizaje evita bloquear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parte debes recuperar después si solo usaste el índice de respaldo?».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Ingesta: Dividir corpus, generar vectores y cargar puntos.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Retriever: Exponer recuperación como tool con una docstring clara.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Conversación: Integrar historial y probar preguntas con 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Separar preparación operativa y aprendizaje evita bloquear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Ingesta; Retriever; Conversación.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cluster propio falla antes de empezar la ingesta.</a:t>
            </a:r>
          </a:p>
          <a:p xmlns:a="http://schemas.openxmlformats.org/drawingml/2006/main">
            <a:r>
              <a:t>Diagnosticar: Revisar las comprobaciones 6 y 7.</a:t>
            </a:r>
          </a:p>
          <a:p xmlns:a="http://schemas.openxmlformats.org/drawingml/2006/main">
            <a:r>
              <a:t>Continuar: Coordinar uso de la colección de respaldo del mismo stack.</a:t>
            </a:r>
          </a:p>
          <a:p xmlns:a="http://schemas.openxmlformats.org/drawingml/2006/main">
            <a:r>
              <a:t>Recuperar: Completar después la ingesta pendiente con el checkpoint.</a:t>
            </a:r>
          </a:p>
          <a:p xmlns:a="http://schemas.openxmlformats.org/drawingml/2006/main">
            <a:r>
              <a:t>Resultado: Usar respaldo no elimina el objetivo de aprender la ingesta.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debes recuperar después si solo usaste el índice de respaldo?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Separar preparación operativa y aprendizaje evita bloquear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Sustituir silenciosamente Qdrant por otra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26 · CAPÍTULO 9 · DESARROLLO</a:t>
            </a:r>
          </a:p>
          <a:p xmlns:a="http://schemas.openxmlformats.org/drawingml/2006/main">
            <a:r>
              <a:t>Título: Pase de entrada y evidencias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lab/README.md y requisitos de entrada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Construir y verificar la nueva capacidad sobre el catálogo de L4.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L5: integrar memoria y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Separar preparación operativa y aprendizaje evita bloquear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Servicios: check_stack comprueba embeddings y Qdrant.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Respaldo: La colección kb-&lt;track&gt;-respaldo permite continuar si hay bloqueo.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Verificación: Revisar las diez preguntas de cita verificable del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Sustituir silenciosamente Qdrant por otra arquitectura.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Servicios; Respaldo; Verificación.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cluster propio falla antes de empezar la ingesta.</a:t>
            </a:r>
          </a:p>
          <a:p xmlns:a="http://schemas.openxmlformats.org/drawingml/2006/main">
            <a:r>
              <a:t>Diagnosticar: Revisar las comprobaciones 6 y 7.</a:t>
            </a:r>
          </a:p>
          <a:p xmlns:a="http://schemas.openxmlformats.org/drawingml/2006/main">
            <a:r>
              <a:t>Continuar: Coordinar uso de la colección de respaldo del mismo stack.</a:t>
            </a:r>
          </a:p>
          <a:p xmlns:a="http://schemas.openxmlformats.org/drawingml/2006/main">
            <a:r>
              <a:t>Recuperar: Completar después la ingesta pendiente con el checkpoint.</a:t>
            </a:r>
          </a:p>
          <a:p xmlns:a="http://schemas.openxmlformats.org/drawingml/2006/main">
            <a:r>
              <a:t>Resultado: Usar respaldo no elimina el objetivo de aprender la ingesta.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debes recuperar después si solo usaste el índice de respaldo?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Separar preparación operativa y aprendizaje evita bloquear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Sustituir silenciosamente Qdrant por otra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27 · CAPÍTULO 9 · EJEMPLO</a:t>
            </a:r>
          </a:p>
          <a:p xmlns:a="http://schemas.openxmlformats.org/drawingml/2006/main">
            <a:r>
              <a:t>Título: MercaSur · Laboratorio L5: integrar memoria y RAG</a:t>
            </a:r>
          </a:p>
          <a:p xmlns:a="http://schemas.openxmlformats.org/drawingml/2006/main">
            <a:r>
              <a:t>Sesión: Memoria contextual y RAG con Qdrant</a:t>
            </a:r>
          </a:p>
          <a:p xmlns:a="http://schemas.openxmlformats.org/drawingml/2006/main">
            <a:r>
              <a:t>Archivo: 05-memoria-rag-editable-v2.pptx</a:t>
            </a:r>
          </a:p>
          <a:p xmlns:a="http://schemas.openxmlformats.org/drawingml/2006/main">
            <a:r>
              <a:t>Sección que soporta: lab/README.md y requisitos de entrada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https://github.com/javierrosado/ariwalab-course-langchain/blob/27c24090f1662f9473b673d2020e7bffee04490b/modulo-2-agentes-avanzados/sesion-05-memoria-rag/README.md</a:t>
            </a:r>
          </a:p>
          <a:p xmlns:a="http://schemas.openxmlformats.org/drawingml/2006/main">
            <a:r>
              <a:t>Contexto adicional: laboratorios, demos y soluciones de modulo-2-agentes-avanzados/sesion-05-memoria-rag;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Construir y verificar la nueva capacidad sobre el catálogo de L4.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L5: integrar memoria y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Separar preparación operativa y aprendizaje evita bloquear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cluster propio falla antes de empezar la ingesta.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Diagnosticar: Revisar las comprobaciones 6 y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Continuar: Coordinar uso de la colección de respaldo del mismo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Recuperar: Completar después la ingesta pendiente con 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Usar respaldo no elimina el objetivo de aprender la ingesta.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Diagnosticar; Continuar; Recuperar.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cluster propio falla antes de empezar la ingesta.</a:t>
            </a:r>
          </a:p>
          <a:p xmlns:a="http://schemas.openxmlformats.org/drawingml/2006/main">
            <a:r>
              <a:t>Diagnosticar: Revisar las comprobaciones 6 y 7.</a:t>
            </a:r>
          </a:p>
          <a:p xmlns:a="http://schemas.openxmlformats.org/drawingml/2006/main">
            <a:r>
              <a:t>Continuar: Coordinar uso de la colección de respaldo del mismo stack.</a:t>
            </a:r>
          </a:p>
          <a:p xmlns:a="http://schemas.openxmlformats.org/drawingml/2006/main">
            <a:r>
              <a:t>Recuperar: Completar después la ingesta pendiente con el checkpoint.</a:t>
            </a:r>
          </a:p>
          <a:p xmlns:a="http://schemas.openxmlformats.org/drawingml/2006/main">
            <a:r>
              <a:t>Resultado: Usar respaldo no elimina el objetivo de aprender la ingesta.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debes recuperar después si solo usaste el índice de respaldo?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Separar preparación operativa y aprendizaje evita bloquear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Sustituir silenciosamente Qdrant por otra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S4: catálogo de cuatro tools · Capítulo previo: Conocimiento recuperable y actualización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S6: límites; S10: evaluación de fundamentación.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bbe83a2cc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4171799c004b3a" /><Relationship Type="http://schemas.openxmlformats.org/officeDocument/2006/relationships/slideLayout" Target="/ppt/slideLayouts/slideLayout1.xml" Id="R6a8b02f0ddeb47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8b02f0ddeb47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62217efe4141" /><Relationship Type="http://schemas.openxmlformats.org/officeDocument/2006/relationships/notesSlide" Target="/ppt/notesSlides/notesSlide1.xml" Id="R0dbb34e9066b49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635830eda442b" /><Relationship Type="http://schemas.openxmlformats.org/officeDocument/2006/relationships/notesSlide" Target="/ppt/notesSlides/notesSlide2.xml" Id="R1366dfde4f994a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608870371497b" /><Relationship Type="http://schemas.openxmlformats.org/officeDocument/2006/relationships/notesSlide" Target="/ppt/notesSlides/notesSlide3.xml" Id="R7769e45155ad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1e997e6c24672" /><Relationship Type="http://schemas.openxmlformats.org/officeDocument/2006/relationships/notesSlide" Target="/ppt/notesSlides/notesSlide4.xml" Id="Raf03e10f6c2c49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bfb1cc9964c53" /><Relationship Type="http://schemas.openxmlformats.org/officeDocument/2006/relationships/notesSlide" Target="/ppt/notesSlides/notesSlide5.xml" Id="Rda5a6d7235a049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0fa94eb34438a" /><Relationship Type="http://schemas.openxmlformats.org/officeDocument/2006/relationships/notesSlide" Target="/ppt/notesSlides/notesSlide6.xml" Id="Rdc2fb7fbd6e246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582967c664e4f" /><Relationship Type="http://schemas.openxmlformats.org/officeDocument/2006/relationships/notesSlide" Target="/ppt/notesSlides/notesSlide7.xml" Id="Rf4b131c389b140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8391a753147c7" /><Relationship Type="http://schemas.openxmlformats.org/officeDocument/2006/relationships/notesSlide" Target="/ppt/notesSlides/notesSlide8.xml" Id="R853f2fcb9c7448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33590fe3c48b1" /><Relationship Type="http://schemas.openxmlformats.org/officeDocument/2006/relationships/notesSlide" Target="/ppt/notesSlides/notesSlide9.xml" Id="Rdd190c4016ea46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85260068a406c" /><Relationship Type="http://schemas.openxmlformats.org/officeDocument/2006/relationships/notesSlide" Target="/ppt/notesSlides/notesSlide10.xml" Id="R0042cae134b54e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69ceb257d49ea" /><Relationship Type="http://schemas.openxmlformats.org/officeDocument/2006/relationships/notesSlide" Target="/ppt/notesSlides/notesSlide11.xml" Id="R1f064a60da2e46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acff47fe84e97" /><Relationship Type="http://schemas.openxmlformats.org/officeDocument/2006/relationships/notesSlide" Target="/ppt/notesSlides/notesSlide12.xml" Id="Rf5f4265066fb45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e511ec8c94fcb" /><Relationship Type="http://schemas.openxmlformats.org/officeDocument/2006/relationships/notesSlide" Target="/ppt/notesSlides/notesSlide13.xml" Id="R6b5508a8d40d49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2405ab9174afe" /><Relationship Type="http://schemas.openxmlformats.org/officeDocument/2006/relationships/notesSlide" Target="/ppt/notesSlides/notesSlide14.xml" Id="Rcb07d8507baa47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8cf41ddfb486b" /><Relationship Type="http://schemas.openxmlformats.org/officeDocument/2006/relationships/notesSlide" Target="/ppt/notesSlides/notesSlide15.xml" Id="R3ddb100fff224b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fb3bc568843e7" /><Relationship Type="http://schemas.openxmlformats.org/officeDocument/2006/relationships/notesSlide" Target="/ppt/notesSlides/notesSlide16.xml" Id="Rcfe21878d0384c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82531d1d24df3" /><Relationship Type="http://schemas.openxmlformats.org/officeDocument/2006/relationships/notesSlide" Target="/ppt/notesSlides/notesSlide17.xml" Id="Rebc125c5483f4e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f5c9a1cdc4cfb" /><Relationship Type="http://schemas.openxmlformats.org/officeDocument/2006/relationships/notesSlide" Target="/ppt/notesSlides/notesSlide18.xml" Id="R9d641ebe4d3e40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073e0ce4f40db" /><Relationship Type="http://schemas.openxmlformats.org/officeDocument/2006/relationships/notesSlide" Target="/ppt/notesSlides/notesSlide19.xml" Id="R33514029d4d94d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9b0a0d01944ac" /><Relationship Type="http://schemas.openxmlformats.org/officeDocument/2006/relationships/notesSlide" Target="/ppt/notesSlides/notesSlide20.xml" Id="R6570205026c945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4a68b322e479f" /><Relationship Type="http://schemas.openxmlformats.org/officeDocument/2006/relationships/notesSlide" Target="/ppt/notesSlides/notesSlide21.xml" Id="R19ec1d37f3aa4f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599c6870491e" /><Relationship Type="http://schemas.openxmlformats.org/officeDocument/2006/relationships/notesSlide" Target="/ppt/notesSlides/notesSlide22.xml" Id="Re7ad56a0d42246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b3e4ad8cc49ff" /><Relationship Type="http://schemas.openxmlformats.org/officeDocument/2006/relationships/notesSlide" Target="/ppt/notesSlides/notesSlide23.xml" Id="R321d7bd0858648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feeda5fc64a64" /><Relationship Type="http://schemas.openxmlformats.org/officeDocument/2006/relationships/notesSlide" Target="/ppt/notesSlides/notesSlide24.xml" Id="R97efa8ece2824d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324404b3d4440" /><Relationship Type="http://schemas.openxmlformats.org/officeDocument/2006/relationships/notesSlide" Target="/ppt/notesSlides/notesSlide25.xml" Id="R4776453d742741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2c7c160104e98" /><Relationship Type="http://schemas.openxmlformats.org/officeDocument/2006/relationships/notesSlide" Target="/ppt/notesSlides/notesSlide26.xml" Id="R03dda05d2e6848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9490ec90c4948" /><Relationship Type="http://schemas.openxmlformats.org/officeDocument/2006/relationships/notesSlide" Target="/ppt/notesSlides/notesSlide27.xml" Id="R8707372aa72b43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D2E22F83-5FE7-4FD5-9674-2713837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3274B-30A7-4113-BC5C-B7B8814E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2958697-F87E-4392-ACCD-2AD42A9B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993D139-500D-469A-B551-62FA6D2F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CA64A1-FD4A-45CB-9F97-14A0B221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recuerda y no sabe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BECF1F0-52B4-43BE-AEFA-4D586425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contexto conversacional y conocimiento documental del dominio.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8D3F17E-B553-457D-B812-EE2942FD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1F76D9E-312F-4822-94D5-0A9A1DD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7B62C9F-E1FF-4663-8629-12118846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57A34AA-B254-464E-95EB-3AC361A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D1207F9-BAA5-48CF-873D-1FC53CF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1392CDD-B647-4B2B-99DE-50465506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85E3735-CEB7-4519-963F-E189567B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3F84287-E31E-440B-AF5E-E2FAA06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AF012E-8996-4D72-8498-8861096D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8FEBE55-0B46-4915-BE68-3FFAFBC0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3909CCB-372F-4F46-9216-5B3EE28F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68D2F-DCFD-4479-8103-B2CEB119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4D05B13-E4A1-4354-B6B4-F24F394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DDC6A8D-668C-4C56-8126-A814330A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37346E06-7BCC-4729-BE18-BCBD1029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 mensajes de esa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conversación.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CFB481A-0113-4318-B76D-7FAC9EC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5B92C1E-71E9-4F66-914E-DEE8B22C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61E82-B757-4855-8FD6-FC02698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32771D9-67FA-40AD-98FF-EC69960B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D265AEC-6698-4F75-8269-ABAAA9C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RAG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57A43F27-DA7D-4CBC-A92B-5895E9C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 fragmentos de un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corpus externo.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FB76251-6B64-45BF-83A4-81AA79BD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8877977-A600-47C7-B596-80CF845B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EBFDE0-D682-4B22-8F40-3C140EE6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C4B8F78-1678-48DB-8EE4-4673724A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4B41F35-83FF-4CFE-9EBB-A2B18C1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 de negocio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DD176E9-3627-47AA-8E66-BD36B873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Obtienen estados y datos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simulador.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74C83E0F-9DBE-460E-8240-63612C24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5007323-A084-47BC-A27E-8F3838A8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8B1A9272-1CA5-48A0-8939-1E40F690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mecanismo falta si recuerda el producto pero inventa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plazo?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AE182BB1-9258-4B64-A266-88B5F220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BA8830FC-0A26-4E27-9C80-1688E498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F2551F0-CBDA-47AE-BCBD-8EC93B70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Resolver falta de conocimiento con más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mensajes de conversación.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D74BB4B9-BD56-419D-B774-557E94E2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809D8886-32CD-4E1E-91BE-B55E1611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Memoria, RAG y tools resuelven necesidades diferentes.</a:t>
            </a:r>
          </a:p>
        </p:txBody>
      </p:sp>
    </p:spTree>
    <p:extLst>
      <p:ext uri="{BB962C8B-B14F-4D97-AF65-F5344CB8AC3E}">
        <p14:creationId xmlns:p14="http://schemas.microsoft.com/office/powerpoint/2010/main" val="609048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F823BC5-80E3-4E1C-8982-30E342F2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9BE9F-A69F-488E-A480-BB839E99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404EB4C-EFC0-4FA2-9E2F-F779BB06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5AE4EA3-AD80-4A3B-8F53-CEA7325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C9E83F-8445-45EC-9373-5F4FC45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el mecanismo adecuado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E41E63D-3518-4BB8-BC2A-347FE4E5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contexto conversacional y conocimiento documental del dominio.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5AD6159-F83A-4A26-B17D-2E0D9D7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F909814-F94D-4D65-BD62-1184B8D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A034726-FABD-48E9-A21E-22E0BD5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764F4D8-B859-44D1-8C83-0ED38A11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4979830-7522-4E78-8D54-665E1578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2B222F6-D718-4365-BC36-973CD24A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8B33EAB-AD82-4EC9-95DE-3A708BB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1D2DFDB-6B7F-4114-8AE3-206C96E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10C7931-245D-4682-9E12-DAA01395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Referencia previa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«¿Y el mes pasado?» necesita historial pertinente.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Política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regla de devolución necesita su documento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fuente.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actual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 pedido concreto requiere la tool de pedidos.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5CB6E9C-B673-4210-A676-168FBDF9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01F8D5B-B9AC-472D-A003-3F414901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997866DD-BB0F-4FF3-B611-4CB53E1D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Resolver falta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conocimiento con más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mensajes de conversación.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692A6045-B63D-4A57-A8FC-0470ACCC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2B35C098-B714-4848-89C6-60BDA7B5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A2A5BDA7-52A3-4422-A7E4-FB0C095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0816FFC-71B7-4A1A-AB19-7038600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mecanismo falta si recuerda el producto pero inventa el plazo?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DC02CE2-C5F9-4F8A-95C6-582DDA54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CAEDB84-CAED-4B72-AA8D-C44A7C6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Memoria, RAG y tools resuelven necesidades diferentes.</a:t>
            </a:r>
          </a:p>
        </p:txBody>
      </p:sp>
    </p:spTree>
    <p:extLst>
      <p:ext uri="{BB962C8B-B14F-4D97-AF65-F5344CB8AC3E}">
        <p14:creationId xmlns:p14="http://schemas.microsoft.com/office/powerpoint/2010/main" val="398149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FD5F81D-621F-4AF8-BC95-4D230A71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5BFEE-7F5A-423E-9FD9-64C85962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6D02DCD-9FC2-4176-A9E5-D6D2476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231F0EB-B3B4-440C-819A-1C5C8EDB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1DDD0D-BC18-41E7-B05B-296920D3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No recuerda y no sabe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50D95A0-424A-4FE4-926E-8ECAAA7E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contexto conversacional y conocimiento documental del dominio.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8017882-0B6A-4A2A-9404-0C3DCFC0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2687805-CED4-4AB6-9D92-E20FA275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71822BB-666B-4BB2-A37B-ECF1FBE4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3E826E7-A5A4-4034-9C15-DE03003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21943A9-8C0B-45CB-B04B-820B85CB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50CF27D-F06E-418A-A657-56CA8DC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71585D4-ACE7-471E-910F-103BE799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B9C17A1-634C-48DA-A675-A6198DFE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2873EC-5B2B-4534-BFF3-8B255E11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5C1992FC-1934-48C9-A970-D318CE48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7DFED1B-F07E-431A-ADDC-6628721E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2A58EF4C-DD37-46A4-B9C9-DB096C8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«¿Puedo devolverlo?» llega después de identificar un producto dañado.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174A45A-4F8D-455D-98DB-9D40720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E03F1EE-2A8B-4419-BB9D-5B58BE67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F1D56-A2D6-4E95-BC14-1BA96D56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91D853A-9B0F-45A7-9FCA-34CD0821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55B5FAC-8ADA-4FFD-BBF0-16945AD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F5C92D1-37B7-4FC3-81D6-E6EDC8EB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 a qué producto se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refiere «lo».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D4B228F-4323-4C67-9427-5A1069F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781CA28-84E4-4A55-B098-F2FBDF7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CC016-6F02-4FAD-B79B-C3450F1F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1C05390-D79E-44EE-9E29-618B63CB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3D4E487-9A87-4E62-ADCA-4CF52639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RAG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FEF23C79-2CD5-407E-880D-FB15FD86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Recuperar la política aplicable.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FAB101C-34A1-458E-B49F-A9B3D89F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DC26FD6-080C-4EDF-9275-A7428E24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7C967C-E322-441E-81CF-D34E3D78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8FEB7EE-6F1A-4A51-BD52-C070F26E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4B7C0D0-7887-47A5-9D91-A9574B8B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8CAFBE3-3212-4EA6-873E-C1C8BF81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la regla y citar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F67EC255-978F-4D00-99D7-23D78CE7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E8C65C8-9BBA-4362-9CF9-8678532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DB5B198-637F-4BDC-8919-FA245AE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Añadir historial no reemplaza una política ausente del contexto.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ECA38331-E56D-4798-95E3-F9ADEFF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174D757-5342-4B29-BB54-92A8F13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Memoria, RAG y tools resuelven necesidades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010895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header">
            <a:extLst xmlns:a="http://schemas.openxmlformats.org/drawingml/2006/main">
              <a:ext uri="{FF2B5EF4-FFF2-40B4-BE49-F238E27FC236}">
                <a16:creationId xmlns:a16="http://schemas.microsoft.com/office/drawing/2014/main" id="{6B9E9346-31C9-4782-A724-6EA80765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04E95-D540-493A-AC64-A6DAFD19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9EAC0A5-C480-4CC1-9CE5-FCBAA172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1EDC479-3AFD-442E-BDB4-6B78ACB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BAAC7-04F0-4233-9D9F-0D755545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Estado por thread_id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3262A2C-348F-43FC-AE4D-216B5FFA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Aislar conversaciones y entender los límites de la memoria del checkpoint.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13E297C-0D03-4CBA-B1CA-70DDECA3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422CFFD-B97D-47CF-B2A2-2739F756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D3702CC-B77E-4130-9733-5EEDD45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805A79E-BBCE-4077-8116-CFEA24A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EBBD1B6-A320-4B6E-96EF-A136DBD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7AC967F-6CC5-4CDE-9F48-44EB0C95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9219478-DD70-4917-8D4F-0BACECB1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505A16F-23C5-4C28-808A-3E72F8DA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7902857-E735-46DA-B893-9C30B58A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DOS CONVERSACIONES, DOS LISTAS DE MENSAJES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5B799BC7-5554-4DCE-9E5A-AD64206C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a">
            <a:extLst xmlns:a="http://schemas.openxmlformats.org/drawingml/2006/main">
              <a:ext uri="{FF2B5EF4-FFF2-40B4-BE49-F238E27FC236}">
                <a16:creationId xmlns:a16="http://schemas.microsoft.com/office/drawing/2014/main" id="{A133ACE7-AF0E-4518-A807-1CF9EC81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1763F8BC-469D-4BB3-B654-0396EE8B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A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A28BAE12-F783-40C3-8393-A1A8B11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thread_id = A</a:t>
            </a:r>
          </a:p>
        </p:txBody>
      </p:sp>
      <p:sp>
        <p:nvSpPr>
          <p:cNvPr id="20" name="component-ha">
            <a:extLst xmlns:a="http://schemas.openxmlformats.org/drawingml/2006/main">
              <a:ext uri="{FF2B5EF4-FFF2-40B4-BE49-F238E27FC236}">
                <a16:creationId xmlns:a16="http://schemas.microsoft.com/office/drawing/2014/main" id="{46EBCA03-6C2F-47DC-9C68-9FE421C0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384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1207B058-DB61-408F-9497-E2E12472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813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Historial A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FD31DFCC-38CC-4BB9-B591-3E1167B9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957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Lista en _HISTORIES</a:t>
            </a:r>
          </a:p>
        </p:txBody>
      </p:sp>
      <p:sp>
        <p:nvSpPr>
          <p:cNvPr id="23" name="component-ma">
            <a:extLst xmlns:a="http://schemas.openxmlformats.org/drawingml/2006/main">
              <a:ext uri="{FF2B5EF4-FFF2-40B4-BE49-F238E27FC236}">
                <a16:creationId xmlns:a16="http://schemas.microsoft.com/office/drawing/2014/main" id="{2A1EF376-7AD8-49E0-AE6E-2D532AF1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384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FE518F7A-0EF2-4D68-A72C-322C0ABB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Llamada A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6B69721D-B3F1-4919-BF3E-864B89DE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Recibe contexto de A</a:t>
            </a:r>
          </a:p>
        </p:txBody>
      </p:sp>
      <p:sp>
        <p:nvSpPr>
          <p:cNvPr id="26" name="component-b">
            <a:extLst xmlns:a="http://schemas.openxmlformats.org/drawingml/2006/main">
              <a:ext uri="{FF2B5EF4-FFF2-40B4-BE49-F238E27FC236}">
                <a16:creationId xmlns:a16="http://schemas.microsoft.com/office/drawing/2014/main" id="{66C15F76-33BE-41B1-8438-F7D1D106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1E2CC282-2EC7-4A96-80E3-7F6646A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959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B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3578EAB7-DD48-4711-BE19-2C070A1A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102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thread_id = B</a:t>
            </a:r>
          </a:p>
        </p:txBody>
      </p:sp>
      <p:sp>
        <p:nvSpPr>
          <p:cNvPr id="29" name="component-hb">
            <a:extLst xmlns:a="http://schemas.openxmlformats.org/drawingml/2006/main">
              <a:ext uri="{FF2B5EF4-FFF2-40B4-BE49-F238E27FC236}">
                <a16:creationId xmlns:a16="http://schemas.microsoft.com/office/drawing/2014/main" id="{585AA542-33B2-4ADD-A4D1-1CCC6CB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530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A3E366A4-F148-4055-BB3C-052D45F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959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Historial B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0F2ED1C4-55DD-49EC-8682-6B1741F7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102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Otra lista del diccionario</a:t>
            </a:r>
          </a:p>
        </p:txBody>
      </p:sp>
      <p:sp>
        <p:nvSpPr>
          <p:cNvPr id="32" name="component-mb">
            <a:extLst xmlns:a="http://schemas.openxmlformats.org/drawingml/2006/main">
              <a:ext uri="{FF2B5EF4-FFF2-40B4-BE49-F238E27FC236}">
                <a16:creationId xmlns:a16="http://schemas.microsoft.com/office/drawing/2014/main" id="{176E942E-A90D-4B04-9819-68694262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530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12D356A8-B692-45F1-A050-CDF8BA0F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Llamada B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FECED6E2-9ADF-4E2E-99F6-9F8E238A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102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Recibe contexto de B</a:t>
            </a:r>
          </a:p>
        </p:txBody>
      </p:sp>
      <p:cxnSp>
        <p:nvCxnSpPr>
          <p:cNvPr id="81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766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766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333750" y="58912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410325" y="58912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EBCBB62-E319-4D40-A318-AB07D45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0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44DBE1E0-B90A-46C9-BCFA-43D935ED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1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1F625556-888C-4B03-99D3-BEDE476D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diccionario vive en el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proceso: un reinicio pierde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ese estado.</a:t>
            </a:r>
          </a:p>
        </p:txBody>
      </p:sp>
      <p:sp>
        <p:nvSpPr>
          <p:cNvPr id="42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2CD803BA-97A6-4DE6-A628-DE762B21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3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D4ABF000-4E39-4B9B-AE1E-DC3765F0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ocurre con el historial cuando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reinicia el Space?</a:t>
            </a:r>
          </a:p>
        </p:txBody>
      </p:sp>
      <p:sp>
        <p:nvSpPr>
          <p:cNvPr id="44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A3843C15-0F17-4AE0-A83D-602430DD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Dibujar un checkpointer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duradero que el código no implementa.</a:t>
            </a:r>
          </a:p>
        </p:txBody>
      </p:sp>
      <p:sp>
        <p:nvSpPr>
          <p:cNvPr id="45" name="panel">
            <a:extLst xmlns:a="http://schemas.openxmlformats.org/drawingml/2006/main">
              <a:ext uri="{FF2B5EF4-FFF2-40B4-BE49-F238E27FC236}">
                <a16:creationId xmlns:a16="http://schemas.microsoft.com/office/drawing/2014/main" id="{C316A83E-3D05-4DB7-9450-ED58068F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6" name="takeaway">
            <a:extLst xmlns:a="http://schemas.openxmlformats.org/drawingml/2006/main">
              <a:ext uri="{FF2B5EF4-FFF2-40B4-BE49-F238E27FC236}">
                <a16:creationId xmlns:a16="http://schemas.microsoft.com/office/drawing/2014/main" id="{57CA5F89-CC50-4B8F-BB0B-56245488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memoria de L5 vive en el proceso y no es persistencia duradera.</a:t>
            </a:r>
          </a:p>
        </p:txBody>
      </p:sp>
    </p:spTree>
    <p:extLst>
      <p:ext uri="{BB962C8B-B14F-4D97-AF65-F5344CB8AC3E}">
        <p14:creationId xmlns:p14="http://schemas.microsoft.com/office/powerpoint/2010/main" val="1996874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B7318E65-39B8-4943-B214-B89B23C0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A2FAD-33CF-445F-AE34-39C4C6F0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2A6EC1C-512B-48F3-A8D2-00AFE16B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F5E8AC6-69F2-46EF-8BE9-ADA72F63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3D6DE6-0799-4A2A-9783-3319E129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garantiza esta implementación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6582E99-55CE-44D8-982A-C6B0E57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Aislar conversaciones y entender los límites de la memoria del checkpoint.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0CC8114-7BDD-4655-A51D-95099ED2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C8360FC-BC77-45BE-B121-7C7682C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130E1BD-B80D-4234-8646-DC13412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83F0408-1151-435D-B2B4-91913C5C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AE0BFEF-9B4F-47FE-A908-51A9F2C8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9296E40-AB37-47AF-95C1-FC1BF2A6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BD37488-F927-4A0D-AD06-6D216B8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6BE0977-7DA6-4881-9E4D-A2F0F786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D60DF7F-A27C-43CA-A2C7-FC9AD5D7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Aislamiento lógico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Usar identificadores distintos evita compartir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misma lista.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Continuidad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Reutilizar el identificador conserva el contexto en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ese proceso.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Reiniciar el proceso pierde este almacenamiento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 memoria.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60EA61DD-336C-484B-95BD-6F16A7E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D7BB9EA-6CFC-4557-A8DE-AF39793C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A974C42B-5CC3-4FF6-AF08-1582FE85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Dibujar un checkpointer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duradero que el código no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implementa.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77419172-AF85-4D74-9B21-7AFF5598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3A29F0F-E5EF-421F-865F-8BCF3DB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1671883-9D11-4A69-A271-E17E9D3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170E595-3C83-41FD-8761-0AC77DBD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ocurre con el historial cuando se reinicia el Space?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EF187F88-DF1C-4F76-A8A0-7A186EDF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471AEC4E-2F33-4714-96FE-A42330FF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memoria de L5 vive en el proceso y no es persistencia duradera.</a:t>
            </a:r>
          </a:p>
        </p:txBody>
      </p:sp>
    </p:spTree>
    <p:extLst>
      <p:ext uri="{BB962C8B-B14F-4D97-AF65-F5344CB8AC3E}">
        <p14:creationId xmlns:p14="http://schemas.microsoft.com/office/powerpoint/2010/main" val="166637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A0B9BC2-FEC4-4B50-B1D0-CC6D02CB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159E7-A25E-4DFC-B3CE-B80EC125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B8D7C3E-A665-40F2-9A92-4E22B68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7B61979-DCAD-474F-BFD8-D4CDA2F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DDE58E-6595-4401-B62E-1674D56F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Estado por thread_id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6B21D43-1C2E-4454-9B45-C115E14A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Aislar conversaciones y entender los límites de la memoria del checkpoint.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094D436-2B18-487E-928F-D8DF046A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F38D75C-D76A-4ABB-88DC-3F4E54C5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B746C6C-AD0F-4A36-9EB0-660D569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DD7364A-D7F3-4EBC-A9E4-DFC1D0E3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549FE6E-A3D0-445C-A277-5195A0E7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4EE6A7A-E6A4-445D-A0CE-7198940A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46DBEC8-0712-4F67-8599-69BA8A5D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F5E2E09-10D1-45D2-88FB-8CAE00D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551C0A-FCAA-4F41-B9FE-4B1B861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6034E92-BA6C-4C17-A293-E1C24EDB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4EA19D94-F7CE-487F-A273-410DACA7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1AAECFDC-C910-4A28-9EEE-9E3228FB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Dos clientes hacen preguntas consecutivas sobre sus cuentas.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A0CE929-7348-49B3-B026-1F3C1995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FDEAFC2-0898-4869-BA05-A57B8CE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13FAC-F48D-4E04-9879-FEF11BC9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C7E1AA7-7D02-4D91-91A4-B31B7DFB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679E1CF-7BC7-44AF-BD2A-CAE18B6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BD9A0FB2-8EC2-44BA-B587-B88C752F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Asignar una conversación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diferente a cada cliente.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541289A-A802-4A4B-8473-FB6DB18B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4502704-574B-4B83-B7BC-AEBE699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8A4344-7508-425B-8BF3-E5CB7AC0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257B01E-E82A-463B-82D7-5B5281D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E545C68-E9B1-4EB1-8569-FC3462DF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Reutilizar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F823556D-53E0-495E-97B4-221CB3EB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Cada cliente continúa con su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propio thread_id.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85D9C7A-2521-476D-9C3A-AB91297C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6A8BF0-8256-4CD8-A820-E2A0765C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56178-DAFB-4C96-90DB-846915B3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E9BAA97-D128-411A-BE04-D7A4D9B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A0B175F-004B-4590-8879-1A562A52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3AFEEDCE-8827-4FD4-8970-5AD41D97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contexto de uno no aparece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la respuesta del otro.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6FF24CB-2B8C-4CBE-994D-12A97F01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071DADC-FF68-443C-82CA-C1718DBA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2B8C7A6B-9D97-4247-863C-45D5694B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identificador organiza estado; no autentica por sí mismo al usuario.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6697761-FA16-4F85-9CF9-936AB45A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C08B78C-CC51-43D4-81DF-2247D70B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memoria de L5 vive en el proceso y no es persistencia duradera.</a:t>
            </a:r>
          </a:p>
        </p:txBody>
      </p:sp>
    </p:spTree>
    <p:extLst>
      <p:ext uri="{BB962C8B-B14F-4D97-AF65-F5344CB8AC3E}">
        <p14:creationId xmlns:p14="http://schemas.microsoft.com/office/powerpoint/2010/main" val="687869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B011F82-7F2A-4A2A-85A2-0E020AEE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0678B-2325-4D48-830E-8A583F92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C9BF0F9-618A-4508-88A9-89530CD4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FF48471-8ADA-48AA-A5CD-FC5C23F8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66ACC6-1B40-4EE6-B94C-F5E4626C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Embeddings del dominio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E9B5043-64A5-4059-89A1-9D90FB7A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Representar consulta y documentos en un espacio compatible para recuperar candidatos.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4C30D7B-1218-4D63-9E42-CA255B2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C13950D-60DC-4B86-A342-ADC6CFD6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9BFDFFF-730A-40D9-9E7E-5445687C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85656D9-A6BA-4778-8C6D-11A883DA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00697E5-CF89-4658-9F00-7CE18A2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DFA6ED-1C30-4B53-8414-817EC001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848B6F4-C31E-4D22-80A4-DACDDE6D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9CF04EC-A362-4B4A-85CC-56CFC984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7D3894-3C90-4206-A3A0-D2762853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3102436-E5C6-4BBB-9F37-63BF32A1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1CBC916-61D3-4B05-BA1A-7A04D14A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F9674-76EC-43FE-BE0F-614855E3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DABF452-4B1E-4371-9FC7-1FA065F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5DB7D96-170D-468B-B3FD-CAAAAE04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Corpus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46BB5D2B-887E-41D7-A164-65096849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Documentos del track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divididos en fragmentos.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1078C5D-1BC6-428C-9FE7-A9136CA5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1810C73-D761-4CEA-92B5-1EFE866D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0AC7E-C636-40B1-9971-E64E23D9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24B80DB-B9AC-4897-BD92-2235801F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B042FD8-969B-47CB-B1D0-65B998F2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40C3BA2-0CB1-4668-915D-1A58B561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mismo modelo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embeddings representa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corpus y consultas.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53EA48C-B042-4F24-90FD-BA4D48E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FFD38A8-3C52-4ACF-BBA8-D700AFEA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024AA-CD7E-40A8-92C1-58A2A5BD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8A417D3-AEA3-4547-9C1E-E8FC311A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277FE5A-A9CD-49D3-B148-BD27EA3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705ADF71-57D9-4A78-9D16-404F6142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similitud ordena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candidatos pertinentes.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4ADAFD56-F80C-440B-AC43-5833DB17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A4CF54-5CB8-43AD-941B-514055E3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4A44A6D-8A83-4B52-8813-E091ABF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falla si cambias el modelo de consulta sin reindexar?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DEEFF69-47D5-41FA-9D15-9F7E1EF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BA3D8316-2022-4BC3-AB96-374DBDE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05813A61-3575-4087-A965-E20128A3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vectores de espacios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incompatibles.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A430461-5F2B-4625-9C0A-E379908D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0CBB709-D939-45EF-9538-06CFC26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representación ayuda con sinónimos sin convertir similitud en verdad.</a:t>
            </a:r>
          </a:p>
        </p:txBody>
      </p:sp>
    </p:spTree>
    <p:extLst>
      <p:ext uri="{BB962C8B-B14F-4D97-AF65-F5344CB8AC3E}">
        <p14:creationId xmlns:p14="http://schemas.microsoft.com/office/powerpoint/2010/main" val="247651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13C47D18-E1BA-4C4B-B321-A24570EC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58ACA-FA83-4745-BBBB-1A1BEA56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F21B97-9EF6-4CD7-BA2F-AF8DD06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62032BD-C42A-4CBD-B474-0BC5F906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396346-3231-4004-AF26-9E5A824B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Tres comprobaciones de compatibilidad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8F05638-6B5E-4958-A191-A25AB2F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Representar consulta y documentos en un espacio compatible para recuperar candidatos.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EBD560F-6CCC-4436-80C5-BE9B9CE5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909869C-7179-4FF3-884B-F61E69FF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D028592-D2D0-45FA-903E-FD275A64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0EE782E-FEF4-480E-9340-012F4BBA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B952D62-CDD9-4960-84FA-F2B6A31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A4CF0EF-70C7-4D64-BFCB-9EFC16ED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307C755-EC5E-47F7-9521-416F8205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70F39C5-249A-4688-93F4-D494E605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6F40C85-6366-48A9-9CC6-FC9E631D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Mantener la misma configuración en ingesta y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Dimensión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colección debe aceptar la dimensión del vector.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Dominio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que los candidatos pertenezcan al corpus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esperado.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D8676F8-DDF8-44C9-AC8D-6851EFBA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E61E3493-A03A-4B06-9147-1A63AC96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3D16A28E-A3FA-4721-B1F2-FF647F0D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vectores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espacios incompatibles.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F3BB26FF-45FC-40BD-8FEB-29C2BFEC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69C8E63-E593-4165-A5EA-A6BF9B77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88FF8F3-350F-4FA5-966B-AE3C38A7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FA40E20-59D9-4028-BE6D-B6E5CF61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falla si cambias el modelo de consulta sin reindexar?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BCA493E6-1D7E-4B1E-94CD-65B9C112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19DA7A3-8D29-4A16-8CDD-F62DF998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representación ayuda con sinónimos sin convertir similitud en verdad.</a:t>
            </a:r>
          </a:p>
        </p:txBody>
      </p:sp>
    </p:spTree>
    <p:extLst>
      <p:ext uri="{BB962C8B-B14F-4D97-AF65-F5344CB8AC3E}">
        <p14:creationId xmlns:p14="http://schemas.microsoft.com/office/powerpoint/2010/main" val="1183132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0CCD15C-5364-4D1F-8201-A10B8D0B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0AB6E-2A00-4123-A024-3DCE6EF2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6C03A79-2477-46A4-9603-86385C46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FE5066C-66C8-4757-AC27-11BF179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DEE9E8-E1DB-4488-99B6-AC33F47A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Embeddings del dominio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D109807-B5A7-440A-BDEF-24674DB2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Representar consulta y documentos en un espacio compatible para recuperar candidatos.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0D95B1F-46B5-42F4-A1EF-1549F689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E0161D8-C72F-4420-BC5E-80EB35E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1EA5CCE-93F5-4C99-AFA5-55D716B0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EB6EE00-1A32-45D0-BD2A-F3FE891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24AD814-5515-423C-A297-87DF64A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5426ECF-FC35-439D-8EDF-36E68D00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5F0C4A2-14DE-4E46-AE77-10EE7A49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129EEF0-EE6D-4D4E-810F-0057FEF0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2C8021-BB20-4B02-920E-FC874DF0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16879EA5-9E2D-4B38-923C-D33925F1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83B0F2A-D7E5-4E35-B3C2-5BCC716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31128C5-F4FA-46CF-83EA-21A010A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«¿Cuántos gigas incluye el plan?» usa vocabulario distinto al tarifario.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499B570-F28F-444F-9327-70155FE2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1F83C7B-538C-4101-ADB7-5DBA8A51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FBC7D-C056-4ACD-BE29-FB63BE28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83A9943-54B2-4132-A42C-84F137AE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9E72FC9-BD60-4323-A8C1-81690B2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785AFEF1-63C0-47D0-8403-3613B1D7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pregunta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fragmentos en vectores.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FA77030-7E40-4FE4-A7C4-35307C6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BBDF411-4C93-4FEA-A52F-E280105A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F654D-55C0-41D5-AC95-9A0AD8BA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ABCF24-FF80-4F13-AD0E-CED1F1AB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D601A2F-4187-4EAF-A07A-30CF4BC1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244B1861-D4F2-42F5-8370-CA9BBAC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Encontrar la entrada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semánticamente relacionada.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CABDF5D-C544-4D8D-AC7E-3AF2CD00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6ED7465-65A3-430A-BD52-A601F84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C8A3FD-BA11-4734-8CAD-3A3E6F0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9249C6C-2E7F-4B01-A5D9-158F099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1028BF3-8470-4EA8-9AAC-2B871E30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B160B811-EEA2-423E-B7BC-DCCB6ED5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plan, vigencia y cifra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 de responder.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34760FC6-1D19-4954-924A-33218892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094B6939-8022-465B-A564-9AC3AB4C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1EC83A7E-6872-427A-8291-5AACC7CF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similitud encuentra candidatos; el texto recuperado sostiene la afirmación.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AE3820F-8F18-4DB4-BFBC-E10DEDF7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A11E6CE-98C0-4EE8-92B8-5049B39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representación ayuda con sinónimos sin convertir similitud en verdad.</a:t>
            </a:r>
          </a:p>
        </p:txBody>
      </p:sp>
    </p:spTree>
    <p:extLst>
      <p:ext uri="{BB962C8B-B14F-4D97-AF65-F5344CB8AC3E}">
        <p14:creationId xmlns:p14="http://schemas.microsoft.com/office/powerpoint/2010/main" val="769359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35BCFF7F-F89F-43F8-8D60-6AE729B7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CA234-C971-4E0D-B669-7D1F38DE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0E92873-7B2B-4FFC-9E68-2781992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C5D8639-F905-4B80-BF6B-E832A04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89DB78-32F1-446F-B0C0-411F22E0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Chunking y contexto de la cláusula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35FDBF9-2DF9-4734-9D28-69D04905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Defender el tamaño de fragmento por equilibrio entre información y ruido.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ABC94D0-46B9-4CBE-8E29-5C42BEAB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C20E962-75C7-4E7A-9454-94CF4C0C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5441FDB-A8D1-4DA7-9755-6193D350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6EB1153-D595-42D6-ADE6-A9F8D583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6FA1A6F-0616-48D4-927B-87A2894A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488E2AA-B579-4F3F-902C-BDF048A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13E7A19-9E51-4311-81DC-E0F68BFD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9133466-D7C9-44F5-B205-F43EB15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D61600D-05A0-4DA2-A58A-FBD0197A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AB00356-6913-44CB-9902-3B95EE8A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BEBD334-3C17-4696-A2D4-E861D79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128D8-6AE5-4E5E-8CE7-3B7D5DD1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52151A7-E5C1-4046-BC0B-F539FFA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4FDF886-8F51-4C63-8A55-0429F9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Fragmento pequeño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88A5D39-B876-4488-829A-9EB5108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aislar con precisión,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pero separar una condición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su excepción.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4CAE6A5-96F3-4E52-92DE-86EE63F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105901E-CB3B-4C87-B612-E4EC87E4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98F0A-0587-4963-822E-E4EFEA30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D3A4F47-A563-4BDF-B0CD-57D3EA10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981F48-6B3D-4E0E-9BEB-8DFB41FA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Fragmento grande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8EEC80F6-0323-4953-A71F-1B103D6D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conservar más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contexto y añadir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información irrelevante.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42571ED-B31B-4567-8E5A-6E2AC71A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9A76231-A643-4660-BE92-4F52C16F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8093E-9D38-4B4F-BDD6-960E1B4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6262E5B-7C34-43EB-8785-76D27E27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EE6956F-FDFC-44C0-96E7-44D99B90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Overlap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53DD3752-72E9-4FE8-8D02-E5C223FF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Repite contenido cercano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para reducir cortes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problemáticos.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AC28623B-1F99-4D1D-9B97-97133B3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12C82CF-413A-4E4E-AB7A-D425AF31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0167F33E-73F4-4AF9-AE60-D9A53001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error de respuesta causaría recuperar solo la primera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mitad?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0D27314A-5C25-4512-9AFF-9ABD9133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BDF8EC1-67BC-4DB9-888E-305E36E0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3924217-BB8E-4A4B-9AF2-6BC724FD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tokens a unidades del splitter sin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su configuración.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D2D18805-D7EE-47D2-8BAA-E9860256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2D5345EF-03A7-4535-A50D-571AE6E5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tamaño se justifica por el documento y se valida con preguntas reales.</a:t>
            </a:r>
          </a:p>
        </p:txBody>
      </p:sp>
    </p:spTree>
    <p:extLst>
      <p:ext uri="{BB962C8B-B14F-4D97-AF65-F5344CB8AC3E}">
        <p14:creationId xmlns:p14="http://schemas.microsoft.com/office/powerpoint/2010/main" val="911377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C6D390D-4288-4E58-BDCE-6CCEFA8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1F47D-A1A7-4B87-B806-E413ED68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E8F6C4C-080C-4B96-B227-BEFF20E2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578267E-4811-450E-A7DD-87B051F8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FA23C9-B6DA-4E07-A46A-1EA1EF1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Parámetros fijados por el curso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5C0DF30-DCCC-45BE-B5C5-BABD7955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Defender el tamaño de fragmento por equilibrio entre información y ruido.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019A7C1-EDDB-4B5C-8567-073C75F3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694180-8369-4B36-8CDF-E1645F64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46FA3F5-C2B8-4D79-ABD3-81463F0A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B9A1000-0805-4429-856A-CDD79943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99BED63-977A-403B-B56D-5D26139E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414D454-38E1-4705-9C12-B52479F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2A6907E-6EED-4D4C-8231-D5EFFEA9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6C68CFD-C1EB-4BA9-B723-F080F6D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7EB9328-7BA7-46E1-BE4B-151C9FE8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Telco y banca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chunk_size 400; overlap 60.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Retail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chunk_size 350; overlap 50.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Seguros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chunk_size 600; overlap 100 para conservar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contexto de cláusulas.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C3BF40A-9636-4E13-B23C-50A2192C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085FD55-A459-4B40-A741-491F7602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37B916EE-F856-4668-952A-9A142520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tokens a unidades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splitter sin comprobar su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0803FEE2-2DA4-4DAA-919B-C3D39966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2CE91EA7-D41D-400E-9FBD-C4500B0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A797500-4E12-4E4C-A49B-76DE6AB8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3535E26D-38C4-4386-B427-13C4D8C2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error de respuesta causaría recuperar solo la primera mitad?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E7593CC8-5E47-40F3-8E7D-1F7028BB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235B9561-3AA8-4655-BE24-EEFAE1D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tamaño se justifica por el documento y se valida con preguntas reales.</a:t>
            </a:r>
          </a:p>
        </p:txBody>
      </p:sp>
    </p:spTree>
    <p:extLst>
      <p:ext uri="{BB962C8B-B14F-4D97-AF65-F5344CB8AC3E}">
        <p14:creationId xmlns:p14="http://schemas.microsoft.com/office/powerpoint/2010/main" val="1954669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896CDA0-FE66-4F55-934C-2C0F7C2E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875AC-7933-44A8-9696-3FFF5518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0A02458-ACEB-409E-8C74-CDCBB57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1BED383-FAFC-438D-948E-1F38FB92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98E8EF-CA4E-4964-B138-A05A41DA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Chunking y contexto de la cláusula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8450860-99D1-4283-BFC9-681FA069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Defender el tamaño de fragmento por equilibrio entre información y ruido.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EE78D6E-88ED-4FC5-A9BC-FBB4DEE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1316F5D-8A5E-49E1-AB1A-9AD0D206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B69E596-24BB-4C06-85D7-EAAF3F77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9E426D5-C53A-42F6-80D9-3B9C9BC8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8D191FA-E601-43AE-80E4-D993ECD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AF950B3-4944-48C9-B3D3-8CA503F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E335283-EFC6-44BA-9ECB-B48CEAED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A54E222-5350-42CD-A81F-B802061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8D65C87-764C-4A81-9B15-028F26ED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DEF8E68-F018-4879-91A1-AF7767D0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DF62A481-F2BD-4354-BA1E-1A544AF4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059DD81C-D1EC-44EE-9450-952163DD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cláusula describe cobertura y a continuación una exclusión.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B9D807B-D20D-4193-ADCD-B8CF2927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F52A7C2-701D-402B-A08F-9ED0C97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AE24B-A985-4F7C-B96A-5873A6F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84541EE-2873-4897-9A71-2471EAA0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DE2536B-2A62-48F2-83A7-657F6687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A7B6C7C-0286-4C5F-AD99-01CA2B5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fragmento demasiado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pequeño separa la excepción.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E743C2E-165E-4569-A081-C7DA47F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940FF74-5BD8-4A3B-9765-5DC4B6FD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B3205D-7B4F-41B4-9634-F219D253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F817529-AC5A-414D-A08D-8E3FBE4D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53CDBFA-ACDE-4E44-AC69-B63C1F7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8404E1EF-D1DB-47ED-B212-2698460E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solo recibe la mitad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favorable.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046B4C5-5F86-431B-B2D9-14A1FD3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D236271-1098-40AC-915B-29E7FE8C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AB7EED-2AAE-4D66-A4FD-046A14C7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CDFCB94-4CC2-48E5-86B8-8433BF7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37F23E7-C224-4280-BBF3-8B6ED44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35DED082-73A3-4153-B893-FFF49EF1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 cortes y preservar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sentido completo de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condición.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DC21E01-448A-47DE-B841-E21736D5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7847FEF-D664-4183-BEA2-EF718008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32F8EF0D-A67C-4CA2-93EA-94E2C0C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chunk grande tampoco garantiza que jamás parta una idea.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D029111-7713-4474-8937-565157E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420F19F-C533-4C3F-B899-B955E5EB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tamaño se justifica por el documento y se valida con preguntas reales.</a:t>
            </a:r>
          </a:p>
        </p:txBody>
      </p:sp>
    </p:spTree>
    <p:extLst>
      <p:ext uri="{BB962C8B-B14F-4D97-AF65-F5344CB8AC3E}">
        <p14:creationId xmlns:p14="http://schemas.microsoft.com/office/powerpoint/2010/main" val="18319718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">
            <a:extLst xmlns:a="http://schemas.openxmlformats.org/drawingml/2006/main">
              <a:ext uri="{FF2B5EF4-FFF2-40B4-BE49-F238E27FC236}">
                <a16:creationId xmlns:a16="http://schemas.microsoft.com/office/drawing/2014/main" id="{E60B66FC-B0B2-4024-BB63-96E85DCF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1A593-1BBA-42F4-AB1E-538E0336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668FEAA-DFA1-4A7C-BF83-D9134F24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59E379A-BF7C-4B18-B102-2E9CCC2A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286A33-D510-41B2-87CF-4750DF5A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Colección, punto y payload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547935D-F679-47CA-9CDE-1402479D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Vincular búsqueda vectorial y trazabilidad del texto recuperado.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2D49F64-DD19-4CC7-A551-B236632A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F436E62-D45C-43DC-8774-F73825DD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F3BE318-C39D-4177-86BC-AD00F91B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207A6D1-FF33-4580-85C7-8B8F6C8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F4B956E-27F0-46EC-A9A6-6C92234B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45C4B4B-EA6A-4D22-BE43-F8B47D8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362BD02-0004-49B6-B50C-EDE37734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BE971D3-7B2B-4E69-A4B5-B17E4476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06E7D6-7737-48FB-ACEF-365A1BD9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FRAGMENTO A UNA CITA VERIFICABLE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A775E48D-14C7-4FEB-B667-794D108F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txt">
            <a:extLst xmlns:a="http://schemas.openxmlformats.org/drawingml/2006/main">
              <a:ext uri="{FF2B5EF4-FFF2-40B4-BE49-F238E27FC236}">
                <a16:creationId xmlns:a16="http://schemas.microsoft.com/office/drawing/2014/main" id="{9BE0B133-05AE-4BDA-ADC1-A9E7ECAC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3EB292C-DAE0-47B2-A4F7-9A83216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Fragmento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BC062FF-69B5-4361-83BF-C2C48270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Texto del corpus</a:t>
            </a:r>
          </a:p>
        </p:txBody>
      </p:sp>
      <p:sp>
        <p:nvSpPr>
          <p:cNvPr id="20" name="component-vec">
            <a:extLst xmlns:a="http://schemas.openxmlformats.org/drawingml/2006/main">
              <a:ext uri="{FF2B5EF4-FFF2-40B4-BE49-F238E27FC236}">
                <a16:creationId xmlns:a16="http://schemas.microsoft.com/office/drawing/2014/main" id="{85485B59-086A-4BD0-AC3F-4C835A5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F5A05E9F-F520-4B14-9BB6-EC18C04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Embedding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7AA8AF08-79CB-4323-BC68-F3D47C3E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Vector compatible</a:t>
            </a:r>
          </a:p>
        </p:txBody>
      </p:sp>
      <p:sp>
        <p:nvSpPr>
          <p:cNvPr id="23" name="component-point">
            <a:extLst xmlns:a="http://schemas.openxmlformats.org/drawingml/2006/main">
              <a:ext uri="{FF2B5EF4-FFF2-40B4-BE49-F238E27FC236}">
                <a16:creationId xmlns:a16="http://schemas.microsoft.com/office/drawing/2014/main" id="{8F88287E-1722-491F-B08F-C77863EE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2C47758C-4F82-46C2-835C-1F0391DE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Punto Qdrant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03B0375D-8428-4A7B-B028-EC504BF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Vector + payload</a:t>
            </a:r>
          </a:p>
        </p:txBody>
      </p:sp>
      <p:sp>
        <p:nvSpPr>
          <p:cNvPr id="26" name="component-payload">
            <a:extLst xmlns:a="http://schemas.openxmlformats.org/drawingml/2006/main">
              <a:ext uri="{FF2B5EF4-FFF2-40B4-BE49-F238E27FC236}">
                <a16:creationId xmlns:a16="http://schemas.microsoft.com/office/drawing/2014/main" id="{756B9F7C-B70B-494B-8BBE-3A78E06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74250166-A61C-4909-89C5-C4F4282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Payload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7A5FC6CF-3239-4D7A-ABC7-BE735BA7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Texto, fuente y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metadatos</a:t>
            </a:r>
          </a:p>
        </p:txBody>
      </p:sp>
      <p:sp>
        <p:nvSpPr>
          <p:cNvPr id="29" name="component-ret">
            <a:extLst xmlns:a="http://schemas.openxmlformats.org/drawingml/2006/main">
              <a:ext uri="{FF2B5EF4-FFF2-40B4-BE49-F238E27FC236}">
                <a16:creationId xmlns:a16="http://schemas.microsoft.com/office/drawing/2014/main" id="{7DA02401-26AE-4581-B6DB-3BF5783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CC0EAAAB-5AD2-4B6F-A5AF-656A6D20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Recuperación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0038A9B9-79F2-46E3-92A4-8A4AE0DC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Texto + procedencia</a:t>
            </a:r>
          </a:p>
        </p:txBody>
      </p:sp>
      <p:sp>
        <p:nvSpPr>
          <p:cNvPr id="32" name="component-ans">
            <a:extLst xmlns:a="http://schemas.openxmlformats.org/drawingml/2006/main">
              <a:ext uri="{FF2B5EF4-FFF2-40B4-BE49-F238E27FC236}">
                <a16:creationId xmlns:a16="http://schemas.microsoft.com/office/drawing/2014/main" id="{7B6A9FB3-A9E7-4B66-851B-3D9DE378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6434A9D5-0C6C-4D03-A774-02D7DAEB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77CF670-EA2E-46F6-997E-19DC966C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Afirmación respaldada</a:t>
            </a:r>
          </a:p>
        </p:txBody>
      </p:sp>
      <p:cxnSp>
        <p:nvCxnSpPr>
          <p:cNvPr id="8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296275" y="407670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26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6410325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29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333750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0D358CE2-E155-49B8-BB9E-C4807169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1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53CF041E-2F5E-4B36-B79B-47F183F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2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0253C5C4-A325-4FA8-A436-7080C75E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filtros restringen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candidatos según metadatos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payload.</a:t>
            </a:r>
          </a:p>
        </p:txBody>
      </p:sp>
      <p:sp>
        <p:nvSpPr>
          <p:cNvPr id="43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4C6F90B1-15F9-4C2E-972F-37A9FD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4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42846A62-EF7E-49D9-A342-ABD8F55C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información perderías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guardando solo vectores?</a:t>
            </a:r>
          </a:p>
        </p:txBody>
      </p:sp>
      <p:sp>
        <p:nvSpPr>
          <p:cNvPr id="45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216B0679-0028-4CA0-A601-3BB667B3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Confundir el vector con el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texto que el modelo debe leer.</a:t>
            </a:r>
          </a:p>
        </p:txBody>
      </p:sp>
      <p:sp>
        <p:nvSpPr>
          <p:cNvPr id="46" name="panel">
            <a:extLst xmlns:a="http://schemas.openxmlformats.org/drawingml/2006/main">
              <a:ext uri="{FF2B5EF4-FFF2-40B4-BE49-F238E27FC236}">
                <a16:creationId xmlns:a16="http://schemas.microsoft.com/office/drawing/2014/main" id="{558A1958-C6DC-42E4-AF5E-800E88F9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7" name="takeaway">
            <a:extLst xmlns:a="http://schemas.openxmlformats.org/drawingml/2006/main">
              <a:ext uri="{FF2B5EF4-FFF2-40B4-BE49-F238E27FC236}">
                <a16:creationId xmlns:a16="http://schemas.microsoft.com/office/drawing/2014/main" id="{7356D0DC-F588-4799-8541-FFF4B367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payload conecta el vector con una fuente que el docente puede revisar.</a:t>
            </a:r>
          </a:p>
        </p:txBody>
      </p:sp>
    </p:spTree>
    <p:extLst>
      <p:ext uri="{BB962C8B-B14F-4D97-AF65-F5344CB8AC3E}">
        <p14:creationId xmlns:p14="http://schemas.microsoft.com/office/powerpoint/2010/main" val="2319145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BD8DC5AC-0F42-41F3-AE01-BB5537BA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2D103-F83A-48E9-84DF-2AA62037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1ECD105-46F0-47EE-987C-A0BE2CC1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0B2D247-D8A4-4F51-82A0-67F0F379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720835-801A-4A03-8AEF-44FFE0B3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Recuperar con procedencia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257146F-9A74-498D-8B0C-B5318ACC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Vincular búsqueda vectorial y trazabilidad del texto recuperado.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8B3F5D5-D324-4579-A9BF-362703B4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5F11A51-BF6E-4D91-97E0-78EFC6EA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3CCEC44-9EF5-4FC6-A2A4-05860308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278D5DD-5DD9-4EDF-B864-3917B91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79069D8-A1BF-4730-BC7E-360162B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3AB4D64-11C3-4149-8DA3-83FC68CB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1633ACE-CF37-4E40-AF13-F2AE064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5BF8B05-073A-4853-A6CE-D2E92CBE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A78051-6BFE-4629-B6F5-70251FB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Texto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resultado debe incluir el fragmento utilizable.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Fuente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el documento de origen junto al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fragmento.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Filtro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Restringir por metadatos cuando la consulta exige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 ámbito.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7084BAA-9D7B-4FAC-97C9-FDC0C980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CEEC1EEF-A1F4-465E-8A9E-B811D2C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2055BF7-7164-4A79-81C3-A9DA4C10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el vector con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texto que el modelo debe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leer.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A5530838-ECA1-4234-BD72-DC7CA40F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7F8F4A8-C614-441A-ABA1-58E2242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B063282-F595-43CC-8F89-7ECE54CD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39B409C0-9365-41AB-94DE-0A302BB9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información perderías guardando solo vectores?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BC90017F-7799-4C42-AC7A-A069588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3DD2DE2-B055-41B3-B595-BE14ED2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payload conecta el vector con una fuente que el docente puede revisar.</a:t>
            </a:r>
          </a:p>
        </p:txBody>
      </p:sp>
    </p:spTree>
    <p:extLst>
      <p:ext uri="{BB962C8B-B14F-4D97-AF65-F5344CB8AC3E}">
        <p14:creationId xmlns:p14="http://schemas.microsoft.com/office/powerpoint/2010/main" val="2445071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6280B23-2E3F-40AE-929C-F0FCE95F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41982-0593-4B9B-AE7F-6B8DFB5D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FC575BA-B3A2-4F4A-8BAC-1BBAD487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3E00F91-92F7-4902-836D-11A18003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7B4CE2-0D30-401F-AEF6-31CC3C72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Colección, punto y payload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20E2FF6-4CCD-4897-9F91-7D32BE32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Vincular búsqueda vectorial y trazabilidad del texto recuperado.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46B96A8-7019-4AD4-A7F7-208FF770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BEA50F1-41D7-4788-AB95-51557F6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C15E491-89D5-4432-8CF7-78ED5AD3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2519EE-7AF4-4310-AE54-C21A72E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F0AD4F7-1978-4CCE-B67E-E91B8994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8C779CD-E027-49AE-B2C5-90E35A9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9F859A2-04CF-458B-A8B8-06DA4F6D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E6228E8-B346-485B-B5CB-A295B143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FE1FEC8-BEEF-4359-B1F9-23B21260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4704744-6658-4A94-B188-F00D3590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DC6F0D77-7285-4733-AF2F-37165517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943B9B7-6380-4544-BEFD-A79C3C10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Dos versiones de una política contienen plazos distintos.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D0B7345-3253-420E-971F-0E452341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1FCB059-80AB-4451-99FF-1971C357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3D8CD-1D0D-4ABB-8235-C50ADF67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AF0DC11-7853-472A-9AB5-3E607CBC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C962634-8CB1-4EEF-B141-7A2A19D7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Indexar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4A5BC8CC-17FA-4A5C-B565-8761AE7A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Guardar texto y procedencia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metadatos.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C7D3EFE-7F45-4FE1-903F-CEDDAEE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5ACDA75-2528-49DA-BEF3-82EA804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08B7F-1686-4E07-A66D-8D19C682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DEB5A3E-A06D-4768-89AD-041E89A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B114FD7-D4D5-4CB5-8AEC-A9B50C8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EFC6B58-207C-4A3B-8662-7B1B4FFB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Recuperar la versión aplicable 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13110EC-1673-4B4A-8B91-11D0FFDB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2E4D2AA-D375-4D26-B17C-E36F19A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28CAF9-5ACE-4D2F-B773-0E47EF07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297E0CF-8A6B-4D85-BB23-9F61A417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8FECB80-10B1-49DC-B604-707EEF98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Citar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8A218B03-88A3-43EF-BECF-139E2CD5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el documento que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respalda el plazo.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C0360B8B-69A5-46CF-9908-F4B0746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BAF2E22-80C6-42AB-AAB3-59A05A6F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372D794-5EF9-4047-ACAD-C1459B9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Sin procedencia, un fragmento correcto puede quedar sin una cita verificable.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2A4040F-D10D-4988-8056-3C140FC6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0F0C988-EF00-4856-B669-D054BEF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payload conecta el vector con una fuente que el docente puede revisar.</a:t>
            </a:r>
          </a:p>
        </p:txBody>
      </p:sp>
    </p:spTree>
    <p:extLst>
      <p:ext uri="{BB962C8B-B14F-4D97-AF65-F5344CB8AC3E}">
        <p14:creationId xmlns:p14="http://schemas.microsoft.com/office/powerpoint/2010/main" val="709135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header">
            <a:extLst xmlns:a="http://schemas.openxmlformats.org/drawingml/2006/main">
              <a:ext uri="{FF2B5EF4-FFF2-40B4-BE49-F238E27FC236}">
                <a16:creationId xmlns:a16="http://schemas.microsoft.com/office/drawing/2014/main" id="{79517F53-0833-4A20-9F0A-4422E4F9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0B4A1-F142-42DD-96D3-44C2175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2D3A9B1-6909-42E4-9519-4D53FF41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ADC685E-5C4B-42ED-9707-A7FC8246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A69188-1E6D-4839-AEAC-06EA8FF5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RAG tradicional y RAG agéntico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0283B3A-6B0D-4558-AB83-E3FBDBF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una recuperación fijada en el flujo con una elegida como herramienta.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609D1B7-593A-4517-9CBF-0504190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992C1A-C627-4043-83B0-F58EFE9C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D734D7B-6FFF-4CFB-A5EB-B14B4C24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4D21E62-DA4D-4CC3-BAFB-B4AF6804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AFBC30E-D413-46E6-944B-C3F9EB1B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EB0CE57-DCF0-45F5-A642-88A771A6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63B8664-410A-4E5E-BD89-B987F34F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CFEA7EE-5EF5-4B72-83B9-6141E7EA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582EB90-10FE-499F-BED6-D7865A64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DOS RUTAS PARA INCORPORAR DOCUMENTOS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FE080E10-0CCF-49A9-B67D-6B7DF3F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q1">
            <a:extLst xmlns:a="http://schemas.openxmlformats.org/drawingml/2006/main">
              <a:ext uri="{FF2B5EF4-FFF2-40B4-BE49-F238E27FC236}">
                <a16:creationId xmlns:a16="http://schemas.microsoft.com/office/drawing/2014/main" id="{0E5C7B20-CC77-4C20-A496-FF3D45CE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48D68315-DED4-4DC5-B0AB-B4E47E99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85A832A-F59C-4C6F-B6A4-B9AEC1B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Ruta tradicional</a:t>
            </a:r>
          </a:p>
        </p:txBody>
      </p:sp>
      <p:sp>
        <p:nvSpPr>
          <p:cNvPr id="20" name="component-r1">
            <a:extLst xmlns:a="http://schemas.openxmlformats.org/drawingml/2006/main">
              <a:ext uri="{FF2B5EF4-FFF2-40B4-BE49-F238E27FC236}">
                <a16:creationId xmlns:a16="http://schemas.microsoft.com/office/drawing/2014/main" id="{451CBD2F-BBAC-4971-9B91-EECE233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990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24F6FB66-2614-4792-856E-C61DECA2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5277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Recuperar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AA2866AE-D7F7-4E69-9C8D-02C69F4B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6712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Búsqueda fijada en el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flujo</a:t>
            </a:r>
          </a:p>
        </p:txBody>
      </p:sp>
      <p:sp>
        <p:nvSpPr>
          <p:cNvPr id="23" name="component-a1">
            <a:extLst xmlns:a="http://schemas.openxmlformats.org/drawingml/2006/main">
              <a:ext uri="{FF2B5EF4-FFF2-40B4-BE49-F238E27FC236}">
                <a16:creationId xmlns:a16="http://schemas.microsoft.com/office/drawing/2014/main" id="{1AAB9BC7-25B9-4444-A122-8CF68C9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4F8C3427-1B0A-4114-8B2D-0EB8B080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5277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Responder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AE521EB9-5E80-4FEF-954F-F9277F61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 contexto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recuperado</a:t>
            </a:r>
          </a:p>
        </p:txBody>
      </p:sp>
      <p:sp>
        <p:nvSpPr>
          <p:cNvPr id="26" name="component-q2">
            <a:extLst xmlns:a="http://schemas.openxmlformats.org/drawingml/2006/main">
              <a:ext uri="{FF2B5EF4-FFF2-40B4-BE49-F238E27FC236}">
                <a16:creationId xmlns:a16="http://schemas.microsoft.com/office/drawing/2014/main" id="{A27D9676-6195-45CB-9CF3-871A4D1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70034077-CDE0-44E2-8DD9-C8B90D60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71A72810-520F-4D33-A088-B92B1A6D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Ruta agéntica</a:t>
            </a:r>
          </a:p>
        </p:txBody>
      </p:sp>
      <p:sp>
        <p:nvSpPr>
          <p:cNvPr id="29" name="component-agent">
            <a:extLst xmlns:a="http://schemas.openxmlformats.org/drawingml/2006/main">
              <a:ext uri="{FF2B5EF4-FFF2-40B4-BE49-F238E27FC236}">
                <a16:creationId xmlns:a16="http://schemas.microsoft.com/office/drawing/2014/main" id="{9A270646-5CF6-4D41-8EED-BA92DAA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3989A79-FCCE-4FF3-BD34-4EFFD794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CE47DCD8-3F0D-4A21-9974-F254CA8C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Decide si usa retriever</a:t>
            </a:r>
          </a:p>
        </p:txBody>
      </p:sp>
      <p:sp>
        <p:nvSpPr>
          <p:cNvPr id="32" name="component-r2">
            <a:extLst xmlns:a="http://schemas.openxmlformats.org/drawingml/2006/main">
              <a:ext uri="{FF2B5EF4-FFF2-40B4-BE49-F238E27FC236}">
                <a16:creationId xmlns:a16="http://schemas.microsoft.com/office/drawing/2014/main" id="{C63F5B71-9B2F-43FF-BFA9-B40D2D18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76DB0AF8-0334-4D16-A686-9CAFCC71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Retriever tool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6CFECA5F-CBC2-44B5-AD4A-3A15FB7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Cuando la tarea lo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requiere</a:t>
            </a:r>
          </a:p>
        </p:txBody>
      </p:sp>
      <p:cxnSp>
        <p:nvCxnSpPr>
          <p:cNvPr id="81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4806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4806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333750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410325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D31D736-12D2-4154-83C5-B1C64856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0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89EB4FF7-BCC8-40B1-9BC3-8CDBE490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1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A2982D5C-F34E-48AA-99AF-67FC39AA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ruta agéntica puede omitir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búsqueda necesaria; A6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obliga a verificar.</a:t>
            </a:r>
          </a:p>
        </p:txBody>
      </p:sp>
      <p:sp>
        <p:nvSpPr>
          <p:cNvPr id="42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72AEACEC-6854-4415-B2AB-F6E10A4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3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625230A8-B71B-47FA-A07B-37310558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riesgo nuevo aparece al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permitir que el agente elija buscar?</a:t>
            </a:r>
          </a:p>
        </p:txBody>
      </p:sp>
      <p:sp>
        <p:nvSpPr>
          <p:cNvPr id="44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C2E72FCD-DF9F-4419-B33C-6B9C232D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Afirmar que la latencia del RAG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tradicional es siempre constante.</a:t>
            </a:r>
          </a:p>
        </p:txBody>
      </p:sp>
      <p:sp>
        <p:nvSpPr>
          <p:cNvPr id="45" name="panel">
            <a:extLst xmlns:a="http://schemas.openxmlformats.org/drawingml/2006/main">
              <a:ext uri="{FF2B5EF4-FFF2-40B4-BE49-F238E27FC236}">
                <a16:creationId xmlns:a16="http://schemas.microsoft.com/office/drawing/2014/main" id="{AA75FE97-05DE-4901-8224-51222CE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6" name="takeaway">
            <a:extLst xmlns:a="http://schemas.openxmlformats.org/drawingml/2006/main">
              <a:ext uri="{FF2B5EF4-FFF2-40B4-BE49-F238E27FC236}">
                <a16:creationId xmlns:a16="http://schemas.microsoft.com/office/drawing/2014/main" id="{3C38D2AA-6085-486B-A781-C6AAE2F7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toda consulta necesita RAG, pero una política sí necesita su fuente.</a:t>
            </a:r>
          </a:p>
        </p:txBody>
      </p:sp>
    </p:spTree>
    <p:extLst>
      <p:ext uri="{BB962C8B-B14F-4D97-AF65-F5344CB8AC3E}">
        <p14:creationId xmlns:p14="http://schemas.microsoft.com/office/powerpoint/2010/main" val="5981726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943F9BED-6EE4-4F97-AF21-B8892D9C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5B4A2-2BBA-4F52-B4B9-FC540E85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B2583EF-3CA7-42E9-AB64-57BEFA89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11F9309-BDCF-4058-A3F8-3824DAC9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D27354-0108-4D0D-B3DD-9A2AF744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Decidir cuándo recuperar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884BDA6-5199-4242-9728-5B1D6545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una recuperación fijada en el flujo con una elegida como herramienta.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83F4FC8-60C8-4132-BC88-7F52F4CE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4F32927-24A2-4938-A34E-00B043CC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D5C3C9A-CD2A-490A-A01A-D064B8E3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760BE19-9D0F-4A0B-8015-007A634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2101797-101C-4732-A906-20B41704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D1C59F7-D75B-49B8-BAD9-4BB27CE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55F0592-6CDD-4546-919E-26329B06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B38B416-1D04-44A2-BB60-C4EF6F8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96AE64-0761-4B6C-A446-B628F9F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Saludo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requiere consultar el corpus del negocio.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 operativo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Usar la tool de negocio que ya resuelve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Política o tarifa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Recuperar la fuente correspondiente y citarla.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AC70A1C-D692-42EB-A6FD-F2562E4D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B10A85B-46BE-4A06-8C6F-3234A6FF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87483A8-6B25-4A7F-85AF-F78FC9C2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la latencia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RAG tradicional es siempre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constante.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3F569123-C2E5-4A8C-83A0-D3B7FC0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2098F92-B508-4509-9F5D-C0C37055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CA3A667F-3C61-408C-B0D1-D3289DEC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ECE07BD-804A-4896-B7B5-522E629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riesgo nuevo aparece al permitir que el agente elija buscar?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D26753C-0554-4716-A253-07457C4D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2419F22-B73A-4EFD-A428-285942B3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toda consulta necesita RAG, pero una política sí necesita su fuente.</a:t>
            </a:r>
          </a:p>
        </p:txBody>
      </p:sp>
    </p:spTree>
    <p:extLst>
      <p:ext uri="{BB962C8B-B14F-4D97-AF65-F5344CB8AC3E}">
        <p14:creationId xmlns:p14="http://schemas.microsoft.com/office/powerpoint/2010/main" val="14673189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66075FD-950D-4A33-B8A1-78555BEA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71947-AC8F-4652-8E52-11164CA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A6BFFC1-7935-4EC2-895B-99B8F195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F027D91-56FF-4118-AFB0-052ECEC5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02A43-AFC4-4D05-8247-41E81D42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RAG tradicional y RAG agéntico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ACADA57-C082-4DB8-910F-67070B8B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una recuperación fijada en el flujo con una elegida como herramienta.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AE0EAF1-9ADC-4835-BC34-5D31BCFF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E802FAE-C94E-4A62-A15A-74B102A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3B3868C-A159-4293-B7F2-DC4E450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0F794B7-9119-4E69-8853-2F78FA30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05C183C-DBA2-4FBF-9DDD-04DA7F9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8F8F090-62AF-4110-B222-58514AD4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345E260-7BF4-4B26-8B42-2C2B90CD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DEEB83F-1480-4CA2-AD50-23FD5EBB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2BEFCE0-13F5-4203-8B98-FF24D5B1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B36C7C2-B75B-4C7F-B767-36DEE45A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63C9F573-4DE9-4503-B934-F80A6E2F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1E8F5660-CBA2-4DE5-9DF0-B22D713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 «Hola» con «¿Cuál es la comisión de mantenimiento?».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E6E9FD3-F616-487B-B5A6-5482AC05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B62E4EE-1450-4BAF-A7B7-C94F203B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C51FE-1753-4D0E-B24C-4D567A7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AF2986B-E646-4FF1-9071-636082CB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CF1F69B-4721-4A9D-8277-3E64AADD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Saludo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4B7167AF-3E01-4070-8591-78C6F71B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Responder sin cargar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fragmentos irrelevantes.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695A4FC-A3BD-4839-B33C-B92489BA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FCABCE8-8B64-45F6-B4E7-7291F844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1F2B5-5C6F-4AB5-8598-7CF20BC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5B2B4DE-BA42-4B63-B9A8-CE392B3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1D64871-B034-4231-9691-FF74377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Comisión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E575063-AF66-4DCB-8CC1-BBD215B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retrieve_knowledge_base.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44908B0-0C7A-418A-9748-A8B85F42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A77601A-5600-4582-81CB-DF66EB25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ACDC2-30D2-4FD8-9F65-9BF9C17B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00C7741-E6BF-44D9-BF95-DE8BB06E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5F43ACF-6872-417B-A7CA-8B68093B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21CD79F5-4EFC-483B-8856-CEF6A09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lo que respalda el texto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recuperado.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DEC3D32-7440-4A40-AEA2-C64B0526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0FDB3B7-E762-4F99-8A7F-9239AD5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2E91D48E-42E1-4DD8-9F4D-DD6D7A61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patrón agéntico aporta selección; esa selección también debe comprobarse.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E55B395-5555-404D-9172-7CB36A41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745B2EC-7875-4A27-BBBC-A57E6654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toda consulta necesita RAG, pero una política sí necesita su fuente.</a:t>
            </a:r>
          </a:p>
        </p:txBody>
      </p:sp>
    </p:spTree>
    <p:extLst>
      <p:ext uri="{BB962C8B-B14F-4D97-AF65-F5344CB8AC3E}">
        <p14:creationId xmlns:p14="http://schemas.microsoft.com/office/powerpoint/2010/main" val="7337683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67ECD34-17A5-4F63-BB24-9C3F1ED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5CA42-1D27-41CB-A220-DF27F48B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AABB84F-2E94-4C59-9399-9713B5F5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6AA1B8C-5FBC-4CDA-9EF1-1CC58AE5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8CF6F3-4B11-43E8-AE5B-E5C818A4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Recuperar y citar: salvaguarda A6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5091B17-54EB-402C-B8BA-85708CD3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Exigir fuente ante afirmaciones sobre tarifas, coberturas, plazos o políticas.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5C0A78C-C925-4A91-ACAC-F6E2E4D9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57E3210-5782-4713-A670-0AF19BF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3FEEA34-6F33-4BAD-9818-3BF778B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66DA25E-164B-4365-8842-0B46085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D0E0C6F-7242-45B8-A615-96B7E32F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02FE633-1604-43EA-96F6-1415D817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310641C-F119-4282-B739-A5A59FD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BB60322-FAF7-4180-AB97-CE92EF2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0A9B071-2D8C-4F5F-8A90-E1CEB5ED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064B755-576F-413C-AEA2-F94BB0C9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ADF8276-3A02-48F2-B129-79EDE38D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D6AC3-1722-4E65-9F03-82271A31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3A66664-EBAD-4342-A52D-CEC9A0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03DB8CF-D835-44B9-8570-89856476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Afirmación sensible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3060B21C-ABFB-412B-B28A-FC4FB4E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pide una regla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concreta del dominio.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592EAEA-1D04-42CD-BB95-88F64685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5D2F2C0-EAE3-4233-92FA-2D580086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0159C-1C7B-4EC3-8EB3-96BD933F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2FFDEF4-5080-470F-8208-F4AA771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120430A-8C30-4B2E-92AA-1FEAC74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B94FEABB-3C13-4F47-9208-01094054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debe buscar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documento pertinente.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EF418F3-619E-4E29-953E-3741F6FA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CC2A8D5-0209-4764-95D6-7AC4FC7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4DFCE-3BEA-47B5-873A-BAD6670D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56A7612-8D73-4673-86C0-81DAE023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4327B5F-E774-4890-A136-D728BC5E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Fundamentación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C35A7228-3F45-4363-AB96-6112BC0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respuesta cita la fuente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 cuando no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encuentra.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F912B1AC-5A21-42FC-970E-C270E96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8EE2657-DF85-4943-8A36-FC4FC37A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A164E96-8D0D-416F-91A2-343B9825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¿Basta con que aparezca el nombre de un documento en la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F548451-4404-44BB-A889-3EA99DB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A04EF812-7983-4DBA-9847-37DE3A4D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44C9E046-B515-4302-B9C1-850F0350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instrucción del prompt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garantía técnica absoluta.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E92E2D5-D2C2-4D2D-B635-DDD03484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64B05A3-E708-4CF1-9C80-6E58F501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A6 define una obligación; hay que observar si el agente la cumple.</a:t>
            </a:r>
          </a:p>
        </p:txBody>
      </p:sp>
    </p:spTree>
    <p:extLst>
      <p:ext uri="{BB962C8B-B14F-4D97-AF65-F5344CB8AC3E}">
        <p14:creationId xmlns:p14="http://schemas.microsoft.com/office/powerpoint/2010/main" val="18088899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58EE824E-6E5A-43ED-B20F-35ABE39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81697-7D47-431D-9615-3CC7BAF2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BF5E28C-B636-4174-9344-10B1E7C2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35C001A-8355-4DDC-B812-2EF8F72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562F56-0F09-4FDF-8FDD-F9F62F73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Tres preguntas antes de afirmar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09A6A1F-7DAD-430F-A8CF-9EA999E8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Exigir fuente ante afirmaciones sobre tarifas, coberturas, plazos o políticas.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F9A9F17-BE94-478B-BF1E-7C40FFC4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E20D435-C304-4F29-B024-87BDEF6C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4B669E8-AD09-4D13-9FCD-A24B3A82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3FB296F-C66A-462F-BA42-3174DD3C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B2C208F-945B-479E-BC93-3AFCFCD9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AE928EB-0E12-47CA-AF92-78A19EA2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1619F03-FB86-448F-9E4A-FCC5186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DB50831-99EA-45D5-B631-4EDC0C00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0FCF95-95C9-44F3-BF72-8032008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¿Se recuperó realmente algún fragmento?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Pertinencia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¿Ese texto corresponde a la pregunta y al ámbito?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Respaldo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¿Contiene la información que se va a afirmar?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B650428-6F00-4683-9984-82776128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C7B20E86-127A-4123-83C9-AD667196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A0C625D6-28EC-489B-92CE-5B21395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instrucción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prompt como garantía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técnica absoluta.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5812547F-DFE2-4103-A24D-AC097DF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AF1BFAB-EC62-4708-A03D-3395586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AF823643-2EAC-405D-9DF4-5A77A18C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0F44373-C03C-4D65-AB63-FB881C15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¿Basta con que aparezca el nombre de un documento en la respuesta?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962CC8E-7866-4FCA-A84F-FE11C803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F65764BC-9D77-484D-82A3-53DFB36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A6 define una obligación; hay que observar si el agente la cumple.</a:t>
            </a:r>
          </a:p>
        </p:txBody>
      </p:sp>
    </p:spTree>
    <p:extLst>
      <p:ext uri="{BB962C8B-B14F-4D97-AF65-F5344CB8AC3E}">
        <p14:creationId xmlns:p14="http://schemas.microsoft.com/office/powerpoint/2010/main" val="3666438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B5282A8-7A2C-4EB4-B30E-EAEB945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4A51E-F7E7-4901-A9F1-24E77CC7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E748EA9-D1BC-48B6-BABC-E083B42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9CDEC9E-63F9-4DD6-BF01-4D785529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B01C1-2C97-4834-8D7A-67A6A4A3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Recuperar y citar: salvaguarda A6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0B4916F-796D-4DBD-A799-13152AE4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Exigir fuente ante afirmaciones sobre tarifas, coberturas, plazos o políticas.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79B0F4E-F4E1-4C3A-AFC3-6138487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4E04E46-46A8-4714-9446-A3E8B9C7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7F914F6-9E3C-4CA3-A326-2CCB223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70F653E-A8EF-4934-9DC8-2BA941C5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85C3043-C317-420E-9042-CFDFF632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19242F1-CE76-4F7B-8259-F88EA59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3C91C09-F6A0-40CE-A2BD-6E753D46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CD416DB-AD30-406C-BF86-53248BB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58A32DC-C36F-43BD-9DBB-F28BC847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2A3AA0AF-CFB3-4C22-9762-CFF5242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C6FB37C8-FC29-4194-B75A-C866872A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8243967A-0E28-4970-ACE3-7BC963C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cliente pregunta si una situación específica está cubierta.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2CAD3DC-16EC-4C8E-962F-0CA08475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3FB00F0-561B-4D36-B00D-F9EDE869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8B700-7790-435F-8062-F2D5A6A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2B2FD0B-73F7-440F-B726-1A21698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E421E2D-5C8E-4905-AAA6-A3BCEB98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Buscar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E5C790A-121D-47F1-8D33-2BDD9E9D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Recuperar el condicionado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aplicable.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EABC9B5-B933-4635-A73F-53FA042F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79CC193-F248-4C01-9A06-E4E61E6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AA13D-3DD9-4C5A-BF9A-61EF48CD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D7728D4-5CEC-4ABE-8FB3-48FCCA7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608C737-C250-4EEB-ADA6-115110AD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FD25ED44-5D9E-49BE-A757-D268B73D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cláusula recibida debe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sostener la respuesta.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081AC38-D79D-4C13-8319-03FCFA44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12DA5F4-4747-4FF7-95C9-3E725A34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B0CF6-7BBE-4EB3-8BB2-86DF875D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46AA8E6-53D2-4C61-B70D-9575BBBF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1DC546D-EFB4-482D-A78D-A8F547D5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2E87B5D0-A51C-4281-BEDC-4F1839EC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no hay respaldo, decir que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puede confirmar.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C59B2235-AC87-481C-B740-BF293D3B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113442F-F486-4012-92C5-F102797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5E2E0F9-2894-423A-BA74-E59A800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Incluir una cita decorativa no convierte una afirmación en fundamentada.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28D714D-B816-44E7-B089-73E2E222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34AAA5D-5EF0-4D2F-B8AF-5CA8B97F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A6 define una obligación; hay que observar si el agente la cumple.</a:t>
            </a:r>
          </a:p>
        </p:txBody>
      </p:sp>
    </p:spTree>
    <p:extLst>
      <p:ext uri="{BB962C8B-B14F-4D97-AF65-F5344CB8AC3E}">
        <p14:creationId xmlns:p14="http://schemas.microsoft.com/office/powerpoint/2010/main" val="927201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D9B41EC3-F45B-4899-89E2-F5297BB9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3A9B2-1A88-4FFE-B610-B1909948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E16DB6F-7621-483C-B383-CD1841B2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29C0A75-60AB-40A4-8FFF-B49CDAC3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5C4130-918B-4FCC-95B9-FC0335D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Conocimiento recuperable y actualización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55F4A55-B444-4ACC-BDB2-FC586D0D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por qué el curso conserva reglas cambiantes fuera de los pesos del modelo.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0074614-C313-45D4-866F-EB29C31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70D82E-CE17-421B-8712-6EF3F9C1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F1DA71A-D0C3-4FAD-89D0-E7BC8757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437B08-E690-49BF-A726-850C3B0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07483A8-3E37-4D08-BDC3-2B0FDBD7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0BAA5EC-E5B0-48A4-A7EF-FEA9DD6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2155054-5585-4144-B7EE-1E211E4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B9759F6-C25D-4701-B748-9E55B3AD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D94931-1A2F-49B1-88E5-EC1F02A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010C8BE-7666-465D-926A-235270B2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50ED977-009A-421C-A392-305156A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058E1-2A2B-4334-BC2E-A1C15C3A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34752CA-24EA-4B09-B772-AE11EB19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0CF7FA8-F405-40F5-8F76-B300FA8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BA21227-0310-4E80-BC05-673AC7E1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Contiene el dato y su versión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vigente.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B9C4DEA-0269-4F45-B2AA-80FD8B56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D8D1D07-4590-494B-87FD-8E9BF50E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577BB-8FEB-4B39-A10B-B1391B20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BEA1A00-4FBE-4B6F-95C0-89B0C5A9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CBFD2F0-F3E2-481D-8320-2B6ED23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Índice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50E3B7C2-0B3D-4AB1-ADFB-84FA3D5F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 los fragmentos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disponibles para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recuperación.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AA49B9D-ECB5-4828-9781-8A94B2E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6D47AFF-D53C-445C-A33C-E1643E4D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79D7E-E561-4783-B90F-BA1765AA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36A21AA-1890-48C0-829B-B7D1AEF3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3C1BB2D-AB9B-49B1-AFC2-F6F5BA63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3AD05BD4-F7B2-443C-9A17-01D03195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 el contexto recuperado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sin reentrenar sus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parámetros.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0AA2BE50-0AD2-4376-8CF4-2B399D82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DEDB325-09FB-4F18-B16E-38AA1C7B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C51EE1D-F527-4CAE-A9B9-16DE93C8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paso falta entre editar un archivo y esperar resultados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nuevos?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CB28955F-D817-4FEF-A67C-9496179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B8420064-4C10-455A-AA5A-55CB7C75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E7A60DF-EB0A-43AE-A956-7BF915BB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Qdrant vigila y reindexa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archivos automáticamente.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726132D-93C1-4B42-BDDD-F68DDE7C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6D9B324-ABEE-4EC7-BFF2-78440919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conocimiento externo puede renovarse sin modificar los pesos.</a:t>
            </a:r>
          </a:p>
        </p:txBody>
      </p:sp>
    </p:spTree>
    <p:extLst>
      <p:ext uri="{BB962C8B-B14F-4D97-AF65-F5344CB8AC3E}">
        <p14:creationId xmlns:p14="http://schemas.microsoft.com/office/powerpoint/2010/main" val="11097995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6CEFA68A-C261-4821-A875-1F79DAA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290E4-5555-4FD1-8DD8-0F964194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9AC1152-B7F5-4124-BA47-AFC6472C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625251C-D4A0-4E04-AC5D-46D62C00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D73177-F43D-4EB3-82D2-B950567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Actualizar de forma verificable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61EB2E3-19BC-4A84-AEBA-1618C45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por qué el curso conserva reglas cambiantes fuera de los pesos del modelo.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FC58162-8694-4C51-BCA2-7B480CF1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BA4E27E-07F6-44A3-9D04-B3D87C2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0D29DC1-E77F-48DB-AAFD-F9750D00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E7C7A6A-116E-4163-ADB2-EDD32EB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9B47150-4FBF-400F-A6AB-8CFFCBF7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E9E5730-A510-4B12-85E2-7ACB48D8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DE73318-998C-4BA7-BCA2-84F76E3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73BBD1E-0665-4DB5-A005-6F72B8B6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C5DBF17-9412-40FA-BAED-F346BE0D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Cambiar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Modificar la fuente de conocimiento que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corresponde.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Indexar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Actualizar los puntos afectados mediante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proceso de ingesta.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Repetir la consulta y comprobar dato y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procedencia.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22F608FE-FAA9-436E-BFA1-2DF0079A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F5F88FD-BF8D-460D-9A54-41EE5A91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450EF3C-65C1-4968-AE06-846391E1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Qdrant vigila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reindexa archivos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automáticamente.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9A9D3401-B387-45AF-AFA1-F9E9F2BB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B6C44213-F5E2-4B59-A945-5FC2697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C22EFCD1-976D-4A87-9D20-BC80D25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FE88861E-0DE4-4A5B-97AB-AC14A02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paso falta entre editar un archivo y esperar resultados nuevos?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D0087CF8-4F55-4A28-BAE8-75583D5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34E3630-CA73-4D96-BD67-B6928D9C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conocimiento externo puede renovarse sin modificar los pesos.</a:t>
            </a:r>
          </a:p>
        </p:txBody>
      </p:sp>
    </p:spTree>
    <p:extLst>
      <p:ext uri="{BB962C8B-B14F-4D97-AF65-F5344CB8AC3E}">
        <p14:creationId xmlns:p14="http://schemas.microsoft.com/office/powerpoint/2010/main" val="3966990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32BDDD5-16B3-4EEC-ACDE-2982412F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B32E5-CF29-4873-82B5-2176747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4B5D1E2-6988-42C1-A633-1A3B8409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7AE3F75-E368-4A6D-B931-42D687D1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1714FB-6E7F-41A0-B48D-3064183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Conocimiento recuperable y actualización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CF2624A-5357-4F35-AB18-5FD6B0D3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por qué el curso conserva reglas cambiantes fuera de los pesos del modelo.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4268F4F-E749-49D5-86C0-202376D1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B47BDB8-8E06-4E12-8D15-924BA8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324DDFC-0797-452C-8670-5E05336F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C080706-4342-45C0-9337-B20D671D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15DA956-DD78-4277-A236-62DA93D4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8974653-A399-4C84-AA48-ECAA3802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F81FD56-C005-4302-8A44-DCD6DD5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ACD387E-7C5A-4C82-A103-F02A64C1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DAE56C3-86D6-4CF3-AE80-DEE95BB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8EE41F1-8019-4395-B1F2-20257A78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C578246C-934A-4B90-BBFB-8B0A8D4D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7BC41224-837B-4DE7-A5BB-8690975C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tarifario didáctico cambia una condición del plan.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002BC87-4151-4EC5-92D4-5E510EB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D853AD0-91C6-4238-9475-EF2F3942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C9C1B-38F5-418D-B051-85CEBD9F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84486C8-2B17-4E14-B26A-148F3CAF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9CBBDC5-557F-4E2B-8E86-456EF7A8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2E54B83-2264-4E65-93B0-1A4B80A5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consulta recupera la versión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previa.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D04C99B-D9DA-4AB7-8E9C-C37250A2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0592D96-461C-484A-A6F1-B22210F1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35020-C373-4A60-965E-C74721B6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C663B98-6453-4D30-8BA1-F5A49E32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9836B94-F162-4EEE-924F-0BAB8EB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Actualizar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DB6CCBC-217C-4681-8298-56F42EF9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Incorporar la nueva fuente 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índice según la demo.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348CA83-A38A-40FD-822C-859E089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2CA3A1C-ADCF-4CC7-AA17-6DABDC8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12F3C-037B-4B48-BC79-1D90EA6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94DB744-0032-456B-983F-85E3E07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9524CC1-A33D-4AE2-A115-668FE17A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Después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6A86122-A670-49C4-BD6D-21B54ED0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 que la respuesta usa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nuevo dato con su fuente.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C24EDEE-C317-4985-8557-41197A8E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089D43F-5915-4185-AE55-D91CAC04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0C41FCC-8D08-4BAC-9FA8-ECF4BACE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Actualizar el documento sin actualizar el índice puede dejar resultados antiguos.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87E8EF44-0C26-4D0F-B89E-2F8A80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E434089-8089-4A10-BDCF-D2E89ADD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conocimiento externo puede renovarse sin modificar los pesos.</a:t>
            </a:r>
          </a:p>
        </p:txBody>
      </p:sp>
    </p:spTree>
    <p:extLst>
      <p:ext uri="{BB962C8B-B14F-4D97-AF65-F5344CB8AC3E}">
        <p14:creationId xmlns:p14="http://schemas.microsoft.com/office/powerpoint/2010/main" val="2129545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49760C7-4B96-4EB8-B5D9-F0D6BA42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19DAD-030D-470B-9387-0EA3BEB2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0E09D17-BDCD-4CA4-9623-0F26BBA5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29A11CB-D280-44EA-97DD-5FE47FF7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DE3C42-6E9D-407F-96AA-E80E7C2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Laboratorio L5: integrar memoria y RAG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086F2AD-C05C-4846-BB94-D02F7C78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 y verificar la nueva capacidad sobre el catálogo de L4.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AC7C351-C5F9-4BA7-BE8B-D1E48C1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197995E-EA9A-47D0-9643-854919EF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D75337B-16D6-4850-997B-27C4B31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F52F715-752F-4DCD-A969-D1739008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5493284-B8B3-49D9-BAEE-FBC7024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34A9856-578C-4714-9FCC-43099C2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1CF61C0-8EE9-4F5D-8571-3424D265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C09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5500E8B-ACDC-41A2-85D6-1EA27FAA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012E83-F10B-4388-9EF0-62AB6138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4AEEB13-E3E7-4439-8125-90F879FC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7AB6D96-9941-4E5E-BBCC-EB29D94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F5F94-E44E-4AF7-81CF-A88CE6D3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8CA3392-7AF2-4B6E-8BE1-18420D29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A0295A3-B765-4DC3-ABF2-DAFBB48C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Ingesta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5248FAC-B30B-4B52-82BF-884EBF73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Dividir corpus, generar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vectores y cargar puntos.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5A8098D-058A-4327-98C4-513C6E59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3674E9A-415A-4546-85D4-D3B6BEA6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52617-6AB5-4F08-B8F8-7E7DF053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2767364-C2DD-4D55-BE0D-1FC302A6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3FB2E38-E9E8-40DF-BDAE-37AD458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Retriever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415FF0EC-2E5D-424E-A1A0-7FB62394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Exponer recuperación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 con una docstring clara.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E6B9D6A-F20E-4886-A1FE-D85675A2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265928F-9908-436B-93DD-A066281A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46E24-CB05-4DAC-90B3-2A56BA5C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08AFE6A-A6C1-4498-ACC8-7CCD6D4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8C470D2-3095-4600-8B70-4876050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Conversación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74AC3E1-5E0C-422F-BE96-6D2BA51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 historial y probar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preguntas con cita.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104027FB-4ED0-4E5B-8565-0CFFA41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ECA5796-8C18-4016-8A2F-727DF7BB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A7E508E9-2D9C-4B90-BBC0-1E07BB87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debes recuperar después si solo usaste el índice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respaldo?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B42A084-A641-4F91-88FA-885078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B786FA8-E7E1-4017-AF2E-93C187C0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0D4F948A-18C7-4DBC-838B-1B83F17F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Sustituir silenciosamente Qdrant por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otra arquitectura.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BA6F08E-0499-4B73-A8FD-CB62AA4D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724903E-951D-40C8-BFDE-58BB82F4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preparación operativa y aprendizaje evita bloquear el laboratorio.</a:t>
            </a:r>
          </a:p>
        </p:txBody>
      </p:sp>
    </p:spTree>
    <p:extLst>
      <p:ext uri="{BB962C8B-B14F-4D97-AF65-F5344CB8AC3E}">
        <p14:creationId xmlns:p14="http://schemas.microsoft.com/office/powerpoint/2010/main" val="10955657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A4163280-FDE3-430E-9223-DD3A866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C9C3B-7FB4-49DD-9E70-6725526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29E57DB-2910-4CE1-8FBF-600D7711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2E6C90F-2C1E-487E-961C-D95C47B6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5C1DB9-FD6A-4147-A5DD-9735E8F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Pase de entrada y evidencias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5E0D8BB-B715-417E-BFBD-5B7A3D87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 y verificar la nueva capacidad sobre el catálogo de L4.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69E61C0-5F7E-4545-B818-8FB7B2ED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5625CC4-B4FE-4AAF-8026-56C4D2C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192141B-28C0-4CF7-94F9-D708B70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F6E1951-C7CE-48D2-BE7D-9FF229FB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7006B84-EE14-4D37-AFEB-10B3C1A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9833335-ABE0-42F6-BFD4-AA9BBBF0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921BEE5-AD35-473D-BFEA-9B6ECB3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C09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76D5718-F824-4EDA-8F87-5239745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DF33B1-EB62-43BB-9250-A34BF895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Servicios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check_stack comprueba embeddings y Qdrant.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Respaldo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colección kb-&lt;track&gt;-respaldo permite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continuar si hay bloqueo.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Verificación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las diez preguntas de cita verificable del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laboratorio.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6AFBD60-E1F8-45E1-95D8-1F4BBCC9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BA7F9CF4-7C34-46EB-8B2A-1D71158A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FFD995B9-E6BD-4857-A02D-D854CE17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Sustituir silenciosamente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Qdrant por otra arquitectura.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DDF2104-147C-45C1-8392-A205A23D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764F254-DD53-4823-958E-9E75156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9C35B78-5D48-4A94-9253-3DE74AE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F1D1F3D-7E4E-42B4-8E8E-B49C9C3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debes recuperar después si solo usaste el índice de respaldo?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06CE3615-E6DC-4368-B7F2-F48E6EF9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C1110668-C7AB-4018-8005-6312FA83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preparación operativa y aprendizaje evita bloquear el laboratorio.</a:t>
            </a:r>
          </a:p>
        </p:txBody>
      </p:sp>
    </p:spTree>
    <p:extLst>
      <p:ext uri="{BB962C8B-B14F-4D97-AF65-F5344CB8AC3E}">
        <p14:creationId xmlns:p14="http://schemas.microsoft.com/office/powerpoint/2010/main" val="4107316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7A073E7-AC70-46D0-89E8-1EF02FB3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A3F26-D6FB-41A5-9014-F8F76592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698CE25-AD75-46FB-815A-5F39D2F0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4FCE1B3-4732-4CAB-B13B-7E95717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05 · Memoria contextual y RAG con Qdrant / CAPÍTULO 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D3ADB3-3502-4F59-BFFD-005BDE13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Laboratorio L5: integrar memoria y RAG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84BC020-D971-4DC7-B367-29E0BDF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 y verificar la nueva capacidad sobre el catálogo de L4.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D6CFC35-6315-496A-9E2E-3A3755D4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37FB86A-E9AB-4540-BDB2-F64658B5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5D23A2D-A76A-406E-A5AA-284E35AA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FF2573B-EFCF-4E1B-970B-737BB92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E1EA279-6DB7-4A3F-9F10-FA16BA2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4A0FBA2-9011-457D-8B0B-5194DA07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CC0AC6F-659A-4065-B802-55FE2193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05 / C09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37E187B-FFBC-4A6E-9EB6-5158595F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159877B-EEA2-400E-9DD6-7BA1E79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8E4A435-4654-4367-9512-7CB260FD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46FDA295-0FF8-4539-8F97-8FE81A59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F61B43C-65C0-4A41-AC26-18F9B9C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cluster propio falla antes de empezar la ingesta.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624BDA0-CA3C-49BD-BCF4-03AB94CC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33874FB-74D5-48E2-A7AE-C4E256E6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4ABE6-7089-46FC-AC27-624A727C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BDD70B0-2C20-48D7-99C9-0E6843C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9EC618E-A1E6-4202-8DBC-1CDF7288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Diagnosticar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39F43453-A892-4AB2-AD3E-B4FACA06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las comprobaciones 6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F6FD01F-A05D-44C3-B278-0E6BE07F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883C101-FBD7-449C-A995-77284CC5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B9463-D0AB-4D5E-8611-982EC8DE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82D70D-27A9-4FA1-AB40-9CBF108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76F1C2D-C117-46CF-BAA4-44F909C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Continuar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C783C32A-2E62-4CBC-8B4D-2CA69A3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Coordinar uso de la colección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respaldo del mismo stack.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882F47C-CE5C-487A-83F3-4E53691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9363F36-257A-484F-BDD2-8AF48E78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93C2B6-8402-4F8F-B05C-06C79A63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A607506-144D-41B4-B763-30C9EF11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C8CAD52-8A3F-4C53-9584-9A2420AC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D42165CB-FCD9-4283-90E8-51B6C62A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Completar después la ingesta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pendiente con el checkpoint.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9AF2C0B4-C804-4D4F-B498-31FC85DA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025A840-9444-4114-BDC6-9641C35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BC16699-4DCF-47C7-B3D8-0B0C0B7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respaldo no elimina el objetivo de aprender la ingesta.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675D971-6A1F-4DE8-BBE7-704301F9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510013F-808C-4EDF-A559-CE06E6B3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preparación operativa y aprendizaje evita bloquear el laboratorio.</a:t>
            </a:r>
          </a:p>
        </p:txBody>
      </p:sp>
    </p:spTree>
    <p:extLst>
      <p:ext uri="{BB962C8B-B14F-4D97-AF65-F5344CB8AC3E}">
        <p14:creationId xmlns:p14="http://schemas.microsoft.com/office/powerpoint/2010/main" val="908323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2026-09-23T04:08:45.1880000Z</dcterms:created>
  <dcterms:modified xsi:type="dcterms:W3CDTF">2026-09-23T04:08:45.1880000Z</dcterms:modified>
</coreProperties>
</file>