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e01dd522bb410d" /><Relationship Type="http://schemas.openxmlformats.org/officeDocument/2006/relationships/extended-properties" Target="/docProps/app.xml" Id="Rc9a803ce78224f20" /><Relationship Type="http://schemas.openxmlformats.org/officeDocument/2006/relationships/officeDocument" Target="/ppt/presentation.xml" Id="R78b01b4ccb1a49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fa803f0f9e4721"/>
  </p:sldMasterIdLst>
  <p:notesMasterIdLst>
    <p:notesMasterId xmlns:r="http://schemas.openxmlformats.org/officeDocument/2006/relationships" r:id="Ra5a9dab61ddf4ecd"/>
  </p:notesMasterIdLst>
  <p:sldIdLst>
    <p:sldId xmlns:r="http://schemas.openxmlformats.org/officeDocument/2006/relationships" id="256" r:id="R92deae58711b40ba"/>
    <p:sldId xmlns:r="http://schemas.openxmlformats.org/officeDocument/2006/relationships" id="257" r:id="R892fde62c3254c4e"/>
    <p:sldId xmlns:r="http://schemas.openxmlformats.org/officeDocument/2006/relationships" id="258" r:id="R26acdecbd9d14948"/>
    <p:sldId xmlns:r="http://schemas.openxmlformats.org/officeDocument/2006/relationships" id="259" r:id="Rb54335736ced4c63"/>
    <p:sldId xmlns:r="http://schemas.openxmlformats.org/officeDocument/2006/relationships" id="260" r:id="R401f33e39839446a"/>
    <p:sldId xmlns:r="http://schemas.openxmlformats.org/officeDocument/2006/relationships" id="261" r:id="Re24c6ebc077e4c8e"/>
    <p:sldId xmlns:r="http://schemas.openxmlformats.org/officeDocument/2006/relationships" id="262" r:id="Rb58bf6cbc1bf45dc"/>
    <p:sldId xmlns:r="http://schemas.openxmlformats.org/officeDocument/2006/relationships" id="263" r:id="Redfe17aecaf24c46"/>
    <p:sldId xmlns:r="http://schemas.openxmlformats.org/officeDocument/2006/relationships" id="264" r:id="Rb3ba9a562476461e"/>
    <p:sldId xmlns:r="http://schemas.openxmlformats.org/officeDocument/2006/relationships" id="265" r:id="R58bf40a37bed47d6"/>
    <p:sldId xmlns:r="http://schemas.openxmlformats.org/officeDocument/2006/relationships" id="266" r:id="Rb06691deba9646d1"/>
    <p:sldId xmlns:r="http://schemas.openxmlformats.org/officeDocument/2006/relationships" id="267" r:id="Racf59ad920f24960"/>
    <p:sldId xmlns:r="http://schemas.openxmlformats.org/officeDocument/2006/relationships" id="268" r:id="R11417d6a867a4402"/>
    <p:sldId xmlns:r="http://schemas.openxmlformats.org/officeDocument/2006/relationships" id="269" r:id="Rd13fb349badf472b"/>
    <p:sldId xmlns:r="http://schemas.openxmlformats.org/officeDocument/2006/relationships" id="270" r:id="Rccb18e96316f4e86"/>
    <p:sldId xmlns:r="http://schemas.openxmlformats.org/officeDocument/2006/relationships" id="271" r:id="Rd85cfab3b0784039"/>
    <p:sldId xmlns:r="http://schemas.openxmlformats.org/officeDocument/2006/relationships" id="272" r:id="Rf734261a74cd4859"/>
    <p:sldId xmlns:r="http://schemas.openxmlformats.org/officeDocument/2006/relationships" id="273" r:id="R14a14140ff9a45b1"/>
    <p:sldId xmlns:r="http://schemas.openxmlformats.org/officeDocument/2006/relationships" id="274" r:id="R5378d4e68d704f5a"/>
    <p:sldId xmlns:r="http://schemas.openxmlformats.org/officeDocument/2006/relationships" id="275" r:id="Rb46727e5c3f749ce"/>
    <p:sldId xmlns:r="http://schemas.openxmlformats.org/officeDocument/2006/relationships" id="276" r:id="Rf53f3617cf234c5e"/>
    <p:sldId xmlns:r="http://schemas.openxmlformats.org/officeDocument/2006/relationships" id="277" r:id="R214c96249e014a88"/>
    <p:sldId xmlns:r="http://schemas.openxmlformats.org/officeDocument/2006/relationships" id="278" r:id="Red020b0dc6444f9a"/>
    <p:sldId xmlns:r="http://schemas.openxmlformats.org/officeDocument/2006/relationships" id="279" r:id="R05c6dcaea3fd41c0"/>
    <p:sldId xmlns:r="http://schemas.openxmlformats.org/officeDocument/2006/relationships" id="280" r:id="Rdd19547f03324dd2"/>
    <p:sldId xmlns:r="http://schemas.openxmlformats.org/officeDocument/2006/relationships" id="281" r:id="R30f519a43cb147a1"/>
    <p:sldId xmlns:r="http://schemas.openxmlformats.org/officeDocument/2006/relationships" id="282" r:id="Recc7e2ebdde4488e"/>
    <p:sldId xmlns:r="http://schemas.openxmlformats.org/officeDocument/2006/relationships" id="283" r:id="Rc67a84c55e6b4cc0"/>
    <p:sldId xmlns:r="http://schemas.openxmlformats.org/officeDocument/2006/relationships" id="284" r:id="R5dda73aa61104dc9"/>
    <p:sldId xmlns:r="http://schemas.openxmlformats.org/officeDocument/2006/relationships" id="285" r:id="Rc73c4d1153d74ed9"/>
    <p:sldId xmlns:r="http://schemas.openxmlformats.org/officeDocument/2006/relationships" id="286" r:id="R738c37695860434b"/>
    <p:sldId xmlns:r="http://schemas.openxmlformats.org/officeDocument/2006/relationships" id="287" r:id="R09d765c3c0874e6e"/>
    <p:sldId xmlns:r="http://schemas.openxmlformats.org/officeDocument/2006/relationships" id="288" r:id="Ra99d0c26f7c94f0c"/>
    <p:sldId xmlns:r="http://schemas.openxmlformats.org/officeDocument/2006/relationships" id="289" r:id="Rd80e4b2c09cc4d67"/>
    <p:sldId xmlns:r="http://schemas.openxmlformats.org/officeDocument/2006/relationships" id="290" r:id="Rfd2e56d580f44bae"/>
    <p:sldId xmlns:r="http://schemas.openxmlformats.org/officeDocument/2006/relationships" id="291" r:id="R45b589862e774c2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5f25f8f0ad4081" /><Relationship Type="http://schemas.openxmlformats.org/officeDocument/2006/relationships/slideMaster" Target="/ppt/slideMasters/slideMaster1.xml" Id="R00fa803f0f9e4721" /><Relationship Type="http://schemas.openxmlformats.org/officeDocument/2006/relationships/notesMaster" Target="/ppt/notesMasters/notesMaster1.xml" Id="Ra5a9dab61ddf4ecd" /><Relationship Type="http://schemas.openxmlformats.org/officeDocument/2006/relationships/presProps" Target="/ppt/presProps.xml" Id="R69928487d12b4c4a" /><Relationship Type="http://schemas.openxmlformats.org/officeDocument/2006/relationships/tableStyles" Target="/ppt/tableStyles.xml" Id="Ra008d47b9552455b" /><Relationship Type="http://schemas.openxmlformats.org/officeDocument/2006/relationships/slide" Target="/ppt/slides/slide1.xml" Id="R92deae58711b40ba" /><Relationship Type="http://schemas.openxmlformats.org/officeDocument/2006/relationships/slide" Target="/ppt/slides/slide2.xml" Id="R892fde62c3254c4e" /><Relationship Type="http://schemas.openxmlformats.org/officeDocument/2006/relationships/slide" Target="/ppt/slides/slide3.xml" Id="R26acdecbd9d14948" /><Relationship Type="http://schemas.openxmlformats.org/officeDocument/2006/relationships/slide" Target="/ppt/slides/slide4.xml" Id="Rb54335736ced4c63" /><Relationship Type="http://schemas.openxmlformats.org/officeDocument/2006/relationships/slide" Target="/ppt/slides/slide5.xml" Id="R401f33e39839446a" /><Relationship Type="http://schemas.openxmlformats.org/officeDocument/2006/relationships/slide" Target="/ppt/slides/slide6.xml" Id="Re24c6ebc077e4c8e" /><Relationship Type="http://schemas.openxmlformats.org/officeDocument/2006/relationships/slide" Target="/ppt/slides/slide7.xml" Id="Rb58bf6cbc1bf45dc" /><Relationship Type="http://schemas.openxmlformats.org/officeDocument/2006/relationships/slide" Target="/ppt/slides/slide8.xml" Id="Redfe17aecaf24c46" /><Relationship Type="http://schemas.openxmlformats.org/officeDocument/2006/relationships/slide" Target="/ppt/slides/slide9.xml" Id="Rb3ba9a562476461e" /><Relationship Type="http://schemas.openxmlformats.org/officeDocument/2006/relationships/slide" Target="/ppt/slides/slide10.xml" Id="R58bf40a37bed47d6" /><Relationship Type="http://schemas.openxmlformats.org/officeDocument/2006/relationships/slide" Target="/ppt/slides/slide11.xml" Id="Rb06691deba9646d1" /><Relationship Type="http://schemas.openxmlformats.org/officeDocument/2006/relationships/slide" Target="/ppt/slides/slide12.xml" Id="Racf59ad920f24960" /><Relationship Type="http://schemas.openxmlformats.org/officeDocument/2006/relationships/slide" Target="/ppt/slides/slide13.xml" Id="R11417d6a867a4402" /><Relationship Type="http://schemas.openxmlformats.org/officeDocument/2006/relationships/slide" Target="/ppt/slides/slide14.xml" Id="Rd13fb349badf472b" /><Relationship Type="http://schemas.openxmlformats.org/officeDocument/2006/relationships/slide" Target="/ppt/slides/slide15.xml" Id="Rccb18e96316f4e86" /><Relationship Type="http://schemas.openxmlformats.org/officeDocument/2006/relationships/slide" Target="/ppt/slides/slide16.xml" Id="Rd85cfab3b0784039" /><Relationship Type="http://schemas.openxmlformats.org/officeDocument/2006/relationships/slide" Target="/ppt/slides/slide17.xml" Id="Rf734261a74cd4859" /><Relationship Type="http://schemas.openxmlformats.org/officeDocument/2006/relationships/slide" Target="/ppt/slides/slide18.xml" Id="R14a14140ff9a45b1" /><Relationship Type="http://schemas.openxmlformats.org/officeDocument/2006/relationships/slide" Target="/ppt/slides/slide19.xml" Id="R5378d4e68d704f5a" /><Relationship Type="http://schemas.openxmlformats.org/officeDocument/2006/relationships/slide" Target="/ppt/slides/slide20.xml" Id="Rb46727e5c3f749ce" /><Relationship Type="http://schemas.openxmlformats.org/officeDocument/2006/relationships/slide" Target="/ppt/slides/slide21.xml" Id="Rf53f3617cf234c5e" /><Relationship Type="http://schemas.openxmlformats.org/officeDocument/2006/relationships/slide" Target="/ppt/slides/slide22.xml" Id="R214c96249e014a88" /><Relationship Type="http://schemas.openxmlformats.org/officeDocument/2006/relationships/slide" Target="/ppt/slides/slide23.xml" Id="Red020b0dc6444f9a" /><Relationship Type="http://schemas.openxmlformats.org/officeDocument/2006/relationships/slide" Target="/ppt/slides/slide24.xml" Id="R05c6dcaea3fd41c0" /><Relationship Type="http://schemas.openxmlformats.org/officeDocument/2006/relationships/slide" Target="/ppt/slides/slide25.xml" Id="Rdd19547f03324dd2" /><Relationship Type="http://schemas.openxmlformats.org/officeDocument/2006/relationships/slide" Target="/ppt/slides/slide26.xml" Id="R30f519a43cb147a1" /><Relationship Type="http://schemas.openxmlformats.org/officeDocument/2006/relationships/slide" Target="/ppt/slides/slide27.xml" Id="Recc7e2ebdde4488e" /><Relationship Type="http://schemas.openxmlformats.org/officeDocument/2006/relationships/slide" Target="/ppt/slides/slide28.xml" Id="Rc67a84c55e6b4cc0" /><Relationship Type="http://schemas.openxmlformats.org/officeDocument/2006/relationships/slide" Target="/ppt/slides/slide29.xml" Id="R5dda73aa61104dc9" /><Relationship Type="http://schemas.openxmlformats.org/officeDocument/2006/relationships/slide" Target="/ppt/slides/slide30.xml" Id="Rc73c4d1153d74ed9" /><Relationship Type="http://schemas.openxmlformats.org/officeDocument/2006/relationships/slide" Target="/ppt/slides/slide31.xml" Id="R738c37695860434b" /><Relationship Type="http://schemas.openxmlformats.org/officeDocument/2006/relationships/slide" Target="/ppt/slides/slide32.xml" Id="R09d765c3c0874e6e" /><Relationship Type="http://schemas.openxmlformats.org/officeDocument/2006/relationships/slide" Target="/ppt/slides/slide33.xml" Id="Ra99d0c26f7c94f0c" /><Relationship Type="http://schemas.openxmlformats.org/officeDocument/2006/relationships/slide" Target="/ppt/slides/slide34.xml" Id="Rd80e4b2c09cc4d67" /><Relationship Type="http://schemas.openxmlformats.org/officeDocument/2006/relationships/slide" Target="/ppt/slides/slide35.xml" Id="Rfd2e56d580f44bae" /><Relationship Type="http://schemas.openxmlformats.org/officeDocument/2006/relationships/slide" Target="/ppt/slides/slide36.xml" Id="R45b589862e774c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f53eb0a54048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0e40e4750b4ebb" /><Relationship Type="http://schemas.openxmlformats.org/officeDocument/2006/relationships/notesMaster" Target="/ppt/notesMasters/notesMaster1.xml" Id="Redbc1c225c1846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5fc2a640d8471c" /><Relationship Type="http://schemas.openxmlformats.org/officeDocument/2006/relationships/notesMaster" Target="/ppt/notesMasters/notesMaster1.xml" Id="R2eb3f202121844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4c638c27a04b60" /><Relationship Type="http://schemas.openxmlformats.org/officeDocument/2006/relationships/notesMaster" Target="/ppt/notesMasters/notesMaster1.xml" Id="R43a3d6a8952d41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c10d5b503a41b4" /><Relationship Type="http://schemas.openxmlformats.org/officeDocument/2006/relationships/notesMaster" Target="/ppt/notesMasters/notesMaster1.xml" Id="R1f006617a77541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88ad54ab664dc7" /><Relationship Type="http://schemas.openxmlformats.org/officeDocument/2006/relationships/notesMaster" Target="/ppt/notesMasters/notesMaster1.xml" Id="Rc71d701e10e441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39bb194d0a4b0e" /><Relationship Type="http://schemas.openxmlformats.org/officeDocument/2006/relationships/notesMaster" Target="/ppt/notesMasters/notesMaster1.xml" Id="R2e717d8a013148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135f6debdd49bf" /><Relationship Type="http://schemas.openxmlformats.org/officeDocument/2006/relationships/notesMaster" Target="/ppt/notesMasters/notesMaster1.xml" Id="Re6ba6ca3d5f74b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0cc2515ada412c" /><Relationship Type="http://schemas.openxmlformats.org/officeDocument/2006/relationships/notesMaster" Target="/ppt/notesMasters/notesMaster1.xml" Id="R3c3d4f5655c446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04641ee40c4d80" /><Relationship Type="http://schemas.openxmlformats.org/officeDocument/2006/relationships/notesMaster" Target="/ppt/notesMasters/notesMaster1.xml" Id="R34f40dec48574f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ee1515841d4354" /><Relationship Type="http://schemas.openxmlformats.org/officeDocument/2006/relationships/notesMaster" Target="/ppt/notesMasters/notesMaster1.xml" Id="R5b718751f90e41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48f41b36904a69" /><Relationship Type="http://schemas.openxmlformats.org/officeDocument/2006/relationships/notesMaster" Target="/ppt/notesMasters/notesMaster1.xml" Id="Rfc336c16132d44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67023741544c5b" /><Relationship Type="http://schemas.openxmlformats.org/officeDocument/2006/relationships/notesMaster" Target="/ppt/notesMasters/notesMaster1.xml" Id="R049b935e626245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6721f2da1c4fa5" /><Relationship Type="http://schemas.openxmlformats.org/officeDocument/2006/relationships/notesMaster" Target="/ppt/notesMasters/notesMaster1.xml" Id="R1f90f545a41d45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7d7e856e3d4aff" /><Relationship Type="http://schemas.openxmlformats.org/officeDocument/2006/relationships/notesMaster" Target="/ppt/notesMasters/notesMaster1.xml" Id="R99d1d762444245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29004cb0fb4f51" /><Relationship Type="http://schemas.openxmlformats.org/officeDocument/2006/relationships/notesMaster" Target="/ppt/notesMasters/notesMaster1.xml" Id="R929eebedeab044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d6fbff403746cc" /><Relationship Type="http://schemas.openxmlformats.org/officeDocument/2006/relationships/notesMaster" Target="/ppt/notesMasters/notesMaster1.xml" Id="Rabc463c9d6a143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5a9d2db58d649d1" /><Relationship Type="http://schemas.openxmlformats.org/officeDocument/2006/relationships/notesMaster" Target="/ppt/notesMasters/notesMaster1.xml" Id="R6821f9499e32493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b6912cb7d74c06" /><Relationship Type="http://schemas.openxmlformats.org/officeDocument/2006/relationships/notesMaster" Target="/ppt/notesMasters/notesMaster1.xml" Id="R417c2e7de6cd4b0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6174f8008b045f4" /><Relationship Type="http://schemas.openxmlformats.org/officeDocument/2006/relationships/notesMaster" Target="/ppt/notesMasters/notesMaster1.xml" Id="Re7434d1b63384e4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14178eb71b54848" /><Relationship Type="http://schemas.openxmlformats.org/officeDocument/2006/relationships/notesMaster" Target="/ppt/notesMasters/notesMaster1.xml" Id="R3b685c7620f54bb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54481aad3ee4b88" /><Relationship Type="http://schemas.openxmlformats.org/officeDocument/2006/relationships/notesMaster" Target="/ppt/notesMasters/notesMaster1.xml" Id="R83c03a4e3def427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0d08cfcbec64658" /><Relationship Type="http://schemas.openxmlformats.org/officeDocument/2006/relationships/notesMaster" Target="/ppt/notesMasters/notesMaster1.xml" Id="R0ca0918c0dcd441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45c13bb73d9406e" /><Relationship Type="http://schemas.openxmlformats.org/officeDocument/2006/relationships/notesMaster" Target="/ppt/notesMasters/notesMaster1.xml" Id="R15d291fcf6884dd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b919834ae7a43e7" /><Relationship Type="http://schemas.openxmlformats.org/officeDocument/2006/relationships/notesMaster" Target="/ppt/notesMasters/notesMaster1.xml" Id="Rb15d46fb8f2e41b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33f4a0fc2634039" /><Relationship Type="http://schemas.openxmlformats.org/officeDocument/2006/relationships/notesMaster" Target="/ppt/notesMasters/notesMaster1.xml" Id="Rb0882798fcec47d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2b1b69792644e0a" /><Relationship Type="http://schemas.openxmlformats.org/officeDocument/2006/relationships/notesMaster" Target="/ppt/notesMasters/notesMaster1.xml" Id="Reac4f8058c844a9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3a276493bd942f0" /><Relationship Type="http://schemas.openxmlformats.org/officeDocument/2006/relationships/notesMaster" Target="/ppt/notesMasters/notesMaster1.xml" Id="R9f49b0c5302a419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08e90ddcf544b4f" /><Relationship Type="http://schemas.openxmlformats.org/officeDocument/2006/relationships/notesMaster" Target="/ppt/notesMasters/notesMaster1.xml" Id="R52f81079992245c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70653d9cec441f0" /><Relationship Type="http://schemas.openxmlformats.org/officeDocument/2006/relationships/notesMaster" Target="/ppt/notesMasters/notesMaster1.xml" Id="R2ac47ce4bf7e463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cfd4628d4e54922" /><Relationship Type="http://schemas.openxmlformats.org/officeDocument/2006/relationships/notesMaster" Target="/ppt/notesMasters/notesMaster1.xml" Id="R7bf4decb9d264b3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d4979a00220407d" /><Relationship Type="http://schemas.openxmlformats.org/officeDocument/2006/relationships/notesMaster" Target="/ppt/notesMasters/notesMaster1.xml" Id="Ra09957634ea24f3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79e03c880c24fb0" /><Relationship Type="http://schemas.openxmlformats.org/officeDocument/2006/relationships/notesMaster" Target="/ppt/notesMasters/notesMaster1.xml" Id="Rc82221b492174b3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89a032b9bd84529" /><Relationship Type="http://schemas.openxmlformats.org/officeDocument/2006/relationships/notesMaster" Target="/ppt/notesMasters/notesMaster1.xml" Id="Rd8eebfb91a93458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430c64b28b74f97" /><Relationship Type="http://schemas.openxmlformats.org/officeDocument/2006/relationships/notesMaster" Target="/ppt/notesMasters/notesMaster1.xml" Id="R6c455539f4d8429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11e9437eb8940ac" /><Relationship Type="http://schemas.openxmlformats.org/officeDocument/2006/relationships/notesMaster" Target="/ppt/notesMasters/notesMaster1.xml" Id="R24d1f346776d4b2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c522a4cae6344c8" /><Relationship Type="http://schemas.openxmlformats.org/officeDocument/2006/relationships/notesMaster" Target="/ppt/notesMasters/notesMaster1.xml" Id="R37d3672e96944b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 · CAPÍTULO 1 · CONCEPTO</a:t>
            </a:r>
          </a:p>
          <a:p xmlns:a="http://schemas.openxmlformats.org/drawingml/2006/main">
            <a:r>
              <a:t>Título: Objetivos de aprendizaje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Relacionar las capacidades de la sesión con el proyecto que crecerá durante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Objetivos de aprendizaje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proyecto crece por capas; hoy se construye su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parte del caso todavía no puede resolver el script de L1?».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Comprender: Distinguir un LLM, un workflow y un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Construir: Ejecutar el primer script con el proveedor común.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Orientar: Elegir un track y reconocer la arquitectura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proyecto crece por capas; hoy se construye su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Comprender; Construir; Orientar.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equipo quiere un asistente que informe consumo y reciba reclamos.</a:t>
            </a:r>
          </a:p>
          <a:p xmlns:a="http://schemas.openxmlformats.org/drawingml/2006/main">
            <a:r>
              <a:t>Separar: Redactar una respuesta no consulta consumo.</a:t>
            </a:r>
          </a:p>
          <a:p xmlns:a="http://schemas.openxmlformats.org/drawingml/2006/main">
            <a:r>
              <a:t>Ubicar: Las tools se implementan desde S3.</a:t>
            </a:r>
          </a:p>
          <a:p xmlns:a="http://schemas.openxmlformats.org/drawingml/2006/main">
            <a:r>
              <a:t>Empezar: Hoy verifican proveedor y primer script.</a:t>
            </a:r>
          </a:p>
          <a:p xmlns:a="http://schemas.openxmlformats.org/drawingml/2006/main">
            <a:r>
              <a:t>Resultado: Cada capacidad se incorpora con evidencia en su sesión.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parte del caso todavía no puede resolver el script de L1?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proyecto crece por capas; hoy se construye su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Llamar agente completo a cualquier primer chat.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LLM y fuente de verdad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 · CAPÍTULO 1 · DESARROLLO</a:t>
            </a:r>
          </a:p>
          <a:p xmlns:a="http://schemas.openxmlformats.org/drawingml/2006/main">
            <a:r>
              <a:t>Título: Tres evidencias del aprendizaje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Relacionar las capacidades de la sesión con el proyecto que crecerá durante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Objetivos de aprendizaje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proyecto crece por capas; hoy se construye su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Explicación: Justificar cuándo hace falta consultar un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Ejecución: Obtener una respuesta del modelo desde el entorno del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Decisión: Seleccionar un caso de industria con alcance definido.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Llamar agente completo a cualquier primer chat.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Explicación; Ejecución; Decisión.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equipo quiere un asistente que informe consumo y reciba reclamos.</a:t>
            </a:r>
          </a:p>
          <a:p xmlns:a="http://schemas.openxmlformats.org/drawingml/2006/main">
            <a:r>
              <a:t>Separar: Redactar una respuesta no consulta consumo.</a:t>
            </a:r>
          </a:p>
          <a:p xmlns:a="http://schemas.openxmlformats.org/drawingml/2006/main">
            <a:r>
              <a:t>Ubicar: Las tools se implementan desde S3.</a:t>
            </a:r>
          </a:p>
          <a:p xmlns:a="http://schemas.openxmlformats.org/drawingml/2006/main">
            <a:r>
              <a:t>Empezar: Hoy verifican proveedor y primer script.</a:t>
            </a:r>
          </a:p>
          <a:p xmlns:a="http://schemas.openxmlformats.org/drawingml/2006/main">
            <a:r>
              <a:t>Resultado: Cada capacidad se incorpora con evidencia en su sesión.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parte del caso todavía no puede resolver el script de L1?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proyecto crece por capas; hoy se construye su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Llamar agente completo a cualquier primer chat.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LLM y fuente de verdad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 · CAPÍTULO 1 · EJEMPLO</a:t>
            </a:r>
          </a:p>
          <a:p xmlns:a="http://schemas.openxmlformats.org/drawingml/2006/main">
            <a:r>
              <a:t>Título: AndesMóvil · Objetivos de aprendizaje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Relacionar las capacidades de la sesión con el proyecto que crecerá durante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Objetivos de aprendizaje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proyecto crece por capas; hoy se construye su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equipo quiere un asistente que informe consumo y reciba reclamos.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Separar: Redactar una respuesta no consulta consumo.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Ubicar: Las tools se implementan desde S3.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Empezar: Hoy verifican proveedor y primer script.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Cada capacidad se incorpora con evidencia en su sesión.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Separar; Ubicar; Empezar.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equipo quiere un asistente que informe consumo y reciba reclamos.</a:t>
            </a:r>
          </a:p>
          <a:p xmlns:a="http://schemas.openxmlformats.org/drawingml/2006/main">
            <a:r>
              <a:t>Separar: Redactar una respuesta no consulta consumo.</a:t>
            </a:r>
          </a:p>
          <a:p xmlns:a="http://schemas.openxmlformats.org/drawingml/2006/main">
            <a:r>
              <a:t>Ubicar: Las tools se implementan desde S3.</a:t>
            </a:r>
          </a:p>
          <a:p xmlns:a="http://schemas.openxmlformats.org/drawingml/2006/main">
            <a:r>
              <a:t>Empezar: Hoy verifican proveedor y primer script.</a:t>
            </a:r>
          </a:p>
          <a:p xmlns:a="http://schemas.openxmlformats.org/drawingml/2006/main">
            <a:r>
              <a:t>Resultado: Cada capacidad se incorpora con evidencia en su sesión.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parte del caso todavía no puede resolver el script de L1?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proyecto crece por capas; hoy se construye su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Llamar agente completo a cualquier primer chat.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LLM y fuente de verdad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4 · CAPÍTULO 2 · CONCEPTO</a:t>
            </a:r>
          </a:p>
          <a:p xmlns:a="http://schemas.openxmlformats.org/drawingml/2006/main">
            <a:r>
              <a:t>Título: LLM y fuente de verdad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Romper la expectativa de que el modelo conoce la tarifa actual del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LLM y fuente de verdad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LLM no sustituye el sistema que administra la tarifa.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harías si ambas ejecuciones del LLM devolvieran la misma cifra falsa?».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Pregunta: «¿Cuál es la tarifa de mi plan?»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sin fuente: Puede producir una cifra plausible sin consultarla.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Sistema de negocio: Contiene el dato que permite comprobar la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LLM no sustituye el sistema que administra la tarifa.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Pregunta; LLM sin fuente; Sistema de negocio.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En una demostración ficticia, el modelo propone S/ 49.90 y la API devuelve S/ 59.90.</a:t>
            </a:r>
          </a:p>
          <a:p xmlns:a="http://schemas.openxmlformats.org/drawingml/2006/main">
            <a:r>
              <a:t>Comparar: Identificar los dos orígenes de información.</a:t>
            </a:r>
          </a:p>
          <a:p xmlns:a="http://schemas.openxmlformats.org/drawingml/2006/main">
            <a:r>
              <a:t>Elegir: Usar el valor verificado del sistema.</a:t>
            </a:r>
          </a:p>
          <a:p xmlns:a="http://schemas.openxmlformats.org/drawingml/2006/main">
            <a:r>
              <a:t>Limitar: Si la API falla, no inventar una tarifa alternativa.</a:t>
            </a:r>
          </a:p>
          <a:p xmlns:a="http://schemas.openxmlformats.org/drawingml/2006/main">
            <a:r>
              <a:t>Resultado: La respuesta debe depender del dato consultado, no de la cifra más plausible.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harías si ambas ejecuciones del LLM devolvieran la misma cifra falsa?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LLM no sustituye el sistema que administra la tarifa.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Usar variación como única prueba de falta de veracidad.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Objetivos de aprendizaje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Un LLM solo no es un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5 · CAPÍTULO 2 · DESARROLLO</a:t>
            </a:r>
          </a:p>
          <a:p xmlns:a="http://schemas.openxmlformats.org/drawingml/2006/main">
            <a:r>
              <a:t>Título: Cambiar el origen del dato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Romper la expectativa de que el modelo conoce la tarifa actual del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LLM y fuente de verdad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LLM no sustituye el sistema que administra la tarifa.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Detectar: La pregunta pide un hecho específico y vigente.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Consultar: La aplicación debe obtenerlo del sistema pertinente.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Explicar: El modelo puede redactar el resultado recibido.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Usar variación como única prueba de falta de veracidad.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Detectar; Consultar; Explicar.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En una demostración ficticia, el modelo propone S/ 49.90 y la API devuelve S/ 59.90.</a:t>
            </a:r>
          </a:p>
          <a:p xmlns:a="http://schemas.openxmlformats.org/drawingml/2006/main">
            <a:r>
              <a:t>Comparar: Identificar los dos orígenes de información.</a:t>
            </a:r>
          </a:p>
          <a:p xmlns:a="http://schemas.openxmlformats.org/drawingml/2006/main">
            <a:r>
              <a:t>Elegir: Usar el valor verificado del sistema.</a:t>
            </a:r>
          </a:p>
          <a:p xmlns:a="http://schemas.openxmlformats.org/drawingml/2006/main">
            <a:r>
              <a:t>Limitar: Si la API falla, no inventar una tarifa alternativa.</a:t>
            </a:r>
          </a:p>
          <a:p xmlns:a="http://schemas.openxmlformats.org/drawingml/2006/main">
            <a:r>
              <a:t>Resultado: La respuesta debe depender del dato consultado, no de la cifra más plausible.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harías si ambas ejecuciones del LLM devolvieran la misma cifra falsa?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LLM no sustituye el sistema que administra la tarifa.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Usar variación como única prueba de falta de veracidad.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Objetivos de aprendizaje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Un LLM solo no es un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6 · CAPÍTULO 2 · EJEMPLO</a:t>
            </a:r>
          </a:p>
          <a:p xmlns:a="http://schemas.openxmlformats.org/drawingml/2006/main">
            <a:r>
              <a:t>Título: AndesMóvil · LLM y fuente de verdad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Romper la expectativa de que el modelo conoce la tarifa actual del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LLM y fuente de verdad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LLM no sustituye el sistema que administra la tarifa.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En una demostración ficticia, el modelo propone S/ 49.90 y la API devuelve S/ 59.90.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Comparar: Identificar los dos orígenes de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Elegir: Usar el valor verificado del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Limitar: Si la API falla, no inventar una tarifa alternativa.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respuesta debe depender del dato consultado, no de la cifra más plausible.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Comparar; Elegir; Limitar.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En una demostración ficticia, el modelo propone S/ 49.90 y la API devuelve S/ 59.90.</a:t>
            </a:r>
          </a:p>
          <a:p xmlns:a="http://schemas.openxmlformats.org/drawingml/2006/main">
            <a:r>
              <a:t>Comparar: Identificar los dos orígenes de información.</a:t>
            </a:r>
          </a:p>
          <a:p xmlns:a="http://schemas.openxmlformats.org/drawingml/2006/main">
            <a:r>
              <a:t>Elegir: Usar el valor verificado del sistema.</a:t>
            </a:r>
          </a:p>
          <a:p xmlns:a="http://schemas.openxmlformats.org/drawingml/2006/main">
            <a:r>
              <a:t>Limitar: Si la API falla, no inventar una tarifa alternativa.</a:t>
            </a:r>
          </a:p>
          <a:p xmlns:a="http://schemas.openxmlformats.org/drawingml/2006/main">
            <a:r>
              <a:t>Resultado: La respuesta debe depender del dato consultado, no de la cifra más plausible.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harías si ambas ejecuciones del LLM devolvieran la misma cifra falsa?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LLM no sustituye el sistema que administra la tarifa.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Usar variación como única prueba de falta de veracidad.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Objetivos de aprendizaje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Un LLM solo no es un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7 · CAPÍTULO 3 · CONCEPTO</a:t>
            </a:r>
          </a:p>
          <a:p xmlns:a="http://schemas.openxmlformats.org/drawingml/2006/main">
            <a:r>
              <a:t>Título: Un LLM solo no es un agente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Identificar los componentes que convierten generación de texto en actuación controlada.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Un LLM solo no es un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modelo propone; el sistema ejecuta y gobierna las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«¿Un agente necesita siempre memoria persistente?».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LLM: Interpreta mensajes y propone respuestas o acciones.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Tools y contexto: Aportan capacidades externas e información pertinente.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y control: Definen qué resolver, cuándo actuar y cuándo terminar.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modelo propone; el sistema ejecuta y gobierna las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LLM; Tools y contexto; Objetivo y control.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usuario quiere saber dónde está el pedido PED-2026-00123.</a:t>
            </a:r>
          </a:p>
          <a:p xmlns:a="http://schemas.openxmlformats.org/drawingml/2006/main">
            <a:r>
              <a:t>Interpretar: Reconocer que pregunta por un pedido concreto.</a:t>
            </a:r>
          </a:p>
          <a:p xmlns:a="http://schemas.openxmlformats.org/drawingml/2006/main">
            <a:r>
              <a:t>Actuar: Consultar track_order desde la aplicación.</a:t>
            </a:r>
          </a:p>
          <a:p xmlns:a="http://schemas.openxmlformats.org/drawingml/2006/main">
            <a:r>
              <a:t>Responder: Explicar el estado obtenido sin inventar movimientos.</a:t>
            </a:r>
          </a:p>
          <a:p xmlns:a="http://schemas.openxmlformats.org/drawingml/2006/main">
            <a:r>
              <a:t>Resultado: La acción externa y su control completan el circuito.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¿Un agente necesita siempre memoria persistente?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modelo propone; el sistema ejecuta y gobierna las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memoria como requisito universal o atribuir ejecución directa al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LLM y fuente de verdad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El ciclo del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8 · CAPÍTULO 3 · DESARROLLO</a:t>
            </a:r>
          </a:p>
          <a:p xmlns:a="http://schemas.openxmlformats.org/drawingml/2006/main">
            <a:r>
              <a:t>Título: Responsabilidades de la aplicación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Identificar los componentes que convierten generación de texto en actuación controlada.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Un LLM solo no es un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modelo propone; el sistema ejecuta y gobierna las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Exponer: Dar al modelo un catálogo explícito de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Ejecutar: Validar y realizar la acción seleccionada.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Controlar: Conservar estado cuando haga falta y aplicar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Presentar memoria como requisito universal o atribuir ejecución directa al modelo.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Exponer; Ejecutar; Controlar.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usuario quiere saber dónde está el pedido PED-2026-00123.</a:t>
            </a:r>
          </a:p>
          <a:p xmlns:a="http://schemas.openxmlformats.org/drawingml/2006/main">
            <a:r>
              <a:t>Interpretar: Reconocer que pregunta por un pedido concreto.</a:t>
            </a:r>
          </a:p>
          <a:p xmlns:a="http://schemas.openxmlformats.org/drawingml/2006/main">
            <a:r>
              <a:t>Actuar: Consultar track_order desde la aplicación.</a:t>
            </a:r>
          </a:p>
          <a:p xmlns:a="http://schemas.openxmlformats.org/drawingml/2006/main">
            <a:r>
              <a:t>Responder: Explicar el estado obtenido sin inventar movimientos.</a:t>
            </a:r>
          </a:p>
          <a:p xmlns:a="http://schemas.openxmlformats.org/drawingml/2006/main">
            <a:r>
              <a:t>Resultado: La acción externa y su control completan el circuito.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¿Un agente necesita siempre memoria persistente?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modelo propone; el sistema ejecuta y gobierna las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memoria como requisito universal o atribuir ejecución directa al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LLM y fuente de verdad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El ciclo del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9 · CAPÍTULO 3 · EJEMPLO</a:t>
            </a:r>
          </a:p>
          <a:p xmlns:a="http://schemas.openxmlformats.org/drawingml/2006/main">
            <a:r>
              <a:t>Título: MercaSur · Un LLM solo no es un agente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Identificar los componentes que convierten generación de texto en actuación controlada.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Un LLM solo no es un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modelo propone; el sistema ejecuta y gobierna las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usuario quiere saber dónde está el pedido PED-2026-00123.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Interpretar: Reconocer que pregunta por un pedido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Actuar: Consultar track_order desde la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Responder: Explicar el estado obtenido sin inventar movimientos.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acción externa y su control completan el circuito.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Interpretar; Actuar; Responder.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usuario quiere saber dónde está el pedido PED-2026-00123.</a:t>
            </a:r>
          </a:p>
          <a:p xmlns:a="http://schemas.openxmlformats.org/drawingml/2006/main">
            <a:r>
              <a:t>Interpretar: Reconocer que pregunta por un pedido concreto.</a:t>
            </a:r>
          </a:p>
          <a:p xmlns:a="http://schemas.openxmlformats.org/drawingml/2006/main">
            <a:r>
              <a:t>Actuar: Consultar track_order desde la aplicación.</a:t>
            </a:r>
          </a:p>
          <a:p xmlns:a="http://schemas.openxmlformats.org/drawingml/2006/main">
            <a:r>
              <a:t>Responder: Explicar el estado obtenido sin inventar movimientos.</a:t>
            </a:r>
          </a:p>
          <a:p xmlns:a="http://schemas.openxmlformats.org/drawingml/2006/main">
            <a:r>
              <a:t>Resultado: La acción externa y su control completan el circuito.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¿Un agente necesita siempre memoria persistente?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modelo propone; el sistema ejecuta y gobierna las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memoria como requisito universal o atribuir ejecución directa al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LLM y fuente de verdad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El ciclo del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10 · CAPÍTULO 4 · CONCEPTO</a:t>
            </a:r>
          </a:p>
          <a:p xmlns:a="http://schemas.openxmlformats.org/drawingml/2006/main">
            <a:r>
              <a:t>Título: El ciclo del agente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Recorrer percepción, decisión, acción y observación hasta una condición de parada.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El ciclo del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ciclo usa observaciones; no implica actualizar los pesos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observación justificaría repetir una consulta?».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Percibir y decidir: Leer la solicitud y el estado disponible.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Actuar: Proponer una tool; la aplicación la ejecuta.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Observar: Incorporar el resultado y decidir si continuar o responder.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ciclo usa observaciones; no implica actualizar los pesos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Percibir y decidir; Actuar; Observar.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cliente pregunta cuántos datos le quedan.</a:t>
            </a:r>
          </a:p>
          <a:p xmlns:a="http://schemas.openxmlformats.org/drawingml/2006/main">
            <a:r>
              <a:t>Percibir: Identificar la línea y la consulta de consumo.</a:t>
            </a:r>
          </a:p>
          <a:p xmlns:a="http://schemas.openxmlformats.org/drawingml/2006/main">
            <a:r>
              <a:t>Consultar: get_data_usage obtiene el resultado del simulador.</a:t>
            </a:r>
          </a:p>
          <a:p xmlns:a="http://schemas.openxmlformats.org/drawingml/2006/main">
            <a:r>
              <a:t>Observar: La respuesta recibida permite explicar el consumo.</a:t>
            </a:r>
          </a:p>
          <a:p xmlns:a="http://schemas.openxmlformats.org/drawingml/2006/main">
            <a:r>
              <a:t>Resultado: Si falta identificar la línea, el siguiente paso útil es preguntar.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observación justificaría repetir una consulta?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ciclo usa observaciones; no implica actualizar los pesos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Describir el ciclo como aprendizaje permanente automático.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Un LLM solo no es un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Workflow frente a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11 · CAPÍTULO 4 · DESARROLLO</a:t>
            </a:r>
          </a:p>
          <a:p xmlns:a="http://schemas.openxmlformats.org/drawingml/2006/main">
            <a:r>
              <a:t>Título: Cómo cierra el ciclo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Recorrer percepción, decisión, acción y observación hasta una condición de parada.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El ciclo del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ciclo usa observaciones; no implica actualizar los pesos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útil: Responder cuando hay evidencia suficiente.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Dato faltante: Pedir información necesaria al usuario.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Límite alcanzado: Detener o derivar en vez de repetir indefinidamente.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Describir el ciclo como aprendizaje permanente automático.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Resultado útil; Dato faltante; Límite alcanzado.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cliente pregunta cuántos datos le quedan.</a:t>
            </a:r>
          </a:p>
          <a:p xmlns:a="http://schemas.openxmlformats.org/drawingml/2006/main">
            <a:r>
              <a:t>Percibir: Identificar la línea y la consulta de consumo.</a:t>
            </a:r>
          </a:p>
          <a:p xmlns:a="http://schemas.openxmlformats.org/drawingml/2006/main">
            <a:r>
              <a:t>Consultar: get_data_usage obtiene el resultado del simulador.</a:t>
            </a:r>
          </a:p>
          <a:p xmlns:a="http://schemas.openxmlformats.org/drawingml/2006/main">
            <a:r>
              <a:t>Observar: La respuesta recibida permite explicar el consumo.</a:t>
            </a:r>
          </a:p>
          <a:p xmlns:a="http://schemas.openxmlformats.org/drawingml/2006/main">
            <a:r>
              <a:t>Resultado: Si falta identificar la línea, el siguiente paso útil es preguntar.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observación justificaría repetir una consulta?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ciclo usa observaciones; no implica actualizar los pesos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Describir el ciclo como aprendizaje permanente automático.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Un LLM solo no es un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Workflow frente a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12 · CAPÍTULO 4 · EJEMPLO</a:t>
            </a:r>
          </a:p>
          <a:p xmlns:a="http://schemas.openxmlformats.org/drawingml/2006/main">
            <a:r>
              <a:t>Título: AndesMóvil · El ciclo del agente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Recorrer percepción, decisión, acción y observación hasta una condición de parada.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El ciclo del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ciclo usa observaciones; no implica actualizar los pesos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cliente pregunta cuántos datos le quedan.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Percibir: Identificar la línea y la consulta de consumo.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Consultar: get_data_usage obtiene el resultado del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Observar: La respuesta recibida permite explicar el consumo.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Si falta identificar la línea, el siguiente paso útil es preguntar.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Percibir; Consultar; Observar.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cliente pregunta cuántos datos le quedan.</a:t>
            </a:r>
          </a:p>
          <a:p xmlns:a="http://schemas.openxmlformats.org/drawingml/2006/main">
            <a:r>
              <a:t>Percibir: Identificar la línea y la consulta de consumo.</a:t>
            </a:r>
          </a:p>
          <a:p xmlns:a="http://schemas.openxmlformats.org/drawingml/2006/main">
            <a:r>
              <a:t>Consultar: get_data_usage obtiene el resultado del simulador.</a:t>
            </a:r>
          </a:p>
          <a:p xmlns:a="http://schemas.openxmlformats.org/drawingml/2006/main">
            <a:r>
              <a:t>Observar: La respuesta recibida permite explicar el consumo.</a:t>
            </a:r>
          </a:p>
          <a:p xmlns:a="http://schemas.openxmlformats.org/drawingml/2006/main">
            <a:r>
              <a:t>Resultado: Si falta identificar la línea, el siguiente paso útil es preguntar.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observación justificaría repetir una consulta?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ciclo usa observaciones; no implica actualizar los pesos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Describir el ciclo como aprendizaje permanente automático.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Un LLM solo no es un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Workflow frente a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13 · CAPÍTULO 5 · CONCEPTO</a:t>
            </a:r>
          </a:p>
          <a:p xmlns:a="http://schemas.openxmlformats.org/drawingml/2006/main">
            <a:r>
              <a:t>Título: Workflow frente a agente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Elegir el control del proceso según si la ruta debe fijarse o decidirse durante la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Workflow frente a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Elige agentes cuando la decisión dinámica justifica su complejidad.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«¿Un workflow con condiciones deja de ser workflow?».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Workflow: La aplicación define pasos y ramas permitidas.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Agente: El modelo puede elegir el siguiente paso dentro de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Sistema combinado: Un flujo puede contener decisiones agénticas acotadas.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Elige agentes cuando la decisión dinámica justifica su complejidad.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Workflow; Agente; Sistema combinado.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Una consulta requiere verificar datos antes de explicar una comisión.</a:t>
            </a:r>
          </a:p>
          <a:p xmlns:a="http://schemas.openxmlformats.org/drawingml/2006/main">
            <a:r>
              <a:t>Fijar: La verificación obligatoria pertenece al flujo.</a:t>
            </a:r>
          </a:p>
          <a:p xmlns:a="http://schemas.openxmlformats.org/drawingml/2006/main">
            <a:r>
              <a:t>Consultar: El agente puede elegir qué información adicional necesita.</a:t>
            </a:r>
          </a:p>
          <a:p xmlns:a="http://schemas.openxmlformats.org/drawingml/2006/main">
            <a:r>
              <a:t>Restringir: No se habilita una transferencia por decisión del modelo.</a:t>
            </a:r>
          </a:p>
          <a:p xmlns:a="http://schemas.openxmlformats.org/drawingml/2006/main">
            <a:r>
              <a:t>Resultado: Las obligaciones no se vuelven opcionales por usar un agente.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¿Un workflow con condiciones deja de ser workflow?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Elige agentes cuando la decisión dinámica justifica su complejidad.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Equiparar cualquier bifurcación o resultado variable con autonomía.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El ciclo del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Anatomía de LangChain 1.x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14 · CAPÍTULO 5 · DESARROLLO</a:t>
            </a:r>
          </a:p>
          <a:p xmlns:a="http://schemas.openxmlformats.org/drawingml/2006/main">
            <a:r>
              <a:t>Título: Criterio para decidir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Elegir el control del proceso según si la ruta debe fijarse o decidirse durante la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Workflow frente a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Elige agentes cuando la decisión dinámica justifica su complejidad.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 obligatoria: Codificar el orden y las verificaciones necesarias.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Ruta variable: Permitir selección de herramientas cuando aporte valor.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Consecuencia: Conservar controles de negocio fuera de decisiones libres.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Equiparar cualquier bifurcación o resultado variable con autonomía.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Ruta obligatoria; Ruta variable; Consecuencia.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Una consulta requiere verificar datos antes de explicar una comisión.</a:t>
            </a:r>
          </a:p>
          <a:p xmlns:a="http://schemas.openxmlformats.org/drawingml/2006/main">
            <a:r>
              <a:t>Fijar: La verificación obligatoria pertenece al flujo.</a:t>
            </a:r>
          </a:p>
          <a:p xmlns:a="http://schemas.openxmlformats.org/drawingml/2006/main">
            <a:r>
              <a:t>Consultar: El agente puede elegir qué información adicional necesita.</a:t>
            </a:r>
          </a:p>
          <a:p xmlns:a="http://schemas.openxmlformats.org/drawingml/2006/main">
            <a:r>
              <a:t>Restringir: No se habilita una transferencia por decisión del modelo.</a:t>
            </a:r>
          </a:p>
          <a:p xmlns:a="http://schemas.openxmlformats.org/drawingml/2006/main">
            <a:r>
              <a:t>Resultado: Las obligaciones no se vuelven opcionales por usar un agente.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¿Un workflow con condiciones deja de ser workflow?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Elige agentes cuando la decisión dinámica justifica su complejidad.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Equiparar cualquier bifurcación o resultado variable con autonomía.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El ciclo del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Anatomía de LangChain 1.x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15 · CAPÍTULO 5 · EJEMPLO</a:t>
            </a:r>
          </a:p>
          <a:p xmlns:a="http://schemas.openxmlformats.org/drawingml/2006/main">
            <a:r>
              <a:t>Título: Banco Inti · Workflow frente a agente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Elegir el control del proceso según si la ruta debe fijarse o decidirse durante la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Workflow frente a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Elige agentes cuando la decisión dinámica justifica su complejidad.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Una consulta requiere verificar datos antes de explicar una comisión.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Fijar: La verificación obligatoria pertenece al flujo.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Consultar: El agente puede elegir qué información adicional necesita.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Restringir: No se habilita una transferencia por decisión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Las obligaciones no se vuelven opcionales por usar un agente.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Fijar; Consultar; Restringir.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Una consulta requiere verificar datos antes de explicar una comisión.</a:t>
            </a:r>
          </a:p>
          <a:p xmlns:a="http://schemas.openxmlformats.org/drawingml/2006/main">
            <a:r>
              <a:t>Fijar: La verificación obligatoria pertenece al flujo.</a:t>
            </a:r>
          </a:p>
          <a:p xmlns:a="http://schemas.openxmlformats.org/drawingml/2006/main">
            <a:r>
              <a:t>Consultar: El agente puede elegir qué información adicional necesita.</a:t>
            </a:r>
          </a:p>
          <a:p xmlns:a="http://schemas.openxmlformats.org/drawingml/2006/main">
            <a:r>
              <a:t>Restringir: No se habilita una transferencia por decisión del modelo.</a:t>
            </a:r>
          </a:p>
          <a:p xmlns:a="http://schemas.openxmlformats.org/drawingml/2006/main">
            <a:r>
              <a:t>Resultado: Las obligaciones no se vuelven opcionales por usar un agente.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¿Un workflow con condiciones deja de ser workflow?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Elige agentes cuando la decisión dinámica justifica su complejidad.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Equiparar cualquier bifurcación o resultado variable con autonomía.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El ciclo del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Anatomía de LangChain 1.x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16 · CAPÍTULO 6 · CONCEPTO</a:t>
            </a:r>
          </a:p>
          <a:p xmlns:a="http://schemas.openxmlformats.org/drawingml/2006/main">
            <a:r>
              <a:t>Título: Anatomía de LangChain 1.x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§6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Ubicar modelos, mensajes, herramientas, agente y controles en el mapa del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Anatomía de LangChain 1.x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arquitectura se reconoce ahora y se construye progresivamente.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«¿Dónde ubicarías un filtro de salida que evita exponer PII?».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Mensajes y modelo: La interfaz recibe contexto y genera salidas.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Agente y tools: El control coordina decisiones y ejecución externa.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Estado y middleware: Conservan conversación y aplican controles alrededor del flujo.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arquitectura se reconoce ahora y se construye progresivamente.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Mensajes y modelo; Agente y tools; Estado y middleware.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Una consulta de póliza necesita dato del sistema y una regla documental.</a:t>
            </a:r>
          </a:p>
          <a:p xmlns:a="http://schemas.openxmlformats.org/drawingml/2006/main">
            <a:r>
              <a:t>Datos: Una tool consulta la póliza.</a:t>
            </a:r>
          </a:p>
          <a:p xmlns:a="http://schemas.openxmlformats.org/drawingml/2006/main">
            <a:r>
              <a:t>Conocimiento: El retriever recupera una cláusula del corpus.</a:t>
            </a:r>
          </a:p>
          <a:p xmlns:a="http://schemas.openxmlformats.org/drawingml/2006/main">
            <a:r>
              <a:t>Control: La aplicación limita promesas y deriva lo que no puede resolver.</a:t>
            </a:r>
          </a:p>
          <a:p xmlns:a="http://schemas.openxmlformats.org/drawingml/2006/main">
            <a:r>
              <a:t>Resultado: Cada componente tiene una responsabilidad y un laboratorio donde se implementa.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¿Dónde ubicarías un filtro de salida que evita exponer PII?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arquitectura se reconoce ahora y se construye progresivamente.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todo LangChain con el LLM o adelantar APIs no usadas.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Workflow frente a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Modelos abiertos y cerrados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17 · CAPÍTULO 6 · DESARROLLO</a:t>
            </a:r>
          </a:p>
          <a:p xmlns:a="http://schemas.openxmlformats.org/drawingml/2006/main">
            <a:r>
              <a:t>Título: Cuándo aparece cada pieza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§6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Ubicar modelos, mensajes, herramientas, agente y controles en el mapa del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Anatomía de LangChain 1.x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arquitectura se reconoce ahora y se construye progresivamente.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S1–S2: Proveedor común, mensajes, prompts y salida estructurada.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S3–S5: Tools, selección, memoria y recuperación de conocimiento.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S6–S10: Límites, despliegue, trazas y 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Confundir todo LangChain con el LLM o adelantar APIs no usadas.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S1–S2; S3–S5; S6–S10.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Una consulta de póliza necesita dato del sistema y una regla documental.</a:t>
            </a:r>
          </a:p>
          <a:p xmlns:a="http://schemas.openxmlformats.org/drawingml/2006/main">
            <a:r>
              <a:t>Datos: Una tool consulta la póliza.</a:t>
            </a:r>
          </a:p>
          <a:p xmlns:a="http://schemas.openxmlformats.org/drawingml/2006/main">
            <a:r>
              <a:t>Conocimiento: El retriever recupera una cláusula del corpus.</a:t>
            </a:r>
          </a:p>
          <a:p xmlns:a="http://schemas.openxmlformats.org/drawingml/2006/main">
            <a:r>
              <a:t>Control: La aplicación limita promesas y deriva lo que no puede resolver.</a:t>
            </a:r>
          </a:p>
          <a:p xmlns:a="http://schemas.openxmlformats.org/drawingml/2006/main">
            <a:r>
              <a:t>Resultado: Cada componente tiene una responsabilidad y un laboratorio donde se implementa.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¿Dónde ubicarías un filtro de salida que evita exponer PII?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arquitectura se reconoce ahora y se construye progresivamente.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todo LangChain con el LLM o adelantar APIs no usadas.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Workflow frente a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Modelos abiertos y cerrados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18 · CAPÍTULO 6 · EJEMPLO</a:t>
            </a:r>
          </a:p>
          <a:p xmlns:a="http://schemas.openxmlformats.org/drawingml/2006/main">
            <a:r>
              <a:t>Título: Andina Seguros · Anatomía de LangChain 1.x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§6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Ubicar modelos, mensajes, herramientas, agente y controles en el mapa del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Anatomía de LangChain 1.x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arquitectura se reconoce ahora y se construye progresivamente.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Una consulta de póliza necesita dato del sistema y una regla documental.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Datos: Una tool consulta la póliza.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Conocimiento: El retriever recupera una cláusula del corpus.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Control: La aplicación limita promesas y deriva lo que no puede resolver.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Cada componente tiene una responsabilidad y un laboratorio donde se implementa.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Datos; Conocimiento; Control.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Una consulta de póliza necesita dato del sistema y una regla documental.</a:t>
            </a:r>
          </a:p>
          <a:p xmlns:a="http://schemas.openxmlformats.org/drawingml/2006/main">
            <a:r>
              <a:t>Datos: Una tool consulta la póliza.</a:t>
            </a:r>
          </a:p>
          <a:p xmlns:a="http://schemas.openxmlformats.org/drawingml/2006/main">
            <a:r>
              <a:t>Conocimiento: El retriever recupera una cláusula del corpus.</a:t>
            </a:r>
          </a:p>
          <a:p xmlns:a="http://schemas.openxmlformats.org/drawingml/2006/main">
            <a:r>
              <a:t>Control: La aplicación limita promesas y deriva lo que no puede resolver.</a:t>
            </a:r>
          </a:p>
          <a:p xmlns:a="http://schemas.openxmlformats.org/drawingml/2006/main">
            <a:r>
              <a:t>Resultado: Cada componente tiene una responsabilidad y un laboratorio donde se implementa.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¿Dónde ubicarías un filtro de salida que evita exponer PII?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arquitectura se reconoce ahora y se construye progresivamente.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todo LangChain con el LLM o adelantar APIs no usadas.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Workflow frente a agente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Modelos abiertos y cerrados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19 · CAPÍTULO 7 · CONCEPTO</a:t>
            </a:r>
          </a:p>
          <a:p xmlns:a="http://schemas.openxmlformats.org/drawingml/2006/main">
            <a:r>
              <a:t>Título: Modelos abiertos y cerrados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§7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Comparar acceso, operación y evidencia de adecuación para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Modelos abiertos y cerrados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modelo se elige por evidencia sobre la tarea.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«¿Podemos trasladar el resultado a cualquier versión o endpoint sin probar?».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Pesos abiertos: Permiten acceso bajo la licencia concreta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Modelos cerrados: Se consumen normalmente mediante el servicio de su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Selección del curso: Qwen3-32B cumplió las pruebas documentadas para este material.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modelo se elige por evidencia sobre la tarea.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Pesos abiertos; Modelos cerrados; Selección del curso.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Se evalúan candidatos para elegir tools de pedidos y stock.</a:t>
            </a:r>
          </a:p>
          <a:p xmlns:a="http://schemas.openxmlformats.org/drawingml/2006/main">
            <a:r>
              <a:t>Definir: La prueba requiere llamadas de herramientas correctas.</a:t>
            </a:r>
          </a:p>
          <a:p xmlns:a="http://schemas.openxmlformats.org/drawingml/2006/main">
            <a:r>
              <a:t>Ejecutar: Aplicar la misma batería a cada candidato.</a:t>
            </a:r>
          </a:p>
          <a:p xmlns:a="http://schemas.openxmlformats.org/drawingml/2006/main">
            <a:r>
              <a:t>Decidir: Elegir el que cumpla los requisitos en ese contexto.</a:t>
            </a:r>
          </a:p>
          <a:p xmlns:a="http://schemas.openxmlformats.org/drawingml/2006/main">
            <a:r>
              <a:t>Resultado: El resultado del repositorio no es un ranking universal de modelos.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¿Podemos trasladar el resultado a cualquier versión o endpoint sin probar?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modelo se elige por evidencia sobre la tarea.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Tratar una comparación del curso como verdad permanente.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Anatomía de LangChain 1.x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La capa comun/provider.py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20 · CAPÍTULO 7 · DESARROLLO</a:t>
            </a:r>
          </a:p>
          <a:p xmlns:a="http://schemas.openxmlformats.org/drawingml/2006/main">
            <a:r>
              <a:t>Título: Elegir con pruebas del caso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§7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Comparar acceso, operación y evidencia de adecuación para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Modelos abiertos y cerrados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modelo se elige por evidencia sobre la tarea.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Compatibilidad: Comprobar tool calling y el patrón de interacción requerido.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Operación: Valorar acceso, capacidad y esfuerzo de mantenimiento.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Evidencia: Conservar resultados de la batería, no una preferencia de marca.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Tratar una comparación del curso como verdad permanente.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Compatibilidad; Operación; Evidencia.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Se evalúan candidatos para elegir tools de pedidos y stock.</a:t>
            </a:r>
          </a:p>
          <a:p xmlns:a="http://schemas.openxmlformats.org/drawingml/2006/main">
            <a:r>
              <a:t>Definir: La prueba requiere llamadas de herramientas correctas.</a:t>
            </a:r>
          </a:p>
          <a:p xmlns:a="http://schemas.openxmlformats.org/drawingml/2006/main">
            <a:r>
              <a:t>Ejecutar: Aplicar la misma batería a cada candidato.</a:t>
            </a:r>
          </a:p>
          <a:p xmlns:a="http://schemas.openxmlformats.org/drawingml/2006/main">
            <a:r>
              <a:t>Decidir: Elegir el que cumpla los requisitos en ese contexto.</a:t>
            </a:r>
          </a:p>
          <a:p xmlns:a="http://schemas.openxmlformats.org/drawingml/2006/main">
            <a:r>
              <a:t>Resultado: El resultado del repositorio no es un ranking universal de modelos.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¿Podemos trasladar el resultado a cualquier versión o endpoint sin probar?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modelo se elige por evidencia sobre la tarea.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Tratar una comparación del curso como verdad permanente.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Anatomía de LangChain 1.x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La capa comun/provider.py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21 · CAPÍTULO 7 · EJEMPLO</a:t>
            </a:r>
          </a:p>
          <a:p xmlns:a="http://schemas.openxmlformats.org/drawingml/2006/main">
            <a:r>
              <a:t>Título: MercaSur · Modelos abiertos y cerrados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§7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Comparar acceso, operación y evidencia de adecuación para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Modelos abiertos y cerrados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modelo se elige por evidencia sobre la tarea.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Se evalúan candidatos para elegir tools de pedidos y stock.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Definir: La prueba requiere llamadas de herramientas correctas.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Ejecutar: Aplicar la misma batería a cada candidato.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Decidir: Elegir el que cumpla los requisitos en ese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resultado del repositorio no es un ranking universal de modelos.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Definir; Ejecutar; Decidir.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Se evalúan candidatos para elegir tools de pedidos y stock.</a:t>
            </a:r>
          </a:p>
          <a:p xmlns:a="http://schemas.openxmlformats.org/drawingml/2006/main">
            <a:r>
              <a:t>Definir: La prueba requiere llamadas de herramientas correctas.</a:t>
            </a:r>
          </a:p>
          <a:p xmlns:a="http://schemas.openxmlformats.org/drawingml/2006/main">
            <a:r>
              <a:t>Ejecutar: Aplicar la misma batería a cada candidato.</a:t>
            </a:r>
          </a:p>
          <a:p xmlns:a="http://schemas.openxmlformats.org/drawingml/2006/main">
            <a:r>
              <a:t>Decidir: Elegir el que cumpla los requisitos en ese contexto.</a:t>
            </a:r>
          </a:p>
          <a:p xmlns:a="http://schemas.openxmlformats.org/drawingml/2006/main">
            <a:r>
              <a:t>Resultado: El resultado del repositorio no es un ranking universal de modelos.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¿Podemos trasladar el resultado a cualquier versión o endpoint sin probar?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modelo se elige por evidencia sobre la tarea.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Tratar una comparación del curso como verdad permanente.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Anatomía de LangChain 1.x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La capa comun/provider.py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22 · CAPÍTULO 8 · CONCEPTO</a:t>
            </a:r>
          </a:p>
          <a:p xmlns:a="http://schemas.openxmlformats.org/drawingml/2006/main">
            <a:r>
              <a:t>Título: La capa comun/provider.py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§8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Explicar cómo una interfaz común evita dispersar la configuración del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 capa comun/provider.py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Abstraer el proveedor reduce cambios de código, no elimina la 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tendrías que modificar si cada archivo creara su propio cliente?».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Aplicación: Solicita get_chat_model() o get_embeddings().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Adaptador común: Lee AI_PROVIDER y la configuración correspondiente.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Proveedor: Devuelve el cliente con la interfaz usada por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Abstraer el proveedor reduce cambios de código, no elimina la 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Aplicación; Adaptador común; Proveedor.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mismo agente pasa de Hugging Face a Foundry en el bonus.</a:t>
            </a:r>
          </a:p>
          <a:p xmlns:a="http://schemas.openxmlformats.org/drawingml/2006/main">
            <a:r>
              <a:t>Preparar: Completar las variables del destino.</a:t>
            </a:r>
          </a:p>
          <a:p xmlns:a="http://schemas.openxmlformats.org/drawingml/2006/main">
            <a:r>
              <a:t>Cambiar: Seleccionar AI_PROVIDER=foundry.</a:t>
            </a:r>
          </a:p>
          <a:p xmlns:a="http://schemas.openxmlformats.org/drawingml/2006/main">
            <a:r>
              <a:t>Medir: Ejecutar las mismas consultas y comparar resultados.</a:t>
            </a:r>
          </a:p>
          <a:p xmlns:a="http://schemas.openxmlformats.org/drawingml/2006/main">
            <a:r>
              <a:t>Resultado: La interfaz puede mantenerse; las respuestas del modelo pueden cambiar.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tendrías que modificar si cada archivo creara su propio cliente?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Abstraer el proveedor reduce cambios de código, no elimina la 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Prometer resultados idénticos después del cambio.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Modelos abiertos y cerrados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De la apertura al laboratorio 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23 · CAPÍTULO 8 · DESARROLLO</a:t>
            </a:r>
          </a:p>
          <a:p xmlns:a="http://schemas.openxmlformats.org/drawingml/2006/main">
            <a:r>
              <a:t>Título: Portabilidad y sus límites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§8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Explicar cómo una interfaz común evita dispersar la configuración del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 capa comun/provider.py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Abstraer el proveedor reduce cambios de código, no elimina la 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Código: Centralizar la selección en el módulo común.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Configuración: Proporcionar endpoint, modelo y credenciales requeridas.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Comportamiento: Repetir pruebas al cambiar de modelo o servicio.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Prometer resultados idénticos después del cambio.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Código; Configuración; Comportamiento.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mismo agente pasa de Hugging Face a Foundry en el bonus.</a:t>
            </a:r>
          </a:p>
          <a:p xmlns:a="http://schemas.openxmlformats.org/drawingml/2006/main">
            <a:r>
              <a:t>Preparar: Completar las variables del destino.</a:t>
            </a:r>
          </a:p>
          <a:p xmlns:a="http://schemas.openxmlformats.org/drawingml/2006/main">
            <a:r>
              <a:t>Cambiar: Seleccionar AI_PROVIDER=foundry.</a:t>
            </a:r>
          </a:p>
          <a:p xmlns:a="http://schemas.openxmlformats.org/drawingml/2006/main">
            <a:r>
              <a:t>Medir: Ejecutar las mismas consultas y comparar resultados.</a:t>
            </a:r>
          </a:p>
          <a:p xmlns:a="http://schemas.openxmlformats.org/drawingml/2006/main">
            <a:r>
              <a:t>Resultado: La interfaz puede mantenerse; las respuestas del modelo pueden cambiar.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tendrías que modificar si cada archivo creara su propio cliente?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Abstraer el proveedor reduce cambios de código, no elimina la 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Prometer resultados idénticos después del cambio.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Modelos abiertos y cerrados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De la apertura al laboratorio 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24 · CAPÍTULO 8 · EJEMPLO</a:t>
            </a:r>
          </a:p>
          <a:p xmlns:a="http://schemas.openxmlformats.org/drawingml/2006/main">
            <a:r>
              <a:t>Título: AndesMóvil · La capa comun/provider.py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§8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Explicar cómo una interfaz común evita dispersar la configuración del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 capa comun/provider.py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Abstraer el proveedor reduce cambios de código, no elimina la 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mismo agente pasa de Hugging Face a Foundry en el bonus.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Preparar: Completar las variables del destino.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Cambiar: Seleccionar AI_PROVIDER=foundry.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Medir: Ejecutar las mismas consultas y comparar resultados.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interfaz puede mantenerse; las respuestas del modelo pueden cambiar.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Preparar; Cambiar; Medir.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mismo agente pasa de Hugging Face a Foundry en el bonus.</a:t>
            </a:r>
          </a:p>
          <a:p xmlns:a="http://schemas.openxmlformats.org/drawingml/2006/main">
            <a:r>
              <a:t>Preparar: Completar las variables del destino.</a:t>
            </a:r>
          </a:p>
          <a:p xmlns:a="http://schemas.openxmlformats.org/drawingml/2006/main">
            <a:r>
              <a:t>Cambiar: Seleccionar AI_PROVIDER=foundry.</a:t>
            </a:r>
          </a:p>
          <a:p xmlns:a="http://schemas.openxmlformats.org/drawingml/2006/main">
            <a:r>
              <a:t>Medir: Ejecutar las mismas consultas y comparar resultados.</a:t>
            </a:r>
          </a:p>
          <a:p xmlns:a="http://schemas.openxmlformats.org/drawingml/2006/main">
            <a:r>
              <a:t>Resultado: La interfaz puede mantenerse; las respuestas del modelo pueden cambiar.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tendrías que modificar si cada archivo creara su propio cliente?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Abstraer el proveedor reduce cambios de código, no elimina la 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Prometer resultados idénticos después del cambio.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Modelos abiertos y cerrados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De la apertura al laboratorio 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25 · CAPÍTULO 9 · CONCEPTO</a:t>
            </a:r>
          </a:p>
          <a:p xmlns:a="http://schemas.openxmlformats.org/drawingml/2006/main">
            <a:r>
              <a:t>Título: De la apertura al laboratorio L1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§9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Conectar explicación, demostración y ejecución individual en la sesión.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 la apertura al laboratorio 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L1 valida entorno y conexión; las tools llegan en S3.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evidencia adicional convertiría esto en una consulta real de saldo?».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Observar: La apertura y el antipatrón cuestionan la expectativa de API determinista.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Practicar: El live coding muestra el primer acceso al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Consolidar: Test, elección de track y laboratorio producen evidencias.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L1 valida entorno y conexión; las tools llegan en S3.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Observar; Practicar; Consolidar.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alumno obtiene una respuesta textual a una consulta bancaria.</a:t>
            </a:r>
          </a:p>
          <a:p xmlns:a="http://schemas.openxmlformats.org/drawingml/2006/main">
            <a:r>
              <a:t>Ejecutar: Su primer script llama al modelo.</a:t>
            </a:r>
          </a:p>
          <a:p xmlns:a="http://schemas.openxmlformats.org/drawingml/2006/main">
            <a:r>
              <a:t>Evaluar: No hay consulta de saldo ni transacción externa.</a:t>
            </a:r>
          </a:p>
          <a:p xmlns:a="http://schemas.openxmlformats.org/drawingml/2006/main">
            <a:r>
              <a:t>Documentar: Anotar el resultado y el límite de esa demostración.</a:t>
            </a:r>
          </a:p>
          <a:p xmlns:a="http://schemas.openxmlformats.org/drawingml/2006/main">
            <a:r>
              <a:t>Resultado: El primer éxito técnico no demuestra que los datos de negocio sean verdaderos.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evidencia adicional convertiría esto en una consulta real de saldo?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L1 valida entorno y conexión; las tools llegan en S3.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Dar por implementado el agente final al recibir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La capa comun/provider.py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Elección del track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26 · CAPÍTULO 9 · DESARROLLO</a:t>
            </a:r>
          </a:p>
          <a:p xmlns:a="http://schemas.openxmlformats.org/drawingml/2006/main">
            <a:r>
              <a:t>Título: Comprobar el primer script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§9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Conectar explicación, demostración y ejecución individual en la sesión.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 la apertura al laboratorio 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L1 valida entorno y conexión; las tools llegan en S3.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Preparación: Entorno y variables configurados antes de invocar.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Llamada: Usar la capa común del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Lectura: Distinguir respuesta de texto y ejecución de una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Dar por implementado el agente final al recibir texto.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Preparación; Llamada; Lectura.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alumno obtiene una respuesta textual a una consulta bancaria.</a:t>
            </a:r>
          </a:p>
          <a:p xmlns:a="http://schemas.openxmlformats.org/drawingml/2006/main">
            <a:r>
              <a:t>Ejecutar: Su primer script llama al modelo.</a:t>
            </a:r>
          </a:p>
          <a:p xmlns:a="http://schemas.openxmlformats.org/drawingml/2006/main">
            <a:r>
              <a:t>Evaluar: No hay consulta de saldo ni transacción externa.</a:t>
            </a:r>
          </a:p>
          <a:p xmlns:a="http://schemas.openxmlformats.org/drawingml/2006/main">
            <a:r>
              <a:t>Documentar: Anotar el resultado y el límite de esa demostración.</a:t>
            </a:r>
          </a:p>
          <a:p xmlns:a="http://schemas.openxmlformats.org/drawingml/2006/main">
            <a:r>
              <a:t>Resultado: El primer éxito técnico no demuestra que los datos de negocio sean verdaderos.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evidencia adicional convertiría esto en una consulta real de saldo?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L1 valida entorno y conexión; las tools llegan en S3.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Dar por implementado el agente final al recibir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La capa comun/provider.py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Elección del track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27 · CAPÍTULO 9 · EJEMPLO</a:t>
            </a:r>
          </a:p>
          <a:p xmlns:a="http://schemas.openxmlformats.org/drawingml/2006/main">
            <a:r>
              <a:t>Título: Banco Inti · De la apertura al laboratorio L1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§9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Conectar explicación, demostración y ejecución individual en la sesión.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 la apertura al laboratorio 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L1 valida entorno y conexión; las tools llegan en S3.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alumno obtiene una respuesta textual a una consulta bancaria.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Ejecutar: Su primer script llama al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Evaluar: No hay consulta de saldo ni transacción externa.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Documentar: Anotar el resultado y el límite de esa demostración.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primer éxito técnico no demuestra que los datos de negocio sean verdaderos.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Ejecutar; Evaluar; Documentar.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alumno obtiene una respuesta textual a una consulta bancaria.</a:t>
            </a:r>
          </a:p>
          <a:p xmlns:a="http://schemas.openxmlformats.org/drawingml/2006/main">
            <a:r>
              <a:t>Ejecutar: Su primer script llama al modelo.</a:t>
            </a:r>
          </a:p>
          <a:p xmlns:a="http://schemas.openxmlformats.org/drawingml/2006/main">
            <a:r>
              <a:t>Evaluar: No hay consulta de saldo ni transacción externa.</a:t>
            </a:r>
          </a:p>
          <a:p xmlns:a="http://schemas.openxmlformats.org/drawingml/2006/main">
            <a:r>
              <a:t>Documentar: Anotar el resultado y el límite de esa demostración.</a:t>
            </a:r>
          </a:p>
          <a:p xmlns:a="http://schemas.openxmlformats.org/drawingml/2006/main">
            <a:r>
              <a:t>Resultado: El primer éxito técnico no demuestra que los datos de negocio sean verdaderos.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evidencia adicional convertiría esto en una consulta real de saldo?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L1 valida entorno y conexión; las tools llegan en S3.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Dar por implementado el agente final al recibir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La capa comun/provider.py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Elección del track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28 · CAPÍTULO 10 · CONCEPTO</a:t>
            </a:r>
          </a:p>
          <a:p xmlns:a="http://schemas.openxmlformats.org/drawingml/2006/main">
            <a:r>
              <a:t>Título: Elección del track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§10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Reconocer cuatro dominios sobre un mismo patrón de arquitectura.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Elección del track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Elegir industria significa concretar datos, tareas y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límite deberías explicar en la primera frase de tu caso?».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Telco y banca: AndesMóvil y Banco Inti trabajan datos y operaciones del dominio.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Retail y seguros: MercaSur y Andina Seguros aportan otros catálogos y corpus.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Núcleo compartido: Modelo, tools, contexto y control siguen el mismo patrón.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Elegir industria significa concretar datos, tareas y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Telco y banca; Retail y seguros; Núcleo compartido.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equipo elige asistencia sobre pólizas y registro de siniestros.</a:t>
            </a:r>
          </a:p>
          <a:p xmlns:a="http://schemas.openxmlformats.org/drawingml/2006/main">
            <a:r>
              <a:t>Delimitar: Consultar póliza, revisar condiciones y registrar información.</a:t>
            </a:r>
          </a:p>
          <a:p xmlns:a="http://schemas.openxmlformats.org/drawingml/2006/main">
            <a:r>
              <a:t>Restringir: No aprobar indemnizaciones por decisión del agente.</a:t>
            </a:r>
          </a:p>
          <a:p xmlns:a="http://schemas.openxmlformats.org/drawingml/2006/main">
            <a:r>
              <a:t>Conectar: Usar prompts, tools y documentos del track de seguros.</a:t>
            </a:r>
          </a:p>
          <a:p xmlns:a="http://schemas.openxmlformats.org/drawingml/2006/main">
            <a:r>
              <a:t>Resultado: El track cambia el dominio; no reemplaza el método del curso.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límite deberías explicar en la primera frase de tu caso?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Elegir industria significa concretar datos, tareas y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Elegir un caso que exige sistemas o permisos inexistentes.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De la apertura al laboratorio 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Alcance de S1 y evolución posterior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29 · CAPÍTULO 10 · DESARROLLO</a:t>
            </a:r>
          </a:p>
          <a:p xmlns:a="http://schemas.openxmlformats.org/drawingml/2006/main">
            <a:r>
              <a:t>Título: Definir un caso viable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§10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Reconocer cuatro dominios sobre un mismo patrón de arquitectura.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Elección del track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Elegir industria significa concretar datos, tareas y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Usuario: Nombrar quién pide ayuda y qué necesita.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Alcance: Elegir las consultas cubiertas por el simulador y el corpus.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Límite: Explicitar qué acciones no puede realizar el asistente.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Elegir un caso que exige sistemas o permisos inexistentes.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Usuario; Alcance; Límite.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equipo elige asistencia sobre pólizas y registro de siniestros.</a:t>
            </a:r>
          </a:p>
          <a:p xmlns:a="http://schemas.openxmlformats.org/drawingml/2006/main">
            <a:r>
              <a:t>Delimitar: Consultar póliza, revisar condiciones y registrar información.</a:t>
            </a:r>
          </a:p>
          <a:p xmlns:a="http://schemas.openxmlformats.org/drawingml/2006/main">
            <a:r>
              <a:t>Restringir: No aprobar indemnizaciones por decisión del agente.</a:t>
            </a:r>
          </a:p>
          <a:p xmlns:a="http://schemas.openxmlformats.org/drawingml/2006/main">
            <a:r>
              <a:t>Conectar: Usar prompts, tools y documentos del track de seguros.</a:t>
            </a:r>
          </a:p>
          <a:p xmlns:a="http://schemas.openxmlformats.org/drawingml/2006/main">
            <a:r>
              <a:t>Resultado: El track cambia el dominio; no reemplaza el método del curso.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límite deberías explicar en la primera frase de tu caso?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Elegir industria significa concretar datos, tareas y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Elegir un caso que exige sistemas o permisos inexistentes.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De la apertura al laboratorio 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Alcance de S1 y evolución posterior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30 · CAPÍTULO 10 · EJEMPLO</a:t>
            </a:r>
          </a:p>
          <a:p xmlns:a="http://schemas.openxmlformats.org/drawingml/2006/main">
            <a:r>
              <a:t>Título: Andina Seguros · Elección del track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§10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Reconocer cuatro dominios sobre un mismo patrón de arquitectura.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Elección del track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Elegir industria significa concretar datos, tareas y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equipo elige asistencia sobre pólizas y registro de siniestros.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Delimitar: Consultar póliza, revisar condiciones y registrar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Restringir: No aprobar indemnizaciones por decisión del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Conectar: Usar prompts, tools y documentos del track de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track cambia el dominio; no reemplaza el método del curso.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Delimitar; Restringir; Conectar.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equipo elige asistencia sobre pólizas y registro de siniestros.</a:t>
            </a:r>
          </a:p>
          <a:p xmlns:a="http://schemas.openxmlformats.org/drawingml/2006/main">
            <a:r>
              <a:t>Delimitar: Consultar póliza, revisar condiciones y registrar información.</a:t>
            </a:r>
          </a:p>
          <a:p xmlns:a="http://schemas.openxmlformats.org/drawingml/2006/main">
            <a:r>
              <a:t>Restringir: No aprobar indemnizaciones por decisión del agente.</a:t>
            </a:r>
          </a:p>
          <a:p xmlns:a="http://schemas.openxmlformats.org/drawingml/2006/main">
            <a:r>
              <a:t>Conectar: Usar prompts, tools y documentos del track de seguros.</a:t>
            </a:r>
          </a:p>
          <a:p xmlns:a="http://schemas.openxmlformats.org/drawingml/2006/main">
            <a:r>
              <a:t>Resultado: El track cambia el dominio; no reemplaza el método del curso.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límite deberías explicar en la primera frase de tu caso?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Elegir industria significa concretar datos, tareas y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Elegir un caso que exige sistemas o permisos inexistentes.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De la apertura al laboratorio 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Alcance de S1 y evolución posterior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31 · CAPÍTULO 11 · CONCEPTO</a:t>
            </a:r>
          </a:p>
          <a:p xmlns:a="http://schemas.openxmlformats.org/drawingml/2006/main">
            <a:r>
              <a:t>Título: Alcance de S1 y evolución posterior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§11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Ubicar las capacidades que se construirán después sin adelantarlas como terminadas.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Alcance de S1 y evolución posterior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Distingue siempre arquitectura objetivo y checkpoint implementado.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«¿Dónde se implementa el aislamiento de conversaciones?».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Ahora: Fundamentos, proveedor y primer script.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S2–S5: Contratos, tools, selección, memoria y RAG.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 en adelante: Guardrails, pruebas, operación y evidencia de calidad.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Distingue siempre arquitectura objetivo y checkpoint implementado.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Ahora; S2–S5; S6 en adelante.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equipo quiere que su primer script recuerde todos los pedidos.</a:t>
            </a:r>
          </a:p>
          <a:p xmlns:a="http://schemas.openxmlformats.org/drawingml/2006/main">
            <a:r>
              <a:t>Ubicar: L1 no incluye el estado conversacional de L5.</a:t>
            </a:r>
          </a:p>
          <a:p xmlns:a="http://schemas.openxmlformats.org/drawingml/2006/main">
            <a:r>
              <a:t>Separar: El historial y el sistema de pedidos cumplen funciones distintas.</a:t>
            </a:r>
          </a:p>
          <a:p xmlns:a="http://schemas.openxmlformats.org/drawingml/2006/main">
            <a:r>
              <a:t>Planificar: Esperar la implementación y prueba de cada pieza.</a:t>
            </a:r>
          </a:p>
          <a:p xmlns:a="http://schemas.openxmlformats.org/drawingml/2006/main">
            <a:r>
              <a:t>Resultado: El mapa del curso orienta; no certifica capacidades del código actual.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¿Dónde se implementa el aislamiento de conversaciones?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Distingue siempre arquitectura objetivo y checkpoint implementado.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Mostrar memoria duradera o despliegue como si ya existieran.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Elección del track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Siguiente paso: del texto al contrato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32 · CAPÍTULO 11 · DESARROLLO</a:t>
            </a:r>
          </a:p>
          <a:p xmlns:a="http://schemas.openxmlformats.org/drawingml/2006/main">
            <a:r>
              <a:t>Título: Cómo leer la arquitectura futura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§11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Ubicar las capacidades que se construirán después sin adelantarlas como terminadas.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Alcance de S1 y evolución posterior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Distingue siempre arquitectura objetivo y checkpoint implementado.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Reconocer: Identificar el nombre y propósito de cada componente.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Posponer: No depender de una capacidad todavía no implementada.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Verificar: En cada laboratorio, demostrar la nueva responsabilidad.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Mostrar memoria duradera o despliegue como si ya existieran.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Reconocer; Posponer; Verificar.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equipo quiere que su primer script recuerde todos los pedidos.</a:t>
            </a:r>
          </a:p>
          <a:p xmlns:a="http://schemas.openxmlformats.org/drawingml/2006/main">
            <a:r>
              <a:t>Ubicar: L1 no incluye el estado conversacional de L5.</a:t>
            </a:r>
          </a:p>
          <a:p xmlns:a="http://schemas.openxmlformats.org/drawingml/2006/main">
            <a:r>
              <a:t>Separar: El historial y el sistema de pedidos cumplen funciones distintas.</a:t>
            </a:r>
          </a:p>
          <a:p xmlns:a="http://schemas.openxmlformats.org/drawingml/2006/main">
            <a:r>
              <a:t>Planificar: Esperar la implementación y prueba de cada pieza.</a:t>
            </a:r>
          </a:p>
          <a:p xmlns:a="http://schemas.openxmlformats.org/drawingml/2006/main">
            <a:r>
              <a:t>Resultado: El mapa del curso orienta; no certifica capacidades del código actual.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¿Dónde se implementa el aislamiento de conversaciones?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Distingue siempre arquitectura objetivo y checkpoint implementado.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Mostrar memoria duradera o despliegue como si ya existieran.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Elección del track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Siguiente paso: del texto al contrato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33 · CAPÍTULO 11 · EJEMPLO</a:t>
            </a:r>
          </a:p>
          <a:p xmlns:a="http://schemas.openxmlformats.org/drawingml/2006/main">
            <a:r>
              <a:t>Título: MercaSur · Alcance de S1 y evolución posterior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§11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Ubicar las capacidades que se construirán después sin adelantarlas como terminadas.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Alcance de S1 y evolución posterior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Distingue siempre arquitectura objetivo y checkpoint implementado.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equipo quiere que su primer script recuerde todos los pedidos.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Ubicar: L1 no incluye el estado conversacional de L5.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Separar: El historial y el sistema de pedidos cumplen funciones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Planificar: Esperar la implementación y prueba de cada pieza.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mapa del curso orienta; no certifica capacidades del código actual.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Ubicar; Separar; Planificar.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equipo quiere que su primer script recuerde todos los pedidos.</a:t>
            </a:r>
          </a:p>
          <a:p xmlns:a="http://schemas.openxmlformats.org/drawingml/2006/main">
            <a:r>
              <a:t>Ubicar: L1 no incluye el estado conversacional de L5.</a:t>
            </a:r>
          </a:p>
          <a:p xmlns:a="http://schemas.openxmlformats.org/drawingml/2006/main">
            <a:r>
              <a:t>Separar: El historial y el sistema de pedidos cumplen funciones distintas.</a:t>
            </a:r>
          </a:p>
          <a:p xmlns:a="http://schemas.openxmlformats.org/drawingml/2006/main">
            <a:r>
              <a:t>Planificar: Esperar la implementación y prueba de cada pieza.</a:t>
            </a:r>
          </a:p>
          <a:p xmlns:a="http://schemas.openxmlformats.org/drawingml/2006/main">
            <a:r>
              <a:t>Resultado: El mapa del curso orienta; no certifica capacidades del código actual.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¿Dónde se implementa el aislamiento de conversaciones?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Distingue siempre arquitectura objetivo y checkpoint implementado.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Mostrar memoria duradera o despliegue como si ya existieran.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Elección del track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 · Sigue: Siguiente paso: del texto al contrato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34 · CAPÍTULO 12 · CONCEPTO</a:t>
            </a:r>
          </a:p>
          <a:p xmlns:a="http://schemas.openxmlformats.org/drawingml/2006/main">
            <a:r>
              <a:t>Título: Siguiente paso: del texto al contrato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§12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Preparar la transición hacia prompts claros y salida validada.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Siguiente paso: del texto al contrato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próximo paso añade contrato, no confianza ciega en el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harías con una categoría que tu aplicación no reconoce?».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 S1: El modelo ya recibe y devuelve mensajes.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Problema siguiente: Una aplicación necesita categorías y campos predecibles.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S2: Prompts, ejemplos y Pydantic convierten el resultado en un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próximo paso añade contrato, no confianza ciega en el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Base S1; Problema siguiente; S2.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Una consulta sobre una comisión debe clasificarse antes de actuar.</a:t>
            </a:r>
          </a:p>
          <a:p xmlns:a="http://schemas.openxmlformats.org/drawingml/2006/main">
            <a:r>
              <a:t>Entrada: El usuario pregunta por un cobro.</a:t>
            </a:r>
          </a:p>
          <a:p xmlns:a="http://schemas.openxmlformats.org/drawingml/2006/main">
            <a:r>
              <a:t>Contrato: El clasificador devolverá una categoría permitida.</a:t>
            </a:r>
          </a:p>
          <a:p xmlns:a="http://schemas.openxmlformats.org/drawingml/2006/main">
            <a:r>
              <a:t>Validación: La aplicación comprobará que pertenece a la taxonomía.</a:t>
            </a:r>
          </a:p>
          <a:p xmlns:a="http://schemas.openxmlformats.org/drawingml/2006/main">
            <a:r>
              <a:t>Resultado: La respuesta se prepara para que otro componente pueda usarla.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harías con una categoría que tu aplicación no reconoce?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próximo paso añade contrato, no confianza ciega en el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exigir JSON con garantizar un objeto válido.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Alcance de S1 y evolución posterior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35 · CAPÍTULO 12 · DESARROLLO</a:t>
            </a:r>
          </a:p>
          <a:p xmlns:a="http://schemas.openxmlformats.org/drawingml/2006/main">
            <a:r>
              <a:t>Título: Preparar una consulta para S2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§12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Preparar la transición hacia prompts claros y salida validada.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Siguiente paso: del texto al contrato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próximo paso añade contrato, no confianza ciega en el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Elegir: Tomar una consulta concreta del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Definir: Nombrar qué campos necesita la aplicación consumidora.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Anticipar: Pensar qué ocurrirá si el modelo omite o inventa un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Confundir exigir JSON con garantizar un objeto válido.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Elegir; Definir; Anticipar.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Una consulta sobre una comisión debe clasificarse antes de actuar.</a:t>
            </a:r>
          </a:p>
          <a:p xmlns:a="http://schemas.openxmlformats.org/drawingml/2006/main">
            <a:r>
              <a:t>Entrada: El usuario pregunta por un cobro.</a:t>
            </a:r>
          </a:p>
          <a:p xmlns:a="http://schemas.openxmlformats.org/drawingml/2006/main">
            <a:r>
              <a:t>Contrato: El clasificador devolverá una categoría permitida.</a:t>
            </a:r>
          </a:p>
          <a:p xmlns:a="http://schemas.openxmlformats.org/drawingml/2006/main">
            <a:r>
              <a:t>Validación: La aplicación comprobará que pertenece a la taxonomía.</a:t>
            </a:r>
          </a:p>
          <a:p xmlns:a="http://schemas.openxmlformats.org/drawingml/2006/main">
            <a:r>
              <a:t>Resultado: La respuesta se prepara para que otro componente pueda usarla.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harías con una categoría que tu aplicación no reconoce?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próximo paso añade contrato, no confianza ciega en el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exigir JSON con garantizar un objeto válido.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Alcance de S1 y evolución posterior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36 · CAPÍTULO 12 · EJEMPLO</a:t>
            </a:r>
          </a:p>
          <a:p xmlns:a="http://schemas.openxmlformats.org/drawingml/2006/main">
            <a:r>
              <a:t>Título: Banco Inti · Siguiente paso: del texto al contrato</a:t>
            </a:r>
          </a:p>
          <a:p xmlns:a="http://schemas.openxmlformats.org/drawingml/2006/main">
            <a:r>
              <a:t>Sesión: Fundamentos de los agentes inteligentes</a:t>
            </a:r>
          </a:p>
          <a:p xmlns:a="http://schemas.openxmlformats.org/drawingml/2006/main">
            <a:r>
              <a:t>Archivo: 01-fundamentos-agentes-editable-v2.pptx</a:t>
            </a:r>
          </a:p>
          <a:p xmlns:a="http://schemas.openxmlformats.org/drawingml/2006/main">
            <a:r>
              <a:t>Sección que soporta: §12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https://github.com/javierrosado/ariwalab-course-langchain/blob/27c24090f1662f9473b673d2020e7bffee04490b/modulo-1-fundamentos/sesion-01-fundamentos-agentes/README.md</a:t>
            </a:r>
          </a:p>
          <a:p xmlns:a="http://schemas.openxmlformats.org/drawingml/2006/main">
            <a:r>
              <a:t>Contexto adicional: laboratorios, demos y soluciones de modulo-1-fundamentos/sesion-01-fundamentos-agentes;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Preparar la transición hacia prompts claros y salida validada.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Siguiente paso: del texto al contrato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próximo paso añade contrato, no confianza ciega en el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Una consulta sobre una comisión debe clasificarse antes de actuar.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Entrada: El usuario pregunta por un cobro.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Contrato: El clasificador devolverá una categoría permitida.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Validación: La aplicación comprobará que pertenece a la taxonomía.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respuesta se prepara para que otro componente pueda usarla.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Entrada; Contrato; Validación.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Una consulta sobre una comisión debe clasificarse antes de actuar.</a:t>
            </a:r>
          </a:p>
          <a:p xmlns:a="http://schemas.openxmlformats.org/drawingml/2006/main">
            <a:r>
              <a:t>Entrada: El usuario pregunta por un cobro.</a:t>
            </a:r>
          </a:p>
          <a:p xmlns:a="http://schemas.openxmlformats.org/drawingml/2006/main">
            <a:r>
              <a:t>Contrato: El clasificador devolverá una categoría permitida.</a:t>
            </a:r>
          </a:p>
          <a:p xmlns:a="http://schemas.openxmlformats.org/drawingml/2006/main">
            <a:r>
              <a:t>Validación: La aplicación comprobará que pertenece a la taxonomía.</a:t>
            </a:r>
          </a:p>
          <a:p xmlns:a="http://schemas.openxmlformats.org/drawingml/2006/main">
            <a:r>
              <a:t>Resultado: La respuesta se prepara para que otro componente pueda usarla.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harías con una categoría que tu aplicación no reconoce?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próximo paso añade contrato, no confianza ciega en el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exigir JSON con garantizar un objeto válido.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S0: modelos, contexto y entorno · Capítulo previo: Alcance de S1 y evolución posterior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S2: prompts y contratos; S3: primera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dfbaa5d98443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6e853616dd47d2" /><Relationship Type="http://schemas.openxmlformats.org/officeDocument/2006/relationships/slideLayout" Target="/ppt/slideLayouts/slideLayout1.xml" Id="Rc17e8c87272a44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7e8c87272a44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0c17190b04ab9" /><Relationship Type="http://schemas.openxmlformats.org/officeDocument/2006/relationships/notesSlide" Target="/ppt/notesSlides/notesSlide1.xml" Id="Ra035a96d7b0045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208c9f9484209" /><Relationship Type="http://schemas.openxmlformats.org/officeDocument/2006/relationships/notesSlide" Target="/ppt/notesSlides/notesSlide2.xml" Id="R4c4f138318f545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20183a3b54282" /><Relationship Type="http://schemas.openxmlformats.org/officeDocument/2006/relationships/notesSlide" Target="/ppt/notesSlides/notesSlide3.xml" Id="Rcf0ebff0e5aa4b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38ac5638b47ca" /><Relationship Type="http://schemas.openxmlformats.org/officeDocument/2006/relationships/notesSlide" Target="/ppt/notesSlides/notesSlide4.xml" Id="R8e6f4068787546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4316d65444af2" /><Relationship Type="http://schemas.openxmlformats.org/officeDocument/2006/relationships/notesSlide" Target="/ppt/notesSlides/notesSlide5.xml" Id="Ra3e03ce9f4a44e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a5c0eae4f4463" /><Relationship Type="http://schemas.openxmlformats.org/officeDocument/2006/relationships/notesSlide" Target="/ppt/notesSlides/notesSlide6.xml" Id="R1ba4fbe32c544c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54095616247d2" /><Relationship Type="http://schemas.openxmlformats.org/officeDocument/2006/relationships/notesSlide" Target="/ppt/notesSlides/notesSlide7.xml" Id="Rdc6834dc95444a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abb18fa0744a6" /><Relationship Type="http://schemas.openxmlformats.org/officeDocument/2006/relationships/notesSlide" Target="/ppt/notesSlides/notesSlide8.xml" Id="R8453307610394e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99d6544a1417f" /><Relationship Type="http://schemas.openxmlformats.org/officeDocument/2006/relationships/notesSlide" Target="/ppt/notesSlides/notesSlide9.xml" Id="Reb782fc8e7bf40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4a30880f14440" /><Relationship Type="http://schemas.openxmlformats.org/officeDocument/2006/relationships/notesSlide" Target="/ppt/notesSlides/notesSlide10.xml" Id="Rcf86cfb150d040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c5740a4774e7b" /><Relationship Type="http://schemas.openxmlformats.org/officeDocument/2006/relationships/notesSlide" Target="/ppt/notesSlides/notesSlide11.xml" Id="Rd21e70fd5f644d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1c5a12cec4a1d" /><Relationship Type="http://schemas.openxmlformats.org/officeDocument/2006/relationships/notesSlide" Target="/ppt/notesSlides/notesSlide12.xml" Id="Rb8340417eba742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64d65f6364ea4" /><Relationship Type="http://schemas.openxmlformats.org/officeDocument/2006/relationships/notesSlide" Target="/ppt/notesSlides/notesSlide13.xml" Id="Rce1932358e9e43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53ce2850b4bbc" /><Relationship Type="http://schemas.openxmlformats.org/officeDocument/2006/relationships/notesSlide" Target="/ppt/notesSlides/notesSlide14.xml" Id="Rc8e1936f942f48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fdd5a526e4417" /><Relationship Type="http://schemas.openxmlformats.org/officeDocument/2006/relationships/notesSlide" Target="/ppt/notesSlides/notesSlide15.xml" Id="Rcb38af0af8d64e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4276432c94561" /><Relationship Type="http://schemas.openxmlformats.org/officeDocument/2006/relationships/notesSlide" Target="/ppt/notesSlides/notesSlide16.xml" Id="Rfc410ab31f2845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ae61dd8724620" /><Relationship Type="http://schemas.openxmlformats.org/officeDocument/2006/relationships/notesSlide" Target="/ppt/notesSlides/notesSlide17.xml" Id="R28c89fa1d67e40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cae8c864a44c6" /><Relationship Type="http://schemas.openxmlformats.org/officeDocument/2006/relationships/notesSlide" Target="/ppt/notesSlides/notesSlide18.xml" Id="R65e2ecac2e554b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f773a445f44d5" /><Relationship Type="http://schemas.openxmlformats.org/officeDocument/2006/relationships/notesSlide" Target="/ppt/notesSlides/notesSlide19.xml" Id="Rc23720b114df4a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fd1019da74b26" /><Relationship Type="http://schemas.openxmlformats.org/officeDocument/2006/relationships/notesSlide" Target="/ppt/notesSlides/notesSlide20.xml" Id="Rb4bf9957716342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9aa8086624227" /><Relationship Type="http://schemas.openxmlformats.org/officeDocument/2006/relationships/notesSlide" Target="/ppt/notesSlides/notesSlide21.xml" Id="R9b9529f3c69241f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0ca6f119f4af2" /><Relationship Type="http://schemas.openxmlformats.org/officeDocument/2006/relationships/notesSlide" Target="/ppt/notesSlides/notesSlide22.xml" Id="R1d71132ebd0c4bb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d0efa6fab44bd" /><Relationship Type="http://schemas.openxmlformats.org/officeDocument/2006/relationships/notesSlide" Target="/ppt/notesSlides/notesSlide23.xml" Id="Rb22b8d2e7897480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a5a89ae22458c" /><Relationship Type="http://schemas.openxmlformats.org/officeDocument/2006/relationships/notesSlide" Target="/ppt/notesSlides/notesSlide24.xml" Id="R5a62d84852d949f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98aa3ca1f4a7a" /><Relationship Type="http://schemas.openxmlformats.org/officeDocument/2006/relationships/notesSlide" Target="/ppt/notesSlides/notesSlide25.xml" Id="R195407c4de0d4d4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0166aaf6745b1" /><Relationship Type="http://schemas.openxmlformats.org/officeDocument/2006/relationships/notesSlide" Target="/ppt/notesSlides/notesSlide26.xml" Id="Rc1fac26dab67411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13da3be1849f0" /><Relationship Type="http://schemas.openxmlformats.org/officeDocument/2006/relationships/notesSlide" Target="/ppt/notesSlides/notesSlide27.xml" Id="R60e84885c2c1445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b6ec75d1f401c" /><Relationship Type="http://schemas.openxmlformats.org/officeDocument/2006/relationships/notesSlide" Target="/ppt/notesSlides/notesSlide28.xml" Id="R314f1bfe83b8432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c3752116d442c" /><Relationship Type="http://schemas.openxmlformats.org/officeDocument/2006/relationships/notesSlide" Target="/ppt/notesSlides/notesSlide29.xml" Id="R4de07827e1ac46e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a2217ab0447b8" /><Relationship Type="http://schemas.openxmlformats.org/officeDocument/2006/relationships/notesSlide" Target="/ppt/notesSlides/notesSlide30.xml" Id="R6a0b0faa9ba74bd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7afe92fd04364" /><Relationship Type="http://schemas.openxmlformats.org/officeDocument/2006/relationships/notesSlide" Target="/ppt/notesSlides/notesSlide31.xml" Id="R052221db43d34df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14efe7d94475e" /><Relationship Type="http://schemas.openxmlformats.org/officeDocument/2006/relationships/notesSlide" Target="/ppt/notesSlides/notesSlide32.xml" Id="R6b70c7f30d2442b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a92ab1d2f4ba8" /><Relationship Type="http://schemas.openxmlformats.org/officeDocument/2006/relationships/notesSlide" Target="/ppt/notesSlides/notesSlide33.xml" Id="R8bf256d9ce874e4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dc1a4d01547f2" /><Relationship Type="http://schemas.openxmlformats.org/officeDocument/2006/relationships/notesSlide" Target="/ppt/notesSlides/notesSlide34.xml" Id="R666b884be8d64a4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be8609bc842ec" /><Relationship Type="http://schemas.openxmlformats.org/officeDocument/2006/relationships/notesSlide" Target="/ppt/notesSlides/notesSlide35.xml" Id="Rdf0c2d29a7f249b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503590f054f3a" /><Relationship Type="http://schemas.openxmlformats.org/officeDocument/2006/relationships/notesSlide" Target="/ppt/notesSlides/notesSlide36.xml" Id="R4d83aa6ce11249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37291A07-157F-4CDC-A816-FEC3E26F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9703E-EB9D-48C2-BB00-79FD0819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2937D83-5322-4270-96B1-3A2D60CE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30469A6-F3BB-4BB8-A930-D3F9EA24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70525A-2FC7-4D9A-9F2C-D0CEAD8E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Objetivos de aprendizaje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3C7C6D4-DED3-4FF2-9E77-A8765658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Relacionar las capacidades de la sesión con el proyecto que crecerá durante el curso.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E46212E-175E-4E7B-AF41-06A01D71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519203C-4971-4964-9C70-11F50C92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268698C-693D-444A-BB68-E1D184BE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CAA64F3-5136-4F0F-B146-F886D138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F52784CF-E6D9-430B-B2B8-7ACC4DC3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9D6E922-37A8-40B8-A5FA-F623408F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F77FC2B-76AC-4A09-8B69-814E21EC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760AB7C-DCF7-47F8-9D75-1B739A84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FCFC659-118B-4AF3-9967-2A3B5C6C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A08C209-C4CD-47F4-839A-6F210BA9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740FED4-DC87-43CA-A1BB-EA5884D3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1F875-38B7-479C-9C60-5781BE19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B8A6B41-CCE2-4CE6-8EA3-3248DB96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431B07C-CF01-481B-A883-5D281B0C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Comprender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0DFC31F5-0873-4DCB-A3C3-6E5A0A96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un LLM, un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workflow y un agente.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F05E227-067F-47F9-BFBF-DD7620B9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D51E021-E8EE-40B1-8FAA-EF2348FD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E0AF4C-8E0F-4B3A-918B-41E469A9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28D7CA6-BDF3-492D-AE65-65C6413C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1484403-943E-4BA2-A02E-7404DDDA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Construir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8AC16A1A-630F-4225-B6CD-D57D7B41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 el primer script con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proveedor común.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8A701C0-6C43-4FDF-B330-85F50A01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80434C4-617F-42B5-B7DF-0C7F5294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1FB678-77D3-49DB-A0E8-52C85AEE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F5D904B-2AE8-4E0F-8338-ED46742D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C79D81A-9BAA-45C3-908C-DBFCF509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Orientar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00CA3A3C-9526-4334-8F13-F2922805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un track y reconocer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arquitectura futura.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8EF012A9-C760-4F74-9757-BBF8F9F7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743D5A-756D-4BF4-BBF8-590350AC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23747D5D-C5BE-4D40-91D9-22B787F0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parte del caso todavía no puede resolver el script de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L1?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43B5CD0F-736A-4074-8FD4-20D8198F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109863DE-B27F-4D57-AAF6-246AB2A9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3F58D1BD-7FC0-48DA-83B2-DC339C72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Llamar agente completo a cualquier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primer chat.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ADA38EE5-ACDE-40D8-8266-3E8839EC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323BD754-7CE7-4EE7-A3E9-67E4B2B1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proyecto crece por capas; hoy se construye su base.</a:t>
            </a:r>
          </a:p>
        </p:txBody>
      </p:sp>
    </p:spTree>
    <p:extLst>
      <p:ext uri="{BB962C8B-B14F-4D97-AF65-F5344CB8AC3E}">
        <p14:creationId xmlns:p14="http://schemas.microsoft.com/office/powerpoint/2010/main" val="196474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E73C1F04-7D53-4B19-8C68-07C720EA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F9673-F505-41A9-BD00-8F63952A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F7234DC-ADC4-4911-AD73-FBDBB8B2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B4A95E9-E222-468E-B051-2F195D11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52FCDD-4F71-4EF0-8B21-E8EE18D4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Tres evidencias del aprendizaje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B631F43-7147-4DC6-B80C-5F0392D8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Relacionar las capacidades de la sesión con el proyecto que crecerá durante el curso.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9EF60A7-81AE-492C-B244-66308E6A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FD90402-E42C-4B02-8AEC-09699523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D4E7232-5BA1-4FD5-A121-17351609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CFC7AEC-215A-4769-8A76-06D97D09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1F03BD8-546B-45B8-9C76-753BB38D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C3AEA21-A7D5-4377-9A7C-167DF9AD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17ABB95-53A0-4501-937E-A910E702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BA3E18D-80CA-4CF4-BD40-AC06AC72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FF6D8EB-3306-4DB6-9C5D-C0838C91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Justificar cuándo hace falta consultar un sistema.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Ejecución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Obtener una respuesta del modelo desde el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entorno del curso.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Seleccionar un caso de industria con alcance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definido.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4B4116CB-0E25-4D50-B8F1-D1017075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1DEB55A9-A46F-4F1A-B610-3427508F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83181B57-B580-4792-B006-85B7697D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Llamar agente completo 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cualquier primer chat.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ADA9A46B-FEC9-4C41-8842-16D35C79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3EE9E67C-64F8-416B-AE85-0C61B0D7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CED4F89B-87D3-48F0-85C4-0E48DC55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D7A97E2D-D3BD-4252-837D-666524F7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parte del caso todavía no puede resolver el script de L1?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A0A8A2BA-B164-466B-B9AF-1204F1F3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4BF74DE7-FC7B-47B1-98A8-FCBB58D9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proyecto crece por capas; hoy se construye su base.</a:t>
            </a:r>
          </a:p>
        </p:txBody>
      </p:sp>
    </p:spTree>
    <p:extLst>
      <p:ext uri="{BB962C8B-B14F-4D97-AF65-F5344CB8AC3E}">
        <p14:creationId xmlns:p14="http://schemas.microsoft.com/office/powerpoint/2010/main" val="375631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99F8B36B-2524-4ABB-A965-213A15C0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4C165-AAFF-43AC-93BB-7362B5D4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43DD7D5-23F0-4061-A2DE-898543D8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42F1FA8E-F3F4-4997-87E7-66D37BF2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F63C62-9420-4C35-9F82-E4CD504E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Objetivos de aprendizaje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523E10E-47A4-4967-98D4-4D15C63A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Relacionar las capacidades de la sesión con el proyecto que crecerá durante el curso.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509C145-2F8A-4DF6-8076-DA481C9E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5DC68D6-996A-4B47-98D4-F022A7AC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433CF4E-382F-4C6B-AFA6-DA833342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CD30E91-C8AB-40FB-AA80-14E17CC5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C1DA7D4-636B-4784-9F5D-D1D13D64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F1C9575-4E53-436E-9E3A-60C3A358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3C817A9-AD12-4A76-8CCC-0E67118E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9EE166F-79EF-4F44-B03A-D57ACC2F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E9C8FC4-EE13-4537-B200-EA88838C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70B3B60B-BAC3-4D25-BA40-11A73856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0ADF3137-A7C3-4039-8785-FF231A27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8B72FBF0-43E6-446E-BD2B-605C319D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equipo quiere un asistente que informe consumo y reciba reclamos.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24CF9EC-F369-46C6-95A4-4487B498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65036DE-7CA9-4907-952E-B2E71E72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DC274-866A-424A-A30A-8B5A8C96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353F866-89E8-4D60-A77E-C1118DBE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40ABE5B-4946-4971-A849-53776A01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D1BBD3DD-2894-471D-9D9D-C3F873A8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Redactar una respuesta no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 consumo.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AF09C4D-506D-4106-BC24-8F1E995D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7A5A4F3-8749-4A4D-A24A-1D7DDE06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E931F6-E9FB-4AEA-95F4-795D918F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02B170A-5159-48C2-81E0-68D785FA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30FDACE-0521-4DC6-9A47-20DF7FAD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Ubicar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32F2DB80-6FC6-4C8E-9B91-515A0E50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Las tools se implementan desde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S3.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C038D33-BE33-47EE-BA83-DCC8CE01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C1CFA1A-6F02-4E3C-A563-BB614920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2B7EB2-1338-4CD6-9881-DDB6F25B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2D27737-894A-442C-877C-91ED2AF5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9014F1C-BFAC-4937-A0AE-72E13073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Empezar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94E13F0A-5FD9-4E12-A10D-7D64CE2B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Hoy verifican proveedor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primer script.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B00CB1A2-AB74-4E7A-BDE5-822ACE7F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870B4966-C270-4D42-8070-0D8FD5F9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24C40B6B-4A65-4814-84F6-2B5881BC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Cada capacidad se incorpora con evidencia en su sesión.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DDB9F14F-1E6F-4AAD-8CC8-EC56D1E6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1704DD40-9BE6-4F26-A00F-847FA21C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proyecto crece por capas; hoy se construye su base.</a:t>
            </a:r>
          </a:p>
        </p:txBody>
      </p:sp>
    </p:spTree>
    <p:extLst>
      <p:ext uri="{BB962C8B-B14F-4D97-AF65-F5344CB8AC3E}">
        <p14:creationId xmlns:p14="http://schemas.microsoft.com/office/powerpoint/2010/main" val="69534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C7CD63B9-CBCC-4447-945C-75F16633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C8DA8-F662-4D65-BBBD-7123AF0D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F362D93-6EDB-482B-BF7B-F85084C9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A0A9B866-2A14-4989-B9D1-EF9C5EA1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C00B2F-0677-44C2-BAF1-04A30F19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LLM y fuente de verdad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44DD56D-5F55-42C6-BA7E-7518C1F4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Romper la expectativa de que el modelo conoce la tarifa actual del cliente.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228F6A8-2515-4A43-8E71-096769D8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63729ED-9834-4541-8AA0-B31030AC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716EA44-0FA8-47AE-9464-6242D268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BD39972-9FDD-4D8F-AF02-C4747323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6547BEE-85CB-4DB0-B902-E2A23D86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E42CD8F-FB22-4724-86B5-2E14D5F1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B3D234E-0DCD-418E-843F-49BC0CFB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AB2BE79-2847-4697-BBA1-402DDF67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12788D2-00E4-4441-9BD6-C54E3647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B0F4D36-5885-4511-ABDB-5F2B7A25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F7CF22D-9189-4C6C-965E-EF2E9794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4DB37-BEFF-40F8-AE17-B145AEB4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B01BD0E-3163-48D1-B1E1-02CF4E35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EBFBCB1-803F-434E-A8C4-9657D727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2DF92F14-7240-4008-A919-3526F615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«¿Cuál es la tarifa de mi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plan?»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84A8D3E-5A52-4D3E-8BA9-75056072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C45B826-3E76-4C75-BC3F-6B521A88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CC5CB5-0507-49CC-BC6B-25125575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EB41E67-38F5-4A51-92AB-23CCDEDB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C0D8FB0-2CBD-44FF-8247-A3BFB23C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LLM sin fuente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32E83458-F5BC-49A4-AFB0-6EE21FF6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Puede producir una cifra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plausible sin consultarla.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5B22ED6-65B2-4DDB-9588-1A8FE97A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AAD2E21-116D-4A7D-9B7D-23F86868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1D2D05-9572-4B70-8336-4E903AEE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549005A-0ABB-47D0-8427-5DCDECF9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8146419-03F3-495F-BE5B-835DA7BC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Sistema de negocio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002DE547-0B0A-4377-8DC5-789F0401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Contiene el dato que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permite comprobar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respuesta.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FA8AD95D-A9FF-4F0A-B9C7-F160C30F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A593F5C-25E4-42F3-A319-2170E7C4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45AF6201-899E-4DD7-A4E9-6F0D11F6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harías si ambas ejecuciones del LLM devolvieran la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misma cifra falsa?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7B2B6ED2-8C0D-4814-94EF-CE53ED39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E377D876-407E-484F-8306-8C418E24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6184A4E8-5061-43B1-A224-13C407B6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variación como única prueba de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falta de veracidad.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9647C73E-7183-4BF5-8273-A109B760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20E93587-25FF-48E1-82FB-90FE89A6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LLM no sustituye el sistema que administra la tarifa.</a:t>
            </a:r>
          </a:p>
        </p:txBody>
      </p:sp>
    </p:spTree>
    <p:extLst>
      <p:ext uri="{BB962C8B-B14F-4D97-AF65-F5344CB8AC3E}">
        <p14:creationId xmlns:p14="http://schemas.microsoft.com/office/powerpoint/2010/main" val="933573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F7F1801B-EC21-4BE1-9185-0E0AFB69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69A6C-2690-4041-B652-5C45A05D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52768CA-316D-474F-B8F2-0CCCE2C5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B436C6C-1754-4608-996E-C2F0D010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863336-30B2-4BA2-B97C-327A0A9C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Cambiar el origen del dato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344AFD5-7CE3-43DA-B417-A18FC1EC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Romper la expectativa de que el modelo conoce la tarifa actual del cliente.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30D5E0C-6DDD-4A35-8D6C-EFE60193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D0F6E6D-D404-4EED-99AF-969F9FDD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B3FCE02-6831-4B62-B6D5-4AAC9723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C5036BB-FFB9-4B65-A5A4-BC221F83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1D34E0D-16F8-411D-97BC-39AFF0D5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3FC8A93-7902-4790-ABCF-058D16A0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98D110A-359B-4AC8-89AB-F9518B00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149B525-A848-47B2-A69F-C42858AF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892B8DB-376D-4CC7-B937-D0D44058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Detectar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pregunta pide un hecho específico y vigente.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aplicación debe obtenerlo del sistema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pertinente.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modelo puede redactar el resultado recibido.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4C4FDBB9-E883-4E36-A2A8-D13FF42D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BF039C3D-2155-4032-B401-DFF5D809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643948B2-E90E-4804-BC94-20DA0FCD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variación como única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prueba de falta de veracidad.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77320835-F374-44F5-BDB6-7EDB2F51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E9D70C50-DDEE-4626-ACC4-AD1590C6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872E2A1B-7108-49BC-A572-F37461FF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7F75DD72-A0F6-47E7-8C69-879C4F3B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harías si ambas ejecuciones del LLM devolvieran la misma cifra falsa?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16A3F5FF-0618-4F96-862C-20FD2517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9C5696F2-96A6-45D5-BA6C-DFD200F9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LLM no sustituye el sistema que administra la tarifa.</a:t>
            </a:r>
          </a:p>
        </p:txBody>
      </p:sp>
    </p:spTree>
    <p:extLst>
      <p:ext uri="{BB962C8B-B14F-4D97-AF65-F5344CB8AC3E}">
        <p14:creationId xmlns:p14="http://schemas.microsoft.com/office/powerpoint/2010/main" val="1242649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D9CBC2FC-5B4E-4623-946F-8690DE15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A5E29-31A4-4DC3-A775-577CCB87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0087928-1E48-4A9F-89B1-6B52C80D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D0837EA-FEC3-4044-B507-394A257D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7878AD-A22C-4EF1-847B-0C45284F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LLM y fuente de verdad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78A5187-3646-4ADB-8BE7-0B02D114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Romper la expectativa de que el modelo conoce la tarifa actual del cliente.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84B45A5-BC93-4EA9-B82D-0B4C758C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2BAB80B-D825-4C31-A420-D8A72042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6EDBDE6-18CD-42DE-86CB-D806BAE7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0722416-AECA-42AF-A3B1-C4705829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B19EED3-1D96-48AB-AEBA-2E287AC3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7967D8C-C150-4AB9-8888-EA98AA04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AD4F3798-92FA-4581-81DA-C877BBFB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077706B-E741-4A43-B69F-47FE9629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D24D35E-24A1-42BA-A050-217DD9B7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C4479710-9A79-4143-BB64-07AEBD7A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1B6D3F04-41F2-404A-9618-FDF558A7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C2A4C7CC-B720-47A9-8275-6D439A37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 una demostración ficticia, el modelo propone S/ 49.90 y la API devuelve S/</a:t>
            </a:r>
          </a:p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59.90.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4A37815-6F6D-457A-B193-CC11E1F6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DC51DEB-7520-4890-AB2B-5DF33981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AC001-C812-4D5A-98AC-FFA5B859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3772B3F-FC22-47B4-85A1-6B1CA39E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E20B89A-18B3-4BB6-82DA-D5F7BA92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9BC1155D-506A-48AF-B351-E0E8757C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los dos orígenes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información.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9AEFCEE-8574-47A4-8FEC-22C9830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FFAFAEB-92D9-4F2F-A7B9-F471AC7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954D71-215A-4D4C-B209-E82DEA88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CE30AF6-F702-4669-BD32-F3339EF6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E788D70-1FE7-4DD7-8325-3078B99D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042DEB2A-B3C5-43B2-B651-0C073E73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el valor verificado del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sistema.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B6D614D-DB94-4256-8273-7634208B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D98B11C-4421-4194-9CD0-FDAA8D21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26FD5B-2177-4A83-9266-C5DEAFA7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D168630-E435-4442-B2E2-545D0E55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E0767BA-6DED-42D5-89C3-57BADD1D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Limitar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ED295D09-33FC-405E-923C-034D1980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 la API falla, no inventar una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tarifa alternativa.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0858C11D-2497-42C9-9B87-D6243EF2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1B07F17B-5D57-4788-978E-BFEE95A2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047C202D-8531-4CB6-AA58-7B99F3E7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respuesta debe depender del dato consultado, no de la cifra más plausible.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7DFD6B2B-36A6-4D1E-8001-E47C31D6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0B8CEDD1-D706-4D1F-9533-965FA7E0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LLM no sustituye el sistema que administra la tarifa.</a:t>
            </a:r>
          </a:p>
        </p:txBody>
      </p:sp>
    </p:spTree>
    <p:extLst>
      <p:ext uri="{BB962C8B-B14F-4D97-AF65-F5344CB8AC3E}">
        <p14:creationId xmlns:p14="http://schemas.microsoft.com/office/powerpoint/2010/main" val="6892054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header">
            <a:extLst xmlns:a="http://schemas.openxmlformats.org/drawingml/2006/main">
              <a:ext uri="{FF2B5EF4-FFF2-40B4-BE49-F238E27FC236}">
                <a16:creationId xmlns:a16="http://schemas.microsoft.com/office/drawing/2014/main" id="{3D7700FB-A374-426F-9491-79128F6F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5001E-AAFB-49F3-A147-CBF26DA9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E8716C1-A6FB-40E4-97AF-1380755F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840E4A9-EA01-4C00-9000-4B7F8BFC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863CE3-4F71-4DCE-BE82-49632A7F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LLM solo no es un agente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A24046D-DD4C-4728-B824-A972AB8F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los componentes que convierten generación de texto en actuación controlada.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A257AA5-D13C-4B86-9B05-FA3DE65F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EF28C94-37D8-4E24-85BD-694511D4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CE0FCA6-810A-49C7-B67D-8B51C791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3A62A80-D76B-41A4-ACFB-5C654540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FDCA0E8F-8973-4F86-9FA2-AE2B2DCD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6367D26-EDF4-4D5F-AE25-47330A20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9632A87-DECB-4B48-8FFA-A62B1F96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79DAA29-C5C6-4E06-AC87-24367C5A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894C54D-318F-48D4-B228-B6A07511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CAPACIDADES Y CONTROL ALREDEDOR DEL MODELO</a:t>
            </a:r>
          </a:p>
        </p:txBody>
      </p:sp>
      <p:sp>
        <p:nvSpPr>
          <p:cNvPr id="16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E2554D1D-2475-4408-A9E2-930DEBC8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9239250" cy="4619625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component-goal">
            <a:extLst xmlns:a="http://schemas.openxmlformats.org/drawingml/2006/main">
              <a:ext uri="{FF2B5EF4-FFF2-40B4-BE49-F238E27FC236}">
                <a16:creationId xmlns:a16="http://schemas.microsoft.com/office/drawing/2014/main" id="{0832C4EE-0BAE-4C78-8620-18CE7697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8003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56BF51CB-5CCF-4D94-859B-E1FF0DB7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432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Objetivo</a:t>
            </a:r>
          </a:p>
        </p:txBody>
      </p:sp>
      <p:sp>
        <p:nvSpPr>
          <p:cNvPr id="19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4199B3D1-3683-4F06-92A8-015DDF27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4575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Tarea y criterio de cierre</a:t>
            </a:r>
          </a:p>
        </p:txBody>
      </p:sp>
      <p:sp>
        <p:nvSpPr>
          <p:cNvPr id="20" name="component-mem">
            <a:extLst xmlns:a="http://schemas.openxmlformats.org/drawingml/2006/main">
              <a:ext uri="{FF2B5EF4-FFF2-40B4-BE49-F238E27FC236}">
                <a16:creationId xmlns:a16="http://schemas.microsoft.com/office/drawing/2014/main" id="{6C5B0DE4-AD23-4346-9D0C-42C89BED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1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6C9DCD70-45B3-45F9-9A38-C83C04A3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577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Contexto /</a:t>
            </a:r>
          </a:p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memoria</a:t>
            </a:r>
          </a:p>
        </p:txBody>
      </p:sp>
      <p:sp>
        <p:nvSpPr>
          <p:cNvPr id="22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88016F74-FA1D-494A-8FCA-E3A70D9F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720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Estado cuando es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necesario</a:t>
            </a:r>
          </a:p>
        </p:txBody>
      </p:sp>
      <p:sp>
        <p:nvSpPr>
          <p:cNvPr id="23" name="component-agent">
            <a:extLst xmlns:a="http://schemas.openxmlformats.org/drawingml/2006/main">
              <a:ext uri="{FF2B5EF4-FFF2-40B4-BE49-F238E27FC236}">
                <a16:creationId xmlns:a16="http://schemas.microsoft.com/office/drawing/2014/main" id="{B83A3CDB-313D-43A8-B13E-75280ADE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5148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4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040032BC-FF33-401D-8ADF-DF798366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577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Agente</a:t>
            </a:r>
          </a:p>
        </p:txBody>
      </p:sp>
      <p:sp>
        <p:nvSpPr>
          <p:cNvPr id="25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9939A228-C26E-4299-B940-DF6D4B59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720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Coordina decisiones y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pasos</a:t>
            </a:r>
          </a:p>
        </p:txBody>
      </p:sp>
      <p:sp>
        <p:nvSpPr>
          <p:cNvPr id="26" name="component-tools">
            <a:extLst xmlns:a="http://schemas.openxmlformats.org/drawingml/2006/main">
              <a:ext uri="{FF2B5EF4-FFF2-40B4-BE49-F238E27FC236}">
                <a16:creationId xmlns:a16="http://schemas.microsoft.com/office/drawing/2014/main" id="{07805C9F-C527-4B84-A548-6CCE7573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148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7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4B8D7EF4-8DCC-433E-A5C5-41335D32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577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Tools</a:t>
            </a:r>
          </a:p>
        </p:txBody>
      </p:sp>
      <p:sp>
        <p:nvSpPr>
          <p:cNvPr id="28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126A6DEE-8560-4A33-A321-26022417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720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Capacidades externas</a:t>
            </a:r>
          </a:p>
        </p:txBody>
      </p:sp>
      <p:sp>
        <p:nvSpPr>
          <p:cNvPr id="29" name="component-llm">
            <a:extLst xmlns:a="http://schemas.openxmlformats.org/drawingml/2006/main">
              <a:ext uri="{FF2B5EF4-FFF2-40B4-BE49-F238E27FC236}">
                <a16:creationId xmlns:a16="http://schemas.microsoft.com/office/drawing/2014/main" id="{A8D8892F-2EA3-43E9-91CD-5D1AED08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0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A1E8A1DE-11D5-4AAE-8F92-F0F8EBBE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1436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LLM</a:t>
            </a:r>
          </a:p>
        </p:txBody>
      </p:sp>
      <p:sp>
        <p:nvSpPr>
          <p:cNvPr id="31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F109A162-BAC2-40BA-BA0A-FC302851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579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Propone respuesta o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acción</a:t>
            </a:r>
          </a:p>
        </p:txBody>
      </p:sp>
      <p:sp>
        <p:nvSpPr>
          <p:cNvPr id="32" name="component-ctrl">
            <a:extLst xmlns:a="http://schemas.openxmlformats.org/drawingml/2006/main">
              <a:ext uri="{FF2B5EF4-FFF2-40B4-BE49-F238E27FC236}">
                <a16:creationId xmlns:a16="http://schemas.microsoft.com/office/drawing/2014/main" id="{4F971315-67AE-40BA-B2EA-022AD4AD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60007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33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153F6D90-6D94-43A0-9F63-041C1D27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436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Control</a:t>
            </a:r>
          </a:p>
        </p:txBody>
      </p:sp>
      <p:sp>
        <p:nvSpPr>
          <p:cNvPr id="34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3E605392-2DD6-4C64-B472-6EC20D7A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6579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Límites de la aplicación</a:t>
            </a:r>
          </a:p>
        </p:txBody>
      </p:sp>
      <p:cxnSp>
        <p:nvCxnSpPr>
          <p:cNvPr id="82" name=""/>
          <p:cNvCxnSpPr>
            <a:stCxn xmlns:a="http://schemas.openxmlformats.org/drawingml/2006/main" id="17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5219700" y="3876675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333750" y="5053013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4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410325" y="5053013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5" name=""/>
          <p:cNvCxnSpPr>
            <a:stCxn xmlns:a="http://schemas.openxmlformats.org/drawingml/2006/main" id="2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3333750" y="5053013"/>
            <a:ext cx="695325" cy="14859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6" name=""/>
          <p:cNvCxnSpPr>
            <a:stCxn xmlns:a="http://schemas.openxmlformats.org/drawingml/2006/main" id="32" idx="0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H="1" flipV="1">
            <a:off x="5219700" y="5591175"/>
            <a:ext cx="3076575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057D47C2-FBF3-4D0A-A5A3-67E42A0B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4610100" cy="4619625"/>
          </a:xfrm>
          <a:prstGeom xmlns:a="http://schemas.openxmlformats.org/drawingml/2006/main" prst="roundRect">
            <a:avLst>
              <a:gd name="adj" fmla="val 371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41" name="diagram-reading-label">
            <a:extLst xmlns:a="http://schemas.openxmlformats.org/drawingml/2006/main">
              <a:ext uri="{FF2B5EF4-FFF2-40B4-BE49-F238E27FC236}">
                <a16:creationId xmlns:a16="http://schemas.microsoft.com/office/drawing/2014/main" id="{5CA1964C-472D-4ED4-9B99-63C20B3E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414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CLAVE DE LECTURA</a:t>
            </a:r>
          </a:p>
        </p:txBody>
      </p:sp>
      <p:sp>
        <p:nvSpPr>
          <p:cNvPr id="42" name="diagram-reading">
            <a:extLst xmlns:a="http://schemas.openxmlformats.org/drawingml/2006/main">
              <a:ext uri="{FF2B5EF4-FFF2-40B4-BE49-F238E27FC236}">
                <a16:creationId xmlns:a16="http://schemas.microsoft.com/office/drawing/2014/main" id="{1B217558-3357-4B01-ACEA-E3BDB934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4143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todos los agentes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requieren memoria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persistente.</a:t>
            </a:r>
          </a:p>
        </p:txBody>
      </p:sp>
      <p:sp>
        <p:nvSpPr>
          <p:cNvPr id="43" name="diagram-question-label">
            <a:extLst xmlns:a="http://schemas.openxmlformats.org/drawingml/2006/main">
              <a:ext uri="{FF2B5EF4-FFF2-40B4-BE49-F238E27FC236}">
                <a16:creationId xmlns:a16="http://schemas.microsoft.com/office/drawing/2014/main" id="{F5A81B46-6F8A-41CF-B4C4-2D21E253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PREGUNTA AL GRUPO</a:t>
            </a:r>
          </a:p>
        </p:txBody>
      </p:sp>
      <p:sp>
        <p:nvSpPr>
          <p:cNvPr id="44" name="diagram-question">
            <a:extLst xmlns:a="http://schemas.openxmlformats.org/drawingml/2006/main">
              <a:ext uri="{FF2B5EF4-FFF2-40B4-BE49-F238E27FC236}">
                <a16:creationId xmlns:a16="http://schemas.microsoft.com/office/drawing/2014/main" id="{77F25DB6-1643-4D16-BFC2-EC34E977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0"/>
            <a:ext cx="4143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¿Un agente necesita siempre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memoria persistente?</a:t>
            </a:r>
          </a:p>
        </p:txBody>
      </p:sp>
      <p:sp>
        <p:nvSpPr>
          <p:cNvPr id="45" name="diagram-caution">
            <a:extLst xmlns:a="http://schemas.openxmlformats.org/drawingml/2006/main">
              <a:ext uri="{FF2B5EF4-FFF2-40B4-BE49-F238E27FC236}">
                <a16:creationId xmlns:a16="http://schemas.microsoft.com/office/drawing/2014/main" id="{E70B7420-184E-4C89-998D-F3ED5198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76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Error a evitar: Presentar memoria como</a:t>
            </a:r>
          </a:p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requisito universal o atribuir ejecución</a:t>
            </a:r>
          </a:p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directa al modelo.</a:t>
            </a:r>
          </a:p>
        </p:txBody>
      </p:sp>
      <p:sp>
        <p:nvSpPr>
          <p:cNvPr id="46" name="panel">
            <a:extLst xmlns:a="http://schemas.openxmlformats.org/drawingml/2006/main">
              <a:ext uri="{FF2B5EF4-FFF2-40B4-BE49-F238E27FC236}">
                <a16:creationId xmlns:a16="http://schemas.microsoft.com/office/drawing/2014/main" id="{162CA717-4C1A-44D2-AEE2-5A496863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7" name="takeaway">
            <a:extLst xmlns:a="http://schemas.openxmlformats.org/drawingml/2006/main">
              <a:ext uri="{FF2B5EF4-FFF2-40B4-BE49-F238E27FC236}">
                <a16:creationId xmlns:a16="http://schemas.microsoft.com/office/drawing/2014/main" id="{C5B31366-1308-4B40-A33A-CC044978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modelo propone; el sistema ejecuta y gobierna las capacidades.</a:t>
            </a:r>
          </a:p>
        </p:txBody>
      </p:sp>
    </p:spTree>
    <p:extLst>
      <p:ext uri="{BB962C8B-B14F-4D97-AF65-F5344CB8AC3E}">
        <p14:creationId xmlns:p14="http://schemas.microsoft.com/office/powerpoint/2010/main" val="10170441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ACE60E4A-7A4F-46A2-9855-B013127C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55630-1F89-44B6-853A-B24D11B5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CD48F6C-099A-42BD-87D5-0DAEF23E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6586FD0-4577-4EC8-92AB-8B456E96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7DF974-2CB7-411A-9679-41EC6299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Responsabilidades de la aplicación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ED51AB8-D949-4B1A-8A30-40817487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los componentes que convierten generación de texto en actuación controlada.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6687AE3-3E07-4E87-997A-AEE3F5B5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7AEC9C7-BA52-48F6-9728-19D43FF5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09BB2519-290E-452E-8A42-79832B9C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5F16336-7940-45B0-AA77-A5FC3BB4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51679B6-81C8-4740-92FC-C4ADB6D6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FBE5059-BC75-4668-BD93-2C8B8C01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E29F80D-7DE9-4662-B6F1-3FC6A18B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3F75A67-1D3D-4B9B-86F3-341523E9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667B64D-365F-400E-8B97-61CB9CA2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Exponer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Dar al modelo un catálogo explícito de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capacidades.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Ejecutar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Validar y realizar la acción seleccionada.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Conservar estado cuando haga falta y aplicar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límites.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A84298B4-5EDB-4914-9940-008338DF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9515F456-6BD1-4D4B-A3C5-A45E2908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85E76F52-CBA2-4A67-8794-F76628CD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memoria como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requisito universal o atribuir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ejecución directa al modelo.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D5C3D862-DA6D-4650-B850-AFEA462D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F626E52D-BC18-440D-84B6-4E655B68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7BAD18F0-3F21-42FA-9275-46933CD8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44788DAF-E1E7-4663-971F-542DFE51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¿Un agente necesita siempre memoria persistente?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5E8806D4-0892-42CC-B0D4-9D50358A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8C5B4543-1144-4D58-AF62-75816A75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modelo propone; el sistema ejecuta y gobierna las capacidades.</a:t>
            </a:r>
          </a:p>
        </p:txBody>
      </p:sp>
    </p:spTree>
    <p:extLst>
      <p:ext uri="{BB962C8B-B14F-4D97-AF65-F5344CB8AC3E}">
        <p14:creationId xmlns:p14="http://schemas.microsoft.com/office/powerpoint/2010/main" val="21144772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0E79E525-E216-46B9-96E4-2049A694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73C7C-F42B-4426-891E-B434B605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6A4FE6A-D048-481E-8524-56E756C0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217A4DA3-F1BD-463F-A32B-4A5BF114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7BFD51-6681-47B7-B520-C6B10F57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Un LLM solo no es un agente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DEC546D-B9A8-4C10-9BC7-C4D8DA91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los componentes que convierten generación de texto en actuación controlada.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A729DECD-1D4E-4F0A-8DF4-53F7614B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E46AD70-DEE6-42F4-AE82-FAD46612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AE836E9-D2DF-47A3-8DC3-56C51B2C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45FB8C8-F916-4F57-AA07-2D2556A4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342AC95-6EC3-49CC-83CB-2D2BC548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46A4679-5B1F-4DEF-96FB-6F507396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7EAE016-AEB7-4F4A-BB6A-C2281D37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21048B9-7823-4047-BB46-812F0D9B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A792358-907C-4447-B077-8BEC3303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74CCBFE8-413F-42C4-84B9-2ED01CB0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76F728EF-93A9-478D-A676-B3B26226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F0246999-4DFB-40E5-8906-5AC0F242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usuario quiere saber dónde está el pedido PED-2026-00123.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E6A93F3-D469-4F5E-8619-ED670DBC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26746B4-2DD6-450E-B4DF-1B18E339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E7DF3-B5BE-4773-BA27-46848382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D0B1CEF-3DFB-4FC9-84F0-F4FDC690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5679307-A56E-4916-8AD3-FEC60659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Interpretar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82B0BCEF-D225-4E5D-8CD8-895AF9D3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 que pregunta por un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pedido concreto.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4376215-0572-4C63-B8DE-9F2C6B0C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7C56350-3EDF-49FC-B5AD-28ED4D53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3966DD-B4E5-45C6-87CF-13803FE6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7F1D43F-1C14-4C7E-B46D-4B8C6FD5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23A1A95-6BF2-49DE-8C41-C386D579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Actuar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75AECA93-976F-4494-B07F-001CBF27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Consultar track_order desde la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aplicación.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740BF41-C33D-4922-B5CD-EFC20D05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448C836-0D64-44A3-9635-DFA28E48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1165AF-12E7-465C-8107-7EA021C1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12C47B3-3813-405E-A426-E11E232C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EB2848C-3593-41EE-8B85-378AC478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Responder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45E83DB1-4C2D-4F1D-8E3E-46393AE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el estado obtenido sin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inventar movimientos.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36073206-6A13-46B4-82CC-03878FED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929F061C-FF29-47D1-A230-5F54B8FF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531B48D2-9640-4C53-A8EF-8FDE3A5C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acción externa y su control completan el circuito.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3B91EFEE-A3EB-460B-8CDD-13EED6F6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2309EC1B-2B74-4F5A-9146-D0E51BE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modelo propone; el sistema ejecuta y gobierna las capacidades.</a:t>
            </a:r>
          </a:p>
        </p:txBody>
      </p:sp>
    </p:spTree>
    <p:extLst>
      <p:ext uri="{BB962C8B-B14F-4D97-AF65-F5344CB8AC3E}">
        <p14:creationId xmlns:p14="http://schemas.microsoft.com/office/powerpoint/2010/main" val="2171086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header">
            <a:extLst xmlns:a="http://schemas.openxmlformats.org/drawingml/2006/main">
              <a:ext uri="{FF2B5EF4-FFF2-40B4-BE49-F238E27FC236}">
                <a16:creationId xmlns:a16="http://schemas.microsoft.com/office/drawing/2014/main" id="{6CEBB95A-EDC0-47A6-9ABA-8E35AB9C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59075-66B6-4709-9DC5-0F20CCA0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EA6A610-E572-4A8B-8D4E-B8D64E9B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DEA09FC-10AD-432B-A6D9-A7154925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7FA215-D204-48DD-B94B-B21E19DC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ciclo del agente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CCF42E6-3B95-409E-8C5C-D0B0552A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Recorrer percepción, decisión, acción y observación hasta una condición de parada.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CF32BC0-0F0B-425D-A9EC-6DE7AA9B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0115E6D-F735-4580-BA33-2D444479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D74771B-7362-4271-9A16-4B3A2316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1DF1499-1126-4BCC-98BE-BF634107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03ED3BC-406D-4254-9F03-8744DD2D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8D5B1B9-EAE3-4E5C-94D3-1FC2BE53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0D134A9-37FD-4C48-8022-0063BF8B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01E00DF3-37F0-4477-B8CF-31CAE2F2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DC1E033-786B-49BD-8F2A-92DDF189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PERCIBIR → DECIDIR → ACTUAR → OBSERVAR</a:t>
            </a:r>
          </a:p>
        </p:txBody>
      </p:sp>
      <p:sp>
        <p:nvSpPr>
          <p:cNvPr id="16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6872D31E-EE0F-48E8-85AC-EB7DD92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9239250" cy="4619625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component-p">
            <a:extLst xmlns:a="http://schemas.openxmlformats.org/drawingml/2006/main">
              <a:ext uri="{FF2B5EF4-FFF2-40B4-BE49-F238E27FC236}">
                <a16:creationId xmlns:a16="http://schemas.microsoft.com/office/drawing/2014/main" id="{952866CD-CFFF-4E75-80B6-7DFBFE56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8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178ADBE4-7C9C-418D-922B-8DC1FBD8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1 · Percepción</a:t>
            </a:r>
          </a:p>
        </p:txBody>
      </p:sp>
      <p:sp>
        <p:nvSpPr>
          <p:cNvPr id="19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77BD31B2-6368-46B4-AC7E-627355B9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Mensaje y estado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disponible</a:t>
            </a:r>
          </a:p>
        </p:txBody>
      </p:sp>
      <p:sp>
        <p:nvSpPr>
          <p:cNvPr id="20" name="component-r">
            <a:extLst xmlns:a="http://schemas.openxmlformats.org/drawingml/2006/main">
              <a:ext uri="{FF2B5EF4-FFF2-40B4-BE49-F238E27FC236}">
                <a16:creationId xmlns:a16="http://schemas.microsoft.com/office/drawing/2014/main" id="{E1EACC41-1829-482D-A28E-BB8094EE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1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21C7FA08-1AD9-4148-B67D-5606800D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2 · Decisión</a:t>
            </a:r>
          </a:p>
        </p:txBody>
      </p:sp>
      <p:sp>
        <p:nvSpPr>
          <p:cNvPr id="22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BAD55820-45D8-4C60-A58B-EB09CD08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modelo propone un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paso</a:t>
            </a:r>
          </a:p>
        </p:txBody>
      </p:sp>
      <p:sp>
        <p:nvSpPr>
          <p:cNvPr id="23" name="component-a">
            <a:extLst xmlns:a="http://schemas.openxmlformats.org/drawingml/2006/main">
              <a:ext uri="{FF2B5EF4-FFF2-40B4-BE49-F238E27FC236}">
                <a16:creationId xmlns:a16="http://schemas.microsoft.com/office/drawing/2014/main" id="{7A0F197F-220B-4D72-ADE6-549CFAE1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4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F79EA3C5-13D1-4484-B720-904C6484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3 · Acción</a:t>
            </a:r>
          </a:p>
        </p:txBody>
      </p:sp>
      <p:sp>
        <p:nvSpPr>
          <p:cNvPr id="25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98950C9B-99C6-4966-8437-564F5267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aplicación ejecuta</a:t>
            </a:r>
          </a:p>
        </p:txBody>
      </p:sp>
      <p:sp>
        <p:nvSpPr>
          <p:cNvPr id="26" name="component-o">
            <a:extLst xmlns:a="http://schemas.openxmlformats.org/drawingml/2006/main">
              <a:ext uri="{FF2B5EF4-FFF2-40B4-BE49-F238E27FC236}">
                <a16:creationId xmlns:a16="http://schemas.microsoft.com/office/drawing/2014/main" id="{8D3C93B7-07D2-45DB-B5D1-AC2C17EA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7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FB595039-7E33-47E3-91FF-09C10B2A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4 · Observación</a:t>
            </a:r>
          </a:p>
        </p:txBody>
      </p:sp>
      <p:sp>
        <p:nvSpPr>
          <p:cNvPr id="28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65104DCF-683D-4FF3-8BC3-37D5BF41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Resultado del entorno</a:t>
            </a:r>
          </a:p>
        </p:txBody>
      </p:sp>
      <p:cxnSp>
        <p:nvCxnSpPr>
          <p:cNvPr id="69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667125" y="3538538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70" name=""/>
          <p:cNvCxnSpPr>
            <a:stCxn xmlns:a="http://schemas.openxmlformats.org/drawingml/2006/main" id="20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524750" y="4076700"/>
            <a:ext cx="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71" name=""/>
          <p:cNvCxnSpPr>
            <a:stCxn xmlns:a="http://schemas.openxmlformats.org/drawingml/2006/main" id="23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3667125" y="5919788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26" idx="0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2476500" y="4076700"/>
            <a:ext cx="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sp>
        <p:nvSpPr>
          <p:cNvPr id="33" name="panel">
            <a:extLst xmlns:a="http://schemas.openxmlformats.org/drawingml/2006/main">
              <a:ext uri="{FF2B5EF4-FFF2-40B4-BE49-F238E27FC236}">
                <a16:creationId xmlns:a16="http://schemas.microsoft.com/office/drawing/2014/main" id="{3D6D81F3-A6CD-40F9-BEBD-54309091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4610100" cy="4619625"/>
          </a:xfrm>
          <a:prstGeom xmlns:a="http://schemas.openxmlformats.org/drawingml/2006/main" prst="roundRect">
            <a:avLst>
              <a:gd name="adj" fmla="val 371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4" name="diagram-reading-label">
            <a:extLst xmlns:a="http://schemas.openxmlformats.org/drawingml/2006/main">
              <a:ext uri="{FF2B5EF4-FFF2-40B4-BE49-F238E27FC236}">
                <a16:creationId xmlns:a16="http://schemas.microsoft.com/office/drawing/2014/main" id="{EFD0080F-9951-4E75-BFC7-44B94CA3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414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CLAVE DE LECTURA</a:t>
            </a:r>
          </a:p>
        </p:txBody>
      </p:sp>
      <p:sp>
        <p:nvSpPr>
          <p:cNvPr id="35" name="diagram-reading">
            <a:extLst xmlns:a="http://schemas.openxmlformats.org/drawingml/2006/main">
              <a:ext uri="{FF2B5EF4-FFF2-40B4-BE49-F238E27FC236}">
                <a16:creationId xmlns:a16="http://schemas.microsoft.com/office/drawing/2014/main" id="{AB95CEC5-97AB-4E33-BAE5-9F6FC8BA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4143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condición de parada puede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ser responder, preguntar o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derivar.</a:t>
            </a:r>
          </a:p>
        </p:txBody>
      </p:sp>
      <p:sp>
        <p:nvSpPr>
          <p:cNvPr id="36" name="diagram-question-label">
            <a:extLst xmlns:a="http://schemas.openxmlformats.org/drawingml/2006/main">
              <a:ext uri="{FF2B5EF4-FFF2-40B4-BE49-F238E27FC236}">
                <a16:creationId xmlns:a16="http://schemas.microsoft.com/office/drawing/2014/main" id="{5AF15BA2-B798-4B3F-8D28-18588E9E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PREGUNTA AL GRUPO</a:t>
            </a:r>
          </a:p>
        </p:txBody>
      </p:sp>
      <p:sp>
        <p:nvSpPr>
          <p:cNvPr id="37" name="diagram-question">
            <a:extLst xmlns:a="http://schemas.openxmlformats.org/drawingml/2006/main">
              <a:ext uri="{FF2B5EF4-FFF2-40B4-BE49-F238E27FC236}">
                <a16:creationId xmlns:a16="http://schemas.microsoft.com/office/drawing/2014/main" id="{906FC51D-E79A-48FB-9684-02F8A9CB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0"/>
            <a:ext cx="4143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observación justificaría repetir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consulta?</a:t>
            </a:r>
          </a:p>
        </p:txBody>
      </p:sp>
      <p:sp>
        <p:nvSpPr>
          <p:cNvPr id="38" name="diagram-caution">
            <a:extLst xmlns:a="http://schemas.openxmlformats.org/drawingml/2006/main">
              <a:ext uri="{FF2B5EF4-FFF2-40B4-BE49-F238E27FC236}">
                <a16:creationId xmlns:a16="http://schemas.microsoft.com/office/drawing/2014/main" id="{6A435F64-D38A-48A2-AFDE-97D17393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76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Error a evitar: Describir el ciclo como</a:t>
            </a:r>
          </a:p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aprendizaje permanente automático.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0D9AE679-1C61-45AC-B97D-5CC39A91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0" name="takeaway">
            <a:extLst xmlns:a="http://schemas.openxmlformats.org/drawingml/2006/main">
              <a:ext uri="{FF2B5EF4-FFF2-40B4-BE49-F238E27FC236}">
                <a16:creationId xmlns:a16="http://schemas.microsoft.com/office/drawing/2014/main" id="{871E21FB-C46B-4CA7-A560-148E8360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ciclo usa observaciones; no implica actualizar los pesos del modelo.</a:t>
            </a:r>
          </a:p>
        </p:txBody>
      </p:sp>
    </p:spTree>
    <p:extLst>
      <p:ext uri="{BB962C8B-B14F-4D97-AF65-F5344CB8AC3E}">
        <p14:creationId xmlns:p14="http://schemas.microsoft.com/office/powerpoint/2010/main" val="322193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0C344751-7584-4466-93CC-F4934E2E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D63E3-AEA7-439C-B21E-F3CA15FE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FB1A0B8-68F6-4858-B897-15B6ECCC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4787063D-52D0-481D-A575-AB052783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726AEB-3831-4D13-9E6C-5FFB1E42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Cómo cierra el ciclo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72F8356-A260-4433-B859-2C192B3C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Recorrer percepción, decisión, acción y observación hasta una condición de parada.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E9AF2D1-C0F8-4D7E-9EA1-8D1C9E36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59975F6-BFB8-4A1D-BF9B-227E38C9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24FA97D-7201-4B84-8E72-ED06C384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3FDE98F-95FF-4678-9826-CE9F8CBD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B0E3FC5-DB89-44EC-9E3A-207CF569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C6D86D3-C105-4CB4-A0E6-A4883200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3DFAAC2-DB1E-46C9-8910-2D083081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0E57DDC-ADCA-437C-A988-03BEC128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3C37A22-0243-437B-B4C3-93F772FC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útil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Responder cuando hay evidencia suficiente.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Dato faltante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Pedir información necesaria al usuario.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Límite alcanzado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Detener o derivar en vez de repetir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indefinidamente.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6F797A19-4E6C-476C-B6A7-48282D37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A1B12E71-8E01-47C0-8AF4-DA2CF18A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94F185D1-4A86-44F1-B4AF-CB633E2F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Describir el ciclo como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aprendizaje permanente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automático.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70BBC5B7-9C1A-4C58-A847-BCA8EEA1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6B969458-1B7C-4CEA-BE5E-24BCB2A2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9D5A3D85-8830-4BF9-A021-9D69359C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100FF7F3-622B-4C8D-BA7D-343B2F1C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observación justificaría repetir una consulta?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CE3E6EE4-5BD8-4761-9D66-C65F94B3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2596BC1B-82E6-47F8-968B-51C97E9D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ciclo usa observaciones; no implica actualizar los pesos del modelo.</a:t>
            </a:r>
          </a:p>
        </p:txBody>
      </p:sp>
    </p:spTree>
    <p:extLst>
      <p:ext uri="{BB962C8B-B14F-4D97-AF65-F5344CB8AC3E}">
        <p14:creationId xmlns:p14="http://schemas.microsoft.com/office/powerpoint/2010/main" val="13245554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4270DB7A-D3B5-4295-A9A0-8138C7F1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38E4B-3AEF-43BE-89FE-674C2B9B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C334B88-DF0B-41E1-8A7B-0CC13A50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A0043037-0FE2-44E6-A378-A14C5990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7F8B99-73AE-4B13-8492-A982414F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El ciclo del agente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10FF15A-1D46-4CC4-A626-5823F735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Recorrer percepción, decisión, acción y observación hasta una condición de parada.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5E451B01-7947-4C12-BBA6-80499156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0DCBBD6-DE21-4354-96CA-EE38C593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84CB763-0490-4F4D-9781-44F90EBE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86EE314-0A44-4A1C-A396-4EC282FC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60653F1-EF0D-4F41-BD5E-2A7A7CE3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B260650-67C4-4A93-83BA-498EE79C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B6DABB5-A5A2-4ECD-B335-BFA81418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9BF64BC-F9BF-4567-BB8D-108606B9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B58EB6A-72D2-4A37-B53A-F76FACE9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6F807EB6-DDBE-461A-815F-30E0008F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8CC5251B-CE6F-4404-9B00-30A6B2ED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6CB49B3C-B735-4A02-BE40-AFFF833F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cliente pregunta cuántos datos le quedan.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A1878CF-424B-403A-8FEB-DA8A2476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B9BB4FD-B416-49B3-8C02-97E92E35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49DCC-AB7D-457A-90C2-C4F1EF27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81AAB92-8AB2-499F-8034-E126A00A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B25AF88-F2AF-4028-961B-B3FE5256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Percibir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86CFF1F8-DD48-4F00-85EA-0332A81E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la línea y la consulta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consumo.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6DBBE96-044C-4318-8770-63AAF2C1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73E1CA6-77FD-436F-BB11-AC521EE6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9E0834-3D9F-448F-99BC-E291D103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7C13055-4C55-40C0-8A08-C56D6A6A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B90555A-C1A3-41CB-9675-C05E3EDA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8A8D6435-95E6-4B7D-A732-D840B24C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get_data_usage obtiene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resultado del simulador.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7086445-2101-4050-9214-854392D3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E55BAB5-C76B-4561-BD6F-C328C750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C87E34-AF15-4832-9999-56D46CF0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697A247-9CA2-4EDA-A90E-F3EA3068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823A316-EA7C-4619-93EE-68B73EDA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Observar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11F59510-1389-4552-81CB-C37DD3BD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respuesta recibida permite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el consumo.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DB755355-77CA-40E9-94E2-39FE1DBA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1D31F4F9-AA7C-4754-92F0-0789C1A4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501816C8-6CE6-4BEA-8990-C9CA101F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 falta identificar la línea, el siguiente paso útil es preguntar.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4473CD8F-B3B3-45AC-B9E2-9D44FE7A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C0A15FD9-9A96-49CB-A609-D65C031D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ciclo usa observaciones; no implica actualizar los pesos del modelo.</a:t>
            </a:r>
          </a:p>
        </p:txBody>
      </p:sp>
    </p:spTree>
    <p:extLst>
      <p:ext uri="{BB962C8B-B14F-4D97-AF65-F5344CB8AC3E}">
        <p14:creationId xmlns:p14="http://schemas.microsoft.com/office/powerpoint/2010/main" val="3965692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BE286F5A-9494-45AA-B66F-D9A33360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ED3CF-C89E-42D2-9831-61C6FC52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519D65F-E898-4541-8E23-9DF47F21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9508F747-AF48-4722-A5F4-9B243D44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08EE9C-3CDD-4DCA-AC64-563FFE45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Workflow frente a agente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4E52755-092C-4E40-B3E2-EAC4AC62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el control del proceso según si la ruta debe fijarse o decidirse durante la ejecución.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B9375D3-83E3-4F9E-B27A-C7AC9C25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85E717F-419B-426A-A6CB-E5F956B6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05AE014-8482-45AB-94D2-4BCEA7D8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8F05A30-67EC-4015-9613-24B7274B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DC4D060-E01C-4A74-BFA7-CE2532EB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9B8DFF0-B79A-4653-A8F2-B3821B1E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AA924BF-414B-4ABD-9F6D-3C5B8A99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07074933-62BD-4CB5-BDE5-9AC04DC9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78940F8-B1C6-4900-9EED-4D5B82FD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97A4042-9D48-4407-A3FA-A8D69B1B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1E580DA-30F9-46EB-B9EE-14C03DE6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08D88-03B6-4640-A4C2-977FA79C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7E133F8-F009-419E-8776-4080F03B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6BD2DD6-21FC-4FA5-9EBC-8BC4D3AA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Workflow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6847F3A2-03F3-4028-B1AC-4BEE7DB4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aplicación define pasos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ramas permitidas.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35C6BA7-8023-47F5-9C51-80883465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4E10F5B-2B64-4FF2-873E-6B98E0BD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9A6443-310B-48D2-9250-61AF87AE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E0FE28E-8A0B-4587-B169-D39613CB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63266EF-B917-464B-A00A-5FE2DD32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Agente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6691C394-E131-4D6B-8A3A-05706AB3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modelo puede elegir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siguiente paso dentro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límites.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14690C0-1A51-4458-97A4-F8067FB8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F74BC1B-177B-4494-A442-AC8A8F81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E1DA88-D5D7-45AE-A1C3-E98603D1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F03ACB4-2BEF-461C-91CC-BB48BE7F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40CF0DA-53B5-4BA2-B24A-82752AE5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Sistema combinado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F722C13A-A71C-42C4-A982-8A095D75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flujo puede contener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decisiones agénticas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acotadas.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3B311F6E-EA1F-4AE1-9C34-011DEA20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8E40882-70CC-4871-9880-C193DACB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68356F57-D6BA-4674-BAC7-7839116A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¿Un workflow con condiciones deja de ser workflow?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0139F8ED-DC52-49E8-8DEB-31238416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D7B4CE68-86B7-4AB6-A49F-382549AF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89EB1DE2-A314-4443-81E5-F39E32BD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Equiparar cualquier bifurcación o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resultado variable con autonomía.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C5B830DD-6DF8-45B8-AB81-55BAAF23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7DE62987-5397-4871-824E-34528C43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Elige agentes cuando la decisión dinámica justifica su complejidad.</a:t>
            </a:r>
          </a:p>
        </p:txBody>
      </p:sp>
    </p:spTree>
    <p:extLst>
      <p:ext uri="{BB962C8B-B14F-4D97-AF65-F5344CB8AC3E}">
        <p14:creationId xmlns:p14="http://schemas.microsoft.com/office/powerpoint/2010/main" val="15221478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CA09B9B3-9B93-4C63-ABED-9749F802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7AA62-FF89-4180-B6F0-47B8BCB1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7A3940A-42D2-439E-A68B-0BEABF66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EB205D5-5C16-4321-8AC1-4E2E30BE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868133-B65B-4229-832E-85CFCC0F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Criterio para decidir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5AC3DB9-B118-4EE0-9EA0-2F3700FA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el control del proceso según si la ruta debe fijarse o decidirse durante la ejecución.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E3486DD-3536-4DCD-8D1E-38DF6082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5D66FBC-38B3-4FF7-A9A7-ABF7B81D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8EFD5DB-68E9-4656-8643-637CE801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858E71D-3722-470F-8B74-5ADFB534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3AA8EC1-D6A4-465A-AABF-F1C991E3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1D92D91-81C4-47AE-BB2F-9D92A777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6CE2E238-91F5-433A-BC9A-259DCE9D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490C3D2B-3566-4814-8838-D07963E3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59388A7-B886-461D-BE09-C597D0D2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Ruta obligatoria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Codificar el orden y las verificaciones necesarias.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Ruta variable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Permitir selección de herramientas cuando aporte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valor.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Consecuencia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Conservar controles de negocio fuera de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decisiones libres.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0FCFABB6-F45E-4FF4-8D08-33029BA8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F8CFC3D5-CE4E-4D81-BFA6-2B723431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1657A9CB-3EE2-4621-ABF4-40ABAFE9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Equiparar cualquier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bifurcación o resultado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variable con autonomía.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9CBDAFE7-6317-4572-8AA8-0E15F4DA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E54E8B35-9775-452E-8AB8-EFF0CD3C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89A086DB-7DEB-49D0-AE1B-980C8E68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E02077EE-A839-444C-9E00-B00EA042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¿Un workflow con condiciones deja de ser workflow?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C8C03F71-5E57-4FE0-97E9-1F0AED38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2924213A-CC0F-4052-9B79-50188ED2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Elige agentes cuando la decisión dinámica justifica su complejidad.</a:t>
            </a:r>
          </a:p>
        </p:txBody>
      </p:sp>
    </p:spTree>
    <p:extLst>
      <p:ext uri="{BB962C8B-B14F-4D97-AF65-F5344CB8AC3E}">
        <p14:creationId xmlns:p14="http://schemas.microsoft.com/office/powerpoint/2010/main" val="20195464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E6885129-D961-4D82-86DD-74090105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41675-F2B8-4862-966D-8157FB97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1A5888A-6A8E-485A-B43F-F33CADBA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6C609D1-AAE4-4366-85AB-2FE010E6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42658E-3F2A-41FA-9FBF-E8ED5A9F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Workflow frente a agente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1116CE9-104B-4197-B488-22934106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el control del proceso según si la ruta debe fijarse o decidirse durante la ejecución.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CB020BD-F23A-427B-9A69-0CA19C9B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AC26D41-6DBD-44A5-B2A3-40A1A669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CF0EDC7-1A41-4F93-806E-D6B1D9F6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DBF3363-3CE1-412F-8C7B-804F671E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7909C81-01E1-486B-A235-98348029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A08635D-1D70-40B5-8FE8-648DB205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60272D03-E03C-41C9-A221-49FD0BE3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188C2B8-02F0-4880-8B34-6CDF6675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521453E-1A5F-40B5-A04D-EEE9F9BD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89EB9B8D-C5F7-41C2-9B0E-A2167446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EB437995-C830-46B6-B159-B4056D2A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5A6F6C92-4C64-4555-8C60-5F68A2BA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consulta requiere verificar datos antes de explicar una comisión.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D98570A-D452-4B7B-832D-5E0AB20F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38586CD-A351-4919-882C-985EAF43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6D018-EC33-43D1-A3D6-7EB599DF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02026C4-F123-45BB-A758-94C614B0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8CEC243-24E5-4490-8F8E-2EDE2A9F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Fijar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17D1C738-BB29-45CD-BD1D-E8591A9A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verificación obligatoria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pertenece al flujo.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EF97C37-2A42-45ED-A5DB-863A1A54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CF520B2-30CB-42B2-A1AE-F3B4465F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BAB408-E00E-4EAE-BEC8-215DECC1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DA63059-5482-4924-B23C-D5B0A66B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39887FB-8509-4ADD-A968-873E465C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B1814DCB-0982-446C-9D5E-E4EE90C5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agente puede elegir qué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información adicional necesita.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C1D7799-2F17-4866-ACE7-28188115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756BB46-59B8-4B6B-B814-48087240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390231-DBDA-4D53-8004-A6C152C1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B52A1D1-15B8-4D33-813D-21E82735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0D1E28A-C335-4691-B6E4-7E5A8E8B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Restringir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DDDB1DFA-7A58-4EED-8048-FEE5DB98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se habilita una transferencia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por decisión del modelo.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0398089-5B71-4B85-82DA-7D0FC927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834911C4-6FCE-4335-8306-768F86FB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D8C22CFE-6EF7-4A22-B6C9-0BD92CB4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Las obligaciones no se vuelven opcionales por usar un agente.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DD4F7587-0353-44FA-B747-4C97A31F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A31E11FD-5EE5-43C3-ACC2-E748D758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Elige agentes cuando la decisión dinámica justifica su complejidad.</a:t>
            </a:r>
          </a:p>
        </p:txBody>
      </p:sp>
    </p:spTree>
    <p:extLst>
      <p:ext uri="{BB962C8B-B14F-4D97-AF65-F5344CB8AC3E}">
        <p14:creationId xmlns:p14="http://schemas.microsoft.com/office/powerpoint/2010/main" val="12450436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header">
            <a:extLst xmlns:a="http://schemas.openxmlformats.org/drawingml/2006/main">
              <a:ext uri="{FF2B5EF4-FFF2-40B4-BE49-F238E27FC236}">
                <a16:creationId xmlns:a16="http://schemas.microsoft.com/office/drawing/2014/main" id="{8F1DAABE-188B-46E2-BD13-52DDB4F3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8D7A3-D2C9-4E31-9135-42F302AD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D416D08-251D-415B-AA05-7FF8DF63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2418694-262D-4A29-8110-850155B5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428A72-62D2-4039-82F7-50A9FF69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Anatomía de LangChain 1.x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26E6DEA-2A0C-4660-9FC0-9B156B35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Ubicar modelos, mensajes, herramientas, agente y controles en el mapa del curso.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867B1657-33EC-484B-8173-37F64B1A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F252EDB-1171-4017-BE7E-D5296EFD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A2456B5-0D65-4270-B456-1E6C3908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C293539-5C03-463F-888B-F7CE3089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B204D87-2FFD-492C-852B-0C52A54B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C9A8AE1-33EB-48A2-8712-B3FB652A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08C85760-1C8D-4DED-8887-B0040669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CC88E9A-E2D2-4ABD-9312-4D0406B8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D9B127D-289C-44F2-B659-4828B2B1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MAPA DE RESPONSABILIDADES DE LA ARQUITECTURA</a:t>
            </a:r>
          </a:p>
        </p:txBody>
      </p:sp>
      <p:sp>
        <p:nvSpPr>
          <p:cNvPr id="16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49809BC0-6D3E-43DD-AEC7-32088BBD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9239250" cy="4619625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component-msg">
            <a:extLst xmlns:a="http://schemas.openxmlformats.org/drawingml/2006/main">
              <a:ext uri="{FF2B5EF4-FFF2-40B4-BE49-F238E27FC236}">
                <a16:creationId xmlns:a16="http://schemas.microsoft.com/office/drawing/2014/main" id="{A169BC44-17A7-4AEC-9470-7F08EDEB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8003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8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8525ADAB-9FA7-4C4D-8E58-B88964F9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432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Mensajes</a:t>
            </a:r>
          </a:p>
        </p:txBody>
      </p:sp>
      <p:sp>
        <p:nvSpPr>
          <p:cNvPr id="19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510F78CC-1951-41BE-96FC-755DCC02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4575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Entrada y contexto</a:t>
            </a:r>
          </a:p>
        </p:txBody>
      </p:sp>
      <p:sp>
        <p:nvSpPr>
          <p:cNvPr id="20" name="component-model">
            <a:extLst xmlns:a="http://schemas.openxmlformats.org/drawingml/2006/main">
              <a:ext uri="{FF2B5EF4-FFF2-40B4-BE49-F238E27FC236}">
                <a16:creationId xmlns:a16="http://schemas.microsoft.com/office/drawing/2014/main" id="{D3C8079E-2A79-487E-8EAD-5CD7A0D0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1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58465033-2773-4489-9EDC-CE96F595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577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</a:t>
            </a:r>
          </a:p>
        </p:txBody>
      </p:sp>
      <p:sp>
        <p:nvSpPr>
          <p:cNvPr id="22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4A8976C7-690C-48DB-AA38-866274E5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720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Interfaz del LLM</a:t>
            </a:r>
          </a:p>
        </p:txBody>
      </p:sp>
      <p:sp>
        <p:nvSpPr>
          <p:cNvPr id="23" name="component-agent">
            <a:extLst xmlns:a="http://schemas.openxmlformats.org/drawingml/2006/main">
              <a:ext uri="{FF2B5EF4-FFF2-40B4-BE49-F238E27FC236}">
                <a16:creationId xmlns:a16="http://schemas.microsoft.com/office/drawing/2014/main" id="{4EE15C93-8F8D-4F87-A991-B6E9F848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5148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4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3EBED3C7-4689-4268-A2A8-098CD6F0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577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Agente</a:t>
            </a:r>
          </a:p>
        </p:txBody>
      </p:sp>
      <p:sp>
        <p:nvSpPr>
          <p:cNvPr id="25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7437A6F6-7F56-41F7-AEEE-6F9081B5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720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Orquestación</a:t>
            </a:r>
          </a:p>
        </p:txBody>
      </p:sp>
      <p:sp>
        <p:nvSpPr>
          <p:cNvPr id="26" name="component-tools">
            <a:extLst xmlns:a="http://schemas.openxmlformats.org/drawingml/2006/main">
              <a:ext uri="{FF2B5EF4-FFF2-40B4-BE49-F238E27FC236}">
                <a16:creationId xmlns:a16="http://schemas.microsoft.com/office/drawing/2014/main" id="{5558D33A-DDDF-4A56-83C9-281DA231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148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7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722D65C4-E56B-448A-92FD-E4EF59D9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577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Tools</a:t>
            </a:r>
          </a:p>
        </p:txBody>
      </p:sp>
      <p:sp>
        <p:nvSpPr>
          <p:cNvPr id="28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ECCF4E95-2F55-4FBE-A9A4-C93F03E6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720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Acciones y consultas</a:t>
            </a:r>
          </a:p>
        </p:txBody>
      </p:sp>
      <p:sp>
        <p:nvSpPr>
          <p:cNvPr id="29" name="component-mem">
            <a:extLst xmlns:a="http://schemas.openxmlformats.org/drawingml/2006/main">
              <a:ext uri="{FF2B5EF4-FFF2-40B4-BE49-F238E27FC236}">
                <a16:creationId xmlns:a16="http://schemas.microsoft.com/office/drawing/2014/main" id="{2BBB6AAA-9BF6-4836-8D01-0B4F8A45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0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88106777-9723-4FB1-B551-17DE3332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1436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Memoria</a:t>
            </a:r>
          </a:p>
        </p:txBody>
      </p:sp>
      <p:sp>
        <p:nvSpPr>
          <p:cNvPr id="31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806AFA31-B564-47EB-96E6-2513911D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579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Contexto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conversacional</a:t>
            </a:r>
          </a:p>
        </p:txBody>
      </p:sp>
      <p:sp>
        <p:nvSpPr>
          <p:cNvPr id="32" name="component-control">
            <a:extLst xmlns:a="http://schemas.openxmlformats.org/drawingml/2006/main">
              <a:ext uri="{FF2B5EF4-FFF2-40B4-BE49-F238E27FC236}">
                <a16:creationId xmlns:a16="http://schemas.microsoft.com/office/drawing/2014/main" id="{B1333B3E-DB92-4D58-9935-06F1B701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60007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33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08B1FB64-48BB-4C03-AE1E-A39CAC39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436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Middleware</a:t>
            </a:r>
          </a:p>
        </p:txBody>
      </p:sp>
      <p:sp>
        <p:nvSpPr>
          <p:cNvPr id="34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2C82472B-94F2-4665-A5C7-54EBD33F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6579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Límites y observación</a:t>
            </a:r>
          </a:p>
        </p:txBody>
      </p:sp>
      <p:cxnSp>
        <p:nvCxnSpPr>
          <p:cNvPr id="82" name=""/>
          <p:cNvCxnSpPr>
            <a:stCxn xmlns:a="http://schemas.openxmlformats.org/drawingml/2006/main" id="17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5219700" y="3876675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333750" y="5053013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4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410325" y="5053013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5" name=""/>
          <p:cNvCxnSpPr>
            <a:stCxn xmlns:a="http://schemas.openxmlformats.org/drawingml/2006/main" id="29" idx="3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3333750" y="5591175"/>
            <a:ext cx="1885950" cy="94773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6" name=""/>
          <p:cNvCxnSpPr>
            <a:stCxn xmlns:a="http://schemas.openxmlformats.org/drawingml/2006/main" id="32" idx="1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H="1" flipV="1">
            <a:off x="5219700" y="5591175"/>
            <a:ext cx="1885950" cy="94773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416586C9-AB0B-43E3-9EAF-4D7328BB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4610100" cy="4619625"/>
          </a:xfrm>
          <a:prstGeom xmlns:a="http://schemas.openxmlformats.org/drawingml/2006/main" prst="roundRect">
            <a:avLst>
              <a:gd name="adj" fmla="val 371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41" name="diagram-reading-label">
            <a:extLst xmlns:a="http://schemas.openxmlformats.org/drawingml/2006/main">
              <a:ext uri="{FF2B5EF4-FFF2-40B4-BE49-F238E27FC236}">
                <a16:creationId xmlns:a16="http://schemas.microsoft.com/office/drawing/2014/main" id="{C5767D2A-B3BE-43E1-A912-B7725EF9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414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CLAVE DE LECTURA</a:t>
            </a:r>
          </a:p>
        </p:txBody>
      </p:sp>
      <p:sp>
        <p:nvSpPr>
          <p:cNvPr id="42" name="diagram-reading">
            <a:extLst xmlns:a="http://schemas.openxmlformats.org/drawingml/2006/main">
              <a:ext uri="{FF2B5EF4-FFF2-40B4-BE49-F238E27FC236}">
                <a16:creationId xmlns:a16="http://schemas.microsoft.com/office/drawing/2014/main" id="{38DDBEF5-2BA2-4D06-9393-924CD373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4143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S1 ubica las piezas; las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sesiones siguientes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construyen sus capacidades.</a:t>
            </a:r>
          </a:p>
        </p:txBody>
      </p:sp>
      <p:sp>
        <p:nvSpPr>
          <p:cNvPr id="43" name="diagram-question-label">
            <a:extLst xmlns:a="http://schemas.openxmlformats.org/drawingml/2006/main">
              <a:ext uri="{FF2B5EF4-FFF2-40B4-BE49-F238E27FC236}">
                <a16:creationId xmlns:a16="http://schemas.microsoft.com/office/drawing/2014/main" id="{9405BA5C-EF82-4162-A7C6-0293F135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PREGUNTA AL GRUPO</a:t>
            </a:r>
          </a:p>
        </p:txBody>
      </p:sp>
      <p:sp>
        <p:nvSpPr>
          <p:cNvPr id="44" name="diagram-question">
            <a:extLst xmlns:a="http://schemas.openxmlformats.org/drawingml/2006/main">
              <a:ext uri="{FF2B5EF4-FFF2-40B4-BE49-F238E27FC236}">
                <a16:creationId xmlns:a16="http://schemas.microsoft.com/office/drawing/2014/main" id="{B66E8F53-9CAA-4357-BA04-D3935F6D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0"/>
            <a:ext cx="4143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¿Dónde ubicarías un filtro de salida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que evita exponer PII?</a:t>
            </a:r>
          </a:p>
        </p:txBody>
      </p:sp>
      <p:sp>
        <p:nvSpPr>
          <p:cNvPr id="45" name="diagram-caution">
            <a:extLst xmlns:a="http://schemas.openxmlformats.org/drawingml/2006/main">
              <a:ext uri="{FF2B5EF4-FFF2-40B4-BE49-F238E27FC236}">
                <a16:creationId xmlns:a16="http://schemas.microsoft.com/office/drawing/2014/main" id="{E0098CEB-B499-405D-A266-10819D90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76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Error a evitar: Confundir todo LangChain con</a:t>
            </a:r>
          </a:p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LLM o adelantar APIs no usadas.</a:t>
            </a:r>
          </a:p>
        </p:txBody>
      </p:sp>
      <p:sp>
        <p:nvSpPr>
          <p:cNvPr id="46" name="panel">
            <a:extLst xmlns:a="http://schemas.openxmlformats.org/drawingml/2006/main">
              <a:ext uri="{FF2B5EF4-FFF2-40B4-BE49-F238E27FC236}">
                <a16:creationId xmlns:a16="http://schemas.microsoft.com/office/drawing/2014/main" id="{F3967FCB-F073-4637-B518-430E0277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7" name="takeaway">
            <a:extLst xmlns:a="http://schemas.openxmlformats.org/drawingml/2006/main">
              <a:ext uri="{FF2B5EF4-FFF2-40B4-BE49-F238E27FC236}">
                <a16:creationId xmlns:a16="http://schemas.microsoft.com/office/drawing/2014/main" id="{BCEFC23D-A0AE-4FD0-94A8-A13B362E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arquitectura se reconoce ahora y se construye progresivamente.</a:t>
            </a:r>
          </a:p>
        </p:txBody>
      </p:sp>
    </p:spTree>
    <p:extLst>
      <p:ext uri="{BB962C8B-B14F-4D97-AF65-F5344CB8AC3E}">
        <p14:creationId xmlns:p14="http://schemas.microsoft.com/office/powerpoint/2010/main" val="10271754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F3B1FCAA-1232-42E9-8C05-8FB53F71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3F07D-21A7-4311-9512-9175C4F5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474EFC3-59F2-489E-BB31-703F05CC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9068B042-D9CB-491C-AE87-0520BEE7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136DAC-539E-43EA-B688-4B379AB0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Cuándo aparece cada pieza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86C5D77-C884-4D86-9B3E-F9C7265F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Ubicar modelos, mensajes, herramientas, agente y controles en el mapa del curso.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1E38DC3F-5D2D-4C55-B307-1256A8E2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8DFAA32-5E98-4952-8163-67BDEAD4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15917A8-DF88-4407-A589-76B2ACF3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9118FB3-656F-451E-B373-72C7C069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8020BCC-3A49-40F9-9C1D-A9732988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D5269F2-2D91-4105-AAC7-B9097025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1DF00EA-7679-4405-818A-8D4D948F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537D872-7072-4723-9512-CB20CB1E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A508DE7-308C-43CA-A6EB-84704D6C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S1–S2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Proveedor común, mensajes, prompts y salida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estructurada.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S3–S5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Tools, selección, memoria y recuperación de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conocimiento.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S6–S10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Límites, despliegue, trazas y evaluación.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9BFE017D-84E6-4C8E-A5E5-F05A7377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0B1C8984-806E-4441-BFCC-9218D41A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5C40E564-B56D-4AA5-BC44-FABA8D1B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todo LangChain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 el LLM o adelantar APIs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usadas.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0E4F332C-6FAA-4739-923B-ED224649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948B91C3-5A9D-454A-AF51-86FBFB38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55A8B5FB-F7D0-484C-A2C9-684E9FE9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7F092FA2-0F7D-4E20-A097-C97CA648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¿Dónde ubicarías un filtro de salida que evita exponer PII?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DBE857B1-EA19-4AE4-839F-2A8DBE3B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66D71E77-CED0-43EA-82A1-191B33A0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arquitectura se reconoce ahora y se construye progresivamente.</a:t>
            </a:r>
          </a:p>
        </p:txBody>
      </p:sp>
    </p:spTree>
    <p:extLst>
      <p:ext uri="{BB962C8B-B14F-4D97-AF65-F5344CB8AC3E}">
        <p14:creationId xmlns:p14="http://schemas.microsoft.com/office/powerpoint/2010/main" val="11681255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F89BB397-7DEC-4700-90E9-6C20F3B5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F29DB-7B04-4E21-B944-7C677DEB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102CB5F-8EDE-4D41-B1C5-6E299B4D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DC2B2909-F71A-48A3-83B2-FDF0D13E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517DFA-9EE6-4C9D-BD70-92AB8158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Anatomía de LangChain 1.x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70915E3-8BC9-4D00-9C5E-D38E636F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Ubicar modelos, mensajes, herramientas, agente y controles en el mapa del curso.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D83E773-7120-4AF0-A280-E3328E84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2CA2B8A-55A1-4080-A3B0-B042ABA2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FE7B7EB-EAAB-45AE-8FB1-2201D55B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4F07BB1-C4C8-4459-BF1C-D7E78701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220F816-96C0-4A8B-8463-408483E1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97D60BF-0F83-47A6-97A4-56FF47F3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1D290C9-2E1B-48E8-8524-50CCC838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A3CDDB12-66F3-4065-9065-C8DD2387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E19ABC3-3025-40AA-92F4-8ACDE70A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E805AE8F-6583-4649-9EF1-EF245852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373323AE-94D0-4D7C-A947-63ECC8D8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528DCC5A-0C27-4215-A3F2-B341E046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consulta de póliza necesita dato del sistema y una regla documental.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3B28497-4B33-43E4-96A2-EAA303DD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EB23AC2-581D-415D-BF5E-BA93BD32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6A35BD-2231-4B24-82D7-08F66949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0A4E898-D156-44B2-98E2-DA384939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DEAF9A7-CA63-40EC-9E75-9721732E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Datos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F06D7CC1-06F0-4ADE-AFD2-E1081937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tool consulta la póliza.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F9CB16B-5897-434A-8E9E-963B1000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3F76FE5-EBFD-4CAB-8E8A-293A6B53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7B44B0-999E-4492-9E5C-D6D55957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BDFFC98-0321-47F1-B3F2-1636E45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2D13DE3-2106-46D6-8ABE-7D0B05A1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Conocimiento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DAB5A29E-AC66-43C5-82FC-FB26C40D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retriever recupera una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cláusula del corpus.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A3A2242-AC39-4AD4-8947-B80160B0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1B9AA42-D6B4-46F7-9243-D47CF5D4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140F02-B647-4203-97E6-2067297A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91E9759-0A4C-4FB0-8DAB-3D17B653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B53589C-3346-4545-A9DE-EEBBC26D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Control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05467D24-6F46-4B97-B04E-4643C55B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aplicación limita promesas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deriva lo que no puede resolver.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CEAD182C-89DE-44C4-B665-73600593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E825D34D-A683-400D-BE72-215D970D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48B984D6-8CEC-4679-9289-4C5020D7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Cada componente tiene una responsabilidad y un laboratorio donde se implementa.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1E60D396-4537-4793-A42C-78E32AF2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4D5D94BF-D731-42D5-8A0C-F45AF62B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arquitectura se reconoce ahora y se construye progresivamente.</a:t>
            </a:r>
          </a:p>
        </p:txBody>
      </p:sp>
    </p:spTree>
    <p:extLst>
      <p:ext uri="{BB962C8B-B14F-4D97-AF65-F5344CB8AC3E}">
        <p14:creationId xmlns:p14="http://schemas.microsoft.com/office/powerpoint/2010/main" val="8078672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381A303B-29F9-4294-A475-DDA19C57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83468-31B8-480A-B7B7-75D68452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ECF860B-6C2F-481A-84A6-C7DCF11E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08983383-6132-42DD-AA28-71C17BD8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B7839A-11B0-4D2E-80AC-DC251D4D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Modelos abiertos y cerrados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A1FBC0EF-72C0-4E88-96F3-0D505D3A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 acceso, operación y evidencia de adecuación para el curso.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24434A9-4CE7-4D07-8E1E-12AB46C4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FA66F0F-5C54-4CCF-9078-423B714E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FF6BF1F-FAB6-41E7-8D34-04152D63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2BB1D9D-A6F2-4001-A643-15A6F669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370159F-364D-497F-948A-FB9FB5A5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D43D3C0-80A7-4CF1-9086-A344AAFB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F0CBE0B-9623-4AA1-AC8B-3CFDE043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99A43A6D-8D09-466E-B589-903A2B1F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7D244FA-931F-427D-BFAD-7DA03282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44CD1E4-4361-4E99-B84E-56645495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628B78D-01FE-4523-829B-34D4CD1B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2CA52-4626-4A6F-8BD4-896C86A0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23002AF-BA66-45B3-B219-ACC9B13E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2C111B2-43CD-4DC4-8350-F00913C0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Pesos abiertos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50E47856-EDCC-44EC-8CB3-3524495B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Permiten acceso bajo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licencia concreta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1537393-3CC6-4F4D-8E7A-B6531F13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66E5D63-30BE-4BC9-88C2-66EBB103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2FBDB2-EBFE-416C-931F-631C9470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C5332E0-2173-46D1-BC2B-8C0B1FF2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8060046-4FEC-48DE-A3F3-ADAF61A3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Modelos cerrados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3E351EC3-4F82-4C23-826C-CA3C701A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 consumen normalmente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mediante el servicio de su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proveedor.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29313A6-8AC3-42C0-9C23-FC871468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5887A20-78B7-4016-A63D-6BE95FEB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D40049-0F5E-4A11-B5CE-90DC4B9A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8A3166E-D55A-431B-9A18-656295FA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417C56E-D265-40A2-82C7-6CFE8166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Selección del curso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DF519C72-D42C-4D4F-AA94-22EF3C9B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Qwen3-32B cumplió las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pruebas documentadas para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este material.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2572300C-04D0-468F-9F7F-0DE7AF58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B3CBC6F-1242-4055-A862-80BEAFF8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9EB97476-6429-44FE-9BFB-9BC5DE09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¿Podemos trasladar el resultado a cualquier versión o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endpoint sin probar?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24B2E8DC-1DBB-41BE-A85D-3790051D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D71BBE1F-2E04-4DC0-92C4-3B195D1E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B0245B18-7385-4B7A-89C7-9CC5C217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Tratar una comparación del curso como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verdad permanente.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981514EF-7205-44C3-9589-8FCBCE82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4D295F1F-430A-4DD6-AE13-21767691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modelo se elige por evidencia sobre la tarea.</a:t>
            </a:r>
          </a:p>
        </p:txBody>
      </p:sp>
    </p:spTree>
    <p:extLst>
      <p:ext uri="{BB962C8B-B14F-4D97-AF65-F5344CB8AC3E}">
        <p14:creationId xmlns:p14="http://schemas.microsoft.com/office/powerpoint/2010/main" val="17100564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37A3454E-2082-42A6-BB9F-93B2F030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D463A-A016-444C-B78A-D88C456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899AE15-D436-43A5-8A6B-8378DE3C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90214648-35E5-4E69-959D-9C0AE6E4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3207E4-18EB-43AF-84C5-ADAC152D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Elegir con pruebas del caso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BA85D22-DCF1-4D89-8273-F10A734C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 acceso, operación y evidencia de adecuación para el curso.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1B243156-8A68-41E9-82DB-377DFF30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37C7AD5-4821-447D-9184-7AE7A0E4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F14AE6B-ECEB-4A51-A722-55775AB9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DA72C21-4814-496F-8A3F-0111B6CE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EE744FD-7FF5-4242-8210-64167DBD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05C8267-0E11-4A51-A3D0-9FF2D4F8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AA63FA3-91C2-468A-A4B2-124CFEA6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A6B8CF1D-0880-4F8F-8A4A-A2401760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D12EBE1-9C51-4305-924E-E8DCDC97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Compatibilidad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Comprobar tool calling y el patrón de interacción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requerido.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Operación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Valorar acceso, capacidad y esfuerzo de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mantenimiento.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Conservar resultados de la batería, no una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preferencia de marca.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C74EA268-EBA4-4692-9AB5-FEC52B55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E6BCD4FA-27C7-40D1-AD4F-86577341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47903852-BC5C-4681-B564-60226DCA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Tratar una comparación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curso como verdad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permanente.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C05941C5-31FD-4311-8BC1-80485DF3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81782521-7CB0-41C6-8D25-1EEF909E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C5043400-6A6F-41D4-B826-5CFD418A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AD430A30-F569-4E22-8A5F-FB52AB63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¿Podemos trasladar el resultado a cualquier versión o endpoint sin probar?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CBC6AD64-07CA-46CA-AD70-748070A9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A997C08C-07EC-45C4-B5B8-0A33EE3D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modelo se elige por evidencia sobre la tarea.</a:t>
            </a:r>
          </a:p>
        </p:txBody>
      </p:sp>
    </p:spTree>
    <p:extLst>
      <p:ext uri="{BB962C8B-B14F-4D97-AF65-F5344CB8AC3E}">
        <p14:creationId xmlns:p14="http://schemas.microsoft.com/office/powerpoint/2010/main" val="14859684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81A4C023-8E78-4CFA-9886-1F6F11F5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9B170-F3A5-4571-AB1E-1EEF3132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D8E53BC-B8AA-4EEC-9BF9-930EE873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69A6B79-0545-4AB6-8384-EB0F42AD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2B1471-9716-4220-ADC1-3A46D793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Modelos abiertos y cerrados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8D991183-BF0C-49FD-A81A-C6416E9F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 acceso, operación y evidencia de adecuación para el curso.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BB7CA92-B118-48C5-9BEC-7EA798A2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1BFA0C2-18C3-48CE-AEBB-B02BB732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90E912A-C6E4-4AFD-AAEF-E9E5AC62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C366607-6F23-4436-8547-B2E3FA66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12D956A-2414-4F81-90F8-AD110D17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FCE47BA-3884-40AB-854C-E686AAF5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AD6ABB1-BBDE-4E94-B364-E34BB95F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01AC110A-EE26-47BE-AA1D-9AF3DEBA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E3A55CA-4EEF-4298-8618-D6E011F9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3F3E0799-7F8B-4ACB-B10F-80CF7412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16F478E9-8ADB-4768-8895-80E356AD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8D334B04-BCAC-4F3E-BF8C-E52C72C9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 evalúan candidatos para elegir tools de pedidos y stock.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C30847E-F535-4712-B5FB-B3D2F4C9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D813DAF-E486-4A8E-9A24-F044D02C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66399-C8C2-49F0-A39A-BCC2A334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9412F2B-345B-49E1-96F2-A2DDBA82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1B00CD0-4DAC-4C3D-9550-14908FEE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Definir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FA744C9A-59F6-4E6E-9155-515537D1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prueba requiere llamadas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herramientas correctas.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4901D1E-9B35-4CD6-827F-F78151D7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0A94119-9BBF-4DFD-9666-EC94CCDD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32E771-907F-4406-AD96-BB32EB0B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6CC1DF3-33E1-4627-AE2B-31158A96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D8465BF-800D-4C00-A166-FED58588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5830DA42-797E-4A11-8A10-E6BD0440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Aplicar la misma batería a cada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candidato.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AE6CDC9-3407-4B53-9AB2-9E29932F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199D054-E28C-43AA-AB3F-6D72E1A6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4FC072-872A-4CAE-BABA-F130FC39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089AAB4-5054-455C-81E5-8BF3E9BD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285627D-8623-4981-B0A6-23C0C771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Decidir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39ADAE5B-C40B-4CEB-97D6-ADA06486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el que cumpla los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requisitos en ese contexto.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4DDCBF2-1714-47D8-B85D-584AEC13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D2BA4E93-AA2E-4F60-AA9D-C2177966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968F7EF2-8B1E-4843-8EDB-1EFFC97B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resultado del repositorio no es un ranking universal de modelos.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314E109D-1AB5-4932-924B-2905EEB2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EB1BCCB3-501C-44A8-9A78-21289F85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modelo se elige por evidencia sobre la tarea.</a:t>
            </a:r>
          </a:p>
        </p:txBody>
      </p:sp>
    </p:spTree>
    <p:extLst>
      <p:ext uri="{BB962C8B-B14F-4D97-AF65-F5344CB8AC3E}">
        <p14:creationId xmlns:p14="http://schemas.microsoft.com/office/powerpoint/2010/main" val="18417916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6C26A922-9CCE-4B77-885B-9CD7E70F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2EDC9-0C27-464C-A362-96F3190A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52D8D39-BE27-4288-BD36-FE690E6D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1A66774-42F7-4916-ABEF-D42D9014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18CAB5-94C0-4557-9652-88DF358E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capa comun/provider.py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EA63B772-0A5D-45F8-9413-EFDDF4DA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cómo una interfaz común evita dispersar la configuración del proveedor.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60BE841-D3AB-459F-8DAF-8882555A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3D5A598-D033-48AD-A1C9-E391B182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D398EC9-BDB4-406D-AB19-76F53ABF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670C930-D01A-4F72-812D-86C951EA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4CEF1F2-316B-4278-9267-1E4DB73B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1E11DFB-D166-4419-A67B-188FEFA9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F6AD1F9-BDAF-4A51-8C3B-C4F6875A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A42A4A32-27CE-4E97-A19E-CC638BB1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DDF25EC-FC91-4778-93EA-AE5267C2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UNA INTERFAZ COMÚN, DOS DESTINOS CONFIGURABLES</a:t>
            </a:r>
          </a:p>
        </p:txBody>
      </p:sp>
      <p:sp>
        <p:nvSpPr>
          <p:cNvPr id="16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ED6963CB-8704-4ACB-9F0D-CB228B47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9239250" cy="4619625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component-app">
            <a:extLst xmlns:a="http://schemas.openxmlformats.org/drawingml/2006/main">
              <a:ext uri="{FF2B5EF4-FFF2-40B4-BE49-F238E27FC236}">
                <a16:creationId xmlns:a16="http://schemas.microsoft.com/office/drawing/2014/main" id="{BCE97173-2985-4BEC-8397-0058CFF3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384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D92621CF-44A8-45DC-A480-52604A1F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813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Aplicación</a:t>
            </a:r>
          </a:p>
        </p:txBody>
      </p:sp>
      <p:sp>
        <p:nvSpPr>
          <p:cNvPr id="19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94307ABA-5598-4D74-A7DB-D7FB346F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957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get_chat_model()</a:t>
            </a:r>
          </a:p>
        </p:txBody>
      </p:sp>
      <p:sp>
        <p:nvSpPr>
          <p:cNvPr id="20" name="component-provider">
            <a:extLst xmlns:a="http://schemas.openxmlformats.org/drawingml/2006/main">
              <a:ext uri="{FF2B5EF4-FFF2-40B4-BE49-F238E27FC236}">
                <a16:creationId xmlns:a16="http://schemas.microsoft.com/office/drawing/2014/main" id="{F9531993-FBDB-47C7-8884-F0D2736B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384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1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FADA0ACC-319B-4464-B82E-EA3DAF28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813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provider.py</a:t>
            </a:r>
          </a:p>
        </p:txBody>
      </p:sp>
      <p:sp>
        <p:nvSpPr>
          <p:cNvPr id="22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12494402-7336-4B7B-A9D5-ED3004F8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957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Lee AI_PROVIDER</a:t>
            </a:r>
          </a:p>
        </p:txBody>
      </p:sp>
      <p:sp>
        <p:nvSpPr>
          <p:cNvPr id="23" name="component-hf">
            <a:extLst xmlns:a="http://schemas.openxmlformats.org/drawingml/2006/main">
              <a:ext uri="{FF2B5EF4-FFF2-40B4-BE49-F238E27FC236}">
                <a16:creationId xmlns:a16="http://schemas.microsoft.com/office/drawing/2014/main" id="{70C9E36A-3973-430D-A957-3080ACE4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384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4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CE45DAC1-FC6E-42E4-ABE9-D5C93BA9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1813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Hugging Face</a:t>
            </a:r>
          </a:p>
        </p:txBody>
      </p:sp>
      <p:sp>
        <p:nvSpPr>
          <p:cNvPr id="25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ECC18752-F6FF-4CBB-8EFF-A4C80DDC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6957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Cliente del proveedor</a:t>
            </a:r>
          </a:p>
        </p:txBody>
      </p:sp>
      <p:sp>
        <p:nvSpPr>
          <p:cNvPr id="26" name="component-cfg">
            <a:extLst xmlns:a="http://schemas.openxmlformats.org/drawingml/2006/main">
              <a:ext uri="{FF2B5EF4-FFF2-40B4-BE49-F238E27FC236}">
                <a16:creationId xmlns:a16="http://schemas.microsoft.com/office/drawing/2014/main" id="{5E1D7628-EE20-40BB-9210-4E3DC31E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7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25B09BAC-65CA-4D62-BDE2-AED9E839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959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Configuración</a:t>
            </a:r>
          </a:p>
        </p:txBody>
      </p:sp>
      <p:sp>
        <p:nvSpPr>
          <p:cNvPr id="28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1E9E5102-59D1-4C3A-8015-1FD0BE50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0102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Endpoint, modelo y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clave</a:t>
            </a:r>
          </a:p>
        </p:txBody>
      </p:sp>
      <p:sp>
        <p:nvSpPr>
          <p:cNvPr id="29" name="component-foundry">
            <a:extLst xmlns:a="http://schemas.openxmlformats.org/drawingml/2006/main">
              <a:ext uri="{FF2B5EF4-FFF2-40B4-BE49-F238E27FC236}">
                <a16:creationId xmlns:a16="http://schemas.microsoft.com/office/drawing/2014/main" id="{C24D85AE-15B6-40F2-91FD-4179406C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53050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0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04B573F5-D7A0-4D00-875F-EB9976E1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495925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Foundry</a:t>
            </a:r>
          </a:p>
        </p:txBody>
      </p:sp>
      <p:sp>
        <p:nvSpPr>
          <p:cNvPr id="31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3A45071A-2794-4C74-A4A7-AC6EA9B1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60102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Cliente del proveedor</a:t>
            </a:r>
          </a:p>
        </p:txBody>
      </p:sp>
      <p:cxnSp>
        <p:nvCxnSpPr>
          <p:cNvPr id="75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381375" y="357663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76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381750" y="357663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77" name=""/>
          <p:cNvCxnSpPr>
            <a:stCxn xmlns:a="http://schemas.openxmlformats.org/drawingml/2006/main" id="20" idx="2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191125" y="4114800"/>
            <a:ext cx="1809750" cy="177641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6" idx="3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3381375" y="4114800"/>
            <a:ext cx="1809750" cy="177641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B899E15F-B2C9-47BF-91D6-18BE5820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4610100" cy="4619625"/>
          </a:xfrm>
          <a:prstGeom xmlns:a="http://schemas.openxmlformats.org/drawingml/2006/main" prst="roundRect">
            <a:avLst>
              <a:gd name="adj" fmla="val 371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diagram-reading-label">
            <a:extLst xmlns:a="http://schemas.openxmlformats.org/drawingml/2006/main">
              <a:ext uri="{FF2B5EF4-FFF2-40B4-BE49-F238E27FC236}">
                <a16:creationId xmlns:a16="http://schemas.microsoft.com/office/drawing/2014/main" id="{D2F8CDCC-E7DD-4BF7-875D-A0DB18B5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414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CLAVE DE LECTURA</a:t>
            </a:r>
          </a:p>
        </p:txBody>
      </p:sp>
      <p:sp>
        <p:nvSpPr>
          <p:cNvPr id="38" name="diagram-reading">
            <a:extLst xmlns:a="http://schemas.openxmlformats.org/drawingml/2006/main">
              <a:ext uri="{FF2B5EF4-FFF2-40B4-BE49-F238E27FC236}">
                <a16:creationId xmlns:a16="http://schemas.microsoft.com/office/drawing/2014/main" id="{A65373A9-2C96-44F3-9C1A-78C3A6F9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4143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compatibilidad de interfaz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garantiza comportamiento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idéntico.</a:t>
            </a:r>
          </a:p>
        </p:txBody>
      </p:sp>
      <p:sp>
        <p:nvSpPr>
          <p:cNvPr id="39" name="diagram-question-label">
            <a:extLst xmlns:a="http://schemas.openxmlformats.org/drawingml/2006/main">
              <a:ext uri="{FF2B5EF4-FFF2-40B4-BE49-F238E27FC236}">
                <a16:creationId xmlns:a16="http://schemas.microsoft.com/office/drawing/2014/main" id="{BD8C5BB0-99F5-4194-863F-FE3EF5CA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PREGUNTA AL GRUPO</a:t>
            </a:r>
          </a:p>
        </p:txBody>
      </p:sp>
      <p:sp>
        <p:nvSpPr>
          <p:cNvPr id="40" name="diagram-question">
            <a:extLst xmlns:a="http://schemas.openxmlformats.org/drawingml/2006/main">
              <a:ext uri="{FF2B5EF4-FFF2-40B4-BE49-F238E27FC236}">
                <a16:creationId xmlns:a16="http://schemas.microsoft.com/office/drawing/2014/main" id="{4A8F5E27-CFC7-42C5-AD7F-15E71E48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0"/>
            <a:ext cx="4143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tendrías que modificar si cada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archivo creara su propio cliente?</a:t>
            </a:r>
          </a:p>
        </p:txBody>
      </p:sp>
      <p:sp>
        <p:nvSpPr>
          <p:cNvPr id="41" name="diagram-caution">
            <a:extLst xmlns:a="http://schemas.openxmlformats.org/drawingml/2006/main">
              <a:ext uri="{FF2B5EF4-FFF2-40B4-BE49-F238E27FC236}">
                <a16:creationId xmlns:a16="http://schemas.microsoft.com/office/drawing/2014/main" id="{FC30CCC9-71BC-4F04-9868-A1E38DDD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76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Error a evitar: Prometer resultados idénticos</a:t>
            </a:r>
          </a:p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después del cambio.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BDE977D2-EA8D-4BDD-AC60-67D747FB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7D64E6B8-DD38-4677-B938-2395DBE5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Abstraer el proveedor reduce cambios de código, no elimina la evaluación.</a:t>
            </a:r>
          </a:p>
        </p:txBody>
      </p:sp>
    </p:spTree>
    <p:extLst>
      <p:ext uri="{BB962C8B-B14F-4D97-AF65-F5344CB8AC3E}">
        <p14:creationId xmlns:p14="http://schemas.microsoft.com/office/powerpoint/2010/main" val="17161081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5E9E822D-A3F7-473F-89A7-2E5117B0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29B65-DF18-4A03-9EEF-47D08CEA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843F108-1E82-4A0A-8175-971BB031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D07CD01F-E212-48A0-B7FE-7DD60187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DE542D-6CC3-40AB-A1B8-64C2CE3D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Portabilidad y sus límites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5468BA6-4619-4C98-A9D2-E837EAAC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cómo una interfaz común evita dispersar la configuración del proveedor.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A563E5A-FE63-4903-8999-6FD65BE6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B333EA2-FA91-479E-BB03-FDDA23C9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50D0FA1-4A67-4DF3-9625-8AD43617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6022FE6-98C6-4978-8F7C-AF54B921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F9278CEB-6514-40A8-9B21-1F9CD3B7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4E9A3E0-816F-4988-BCCE-F90B666D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7AC35B2-2D13-4920-9C6A-A5E730D2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410D762C-1B36-4DFD-AB3F-D07963AF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6C75588-E1B1-4789-83AA-2618C4CB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Código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Centralizar la selección en el módulo común.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Configuración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Proporcionar endpoint, modelo y credenciales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requeridas.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Comportamiento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Repetir pruebas al cambiar de modelo o servicio.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3A9B666E-1745-464C-9656-A967BF44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B70C4055-8EB8-4CE7-BEB6-00314EB5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0D5CE5C9-2ADA-4546-9842-8F5C7796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Prometer resultados idénticos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después del cambio.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63766C06-DD84-4706-B79A-45D1DDB5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EF5AF63A-68E1-4DA1-832A-65F4A43B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DC8B11DC-ED49-425D-A934-DEC524A0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A584CAB2-A9D5-450F-A5FB-34E96564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tendrías que modificar si cada archivo creara su propio cliente?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A9DDADEC-EA32-4828-9E36-AA57370A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4D109D7C-5B4B-4740-A27B-30DCF694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Abstraer el proveedor reduce cambios de código, no elimina la evaluación.</a:t>
            </a:r>
          </a:p>
        </p:txBody>
      </p:sp>
    </p:spTree>
    <p:extLst>
      <p:ext uri="{BB962C8B-B14F-4D97-AF65-F5344CB8AC3E}">
        <p14:creationId xmlns:p14="http://schemas.microsoft.com/office/powerpoint/2010/main" val="71916089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9C9D95B5-20B4-41EC-A129-A72D2624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74D67-AC2A-4D7F-B7FE-5261D30F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A691514-0DCC-43E9-AB3E-DF4C212D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9E821BA-D433-413F-8D67-6E5C1A1E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3AEF34-9257-44EA-B5F2-30D45CB6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La capa comun/provider.py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0254F73-0996-4F21-90C4-AF0CF59C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cómo una interfaz común evita dispersar la configuración del proveedor.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899DDDD2-DDDD-4902-845E-72C1D825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63EC09E-77C6-47F4-9C1B-B088AA79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080B1C6-D16C-4447-A84E-628B7C58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985232E-4459-479F-9A82-CA1D1E13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0D0EA7F-0E42-466E-A670-B20C7275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078B738-8528-479D-A0C7-00C5E6A3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6973B7F-FA5B-4BA2-8AF0-1710530E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FCCB60B-E65D-45E9-A086-8CBE70A0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A605C0A-BF34-4BDB-98DB-557CC259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9BA97778-4004-4D79-90F5-7A56FB8B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E9ADBDFB-DEAA-4FD6-AE1A-B78C92D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DC3D393A-0873-4BE3-BE81-FC7EE8BD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mismo agente pasa de Hugging Face a Foundry en el bonus.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90F7637-003E-4157-A032-D1CDA4E2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2431F1D-EB8F-4532-8E6A-7AD47F89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37309B-1BC8-46A5-A807-9F390C75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0658AA3-BAD9-4392-925F-EB0B33C3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A4E184F-92F3-40F1-BE72-8140C8BC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7E9A79ED-0A10-4087-8579-7F1C3C0C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Completar las variables del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destino.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68EF8E7-66EA-4C8A-B2B1-61882B00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CE74E29-BDB3-48CF-ABB7-B2B24EEF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C09F7-27A0-4D1A-B583-629D0B32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AAA3F38-011A-44CA-9D4A-5514095B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1C0A64E-E50A-4A48-9035-D1252A37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Cambiar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7092C257-D8E6-49C7-A9A6-141E8189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Seleccionar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AI_PROVIDER=foundry.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B5143DE-990D-4782-87F6-D94EE983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02DC327-171F-4F7E-B950-2147CA10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12E6C2-62E8-4C40-A38B-D41B70BA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19E9B92-CB83-489B-A9B8-1709C7A2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56390CC-FCBE-46D3-9BAD-ED4697D9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70894F91-6319-4008-A208-6348B6B7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 las mismas consultas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 resultados.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83E488D1-DB18-4E9C-9530-7C655D63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BA74E458-5BC2-477C-B59B-0DC738B3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42AB2CEA-BC84-4C17-A640-7F418A37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interfaz puede mantenerse; las respuestas del modelo pueden cambiar.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98BD4C38-07D3-40C8-A179-07B3D081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6C5FEC6E-E642-42D1-A7C7-810F680B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Abstraer el proveedor reduce cambios de código, no elimina la evaluación.</a:t>
            </a:r>
          </a:p>
        </p:txBody>
      </p:sp>
    </p:spTree>
    <p:extLst>
      <p:ext uri="{BB962C8B-B14F-4D97-AF65-F5344CB8AC3E}">
        <p14:creationId xmlns:p14="http://schemas.microsoft.com/office/powerpoint/2010/main" val="17039071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AEC7A935-990F-4BA0-AAFA-7835C76A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003AC-0879-4E90-BE6D-CEEC6DD0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2EB8660-5947-4620-B274-B389A006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B185DB7-3D4E-43CE-984E-8505C3C1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9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D1C677-5A67-4092-B516-4A607910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la apertura al laboratorio L1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4973EA9-8CA8-4F4C-B9D7-DA53FA33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Conectar explicación, demostración y ejecución individual en la sesión.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0C5BC14-6F0F-49DA-A0C8-3B5C0D67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5B9B042-AF02-4391-8C8B-17531EB4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8B626A1-781C-4EB7-BC03-E8680C1B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1D62576-49A7-4A82-9C0A-3D099BDD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7B758B4-0A53-4B87-935A-9E1E11B1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7B7AC6D-185A-4B0E-A1CA-87F9391C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813C666-ECFD-4D83-95AB-9A1902F6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C09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03CEB6AA-4C4B-4C88-A694-87E7E6E0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A3B9927-584A-43B4-A831-B4D879B4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A3B557E-735F-41DD-8CDB-BAC76BDF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9589E47-495C-41FF-89DA-7DDFDD54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B63AB-7F1A-47CA-9288-3B952EC5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51E6021-46C3-4850-9528-CE7BA4BB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DC0585C-D592-45CE-8113-508F10E3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Observar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DE27EB74-B13E-4DE9-B622-C7F0D5B6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apertura y el antipatrón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cuestionan la expectativa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API determinista.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F7906F9-FABF-4D79-8B40-F9D38A6E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1A150C7-4F6F-451C-8621-C66A0530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5211CA-FAEF-452D-AAD3-89A6B5D6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09D70AE-ECF6-40C8-B95C-7558BAA1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DD93226-3F3F-4EA0-ACB0-16A0F124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Practicar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D4A0168B-96E9-4824-87DD-09C367DD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live coding muestra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primer acceso al modelo.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BC64B5E-8155-4CC7-A88A-6082586B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17BDC36-90A0-43FC-B586-E530DC77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36D199-93F5-439D-8F0E-BE131B54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38DB3E2-B771-4319-8657-E51E53B1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05250BA-7C60-4870-B270-B77A5282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Consolidar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5594FCAD-A045-4B01-B40D-0E10D537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Test, elección de track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laboratorio producen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evidencias.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58FD58F2-77A9-4B39-BB22-385A284E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5E2ABAE-1340-49EC-8393-590BE110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A805C1F7-2E60-40E7-BFC0-9CCEBF5A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evidencia adicional convertiría esto en una consulta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real de saldo?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823C1F08-1E26-40CC-B31F-E772F2EB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2EE61981-FD90-449D-9C91-9ABB7B14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9E33A479-FC30-4FF9-88B8-C93E0B3D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Dar por implementado el agente final al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recibir texto.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05AEAD3F-6A99-458B-8C58-AB92E69F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FBE9D1DB-5D69-4495-8348-EF529B9E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L1 valida entorno y conexión; las tools llegan en S3.</a:t>
            </a:r>
          </a:p>
        </p:txBody>
      </p:sp>
    </p:spTree>
    <p:extLst>
      <p:ext uri="{BB962C8B-B14F-4D97-AF65-F5344CB8AC3E}">
        <p14:creationId xmlns:p14="http://schemas.microsoft.com/office/powerpoint/2010/main" val="10762959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58A135BE-A891-4BAC-B3F8-4E2CC5C2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DACDB-4DAB-41D5-82C2-9DFD40F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3FC8562-1BB4-414E-8C9E-18F73A97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02CFD53D-2783-4693-8874-D91B369E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9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738C16-4E8A-4436-ADDD-4161BCE5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Comprobar el primer script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12812DA-8F97-47CA-B804-DA28DE8C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Conectar explicación, demostración y ejecución individual en la sesión.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216CBF0-26CC-459B-8DCB-EBF59C30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EBFAEFF-5994-4BEA-A5EE-C8E9FE6A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7A8F4DF-8956-40F6-9BDB-D2367EF5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F0BED23-24E9-426D-9095-9472E336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F62E6D8-C795-4565-B082-1F92DB5E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14E7811-1BA3-4A77-9812-BCD27DE1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682D4C2A-6C28-4B86-84F7-26FFFBB8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C09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30815DF-DABB-4B5B-9738-7E62A655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C27FCE0-40BE-4F69-98CE-A99422A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Preparación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Entorno y variables configurados antes de invocar.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Llamada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Usar la capa común del proveedor.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Lectura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Distinguir respuesta de texto y ejecución de una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tool.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D951BC43-A147-4625-B228-E878E4A4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5B3634EB-B785-4CCE-912B-84A625E4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09628593-22AA-4A47-A450-9F837995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Dar por implementado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agente final al recibir texto.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7DD70C87-C898-4285-B33C-01B0D33D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A3121FA9-460F-4486-8FF1-84FCCF9F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F2CF0D06-7E1F-4ECE-8E82-D01B7782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9F7CB53E-468A-4A07-BD83-ECFBA2BD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evidencia adicional convertiría esto en una consulta real de saldo?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3121E8A8-DF0D-4161-9FEC-9F0B9A5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22969DDF-68BA-4E50-B812-8F57B1B9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L1 valida entorno y conexión; las tools llegan en S3.</a:t>
            </a:r>
          </a:p>
        </p:txBody>
      </p:sp>
    </p:spTree>
    <p:extLst>
      <p:ext uri="{BB962C8B-B14F-4D97-AF65-F5344CB8AC3E}">
        <p14:creationId xmlns:p14="http://schemas.microsoft.com/office/powerpoint/2010/main" val="14903692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701E2A6A-0C91-4964-A489-DD9CF806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B4DA3-8755-4412-AB81-84C23AE1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DA9CE06-D5B1-4E59-9FB7-2F8CEB3D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E86998B-853A-4C36-8C3F-EFE13BCA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9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030BCD-59F7-4FC6-89FE-887816E8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De la apertura al laboratorio L1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B812336-8BC0-4189-B954-A8EC8C00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Conectar explicación, demostración y ejecución individual en la sesión.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59567390-E8CF-4E7D-A81E-4763CBF1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D7413E9-1BBF-4617-B1DE-4E97A7E1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BB93214-FFEC-4B00-8302-540DC0CA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D1EBA62-1491-41C7-961E-F41944B0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36379A5-1BAE-4602-960E-34E7C49A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80686CD-1E35-4AD3-8991-B6833816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00C6320E-5A4D-494D-A777-AB4D213C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C09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30B5F14-6600-44EF-B2C6-DE6CD107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1100E86-A13E-4D52-9F2A-A724D46B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50D158AF-9882-4C96-8821-B273F21E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4275A4DF-6844-4FBE-A3C4-ECA03C46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5607BEEC-67E7-4807-92CD-90BDC6B7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alumno obtiene una respuesta textual a una consulta bancaria.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E9B6660-91EF-483E-85D3-F450C075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8197FF3-440E-45E8-BBC9-7B0BB60B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7F6EA-2F48-4327-9B51-DCAE8F27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E3BEB68-E5AA-4825-ACA2-55FB65C1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424EB7F-17C5-4DA6-94D0-8785EB7C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021E390F-B894-41F1-B996-216DC521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 primer script llama al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14B8E70-8FC1-4CB6-ADC2-FFC5E74F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C886FFE-4979-4EA3-ABB8-26F74A2E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D6BFD3-F064-4201-91D1-57AF2141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653039E-DE02-4C5D-8A99-104CDBBD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BAE4789-E8AE-4168-A32E-72504DB3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Evaluar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028A2139-ADF6-4757-9BC3-D8DC20B6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hay consulta de saldo ni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transacción externa.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6762A9A-1EB9-4AE0-AEAA-F5FD09D9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0E43D24-6874-412D-9788-CFBA8684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AE5CBD-BEF7-4963-AA81-72186ABD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51FF029-7AE4-4B8A-8285-C508A66C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D4BCD04-6E28-4CBF-A612-8A638BFE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Documentar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A1265757-4FD4-4D50-B678-3133E5AA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Anotar el resultado y el límite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esa demostración.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016DF318-502A-4C28-BDD6-ABFC749A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D7070F24-7021-4DE0-84BA-7FB9660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4FE3E0F6-C9EC-44C7-8D76-8B576EB5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primer éxito técnico no demuestra que los datos de negocio sean verdaderos.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56F02E1F-CFD0-4D63-90CA-84D3A089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2EB9F92A-8402-4E6B-8A2E-3E7E3201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L1 valida entorno y conexión; las tools llegan en S3.</a:t>
            </a:r>
          </a:p>
        </p:txBody>
      </p:sp>
    </p:spTree>
    <p:extLst>
      <p:ext uri="{BB962C8B-B14F-4D97-AF65-F5344CB8AC3E}">
        <p14:creationId xmlns:p14="http://schemas.microsoft.com/office/powerpoint/2010/main" val="182077130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193F7CC5-6566-4DEE-8A5A-C59243F5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D6685-0EFE-4E68-B026-D10C4C95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4265531-80F8-4400-AA9E-F2074FA5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9819E385-A46B-4844-80E1-24E4E388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10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246DF6-2508-4BEA-9908-0F1C3275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Elección del track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D8BF352-4E4F-4E71-BBD8-7D0F19EB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 cuatro dominios sobre un mismo patrón de arquitectura.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FC676DD-C66F-4506-BABA-738117FC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1486CC8-44B0-43DE-B63F-03927812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75B1958-6A57-4F1B-A172-DA294A18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6874073-C9D0-4C3A-8175-9C512F2F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A173A55-99D1-4B98-AF6E-A3D64802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0072763-82DA-4209-A8A4-5FA56B05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A014063-B26B-45AF-AB61-3C6B4AAF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C10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65763A0-3AB9-44E5-AFC6-1E76E556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EFA62A7-FA09-4C08-956A-24DBF7B2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FC26C3E-9C51-4130-98FB-92712786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0858451-8011-4B68-A784-B2E6A00A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B6500-7660-4B5E-8E64-B9A74304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C7EC0A0-A0F8-4FE7-B47D-831AE7B6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21601D2-D7EB-4D58-AB67-9507B93E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Telco y banca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793C94B4-30E3-4231-ABC8-7C376E8A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AndesMóvil y Banco Inti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trabajan datos y operaciones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del dominio.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2FAB621-5C45-488E-BF21-F1846620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3C1AA4B-634A-458A-B432-FB3064E0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6EC0A9-2C5D-4B92-99BA-DB1A633E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4D47A79-3EDF-4EC9-B48A-5B5505E4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EA6FF30-B411-4CD6-8D19-83D91524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Retail y seguros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7794D885-EAA6-430A-9955-0B4BCB99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MercaSur y Andina Seguros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aportan otros catálogos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corpus.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942F6EA-8D72-4B08-AC3F-66DCF768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F5EF30F-1AB6-477E-B612-7DCF0B8B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2DF8AA-7252-42ED-8629-FE212E00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2411F75-9BB2-4E3D-A326-4022AD86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B8177B3-D79D-4791-93CD-9551D823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Núcleo compartido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2F851489-591F-4900-A8E1-00D4186B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Modelo, tools, contexto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control siguen el mismo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patrón.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AEC0F3FF-107B-49F5-88DD-A0B84CCD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8243978-9FE6-445B-BACB-A90DD064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A87EC694-0F53-46BB-8ED8-69840E8B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límite deberías explicar en la primera frase de tu caso?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B45DEACC-90DA-4607-A569-7421C286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495B107C-248F-4D57-8A79-4F3A072B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8FC67DDC-25D1-4C08-A3C3-11D22279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un caso que exige sistemas o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permisos inexistentes.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9DCFF436-5878-4FD5-862E-660FCCA6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67A96A1F-6142-4B08-90E9-9209802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Elegir industria significa concretar datos, tareas y límites.</a:t>
            </a:r>
          </a:p>
        </p:txBody>
      </p:sp>
    </p:spTree>
    <p:extLst>
      <p:ext uri="{BB962C8B-B14F-4D97-AF65-F5344CB8AC3E}">
        <p14:creationId xmlns:p14="http://schemas.microsoft.com/office/powerpoint/2010/main" val="1713524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146B13F2-F584-49A7-8A46-69ADD5E1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92020-7520-4251-AC69-C79A6263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6A6D648-5B62-4B45-BE57-5C7E5933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0126F2C5-EF9B-4895-AF35-553C9CB9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10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80271F-64BA-4891-A4D6-7723DEA7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Definir un caso viable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EA76FEF-72FC-4B33-8C5C-E9082714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 cuatro dominios sobre un mismo patrón de arquitectura.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77E063E-86A7-4EF4-ACEA-115F8546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D04DAD7-3AB1-42F0-9526-4A875C7D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D26747B-0505-4A6F-BE89-E332F236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FFDAC63-82A0-4D44-83D4-C78D8F70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6924052-46B5-49D3-9D33-64D9FBCB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291F8DE-0C66-40CB-BD1A-E96A1728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5C8C3D0-8880-48D1-9B08-8077F050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C10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04EE3D7-1A54-4DED-B82A-08F3B78F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7C7DCD3-FD4E-4DE8-9941-C45ABA2C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Usuario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Nombrar quién pide ayuda y qué necesita.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Alcance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Elegir las consultas cubiertas por el simulador y el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corpus.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Límite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Explicitar qué acciones no puede realizar el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asistente.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AFBBB23C-5DE2-43AD-9C12-796ECED3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749FDA92-D51A-4156-9183-7EB116BA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7826A8C2-70DF-4D09-AD0B-05C3C5DB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un caso que exige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sistemas o permisos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inexistentes.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3AAB1CC1-421A-4B31-AD6B-1C7E7593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31951B21-F07B-406C-A89D-6F212CDC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310A45FD-2A06-4596-8FB8-E46BD54F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E03156EC-86DF-4DC1-992F-DEC33EF0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límite deberías explicar en la primera frase de tu caso?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FE801832-7C09-4C0F-AD21-16647DB9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BE98AB9B-DABF-42A1-BC2B-2142EE57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Elegir industria significa concretar datos, tareas y límites.</a:t>
            </a:r>
          </a:p>
        </p:txBody>
      </p:sp>
    </p:spTree>
    <p:extLst>
      <p:ext uri="{BB962C8B-B14F-4D97-AF65-F5344CB8AC3E}">
        <p14:creationId xmlns:p14="http://schemas.microsoft.com/office/powerpoint/2010/main" val="149453017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437E7B50-C23E-443F-97D9-678F1FB8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607DF-03D9-43C4-A83B-CE7DEAC3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603D167-4CA9-4AF8-895F-1723262F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676B19A-A67C-4113-96E4-D6E20DD1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10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2ED66E-39B9-4CA4-91CF-20798DD7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Elección del track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BFB3C4C-C77B-46FB-AD89-FDF49FF1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 cuatro dominios sobre un mismo patrón de arquitectura.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3CACAAA-49D4-4F2F-9777-CFEDE5B3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6488A9D-E4D7-41D4-B0AB-8E047304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5546B5C-CAC6-4711-B93F-4C364982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49BB8E3-90D4-4E42-84DC-66028404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57FCA10-E8F3-4606-B7EF-A9529701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937E0DB-FD22-4741-BD29-B3AF4E27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BB83E31-8B75-4056-B267-E0FD6B0F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C10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0E52C0D3-C842-4D4D-A7AE-26A263DE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38BEE36-E833-4895-A87B-FD9E4AE3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8F6055D6-6B17-4E99-9B08-2CFE84DA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35581953-78B8-41B3-9976-14D6E02F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E9580B0C-683F-4FDF-BD8D-5D526453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equipo elige asistencia sobre pólizas y registro de siniestros.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AA9875D-6FD8-4FDE-82E9-C42F4D53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D3AF673-DBAA-4428-B754-08008E20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D8147-80D9-4099-8B8D-C54B7275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FE2B3C9-57A8-4908-A333-A139FE17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972E120-2CAD-4C2A-9A70-CB4FCC75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Delimitar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03337AFF-533C-4743-8F77-5A1B4A9E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Consultar póliza, revisar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condiciones y registrar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información.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E51D76F-3C6A-42DC-B782-89653D63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C8E21E0-4CD6-4CF9-BA34-52F05881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D22D7F-F70F-480F-87B3-06B772F4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6AB4A4A-1CEC-4731-A7E6-6B1BD91A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E0DDBF8-5801-46D1-90A9-BF04C1A4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Restringir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FB3D2693-C5C6-4697-9014-84D121D8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aprobar indemnizaciones por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decisión del agente.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B0B499F-3E69-4DA0-87BC-666ED85E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FC7D03F-FE93-4622-8946-591F076F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DF175F-C534-4BDA-AE2D-2DA4714C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F6987E1-1236-4D59-A487-85272FF8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03C2F90-C323-47BB-B087-22D5C531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Conectar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CA9554C3-3B1A-408A-82DD-B171C416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prompts, tools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documentos del track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seguros.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A340D07F-BB31-48A0-B564-357CB73F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61A195E2-9879-4F75-9C19-65244C22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42B4450F-1CF2-42F0-A892-11E30D27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track cambia el dominio; no reemplaza el método del curso.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BFE6EDFA-3560-4D8F-9ECD-B8DEAF47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40491F62-B7AE-41A0-8843-71E0E518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Elegir industria significa concretar datos, tareas y límites.</a:t>
            </a:r>
          </a:p>
        </p:txBody>
      </p:sp>
    </p:spTree>
    <p:extLst>
      <p:ext uri="{BB962C8B-B14F-4D97-AF65-F5344CB8AC3E}">
        <p14:creationId xmlns:p14="http://schemas.microsoft.com/office/powerpoint/2010/main" val="207387374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90FD32FA-39D6-4BE5-911E-0986ADB2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555D2-C570-44F1-9B55-4D7DE72A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E79CA7E-677B-4748-AE1A-C66EEFA6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984AB985-09DF-429D-A7BF-9377B944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11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B15207-A56E-45CE-AE2B-6A8EEBD5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Alcance de S1 y evolución posterior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3951276-94AD-4D3F-909E-DA8CD651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Ubicar las capacidades que se construirán después sin adelantarlas como terminadas.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70568B1-DFC6-42DE-80D7-5EC615A3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DD02E4D-883C-4486-8CDA-4B4A38D1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F4B9962-67BD-4802-8E8C-9FD135EB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4FBDED0-5000-432C-BF81-0C88BAA3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625817E-671D-47DA-892F-A94FB2DB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199E979-3E3E-4349-9AFA-A5322A9C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98BCC43-44C3-42BF-8F23-883C76F9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C11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07369198-12BB-42F7-B5C1-FF51ECBD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1DA2C7F-65E4-47F5-905D-1D74CB3A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EBB0DDF-D538-4EA5-899D-E47E3709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329C22A-670B-474D-B46F-D0963A44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9359B-F2C3-4304-8CF9-C2B71F66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B53713C-C478-420A-B776-95118736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3E3DC4B-5FD1-4EA0-8208-E4BCF2C2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Ahora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8D38BE78-5FC6-49F9-8718-27045313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Fundamentos, proveedor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primer script.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9E0237E-12A1-4D37-B110-B00884A7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70E9F84-649B-4EFD-9260-A887F51C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7C32F1-AD30-4E0F-A676-2F1095E7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88305AA-674C-4326-AE98-89537428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6A78AD7-B3BA-4AA8-863A-FB00319F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S2–S5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04DCFE8C-4C6C-4559-AB4F-4BF36171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Contratos, tools, selección,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memoria y RAG.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8E1A5DA-7D90-46F2-AB40-79315C97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C9C81A1-7992-4A37-8DDD-F93DE121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A5A998-2171-425B-9A16-7843BFE0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020ABAC-3AC4-4922-8A7E-969B11F3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F5AE187-ECB7-4FF9-B0A6-9060B5DF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S6 en adelante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31E9251A-505B-46F7-8F14-44205781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Guardrails, pruebas,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operación y evidencia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calidad.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1D3239C8-97FF-41AF-9DA2-B5E4D576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6697805-1D84-48D6-988A-49A9EF40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4436A8E8-AA2A-4AFF-8B84-E61CF94D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¿Dónde se implementa el aislamiento de conversaciones?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5A17EA8-C629-4557-9964-C1054940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497C4998-002C-44FA-A4CA-47774131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D667F484-9645-40A5-8E10-FF4C2869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 memoria duradera o despliegue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como si ya existieran.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700AE99A-E011-474B-B22C-EB148988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AB9227C2-4BB4-4BE1-ABEB-C5920EA1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Distingue siempre arquitectura objetivo y checkpoint implementado.</a:t>
            </a:r>
          </a:p>
        </p:txBody>
      </p:sp>
    </p:spTree>
    <p:extLst>
      <p:ext uri="{BB962C8B-B14F-4D97-AF65-F5344CB8AC3E}">
        <p14:creationId xmlns:p14="http://schemas.microsoft.com/office/powerpoint/2010/main" val="167752205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241B3D50-CACF-4F17-9E1E-0AF76C6D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5A9D0-F074-4975-9489-9C39D0B5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ECA6CEE-6A64-44F2-B146-A58A9F73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5EB7C64-BDA5-4FDC-9780-0A59C3D9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11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9CA676-4F88-4A66-AE0D-1E71EB18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Cómo leer la arquitectura futura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8939B88-C3E1-4CCD-BA9E-AE70251A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Ubicar las capacidades que se construirán después sin adelantarlas como terminadas.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ED41F3B-84DE-493B-9CCB-E74A3F30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95C1A3E-2501-47D7-84B5-29F9859F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585BE88-3370-4C58-B953-091A912F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A1D6738-B99F-462F-A55B-84FDC81B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1D81E8EA-9986-4D3D-8A05-0BF71E68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F51F7BA-C78E-455E-A516-C54A8D5B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EA5EAA6-A159-4C6A-B50D-9F5BB29A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C11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A274D6AE-925F-40F0-AA82-F8662365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5E2F20A-BA04-4B7C-9B05-F1E5FC88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Reconocer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Identificar el nombre y propósito de cada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componente.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Posponer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depender de una capacidad todavía no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implementada.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Verificar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 cada laboratorio, demostrar la nueva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responsabilidad.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D43E25BF-3030-47C6-9B43-2F502282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002D4575-E1DF-4678-BCE0-2E9C9C99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21706EC2-3E5B-45D2-BD18-9146C202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 memoria duradera 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despliegue como si ya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existieran.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67592D8C-AF73-41EA-8827-0DED639F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CDC8C8A8-9FB9-4DC9-81D8-EFC94793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7778A96E-7283-4369-A272-0025AE81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0A221ABE-A893-4E75-B5E1-D0FF5253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¿Dónde se implementa el aislamiento de conversaciones?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701F4050-4D28-4D07-BFB7-0BF2DDA9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619DD452-4272-43FC-881C-7AB449BA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Distingue siempre arquitectura objetivo y checkpoint implementado.</a:t>
            </a:r>
          </a:p>
        </p:txBody>
      </p:sp>
    </p:spTree>
    <p:extLst>
      <p:ext uri="{BB962C8B-B14F-4D97-AF65-F5344CB8AC3E}">
        <p14:creationId xmlns:p14="http://schemas.microsoft.com/office/powerpoint/2010/main" val="137577077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618B5666-FCA0-4E0C-B246-C98A1AF1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6FA1F-EBF3-439E-B412-E7AF257E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4661620-CDAA-4579-99A6-DB3CB1C2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F522FE0-3CF5-4D32-BC31-6A4B197B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11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ECFFD9-3D89-423A-B7B7-169B6273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Alcance de S1 y evolución posterior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9CBAF27-DFF5-4500-A1F0-77B15B8A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Ubicar las capacidades que se construirán después sin adelantarlas como terminadas.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9C0DE6E-CEB0-45C4-8815-40DC3A34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C1B7276-A7D5-43AB-A9EB-3EB9394D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E33BE4A-142C-4BCB-8BF8-4877E6DE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F77A837-57CC-4A6B-9ED2-BF16AB9F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4BE3F00-7075-4B9B-8F7B-258E270A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42DB0E7-7498-4FC8-BEAC-36B70B3A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C816B7A-612D-4102-935C-78C75916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C11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6531040-411D-4060-BE14-853531EB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12EB33A-5B65-484B-925E-9DD26C30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36A40E3E-CCB3-4727-BE68-1BDE0500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2BE144F0-3836-46D2-AC7E-ECD2A8F7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86FB4037-02C6-4572-B469-39F9AA4E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equipo quiere que su primer script recuerde todos los pedidos.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D4D7760-A1B1-4D42-A5A9-9AD518A4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538D571-F2F1-4450-BA8A-39529229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02668-8C5C-4AB9-8E24-D40E7C2D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0DB890F-667E-4888-A210-205A37AB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C5A7EA3-C4D4-442A-86ED-48BBDF1A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Ubicar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216E7825-7F2A-4E69-BAA8-71DD0C60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L1 no incluye el estado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conversacional de L5.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116DE19-B549-43C7-B06E-C68700FF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EE3DF2B-04B4-4C8F-9BD2-935B7B2B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D5B26F-FAE4-4B29-B977-BEC3CF65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B0D810E-E124-4DCB-B6E8-311EA996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AD1D786-4F3A-4A6A-87D2-96D5BFD4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DC8287A3-0107-412E-AAC3-81D9C660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historial y el sistema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pedidos cumplen funciones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distintas.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1CFD29C-A8D6-4E2E-AF4C-3185CEFF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24C10A6-CEF6-43E8-AED6-6B0A5559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EF2F4A-DB5F-424C-BD06-A20D83BC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A21528A-FC50-4AA2-B54D-260DCA9B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BDB724D-9C2A-467A-A943-2E2718D1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Planificar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E5CC504C-0E16-43ED-927C-B1DC3A94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Esperar la implementación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prueba de cada pieza.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74F556F-00E6-4419-9142-BC17011E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E6A33F48-5718-42C5-AB3C-A4E84D28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ED82DE04-D8BC-4FE6-980C-17F78306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mapa del curso orienta; no certifica capacidades del código actual.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01DB6259-E8A2-4B51-B04E-16E3D74C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7962658C-9FA8-4778-B034-A6CA8413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Distingue siempre arquitectura objetivo y checkpoint implementado.</a:t>
            </a:r>
          </a:p>
        </p:txBody>
      </p:sp>
    </p:spTree>
    <p:extLst>
      <p:ext uri="{BB962C8B-B14F-4D97-AF65-F5344CB8AC3E}">
        <p14:creationId xmlns:p14="http://schemas.microsoft.com/office/powerpoint/2010/main" val="40901973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0A2B65D6-F281-4E92-9D29-1557AE52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623C3-32F9-44B5-B484-124AF6D4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A995DC8-93CA-4F85-BEB7-225EBC91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D6F5442A-7587-483A-9F00-8A873863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12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25FC22-AF2D-4880-9F17-22215412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Siguiente paso: del texto al contrato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7F78986-545E-41EB-92EF-40E81E8B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Preparar la transición hacia prompts claros y salida validada.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1B4CF72-B2AC-4D00-B7A1-33D0BC98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68AE0D2-BA1A-4589-82AC-D9A2DB1B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0899750-D07F-4D6B-800A-BAE6FA0D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7CA5742-731C-4DCA-954E-EE3BC268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D510378-0DD5-43EE-A7B2-8C653EE5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3274DB7-7A90-425D-9396-DBF8B943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F4A5985-0A73-4395-8E51-26BFFFDB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C12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6532E82-2E37-4CB1-B879-8B3A68AE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A830EA2-726E-40C6-820C-B0B426E7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1DB1AF5-834C-4547-89BC-C2CD10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6E4D337-C93C-4C76-9742-D579D5CC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763FE-9A6D-4397-B4E0-F16416D3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D1D0AC7-8235-4CBB-8638-C2B99F71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B078BBC-BC4B-4BF2-96CC-5C3ACD01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Base S1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E7C55C45-A53A-49AB-8B70-726BE974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modelo ya recibe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devuelve mensajes.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B8917BC-2590-45DB-A7AD-1E743883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4A7355E-7C9B-478E-8673-6DBB6A0F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947C3B-FD4C-437A-9F71-5B1D1B7B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6D9641D-FAD8-426F-BA7F-BB0E7FD6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AB5470C-2D05-4392-BE71-03F41170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Problema siguiente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7382F905-8E0C-481C-B765-E6327BCC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aplicación necesita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categorías y campos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predecibles.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8FC7AEF-FF41-44F2-BA18-4C38628B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0B0DD17-8F96-49C2-95D2-327B498C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69FB09-658C-47D4-AEF3-83F19653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3B29021-1128-4244-9B26-357509AD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1A52BC5-78B7-4D8E-8087-10C9B7A8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S2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7869F94E-8EC5-4244-B989-B21E8385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Prompts, ejemplos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Pydantic convierten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resultado en un contrato.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843D00F8-08D2-407C-984C-72E652E3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E0B1298-754D-4566-A865-549581E8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5C13F223-A623-4B48-99AC-1F73C1F9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harías con una categoría que tu aplicación no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DBC317D2-7A45-4B38-A994-85FE9FBD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BAC7D77D-93B5-4CE9-AA94-49FE827F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BFBB39DE-93E4-4624-9247-63CC5BFB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exigir JSON con garantizar un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objeto válido.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C75DCCA3-7AE6-4CC4-9F89-59481EB4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EE713EF0-809A-43F7-8E71-38A6B2C7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próximo paso añade contrato, no confianza ciega en el texto.</a:t>
            </a:r>
          </a:p>
        </p:txBody>
      </p:sp>
    </p:spTree>
    <p:extLst>
      <p:ext uri="{BB962C8B-B14F-4D97-AF65-F5344CB8AC3E}">
        <p14:creationId xmlns:p14="http://schemas.microsoft.com/office/powerpoint/2010/main" val="57361940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F6B0388C-BEEF-4E5E-9456-51AA9D94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109D1-DE2C-43BF-A450-F6AF8D7C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B812A59-48BA-4DD2-B45A-DA4E56B6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D44DAE64-A40B-41CA-9AFE-5DD9CDEE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12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26E670-D7E8-4467-875F-1611A613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Preparar una consulta para S2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CB2B741-F7A3-427E-A991-CD957FA3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Preparar la transición hacia prompts claros y salida validada.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41388EA-D1E6-48F5-A861-D40BFE74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32E3C15-4A72-4322-B86E-8D89C1EE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7999657-4AD2-4D46-96AA-A0DB32C8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4F0386E-806C-4764-B59C-3AC92B92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F2F7F5EA-2988-405D-9386-A2D41E37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7B64D2A-0C17-4B94-89FE-C59DA057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78E4240-9AD9-442F-9632-82E011FC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C12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921DC236-2EC5-4232-8E4F-1A8C368F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368FA14-0E35-46A3-933C-3B9B0BC0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Elegir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Tomar una consulta concreta del track.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Definir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Nombrar qué campos necesita la aplicación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consumidora.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Anticipar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Pensar qué ocurrirá si el modelo omite o inventa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 campo.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A8335174-8FAC-4D50-87E3-D8D9AB5D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05408C27-9F22-4D45-AE49-3DCD65B0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6FFB821E-C7B2-4B72-B95A-E2D2DC90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exigir JSON con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garantizar un objeto válido.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CB21085B-9002-469F-ABDC-41E8D938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6BDCF887-65B7-4FD4-8F61-0B07BE2F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238A7E42-0B3A-4350-A26D-B6D07669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93EA90A4-F750-48AD-BB80-C56EE49A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harías con una categoría que tu aplicación no reconoce?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AD0DABC6-D15E-4A51-A6AB-862F8F88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6F51C30C-E332-4655-9E37-ABCFE557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próximo paso añade contrato, no confianza ciega en el texto.</a:t>
            </a:r>
          </a:p>
        </p:txBody>
      </p:sp>
    </p:spTree>
    <p:extLst>
      <p:ext uri="{BB962C8B-B14F-4D97-AF65-F5344CB8AC3E}">
        <p14:creationId xmlns:p14="http://schemas.microsoft.com/office/powerpoint/2010/main" val="46037766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45403753-2CE2-4F83-8B61-653FF2D8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7EDA2-4D73-4921-BA0F-0FF04052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F90D1E1-1D5E-4D8B-B01E-ED743D54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5F651C4-38EF-4DE1-BCFE-53311CD2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01 · Fundamentos de los agentes inteligentes / CAPÍTULO 12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9642D0-9452-4AE6-957D-1251D02B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Siguiente paso: del texto al contrato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EEB908F-C645-43BE-A6D5-A6CCCC25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Preparar la transición hacia prompts claros y salida validada.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F7CDBC9-5EB3-4BC9-A030-8B94B34D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7455B1A-B56D-4D09-B35C-FF09A87E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3B873E8-9D46-4D2C-911B-ECE7504E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16B4E6D-141C-4B4E-9769-40EF4D7F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1C39F3CE-7726-489A-A708-1D38EF75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769BF75-21C5-48F2-A7A7-494A692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E5044B9-42E3-4E97-B054-9CE3F341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01 / C12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06491FD-5082-409E-96A5-FA5F6230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57278F1-6913-4DB1-88F5-19B6B839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FCD564A5-0312-4ADB-957B-8D82E33C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D75E3C90-D92C-4C29-A150-3C71D2AB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28C64AF1-B125-49A0-864F-D4DF04DD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consulta sobre una comisión debe clasificarse antes de actuar.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52BE797-58DB-4CE3-9FB3-B6D2887F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E30744B-0A35-4CFA-8DDD-F6692C3A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EADAD3-E6CF-49E8-9A0E-50FE2D9F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AA38B80-B6CF-45AC-BF6F-316F2293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1D8CC59-74AA-470B-894A-994F2A5C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F549F18E-C873-4400-952D-E5191D15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usuario pregunta por un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cobro.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FAE06BB-EE07-4178-8AAF-0E849C4C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FC36F46-40DA-40BC-B8EF-24DB584C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574918-AE9C-412A-B6B3-FBB31BC8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00F824D-E8AE-436B-9C79-6ECD467E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F4518E1-3658-4343-9405-84D184E4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Contrato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58A97C3F-A3ED-448E-B04E-1EEBF52B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clasificador devolverá una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categoría permitida.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F358B24-D6F4-4983-BDAD-227C6016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F6AFDF8-92A5-4720-9ED9-305B74DA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B3CED8-A6D7-4527-B304-580806FD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6747F56-CBE0-4680-BB72-FAA619D0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B285EC1-5415-443E-AED0-A6502CE3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Validación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AAE48DF3-7AEE-44C7-8E4E-7898FC2E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aplicación comprobará que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pertenece a la taxonomía.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1B668044-2D7A-4982-B51B-4B899154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583D583F-9E56-47BC-BA88-3D68E3B5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31204B60-3849-4439-A704-8590A8B8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respuesta se prepara para que otro componente pueda usarla.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56B0ECF5-E97D-4639-A7A2-16B6D002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E6990617-F12A-414C-A8EE-4F1B839A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próximo paso añade contrato, no confianza ciega en el texto.</a:t>
            </a:r>
          </a:p>
        </p:txBody>
      </p:sp>
    </p:spTree>
    <p:extLst>
      <p:ext uri="{BB962C8B-B14F-4D97-AF65-F5344CB8AC3E}">
        <p14:creationId xmlns:p14="http://schemas.microsoft.com/office/powerpoint/2010/main" val="638841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2026-09-23T04:08:05.1110000Z</dcterms:created>
  <dcterms:modified xsi:type="dcterms:W3CDTF">2026-09-23T04:08:05.1110000Z</dcterms:modified>
</coreProperties>
</file>