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922981dba4883" /><Relationship Type="http://schemas.openxmlformats.org/officeDocument/2006/relationships/extended-properties" Target="/docProps/app.xml" Id="R161b3c00d7404e68" /><Relationship Type="http://schemas.openxmlformats.org/officeDocument/2006/relationships/officeDocument" Target="/ppt/presentation.xml" Id="R1fa3749b054b47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66dad62f51460e"/>
  </p:sldMasterIdLst>
  <p:notesMasterIdLst>
    <p:notesMasterId xmlns:r="http://schemas.openxmlformats.org/officeDocument/2006/relationships" r:id="R53ea83f135224e17"/>
  </p:notesMasterIdLst>
  <p:sldIdLst>
    <p:sldId xmlns:r="http://schemas.openxmlformats.org/officeDocument/2006/relationships" id="256" r:id="Rb3aa21cef33846a8"/>
    <p:sldId xmlns:r="http://schemas.openxmlformats.org/officeDocument/2006/relationships" id="257" r:id="Rcd2126875cf44b6d"/>
    <p:sldId xmlns:r="http://schemas.openxmlformats.org/officeDocument/2006/relationships" id="258" r:id="R9f333d7ad37049a2"/>
    <p:sldId xmlns:r="http://schemas.openxmlformats.org/officeDocument/2006/relationships" id="259" r:id="Rdcc75fc01ab0442d"/>
    <p:sldId xmlns:r="http://schemas.openxmlformats.org/officeDocument/2006/relationships" id="260" r:id="R9080aee682504ac1"/>
    <p:sldId xmlns:r="http://schemas.openxmlformats.org/officeDocument/2006/relationships" id="261" r:id="Re6e6acee687449f3"/>
    <p:sldId xmlns:r="http://schemas.openxmlformats.org/officeDocument/2006/relationships" id="262" r:id="R0dd672c6c2384b7f"/>
    <p:sldId xmlns:r="http://schemas.openxmlformats.org/officeDocument/2006/relationships" id="263" r:id="R017eb9cd4ceb46ea"/>
    <p:sldId xmlns:r="http://schemas.openxmlformats.org/officeDocument/2006/relationships" id="264" r:id="R6d069852ee384b34"/>
    <p:sldId xmlns:r="http://schemas.openxmlformats.org/officeDocument/2006/relationships" id="265" r:id="R1a6d47a8a97c42c6"/>
    <p:sldId xmlns:r="http://schemas.openxmlformats.org/officeDocument/2006/relationships" id="266" r:id="Rd6dc41e914584203"/>
    <p:sldId xmlns:r="http://schemas.openxmlformats.org/officeDocument/2006/relationships" id="267" r:id="Rc6896376fca74c51"/>
    <p:sldId xmlns:r="http://schemas.openxmlformats.org/officeDocument/2006/relationships" id="268" r:id="Rf3ba4ccdaa774a0c"/>
    <p:sldId xmlns:r="http://schemas.openxmlformats.org/officeDocument/2006/relationships" id="269" r:id="Rac63ae604b774171"/>
    <p:sldId xmlns:r="http://schemas.openxmlformats.org/officeDocument/2006/relationships" id="270" r:id="R770cacc83f094596"/>
    <p:sldId xmlns:r="http://schemas.openxmlformats.org/officeDocument/2006/relationships" id="271" r:id="R46030a2c1e2c4475"/>
    <p:sldId xmlns:r="http://schemas.openxmlformats.org/officeDocument/2006/relationships" id="272" r:id="R5a4c1af9775d42ed"/>
    <p:sldId xmlns:r="http://schemas.openxmlformats.org/officeDocument/2006/relationships" id="273" r:id="R51eb7f5d9ed548f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63a3d3f754cc5" /><Relationship Type="http://schemas.openxmlformats.org/officeDocument/2006/relationships/slideMaster" Target="/ppt/slideMasters/slideMaster1.xml" Id="Re066dad62f51460e" /><Relationship Type="http://schemas.openxmlformats.org/officeDocument/2006/relationships/notesMaster" Target="/ppt/notesMasters/notesMaster1.xml" Id="R53ea83f135224e17" /><Relationship Type="http://schemas.openxmlformats.org/officeDocument/2006/relationships/presProps" Target="/ppt/presProps.xml" Id="R33e4de7efce24624" /><Relationship Type="http://schemas.openxmlformats.org/officeDocument/2006/relationships/tableStyles" Target="/ppt/tableStyles.xml" Id="Rbd538b5bf7954ad2" /><Relationship Type="http://schemas.openxmlformats.org/officeDocument/2006/relationships/slide" Target="/ppt/slides/slide1.xml" Id="Rb3aa21cef33846a8" /><Relationship Type="http://schemas.openxmlformats.org/officeDocument/2006/relationships/slide" Target="/ppt/slides/slide2.xml" Id="Rcd2126875cf44b6d" /><Relationship Type="http://schemas.openxmlformats.org/officeDocument/2006/relationships/slide" Target="/ppt/slides/slide3.xml" Id="R9f333d7ad37049a2" /><Relationship Type="http://schemas.openxmlformats.org/officeDocument/2006/relationships/slide" Target="/ppt/slides/slide4.xml" Id="Rdcc75fc01ab0442d" /><Relationship Type="http://schemas.openxmlformats.org/officeDocument/2006/relationships/slide" Target="/ppt/slides/slide5.xml" Id="R9080aee682504ac1" /><Relationship Type="http://schemas.openxmlformats.org/officeDocument/2006/relationships/slide" Target="/ppt/slides/slide6.xml" Id="Re6e6acee687449f3" /><Relationship Type="http://schemas.openxmlformats.org/officeDocument/2006/relationships/slide" Target="/ppt/slides/slide7.xml" Id="R0dd672c6c2384b7f" /><Relationship Type="http://schemas.openxmlformats.org/officeDocument/2006/relationships/slide" Target="/ppt/slides/slide8.xml" Id="R017eb9cd4ceb46ea" /><Relationship Type="http://schemas.openxmlformats.org/officeDocument/2006/relationships/slide" Target="/ppt/slides/slide9.xml" Id="R6d069852ee384b34" /><Relationship Type="http://schemas.openxmlformats.org/officeDocument/2006/relationships/slide" Target="/ppt/slides/slide10.xml" Id="R1a6d47a8a97c42c6" /><Relationship Type="http://schemas.openxmlformats.org/officeDocument/2006/relationships/slide" Target="/ppt/slides/slide11.xml" Id="Rd6dc41e914584203" /><Relationship Type="http://schemas.openxmlformats.org/officeDocument/2006/relationships/slide" Target="/ppt/slides/slide12.xml" Id="Rc6896376fca74c51" /><Relationship Type="http://schemas.openxmlformats.org/officeDocument/2006/relationships/slide" Target="/ppt/slides/slide13.xml" Id="Rf3ba4ccdaa774a0c" /><Relationship Type="http://schemas.openxmlformats.org/officeDocument/2006/relationships/slide" Target="/ppt/slides/slide14.xml" Id="Rac63ae604b774171" /><Relationship Type="http://schemas.openxmlformats.org/officeDocument/2006/relationships/slide" Target="/ppt/slides/slide15.xml" Id="R770cacc83f094596" /><Relationship Type="http://schemas.openxmlformats.org/officeDocument/2006/relationships/slide" Target="/ppt/slides/slide16.xml" Id="R46030a2c1e2c4475" /><Relationship Type="http://schemas.openxmlformats.org/officeDocument/2006/relationships/slide" Target="/ppt/slides/slide17.xml" Id="R5a4c1af9775d42ed" /><Relationship Type="http://schemas.openxmlformats.org/officeDocument/2006/relationships/slide" Target="/ppt/slides/slide18.xml" Id="R51eb7f5d9ed548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04c2e704c649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ecb1bf15b41f7" /><Relationship Type="http://schemas.openxmlformats.org/officeDocument/2006/relationships/notesMaster" Target="/ppt/notesMasters/notesMaster1.xml" Id="R3388845870944b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8b9c2a7a6d4e29" /><Relationship Type="http://schemas.openxmlformats.org/officeDocument/2006/relationships/notesMaster" Target="/ppt/notesMasters/notesMaster1.xml" Id="R1a69b2a1191b46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677010529147ad" /><Relationship Type="http://schemas.openxmlformats.org/officeDocument/2006/relationships/notesMaster" Target="/ppt/notesMasters/notesMaster1.xml" Id="Rc2dde24d26ea47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05098de4164ef7" /><Relationship Type="http://schemas.openxmlformats.org/officeDocument/2006/relationships/notesMaster" Target="/ppt/notesMasters/notesMaster1.xml" Id="R07bfa367464f4d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f4bf69999641d3" /><Relationship Type="http://schemas.openxmlformats.org/officeDocument/2006/relationships/notesMaster" Target="/ppt/notesMasters/notesMaster1.xml" Id="R8d5cab7b623d4c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1fcc98436e4f5c" /><Relationship Type="http://schemas.openxmlformats.org/officeDocument/2006/relationships/notesMaster" Target="/ppt/notesMasters/notesMaster1.xml" Id="Rb9e00a56bea043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6228aa562e46a7" /><Relationship Type="http://schemas.openxmlformats.org/officeDocument/2006/relationships/notesMaster" Target="/ppt/notesMasters/notesMaster1.xml" Id="R67158685538248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69bd18196b42ae" /><Relationship Type="http://schemas.openxmlformats.org/officeDocument/2006/relationships/notesMaster" Target="/ppt/notesMasters/notesMaster1.xml" Id="R5973cca8f2594f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d960fdb1c34c31" /><Relationship Type="http://schemas.openxmlformats.org/officeDocument/2006/relationships/notesMaster" Target="/ppt/notesMasters/notesMaster1.xml" Id="R7396845931f945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38277e666b4403" /><Relationship Type="http://schemas.openxmlformats.org/officeDocument/2006/relationships/notesMaster" Target="/ppt/notesMasters/notesMaster1.xml" Id="R0c76b98b8fef42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129a6494b646f4" /><Relationship Type="http://schemas.openxmlformats.org/officeDocument/2006/relationships/notesMaster" Target="/ppt/notesMasters/notesMaster1.xml" Id="Ra7e6849ea89b4d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fdad6dcdac4e1b" /><Relationship Type="http://schemas.openxmlformats.org/officeDocument/2006/relationships/notesMaster" Target="/ppt/notesMasters/notesMaster1.xml" Id="Rb1e81ebf54a042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b516dc9e0148ba" /><Relationship Type="http://schemas.openxmlformats.org/officeDocument/2006/relationships/notesMaster" Target="/ppt/notesMasters/notesMaster1.xml" Id="R24751b69116941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32ed2de05e42dd" /><Relationship Type="http://schemas.openxmlformats.org/officeDocument/2006/relationships/notesMaster" Target="/ppt/notesMasters/notesMaster1.xml" Id="R3cfc425b397d46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1424a6fc37415b" /><Relationship Type="http://schemas.openxmlformats.org/officeDocument/2006/relationships/notesMaster" Target="/ppt/notesMasters/notesMaster1.xml" Id="R40cbf9c647f845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c99faa31da4df8" /><Relationship Type="http://schemas.openxmlformats.org/officeDocument/2006/relationships/notesMaster" Target="/ppt/notesMasters/notesMaster1.xml" Id="Rbd13915e837747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310b5b796a4bf3" /><Relationship Type="http://schemas.openxmlformats.org/officeDocument/2006/relationships/notesMaster" Target="/ppt/notesMasters/notesMaster1.xml" Id="Rbb869295b26b4a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dbf0437f4d4ad8" /><Relationship Type="http://schemas.openxmlformats.org/officeDocument/2006/relationships/notesMaster" Target="/ppt/notesMasters/notesMaster1.xml" Id="Rb9b200100548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Escuchar decisiones de industria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Extraer criterio y consecuencia de un relato profesional.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Escuchar decisiones de industria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Escucha el motivo de la decisión, no solo el nombre del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dato faltaría para decidir si copiarías esa arquitectura?».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Decisión: Qué opción concreta eligió el equipo expositor.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Criterio: Qué necesidad justificó esa 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Consecuencia: Qué ganó, qué perdió y qué falló en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Escucha el motivo de la decisión, no solo el nombre del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Decisión; Criterio; Consecuencia.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Caso hipotético: un panelista elige RAG porque el tarifario cambia cada mes.</a:t>
            </a:r>
          </a:p>
          <a:p xmlns:a="http://schemas.openxmlformats.org/drawingml/2006/main">
            <a:r>
              <a:t>Extraer: La decisión es recuperar documentos en lugar de incorporar esos datos a pesos.</a:t>
            </a:r>
          </a:p>
          <a:p xmlns:a="http://schemas.openxmlformats.org/drawingml/2006/main">
            <a:r>
              <a:t>Criterio: Actualización frecuente y necesidad de fuente.</a:t>
            </a:r>
          </a:p>
          <a:p xmlns:a="http://schemas.openxmlformats.org/drawingml/2006/main">
            <a:r>
              <a:t>Contraste: Revisar si tu corpus y sus citas resuelven ese requisito.</a:t>
            </a:r>
          </a:p>
          <a:p xmlns:a="http://schemas.openxmlformats.org/drawingml/2006/main">
            <a:r>
              <a:t>Resultado: Este caso es una simulación didáctica, no una declaración de un invitado real.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dato faltaría para decidir si copiarías esa arquitectura?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Escucha el motivo de la decisión, no solo el nombre del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Inventar casos reales o atribuir ejemplos a panelistas no confirmados.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Separar señal y presentación comercial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Extraer criterio y consecuencia de un relato profesional.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Escuchar decisiones de industria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Escucha el motivo de la decisión, no solo el nombre del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Anotar: Decisiones, fallos, métricas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Preguntar: Por qué esa opción y bajo qué restricciones.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Contrastar: Qué se parece o difiere de tu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Inventar casos reales o atribuir ejemplos a panelistas no confirmados.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Anotar; Preguntar; Contrastar.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Caso hipotético: un panelista elige RAG porque el tarifario cambia cada mes.</a:t>
            </a:r>
          </a:p>
          <a:p xmlns:a="http://schemas.openxmlformats.org/drawingml/2006/main">
            <a:r>
              <a:t>Extraer: La decisión es recuperar documentos en lugar de incorporar esos datos a pesos.</a:t>
            </a:r>
          </a:p>
          <a:p xmlns:a="http://schemas.openxmlformats.org/drawingml/2006/main">
            <a:r>
              <a:t>Criterio: Actualización frecuente y necesidad de fuente.</a:t>
            </a:r>
          </a:p>
          <a:p xmlns:a="http://schemas.openxmlformats.org/drawingml/2006/main">
            <a:r>
              <a:t>Contraste: Revisar si tu corpus y sus citas resuelven ese requisito.</a:t>
            </a:r>
          </a:p>
          <a:p xmlns:a="http://schemas.openxmlformats.org/drawingml/2006/main">
            <a:r>
              <a:t>Resultado: Este caso es una simulación didáctica, no una declaración de un invitado real.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dato faltaría para decidir si copiarías esa arquitectura?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Escucha el motivo de la decisión, no solo el nombre del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Inventar casos reales o atribuir ejemplos a panelistas no confirmados.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AndesMóvil · Escuchar decisiones de industria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Extraer criterio y consecuencia de un relato profesional.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Escuchar decisiones de industria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Escucha el motivo de la decisión, no solo el nombre del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Caso hipotético: un panelista elige RAG porque el tarifario cambia cada mes.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Extraer: La decisión es recuperar documentos en lugar de incorporar esos datos a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Criterio: Actualización frecuente y necesidad de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Contraste: Revisar si tu corpus y sus citas resuelven ese requisito.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Este caso es una simulación didáctica, no una declaración de un invitado real.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Extraer; Criterio; Contraste.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Caso hipotético: un panelista elige RAG porque el tarifario cambia cada mes.</a:t>
            </a:r>
          </a:p>
          <a:p xmlns:a="http://schemas.openxmlformats.org/drawingml/2006/main">
            <a:r>
              <a:t>Extraer: La decisión es recuperar documentos en lugar de incorporar esos datos a pesos.</a:t>
            </a:r>
          </a:p>
          <a:p xmlns:a="http://schemas.openxmlformats.org/drawingml/2006/main">
            <a:r>
              <a:t>Criterio: Actualización frecuente y necesidad de fuente.</a:t>
            </a:r>
          </a:p>
          <a:p xmlns:a="http://schemas.openxmlformats.org/drawingml/2006/main">
            <a:r>
              <a:t>Contraste: Revisar si tu corpus y sus citas resuelven ese requisito.</a:t>
            </a:r>
          </a:p>
          <a:p xmlns:a="http://schemas.openxmlformats.org/drawingml/2006/main">
            <a:r>
              <a:t>Resultado: Este caso es una simulación didáctica, no una declaración de un invitado real.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dato faltaría para decidir si copiarías esa arquitectura?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Escucha el motivo de la decisión, no solo el nombre del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Inventar casos reales o atribuir ejemplos a panelistas no confirmados.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Tres mecanismos para un panel útil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Conectar preparación, preguntas y reflexión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estructura del aprendizaje la pone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«¿Cómo transformarías una pregunta de marca en una pregunta de decisión?».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Brief: Cuatro preguntas fijas orientan el aporte de los panelistas.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preparadas: Los equipos entregan sus preguntas 48 horas 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Contraste: Una plantilla transforma el panel en análisis de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estructura del aprendizaje la pone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Brief; Preguntas preparadas; Contraste.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quiere preguntar «¿qué modelo usan?».</a:t>
            </a:r>
          </a:p>
          <a:p xmlns:a="http://schemas.openxmlformats.org/drawingml/2006/main">
            <a:r>
              <a:t>Reformular: Preguntar qué criterio de calidad y costo determinó la elección.</a:t>
            </a:r>
          </a:p>
          <a:p xmlns:a="http://schemas.openxmlformats.org/drawingml/2006/main">
            <a:r>
              <a:t>Conectar: Compararlo con su evaluación v1/v2.</a:t>
            </a:r>
          </a:p>
          <a:p xmlns:a="http://schemas.openxmlformats.org/drawingml/2006/main">
            <a:r>
              <a:t>Registrar: Anotar la condición bajo la que elegirían otra opción.</a:t>
            </a:r>
          </a:p>
          <a:p xmlns:a="http://schemas.openxmlformats.org/drawingml/2006/main">
            <a:r>
              <a:t>Resultado: Una pregunta de criterio produce una respuesta que puede transferirse al proyecto.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¿Cómo transformarías una pregunta de marca en una pregunta de decisión?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estructura del aprendizaje la pone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conocer el stack de una empresa con comprender su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Escuchar decisiones de industria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Evitar resultados superficiales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Conectar preparación, preguntas y reflexión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estructura del aprendizaje la pone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Antes: Preparar preguntas ligadas a decisiones propias.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Durante: Buscar evidencia y pedir el criterio que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Después: Escribir qué decisión mantendrías o cambiarías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conocer el stack de una empresa con comprender su arquitectura.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Antes; Durante; Después.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quiere preguntar «¿qué modelo usan?».</a:t>
            </a:r>
          </a:p>
          <a:p xmlns:a="http://schemas.openxmlformats.org/drawingml/2006/main">
            <a:r>
              <a:t>Reformular: Preguntar qué criterio de calidad y costo determinó la elección.</a:t>
            </a:r>
          </a:p>
          <a:p xmlns:a="http://schemas.openxmlformats.org/drawingml/2006/main">
            <a:r>
              <a:t>Conectar: Compararlo con su evaluación v1/v2.</a:t>
            </a:r>
          </a:p>
          <a:p xmlns:a="http://schemas.openxmlformats.org/drawingml/2006/main">
            <a:r>
              <a:t>Registrar: Anotar la condición bajo la que elegirían otra opción.</a:t>
            </a:r>
          </a:p>
          <a:p xmlns:a="http://schemas.openxmlformats.org/drawingml/2006/main">
            <a:r>
              <a:t>Resultado: Una pregunta de criterio produce una respuesta que puede transferirse al proyecto.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¿Cómo transformarías una pregunta de marca en una pregunta de decisión?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estructura del aprendizaje la pone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conocer el stack de una empresa con comprender su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Escuchar decisiones de industria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Banco Inti · Tres mecanismos para un panel útil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Conectar preparación, preguntas y reflexión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estructura del aprendizaje la pone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quiere preguntar «¿qué modelo usan?».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Reformular: Preguntar qué criterio de calidad y costo determinó la 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Conectar: Compararlo con su evaluación v1/v2.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Registrar: Anotar la condición bajo la que elegirían otra opción.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Una pregunta de criterio produce una respuesta que puede transferirse al proyecto.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Reformular; Conectar; Registrar.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quiere preguntar «¿qué modelo usan?».</a:t>
            </a:r>
          </a:p>
          <a:p xmlns:a="http://schemas.openxmlformats.org/drawingml/2006/main">
            <a:r>
              <a:t>Reformular: Preguntar qué criterio de calidad y costo determinó la elección.</a:t>
            </a:r>
          </a:p>
          <a:p xmlns:a="http://schemas.openxmlformats.org/drawingml/2006/main">
            <a:r>
              <a:t>Conectar: Compararlo con su evaluación v1/v2.</a:t>
            </a:r>
          </a:p>
          <a:p xmlns:a="http://schemas.openxmlformats.org/drawingml/2006/main">
            <a:r>
              <a:t>Registrar: Anotar la condición bajo la que elegirían otra opción.</a:t>
            </a:r>
          </a:p>
          <a:p xmlns:a="http://schemas.openxmlformats.org/drawingml/2006/main">
            <a:r>
              <a:t>Resultado: Una pregunta de criterio produce una respuesta que puede transferirse al proyecto.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¿Cómo transformarías una pregunta de marca en una pregunta de decisión?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estructura del aprendizaje la pone 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conocer el stack de una empresa con comprender su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Escuchar decisiones de industria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Guion del seminario en vivo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escuchar casos a exponer un cambio defendible en el propio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diseño es una hipótesis que puede revisarse con nueva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prueba pedirías antes de adoptar el cambio?».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Escucha: 30 minutos de preparación y panel de tres casos de 20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Preguntas: 45 minutos de preguntas curadas.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Contraste: 35 minutos para contrastar; cada equipo interviene 90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diseño es una hipótesis que puede revisarse con nueva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Escucha; Preguntas; Contraste.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Caso hipotético: un panel describe duplicación de solicitudes tras reintentos.</a:t>
            </a:r>
          </a:p>
          <a:p xmlns:a="http://schemas.openxmlformats.org/drawingml/2006/main">
            <a:r>
              <a:t>Relacionar: Tu devolución también usa una operación de escritura.</a:t>
            </a:r>
          </a:p>
          <a:p xmlns:a="http://schemas.openxmlformats.org/drawingml/2006/main">
            <a:r>
              <a:t>Revisar: La protección ante repetición no quedó demostrada.</a:t>
            </a:r>
          </a:p>
          <a:p xmlns:a="http://schemas.openxmlformats.org/drawingml/2006/main">
            <a:r>
              <a:t>Proponer: Añadir una prueba de timeout e idempotencia.</a:t>
            </a:r>
          </a:p>
          <a:p xmlns:a="http://schemas.openxmlformats.org/drawingml/2006/main">
            <a:r>
              <a:t>Resultado: El contraste exige una decisión concreta; una impresión general no alcanza.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pedirías antes de adoptar el cambio?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diseño es una hipótesis que puede revisarse con nueva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Copiar una solución ajena sin comprobar que comparte las mismas restricciones.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La intervención de 90 segundos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escuchar casos a exponer un cambio defendible en el propio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diseño es una hipótesis que puede revisarse con nueva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Decisión propia: Nombrar una elección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Aporte del panel: Identificar la evidencia que modificó tu juicio.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Cambio: Decir qué harías distinto y qué comprobarías.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Copiar una solución ajena sin comprobar que comparte las mismas restricciones.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Decisión propia; Aporte del panel; Cambio.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Caso hipotético: un panel describe duplicación de solicitudes tras reintentos.</a:t>
            </a:r>
          </a:p>
          <a:p xmlns:a="http://schemas.openxmlformats.org/drawingml/2006/main">
            <a:r>
              <a:t>Relacionar: Tu devolución también usa una operación de escritura.</a:t>
            </a:r>
          </a:p>
          <a:p xmlns:a="http://schemas.openxmlformats.org/drawingml/2006/main">
            <a:r>
              <a:t>Revisar: La protección ante repetición no quedó demostrada.</a:t>
            </a:r>
          </a:p>
          <a:p xmlns:a="http://schemas.openxmlformats.org/drawingml/2006/main">
            <a:r>
              <a:t>Proponer: Añadir una prueba de timeout e idempotencia.</a:t>
            </a:r>
          </a:p>
          <a:p xmlns:a="http://schemas.openxmlformats.org/drawingml/2006/main">
            <a:r>
              <a:t>Resultado: El contraste exige una decisión concreta; una impresión general no alcanza.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pedirías antes de adoptar el cambio?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diseño es una hipótesis que puede revisarse con nueva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Copiar una solución ajena sin comprobar que comparte las mismas restricciones.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MercaSur · Guion del seminario en vivo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escuchar casos a exponer un cambio defendible en el propio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diseño es una hipótesis que puede revisarse con nueva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Caso hipotético: un panel describe duplicación de solicitudes tras reintentos.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Relacionar: Tu devolución también usa una operación de escritura.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Revisar: La protección ante repetición no quedó demostrada.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Proponer: Añadir una prueba de timeout e idempotencia.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contraste exige una decisión concreta; una impresión general no alcanza.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Relacionar; Revisar; Proponer.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Caso hipotético: un panel describe duplicación de solicitudes tras reintentos.</a:t>
            </a:r>
          </a:p>
          <a:p xmlns:a="http://schemas.openxmlformats.org/drawingml/2006/main">
            <a:r>
              <a:t>Relacionar: Tu devolución también usa una operación de escritura.</a:t>
            </a:r>
          </a:p>
          <a:p xmlns:a="http://schemas.openxmlformats.org/drawingml/2006/main">
            <a:r>
              <a:t>Revisar: La protección ante repetición no quedó demostrada.</a:t>
            </a:r>
          </a:p>
          <a:p xmlns:a="http://schemas.openxmlformats.org/drawingml/2006/main">
            <a:r>
              <a:t>Proponer: Añadir una prueba de timeout e idempotencia.</a:t>
            </a:r>
          </a:p>
          <a:p xmlns:a="http://schemas.openxmlformats.org/drawingml/2006/main">
            <a:r>
              <a:t>Resultado: El contraste exige una decisión concreta; una impresión general no alcanza.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pedirías antes de adoptar el cambio?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diseño es una hipótesis que puede revisarse con nueva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Copiar una solución ajena sin comprobar que comparte las mismas restricciones.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Tres mecanismos para un panel útil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Preparar tres preguntas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§4 y preparacion.md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Redactar preguntas que comparen una decisión propia con un caso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buena pregunta hace visible qué quieres aprender para tu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respuesta te permitiría tomar una decisión después del panel?».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Punto de partida: Una elección real del proyecto del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Duda: Una consecuencia o modo de fallo que no está resuelto.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Pregunta: Solicitar criterio y evidencia al panelista.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Una buena pregunta hace visible qué quieres aprender para tu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Punto de partida; Duda; Pregunta.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recupera cláusulas con chunks de 600 y overlap de 100.</a:t>
            </a:r>
          </a:p>
          <a:p xmlns:a="http://schemas.openxmlformats.org/drawingml/2006/main">
            <a:r>
              <a:t>Contexto: Quiere conservar condiciones y exclusiones juntas.</a:t>
            </a:r>
          </a:p>
          <a:p xmlns:a="http://schemas.openxmlformats.org/drawingml/2006/main">
            <a:r>
              <a:t>Pregunta: ¿Cómo validaron que sus fragmentos preservan una cláusula completa?</a:t>
            </a:r>
          </a:p>
          <a:p xmlns:a="http://schemas.openxmlformats.org/drawingml/2006/main">
            <a:r>
              <a:t>Uso: Comparar el método de validación con sus propios casos.</a:t>
            </a:r>
          </a:p>
          <a:p xmlns:a="http://schemas.openxmlformats.org/drawingml/2006/main">
            <a:r>
              <a:t>Resultado: El ejemplo pregunta por evidencia; no exige que el panel use la misma herramienta.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respuesta te permitiría tomar una decisión después del panel?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buena pregunta hace visible qué quieres aprender para tu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Preparar una pregunta que solo admite el nombre de un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Comprobar calidad de la pregunta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§4 y preparacion.md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Redactar preguntas que comparen una decisión propia con un caso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buena pregunta hace visible qué quieres aprender para tu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Contexto: Explica brevemente la restricción de tu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Foco: Pregunta una decisión concreta y evita varias preguntas mezcladas.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Utilidad: La respuesta podría cambiar o reforzar una decisión propia.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Preparar una pregunta que solo admite el nombre de un producto.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Contexto; Foco; Utilidad.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recupera cláusulas con chunks de 600 y overlap de 100.</a:t>
            </a:r>
          </a:p>
          <a:p xmlns:a="http://schemas.openxmlformats.org/drawingml/2006/main">
            <a:r>
              <a:t>Contexto: Quiere conservar condiciones y exclusiones juntas.</a:t>
            </a:r>
          </a:p>
          <a:p xmlns:a="http://schemas.openxmlformats.org/drawingml/2006/main">
            <a:r>
              <a:t>Pregunta: ¿Cómo validaron que sus fragmentos preservan una cláusula completa?</a:t>
            </a:r>
          </a:p>
          <a:p xmlns:a="http://schemas.openxmlformats.org/drawingml/2006/main">
            <a:r>
              <a:t>Uso: Comparar el método de validación con sus propios casos.</a:t>
            </a:r>
          </a:p>
          <a:p xmlns:a="http://schemas.openxmlformats.org/drawingml/2006/main">
            <a:r>
              <a:t>Resultado: El ejemplo pregunta por evidencia; no exige que el panel use la misma herramienta.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respuesta te permitiría tomar una decisión después del panel?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buena pregunta hace visible qué quieres aprender para tu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Preparar una pregunta que solo admite el nombre de un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Andina Seguros · Preparar tres preguntas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§4 y preparacion.md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Redactar preguntas que comparen una decisión propia con un caso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Una buena pregunta hace visible qué quieres aprender para tu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recupera cláusulas con chunks de 600 y overlap de 100.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Contexto: Quiere conservar condiciones y exclusiones juntas.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Pregunta: ¿Cómo validaron que sus fragmentos preservan una cláusula completa?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Uso: Comparar el método de validación con sus propios casos.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ejemplo pregunta por evidencia; no exige que el panel use la misma herramienta.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Contexto; Pregunta; Uso.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equipo recupera cláusulas con chunks de 600 y overlap de 100.</a:t>
            </a:r>
          </a:p>
          <a:p xmlns:a="http://schemas.openxmlformats.org/drawingml/2006/main">
            <a:r>
              <a:t>Contexto: Quiere conservar condiciones y exclusiones juntas.</a:t>
            </a:r>
          </a:p>
          <a:p xmlns:a="http://schemas.openxmlformats.org/drawingml/2006/main">
            <a:r>
              <a:t>Pregunta: ¿Cómo validaron que sus fragmentos preservan una cláusula completa?</a:t>
            </a:r>
          </a:p>
          <a:p xmlns:a="http://schemas.openxmlformats.org/drawingml/2006/main">
            <a:r>
              <a:t>Uso: Comparar el método de validación con sus propios casos.</a:t>
            </a:r>
          </a:p>
          <a:p xmlns:a="http://schemas.openxmlformats.org/drawingml/2006/main">
            <a:r>
              <a:t>Resultado: El ejemplo pregunta por evidencia; no exige que el panel use la misma herramienta.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respuesta te permitiría tomar una decisión después del panel?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Una buena pregunta hace visible qué quieres aprender para tu diseño.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Preparar una pregunta que solo admite el nombre de un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Guion del seminario en vivo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Documento de contraste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§5 y plantilla-contraste.md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dos páginas de reflexión con coincidencias, diferencias y un fallo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valor del contraste está en reconocer cómo podría fallar tu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parte de tu diseño confirma la vulnerabilidad descrita?».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Tres casos y coincidencias: Resumir cada caso y tres decisiones compartidas.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Dos diferencias: Comparar decisiones y defender cuál usarías ante un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fallo: Identificar un problema de producción que tu agente también podría sufrir.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valor del contraste está en reconocer cómo podría fallar tu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Tres casos y coincidencias; Dos diferencias; Un fallo.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Caso hipotético: una empresa perdió contexto al reiniciar el servicio.</a:t>
            </a:r>
          </a:p>
          <a:p xmlns:a="http://schemas.openxmlformats.org/drawingml/2006/main">
            <a:r>
              <a:t>Vincular: Tu memory.py conserva historial en el proceso.</a:t>
            </a:r>
          </a:p>
          <a:p xmlns:a="http://schemas.openxmlformats.org/drawingml/2006/main">
            <a:r>
              <a:t>Anticipar: Un reinicio también borraría esas conversaciones.</a:t>
            </a:r>
          </a:p>
          <a:p xmlns:a="http://schemas.openxmlformats.org/drawingml/2006/main">
            <a:r>
              <a:t>Concluir: La continuidad duradera requiere una decisión adicional fuera del checkpoint.</a:t>
            </a:r>
          </a:p>
          <a:p xmlns:a="http://schemas.openxmlformats.org/drawingml/2006/main">
            <a:r>
              <a:t>Resultado: La reflexión usa un riesgo concreto del código, no una afirmación genérica.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 tu diseño confirma la vulnerabilidad descrita?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valor del contraste está en reconocer cómo podría fallar tu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diferencia de herramientas como si fuera una diferencia de requisitos.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Cierre formativo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Sostener cada conclusión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§5 y plantilla-contraste.md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dos páginas de reflexión con coincidencias, diferencias y un fallo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valor del contraste está en reconocer cómo podría fallar tu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Relato: Separar lo que dijo el panelista de tu interpretación.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Proyecto: Mostrar dónde aparece la misma condición en tu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Consecuencia: Explicar qué verificarías o cambiarías.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una diferencia de herramientas como si fuera una diferencia de requisitos.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Relato; Proyecto; Consecuencia.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Caso hipotético: una empresa perdió contexto al reiniciar el servicio.</a:t>
            </a:r>
          </a:p>
          <a:p xmlns:a="http://schemas.openxmlformats.org/drawingml/2006/main">
            <a:r>
              <a:t>Vincular: Tu memory.py conserva historial en el proceso.</a:t>
            </a:r>
          </a:p>
          <a:p xmlns:a="http://schemas.openxmlformats.org/drawingml/2006/main">
            <a:r>
              <a:t>Anticipar: Un reinicio también borraría esas conversaciones.</a:t>
            </a:r>
          </a:p>
          <a:p xmlns:a="http://schemas.openxmlformats.org/drawingml/2006/main">
            <a:r>
              <a:t>Concluir: La continuidad duradera requiere una decisión adicional fuera del checkpoint.</a:t>
            </a:r>
          </a:p>
          <a:p xmlns:a="http://schemas.openxmlformats.org/drawingml/2006/main">
            <a:r>
              <a:t>Resultado: La reflexión usa un riesgo concreto del código, no una afirmación genérica.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 tu diseño confirma la vulnerabilidad descrita?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valor del contraste está en reconocer cómo podría fallar tu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diferencia de herramientas como si fuera una diferencia de requisitos.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Cierre formativo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Banco Inti · Documento de contraste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§5 y plantilla-contraste.md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Organizar dos páginas de reflexión con coincidencias, diferencias y un fallo transferible.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valor del contraste está en reconocer cómo podría fallar tu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Caso hipotético: una empresa perdió contexto al reiniciar el servicio.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Vincular: Tu memory.py conserva historial en el proceso.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Anticipar: Un reinicio también borraría esas conversaciones.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Concluir: La continuidad duradera requiere una decisión adicional fuera del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reflexión usa un riesgo concreto del código, no una afirmación genérica.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Vincular; Anticipar; Concluir.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Caso hipotético: una empresa perdió contexto al reiniciar el servicio.</a:t>
            </a:r>
          </a:p>
          <a:p xmlns:a="http://schemas.openxmlformats.org/drawingml/2006/main">
            <a:r>
              <a:t>Vincular: Tu memory.py conserva historial en el proceso.</a:t>
            </a:r>
          </a:p>
          <a:p xmlns:a="http://schemas.openxmlformats.org/drawingml/2006/main">
            <a:r>
              <a:t>Anticipar: Un reinicio también borraría esas conversaciones.</a:t>
            </a:r>
          </a:p>
          <a:p xmlns:a="http://schemas.openxmlformats.org/drawingml/2006/main">
            <a:r>
              <a:t>Concluir: La continuidad duradera requiere una decisión adicional fuera del checkpoint.</a:t>
            </a:r>
          </a:p>
          <a:p xmlns:a="http://schemas.openxmlformats.org/drawingml/2006/main">
            <a:r>
              <a:t>Resultado: La reflexión usa un riesgo concreto del código, no una afirmación genérica.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parte de tu diseño confirma la vulnerabilidad descrita?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valor del contraste está en reconocer cómo podría fallar tu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diferencia de herramientas como si fuera una diferencia de requisitos.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Preparar tres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 · Sigue: Cierre formativo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Cierre formativo del curso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§6 y cronograma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Integrar lo aprendido sin añadir una nueva evaluación ponderada.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Cierre formativo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Cerrar el curso también significa saber qué falta por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mejora escogerías para una semana adicional y con qué evidencia?».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S11: Cierra la entrega y evaluación del Proyecto Integrador.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Seminario: Contrasta diseños con casos y reflexión formativa.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Bonus: Foundry es asíncrono, opcional y se acredita aparte.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Cerrar el curso también significa saber qué falta por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S11; Seminario; Bonus.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quiere mejorar continuidad después de reinicios.</a:t>
            </a:r>
          </a:p>
          <a:p xmlns:a="http://schemas.openxmlformats.org/drawingml/2006/main">
            <a:r>
              <a:t>Reconocer: El historial actual vive en memoria del proceso.</a:t>
            </a:r>
          </a:p>
          <a:p xmlns:a="http://schemas.openxmlformats.org/drawingml/2006/main">
            <a:r>
              <a:t>Proponer: Explorar persistencia y aislamiento adecuados al nuevo requisito.</a:t>
            </a:r>
          </a:p>
          <a:p xmlns:a="http://schemas.openxmlformats.org/drawingml/2006/main">
            <a:r>
              <a:t>Medir: Diseñar una prueba de reinicio antes de afirmar que lo resolvió.</a:t>
            </a:r>
          </a:p>
          <a:p xmlns:a="http://schemas.openxmlformats.org/drawingml/2006/main">
            <a:r>
              <a:t>Resultado: La propuesta futura se identifica como tal y no se añade retrospectivamente al checkpoint.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mejora escogerías para una semana adicional y con qué evidencia?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Cerrar el curso también significa saber qué falta por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seminario con el bonus de Foundry o con una nueva nota.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Elegir una mejora posterior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§6 y cronograma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Integrar lo aprendido sin añadir una nueva evaluación ponderada.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Cierre formativo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Cerrar el curso también significa saber qué falta por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Prioridad: Seleccionar el fallo o límite de mayor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Definir cómo sabrás que el cambio ayuda.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Alcance: Distinguir el checkpoint del curso de una evolución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el seminario con el bonus de Foundry o con una nueva nota.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Prioridad; Evidencia; Alcance.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quiere mejorar continuidad después de reinicios.</a:t>
            </a:r>
          </a:p>
          <a:p xmlns:a="http://schemas.openxmlformats.org/drawingml/2006/main">
            <a:r>
              <a:t>Reconocer: El historial actual vive en memoria del proceso.</a:t>
            </a:r>
          </a:p>
          <a:p xmlns:a="http://schemas.openxmlformats.org/drawingml/2006/main">
            <a:r>
              <a:t>Proponer: Explorar persistencia y aislamiento adecuados al nuevo requisito.</a:t>
            </a:r>
          </a:p>
          <a:p xmlns:a="http://schemas.openxmlformats.org/drawingml/2006/main">
            <a:r>
              <a:t>Medir: Diseñar una prueba de reinicio antes de afirmar que lo resolvió.</a:t>
            </a:r>
          </a:p>
          <a:p xmlns:a="http://schemas.openxmlformats.org/drawingml/2006/main">
            <a:r>
              <a:t>Resultado: La propuesta futura se identifica como tal y no se añade retrospectivamente al checkpoint.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mejora escogerías para una semana adicional y con qué evidencia?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Cerrar el curso también significa saber qué falta por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seminario con el bonus de Foundry o con una nueva nota.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AndesMóvil · Cierre formativo del curso</a:t>
            </a:r>
          </a:p>
          <a:p xmlns:a="http://schemas.openxmlformats.org/drawingml/2006/main">
            <a:r>
              <a:t>Sesión: Seminario internacional: casos y contraste</a:t>
            </a:r>
          </a:p>
          <a:p xmlns:a="http://schemas.openxmlformats.org/drawingml/2006/main">
            <a:r>
              <a:t>Archivo: 12-seminario-internacional-editable.pptx</a:t>
            </a:r>
          </a:p>
          <a:p xmlns:a="http://schemas.openxmlformats.org/drawingml/2006/main">
            <a:r>
              <a:t>Sección que soporta: §6 y cronograma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https://github.com/javierrosado/ariwalab-course-langchain/blob/27c24090f1662f9473b673d2020e7bffee04490b/modulo-3-produccion/seminario-internacional/README.md</a:t>
            </a:r>
          </a:p>
          <a:p xmlns:a="http://schemas.openxmlformats.org/drawingml/2006/main">
            <a:r>
              <a:t>Contexto adicional: laboratorios, demos y soluciones de modulo-3-produccion/seminario-internacional;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Integrar lo aprendido sin añadir una nueva evaluación ponderada.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Cierre formativo del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Cerrar el curso también significa saber qué falta por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quiere mejorar continuidad después de reinicios.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Reconocer: El historial actual vive en memoria del proceso.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Proponer: Explorar persistencia y aislamiento adecuados al nuevo requisito.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Medir: Diseñar una prueba de reinicio antes de afirmar que lo resolvió.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propuesta futura se identifica como tal y no se añade retrospectivamente al checkpoint.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Reconocer; Proponer; Medir.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equipo quiere mejorar continuidad después de reinicios.</a:t>
            </a:r>
          </a:p>
          <a:p xmlns:a="http://schemas.openxmlformats.org/drawingml/2006/main">
            <a:r>
              <a:t>Reconocer: El historial actual vive en memoria del proceso.</a:t>
            </a:r>
          </a:p>
          <a:p xmlns:a="http://schemas.openxmlformats.org/drawingml/2006/main">
            <a:r>
              <a:t>Proponer: Explorar persistencia y aislamiento adecuados al nuevo requisito.</a:t>
            </a:r>
          </a:p>
          <a:p xmlns:a="http://schemas.openxmlformats.org/drawingml/2006/main">
            <a:r>
              <a:t>Medir: Diseñar una prueba de reinicio antes de afirmar que lo resolvió.</a:t>
            </a:r>
          </a:p>
          <a:p xmlns:a="http://schemas.openxmlformats.org/drawingml/2006/main">
            <a:r>
              <a:t>Resultado: La propuesta futura se identifica como tal y no se añade retrospectivamente al checkpoint.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mejora escogerías para una semana adicional y con qué evidencia?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Cerrar el curso también significa saber qué falta por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seminario con el bonus de Foundry o con una nueva nota.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S11: argumentar el propio diseño · Capítulo previo: Documento de contraste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Revisión del proyecto y bonus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4c12229074a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8bd402af145e4" /><Relationship Type="http://schemas.openxmlformats.org/officeDocument/2006/relationships/slideLayout" Target="/ppt/slideLayouts/slideLayout1.xml" Id="Rd8527fca7faf44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27fca7faf44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14d0eb2074bdb" /><Relationship Type="http://schemas.openxmlformats.org/officeDocument/2006/relationships/notesSlide" Target="/ppt/notesSlides/notesSlide1.xml" Id="Rb34483d8bab849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2647d60a64f96" /><Relationship Type="http://schemas.openxmlformats.org/officeDocument/2006/relationships/notesSlide" Target="/ppt/notesSlides/notesSlide2.xml" Id="R4ed295132022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cc615ad2041f4" /><Relationship Type="http://schemas.openxmlformats.org/officeDocument/2006/relationships/notesSlide" Target="/ppt/notesSlides/notesSlide3.xml" Id="R28d560860f3e4d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ec71704724858" /><Relationship Type="http://schemas.openxmlformats.org/officeDocument/2006/relationships/notesSlide" Target="/ppt/notesSlides/notesSlide4.xml" Id="R23e311736d9a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71aa7ecf54f5c" /><Relationship Type="http://schemas.openxmlformats.org/officeDocument/2006/relationships/notesSlide" Target="/ppt/notesSlides/notesSlide5.xml" Id="R3f3cb076cf0d4d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a81adae994a90" /><Relationship Type="http://schemas.openxmlformats.org/officeDocument/2006/relationships/notesSlide" Target="/ppt/notesSlides/notesSlide6.xml" Id="Re2929aa37f7142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598da072e45f0" /><Relationship Type="http://schemas.openxmlformats.org/officeDocument/2006/relationships/notesSlide" Target="/ppt/notesSlides/notesSlide7.xml" Id="R20e618b8fe094c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6aa1c3539429c" /><Relationship Type="http://schemas.openxmlformats.org/officeDocument/2006/relationships/notesSlide" Target="/ppt/notesSlides/notesSlide8.xml" Id="Rab0baeecf09447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2aa2c151f47c1" /><Relationship Type="http://schemas.openxmlformats.org/officeDocument/2006/relationships/notesSlide" Target="/ppt/notesSlides/notesSlide9.xml" Id="Rd08980f8c4c14a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acafec311459c" /><Relationship Type="http://schemas.openxmlformats.org/officeDocument/2006/relationships/notesSlide" Target="/ppt/notesSlides/notesSlide10.xml" Id="Rf1cbf705353440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32cf6a66e4ddb" /><Relationship Type="http://schemas.openxmlformats.org/officeDocument/2006/relationships/notesSlide" Target="/ppt/notesSlides/notesSlide11.xml" Id="Rafaa4f61028740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b13fc62f942d3" /><Relationship Type="http://schemas.openxmlformats.org/officeDocument/2006/relationships/notesSlide" Target="/ppt/notesSlides/notesSlide12.xml" Id="Rd2f94655325342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6abf782d9423d" /><Relationship Type="http://schemas.openxmlformats.org/officeDocument/2006/relationships/notesSlide" Target="/ppt/notesSlides/notesSlide13.xml" Id="Rceb4587c459048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ace1d8e7e431b" /><Relationship Type="http://schemas.openxmlformats.org/officeDocument/2006/relationships/notesSlide" Target="/ppt/notesSlides/notesSlide14.xml" Id="Rd4a5636eb2b24d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850852f0e4f21" /><Relationship Type="http://schemas.openxmlformats.org/officeDocument/2006/relationships/notesSlide" Target="/ppt/notesSlides/notesSlide15.xml" Id="R853b29b8346846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940df61a442af" /><Relationship Type="http://schemas.openxmlformats.org/officeDocument/2006/relationships/notesSlide" Target="/ppt/notesSlides/notesSlide16.xml" Id="Ra4a09d872b1144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27719da3d49d9" /><Relationship Type="http://schemas.openxmlformats.org/officeDocument/2006/relationships/notesSlide" Target="/ppt/notesSlides/notesSlide17.xml" Id="R6ee07e99108042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1301bce3247d6" /><Relationship Type="http://schemas.openxmlformats.org/officeDocument/2006/relationships/notesSlide" Target="/ppt/notesSlides/notesSlide18.xml" Id="Rfdfaa9181a094d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E486486-99EC-4BC7-99B2-7719D04B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EAC41-FC4F-40C4-A100-8F7182C8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2FC1E8E-3A69-4AAD-A028-57A1E711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985FD74-CE39-4C31-8972-E31E3D30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E81E23-268A-4A1F-AFE6-EF3C28AD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Escuchar decisiones de industria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5D375D0-2C0C-449B-84CA-E6B02621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Extraer criterio y consecuencia de un relato profesional.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85CFF58-3E30-4422-B477-72CAE52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80EE0EB-4EBF-4052-86FD-874F189D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6B94400-97B7-4722-BA2B-C4856A41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607C20D-31F4-48DC-A3D7-1DAA8B0D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FBA8B67-F9F8-4C2F-89C1-59EC4F1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7268DBA-1651-41F3-8153-64E1F9E2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6266E88-7E25-472C-8034-6AB50695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BA80863-2271-4105-A6F2-481872FA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9616646-D5F2-4C01-935E-8BEA3FD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75D9E9B-FC20-48DF-87A7-5E1C18B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8CA5A64-AA65-4771-9109-01EC1B54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D5107-EB80-4CD7-861D-574D186F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BC4CEA8-F93E-49A2-A2A1-5563EE17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F2F1EBE-B675-45D5-81A1-C3F92897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Decisión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8DD71C4-0675-4F95-A1A1-D8A4DAE7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opción concreta eligió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equipo expositor.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CCA8B3A-B64A-454F-AADA-4FF905B6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E6C350B-D2D4-41C2-8C9F-BCCD6CC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8C9BE-7A42-4A24-9EF2-0B883C2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9435ABF-6EE4-4A92-BB52-DC5C5037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D165A42-C5CB-4F9B-AA62-AAE9386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Criterio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4B1DF88B-6B1C-4057-BA4A-83B31A72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necesidad justificó esa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elección.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66223C2-F25B-4E6C-8AD4-251CFFC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0F1E7E2-AF8D-4E46-9214-63ED614B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F3324-7012-4D60-BB46-4E2631F0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FCDA74D-BA62-49D4-BBE3-4B2575DA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645C0F8-5917-4A4D-BE30-4815005C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Consecuencia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7A484EEA-C943-4B6D-BCAC-FEC3216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Qué ganó, qué perdió y qué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falló en operación.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73E81A1E-F644-4A21-989B-5F03748F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83987E2-FEC5-4616-9DC4-1391E7A1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42FB97A5-9A16-40E7-B7A7-4A1F14A0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dato faltaría para decidir si copiarías esa arquitectura?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5691BE5-513C-410A-85EE-688CEE2E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E57863E-9411-4DB0-9099-13E335AE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8847759-88EE-4120-84CD-2856F923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Inventar casos reales o atribuir ejemplos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 panelistas no confirmados.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E17393C1-51B7-4C63-B89E-5743BFF0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18B10D05-77A5-43DC-AF4F-54AEA60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Escucha el motivo de la decisión, no solo el nombre del producto.</a:t>
            </a:r>
          </a:p>
        </p:txBody>
      </p:sp>
    </p:spTree>
    <p:extLst>
      <p:ext uri="{BB962C8B-B14F-4D97-AF65-F5344CB8AC3E}">
        <p14:creationId xmlns:p14="http://schemas.microsoft.com/office/powerpoint/2010/main" val="8872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9A5D9AC-886A-424A-B64B-5F9918D0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2A054-B96D-415D-A3CE-D36E1262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63008B1-7A38-4174-8449-29CA6918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33A5B69-00C0-4EBE-836A-D0455D51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5B8674-CA0D-4DC7-B0AF-6E64989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Separar señal y presentación comercial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D36D600-2EFB-47F5-8CAE-4684F050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Extraer criterio y consecuencia de un relato profesional.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262FF7B-44C5-4877-8B3D-EC7800D8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3404452-2EE3-46E4-8D15-24727198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DB0BF5C-4D85-4A25-BE77-46871F76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E7CCCB0-EFA4-453C-80B9-4EADED21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A346F95-A4A3-4ED8-978A-75565E45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6CF7957-568C-441A-AA4C-76422D2C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13E9014-A42D-4BA2-A2E8-9CF93CB2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6FAD9FA-1947-46A5-82F5-78B10FC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52CF527-44AB-4134-AAAB-483192ED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Anotar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Decisiones, fallos, métricas y límites.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Preguntar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 qué esa opción y bajo qué restricciones.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Contrastar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se parece o difiere de tu proyecto.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0329F936-5639-4D55-9B5C-E38944E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B15C683-5896-424E-9E11-059F5249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17EA5AA-6DD6-4F55-ADD8-46958C2E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Inventar casos reales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atribuir ejemplos a panelistas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confirmados.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59645D14-A0BC-447F-930B-0CB9666A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A279FB5-A206-4F48-8F56-9B9D8C8F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F8314CB-9521-4EAC-838A-34BC9DDD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A17A6712-6091-45DB-A00E-406E2D31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dato faltaría para decidir si copiarías esa arquitectura?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015BC568-8CCF-4691-AF76-CF86C303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F0D7EF83-044A-43EC-9CC4-8021290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Escucha el motivo de la decisión, no solo el nombre del producto.</a:t>
            </a:r>
          </a:p>
        </p:txBody>
      </p:sp>
    </p:spTree>
    <p:extLst>
      <p:ext uri="{BB962C8B-B14F-4D97-AF65-F5344CB8AC3E}">
        <p14:creationId xmlns:p14="http://schemas.microsoft.com/office/powerpoint/2010/main" val="502093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A1A347F-F15C-42B9-B9E7-D44DFCD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47320-6D92-4BDA-8574-46140D15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3FD4A2C-3880-4E51-8B50-D4E5887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6534835-7AFA-479C-94E2-1EA2FD5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A9D868-2D97-415A-9598-43E74153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Escuchar decisiones de industria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89132E1C-726A-4D96-AA8F-71683087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Extraer criterio y consecuencia de un relato profesional.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ADB7EBC-E9EB-4273-842E-B2DC8089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7211709-2B6C-4283-96FD-DFD711D9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F9ACF54-3CC5-486F-B302-A1273D62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6637582-F748-4C53-BAE1-489B18E2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03B5F8D-2D69-4D88-B3CA-F2DE8207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CBEE0C4-6D41-4C64-80FF-466850C5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11260BD-A576-4308-8332-C7374E05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6A37CD0-2ABD-47DB-A2A8-1545844F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325F787-2692-4632-BA02-A397C1A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AB6A010-06D9-48A0-A5AC-30D327E6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1FF3A2AA-6CAB-4035-A8FB-061B8D65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9B947F3-B41C-42EA-A13E-237D12D4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 hipotético: un panelista elige RAG porque el tarifario cambia cada mes.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C76B970-13C5-40D0-A876-34D3DB50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CBAB9EA-EF63-42C4-B6E5-BA150381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C8F1C-2C10-471B-A611-FAAE44F1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C5151BA-C0FB-4784-B0AF-E7E062AC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41F88C3-A24A-4AF6-8998-11F67649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Extraer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6C74C630-1E9F-4B3B-BBBB-EA7D550D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decisión es recuperar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documentos en lugar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incorporar esos datos a pesos.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E17315D-30E1-4DFE-B082-89F9147D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58C1439-6D67-448C-9FD4-2EB089F2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AC75E-FD79-47B5-82E2-9C01CF8F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C464ADD-36FC-494C-A6C6-D3B8BBD2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044463E-0994-4A16-9C85-3F08BFE7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Criterio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E71CA398-84AE-4582-ACE9-37D91713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Actualización frecuente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necesidad de fuente.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C63F0CC-5E4F-4B9F-AD4C-234A7D9A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93A61E3-5CE5-4CB1-B8B8-DD48D1F9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1607AB-8123-42D3-BB59-8393F501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2785BCE-A8B2-4024-8CA2-3F503087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38A8A30-17F6-4046-93E7-09B3349A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Contraste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827CA89F-2F80-4657-8F13-77B9B6F9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si tu corpus y sus citas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resuelven ese requisito.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2898C2D-60B6-4EA2-99F4-8F9236CC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8825B66-03E1-45DE-9322-EE410836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54AB6D2-A389-4F57-B772-2DD8AD28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Este caso es una simulación didáctica, no una declaración de un invitado real.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C46F1FBA-0012-4143-B238-0C1EF40D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691A5D0-779C-480C-9848-8BAE4364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Escucha el motivo de la decisión, no solo el nombre del producto.</a:t>
            </a:r>
          </a:p>
        </p:txBody>
      </p:sp>
    </p:spTree>
    <p:extLst>
      <p:ext uri="{BB962C8B-B14F-4D97-AF65-F5344CB8AC3E}">
        <p14:creationId xmlns:p14="http://schemas.microsoft.com/office/powerpoint/2010/main" val="13267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D9699011-6382-4EA6-A167-5390137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EBEC3-A3CE-4926-8175-92CC4122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55240C0-DEB1-4421-A131-A39AEDD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AD2D5B9-6B85-4AE0-9685-0C8B827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1F0D70-D905-4013-9453-A126CA92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Tres mecanismos para un panel útil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50A8C86-7A31-487E-B90E-CD7C260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 preparación, preguntas y reflexión posterior.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2D1834B-7AD4-41E4-BEFC-FEC69B33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2394529-845E-44B6-84BA-65805C2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FFD52AC-0F2B-437D-94E8-4B4EC7C5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BB75479-8C12-4670-967D-E47DDE24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6988729-0703-4366-AEDF-9E5A7A16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547C285-6757-49EE-A24E-6AE3C852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0C75F29-2065-4706-B547-1C25CC57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1B526EA-F454-4C9B-B463-52AD6624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25B09E4-1574-4003-B52B-99DCDD50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17F5FD0-5E36-400F-BEF2-6ED00269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5629882-E980-4072-953F-B5DE219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813FE-E196-48E6-B04B-E70FAB8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E3E5E1B-09D5-4958-A264-D27FA2AD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E1646CD-3DB0-4FD8-A6C8-63637E9D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Brief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C65F0A4F-F4BB-4731-9699-C0373F5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Cuatro preguntas fijas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orientan el aporte de los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panelistas.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3AE1C49-C20B-4E25-B239-E8F25500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E61837A-E496-40A5-9C4A-E93B7B86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C1DAC-C248-4E52-A33B-5A1B7806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9FCE9DE-EE5B-47B0-A8D1-88E8ADC4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C6867D7-1B20-4B3D-8442-02E40762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Preguntas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preparadas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0F2B67CB-BC62-4BEC-80A3-C98503AD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equipos entregan sus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preguntas 48 horas antes.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544250D-082D-4689-8CF2-28987E2A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DA249F9-2DD3-40D7-916C-42F33806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D3991-A3B1-410C-B5E4-73892B71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9DEE990-B8A7-48D9-93B2-B8BAF4A4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A001F12-60B3-47EB-95FB-6D41DD55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AD0D8193-BD07-4A97-B569-1990B967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plantilla transforma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panel en análisis de diseño.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B282D052-E69E-4701-B86B-BA14900A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8695904-94D8-4EBD-B4A7-92DA53CF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4559590B-B7F8-4449-ACD3-131852BA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¿Cómo transformarías una pregunta de marca en una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 de decisión?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B454881-0E1D-483A-8D5B-B0F3C179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D9A704F-E83A-423D-8A62-6EC47B3A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2F621033-0755-4750-8A40-844658A8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conocer el stack de una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empresa con comprender su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arquitectura.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ECF1EED-70C2-4C66-851E-A2CD89C2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87C56019-E52D-4B64-A4F2-AEE091ED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estructura del aprendizaje la pone el curso.</a:t>
            </a:r>
          </a:p>
        </p:txBody>
      </p:sp>
    </p:spTree>
    <p:extLst>
      <p:ext uri="{BB962C8B-B14F-4D97-AF65-F5344CB8AC3E}">
        <p14:creationId xmlns:p14="http://schemas.microsoft.com/office/powerpoint/2010/main" val="94099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E2C981A3-E8DD-44AD-AC94-BF9D12EC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5530B-0409-433F-8958-18905DD8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D8BACA9-D440-49F1-8BD7-A776E5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D563546-4B9C-416E-BDEA-7599CB43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5D7CEE-2655-4953-904A-3FC7BB4B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Evitar resultados superficiales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B076001-F65E-4BE5-9F0A-75EB6CF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 preparación, preguntas y reflexión posterior.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37DCB1B-7D85-460A-B698-BF41708F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44AF805-3A29-4D84-A27A-DD927891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AB4CA34-48B1-4B71-9A2F-E48BC4E7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4935254-4BC4-421F-8DC0-BD6D62AC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2D8F6C6-36F4-47CE-91B4-C081B3F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012923A-8E23-4AEF-B235-F5C39F7B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1F0CA80-79F7-4C6B-93BC-BF8FA3B0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D4651D7-FBF0-4B41-93C3-9C61EE9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6DDA9B4-DF43-4B15-86E6-566897F6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Preparar preguntas ligadas a decisiones propias.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Durante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Buscar evidencia y pedir el criterio que falta.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Después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Escribir qué decisión mantendrías o cambiarías y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 qué.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4451F81-D743-429B-9ABF-8817E55F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300D9673-AEE4-4EAA-B061-D134B48D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2D71964-F0AB-4CFB-B796-1DFDB8EA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conocer el stack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empresa con comprender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 arquitectura.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43AE8736-270F-44A0-9B65-3E4B1A7E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C7A5AD1E-5571-405F-A957-B3897048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B78D8828-8F4B-4874-83D0-BC85DD2B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D6DA5AC3-7134-4945-A882-81DE1266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¿Cómo transformarías una pregunta de marca en una pregunta de decisión?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1C5EF5F4-CECC-4F3B-B878-D40639B8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EE885939-EF72-496D-A4D1-9F0EA377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estructura del aprendizaje la pone el curso.</a:t>
            </a:r>
          </a:p>
        </p:txBody>
      </p:sp>
    </p:spTree>
    <p:extLst>
      <p:ext uri="{BB962C8B-B14F-4D97-AF65-F5344CB8AC3E}">
        <p14:creationId xmlns:p14="http://schemas.microsoft.com/office/powerpoint/2010/main" val="2126857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018F8FA-95E9-4B3F-A456-B90A1B4A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4F4E4-8293-4A1F-9840-C276809C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2DAADEF-34B4-4765-A229-55BEA026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46A4F96-AF71-4CC0-8E2F-A1A3756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A07D49-2C89-4A6F-A6C9-5050C91E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Tres mecanismos para un panel útil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B60BEC5-AF90-4577-BF7A-4A51F205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 preparación, preguntas y reflexión posterior.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B377C12-05D0-484D-B15B-E781E81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FC77D48-593E-4B21-B549-A757C0E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A4F9090-7DBB-40B4-8362-529A9412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6AA8A98-44F6-4492-8402-1640F26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29B7BD8-FB4E-402A-BF24-B174E44F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7C7CC94-571F-4016-AEE6-869627BE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9047F81-3738-426A-A2E8-D57955D6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86961EF-D6AD-4337-BBB9-F715F20B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DB8A71F-F9F2-41C5-97DD-97C755EB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E1C8FB26-B797-4D5E-912D-D0FEF6DB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59E7A22-9E37-47C3-BE21-71C01EC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F29788F-D3D4-4E60-800B-B56CCC76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quiere preguntar «¿qué modelo usan?».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A86C8CA-5B21-4312-A953-F68B30B6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E6F9B6D-DA9A-4083-82B7-7FFE4443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834AD-8138-4525-AFAE-85A81CA6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B3CAF23-AC48-45AC-802A-DDAAD0EB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8312434-4B7C-4604-810C-5402DAF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Reformular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D770F433-1764-4C16-98D2-438998F5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Preguntar qué criterio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calidad y costo determinó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elección.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CC25C9A-59B4-49CB-9E9F-B5C719E2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4139EFD-0674-4A5F-95CA-BE621965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E7B93-A06E-46D4-8ED9-42E85CA6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5538EA7-A150-4E61-B754-8F83A8A1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9E820AB-591D-4E7C-8658-F9F7F8F0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3D06EB41-FED4-47B9-BDB3-AADEA37A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Compararlo con su evaluación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v1/v2.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840EC47-69BE-4BB9-A45B-84B8E7FF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380ABFF-B374-409E-B2F4-6939DCE9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12DB0-3149-46B7-9FC1-9A719F40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7D0BB6E-2A06-450E-ABB9-82CFD13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4D87B17-D17C-4BED-A95E-5A900AC2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16DC1D11-BC92-4B64-8B50-FEA98190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Anotar la condición bajo la que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elegirían otra opción.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FBF883D-76F2-4882-BC24-C0378921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897A726-3376-4555-9F66-F060B711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A51FC8C-0244-4A8D-8FDD-504DCCE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pregunta de criterio produce una respuesta que puede transferirse al proyecto.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FABC88D9-ACA1-47EC-82DE-EF68D17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0C4D03A-027F-4A1F-B316-9CFF7DF2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estructura del aprendizaje la pone el curso.</a:t>
            </a:r>
          </a:p>
        </p:txBody>
      </p:sp>
    </p:spTree>
    <p:extLst>
      <p:ext uri="{BB962C8B-B14F-4D97-AF65-F5344CB8AC3E}">
        <p14:creationId xmlns:p14="http://schemas.microsoft.com/office/powerpoint/2010/main" val="1380141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9146C4F-7E1C-42DB-B706-A30F4EFC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7D8DD-C31C-4A0B-BE63-A07AE48B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5F53F53-54D9-431C-8E7E-3F579F2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0C9BA05-6D3A-4800-9F50-66D63529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88CB18-0334-4556-9127-E4FB76B3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Guion del seminario en vivo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8D49B2C-045D-4977-B765-A8DAC23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escuchar casos a exponer un cambio defendible en el propio diseño.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7309DF0-C553-4568-A3A9-5FBE93E1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709F856-0578-45DE-993F-78DAC545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79ED761-F323-40E0-8DB6-79E3ABC9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65158A4-FD54-466D-8BE0-A36A02F0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2D9A044-E9A3-46DB-A241-7B73B0E7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7532DB5-0BAA-425C-8058-821F62A2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A09150C-5B03-43B7-9514-2BB68436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1A88F29-BD57-43F2-90D0-83DC36A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1386C8-19A8-4583-AA3A-38F7FA19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FA83E2C-DFD2-4AB3-B119-2E5C1F13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37D1E3D-7194-40DB-B9D8-DFE35ACD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8209B-4486-4A91-BD15-573B835E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AA9E133-8D58-4DAC-9417-3E05DE35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FBABBEF-B2B2-4D2E-93DF-651ABD93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Escucha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1D24E3C0-5C58-4C36-8E09-168D62B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30 minutos de preparación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panel de tres casos de 20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minutos.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9828BC6-C752-4AFA-ACB7-C493BCE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0EBCBCF-B277-45AA-9C9A-84B5DED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AED61-6C7D-4F5C-A2F1-3F547C23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11A6BDC-391A-4099-B010-05EC156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1946CA7-6B26-44FF-B24F-76082815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470907AD-539F-41FF-915C-0BAB85F9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45 minutos de preguntas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curadas.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9C580E4-6E6D-4DDF-A343-DF364B63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B9D384E-4B37-480C-BD29-C31D5098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DA3A6B-A65C-4B52-A5B0-41CBBDC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8162B6F-B61A-43C2-A888-1FEB5E34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281ED97-0BE7-45CD-9489-F6CE3173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97AF0468-7E7A-4AC6-948B-0ACDC766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35 minutos para contrastar;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cada equipo interviene 90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segundos.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FBC25F74-AFDC-4B24-A3BA-2A470F91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A16D8E4-1211-4108-85B7-C90B2058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B8B5A757-7378-433E-BDE3-B3E9F4F8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prueba pedirías antes de adoptar el cambio?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BAD6FE6-750D-4802-BAF2-84145A59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887DE5CD-C6C5-4357-897B-6ECB2C4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A0D6CABD-FA5C-4A98-86D1-EC1212E7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Copiar una solución ajena sin comprobar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que comparte las mismas restricciones.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F7B6EF5-E1DB-4910-ACAF-8490877A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D2D33579-F52C-4BBA-B30E-F08C2C3F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diseño es una hipótesis que puede revisarse con nueva evidencia.</a:t>
            </a:r>
          </a:p>
        </p:txBody>
      </p:sp>
    </p:spTree>
    <p:extLst>
      <p:ext uri="{BB962C8B-B14F-4D97-AF65-F5344CB8AC3E}">
        <p14:creationId xmlns:p14="http://schemas.microsoft.com/office/powerpoint/2010/main" val="155340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669AE06-6800-4FB6-888A-5E270C06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ED39E-4768-43B3-8939-616DA15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DC24CB2-0232-4789-A596-B28342DB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3EEC4F8-934F-4314-8A11-F9838E06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3D2966-A982-4CC6-98A4-E8F96CF9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intervención de 90 segundos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39DB8DD-4683-45F3-8AE2-C37CDD4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escuchar casos a exponer un cambio defendible en el propio diseño.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C64758A-1F82-4F33-9B98-7F960AB0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04615CF-AE80-4992-B466-DA40798D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852DBEB-1AD0-40E4-B997-2725280F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5B5E263-CF93-477F-B700-670AA5BF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BE231D9-CB80-449B-8945-36016B70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B1CE880-01A5-49B6-85E7-175FCAFA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7ADDBE0-BF0F-463D-9DE9-2574BCFC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6541E0C-5705-4E95-B340-76C61955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B8E339F-9436-4A45-A6F9-8786536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Decisión propia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Nombrar una elección del proyecto.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Aporte del panel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Identificar la evidencia que modificó tu juicio.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Cambio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Decir qué harías distinto y qué comprobarías.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E93FC96-B1E8-45C3-8ACA-54838B9B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404AEDC2-3B58-4FCC-8EF4-49C5B78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0D8478B8-C9D5-407E-8612-5DCE8F5E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Copiar una solución ajena sin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que comparte las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mismas restricciones.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A5E325A6-1F7C-4455-8F07-B5C62670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F6AB245-078A-47AB-A4D8-4489DFA9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E9D42199-86B8-45D7-8276-E988512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532A14E8-0004-436A-BA93-10C9C8F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prueba pedirías antes de adoptar el cambio?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6FD116BE-7467-4F45-AD03-4DDC5BC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E107A845-7164-4867-B583-6B51A3B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diseño es una hipótesis que puede revisarse con nueva evidencia.</a:t>
            </a:r>
          </a:p>
        </p:txBody>
      </p:sp>
    </p:spTree>
    <p:extLst>
      <p:ext uri="{BB962C8B-B14F-4D97-AF65-F5344CB8AC3E}">
        <p14:creationId xmlns:p14="http://schemas.microsoft.com/office/powerpoint/2010/main" val="1644206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DEC0D126-D89B-4805-8A01-95C9A15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B073E-E98A-40AE-ADC5-C1E18A3D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D223250-E2F7-42A6-BDA9-252404E3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873F5A7-7621-4573-8734-9F713125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857B0-BA6C-44F5-A69A-61DFD303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Guion del seminario en vivo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FABE9A3-D3E0-4DF0-8794-9C76541E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escuchar casos a exponer un cambio defendible en el propio diseño.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E799B75-B16A-4FF2-9E32-5AB3886E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359BF9C-841D-4B4B-9FB7-28FD9C9A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7E8F356-F6CC-4CE9-97A8-63B52AF2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76453AA-C8DF-4A6E-B557-29B0D6A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1B17903-FDFF-4011-B7E7-F10D005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D369C24-4FE1-4A8E-BFE1-19B6DABF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A5E85B3-3906-4090-AB44-818DA1C2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24BC858-0150-4545-8C62-4533C74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7F29F23-0AFE-478D-8095-6D6ABE44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F04CC62-5CF4-4348-8E06-C0ABA62A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BA1C5B6C-F8E6-45AA-BC1C-F7EE12B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92E26B88-E0DD-44AB-B132-B0F1F979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 hipotético: un panel describe duplicación de solicitudes tras reintentos.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B861523-2AE2-4B62-900F-60438AD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97BE0CD-7B31-4A43-A767-336995EA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BDE18-7E79-4476-9D13-5995E924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A67B6D0-1C4C-4620-BF49-46FD3A75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7DFF945-C2D9-4685-851A-848C4DEF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85A45B06-1034-47FB-88E6-2AF327ED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Tu devolución también usa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operación de escritura.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2187419-5AD3-4FE4-BFE6-35F8E227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3924BD1-942D-4163-B74D-91191A3F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F8FC2-ABD0-4787-A809-09D24311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68395B4-EF3E-4365-A00B-33DBB677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5484A6D-8921-4362-B158-63B523A5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48196124-5E11-4A23-B1D1-9F22C9B4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protección ante repetición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quedó demostrada.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D7D6091-059D-4423-9B47-0966309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3E10D5A-DAAC-4E3B-A30B-17C2CAE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214E4D-5DCF-4289-9297-59DCB3E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8022C65-A356-49B8-A57E-72E1FEB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4FEC209-CAC5-423D-A8C0-AF11F725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Proponer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3CB565C4-0064-4850-B157-E9CBF890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Añadir una prueba de timeout 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idempotencia.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2F50332-2AAD-4835-B944-C4D9F84E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9FC5541-D365-4F45-9270-601B5B00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D0E032E-1913-492A-86AB-627BE9DD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contraste exige una decisión concreta; una impresión general no alcanza.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0140D1A-7840-4FC9-A308-823DD360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782D1D7-1DF5-4D01-A4C6-E7A6A0FD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diseño es una hipótesis que puede revisarse con nueva evidencia.</a:t>
            </a:r>
          </a:p>
        </p:txBody>
      </p:sp>
    </p:spTree>
    <p:extLst>
      <p:ext uri="{BB962C8B-B14F-4D97-AF65-F5344CB8AC3E}">
        <p14:creationId xmlns:p14="http://schemas.microsoft.com/office/powerpoint/2010/main" val="9922118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C5B26565-4DBD-43CA-8281-78B7970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57420-99FC-40FE-97FE-D86E6E6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43EFBF6-F296-4827-98E8-8ECEC17D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D227820-77EB-4E96-B63A-76A08F44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F8C32E-B498-4A9F-B1EE-4CFF76C6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tres preguntas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A1F92E9-EC7B-458D-8D82-586233A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Redactar preguntas que comparen una decisión propia con un caso externo.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0E04420-0133-43CB-932D-4508160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E82595F-D824-435F-9058-366EE804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185E7D7-EFEA-4D89-842C-DC8DBF1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FC8B1B0-8EB6-4D6C-BA50-13332517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51AC7AC-D5B7-4561-8826-EF953CD1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9B30425-568F-41D5-942E-70AD8E9F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D7D3BED-8DCA-4E8D-A12D-4BCBE608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11E5483-53CE-4D03-AC2F-79982481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F27DC77-2A79-47D7-B4B5-7CA42C31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4CD3D4D-3F4E-41BF-BE46-20F912F2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44D91D7-C281-4117-8E74-1873410F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80652-9119-431A-A1B0-0F87B0ED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137D13F-D75E-4299-9DCC-C4146BA6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6A0F13B-1FC9-4FD2-884F-27C8DFE8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Punto de partida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B2A04909-9930-49BC-A48F-03B4547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elección real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proyecto del equipo.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CB08D8E-DEEF-411A-8A70-8830E80C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FF398BB-D044-4D78-B6C7-94DEDC36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1B487-58F0-4BC2-AF9D-98E18CF1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D800640-9E11-46F4-BAA0-4AC008B8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25E7E01-3A60-4FB7-B682-E574E944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Duda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2A8D31EA-E04A-4A2B-8795-AF58376F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consecuencia o modo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fallo que no está resuelto.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BC8121E-3F90-4D0F-BC1C-65C6E5B4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043AFAF-28A2-4518-B1AA-9E09AC8F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7C2F9-3FD9-4D9F-ACE1-A60FBAD2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6A6BC9-4A5B-4DEA-A249-2056BEDB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EA92E67-69BB-4226-BB57-3FE1D63A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50A171CA-FF68-477D-B732-C1F89DC4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Solicitar criterio y evidencia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 panelista.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B94A2AE8-36D4-4BD1-A5CF-2F598774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E7D5A59-CFC3-46BF-BB0C-41F9E2B4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E4674651-9163-42CF-B46F-76EEB6F0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respuesta te permitiría tomar una decisión después del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panel?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55AE36E-DF81-4819-9BB1-0CCE18AD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41A4B16-5977-4E5E-BD82-170B7A9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88BDE8A3-22D7-498C-B7B3-D31DE41C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una pregunta que solo admite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nombre de un producto.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2F85361-7910-4AC7-9F4F-A8296BA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A4719F6-841A-4632-9A31-D0E5F3BB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buena pregunta hace visible qué quieres aprender para tu diseño.</a:t>
            </a:r>
          </a:p>
        </p:txBody>
      </p:sp>
    </p:spTree>
    <p:extLst>
      <p:ext uri="{BB962C8B-B14F-4D97-AF65-F5344CB8AC3E}">
        <p14:creationId xmlns:p14="http://schemas.microsoft.com/office/powerpoint/2010/main" val="342845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9A51A07D-4D80-464E-9DA2-A136E29F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2DC56-2208-4B0B-A1F5-0C14CE45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B0BEBC4-5CD8-47C3-8D08-5E013E6F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4C73156-7872-4942-8EB0-1C58172D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911AC1-01AC-468C-9DBA-CF1ABB8A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Comprobar calidad de la pregunta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A6E4B18-E96D-40BD-A65F-9A5B9FF5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Redactar preguntas que comparen una decisión propia con un caso externo.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BD85652-EC22-47C7-A3DD-69E871CD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97FC9E3-A3CA-41C0-A609-12897925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6477D89-7C76-42B5-846C-61A02778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D5B1C36-7517-44B0-8D9E-C9EC2F97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337C1D4-7926-40F2-8A81-5E45E83C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0449295-5B10-4605-AC33-3502006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16F7F56-B9F0-4D78-9C8A-B94FF25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09BF4F0-43C3-4511-BA34-90AC163A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53159E8-10C2-4059-BB49-BBB1B360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Contexto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 brevemente la restricción de tu proyecto.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Foco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Pregunta una decisión concreta y evita varias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preguntas mezcladas.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Utilidad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respuesta podría cambiar o reforzar una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decisión propia.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443476DC-A6B6-40CD-824F-4EC6501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E484B37B-2587-4FDE-A1D1-2DD9816F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B4F59084-4832-4B27-B0B9-FE49F2D2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una pregunta que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solo admite el nombre de un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producto.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898D27BA-9DDB-4902-AC0E-0975FE3F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9C732CA9-6DD4-414F-8E9C-6BA9CAA3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42B7584E-434D-4A4F-AB16-8EABE6DD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BAAAEEEC-4E9D-42F8-A836-7249C815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respuesta te permitiría tomar una decisión después del panel?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704CAB44-2E0E-4A8B-81AC-486F725A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0C541625-C5E7-4AB3-818C-23BF4385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buena pregunta hace visible qué quieres aprender para tu diseño.</a:t>
            </a:r>
          </a:p>
        </p:txBody>
      </p:sp>
    </p:spTree>
    <p:extLst>
      <p:ext uri="{BB962C8B-B14F-4D97-AF65-F5344CB8AC3E}">
        <p14:creationId xmlns:p14="http://schemas.microsoft.com/office/powerpoint/2010/main" val="558824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B9CDE64-FDB3-4E7C-84E7-CB8529E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BED54-D204-412E-B147-96814B84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48030CF-0D45-429F-8354-7124153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7CFA072-53BB-470E-9486-1C8F0D05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077033-083E-4A44-8214-D7769B83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Preparar tres preguntas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0F37B84-07F9-4EBB-A623-3D0B209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Redactar preguntas que comparen una decisión propia con un caso externo.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C3A7DF0-B42E-4136-BB7C-4CF1631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9611D1F-6FBC-4FDE-A7AE-B833743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5CBB8DF-8E6D-4C7F-856F-611965D8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2091C66-8708-4B5A-87FE-A59AE7B1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A452B9E-CA83-45C3-8BCC-43E3F224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35C2359-9C12-46B8-A66F-CAAB1EB2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126C4F9-A7DB-4E07-A245-4F5F2686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0E59089-045B-4F37-A378-A39B670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1A69DC-B0A0-4BE1-96A3-A52B3098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9B3F22A0-AA85-421C-800A-BA7349C4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E7AB19F6-EAF8-4B8E-871D-08AA508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2A9555BE-65E8-4BC4-A883-561E2E4A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recupera cláusulas con chunks de 600 y overlap de 100.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E33146E-5EB5-40E5-8FCE-9D2222A6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534BE50-4C09-4540-901A-5909247A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A4351-531B-492F-A188-30CD77D9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A189806-B698-44F8-B137-5B44396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7C8D028-FAEB-40C2-A695-8AE124E9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Contexto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D0E5DFDC-A377-4068-BA98-25053330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Quiere conservar condiciones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exclusiones juntas.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4E37C56-5E4C-41A2-A434-5BFE4F01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662EADB-EBDC-4499-9954-556F18F0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CA9E5-619C-4BD0-8C20-33274F6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BA8800B-4A64-44C2-8531-1609A66C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CAF466F-6D28-4437-944E-B943C0F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B7427CC-D323-4912-8D26-03E769DD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¿Cómo validaron que sus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fragmentos preservan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cláusula completa?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AE2E2A3-D8EF-47FB-900B-9E9184BE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DF33828-9203-474F-8867-42CFC293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271475-20B4-4317-92CA-2542889F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1E13207-AB07-4C2F-9A59-A4149068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A70D54B-FF8A-40F6-B4BA-A52595F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Uso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5D179595-60AC-4B9F-B1FA-1247BB0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el método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validación con sus propios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E7D610C-6C6D-4C6E-BED4-AA98020C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CC5990B-32D0-439D-A791-9139CA2E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EF17245-C5A3-4227-B14C-CCFBBA1F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ejemplo pregunta por evidencia; no exige que el panel use la misma herramienta.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D557B09-8F08-430F-9F70-60D1824F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3E324132-D05F-49DC-A6A7-ECE58234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buena pregunta hace visible qué quieres aprender para tu diseño.</a:t>
            </a:r>
          </a:p>
        </p:txBody>
      </p:sp>
    </p:spTree>
    <p:extLst>
      <p:ext uri="{BB962C8B-B14F-4D97-AF65-F5344CB8AC3E}">
        <p14:creationId xmlns:p14="http://schemas.microsoft.com/office/powerpoint/2010/main" val="20361276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CF73916-0079-4CE8-AF1C-F0EA8A28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F3A44-078D-4E88-B5EA-584760B0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7FD220F-711A-4681-8DF4-7674825A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F81E905-C7E1-4B13-89F5-BC0A448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BCF7AE-D989-4EB7-B2BF-A5CE6914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Documento de contraste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4BAE336-9FA9-4320-B62E-13A66E10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dos páginas de reflexión con coincidencias, diferencias y un fallo transferible.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93342BC-4477-4B09-9C41-46B478D1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A752108-A416-4293-9D28-AC16974B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AF8F8E8-E61A-4203-8142-BA91D559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AA7FAFD-94C4-48F6-8EE2-557199A5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7608D9E-2DDA-413B-83A5-BE13D4CD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D8055F4-470B-4282-BED2-650CCCCF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E2B7398-EABD-4726-80D4-2FB45ECC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6B6D544-EE0D-4352-9DE7-59485107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0D4D199-5FCD-40A9-895D-7D229B9F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1222AFA-13C4-40FF-87F5-9DDD13B7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5434B99-9239-4D18-9893-EB3046FD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51719-44A9-4B71-8077-E9643B88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BCAC784-2F1E-46F5-815D-56CC2956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9662FDC-9231-4AD5-ABA6-3459FE1E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Tres casos y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coincidencias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AFE10689-B66C-4123-891E-BE15EE20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Resumir cada caso y tres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decisiones compartidas.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922FD67-0B07-41FA-9934-0D73AF2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838B305-D19D-407F-919E-76F10CE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CDDB0-E130-493A-B2A2-7A9FA41F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8721B0D-8D6F-4DF0-8FDE-7C85AE57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A03C582-34EF-40B2-9F36-630AB3F9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Dos diferencias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0327398-F101-4B5D-ACBF-EBF65583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 decisiones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defender cuál usarías ante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cliente.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E786F35-53BC-4310-A2F9-07CCF42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B76C34C-3967-4704-89AF-3403976E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8A4CB-FBD5-4F53-A076-F9390480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51F4C74-6D55-4625-B404-1EE6071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0BFB1D0-3080-4E89-85D8-EF735342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fallo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1222BF9C-B09A-431F-A95B-E7D1A5B2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un problema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producción que tu agente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también podría sufrir.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FBAEB972-D805-41D4-A85F-7152338C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008C9AB-1C21-447D-A58B-4E8A51D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128ED77F-2AAD-4AAB-A0C9-7B799F25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de tu diseño confirma la vulnerabilidad descrita?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C553636-5A7A-4666-B25A-B55220D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9FB9F9B-0CB1-4638-A667-26A198A7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91EF00F-BC9B-4543-B0F3-2D0FE78B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una diferencia de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herramientas como si fuera una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diferencia de requisitos.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9FB6BAC-3827-4DBD-9122-87D2BC84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41B2D31-0921-4CB1-A6D6-B23C9C18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valor del contraste está en reconocer cómo podría fallar tu sistema.</a:t>
            </a:r>
          </a:p>
        </p:txBody>
      </p:sp>
    </p:spTree>
    <p:extLst>
      <p:ext uri="{BB962C8B-B14F-4D97-AF65-F5344CB8AC3E}">
        <p14:creationId xmlns:p14="http://schemas.microsoft.com/office/powerpoint/2010/main" val="1382562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4B34C5B-793C-4080-9F07-F7B2DF05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BF1FA-4851-4255-AC3A-BE7E6023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8CE6643-2B64-4F9C-AFF4-4DF4955E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A1EE67B-4DB4-4074-AD6E-9F66A478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8DA1E2-B7ED-4307-8E64-987C9AFD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Sostener cada conclusión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283683B-55B2-416E-9DDA-B8D3041C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dos páginas de reflexión con coincidencias, diferencias y un fallo transferible.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E0A941E-EDEF-43F1-A183-79966B51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1802A58-7DB7-4537-ADD2-C4A8067A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E7977CB-B80C-483A-B736-6764F46C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659407F-3933-4F1B-92A0-42F530FB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F7A864F-69CA-4841-963E-1B7CBBB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FCD7B95-6E8D-42D8-8D16-77369F6A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E5298F7-3FC1-4FB8-AF35-F01D7C54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3C20975-3792-445C-A702-B7AD92D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0C7A671-EBD2-4895-9A3D-D51D403C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Separar lo que dijo el panelista de tu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Proyecto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Mostrar dónde aparece la misma condición en tu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arquitectura.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Consecuencia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Explicar qué verificarías o cambiarías.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F32B9AE2-5AB7-4D4E-A204-49DC710D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6381DF05-D368-4F89-B778-B1BAB83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16F7E443-415A-47DF-982D-CB7939D8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una diferencia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herramientas como si fuera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diferencia de requisitos.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D9F71891-59E7-42FF-A271-E1B9211F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934A2FD-7C3C-4497-B142-8A98231F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7879CB7-A366-473F-A481-580AE0A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BE5F3FC7-EF6C-4E8E-9492-EA4E280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parte de tu diseño confirma la vulnerabilidad descrita?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215DBEDC-5522-41B3-856A-952E5538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280E4106-8F1A-40A6-865A-B53D5EB9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valor del contraste está en reconocer cómo podría fallar tu sistema.</a:t>
            </a:r>
          </a:p>
        </p:txBody>
      </p:sp>
    </p:spTree>
    <p:extLst>
      <p:ext uri="{BB962C8B-B14F-4D97-AF65-F5344CB8AC3E}">
        <p14:creationId xmlns:p14="http://schemas.microsoft.com/office/powerpoint/2010/main" val="18585313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D4B5A162-B53C-42C8-A7CD-BB9874BF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DF8F-3635-4F8A-9A40-F22FF30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79F0953-C45D-4DDB-8D1E-7FA08AA3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04ECB61-FE1A-47E3-847D-594753C2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BCA450-F781-4EA8-81EB-5BAD5C24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Documento de contraste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F9304D1-C496-4CA8-906A-ED877675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Organizar dos páginas de reflexión con coincidencias, diferencias y un fallo transferible.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CEB42AD-6BA4-4733-A1D6-CBD51ABD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39B93D1-54CE-48C4-B389-63722EE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FCDB744-B966-4EB7-B38A-EDD10949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8506272-1DB7-4EA1-BFC8-29383B5E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A94A32E-D1E3-4082-99F2-E23C203D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5C49C63-B074-4EF3-877E-4FA0908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D747B40-2A0C-450D-90D8-4885BC2A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6405DF7-992C-42F5-8D5A-E391406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89F7B71-7C9E-49A2-9A08-AA7C0601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32FF3F4-9692-4943-9149-BCD2E9E7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738A06EF-90A0-4481-B104-12DD08CE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8AA6F849-E2F7-429F-982C-3C8A023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 hipotético: una empresa perdió contexto al reiniciar el servicio.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FB7369D-EF15-469D-A7A4-CE43EDAE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E820D69-9097-4551-816F-1AB00EC4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EEBAA-EF3A-425F-B338-7CB3C73B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29FB8E0-877F-4090-80BC-C322219C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72DA91C-5C98-4409-B424-E7E18CC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Vincular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1F1FD7FE-F41D-4B41-99E0-EB825181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Tu memory.py conserva historial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 el proceso.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AEBEA99-9700-4D6E-B96C-02B36EC3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E55A2BA-F990-4839-A58A-FE1D5715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84C36-8F61-412D-A25E-AF01708A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2DAB4E5-B3B2-4D67-924F-03752920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BA0416E-C5FA-4AB0-B0E5-F2E7A966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Anticipar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46D4E34F-173D-4FC7-B2A6-08283271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reinicio también borraría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esas conversaciones.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D66D998-7DBB-41B9-BF96-072A3A41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B4C4B32-CEA3-4B80-AFA5-9776199E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594B9-E27E-4457-B335-23C842CE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1F1C3FE-9836-427C-8F8A-909CBD7D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1C1FE47-0AB4-4B32-B13C-FEF342BC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Concluir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BFD11408-9D44-4B87-9A6B-64EAC54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continuidad duradera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requiere una decisión adicional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fuera del checkpoint.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C158E6E-7EB9-42D0-8F65-34C8A09D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78F5968-01EC-45B3-8281-12999D9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B007D32-E3F6-42EB-9EA1-5479D7F5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reflexión usa un riesgo concreto del código, no una afirmación genérica.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77908DB-67CA-4B0A-A5B4-BE095FEE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4945FFF-AF62-4F5F-81D7-FF8012CB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valor del contraste está en reconocer cómo podría fallar tu sistema.</a:t>
            </a:r>
          </a:p>
        </p:txBody>
      </p:sp>
    </p:spTree>
    <p:extLst>
      <p:ext uri="{BB962C8B-B14F-4D97-AF65-F5344CB8AC3E}">
        <p14:creationId xmlns:p14="http://schemas.microsoft.com/office/powerpoint/2010/main" val="4186959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B0A81D2-5D57-49AC-AFD7-60EC59D7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787EA-E3C0-4775-A04B-8A5212C6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14A27E0-3468-49F2-83E7-DAD27761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F8DE511-C00C-40C7-8696-CE8EBA9A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B560EA-A792-4D48-AEE4-A7E5904F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Cierre formativo del curso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3C3CBFD-E8D5-43ED-A1EF-16AED0FF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 lo aprendido sin añadir una nueva evaluación ponderada.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B13335F-E789-4D51-A89A-6AF82E6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AA7941D-C98F-4463-8D09-BC81E35E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E5B0FA2-161D-46B1-AF08-2802995B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B4EAFFC-8421-4F7B-A88E-7499EFDF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6E35A4C-117C-4A79-A6AC-613C9046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7882CB4-CFAA-4C00-9268-5DBD098D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0CD88BF-C00A-433B-A1CB-0E5AF542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E2F6227-4E1E-4DB8-A540-0D024E32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7CFE609-C323-476F-BB10-FD906F58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1F17A9A-BE2C-4FA6-9E97-8C56607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5E66891-8DFF-42E0-8363-92A24B42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38868-8337-4FC4-BA42-8A36142E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A68B1C2-F838-43C9-92E1-D6E3509A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614DE2D-6835-4EDA-AA63-38DE120F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S11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68B269FB-28D3-409D-9CE4-DE4C4961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Cierra la entrega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evaluación del Proyecto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Integrador.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7DBE31B-CE75-4BBE-BE10-5EE32729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DB20575-3DCD-480A-9338-020225C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DF506-4C0D-46E3-A3BF-5A49344B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D0274A4-370D-4B2E-AFEF-DF0B4CC8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140321B-719C-42C6-A765-3E99F96C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Seminario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287EC6AB-C3FA-496E-B488-BCAF349D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Contrasta diseños con casos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reflexión formativa.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9970856-4978-4638-88EB-4C4099C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5912226-A0C1-43DE-A0D4-1C47FEF4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8663A-BF06-4A45-972B-1693C065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5BD0566-1671-4718-A2A5-00FA9F5F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7636386-6B52-4B76-9C20-AA3AD9C0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Bonus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8ABDC68B-3F29-423E-9C9A-CB892510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Foundry es asíncrono,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opcional y se acredita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aparte.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54DF0469-F999-4859-A2B8-9BD1C59D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1BB8B20-F8A3-4FFA-93CC-57556A64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68BCDD0F-7E74-464A-A8A2-019081FE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mejora escogerías para una semana adicional y con qué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evidencia?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3C582AE-BCAE-4655-B0A1-83E0F35C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3379E5B2-224C-4462-BAFA-1DE0B344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C967B6EC-095B-4B03-AC43-A92A8C5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el seminario con el bonus de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Foundry o con una nueva nota.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FC48CA51-160D-4F51-90A9-9DB6D102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F130735-9893-4C19-92A1-619C156B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Cerrar el curso también significa saber qué falta por comprobar.</a:t>
            </a:r>
          </a:p>
        </p:txBody>
      </p:sp>
    </p:spTree>
    <p:extLst>
      <p:ext uri="{BB962C8B-B14F-4D97-AF65-F5344CB8AC3E}">
        <p14:creationId xmlns:p14="http://schemas.microsoft.com/office/powerpoint/2010/main" val="18815777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698F8089-4E1C-421E-B07F-39FB7A36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E51AC-D89F-4C28-BEFD-E2D738DF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ECCB343-0252-488F-B7EB-A25354E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0DE0CF1-3B1B-4C95-B7BA-FDC4857F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C7F31F-BC99-46FA-8F50-A4724E1B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Elegir una mejora posterior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B787862-B6AF-4082-B751-CD848D2E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 lo aprendido sin añadir una nueva evaluación ponderada.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AFD854D-8A3B-4EF1-9154-2C3ED153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17D95AF-49C5-48C1-9DBE-E7379275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52C291B-D480-4158-811E-32F19665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AA58F2C-F706-4134-99D3-106C76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37755D9-6B04-4825-8B9A-6601E119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15F04F4-0DC9-4662-83AC-B9416E5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1743707-3647-43C8-B5C1-99BF5AF0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20E235E-1234-4A97-85F2-89A87CD7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D076EB5-E728-4CCB-A4C5-E38F5BB7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Seleccionar el fallo o límite de mayor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consecuencia.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Definir cómo sabrás que el cambio ayuda.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Alcance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Distinguir el checkpoint del curso de una evolución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futura.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0676159E-D6FF-482E-A5B1-2B9C9183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09E68DDC-1E65-4495-92A9-EA8A518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D2928012-8B15-4AB1-A427-1B04E4C2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el seminario con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bonus de Foundry o con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nueva nota.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9A77F024-F833-40C9-9F2C-6FBD3E0A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41791D9-E311-422A-BF9B-23A22E3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18BAF6E-13C4-4FFD-A637-B3D58726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85906231-A7B2-40F0-84BA-71C35FD5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mejora escogerías para una semana adicional y con qué evidencia?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DA3E29DD-895F-4A8C-A02D-1927DE1E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3F4D04D5-1CDA-421F-AC0C-025A837B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Cerrar el curso también significa saber qué falta por comprobar.</a:t>
            </a:r>
          </a:p>
        </p:txBody>
      </p:sp>
    </p:spTree>
    <p:extLst>
      <p:ext uri="{BB962C8B-B14F-4D97-AF65-F5344CB8AC3E}">
        <p14:creationId xmlns:p14="http://schemas.microsoft.com/office/powerpoint/2010/main" val="5101639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6E9BAAC-CD1D-4CF2-BFE0-10BF69A0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3651D-9FF1-4D9D-AD43-7C7D8815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2DECA42-76F9-4B41-AB6A-AFF2167C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8C2DAD9-3199-4F9E-AC6D-74057C08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12 · Seminario internacional: casos y contraste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F85D30-176F-45B6-BF07-FCACB5A7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Cierre formativo del curso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00763E0-3F73-45D1-8CDD-3E9FC110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Integrar lo aprendido sin añadir una nueva evaluación ponderada.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7AE43F7-BD86-4497-A1E8-0F064EB7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59FAC87-303B-4371-8938-525A7416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E89B65C-1E4E-4934-A35C-FAC07426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F174F05-CDE9-4A9F-A000-AC912878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F7A7443-7B04-4736-B3DD-E0AF795B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67DCB8D-3784-4737-8390-EF75B0E8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3EC8455-D594-4686-9EA6-9B3D9AB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12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0F285D9-0FB7-4C73-8F04-BECE84FA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5602277-3391-4591-9421-FC1ADFB8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155AE3F-5552-49BE-B497-3D49FBF0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EF57016-F118-4C30-9587-BB3792AD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6629968-289A-47EC-BEEF-41C07F4B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quiere mejorar continuidad después de reinicios.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5F72786-7AFF-47DD-A0E6-5B442A4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8DEE1B5-6AEA-4EFE-AA74-2AEDE895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BD664-7B91-4950-A2A9-1EF125A4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BF8D103-6565-45B7-AB7C-06989BD3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6BB49E8-9C79-4971-A03A-101F8DA2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C3B7EC0A-63F2-40D9-A042-8002025C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historial actual vive en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 del proceso.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480BC46-76E2-4087-91BE-8A084DF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CDEE365-5D43-45EB-AF6E-91135B61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C8B0C-0E60-4349-8FC5-FDD7E4FE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50A67A2-2AD0-48F8-BFC3-DC83B5D4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680FB99-78DE-42A1-A5FF-E41BE1F4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Proponer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6FED7873-E0AB-4D86-8B56-C6E053A8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Explorar persistencia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aislamiento adecuados al nuevo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requisito.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6B223B5-62F4-4EEE-AB29-E9A617C9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4C4DD79-FB3F-4E16-B268-014A4F65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5A38F9-DE6B-490E-8F64-89528DD3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31A7982-C629-4F52-99CB-BBA280DB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53B8209-58DF-41DD-A669-B8AF8C1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B7BCD672-63BE-4857-9787-4F35125D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Diseñar una prueba de reinicio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 de afirmar que lo resolvió.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95258524-790F-470B-BC6B-24DD9F02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5F1C0E3-6D2D-43C1-B8DF-777D4069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168578D1-95AC-4975-B641-F122B37D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propuesta futura se identifica como tal y no se añade retrospectivamente al checkpoint.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A0535524-B813-469B-9534-6A307C73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42414B6-3976-4356-B28E-87FED245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Cerrar el curso también significa saber qué falta por comprobar.</a:t>
            </a:r>
          </a:p>
        </p:txBody>
      </p:sp>
    </p:spTree>
    <p:extLst>
      <p:ext uri="{BB962C8B-B14F-4D97-AF65-F5344CB8AC3E}">
        <p14:creationId xmlns:p14="http://schemas.microsoft.com/office/powerpoint/2010/main" val="1508888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2026-09-23T04:07:21.8890000Z</dcterms:created>
  <dcterms:modified xsi:type="dcterms:W3CDTF">2026-09-23T04:07:21.8890000Z</dcterms:modified>
</coreProperties>
</file>