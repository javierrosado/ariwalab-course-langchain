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9399184f104071" /><Relationship Type="http://schemas.openxmlformats.org/officeDocument/2006/relationships/extended-properties" Target="/docProps/app.xml" Id="Rcfbca903ab4f4cc3" /><Relationship Type="http://schemas.openxmlformats.org/officeDocument/2006/relationships/officeDocument" Target="/ppt/presentation.xml" Id="R22a09b1e7e3848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3c985424be46e9"/>
  </p:sldMasterIdLst>
  <p:notesMasterIdLst>
    <p:notesMasterId xmlns:r="http://schemas.openxmlformats.org/officeDocument/2006/relationships" r:id="R46dd23d5804e4466"/>
  </p:notesMasterIdLst>
  <p:sldIdLst>
    <p:sldId xmlns:r="http://schemas.openxmlformats.org/officeDocument/2006/relationships" id="256" r:id="Rfdec408b17ca4a7f"/>
    <p:sldId xmlns:r="http://schemas.openxmlformats.org/officeDocument/2006/relationships" id="257" r:id="R9818d6c3d1914053"/>
    <p:sldId xmlns:r="http://schemas.openxmlformats.org/officeDocument/2006/relationships" id="258" r:id="Rffdd5b88f00d4855"/>
    <p:sldId xmlns:r="http://schemas.openxmlformats.org/officeDocument/2006/relationships" id="259" r:id="Rbc34e2559ea249b9"/>
    <p:sldId xmlns:r="http://schemas.openxmlformats.org/officeDocument/2006/relationships" id="260" r:id="Rd3a99eb59bce4a62"/>
    <p:sldId xmlns:r="http://schemas.openxmlformats.org/officeDocument/2006/relationships" id="261" r:id="R5ba5484c12a3409a"/>
    <p:sldId xmlns:r="http://schemas.openxmlformats.org/officeDocument/2006/relationships" id="262" r:id="R7e7e89a9281847f5"/>
    <p:sldId xmlns:r="http://schemas.openxmlformats.org/officeDocument/2006/relationships" id="263" r:id="Rfb5d79b54eab4377"/>
    <p:sldId xmlns:r="http://schemas.openxmlformats.org/officeDocument/2006/relationships" id="264" r:id="R81fa430d240749bd"/>
    <p:sldId xmlns:r="http://schemas.openxmlformats.org/officeDocument/2006/relationships" id="265" r:id="R631ad0989f6d42a0"/>
    <p:sldId xmlns:r="http://schemas.openxmlformats.org/officeDocument/2006/relationships" id="266" r:id="Rad8b9b5360c84184"/>
    <p:sldId xmlns:r="http://schemas.openxmlformats.org/officeDocument/2006/relationships" id="267" r:id="R5ae19a4007cc4e30"/>
    <p:sldId xmlns:r="http://schemas.openxmlformats.org/officeDocument/2006/relationships" id="268" r:id="R33361487bb6a4a7e"/>
    <p:sldId xmlns:r="http://schemas.openxmlformats.org/officeDocument/2006/relationships" id="269" r:id="R589b1b5546474296"/>
    <p:sldId xmlns:r="http://schemas.openxmlformats.org/officeDocument/2006/relationships" id="270" r:id="R26b89ba5cf674534"/>
    <p:sldId xmlns:r="http://schemas.openxmlformats.org/officeDocument/2006/relationships" id="271" r:id="R76f0c20128044113"/>
    <p:sldId xmlns:r="http://schemas.openxmlformats.org/officeDocument/2006/relationships" id="272" r:id="R03bb165840874edc"/>
    <p:sldId xmlns:r="http://schemas.openxmlformats.org/officeDocument/2006/relationships" id="273" r:id="R89206458050642ff"/>
    <p:sldId xmlns:r="http://schemas.openxmlformats.org/officeDocument/2006/relationships" id="274" r:id="Rb77659f1b3ce41af"/>
    <p:sldId xmlns:r="http://schemas.openxmlformats.org/officeDocument/2006/relationships" id="275" r:id="R6d8411fa355c41eb"/>
    <p:sldId xmlns:r="http://schemas.openxmlformats.org/officeDocument/2006/relationships" id="276" r:id="Re3e9a97294c347b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9df41e52aa4148" /><Relationship Type="http://schemas.openxmlformats.org/officeDocument/2006/relationships/slideMaster" Target="/ppt/slideMasters/slideMaster1.xml" Id="R133c985424be46e9" /><Relationship Type="http://schemas.openxmlformats.org/officeDocument/2006/relationships/notesMaster" Target="/ppt/notesMasters/notesMaster1.xml" Id="R46dd23d5804e4466" /><Relationship Type="http://schemas.openxmlformats.org/officeDocument/2006/relationships/presProps" Target="/ppt/presProps.xml" Id="Rbd128de8ed414a7a" /><Relationship Type="http://schemas.openxmlformats.org/officeDocument/2006/relationships/tableStyles" Target="/ppt/tableStyles.xml" Id="R1dd448b658f34a9d" /><Relationship Type="http://schemas.openxmlformats.org/officeDocument/2006/relationships/slide" Target="/ppt/slides/slide1.xml" Id="Rfdec408b17ca4a7f" /><Relationship Type="http://schemas.openxmlformats.org/officeDocument/2006/relationships/slide" Target="/ppt/slides/slide2.xml" Id="R9818d6c3d1914053" /><Relationship Type="http://schemas.openxmlformats.org/officeDocument/2006/relationships/slide" Target="/ppt/slides/slide3.xml" Id="Rffdd5b88f00d4855" /><Relationship Type="http://schemas.openxmlformats.org/officeDocument/2006/relationships/slide" Target="/ppt/slides/slide4.xml" Id="Rbc34e2559ea249b9" /><Relationship Type="http://schemas.openxmlformats.org/officeDocument/2006/relationships/slide" Target="/ppt/slides/slide5.xml" Id="Rd3a99eb59bce4a62" /><Relationship Type="http://schemas.openxmlformats.org/officeDocument/2006/relationships/slide" Target="/ppt/slides/slide6.xml" Id="R5ba5484c12a3409a" /><Relationship Type="http://schemas.openxmlformats.org/officeDocument/2006/relationships/slide" Target="/ppt/slides/slide7.xml" Id="R7e7e89a9281847f5" /><Relationship Type="http://schemas.openxmlformats.org/officeDocument/2006/relationships/slide" Target="/ppt/slides/slide8.xml" Id="Rfb5d79b54eab4377" /><Relationship Type="http://schemas.openxmlformats.org/officeDocument/2006/relationships/slide" Target="/ppt/slides/slide9.xml" Id="R81fa430d240749bd" /><Relationship Type="http://schemas.openxmlformats.org/officeDocument/2006/relationships/slide" Target="/ppt/slides/slide10.xml" Id="R631ad0989f6d42a0" /><Relationship Type="http://schemas.openxmlformats.org/officeDocument/2006/relationships/slide" Target="/ppt/slides/slide11.xml" Id="Rad8b9b5360c84184" /><Relationship Type="http://schemas.openxmlformats.org/officeDocument/2006/relationships/slide" Target="/ppt/slides/slide12.xml" Id="R5ae19a4007cc4e30" /><Relationship Type="http://schemas.openxmlformats.org/officeDocument/2006/relationships/slide" Target="/ppt/slides/slide13.xml" Id="R33361487bb6a4a7e" /><Relationship Type="http://schemas.openxmlformats.org/officeDocument/2006/relationships/slide" Target="/ppt/slides/slide14.xml" Id="R589b1b5546474296" /><Relationship Type="http://schemas.openxmlformats.org/officeDocument/2006/relationships/slide" Target="/ppt/slides/slide15.xml" Id="R26b89ba5cf674534" /><Relationship Type="http://schemas.openxmlformats.org/officeDocument/2006/relationships/slide" Target="/ppt/slides/slide16.xml" Id="R76f0c20128044113" /><Relationship Type="http://schemas.openxmlformats.org/officeDocument/2006/relationships/slide" Target="/ppt/slides/slide17.xml" Id="R03bb165840874edc" /><Relationship Type="http://schemas.openxmlformats.org/officeDocument/2006/relationships/slide" Target="/ppt/slides/slide18.xml" Id="R89206458050642ff" /><Relationship Type="http://schemas.openxmlformats.org/officeDocument/2006/relationships/slide" Target="/ppt/slides/slide19.xml" Id="Rb77659f1b3ce41af" /><Relationship Type="http://schemas.openxmlformats.org/officeDocument/2006/relationships/slide" Target="/ppt/slides/slide20.xml" Id="R6d8411fa355c41eb" /><Relationship Type="http://schemas.openxmlformats.org/officeDocument/2006/relationships/slide" Target="/ppt/slides/slide21.xml" Id="Re3e9a97294c347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1cc0bfb6bf41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1d1a28330e4163" /><Relationship Type="http://schemas.openxmlformats.org/officeDocument/2006/relationships/notesMaster" Target="/ppt/notesMasters/notesMaster1.xml" Id="R28eaa9a2b1dd4f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7f7c9af17c4f76" /><Relationship Type="http://schemas.openxmlformats.org/officeDocument/2006/relationships/notesMaster" Target="/ppt/notesMasters/notesMaster1.xml" Id="Ra162fd54cf2445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1e6471937d425f" /><Relationship Type="http://schemas.openxmlformats.org/officeDocument/2006/relationships/notesMaster" Target="/ppt/notesMasters/notesMaster1.xml" Id="Ra3572b945a2f42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842dfca9284754" /><Relationship Type="http://schemas.openxmlformats.org/officeDocument/2006/relationships/notesMaster" Target="/ppt/notesMasters/notesMaster1.xml" Id="Rba7ac1a7ea054a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cc259ada9c4e76" /><Relationship Type="http://schemas.openxmlformats.org/officeDocument/2006/relationships/notesMaster" Target="/ppt/notesMasters/notesMaster1.xml" Id="R6d82e5d0dd6646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7d20e588e24677" /><Relationship Type="http://schemas.openxmlformats.org/officeDocument/2006/relationships/notesMaster" Target="/ppt/notesMasters/notesMaster1.xml" Id="Re5dbe50365d843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a6cf794fdd461b" /><Relationship Type="http://schemas.openxmlformats.org/officeDocument/2006/relationships/notesMaster" Target="/ppt/notesMasters/notesMaster1.xml" Id="R70e6bf1d149e45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bd1d39b5d74f1f" /><Relationship Type="http://schemas.openxmlformats.org/officeDocument/2006/relationships/notesMaster" Target="/ppt/notesMasters/notesMaster1.xml" Id="R3ee3c21dbfc845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7091968d194672" /><Relationship Type="http://schemas.openxmlformats.org/officeDocument/2006/relationships/notesMaster" Target="/ppt/notesMasters/notesMaster1.xml" Id="R187e3f63033f45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f6433a39174b5e" /><Relationship Type="http://schemas.openxmlformats.org/officeDocument/2006/relationships/notesMaster" Target="/ppt/notesMasters/notesMaster1.xml" Id="R368c006aea8244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9b1e8ab7fc4c96" /><Relationship Type="http://schemas.openxmlformats.org/officeDocument/2006/relationships/notesMaster" Target="/ppt/notesMasters/notesMaster1.xml" Id="R5e6633cacb654d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d2aea055444da6" /><Relationship Type="http://schemas.openxmlformats.org/officeDocument/2006/relationships/notesMaster" Target="/ppt/notesMasters/notesMaster1.xml" Id="R37ffd674e0f541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e86fbf78184cd3" /><Relationship Type="http://schemas.openxmlformats.org/officeDocument/2006/relationships/notesMaster" Target="/ppt/notesMasters/notesMaster1.xml" Id="R0977b685d37949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b0a5080c2843de" /><Relationship Type="http://schemas.openxmlformats.org/officeDocument/2006/relationships/notesMaster" Target="/ppt/notesMasters/notesMaster1.xml" Id="R69077731166242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649cdd0174437f" /><Relationship Type="http://schemas.openxmlformats.org/officeDocument/2006/relationships/notesMaster" Target="/ppt/notesMasters/notesMaster1.xml" Id="R8301796945ed4d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e2fcfdc1664589" /><Relationship Type="http://schemas.openxmlformats.org/officeDocument/2006/relationships/notesMaster" Target="/ppt/notesMasters/notesMaster1.xml" Id="Rded85da227074ac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921432fb774759" /><Relationship Type="http://schemas.openxmlformats.org/officeDocument/2006/relationships/notesMaster" Target="/ppt/notesMasters/notesMaster1.xml" Id="R5dd4347442a843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c39545ae2d456e" /><Relationship Type="http://schemas.openxmlformats.org/officeDocument/2006/relationships/notesMaster" Target="/ppt/notesMasters/notesMaster1.xml" Id="Rbe8ba8e7b8984e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594b4cf23f4209" /><Relationship Type="http://schemas.openxmlformats.org/officeDocument/2006/relationships/notesMaster" Target="/ppt/notesMasters/notesMaster1.xml" Id="Rb5c2165527204e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f43baccca547b3" /><Relationship Type="http://schemas.openxmlformats.org/officeDocument/2006/relationships/notesMaster" Target="/ppt/notesMasters/notesMaster1.xml" Id="R6e654be87c9f4e8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51487331254bea" /><Relationship Type="http://schemas.openxmlformats.org/officeDocument/2006/relationships/notesMaster" Target="/ppt/notesMasters/notesMaster1.xml" Id="Rd7521be63f4f42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 · CAPÍTULO 1 · CONCEPTO</a:t>
            </a:r>
          </a:p>
          <a:p xmlns:a="http://schemas.openxmlformats.org/drawingml/2006/main">
            <a:r>
              <a:t>Título: Hacer visible la ejecución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Inspeccionar el recorrido del agente después de una solicitud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Hacer visible la ejecución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traza permite discutir una ejecución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diferencia hay entre sospechar lentitud y localizarla?».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Solicitud: Una ejecución identificable del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Instrumentación: Registra operaciones relevantes con tiempos y relaciones.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Langfuse: Permite examinar el recorrido y formular hipótesis.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traza permite discutir una ejecución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Solicitud; Instrumentación; Langfuse.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Una consulta sencilla tarda más de lo esperado.</a:t>
            </a:r>
          </a:p>
          <a:p xmlns:a="http://schemas.openxmlformats.org/drawingml/2006/main">
            <a:r>
              <a:t>Abrir: Localizar su traza en Langfuse.</a:t>
            </a:r>
          </a:p>
          <a:p xmlns:a="http://schemas.openxmlformats.org/drawingml/2006/main">
            <a:r>
              <a:t>Recorrer: Identificar llamadas al modelo y tools.</a:t>
            </a:r>
          </a:p>
          <a:p xmlns:a="http://schemas.openxmlformats.org/drawingml/2006/main">
            <a:r>
              <a:t>Priorizar: Señalar el paso dominante con evidencia.</a:t>
            </a:r>
          </a:p>
          <a:p xmlns:a="http://schemas.openxmlformats.org/drawingml/2006/main">
            <a:r>
              <a:t>Resultado: El curso usa Langfuse para el objetivo de observabilidad del sílabo.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diferencia hay entre sospechar lentitud y localizarla?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traza permite discutir una ejecución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Cambiar tecnología o prompt antes de observar el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Logs, métricas y trazas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 · CAPÍTULO 1 · DESARROLLO</a:t>
            </a:r>
          </a:p>
          <a:p xmlns:a="http://schemas.openxmlformats.org/drawingml/2006/main">
            <a:r>
              <a:t>Título: Observar antes de optimizar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Inspeccionar el recorrido del agente después de una solicitud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Hacer visible la ejecución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traza permite discutir una ejecución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Camino: Qué modelo, tools y retriever participaron.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Costo: Qué pasos consumieron tokens y tiempo.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Decisión: Dónde conviene investigar primero.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Cambiar tecnología o prompt antes de observar el problema.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Camino; Costo; Decisión.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Una consulta sencilla tarda más de lo esperado.</a:t>
            </a:r>
          </a:p>
          <a:p xmlns:a="http://schemas.openxmlformats.org/drawingml/2006/main">
            <a:r>
              <a:t>Abrir: Localizar su traza en Langfuse.</a:t>
            </a:r>
          </a:p>
          <a:p xmlns:a="http://schemas.openxmlformats.org/drawingml/2006/main">
            <a:r>
              <a:t>Recorrer: Identificar llamadas al modelo y tools.</a:t>
            </a:r>
          </a:p>
          <a:p xmlns:a="http://schemas.openxmlformats.org/drawingml/2006/main">
            <a:r>
              <a:t>Priorizar: Señalar el paso dominante con evidencia.</a:t>
            </a:r>
          </a:p>
          <a:p xmlns:a="http://schemas.openxmlformats.org/drawingml/2006/main">
            <a:r>
              <a:t>Resultado: El curso usa Langfuse para el objetivo de observabilidad del sílabo.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diferencia hay entre sospechar lentitud y localizarla?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traza permite discutir una ejecución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Cambiar tecnología o prompt antes de observar el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Logs, métricas y trazas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· CAPÍTULO 1 · EJEMPLO</a:t>
            </a:r>
          </a:p>
          <a:p xmlns:a="http://schemas.openxmlformats.org/drawingml/2006/main">
            <a:r>
              <a:t>Título: AndesMóvil · Hacer visible la ejecución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Inspeccionar el recorrido del agente después de una solicitud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Hacer visible la ejecución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traza permite discutir una ejecución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consulta sencilla tarda más de lo esperado.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Abrir: Localizar su traza en Langfuse.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Recorrer: Identificar llamadas al modelo y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Priorizar: Señalar el paso dominante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curso usa Langfuse para el objetivo de observabilidad del sílabo.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Abrir; Recorrer; Priorizar.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Una consulta sencilla tarda más de lo esperado.</a:t>
            </a:r>
          </a:p>
          <a:p xmlns:a="http://schemas.openxmlformats.org/drawingml/2006/main">
            <a:r>
              <a:t>Abrir: Localizar su traza en Langfuse.</a:t>
            </a:r>
          </a:p>
          <a:p xmlns:a="http://schemas.openxmlformats.org/drawingml/2006/main">
            <a:r>
              <a:t>Recorrer: Identificar llamadas al modelo y tools.</a:t>
            </a:r>
          </a:p>
          <a:p xmlns:a="http://schemas.openxmlformats.org/drawingml/2006/main">
            <a:r>
              <a:t>Priorizar: Señalar el paso dominante con evidencia.</a:t>
            </a:r>
          </a:p>
          <a:p xmlns:a="http://schemas.openxmlformats.org/drawingml/2006/main">
            <a:r>
              <a:t>Resultado: El curso usa Langfuse para el objetivo de observabilidad del sílabo.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diferencia hay entre sospechar lentitud y localizarla?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traza permite discutir una ejecución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Cambiar tecnología o prompt antes de observar el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Logs, métricas y trazas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4 · CAPÍTULO 2 · CONCEPTO</a:t>
            </a:r>
          </a:p>
          <a:p xmlns:a="http://schemas.openxmlformats.org/drawingml/2006/main">
            <a:r>
              <a:t>Título: Logs, métricas y trazas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Elegir la señal adecuada para la pregunta de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Logs, métricas y trazas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Ninguna señal aislada explica todos los niveles de un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usarías para seguir una consulta específica entre varios pasos?».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Logs: Eventos y mensajes que describen qué pasó.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Métricas: Agregados que muestran cantidades y tendencias.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Trazas: Recorrido de una ejecución con relaciones entre operaciones.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Ninguna señal aislada explica todos los niveles de un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Logs; Métricas; Trazas.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Algunos clientes experimentan respuestas lentas.</a:t>
            </a:r>
          </a:p>
          <a:p xmlns:a="http://schemas.openxmlformats.org/drawingml/2006/main">
            <a:r>
              <a:t>Métrica: Identificar si crece la latencia de cola.</a:t>
            </a:r>
          </a:p>
          <a:p xmlns:a="http://schemas.openxmlformats.org/drawingml/2006/main">
            <a:r>
              <a:t>Traza: Abrir un caso lento y localizar sus spans.</a:t>
            </a:r>
          </a:p>
          <a:p xmlns:a="http://schemas.openxmlformats.org/drawingml/2006/main">
            <a:r>
              <a:t>Log: Leer el error o detalle asociado al paso problemático.</a:t>
            </a:r>
          </a:p>
          <a:p xmlns:a="http://schemas.openxmlformats.org/drawingml/2006/main">
            <a:r>
              <a:t>Resultado: Las señales se complementan porque responden preguntas distintas.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usarías para seguir una consulta específica entre varios pasos?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Ninguna señal aislada explica todos los niveles de un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Tratar una lista de prints como una traza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Hacer visible la ejecución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Anatomía de una traza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5 · CAPÍTULO 2 · DESARROLLO</a:t>
            </a:r>
          </a:p>
          <a:p xmlns:a="http://schemas.openxmlformats.org/drawingml/2006/main">
            <a:r>
              <a:t>Título: Una pregunta por señal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Elegir la señal adecuada para la pregunta de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Logs, métricas y trazas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Ninguna señal aislada explica todos los niveles de un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Evento: ¿Qué error devolvió la herramienta?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Agregado: ¿Qué proporción de peticiones termina con error?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Recorrido: ¿En qué paso se consumió el tiempo de este caso?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Tratar una lista de prints como una traza completa.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Evento; Agregado; Recorrido.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Algunos clientes experimentan respuestas lentas.</a:t>
            </a:r>
          </a:p>
          <a:p xmlns:a="http://schemas.openxmlformats.org/drawingml/2006/main">
            <a:r>
              <a:t>Métrica: Identificar si crece la latencia de cola.</a:t>
            </a:r>
          </a:p>
          <a:p xmlns:a="http://schemas.openxmlformats.org/drawingml/2006/main">
            <a:r>
              <a:t>Traza: Abrir un caso lento y localizar sus spans.</a:t>
            </a:r>
          </a:p>
          <a:p xmlns:a="http://schemas.openxmlformats.org/drawingml/2006/main">
            <a:r>
              <a:t>Log: Leer el error o detalle asociado al paso problemático.</a:t>
            </a:r>
          </a:p>
          <a:p xmlns:a="http://schemas.openxmlformats.org/drawingml/2006/main">
            <a:r>
              <a:t>Resultado: Las señales se complementan porque responden preguntas distintas.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usarías para seguir una consulta específica entre varios pasos?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Ninguna señal aislada explica todos los niveles de un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Tratar una lista de prints como una traza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Hacer visible la ejecución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Anatomía de una traza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6 · CAPÍTULO 2 · EJEMPLO</a:t>
            </a:r>
          </a:p>
          <a:p xmlns:a="http://schemas.openxmlformats.org/drawingml/2006/main">
            <a:r>
              <a:t>Título: Banco Inti · Logs, métricas y trazas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Elegir la señal adecuada para la pregunta de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Logs, métricas y trazas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Ninguna señal aislada explica todos los niveles de un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Algunos clientes experimentan respuestas lentas.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Métrica: Identificar si crece la latencia de cola.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Traza: Abrir un caso lento y localizar sus spans.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Log: Leer el error o detalle asociado al paso problemático.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Las señales se complementan porque responden preguntas distintas.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Métrica; Traza; Log.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Algunos clientes experimentan respuestas lentas.</a:t>
            </a:r>
          </a:p>
          <a:p xmlns:a="http://schemas.openxmlformats.org/drawingml/2006/main">
            <a:r>
              <a:t>Métrica: Identificar si crece la latencia de cola.</a:t>
            </a:r>
          </a:p>
          <a:p xmlns:a="http://schemas.openxmlformats.org/drawingml/2006/main">
            <a:r>
              <a:t>Traza: Abrir un caso lento y localizar sus spans.</a:t>
            </a:r>
          </a:p>
          <a:p xmlns:a="http://schemas.openxmlformats.org/drawingml/2006/main">
            <a:r>
              <a:t>Log: Leer el error o detalle asociado al paso problemático.</a:t>
            </a:r>
          </a:p>
          <a:p xmlns:a="http://schemas.openxmlformats.org/drawingml/2006/main">
            <a:r>
              <a:t>Resultado: Las señales se complementan porque responden preguntas distintas.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usarías para seguir una consulta específica entre varios pasos?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Ninguna señal aislada explica todos los niveles de un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Tratar una lista de prints como una traza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Hacer visible la ejecución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Anatomía de una traza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7 · CAPÍTULO 3 · CONCEPTO</a:t>
            </a:r>
          </a:p>
          <a:p xmlns:a="http://schemas.openxmlformats.org/drawingml/2006/main">
            <a:r>
              <a:t>Título: Anatomía de una traza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Relacionar el tiempo total con las operaciones del ejemplo del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Anatomía de una traza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Optimiza el paso que la traza identifica, no el que parece complejo.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«¿Reducir 100 ms de la tool resolvería la mayor parte de la latencia?».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Modelo: Tres llamadas: 1.180 + 980 + 410 = 2.570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Herramienta: get_customer_plan consume 240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Retriever: La recuperación consume 610 ms; total ilustrado: 3.420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Optimiza el paso que la traza identifica, no el que parece complejo.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Modelo; Herramienta; Retriever.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traza incluye una consulta de plan y una recuperación documental.</a:t>
            </a:r>
          </a:p>
          <a:p xmlns:a="http://schemas.openxmlformats.org/drawingml/2006/main">
            <a:r>
              <a:t>Sumar: 2.570 + 240 + 610 = 3.420 ms.</a:t>
            </a:r>
          </a:p>
          <a:p xmlns:a="http://schemas.openxmlformats.org/drawingml/2006/main">
            <a:r>
              <a:t>Localizar: El modelo representa aproximadamente el 75 % del total.</a:t>
            </a:r>
          </a:p>
          <a:p xmlns:a="http://schemas.openxmlformats.org/drawingml/2006/main">
            <a:r>
              <a:t>Investigar: Revisar si todas las llamadas eran necesarias.</a:t>
            </a:r>
          </a:p>
          <a:p xmlns:a="http://schemas.openxmlformats.org/drawingml/2006/main">
            <a:r>
              <a:t>Resultado: Las cifras son el ejemplo del README; no mediciones del nuevo PPTX.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¿Reducir 100 ms de la tool resolvería la mayor parte de la latencia?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Optimiza el paso que la traza identifica, no el que parece complejo.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Sumar spans solapados como si siempre fueran secuenciales.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Logs, métricas y trazas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p50, p95 y promedio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8 · CAPÍTULO 3 · DESARROLLO</a:t>
            </a:r>
          </a:p>
          <a:p xmlns:a="http://schemas.openxmlformats.org/drawingml/2006/main">
            <a:r>
              <a:t>Título: Leer jerarquía y secuencia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Relacionar el tiempo total con las operaciones del ejemplo del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Anatomía de una traza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Optimiza el paso que la traza identifica, no el que parece complejo.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Trace: Agrupa la consulta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Span: Describe una operación y su relación con la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Interpretación: En el ejemplo secuencial, las llamadas al modelo dominan el tiempo.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Sumar spans solapados como si siempre fueran secuenciales.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Trace; Span; Interpretación.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traza incluye una consulta de plan y una recuperación documental.</a:t>
            </a:r>
          </a:p>
          <a:p xmlns:a="http://schemas.openxmlformats.org/drawingml/2006/main">
            <a:r>
              <a:t>Sumar: 2.570 + 240 + 610 = 3.420 ms.</a:t>
            </a:r>
          </a:p>
          <a:p xmlns:a="http://schemas.openxmlformats.org/drawingml/2006/main">
            <a:r>
              <a:t>Localizar: El modelo representa aproximadamente el 75 % del total.</a:t>
            </a:r>
          </a:p>
          <a:p xmlns:a="http://schemas.openxmlformats.org/drawingml/2006/main">
            <a:r>
              <a:t>Investigar: Revisar si todas las llamadas eran necesarias.</a:t>
            </a:r>
          </a:p>
          <a:p xmlns:a="http://schemas.openxmlformats.org/drawingml/2006/main">
            <a:r>
              <a:t>Resultado: Las cifras son el ejemplo del README; no mediciones del nuevo PPTX.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¿Reducir 100 ms de la tool resolvería la mayor parte de la latencia?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Optimiza el paso que la traza identifica, no el que parece complejo.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Sumar spans solapados como si siempre fueran secuenciales.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Logs, métricas y trazas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p50, p95 y promedio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9 · CAPÍTULO 3 · EJEMPLO</a:t>
            </a:r>
          </a:p>
          <a:p xmlns:a="http://schemas.openxmlformats.org/drawingml/2006/main">
            <a:r>
              <a:t>Título: AndesMóvil · Anatomía de una traza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Relacionar el tiempo total con las operaciones del ejemplo del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Anatomía de una traza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Optimiza el paso que la traza identifica, no el que parece complejo.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La traza incluye una consulta de plan y una recuperación documental.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Sumar: 2.570 + 240 + 610 = 3.420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Localizar: El modelo representa aproximadamente el 75 % del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Investigar: Revisar si todas las llamadas eran necesarias.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Las cifras son el ejemplo del README; no mediciones del nuevo PPTX.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Sumar; Localizar; Investigar.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traza incluye una consulta de plan y una recuperación documental.</a:t>
            </a:r>
          </a:p>
          <a:p xmlns:a="http://schemas.openxmlformats.org/drawingml/2006/main">
            <a:r>
              <a:t>Sumar: 2.570 + 240 + 610 = 3.420 ms.</a:t>
            </a:r>
          </a:p>
          <a:p xmlns:a="http://schemas.openxmlformats.org/drawingml/2006/main">
            <a:r>
              <a:t>Localizar: El modelo representa aproximadamente el 75 % del total.</a:t>
            </a:r>
          </a:p>
          <a:p xmlns:a="http://schemas.openxmlformats.org/drawingml/2006/main">
            <a:r>
              <a:t>Investigar: Revisar si todas las llamadas eran necesarias.</a:t>
            </a:r>
          </a:p>
          <a:p xmlns:a="http://schemas.openxmlformats.org/drawingml/2006/main">
            <a:r>
              <a:t>Resultado: Las cifras son el ejemplo del README; no mediciones del nuevo PPTX.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¿Reducir 100 ms de la tool resolvería la mayor parte de la latencia?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Optimiza el paso que la traza identifica, no el que parece complejo.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Sumar spans solapados como si siempre fueran secuenciales.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Logs, métricas y trazas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p50, p95 y promedio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10 · CAPÍTULO 4 · CONCEPTO</a:t>
            </a:r>
          </a:p>
          <a:p xmlns:a="http://schemas.openxmlformats.org/drawingml/2006/main">
            <a:r>
              <a:t>Título: p50, p95 y promedio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Describir la distribución y la cola de latencia con un método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p50, p95 y promedio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Reporta distribución y condiciones, no solo una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«¿Por qué dos herramientas pueden mostrar distinto p95 con diez datos?».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Muestra: Nueve solicitudes de 800 ms y una de 21.000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Promedio: 28.200 / 10 = 2.820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Percentiles: p50 = 800 ms; p95 = 21.000 ms usando rango más próximo.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Reporta distribución y condiciones, no solo una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Muestra; Promedio; Percentiles.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cold start afecta una de diez consultas del mismo escenario.</a:t>
            </a:r>
          </a:p>
          <a:p xmlns:a="http://schemas.openxmlformats.org/drawingml/2006/main">
            <a:r>
              <a:t>Ordenar: Separar las nueve rápidas de la lenta.</a:t>
            </a:r>
          </a:p>
          <a:p xmlns:a="http://schemas.openxmlformats.org/drawingml/2006/main">
            <a:r>
              <a:t>Resumir: Informar p50, p95 y método, junto al tamaño de muestra.</a:t>
            </a:r>
          </a:p>
          <a:p xmlns:a="http://schemas.openxmlformats.org/drawingml/2006/main">
            <a:r>
              <a:t>Contextualizar: Marcar que la lenta ocurrió tras inactividad.</a:t>
            </a:r>
          </a:p>
          <a:p xmlns:a="http://schemas.openxmlformats.org/drawingml/2006/main">
            <a:r>
              <a:t>Resultado: El percentil cambia con la muestra y el método; no elimina la variación.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dos herramientas pueden mostrar distinto p95 con diez datos?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Reporta distribución y condiciones, no solo una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Llamar peor caso al p95 en cualquier conjunto.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Anatomía de una traza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PII en la telemetría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11 · CAPÍTULO 4 · DESARROLLO</a:t>
            </a:r>
          </a:p>
          <a:p xmlns:a="http://schemas.openxmlformats.org/drawingml/2006/main">
            <a:r>
              <a:t>Título: Interpretar con cuidado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Describir la distribución y la cola de latencia con un método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p50, p95 y promedio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Reporta distribución y condiciones, no solo una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p50: Describe el punto central de la muestra ordenada.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p95: Describe un percentil alto; no es sinónimo universal de máximo.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Método: Con pocas observaciones, la interpolación puede dar otro valor.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Llamar peor caso al p95 en cualquier conjunto.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p50; p95; Método.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cold start afecta una de diez consultas del mismo escenario.</a:t>
            </a:r>
          </a:p>
          <a:p xmlns:a="http://schemas.openxmlformats.org/drawingml/2006/main">
            <a:r>
              <a:t>Ordenar: Separar las nueve rápidas de la lenta.</a:t>
            </a:r>
          </a:p>
          <a:p xmlns:a="http://schemas.openxmlformats.org/drawingml/2006/main">
            <a:r>
              <a:t>Resumir: Informar p50, p95 y método, junto al tamaño de muestra.</a:t>
            </a:r>
          </a:p>
          <a:p xmlns:a="http://schemas.openxmlformats.org/drawingml/2006/main">
            <a:r>
              <a:t>Contextualizar: Marcar que la lenta ocurrió tras inactividad.</a:t>
            </a:r>
          </a:p>
          <a:p xmlns:a="http://schemas.openxmlformats.org/drawingml/2006/main">
            <a:r>
              <a:t>Resultado: El percentil cambia con la muestra y el método; no elimina la variación.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dos herramientas pueden mostrar distinto p95 con diez datos?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Reporta distribución y condiciones, no solo una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Llamar peor caso al p95 en cualquier conjunto.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Anatomía de una traza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PII en la telemetría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12 · CAPÍTULO 4 · EJEMPLO</a:t>
            </a:r>
          </a:p>
          <a:p xmlns:a="http://schemas.openxmlformats.org/drawingml/2006/main">
            <a:r>
              <a:t>Título: MercaSur · p50, p95 y promedio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Describir la distribución y la cola de latencia con un método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p50, p95 y promedio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Reporta distribución y condiciones, no solo una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 cold start afecta una de diez consultas del mismo escenario.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Ordenar: Separar las nueve rápidas de la lenta.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Resumir: Informar p50, p95 y método, junto al tamaño de muestra.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Contextualizar: Marcar que la lenta ocurrió tras inactividad.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percentil cambia con la muestra y el método; no elimina la variación.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Ordenar; Resumir; Contextualizar.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cold start afecta una de diez consultas del mismo escenario.</a:t>
            </a:r>
          </a:p>
          <a:p xmlns:a="http://schemas.openxmlformats.org/drawingml/2006/main">
            <a:r>
              <a:t>Ordenar: Separar las nueve rápidas de la lenta.</a:t>
            </a:r>
          </a:p>
          <a:p xmlns:a="http://schemas.openxmlformats.org/drawingml/2006/main">
            <a:r>
              <a:t>Resumir: Informar p50, p95 y método, junto al tamaño de muestra.</a:t>
            </a:r>
          </a:p>
          <a:p xmlns:a="http://schemas.openxmlformats.org/drawingml/2006/main">
            <a:r>
              <a:t>Contextualizar: Marcar que la lenta ocurrió tras inactividad.</a:t>
            </a:r>
          </a:p>
          <a:p xmlns:a="http://schemas.openxmlformats.org/drawingml/2006/main">
            <a:r>
              <a:t>Resultado: El percentil cambia con la muestra y el método; no elimina la variación.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dos herramientas pueden mostrar distinto p95 con diez datos?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Reporta distribución y condiciones, no solo una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Llamar peor caso al p95 en cualquier conjunto.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Anatomía de una traza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PII en la telemetría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13 · CAPÍTULO 5 · CONCEPTO</a:t>
            </a:r>
          </a:p>
          <a:p xmlns:a="http://schemas.openxmlformats.org/drawingml/2006/main">
            <a:r>
              <a:t>Título: PII en la telemetría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§4 y comun/observability.py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Aplicar protección antes de que el contenido salga hacia la plataforma de trazas.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PII en la telemetría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Proteger la respuesta visible no protege automáticamente las trazas.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«¿En qué punto ya sería tarde para evitar que el SaaS reciba el dato?».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Ejecución: Mensajes y argumentos pueden contener identificadores.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Enmascarador: Transforma los datos en la frontera de exportación.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Langfuse: Recibe contenido protegido y estructura útil de la traza.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Proteger la respuesta visible no protege automáticamente las trazas.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Ejecución; Enmascarador; Langfuse.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argumento de consulta incluye una placa o un identificador del caso.</a:t>
            </a:r>
          </a:p>
          <a:p xmlns:a="http://schemas.openxmlformats.org/drawingml/2006/main">
            <a:r>
              <a:t>Revisar: Identificar qué campos llegan a la instrumentación.</a:t>
            </a:r>
          </a:p>
          <a:p xmlns:a="http://schemas.openxmlformats.org/drawingml/2006/main">
            <a:r>
              <a:t>Proteger: Aplicar el saneamiento previsto antes de exportar.</a:t>
            </a:r>
          </a:p>
          <a:p xmlns:a="http://schemas.openxmlformats.org/drawingml/2006/main">
            <a:r>
              <a:t>Verificar: Inspeccionar la traza recibida y sus campos reales.</a:t>
            </a:r>
          </a:p>
          <a:p xmlns:a="http://schemas.openxmlformats.org/drawingml/2006/main">
            <a:r>
              <a:t>Resultado: El patrón debe comprobarse campo por campo; no todos los identificadores tienen el mismo formato.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¿En qué punto ya sería tarde para evitar que el SaaS reciba el dato?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Proteger la respuesta visible no protege automáticamente las trazas.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cualquier campo queda cubierto por el patrón de DNI.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p50, p95 y promedio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Laboratorio L9: dos cuellos de botella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14 · CAPÍTULO 5 · DESARROLLO</a:t>
            </a:r>
          </a:p>
          <a:p xmlns:a="http://schemas.openxmlformats.org/drawingml/2006/main">
            <a:r>
              <a:t>Título: Equilibrio entre diagnóstico y exposición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§4 y comun/observability.py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Aplicar protección antes de que el contenido salga hacia la plataforma de trazas.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PII en la telemetría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Proteger la respuesta visible no protege automáticamente las trazas.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Conservar: Nombres de tools, estructura, tiempos y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Reducir: Identificadores sensibles que no deben exportarse íntegros.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Aceptar: Una traza enmascarada puede no permitir reproducir exactamente el dato.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Suponer que cualquier campo queda cubierto por el patrón de DNI.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Conservar; Reducir; Aceptar.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argumento de consulta incluye una placa o un identificador del caso.</a:t>
            </a:r>
          </a:p>
          <a:p xmlns:a="http://schemas.openxmlformats.org/drawingml/2006/main">
            <a:r>
              <a:t>Revisar: Identificar qué campos llegan a la instrumentación.</a:t>
            </a:r>
          </a:p>
          <a:p xmlns:a="http://schemas.openxmlformats.org/drawingml/2006/main">
            <a:r>
              <a:t>Proteger: Aplicar el saneamiento previsto antes de exportar.</a:t>
            </a:r>
          </a:p>
          <a:p xmlns:a="http://schemas.openxmlformats.org/drawingml/2006/main">
            <a:r>
              <a:t>Verificar: Inspeccionar la traza recibida y sus campos reales.</a:t>
            </a:r>
          </a:p>
          <a:p xmlns:a="http://schemas.openxmlformats.org/drawingml/2006/main">
            <a:r>
              <a:t>Resultado: El patrón debe comprobarse campo por campo; no todos los identificadores tienen el mismo formato.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¿En qué punto ya sería tarde para evitar que el SaaS reciba el dato?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Proteger la respuesta visible no protege automáticamente las trazas.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cualquier campo queda cubierto por el patrón de DNI.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p50, p95 y promedio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Laboratorio L9: dos cuellos de botella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15 · CAPÍTULO 5 · EJEMPLO</a:t>
            </a:r>
          </a:p>
          <a:p xmlns:a="http://schemas.openxmlformats.org/drawingml/2006/main">
            <a:r>
              <a:t>Título: Andina Seguros · PII en la telemetría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§4 y comun/observability.py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Aplicar protección antes de que el contenido salga hacia la plataforma de trazas.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PII en la telemetría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Proteger la respuesta visible no protege automáticamente las trazas.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argumento de consulta incluye una placa o un identificador del caso.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Revisar: Identificar qué campos llegan a la instrumentación.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Proteger: Aplicar el saneamiento previsto antes de exportar.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Verificar: Inspeccionar la traza recibida y sus campos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patrón debe comprobarse campo por campo; no todos los identificadores tienen el mismo formato.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Revisar; Proteger; Verificar.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argumento de consulta incluye una placa o un identificador del caso.</a:t>
            </a:r>
          </a:p>
          <a:p xmlns:a="http://schemas.openxmlformats.org/drawingml/2006/main">
            <a:r>
              <a:t>Revisar: Identificar qué campos llegan a la instrumentación.</a:t>
            </a:r>
          </a:p>
          <a:p xmlns:a="http://schemas.openxmlformats.org/drawingml/2006/main">
            <a:r>
              <a:t>Proteger: Aplicar el saneamiento previsto antes de exportar.</a:t>
            </a:r>
          </a:p>
          <a:p xmlns:a="http://schemas.openxmlformats.org/drawingml/2006/main">
            <a:r>
              <a:t>Verificar: Inspeccionar la traza recibida y sus campos reales.</a:t>
            </a:r>
          </a:p>
          <a:p xmlns:a="http://schemas.openxmlformats.org/drawingml/2006/main">
            <a:r>
              <a:t>Resultado: El patrón debe comprobarse campo por campo; no todos los identificadores tienen el mismo formato.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¿En qué punto ya sería tarde para evitar que el SaaS reciba el dato?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Proteger la respuesta visible no protege automáticamente las trazas.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cualquier campo queda cubierto por el patrón de DNI.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p50, p95 y promedio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Laboratorio L9: dos cuellos de botella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16 · CAPÍTULO 6 · CONCEPTO</a:t>
            </a:r>
          </a:p>
          <a:p xmlns:a="http://schemas.openxmlformats.org/drawingml/2006/main">
            <a:r>
              <a:t>Título: Laboratorio L9: dos cuellos de botella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Instrumentar el Space y extraer dos hallazgos respaldados por trazas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L9: dos cuellos de botella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hallazgo útil conecta observación, causa posible y próxima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traza adicional buscarías para comprobar que el patrón se repite?».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Integrar: Añadir observability.py y la configuración de Langfuse.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Redesplegar: Enviar tráfico a la URL real del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Analizar: Documentar dos cuellos de botella y su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 hallazgo útil conecta observación, causa posible y próxima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Integrar; Redesplegar; Analizar.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pregunta de comisión genera recuperación repetida y varias llamadas al modelo.</a:t>
            </a:r>
          </a:p>
          <a:p xmlns:a="http://schemas.openxmlformats.org/drawingml/2006/main">
            <a:r>
              <a:t>Evidencia: Guardar referencias de las ejecuciones representativas.</a:t>
            </a:r>
          </a:p>
          <a:p xmlns:a="http://schemas.openxmlformats.org/drawingml/2006/main">
            <a:r>
              <a:t>Hipótesis: La descripción del retriever induce llamadas redundantes.</a:t>
            </a:r>
          </a:p>
          <a:p xmlns:a="http://schemas.openxmlformats.org/drawingml/2006/main">
            <a:r>
              <a:t>Siguiente: Proponer una modificación medible para L10.</a:t>
            </a:r>
          </a:p>
          <a:p xmlns:a="http://schemas.openxmlformats.org/drawingml/2006/main">
            <a:r>
              <a:t>Resultado: La hipótesis es una explicación por verificar, no un hecho demostrado por una sola traza.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traza adicional buscarías para comprobar que el patrón se repite?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hallazgo útil conecta observación, causa posible y próxima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una sospecha como causa confirmada.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PII en la telemetría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De trazas a evaluación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17 · CAPÍTULO 6 · DESARROLLO</a:t>
            </a:r>
          </a:p>
          <a:p xmlns:a="http://schemas.openxmlformats.org/drawingml/2006/main">
            <a:r>
              <a:t>Título: Redactar un hallazgo útil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Instrumentar el Space y extraer dos hallazgos respaldados por trazas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L9: dos cuellos de botella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hallazgo útil conecta observación, causa posible y próxima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Hecho: Qué span o secuencia domina en los casos observados.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Hipótesis: Qué causa podría explicar ese comportamiento.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Prueba futura: Qué cambio o medición permitiría comprobarla en S10.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Presentar una sospecha como causa confirmada.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Hecho; Hipótesis; Prueba futura.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pregunta de comisión genera recuperación repetida y varias llamadas al modelo.</a:t>
            </a:r>
          </a:p>
          <a:p xmlns:a="http://schemas.openxmlformats.org/drawingml/2006/main">
            <a:r>
              <a:t>Evidencia: Guardar referencias de las ejecuciones representativas.</a:t>
            </a:r>
          </a:p>
          <a:p xmlns:a="http://schemas.openxmlformats.org/drawingml/2006/main">
            <a:r>
              <a:t>Hipótesis: La descripción del retriever induce llamadas redundantes.</a:t>
            </a:r>
          </a:p>
          <a:p xmlns:a="http://schemas.openxmlformats.org/drawingml/2006/main">
            <a:r>
              <a:t>Siguiente: Proponer una modificación medible para L10.</a:t>
            </a:r>
          </a:p>
          <a:p xmlns:a="http://schemas.openxmlformats.org/drawingml/2006/main">
            <a:r>
              <a:t>Resultado: La hipótesis es una explicación por verificar, no un hecho demostrado por una sola traza.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traza adicional buscarías para comprobar que el patrón se repite?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hallazgo útil conecta observación, causa posible y próxima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una sospecha como causa confirmada.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PII en la telemetría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De trazas a evaluación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18 · CAPÍTULO 6 · EJEMPLO</a:t>
            </a:r>
          </a:p>
          <a:p xmlns:a="http://schemas.openxmlformats.org/drawingml/2006/main">
            <a:r>
              <a:t>Título: Banco Inti · Laboratorio L9: dos cuellos de botella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Instrumentar el Space y extraer dos hallazgos respaldados por trazas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L9: dos cuellos de botella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hallazgo útil conecta observación, causa posible y próxima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pregunta de comisión genera recuperación repetida y varias llamadas al modelo.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Evidencia: Guardar referencias de las ejecuciones representativas.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Hipótesis: La descripción del retriever induce llamadas redundantes.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Siguiente: Proponer una modificación medible para L10.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hipótesis es una explicación por verificar, no un hecho demostrado por una sola traza.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Evidencia; Hipótesis; Siguiente.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pregunta de comisión genera recuperación repetida y varias llamadas al modelo.</a:t>
            </a:r>
          </a:p>
          <a:p xmlns:a="http://schemas.openxmlformats.org/drawingml/2006/main">
            <a:r>
              <a:t>Evidencia: Guardar referencias de las ejecuciones representativas.</a:t>
            </a:r>
          </a:p>
          <a:p xmlns:a="http://schemas.openxmlformats.org/drawingml/2006/main">
            <a:r>
              <a:t>Hipótesis: La descripción del retriever induce llamadas redundantes.</a:t>
            </a:r>
          </a:p>
          <a:p xmlns:a="http://schemas.openxmlformats.org/drawingml/2006/main">
            <a:r>
              <a:t>Siguiente: Proponer una modificación medible para L10.</a:t>
            </a:r>
          </a:p>
          <a:p xmlns:a="http://schemas.openxmlformats.org/drawingml/2006/main">
            <a:r>
              <a:t>Resultado: La hipótesis es una explicación por verificar, no un hecho demostrado por una sola traza.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traza adicional buscarías para comprobar que el patrón se repite?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hallazgo útil conecta observación, causa posible y próxima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una sospecha como causa confirmada.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PII en la telemetría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 · Sigue: De trazas a evaluación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19 · CAPÍTULO 7 · CONCEPTO</a:t>
            </a:r>
          </a:p>
          <a:p xmlns:a="http://schemas.openxmlformats.org/drawingml/2006/main">
            <a:r>
              <a:t>Título: De trazas a evaluación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§6 y conexión S10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observar el recorrido y decidir si una versión es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trazas a evaluación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Observar permite formular cambios; evaluar permite defenderlos.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perderías si midieras solo milisegundos?».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S9: Describe cómo ocurrió cada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S10: Aplica criterios de calidad a casos comparables.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Decisión: Combina calidad, latencia y costo para aceptar o revertir un cambio.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Observar permite formular cambios; evaluar permite defenderlos.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S9; S10; Decisión.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Una propuesta elimina una llamada para reducir tiempo.</a:t>
            </a:r>
          </a:p>
          <a:p xmlns:a="http://schemas.openxmlformats.org/drawingml/2006/main">
            <a:r>
              <a:t>Observar: La traza confirma menos operaciones.</a:t>
            </a:r>
          </a:p>
          <a:p xmlns:a="http://schemas.openxmlformats.org/drawingml/2006/main">
            <a:r>
              <a:t>Evaluar: Comprobar que no empeoran datos ni fundamentación.</a:t>
            </a:r>
          </a:p>
          <a:p xmlns:a="http://schemas.openxmlformats.org/drawingml/2006/main">
            <a:r>
              <a:t>Decidir: Aceptar solo con evidencia suficiente sobre los criterios elegidos.</a:t>
            </a:r>
          </a:p>
          <a:p xmlns:a="http://schemas.openxmlformats.org/drawingml/2006/main">
            <a:r>
              <a:t>Resultado: Una respuesta más rápida puede ser peor si perdió la fuente necesaria.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perderías si midieras solo milisegundos?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Observar permite formular cambios; evaluar permite defenderlos.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una traza rápida como prueba de mejora global.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Laboratorio L9: dos cuellos de botella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20 · CAPÍTULO 7 · DESARROLLO</a:t>
            </a:r>
          </a:p>
          <a:p xmlns:a="http://schemas.openxmlformats.org/drawingml/2006/main">
            <a:r>
              <a:t>Título: Preparar la línea base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§6 y conexión S10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observar el recorrido y decidir si una versión es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trazas a evaluación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Observar permite formular cambios; evaluar permite defenderlos.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Conjunto: Usar el dataset del track y conservar sus casos.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Versión: Identificar código, prompt y configuración de la corrida.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Evidencia: Relacionar resultados con trazas y condiciones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Usar una traza rápida como prueba de mejora global.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Conjunto; Versión; Evidencia.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Una propuesta elimina una llamada para reducir tiempo.</a:t>
            </a:r>
          </a:p>
          <a:p xmlns:a="http://schemas.openxmlformats.org/drawingml/2006/main">
            <a:r>
              <a:t>Observar: La traza confirma menos operaciones.</a:t>
            </a:r>
          </a:p>
          <a:p xmlns:a="http://schemas.openxmlformats.org/drawingml/2006/main">
            <a:r>
              <a:t>Evaluar: Comprobar que no empeoran datos ni fundamentación.</a:t>
            </a:r>
          </a:p>
          <a:p xmlns:a="http://schemas.openxmlformats.org/drawingml/2006/main">
            <a:r>
              <a:t>Decidir: Aceptar solo con evidencia suficiente sobre los criterios elegidos.</a:t>
            </a:r>
          </a:p>
          <a:p xmlns:a="http://schemas.openxmlformats.org/drawingml/2006/main">
            <a:r>
              <a:t>Resultado: Una respuesta más rápida puede ser peor si perdió la fuente necesaria.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perderías si midieras solo milisegundos?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Observar permite formular cambios; evaluar permite defenderlos.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una traza rápida como prueba de mejora global.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Laboratorio L9: dos cuellos de botella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21 · CAPÍTULO 7 · EJEMPLO</a:t>
            </a:r>
          </a:p>
          <a:p xmlns:a="http://schemas.openxmlformats.org/drawingml/2006/main">
            <a:r>
              <a:t>Título: MercaSur · De trazas a evaluación</a:t>
            </a:r>
          </a:p>
          <a:p xmlns:a="http://schemas.openxmlformats.org/drawingml/2006/main">
            <a:r>
              <a:t>Sesión: Observabilidad y trazabilidad con Langfuse</a:t>
            </a:r>
          </a:p>
          <a:p xmlns:a="http://schemas.openxmlformats.org/drawingml/2006/main">
            <a:r>
              <a:t>Archivo: 09-observabilidad-langfuse-editable.pptx</a:t>
            </a:r>
          </a:p>
          <a:p xmlns:a="http://schemas.openxmlformats.org/drawingml/2006/main">
            <a:r>
              <a:t>Sección que soporta: §6 y conexión S10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https://github.com/javierrosado/ariwalab-course-langchain/blob/27c24090f1662f9473b673d2020e7bffee04490b/modulo-3-produccion/sesion-09-observabilidad-langfuse/README.md</a:t>
            </a:r>
          </a:p>
          <a:p xmlns:a="http://schemas.openxmlformats.org/drawingml/2006/main">
            <a:r>
              <a:t>Contexto adicional: laboratorios, demos y soluciones de modulo-3-produccion/sesion-09-observabilidad-langfuse;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observar el recorrido y decidir si una versión es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trazas a evaluación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Observar permite formular cambios; evaluar permite defenderlos.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propuesta elimina una llamada para reducir tiempo.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Observar: La traza confirma menos operaciones.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Evaluar: Comprobar que no empeoran datos ni fundamentación.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Decidir: Aceptar solo con evidencia suficiente sobre los criterios elegidos.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Una respuesta más rápida puede ser peor si perdió la fuente necesaria.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Observar; Evaluar; Decidir.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Una propuesta elimina una llamada para reducir tiempo.</a:t>
            </a:r>
          </a:p>
          <a:p xmlns:a="http://schemas.openxmlformats.org/drawingml/2006/main">
            <a:r>
              <a:t>Observar: La traza confirma menos operaciones.</a:t>
            </a:r>
          </a:p>
          <a:p xmlns:a="http://schemas.openxmlformats.org/drawingml/2006/main">
            <a:r>
              <a:t>Evaluar: Comprobar que no empeoran datos ni fundamentación.</a:t>
            </a:r>
          </a:p>
          <a:p xmlns:a="http://schemas.openxmlformats.org/drawingml/2006/main">
            <a:r>
              <a:t>Decidir: Aceptar solo con evidencia suficiente sobre los criterios elegidos.</a:t>
            </a:r>
          </a:p>
          <a:p xmlns:a="http://schemas.openxmlformats.org/drawingml/2006/main">
            <a:r>
              <a:t>Resultado: Una respuesta más rápida puede ser peor si perdió la fuente necesaria.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perderías si midieras solo milisegundos?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Observar permite formular cambios; evaluar permite defenderlos.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una traza rápida como prueba de mejora global.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S8: API desplegada; S6: protección de datos · Capítulo previo: Laboratorio L9: dos cuellos de botella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S10: cambiar y medir sobre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8912a1e124e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8f050b14674a66" /><Relationship Type="http://schemas.openxmlformats.org/officeDocument/2006/relationships/slideLayout" Target="/ppt/slideLayouts/slideLayout1.xml" Id="Rb6187cbd49f046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87cbd49f046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f3947bd3d4f30" /><Relationship Type="http://schemas.openxmlformats.org/officeDocument/2006/relationships/notesSlide" Target="/ppt/notesSlides/notesSlide1.xml" Id="R873559884db748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6bd9a73a3437a" /><Relationship Type="http://schemas.openxmlformats.org/officeDocument/2006/relationships/notesSlide" Target="/ppt/notesSlides/notesSlide2.xml" Id="Ra1b86364abcf44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5e22014074e8f" /><Relationship Type="http://schemas.openxmlformats.org/officeDocument/2006/relationships/notesSlide" Target="/ppt/notesSlides/notesSlide3.xml" Id="R55c7686ac4c446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e9206381b4d1b" /><Relationship Type="http://schemas.openxmlformats.org/officeDocument/2006/relationships/notesSlide" Target="/ppt/notesSlides/notesSlide4.xml" Id="Rf538cebefe024c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cb00f335e4935" /><Relationship Type="http://schemas.openxmlformats.org/officeDocument/2006/relationships/notesSlide" Target="/ppt/notesSlides/notesSlide5.xml" Id="Rf3f000087ef344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83b7e9a444af4" /><Relationship Type="http://schemas.openxmlformats.org/officeDocument/2006/relationships/notesSlide" Target="/ppt/notesSlides/notesSlide6.xml" Id="R6730438bcddf47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db0f834d04186" /><Relationship Type="http://schemas.openxmlformats.org/officeDocument/2006/relationships/notesSlide" Target="/ppt/notesSlides/notesSlide7.xml" Id="Rea6a082c0b3b4a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ed1a1f2024dda" /><Relationship Type="http://schemas.openxmlformats.org/officeDocument/2006/relationships/notesSlide" Target="/ppt/notesSlides/notesSlide8.xml" Id="Ra220e0dd3e6a42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15fdd289b4919" /><Relationship Type="http://schemas.openxmlformats.org/officeDocument/2006/relationships/notesSlide" Target="/ppt/notesSlides/notesSlide9.xml" Id="R6995125f724648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1f1964cc041bb" /><Relationship Type="http://schemas.openxmlformats.org/officeDocument/2006/relationships/notesSlide" Target="/ppt/notesSlides/notesSlide10.xml" Id="Rb987735014ee47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c40ef83c84cb3" /><Relationship Type="http://schemas.openxmlformats.org/officeDocument/2006/relationships/notesSlide" Target="/ppt/notesSlides/notesSlide11.xml" Id="R4dca573634ec4e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787b2ca004f53" /><Relationship Type="http://schemas.openxmlformats.org/officeDocument/2006/relationships/notesSlide" Target="/ppt/notesSlides/notesSlide12.xml" Id="R8ab0187d309142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04b565fed4939" /><Relationship Type="http://schemas.openxmlformats.org/officeDocument/2006/relationships/notesSlide" Target="/ppt/notesSlides/notesSlide13.xml" Id="Raff7e4a572a641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44c1d554b4e6c" /><Relationship Type="http://schemas.openxmlformats.org/officeDocument/2006/relationships/notesSlide" Target="/ppt/notesSlides/notesSlide14.xml" Id="R823fe03b75dd4c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3dee5e6064bbb" /><Relationship Type="http://schemas.openxmlformats.org/officeDocument/2006/relationships/notesSlide" Target="/ppt/notesSlides/notesSlide15.xml" Id="Rf4077b2030f34b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f139ac29b4c25" /><Relationship Type="http://schemas.openxmlformats.org/officeDocument/2006/relationships/notesSlide" Target="/ppt/notesSlides/notesSlide16.xml" Id="R1cb297e16cbb43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372c7ef0c41e2" /><Relationship Type="http://schemas.openxmlformats.org/officeDocument/2006/relationships/notesSlide" Target="/ppt/notesSlides/notesSlide17.xml" Id="Rff107d0f266c42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58cbad20b44e1" /><Relationship Type="http://schemas.openxmlformats.org/officeDocument/2006/relationships/notesSlide" Target="/ppt/notesSlides/notesSlide18.xml" Id="R372b01f0d0e743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38ba1d9ee4008" /><Relationship Type="http://schemas.openxmlformats.org/officeDocument/2006/relationships/notesSlide" Target="/ppt/notesSlides/notesSlide19.xml" Id="R99fc06b8221e48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6735d20774024" /><Relationship Type="http://schemas.openxmlformats.org/officeDocument/2006/relationships/notesSlide" Target="/ppt/notesSlides/notesSlide20.xml" Id="Rbf3eae61e8e94f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5de9912fa4943" /><Relationship Type="http://schemas.openxmlformats.org/officeDocument/2006/relationships/notesSlide" Target="/ppt/notesSlides/notesSlide21.xml" Id="R1130a07daf734b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5D7EFD9A-90D1-4034-8989-C2FF1DBF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E6B75-A344-4D43-A1AF-0BD982A2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2E272B0-E00E-43C6-9473-F2C6AE9B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6C36E69-D156-489F-BDC3-410C39EF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523F5C-B454-4E3F-96A3-C590DC2E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Hacer visible la ejecución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E86A032-26B0-4B1E-9E6B-43266039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Inspeccionar el recorrido del agente después de una solicitud real.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411668E-DEEF-40D2-AF07-2FC4B0C3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323D208-FEC4-4471-8B49-0C241C07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6C5D7A6-E639-4ECD-A038-F38D4E82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7ABA383-06CA-4429-9FC2-9D8DFE72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DBF8C30-CEA6-42AB-A266-4B6F0B8F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642140A-FC29-4DBB-9ABF-70F940E0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0CB51C0-7D97-4C15-A458-A6A94F06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11C432F-8CD3-402D-90FF-20C9F3BB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F8A29BF-A52E-4153-8230-AAD9CECC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73E6F89-919B-4787-B2BB-C980CA2D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C782321-60DF-4159-A82F-4AE387E7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48987-6EF5-475C-A821-9D698218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5F357C1-C855-42FD-BB98-EE312EF6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BE38375-B9C3-44D7-9B60-3E908899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Solicitud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DB22941C-D499-42E0-BF17-C937F9B1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ejecución identificable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 cliente.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DF0C046-CA7C-40C1-ACCF-22270745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C2D8688-4492-4B5E-BF7E-0F4BB3D4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D201AE-1DEA-4ADF-A6D6-B8B3AB1D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8D3EB26-64C3-4C94-A691-7D5E8902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3C0A168-9F89-4989-8C39-72F5D703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Instrumentación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0E42726C-2D56-45B6-8C4D-BB5FB745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Registra operaciones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relevantes con tiempos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relaciones.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1E322E0-4F68-4B1C-A724-8160EBE3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C5B46C0-5B40-4229-B504-32090D87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E4A7D5-4670-4158-BD31-83796EBD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8AA823C-D470-46BA-8EF9-77E40429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90FBCBB-3C16-43C9-96BC-BB5A32CF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Langfuse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C857A4E9-9DFB-47CC-946F-F7190FE6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Permite examinar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recorrido y formular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hipótesis.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01112710-AEED-4062-91CF-A3C62B27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2D79E0F-E335-4153-8B58-60B4E691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AFCD65CF-55C8-40EB-BD90-F84567CF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diferencia hay entre sospechar lentitud y localizarla?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09D54CDA-96F8-4AC6-9A8D-D44115D3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0005F130-CF7A-4F04-9CE9-2CE37FBD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6F3A3D1F-2933-4857-BB9E-EE557D72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Cambiar tecnología o prompt antes de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observar el problema.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F391FFF-90E7-48ED-88B6-F546E669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726802E5-2B41-40C5-98D8-CBB7CA1C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traza permite discutir una ejecución concreta.</a:t>
            </a:r>
          </a:p>
        </p:txBody>
      </p:sp>
    </p:spTree>
    <p:extLst>
      <p:ext uri="{BB962C8B-B14F-4D97-AF65-F5344CB8AC3E}">
        <p14:creationId xmlns:p14="http://schemas.microsoft.com/office/powerpoint/2010/main" val="1530828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F7AB87DA-1E48-42D9-914E-D8EA8822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F79DE-BAFF-4B9A-8F06-E620770C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94D267A-0B8C-42FF-813B-46677349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BAB6626-F66B-4494-BEC6-5B99E54A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EE8559-30E4-45D3-9A7F-836115E6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Observar antes de optimizar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1B387D0-9C21-4B1F-805B-6314257D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Inspeccionar el recorrido del agente después de una solicitud real.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0CC0F9F-9C34-437F-A502-A7479BF8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F2C6568-C3D2-4879-9458-7FC7D28B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7588EA3-3650-4BF2-A471-ACF1942D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713AF80-BFE2-47A9-8D53-5D7913DD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B0FF3C6-3209-4FB2-9E2F-8C5A613C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FD0E153-3B56-422A-B487-545837FC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8F89FBD-746F-478D-A76B-261BC8FA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2ABC11F-C18D-4A25-8221-97B958EC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A589958-3315-4FA8-992F-B45DA8C2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Camino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modelo, tools y retriever participaron.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pasos consumieron tokens y tiempo.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Dónde conviene investigar primero.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E6801537-2611-4197-B139-492576A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7BB7F232-5BC6-4F05-82E2-91EDA473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7D5EDAFC-1DA8-4042-9A10-37FA7353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Cambiar tecnología o prompt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antes de observar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problema.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8A67600F-748F-4511-9903-9C929240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FB935091-E0AC-41FD-99D0-E34EA615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726D3F22-016E-4442-A05A-8DE0BE0E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0A3F4610-A03D-4EAC-9836-2D8785B6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diferencia hay entre sospechar lentitud y localizarla?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59E1FD63-35F3-48AC-A69B-36CF9184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314A4C11-E6C1-4B85-80D9-368FE153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traza permite discutir una ejecución concreta.</a:t>
            </a:r>
          </a:p>
        </p:txBody>
      </p:sp>
    </p:spTree>
    <p:extLst>
      <p:ext uri="{BB962C8B-B14F-4D97-AF65-F5344CB8AC3E}">
        <p14:creationId xmlns:p14="http://schemas.microsoft.com/office/powerpoint/2010/main" val="1144481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EBC03FCF-2222-4007-BD68-476FBD0A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2737B-B8C4-4F32-922B-5DF87033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D9F68E9-2CB0-4107-9AA8-350CEEFF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352A1B2-BD52-49C7-9787-182A7115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BEB063-9129-484C-AC3B-FDF61A2B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Hacer visible la ejecución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6E6B73D-8EF4-4F27-BDF3-0D5EF2F2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Inspeccionar el recorrido del agente después de una solicitud real.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458A597-6420-4B44-A2C0-4746BB3A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823017C-B18D-43B6-9BB4-2DA1D7EF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C59C9C6-500F-4B1D-954B-F1F8CF13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EC3F3EE-A1FB-4E5C-AFF5-90E71F2B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537993E-2656-47DF-8C25-CE63BCA0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0B8487C-8E0F-4285-9C20-C3613D2A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C4D1B3A-86F2-4F6B-AA6C-618D5E98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7904B5A-7133-4D10-99D1-14353CA0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23EEBAD-2A8F-476A-8942-9F6B0A9C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212A9BC4-FA75-4A7F-8FD4-C327A475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F6419FF4-8799-478D-B4AF-49CBBD62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46B3ACAE-358A-4A91-B9C3-FE93C6EE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consulta sencilla tarda más de lo esperado.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2E44BAB-5AB7-42F4-9D32-38A02607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70B33D4-80B4-4008-8DA8-9CEAEC82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98FB5-8CCD-47F3-A8CD-C9723CA5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6BBD9A9-DDA5-4BA2-9DD3-8672B52E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9245C58-54E1-45B2-9348-11463568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Abrir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CF6B500B-F28C-41F3-8237-4B894F6A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Localizar su traza en Langfuse.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708A8AE-182B-4EB1-9EA7-582C16D0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D69145D-4508-4050-9570-A1ACBF4F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403289-BEEF-447D-A34B-8EB3CEE7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FAA34EF-0175-4CF6-BC67-611E9F9F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2017F67-C006-463F-B639-E3FCAF3D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Recorrer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A54E7757-74BC-4429-88BA-4F47EAEE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llamadas al modelo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7EEED80-9ACC-46D7-BB2D-3146B519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1F90BDB-538F-4FA1-8637-CB81CBF8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F48D6E-FC38-4BBB-9BD8-BF214609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779DD86-7622-4B14-93AB-83DED3F0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7AC3A00-7689-4412-A80B-9E8550F0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Priorizar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95E4E246-7EB1-405F-9F53-40352A5E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Señalar el paso dominante con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evidencia.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F6781652-0B9B-4ED2-82FE-C812895C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1D23F00E-4DE5-4214-9C42-54B9F09D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B8F1C8C6-3D27-45CD-9053-14762276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curso usa Langfuse para el objetivo de observabilidad del sílabo.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BC17B14-0F69-43F8-867A-79B16BD6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9914E9AB-E8D6-4E5B-8E9B-3862A408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traza permite discutir una ejecución concreta.</a:t>
            </a:r>
          </a:p>
        </p:txBody>
      </p:sp>
    </p:spTree>
    <p:extLst>
      <p:ext uri="{BB962C8B-B14F-4D97-AF65-F5344CB8AC3E}">
        <p14:creationId xmlns:p14="http://schemas.microsoft.com/office/powerpoint/2010/main" val="13408523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4D68CA47-B2BA-4B87-A205-AFDA4FD8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1902E-11F3-44BF-A72C-B6D19F9C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95BD121-198B-4105-B56C-5AD39199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4BEC3A3-4B2D-4DBE-8925-AD57A7C2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34368B-01FE-451A-B66A-D7737753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Logs, métricas y trazas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072BE1F-7CBC-4127-A74E-254B3EA8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la señal adecuada para la pregunta de diagnóstico.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BEDD2CF-199F-490C-BDDD-ABFF33CE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904F3A5-49D0-4527-8E7D-450D49EB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7E0B568-C35C-4304-9C41-1810B132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88E8A18-AA51-4706-9597-11F9D2C6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F0EFB90-4D15-43BE-95C4-3EEDC67F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11A6A60-FFBC-4C88-8535-BD4AAF1E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2CAADC9-AA2A-4E21-8A38-7CAB7302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270B1FE-9BA6-4EFB-A056-EAEDB964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0A7CBB7-9184-46C4-995D-843B0023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B1076AE-899D-42E6-8FD5-BA178B26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EB22CD2-8D17-4C6C-B62B-C5A770FB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B6E7D-9984-4622-863B-941468F2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55AE360-928C-4828-B56A-128C0E97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B18D590-9B7C-42F3-8607-482FF5A4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Logs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DB51F98B-203A-4414-9E68-0A4E6313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Eventos y mensajes que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describen qué pasó.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89CDFF6-1C51-4004-A68F-7ACE7AA7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D90D01C-EE8B-45E3-BAA5-DB16F500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2A0ED8-8387-4B34-B4AB-58CDCE11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5BA728A-0E72-4B32-8CB5-7464A90A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86DCE5A-2B75-4B08-8969-75B2D6A3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Métricas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2DD68C68-63B0-4498-B1A9-24F86D2D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Agregados que muestran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cantidades y tendencias.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EB31415-9946-4667-8C91-4D758AD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1FB5076-9471-41BD-BAAC-6CEEA478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059BC3-941A-46E5-B789-6B06D8C0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F121D87-8E26-4008-844C-1DE3FF7C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70C42DD-BD2D-4580-B9DF-564A758E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Trazas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0D2C4BF1-2FA7-4B34-9238-16A31EEF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Recorrido de una ejecución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 relaciones entre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operaciones.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D3A36130-D11A-431D-8CE4-2FFF4334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51DA8D8-03E3-434C-850E-C2501437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D7FF5044-253E-4615-B575-EB49EE23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usarías para seguir una consulta específica entre varios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pasos?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60241256-3312-49B3-9D33-6E915BAB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C4305613-957C-44C7-8A72-024BEB9E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0A9D33BF-18D1-4A46-B289-70579269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Tratar una lista de prints como una traza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completa.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D40C02A7-A8BF-416D-957E-D8C579D9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651D204A-87B7-4168-8D49-84D0163A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Ninguna señal aislada explica todos los niveles de un incidente.</a:t>
            </a:r>
          </a:p>
        </p:txBody>
      </p:sp>
    </p:spTree>
    <p:extLst>
      <p:ext uri="{BB962C8B-B14F-4D97-AF65-F5344CB8AC3E}">
        <p14:creationId xmlns:p14="http://schemas.microsoft.com/office/powerpoint/2010/main" val="1631531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C49F12A4-3760-4743-ACC5-3911EC78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2A8BA-94CF-4A14-88AF-310ADC2A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048E34A-E03C-4530-9964-8E78D16C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7F88858-BC72-40E1-87E6-19CAE6DC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A5058E-15FB-4AED-BF12-3474B4C0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pregunta por señal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8E221A4-F5FD-4360-ADAD-EA1F2EAF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la señal adecuada para la pregunta de diagnóstico.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BFEED17-3770-419F-8DA3-5627E853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0CF2E4E-579A-4F2A-AA0E-C86E9D19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A0B7D81-9192-4748-AE5F-7DE2359E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4EAB0FC-9BCE-4225-98CC-CEC1B5C3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B23AA5E-239C-43C9-BDBB-1494E3AD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49935D6-9087-4500-85FB-DF385394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C65C170-F40D-411C-9B5F-7A48B2B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C6E3B4D-049B-4B54-BE69-6EB32150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938AE9A-D255-4141-85D8-24E5601C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Evento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¿Qué error devolvió la herramienta?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Agregado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¿Qué proporción de peticiones termina con error?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Recorrido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¿En qué paso se consumió el tiempo de este caso?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D5B3CB86-5203-440B-B4A0-732BEBC5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F4C92D0B-D7A1-4A3F-B3C9-ED688956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4B5AF855-F878-4E84-9D8B-AD5C62CA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Tratar una lista de prints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una traza completa.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A64B808C-E4A8-41E0-AC01-5268C801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A1CB005-F284-44BC-985A-E27058CC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C7449360-2374-4EA6-B6D6-81B943B4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9EF5EB0D-50CA-46ED-8890-213D91B7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usarías para seguir una consulta específica entre varios pasos?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A4B4C551-5328-4BCF-96D1-6E5D6D3E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FD809F0C-9F8C-4B46-B7A7-B1154222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Ninguna señal aislada explica todos los niveles de un incidente.</a:t>
            </a:r>
          </a:p>
        </p:txBody>
      </p:sp>
    </p:spTree>
    <p:extLst>
      <p:ext uri="{BB962C8B-B14F-4D97-AF65-F5344CB8AC3E}">
        <p14:creationId xmlns:p14="http://schemas.microsoft.com/office/powerpoint/2010/main" val="1461340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0AAC35F7-85DE-43EB-9E36-094F93FA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5FDBA-5402-4124-AA0A-0FAC13AA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AE20CE1-DCA1-4070-842B-C04DD0C2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432522E-5F4C-4C89-A581-458ED0F1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119803-EED5-47AD-A32B-03D22854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Logs, métricas y trazas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DE2411F-974B-4DC4-88F7-D7ED011D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la señal adecuada para la pregunta de diagnóstico.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9E76BC1-CDD7-4F5A-99F3-F765E0A4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178826E-B92D-4D0E-82BD-9A6A9287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3EBA04E-8E3F-4D6B-A1B1-230B33F8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CE729D9-65EE-4775-A579-7F825258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871D088-331A-4851-AD54-8C7C789F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A1B22C0-CA41-4BD3-8E39-85035F1E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268B906-4C2B-4DC3-B936-B72977F7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C7DFC4B-671D-45A7-AB2A-91E611B8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549A85B-39BB-4102-A010-6EFCFC1D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D2DB4F74-1851-426B-AE4C-86AE9BEA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29D4E71A-C8C8-474F-B0EF-A0ACC892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DF3E3A91-794E-432C-8099-9D103628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Algunos clientes experimentan respuestas lentas.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6A7CA33-85D7-407D-ABBF-16AB8ADA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1A3AED5-FC73-4A27-A5BA-30710B9B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07B7D-C4EB-4D25-8F26-9F11F091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FFD593F-FBB0-4DD1-A66D-ADCE9BCB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874E945-CB3F-4ED0-9CEA-4BFAB02F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Métrica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FD7622AA-3413-46DD-A7E3-447B7A7E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si crece la latencia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cola.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9D43392-2AD0-44E7-ACA6-111580F2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A442AB4-9F61-4F6C-916A-625F13E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184A41-6212-4DF8-B97A-2EBE374B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0D36D4F-BFC5-4299-BE41-F27DD274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9697442-F6E1-4806-9DB5-18214D9D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Traza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768718FD-9427-44D7-BA88-1D99B651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Abrir un caso lento y localizar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sus spans.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FC7B9B2-3FFB-412E-8B60-CA20F128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9970BDB-66F0-4692-8518-C5F524B4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5DC4D-2470-49CD-94CB-246DF46D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9AF3010-7363-4BE2-B1B6-3C9DD331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EE07B5E-0C6C-470D-84CF-5FDCE814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Log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442BF778-93A6-47A4-BD53-80CD692F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Leer el error o detalle asociado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 paso problemático.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BEFE05C4-CDCF-4456-A143-B70229C4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E032B563-5ED0-4FEA-A06C-005EB341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BADD52B1-BA8A-4C99-BF0A-411E1A4F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Las señales se complementan porque responden preguntas distintas.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C4C04075-13EC-48DE-9A66-67D8C025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5933872D-7AE1-4578-9D74-F05C3BD9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Ninguna señal aislada explica todos los niveles de un incidente.</a:t>
            </a:r>
          </a:p>
        </p:txBody>
      </p:sp>
    </p:spTree>
    <p:extLst>
      <p:ext uri="{BB962C8B-B14F-4D97-AF65-F5344CB8AC3E}">
        <p14:creationId xmlns:p14="http://schemas.microsoft.com/office/powerpoint/2010/main" val="2788634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38DF3BE-05CF-4DC7-888C-5CC8405C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7861D-E708-41A3-9BD6-C093C7A3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A8576D1-C1DC-4764-921E-ADA01717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6817EA4-CFB5-452F-B0C4-74608B0E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D550B8-B92B-41B6-AAE8-B9C8FBE0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Anatomía de una traza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95BB53D-A02C-4591-8E1F-6F5D5BA2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Relacionar el tiempo total con las operaciones del ejemplo del repositorio.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281255C-D581-4ECA-87C8-83649EC0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CFC7E83-AD16-4409-97C3-E22960FC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D616C11-D1AB-4875-AB95-1106D895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304DFED-2811-41C4-B380-2D3BA14C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2DE467F-6D75-491A-ACE0-E9D60B58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94EE0C6-990A-41D1-B0FC-6D27ED8C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FF4A4B3-380A-4635-9823-0B306C50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254D5D8-2D56-4E74-AA91-8544B963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250552-B059-4183-856B-3B684CFF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6C46121-2F11-4DFF-8947-0C30C21B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3DB872A-60AD-4696-8C65-C644D977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DCC67-3602-4829-AD10-11876998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2F5EAAA-30CD-4E67-AEEA-CDBC2A88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CB941ED-4CF9-4B0E-B2B3-867BE8ED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6D488020-4FDE-4C63-91A5-24AA2FDC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Tres llamadas: 1.180 + 980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+ 410 = 2.570 ms.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7F833DE-D02C-4B70-A220-EAA4E546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C24BF34-C8A4-4412-9AAB-0E59DFF6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3A84C-3ADE-46D2-A32D-141976AE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2AE8408-5D9A-4E50-9811-F1733B93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8A04C71-9D61-40F2-B2D5-3E22A154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Herramienta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5CE98EDC-98C0-41BD-95B3-BC9587C1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get_customer_plan consume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240 ms.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500D661-8354-4420-8468-206459A0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747ABFF-C5D3-43D5-B817-6F409FED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0E43D-23E0-400D-AEA8-716927C6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8CB2779-7A24-45CC-A1CE-A23DFC89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972134C-BB7F-436C-8079-4033F670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Retriever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E490B3E8-F755-4A75-A5E5-1867C282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recuperación consume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610 ms; total ilustrado: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3.420 ms.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3B7A0AF1-DC76-4609-9543-14C652F2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B428C8D-57A0-4702-AF43-3F14416C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E3A8E431-ACBC-40CC-88EB-84533C69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¿Reducir 100 ms de la tool resolvería la mayor parte de la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latencia?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B1CF9297-69CB-41BB-ADC0-FBA4B61C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394756B2-FE6D-44F8-AAB0-A64BF489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304C8575-E3B7-48F1-9793-1B130393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Sumar spans solapados como si siempre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fueran secuenciales.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70CC55CA-FFA6-405F-9D72-9E3B9B3B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B0158CD6-0925-47F1-8F37-DB93E56B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Optimiza el paso que la traza identifica, no el que parece complejo.</a:t>
            </a:r>
          </a:p>
        </p:txBody>
      </p:sp>
    </p:spTree>
    <p:extLst>
      <p:ext uri="{BB962C8B-B14F-4D97-AF65-F5344CB8AC3E}">
        <p14:creationId xmlns:p14="http://schemas.microsoft.com/office/powerpoint/2010/main" val="1563324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FE7DC8D3-4AFC-4C29-9C96-8257C040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C511F-F0F0-4192-9871-3A2C70AC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DB0356E-0445-4BD0-8ACF-D967B81F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5DB5181-7321-4496-B687-8B773486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F93174-E1FA-44CA-B2D2-9BFA2222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Leer jerarquía y secuencia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F0D5601-EC02-4E13-9791-0EF926DD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Relacionar el tiempo total con las operaciones del ejemplo del repositorio.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69CBD6D-7390-4D81-800C-3C846945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73BC9F6-DACD-4349-908E-456AC51F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8631B49-F565-4296-BE59-F415FB2D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AAD4601-E6DC-4ACB-ACBD-372F7750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91E50EB-B062-406D-A927-3CA8F4F5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6F9960D-4D01-40C7-8D0E-3E9AADE3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50B3F45-D07B-4570-860B-3F0CA157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13BA761-691D-47E6-BC9D-5F6E333A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D926E9-3537-4397-BC12-2FAC3961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Agrupa la consulta completa.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Span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Describe una operación y su relación con la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ejecución.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 el ejemplo secuencial, las llamadas al modelo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dominan el tiempo.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B9830BEB-D11A-4640-A0AC-AE388213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D248DB4F-2BF2-40DC-8787-0BF6D048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85D73369-F860-41F5-8AC6-21B64DFA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Sumar spans solapados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 siempre fueran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secuenciales.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6F448002-F852-438F-8EA7-910C8CB1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B4A880B8-E551-4F7C-86C3-53C010EC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3A3FB806-72CF-4C99-9B5E-DBDC1905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71C14CE3-F48F-4D30-8B0B-63669132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¿Reducir 100 ms de la tool resolvería la mayor parte de la latencia?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0C93549F-8EA8-4026-8130-D4AAF415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71E643EA-2FDF-45EA-AF46-F8D72422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Optimiza el paso que la traza identifica, no el que parece complejo.</a:t>
            </a:r>
          </a:p>
        </p:txBody>
      </p:sp>
    </p:spTree>
    <p:extLst>
      <p:ext uri="{BB962C8B-B14F-4D97-AF65-F5344CB8AC3E}">
        <p14:creationId xmlns:p14="http://schemas.microsoft.com/office/powerpoint/2010/main" val="2082074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AFF598EB-0B28-4126-971E-B530E9A9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00AC9-2C61-4E2E-9742-0BC3C09E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017C968-9FCB-42B9-AA5A-58D019CD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7835EA6-4DEA-49A2-A864-62E4AD5E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147DA2-C762-4DA6-A341-BE2B18F1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Anatomía de una traza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0CFB635-97A3-438F-8131-DE80402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Relacionar el tiempo total con las operaciones del ejemplo del repositorio.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0C1E103-3AC4-4101-B0AE-09D3FB95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CC352AF-62DD-45BA-9ABD-4443ED5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2A5C14B-7D41-42EC-BB01-37EF21EC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49C398B-81D4-4288-A8D9-7B55C292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547037A-FBDE-4293-B45E-DAF4186E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83FC94D-7F8F-45BF-A2A3-E7C90878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231C1C1-4726-4D37-8CBE-A932EB06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4FE3E6A-E6D6-42B9-AC0E-5D8A3181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2340338-1F3A-4B0D-8974-6A48EB38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7ECF4825-D336-4FC0-AE6E-FE449D0E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35BEF401-AC53-4C1E-B5B0-73D4C32C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75A99310-2295-4B7E-B920-69DAAA92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traza incluye una consulta de plan y una recuperación documental.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AF38C23-415D-4083-AB35-01C5138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CE5CE78-FF4A-48B1-81FC-A225FDDD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2F3BD-692E-46DF-A1AE-1A944A35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E5DEE44-CE0F-4EA7-8B4A-39E0C5DC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E310C5B-6EA7-48E8-B984-B6B99CA9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Sumar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E3436BE8-9635-4A2F-AAD1-7AC29A52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2.570 + 240 + 610 = 3.420 ms.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B55DF1F-6968-4AA7-894C-9452120B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86851C1-CC65-42AA-BB03-2832499E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C79393-FCBD-454F-A186-1B4E2F90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A567254-B136-46F0-A8A4-92DF0CF7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9351A60-C5B6-45A5-8828-6F128DDA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Localizar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14E9F5B8-49EF-4B76-9886-A22E1B20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modelo representa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aproximadamente el 75 % del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total.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205E3A5-20E0-4230-807A-3E5F4ECE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27610A9-2CC6-4893-8A49-38D243B4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F12CBD-6072-40E9-803F-60E15D2E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BC68B60-E9C2-4CC8-B3B6-92F84C34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B6794F2-002E-4544-8BEE-90C5FEE4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Investigar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CA52A4DC-6E82-4A8E-A4AB-DB3810D1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si todas las llamadas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eran necesarias.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A5E15D7E-904D-4BBB-BB7E-8819F672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514EF474-784B-4BF5-B987-D77932B9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F8C49C97-C568-4E50-BB05-F487C5AC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Las cifras son el ejemplo del README; no mediciones del nuevo PPTX.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ACA79D8-5666-43BF-91EB-5418ABA3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3F1118B8-D80A-4272-83B1-CD021A15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Optimiza el paso que la traza identifica, no el que parece complejo.</a:t>
            </a:r>
          </a:p>
        </p:txBody>
      </p:sp>
    </p:spTree>
    <p:extLst>
      <p:ext uri="{BB962C8B-B14F-4D97-AF65-F5344CB8AC3E}">
        <p14:creationId xmlns:p14="http://schemas.microsoft.com/office/powerpoint/2010/main" val="15364684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ED027851-797C-4803-B6A6-9B73FBC0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FC567-D236-468C-90A7-68A048C4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12FE02A-344D-4339-BB56-4B6ECF5F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F775091-BBDA-4818-8D78-F53537C9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A104BB-1E67-47B8-945F-7A6C4558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p50, p95 y promedio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4031715-9EB2-4BC9-8246-8B9BB84D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Describir la distribución y la cola de latencia con un método explícito.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EDBB810-B706-4095-8529-8C8D35DC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AEE246A-AB9B-4C2C-B758-2688CDBD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860CFF0-6166-47B0-8978-806FAADE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B6E7961-D2CE-4234-B743-E5A7A571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E28EF10-A11B-4BC8-9438-0DBE0F5F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860DF85-466B-45BA-8D61-11FEADF7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3A3FA75-BDE3-4B6B-ADF4-26169AB8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024E598-4260-4578-80D3-A75BC8CE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48FDCFA-A51B-4EDC-8630-49681CD8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686C024-561B-4A7D-84AC-0C29DEEB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E84142D-D97B-4A3F-BFF0-B6A13806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5C1D8-3E40-4E65-8AB1-F349C7BE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69AD371-5928-4A79-8288-59EF4CB0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8424093-97D9-4279-8274-3F594520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Muestra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8EF99C1B-21FB-4F75-B927-1627B24B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Nueve solicitudes de 800 ms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 una de 21.000 ms.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73A4958-267A-4A35-88C1-B6198145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0C5B215-E492-4E25-BE49-F74B0699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1D5C89-0F51-457A-900C-F9128CDD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E01CC26-BEA7-4826-A255-92F6DDB0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F65CDAC-E10D-48F1-8023-BD4E7E4F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Promedio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FD1F7742-B2DC-4628-BCA2-6D1BA12A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28.200 / 10 = 2.820 ms.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02E7E3E-F42F-4383-87C1-85BD9658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C9C659B-2A98-46D7-B8E7-93056F1A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AEADF9-EF7D-4E5B-8EB3-F5BF0136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A6A2436-4FEC-495C-9F8D-F159CF2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98CA33C-0571-4D03-BAA5-037DD997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Percentiles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F2B1D715-ABDC-479E-A58A-3FAFBE58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p50 = 800 ms; p95 = 21.000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ms usando rango más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próximo.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092BDE4B-910D-4CDE-9237-EC5E9BBA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983829A-1DA7-4EE1-9985-15DE2427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29DD99EB-07C8-4927-8A2E-8F59A8D6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dos herramientas pueden mostrar distinto p95 con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diez datos?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E235DEB4-D340-439B-8FDE-1DF8D64F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B782E22D-0C3F-4567-8AEF-C53DB870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473EE7BE-C43F-4532-A268-56DC466D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Llamar peor caso al p95 en cualquier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conjunto.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320BCF6E-5C7B-4F13-9C0A-8C2870A6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4EB89935-195D-4E0D-90CE-C943B6A2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Reporta distribución y condiciones, no solo una media.</a:t>
            </a:r>
          </a:p>
        </p:txBody>
      </p:sp>
    </p:spTree>
    <p:extLst>
      <p:ext uri="{BB962C8B-B14F-4D97-AF65-F5344CB8AC3E}">
        <p14:creationId xmlns:p14="http://schemas.microsoft.com/office/powerpoint/2010/main" val="17507406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2025F23B-F66A-469B-AD94-80EB9185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52368-5A14-48DA-984D-60FB5933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2FCBC1C-2B4C-4C68-B8D0-AF4BE4AE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B13D7D3-E610-402D-A876-356891F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A143E1-D646-4E67-88DD-BB88C34B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Interpretar con cuidado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04FA7F5-50FF-4C50-B7C6-79A161FE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Describir la distribución y la cola de latencia con un método explícito.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D872E68-2D5B-42E1-B6D0-2B1EFEF6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71AFB4C-769D-4B76-AF14-C12CBE28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AC864CA-998D-419E-A80C-591E525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506F87F-9FC6-4B4B-9213-924FD3E0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33F19B4-A5DB-4E2C-BCBD-A8BF7D96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F74865F-9429-4DE2-977D-DCDFE1D5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2B5C373-464C-437A-A979-4DBC4359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D31602C-EA0F-4712-A91C-CB8EB4AA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FD8701F-C9AA-4AD6-BBF7-0EF2FF7B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Describe el punto central de la muestra ordenada.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p95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Describe un percentil alto; no es sinónimo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universal de máximo.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Método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 pocas observaciones, la interpolación puede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dar otro valor.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D983C267-2D83-44F5-BBB9-06C9F6C6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EACD8440-F3B1-4F3A-BCB0-52A140B7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A1CF778E-BF43-4650-9737-064C8AD7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Llamar peor caso al p95 en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cualquier conjunto.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12C20062-E04B-42F2-B5D3-F1B65501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E85545BA-317A-40E7-A9EE-C938C97A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403ECC4F-F756-44FB-BE2B-535D90E7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18565D7A-3AF0-4294-BE79-6995071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dos herramientas pueden mostrar distinto p95 con diez datos?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AEB4421B-8CC0-4AA8-A4AB-7C56354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4F7C5EC2-93AA-44B6-B4DA-E33F73CB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Reporta distribución y condiciones, no solo una media.</a:t>
            </a:r>
          </a:p>
        </p:txBody>
      </p:sp>
    </p:spTree>
    <p:extLst>
      <p:ext uri="{BB962C8B-B14F-4D97-AF65-F5344CB8AC3E}">
        <p14:creationId xmlns:p14="http://schemas.microsoft.com/office/powerpoint/2010/main" val="17686193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3CE9C4FB-79F5-4C73-8569-7DE4A2C4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8A9A0-58C3-4E64-9490-937D442A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8A6E4B4-973F-4420-A041-579BE6A2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3DBCD09-2B35-4A27-826C-737BE5EB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197D90-24BD-4D8E-81F1-BBFA2BCD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p50, p95 y promedio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51CAEB9-0BBD-40F4-8006-44DA9180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Describir la distribución y la cola de latencia con un método explícito.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BD6ABBE-F8D4-467A-88A0-4524F869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77C4304-CB93-4471-813A-25171FB2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270ED6F-29D3-4EBF-A2E1-D2D1D0B0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8045357-E835-4A84-85F1-9A449D1B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E38B6DB-1779-402C-8E81-5D55DCB2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A7FB447-9281-490F-AE7C-7FC6F2FA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1D8203F-071C-4A65-B313-B1E79E9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A6D04BE-654C-4219-AEAC-C2A953E3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7AD7E71-758E-4BA6-9985-F40A0874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B2DB4A3F-35EE-4E81-9CD2-4D8CED14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4B4D9227-FE61-4FC7-9065-96F62BBE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B45EB42D-0AFC-4DA0-8C03-F4FBC1A2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cold start afecta una de diez consultas del mismo escenario.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103F10E-92E9-4A5E-8691-3DDEEF68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6F1DA5C-1C77-4A55-BBE3-DA613F0E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C6E92-DA4B-428C-87CB-C5270FF6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A352B3D-9853-4A6F-B1EA-25F75C6A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EE753DF-2EBA-4D54-8186-7525761B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Ordenar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17BB0E55-9395-424E-BA75-4FB74552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las nueve rápidas de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lenta.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3906F8A-F48A-4B13-945F-A7A060CA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5A52250-CC80-41A7-AA65-9377AF62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186E9C-F382-4284-89E9-3B0B25DB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5E061AF-4C77-4706-BED4-1C910298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A84DCC1-985E-4040-9BF2-225E957B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Resumir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A5061A96-26CC-47A5-8300-B0DEF07C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Informar p50, p95 y método,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junto al tamaño de muestra.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9BBDCB4-EFD8-4C95-995F-E58C6700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15A46D6-8ECF-4A6B-BF18-4B401CB4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864D52-A135-45CD-86CE-56159A12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DD9F7D7-0E33-4A7C-B219-1BE5B529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D5F1FCB-45AA-4241-9254-8AF93428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Contextualizar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472094BB-B24B-4D17-BBC7-6537FF31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Marcar que la lenta ocurrió tras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inactividad.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BAEFC382-8B71-4EB9-B836-E9996C6F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B2007919-87A8-4C39-8BD8-A7A6DE27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6697A7C9-CB73-4AA6-9747-E57DABAC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percentil cambia con la muestra y el método; no elimina la variación.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46C94EC-0ED8-4549-B08F-52425403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A4D7DBA4-A5C5-445D-8DE5-35219365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Reporta distribución y condiciones, no solo una media.</a:t>
            </a:r>
          </a:p>
        </p:txBody>
      </p:sp>
    </p:spTree>
    <p:extLst>
      <p:ext uri="{BB962C8B-B14F-4D97-AF65-F5344CB8AC3E}">
        <p14:creationId xmlns:p14="http://schemas.microsoft.com/office/powerpoint/2010/main" val="18381319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161557A-36E1-45CB-ABB8-F1FB9149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B7CAA-A059-4CE8-B64C-43BF221C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03E682F-A175-4953-81DA-45ED7964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F6BD776-4A60-4A49-B208-38BC480A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44C269-0DDB-42A9-B2E5-096692C2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PII en la telemetría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675E5EB-D0D6-44A5-90A2-D7941487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Aplicar protección antes de que el contenido salga hacia la plataforma de trazas.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11278EE-C964-480D-9269-58BCCFC8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A759E93-E551-4C0C-85E2-E3DE6FEF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620B868-E024-4F7E-8C6B-AE91C930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5C7812F-C9E3-4A83-A32E-26D9F70C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777D067-AF19-4F6C-9E7D-55B528A0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1860D8A-BFAF-4D8A-B474-3496A00E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696804F-7442-475D-A778-99FA8F38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C2FC1D6-3B43-4E2F-871B-07AC1E78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E46F317-E9F2-45FF-AF71-76B2AA94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92BBC1F-FD44-4090-A0DE-6A96C8EE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765B19B-B28D-4C6B-8155-4C3538F5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D48BE-E0CD-4FDB-810B-69468992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2FE2946-441B-407F-8194-85EF0B5A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5EAB74B-57F1-44DA-8559-E8BC1EE2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Ejecución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2BB18999-DC0D-47F0-BF06-080D609C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Mensajes y argumentos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pueden contener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identificadores.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0CDE61D-12BD-471D-BAC3-1F9715E6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51F3FDB-6EDC-4BEB-A45E-0878F7BF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C0439-0AA4-4422-81E4-C5DCF65A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87D974D-44D2-4C9D-BF3C-EB6DEE47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85601FE-8D39-465A-A16A-77DFFC6D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Enmascarador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10AAB3AD-3B9C-4BEB-B903-4847C2CE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Transforma los datos en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frontera de exportación.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9CBCD5D-03BE-4FE3-8D69-E3B4D629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4C42078-9ECE-4997-B235-430A9518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4A204E-DF95-45A2-A261-D58597F6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352A3F4-42F9-4B82-87F9-C627B0D5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F875D57-09EB-4E6E-B48B-5DBBF3E4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Langfuse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D3BEF3C9-32B1-48D4-B91B-279ED90E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Recibe contenido protegido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 estructura útil de la traza.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FAC66399-72DC-48B1-BAF2-DC9A2145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55EDA95-4340-4444-87C9-9E3CA817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01FF105B-7D1C-4F1D-B4B6-C0EE8581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¿En qué punto ya sería tarde para evitar que el SaaS reciba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dato?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A3B5D8D4-27D3-46B6-89A5-2F59877C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F727BCD3-99B7-4282-A384-5EF307EC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12C11330-3F71-417F-B805-EAE0A22A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Suponer que cualquier campo queda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cubierto por el patrón de DNI.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80144941-759C-4151-90F0-09B02549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3E0D674E-9F66-4E15-8F56-83AE40D3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Proteger la respuesta visible no protege automáticamente las trazas.</a:t>
            </a:r>
          </a:p>
        </p:txBody>
      </p:sp>
    </p:spTree>
    <p:extLst>
      <p:ext uri="{BB962C8B-B14F-4D97-AF65-F5344CB8AC3E}">
        <p14:creationId xmlns:p14="http://schemas.microsoft.com/office/powerpoint/2010/main" val="5499646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966C957A-1EE2-4504-87E7-C735629B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CE447-2CC1-42EE-A508-3B9830E1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F706BF1-FD17-40B9-BEB4-8208572B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07DB44D7-2511-4B7C-941D-0AEBCD2C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3F5CE1-0651-44F0-98BC-8289DCE6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Equilibrio entre diagnóstico y exposición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1C63FDF-15F1-4545-8760-8E7E6D66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Aplicar protección antes de que el contenido salga hacia la plataforma de trazas.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2926FC0-729D-4957-A979-E15A9EAF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EA1F489-D63B-456B-958E-54DE079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FC8963C-3146-46D1-8A15-4B73291C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F1451E3-2879-4CE6-87B2-42591008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60906D5-4449-4133-9B2A-4465B413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1BA2EDF-DD21-47A2-A519-1F8C23E9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D802B4A-F8A5-4830-9606-E5D8A071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202B041-059D-4DB4-88BC-F41AC860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29B9A89-E9CB-4489-AD68-1A58AF11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Nombres de tools, estructura, tiempos y uso.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Reducir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Identificadores sensibles que no deben exportarse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íntegros.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Aceptar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Una traza enmascarada puede no permitir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reproducir exactamente el dato.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BA6F83B2-2E05-4C59-8DCB-E1C47813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BA67226C-E181-4A2C-8DAD-195E6120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399B4A1C-688D-47C4-8A69-8D1857B9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Suponer que cualquier campo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queda cubierto por el patrón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DNI.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396864A8-71F8-4767-8A69-C2DAA84D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66F30BA3-FEA4-4242-904A-523DD3A7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D3BE6FB9-22B9-40B2-ACD8-C9822E9E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21413F79-7112-482E-9D17-CEA48C7B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¿En qué punto ya sería tarde para evitar que el SaaS reciba el dato?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130F299F-3A0D-4329-AF97-AB438893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E5546B24-5B5C-4EC3-8B8B-EF4BED9C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Proteger la respuesta visible no protege automáticamente las trazas.</a:t>
            </a:r>
          </a:p>
        </p:txBody>
      </p:sp>
    </p:spTree>
    <p:extLst>
      <p:ext uri="{BB962C8B-B14F-4D97-AF65-F5344CB8AC3E}">
        <p14:creationId xmlns:p14="http://schemas.microsoft.com/office/powerpoint/2010/main" val="16284841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3AB219AF-EF0D-4B92-B424-4E7259C7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37B11-60C2-4E23-A5BD-6094516B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C4D3251-690E-4A9B-9FC0-5BEE643B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D89186F-4C81-41A4-B3C1-68B939FF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D913DA-0309-4B84-B9BB-8840542D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PII en la telemetría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0639138-AD56-475D-8BA9-71F3FFFA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Aplicar protección antes de que el contenido salga hacia la plataforma de trazas.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8910C2B-A833-428C-A6C2-F19D2CB4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47C9854-1896-4C9B-8C26-D8E1BE89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F17D7B6-36C8-4E33-B68D-0F1C2603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1CE26F8-DC79-43FE-8723-C56A9FE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94EA5CA-9887-4ADC-B02C-0E01D160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B16F14C-C190-4BE8-900F-9AED01F4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4609325-96ED-4CF1-BABE-D1B459C4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14AE80C-40FE-46F4-9997-2F8D710B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A332C4E-344A-427B-B947-45FB3F9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DFAF07CF-C928-43E7-853D-6C9ED98C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0005F6EC-2975-40C8-84BF-293DE426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021E7E9-BB8C-44BC-85A2-102A7854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argumento de consulta incluye una placa o un identificador del caso.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49410D8-D33F-42BA-9B63-9584164D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82EEF0F-86EC-46DF-8029-6BBF2DE7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8EF20-4EFB-4BD3-9A0B-009823EB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F914E21-3CE1-4B0D-BDE9-64EFFC70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DC6B006-0EFE-4828-875B-803BBA26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A985D796-3BDB-4E9A-8036-617C9C9F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qué campos llegan 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instrumentación.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639E21F-97C8-4413-AB71-EAF4B18E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276F759-F5F5-4648-8579-D7FF0F55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FF5F9C-711E-45CC-B8E7-D5E302C0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1E906F3-D2AA-409A-B990-05229320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AB24435-EE95-4CB6-8CA0-8AC43DB9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Proteger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75D9F4C9-43A8-4319-A767-9BBF2896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Aplicar el saneamiento previsto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antes de exportar.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E998D55-992F-4866-858D-11FB1E73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5B35833-ADB6-4D42-A490-03B97ADC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9EE0DF-6086-428C-953F-CC5B1D82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6F24126-7274-4122-974B-93470A12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F1EDFA7-C5D5-4340-A3C6-B53DB478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0010C75F-81AC-4DD3-AB1D-DFFF07D8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Inspeccionar la traza recibida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sus campos reales.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B0D286F-8C4A-4D52-A55B-2E8DDB21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9F2A210C-3477-44DE-B4A2-2E57A94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BAB870F2-03D3-4DB2-84AA-14D4D453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patrón debe comprobarse campo por campo; no todos los identificadores tienen el mismo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formato.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DB65712E-BA7E-45B9-9748-1B446A8F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1046020B-D25A-488D-B22C-5FF9FFB9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Proteger la respuesta visible no protege automáticamente las trazas.</a:t>
            </a:r>
          </a:p>
        </p:txBody>
      </p:sp>
    </p:spTree>
    <p:extLst>
      <p:ext uri="{BB962C8B-B14F-4D97-AF65-F5344CB8AC3E}">
        <p14:creationId xmlns:p14="http://schemas.microsoft.com/office/powerpoint/2010/main" val="1999166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215E50C9-6100-4F85-8C2C-3D97DEE0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67D78-8D10-4E12-97E3-8D5BA863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B8B4E6B-A784-4655-B35A-0AFEABB1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AC63026-8D9F-4515-A3A5-D5924B69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AAF802-027B-4613-93C8-F58BCFD9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Laboratorio L9: dos cuellos de botella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A03D452-D63C-475B-B1B0-E6D5EF3E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Instrumentar el Space y extraer dos hallazgos respaldados por trazas reales.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690702E-9F83-4E7D-8B14-3A4E5DE4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C91D501-7732-428C-926B-170E7A25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E9C2C01-8BEC-4716-841D-6EB080DE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EB2B7A3-BE10-4BBA-B1BD-01A70232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A38C824-34D3-456D-8A97-E8838222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76F33A4-D747-44A5-B393-3B8920E8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5D93463-BFCC-4449-A7A6-1EBA9D33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0FBA39D-DBE8-40FE-8317-EB03ADD4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5798B69-BB37-463B-B839-2CB5AA1B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11D6768-D07A-4FED-B60F-EB88DEA8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47D36DC-100E-4D60-BE71-CCC29938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338A8-81B0-4341-A209-270F0D14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F2878E0-66F2-4CC8-B102-8FBCA6BA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C8C6722-02FF-4312-8E06-79FC9A49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Integrar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FC88D7C9-A760-4977-B2D2-FA1FA4A9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Añadir observability.py y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configuración de Langfuse.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46AF688-9348-4B5C-8AD2-00BFF875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7131582-2EFB-45F4-8B35-6E87C5FD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64614-8F2D-4D4A-AED4-508812FD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3069631-AC0B-4CC3-A034-0F1CE243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408BCF4-7A0F-467E-9FFB-8EBA2840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Redesplegar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0F319316-F365-4E62-B04A-FD9C1428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Enviar tráfico a la URL real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 Space.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C453C71-BA94-4853-AA21-C13CF64E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E799430-28AB-4F3B-B438-6F73B9A1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2A7139-63B3-4672-BB14-87051892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391F385-84C9-4380-BCCC-B9E49C82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69E3281-AC33-4B9C-86EA-31EDF152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Analizar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4242782D-59AA-4B2A-A74F-9EE271DE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Documentar dos cuellos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botella y su evidencia.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A8282BC8-D3B9-4B3D-B545-6B517384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B0E5C0F-E62C-4D61-BEFA-625E98B6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F0048323-D2F8-4B36-BEE1-CE88818B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traza adicional buscarías para comprobar que el patrón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 repite?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5F795E65-2D0D-4679-83B4-AAD6F951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0205BEFD-7311-4AC1-9752-AE5B773D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3C02F1D6-23F8-4B74-AB9A-890B9847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una sospecha como causa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confirmada.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285CD4E0-51F8-4B43-85F4-D8580976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27138AD8-60B8-43E3-88E4-818773F1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hallazgo útil conecta observación, causa posible y próxima prueba.</a:t>
            </a:r>
          </a:p>
        </p:txBody>
      </p:sp>
    </p:spTree>
    <p:extLst>
      <p:ext uri="{BB962C8B-B14F-4D97-AF65-F5344CB8AC3E}">
        <p14:creationId xmlns:p14="http://schemas.microsoft.com/office/powerpoint/2010/main" val="4738193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1824EF7C-032C-4186-83E9-F876CF6E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ACFA4-012B-4380-86F4-48165FBC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13B04B5-E496-499E-8D0B-98EC4609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0957DBB-2C96-498A-AFFD-F36112A8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EFDA69-3735-4B4B-83A7-FD301EE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Redactar un hallazgo útil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E034C0B-6CED-4FF4-87CA-B5953268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Instrumentar el Space y extraer dos hallazgos respaldados por trazas reales.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D652DD0-DA78-449D-9524-057E487A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D331A95-0AE4-47DC-BBB2-B498ECD3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5302987-977B-4E49-91D5-8C1B8A9B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5B9CB3E-0B2D-4742-8BCC-AA3687BD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165809D-F166-43E5-9461-05AA32FC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BA756BC-15D0-4E39-AF65-FEC7726D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BA13123-9445-4522-BB26-5E6D4777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0936CA2-69E6-4791-BD2E-014E0F44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4396E6C-FEEB-43DB-9F5E-9A8CEF4A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Hecho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span o secuencia domina en los casos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observados.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Hipótesis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causa podría explicar ese comportamiento.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Prueba futura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cambio o medición permitiría comprobarla en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S10.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42D194E0-779B-4E03-9DF5-346838A1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8A8ACB85-21CE-441F-ABD3-FCDE787D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26C4F257-2806-4AB0-8B94-9234011E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una sospecha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causa confirmada.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AA177031-27E0-4EBD-94E3-B1B38C64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2286F69E-AA88-456A-B50B-01A55796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6F7A7B11-0B36-4938-9F12-011F1EAD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8120B590-AB4F-4EC6-B4D6-1672D2D3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traza adicional buscarías para comprobar que el patrón se repite?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3CA799B9-3652-4ACC-A382-55C1202E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61BD39E8-F1F5-4036-80D2-0B307D48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hallazgo útil conecta observación, causa posible y próxima prueba.</a:t>
            </a:r>
          </a:p>
        </p:txBody>
      </p:sp>
    </p:spTree>
    <p:extLst>
      <p:ext uri="{BB962C8B-B14F-4D97-AF65-F5344CB8AC3E}">
        <p14:creationId xmlns:p14="http://schemas.microsoft.com/office/powerpoint/2010/main" val="16418616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B27C87FD-CB85-404E-A0C0-777B2B33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E71E8-1531-4146-91C9-16CC1222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751EC4F-AE89-4F69-B6F8-43FEFD29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964D8B1-C856-4547-908E-AF95BEBD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FEBCDF-0485-4CEA-890A-599072EC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Laboratorio L9: dos cuellos de botella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3B1801A-B92F-4D4E-8FC2-26456217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Instrumentar el Space y extraer dos hallazgos respaldados por trazas reales.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9BB6478-C8F1-4975-A330-E463D143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5D95A45-FB1A-4CF8-8B12-A1021AE8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F0A4119-FD00-4A2A-8D9C-E4EF0293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DF33E86-714E-4319-8379-4C351451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FE695FF-968C-4283-ADE1-F50C31CC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E19D3F5-291B-4282-A496-DD9FC8B1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F6459F1-7C11-42DD-82DD-6EFEE518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C901B48-2470-490E-9969-C230A5C0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E088B9A-EADF-441C-A4C8-6063B80C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28A21530-F712-45CF-807C-65406CA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AB20520C-DCA9-4721-AD24-2758856E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FBAB59F8-897B-44FA-BBEB-14E877DB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pregunta de comisión genera recuperación repetida y varias llamadas al</a:t>
            </a:r>
          </a:p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EE36689-4628-44AD-85C2-6E1196F9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2E4B19C-472B-428F-92E8-3E5CDEFE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18FB20-1088-4B62-8034-B7A5F8CE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4FB8D31-554E-4330-ADAD-0FB53438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A0125C3-C69B-452F-A369-32EFAA70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Evidencia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E0CB30E3-C9F3-425F-8EBC-224C30B8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Guardar referencias de las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ejecuciones representativas.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466DFF8-CBAC-4232-BFBA-B9FF332A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1BA9FE2-C3B6-4F60-BFA9-4CD97D5C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74408D-516E-44AF-899E-E408B58D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0CB2474-9937-4D5A-811E-0C497DFE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92AD095-0FB6-4744-A7AE-FCC6B79B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Hipótesis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845F4456-A562-4011-B41C-ACE02C0B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descripción del retriever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induce llamadas redundantes.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0768839-A5AA-4E7E-8D51-77C1E317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9A9B222-0950-44B0-B249-A33BFE01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7E1520-0E15-4971-B6BF-E80E3FF8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7F72FC0-077E-4B9D-A408-05FFEF3E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39DC6F1-5CAE-4FD0-9B27-91D85C07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Siguiente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F949B051-C4E8-4A48-82F1-24921B66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Proponer una modificación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medible para L10.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FAD4A96-7075-4646-8545-DA8C2604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407B460-8F2D-428D-A2AF-6F6DF08F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D843A391-3B2B-4AEF-966D-EE367FE8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hipótesis es una explicación por verificar, no un hecho demostrado por una sola traza.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205555E-051B-440E-9C81-BC51EB4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5127AE13-2EDA-4C31-9CCD-B0065DF9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hallazgo útil conecta observación, causa posible y próxima prueba.</a:t>
            </a:r>
          </a:p>
        </p:txBody>
      </p:sp>
    </p:spTree>
    <p:extLst>
      <p:ext uri="{BB962C8B-B14F-4D97-AF65-F5344CB8AC3E}">
        <p14:creationId xmlns:p14="http://schemas.microsoft.com/office/powerpoint/2010/main" val="7031589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0CC91DF-B2C4-45AB-B106-F3C12A06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EB625-3620-464C-8A1A-D2EF28C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DD4F455-528E-4150-8F08-8507553E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645C349-16B8-44A1-9F5B-5DC64E2C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E1AAB3-FB58-4F3E-81A8-E1B74CF8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trazas a evaluación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3D70F2B-B964-4746-AA11-4562C7AA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observar el recorrido y decidir si una versión es mejor.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8DBD5EF-755F-4F19-ACC0-72DFAD4E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B41E40F-2D2D-46DC-9AE8-96EB39FD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4C1839D-1072-43CD-9F2C-4EDA0EA7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1ECAE88-90EC-4FCE-A599-2A920D3C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4EE5784-C061-498D-BDE2-C9078FCB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6C7F4B7-E716-4A9D-8529-7433D1E3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FC72673-0E6E-4616-8F4E-D109F3C0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F59CB25-411D-42DC-9B71-F4C69961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C81A6D1-D30D-401D-9BEB-5F27DB06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3E0D127-5D32-474D-AC99-D3826AE9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44AD7DF-FEE5-4D8E-8974-6730FCA0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F3ADF-6206-42E3-9015-2F0A1B9A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C7A6700-54F1-41B5-BB11-DAAC205E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17C25B2-22A9-4DF7-AA8F-B8EC0069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S9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0CA0D158-610A-4021-9F90-59A1825C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Describe cómo ocurrió cada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ejecución.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DBE03CE-8F98-4984-9060-448C7754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34DCEEF-9ABF-42EB-94C0-FAE7E70D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9A602-AD20-4760-8A76-4FBC1B98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A8A95AB-C05A-4B31-AF76-C8A48BBE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67A8CAC-9A96-4162-A450-7EB3B688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S10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6740620F-7CF6-4B0A-9643-57C434FA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 criterios de calidad 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casos comparables.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5A8FCE5-ECD7-4DEE-9FF6-72EFC7BD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1863BEB-64F9-4B74-A6A2-ECFAF7B4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EA2B36-4FB0-4426-8043-C4FFA838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110138B-913F-42E1-8EDF-5FD09998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CB172E9-5383-48CC-BC51-D6341D51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Decisión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4730B7EB-A703-4E04-9100-6F83AB73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Combina calidad, latencia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costo para aceptar o revertir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cambio.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7A7212E5-DB7B-4A6E-B325-CEBA47D1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8B95645-0106-48E9-9863-6E6D4E8A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8B1EF89D-F381-4E81-913D-54FCE794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perderías si midieras solo milisegundos?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4831F4A-8ADA-49AA-9F43-67C322C4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31B09C23-273A-4F3C-AF3F-09E35092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F4E7D523-93B8-4FD8-986A-2633D042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una traza rápida como prueba de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mejora global.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A25620E0-36D6-454A-BB91-D4EE9FD2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99BEFD4-B7F6-4B32-B923-C5C5F350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Observar permite formular cambios; evaluar permite defenderlos.</a:t>
            </a:r>
          </a:p>
        </p:txBody>
      </p:sp>
    </p:spTree>
    <p:extLst>
      <p:ext uri="{BB962C8B-B14F-4D97-AF65-F5344CB8AC3E}">
        <p14:creationId xmlns:p14="http://schemas.microsoft.com/office/powerpoint/2010/main" val="11023979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493D1BC8-B8F9-4020-A470-150416EB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1ADD1-D5EA-4C65-9D96-1C31C24C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CB4D3B3-1C09-4BC5-8067-B9561D30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9965E9B-2FC4-431D-A05E-4DF6E9EE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019FEA-D43D-4E92-BF2D-EF98E384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Preparar la línea base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3057C6B-F144-4FD4-A9DD-D19D5940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observar el recorrido y decidir si una versión es mejor.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A207479-6897-4D64-9F69-7E0CC0DA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47CFA55-59DB-4DA8-8A88-4EBAF486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ECEE486-E1A1-417C-A609-6B22B5AF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D4937D8-DCF9-4F63-85B5-D2F6C30C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BDA40E3-2C9F-4B45-9C31-3B1408D8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B372C8F-E0F0-4C21-8ADC-5955BE13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FBB0BB3-40CC-419E-AD12-33E0A60C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88B5611-0A2E-40DF-8C14-1B39219F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5B267F1-01F2-47FA-9803-BA12B3F3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Conjunto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Usar el dataset del track y conservar sus casos.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Versión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Identificar código, prompt y configuración de la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corrida.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Relacionar resultados con trazas y condiciones de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ejecución.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5B2C2468-798A-4A57-AF7E-021D98E3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EC7C9CB6-8442-49ED-B100-C9621411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D14AABB4-C180-4C86-ADC7-DEAB3F9F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una traza rápida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prueba de mejora global.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0DBD7124-7254-4A1E-AE45-69B68F3F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680F53D9-0619-4DBF-B36B-14C7D769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DEDE87C4-1601-4117-BD98-78293793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185C73AC-30D8-4B45-9404-903F37F8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perderías si midieras solo milisegundos?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568D6DB2-8507-405C-BA09-906D7571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EB997B62-8B0E-4E53-9904-A0B9740A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Observar permite formular cambios; evaluar permite defenderlos.</a:t>
            </a:r>
          </a:p>
        </p:txBody>
      </p:sp>
    </p:spTree>
    <p:extLst>
      <p:ext uri="{BB962C8B-B14F-4D97-AF65-F5344CB8AC3E}">
        <p14:creationId xmlns:p14="http://schemas.microsoft.com/office/powerpoint/2010/main" val="6372857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1E1117F3-8979-41F6-88B7-6278D51B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F2961-B3DD-4978-B7C1-A942ED91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CAC0F95-123E-4BBD-AD2E-C688A51A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A427806-FDB2-4EFB-B65C-D6CF3C5A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09 · Observabilidad y trazabilidad con Langfuse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1A8668-0BC1-44C1-B69D-79511864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De trazas a evaluación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746E815-599E-4F08-BC52-F3D5CA60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observar el recorrido y decidir si una versión es mejor.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3D4A95C-52B5-44B3-98D5-51F397C8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8CC4282-25E5-4157-9C16-19DFFE08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CCEC789-886E-4474-A374-81B2C977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017359E-4F4B-4B03-B312-B96A2C9B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177CF08-5444-4BA5-9C6D-DB4D3475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7567962-ED20-40FB-884A-D0426F38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2BF1CDD-9895-4399-ADF0-462A9F76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09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BCF78B4-41A7-42C0-BDAC-64ABDDD8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680477D-856A-493F-B048-CC2CA54D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BFD8E0CF-0833-457B-86EF-0B67D2B5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1992AF59-E037-42DA-BA13-B3ECD48E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A77CCB39-2778-4C18-AFCE-E1D90741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propuesta elimina una llamada para reducir tiempo.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6891C24-1717-4CCB-B0E7-88C03126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5237D2F-433C-4E33-BE24-AC9CF5F6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F7D72-1530-4ED9-901F-185C5735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43E05F5-892E-4307-AA07-07AA9481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4A067DC-B83E-4F96-B1CA-8946DED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Observar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9920EC42-B962-4D54-A837-9FB0C6F4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traza confirma menos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operaciones.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DF80A99-1B90-4D47-A3F9-F2663489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CB2F0F7-A3AB-47D7-A1C9-6869248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A72F71-18BA-47D9-8E4D-4A3F86D9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3B01835-4ECC-49BE-B730-E9298F73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30D1E3F-42DE-48CC-8A92-89F9E15E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Evaluar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A6995459-870C-489F-8951-176B1F6D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que no empeoran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datos ni fundamentación.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CC9D257-EB57-4055-BFA1-14A1C905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2C6F62B-D033-4F9B-8A67-78F0B264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115DB2-BF76-4AD1-A6BE-0A914A18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4600E5A-205D-454B-AF96-B288A851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AF26B3F-A592-4E65-837E-EBFCD43D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Decidir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98836AF3-A242-4C60-AA56-6850D38B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Aceptar solo con evidencia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suficiente sobre los criterios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elegidos.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A50788F5-0A39-4A31-8D80-BE5A572B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57852235-7942-477F-B35D-F808DDB6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6FF847BB-ACB0-4D13-8BCF-ECF597F0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respuesta más rápida puede ser peor si perdió la fuente necesaria.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2A4E9C03-9583-4DC4-A2D3-CC7FBB78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D64EC7F7-76DA-445A-995C-C767E6E0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Observar permite formular cambios; evaluar permite defenderlos.</a:t>
            </a:r>
          </a:p>
        </p:txBody>
      </p:sp>
    </p:spTree>
    <p:extLst>
      <p:ext uri="{BB962C8B-B14F-4D97-AF65-F5344CB8AC3E}">
        <p14:creationId xmlns:p14="http://schemas.microsoft.com/office/powerpoint/2010/main" val="1886756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2026-09-23T04:06:45.4020000Z</dcterms:created>
  <dcterms:modified xsi:type="dcterms:W3CDTF">2026-09-23T04:06:45.4020000Z</dcterms:modified>
</coreProperties>
</file>