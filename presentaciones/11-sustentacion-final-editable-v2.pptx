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e7388825ca4094" /><Relationship Type="http://schemas.openxmlformats.org/officeDocument/2006/relationships/extended-properties" Target="/docProps/app.xml" Id="R1e044c8bf408452b" /><Relationship Type="http://schemas.openxmlformats.org/officeDocument/2006/relationships/officeDocument" Target="/ppt/presentation.xml" Id="Rd12b3a177f8b4a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283a2a74b447ef"/>
  </p:sldMasterIdLst>
  <p:notesMasterIdLst>
    <p:notesMasterId xmlns:r="http://schemas.openxmlformats.org/officeDocument/2006/relationships" r:id="R1e23a0bd29054b9c"/>
  </p:notesMasterIdLst>
  <p:sldIdLst>
    <p:sldId xmlns:r="http://schemas.openxmlformats.org/officeDocument/2006/relationships" id="256" r:id="R4e6babf6bfdd4605"/>
    <p:sldId xmlns:r="http://schemas.openxmlformats.org/officeDocument/2006/relationships" id="257" r:id="R6b545b60ade24f93"/>
    <p:sldId xmlns:r="http://schemas.openxmlformats.org/officeDocument/2006/relationships" id="258" r:id="Rb9f479ce4b3d4232"/>
    <p:sldId xmlns:r="http://schemas.openxmlformats.org/officeDocument/2006/relationships" id="259" r:id="Re136c6987f764208"/>
    <p:sldId xmlns:r="http://schemas.openxmlformats.org/officeDocument/2006/relationships" id="260" r:id="R1062abe8be58414e"/>
    <p:sldId xmlns:r="http://schemas.openxmlformats.org/officeDocument/2006/relationships" id="261" r:id="R8c0b5d4d467245cd"/>
    <p:sldId xmlns:r="http://schemas.openxmlformats.org/officeDocument/2006/relationships" id="262" r:id="Re2661fe6532f4c7e"/>
    <p:sldId xmlns:r="http://schemas.openxmlformats.org/officeDocument/2006/relationships" id="263" r:id="R14a9f4093bb84365"/>
    <p:sldId xmlns:r="http://schemas.openxmlformats.org/officeDocument/2006/relationships" id="264" r:id="R44fa2dd4d8294891"/>
    <p:sldId xmlns:r="http://schemas.openxmlformats.org/officeDocument/2006/relationships" id="265" r:id="Rb196d68c184a4e6d"/>
    <p:sldId xmlns:r="http://schemas.openxmlformats.org/officeDocument/2006/relationships" id="266" r:id="R8ae2abf751b840ba"/>
    <p:sldId xmlns:r="http://schemas.openxmlformats.org/officeDocument/2006/relationships" id="267" r:id="R15d0b6c9b8f44394"/>
    <p:sldId xmlns:r="http://schemas.openxmlformats.org/officeDocument/2006/relationships" id="268" r:id="R7fee328326a7458f"/>
    <p:sldId xmlns:r="http://schemas.openxmlformats.org/officeDocument/2006/relationships" id="269" r:id="R197d1764a8f04ac2"/>
    <p:sldId xmlns:r="http://schemas.openxmlformats.org/officeDocument/2006/relationships" id="270" r:id="R9e787d11cff94ddb"/>
    <p:sldId xmlns:r="http://schemas.openxmlformats.org/officeDocument/2006/relationships" id="271" r:id="Raa959acbba9642ee"/>
    <p:sldId xmlns:r="http://schemas.openxmlformats.org/officeDocument/2006/relationships" id="272" r:id="R7b1c93f78bc942f9"/>
    <p:sldId xmlns:r="http://schemas.openxmlformats.org/officeDocument/2006/relationships" id="273" r:id="Rdb082e15b614496e"/>
    <p:sldId xmlns:r="http://schemas.openxmlformats.org/officeDocument/2006/relationships" id="274" r:id="R150aba24411a412c"/>
    <p:sldId xmlns:r="http://schemas.openxmlformats.org/officeDocument/2006/relationships" id="275" r:id="Re03531d270d04b33"/>
    <p:sldId xmlns:r="http://schemas.openxmlformats.org/officeDocument/2006/relationships" id="276" r:id="R6a5592aa80b84b2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1930d476464cbe" /><Relationship Type="http://schemas.openxmlformats.org/officeDocument/2006/relationships/slideMaster" Target="/ppt/slideMasters/slideMaster1.xml" Id="R1e283a2a74b447ef" /><Relationship Type="http://schemas.openxmlformats.org/officeDocument/2006/relationships/notesMaster" Target="/ppt/notesMasters/notesMaster1.xml" Id="R1e23a0bd29054b9c" /><Relationship Type="http://schemas.openxmlformats.org/officeDocument/2006/relationships/presProps" Target="/ppt/presProps.xml" Id="Raa8fc978c6a74e41" /><Relationship Type="http://schemas.openxmlformats.org/officeDocument/2006/relationships/tableStyles" Target="/ppt/tableStyles.xml" Id="R094fefa739534bda" /><Relationship Type="http://schemas.openxmlformats.org/officeDocument/2006/relationships/slide" Target="/ppt/slides/slide1.xml" Id="R4e6babf6bfdd4605" /><Relationship Type="http://schemas.openxmlformats.org/officeDocument/2006/relationships/slide" Target="/ppt/slides/slide2.xml" Id="R6b545b60ade24f93" /><Relationship Type="http://schemas.openxmlformats.org/officeDocument/2006/relationships/slide" Target="/ppt/slides/slide3.xml" Id="Rb9f479ce4b3d4232" /><Relationship Type="http://schemas.openxmlformats.org/officeDocument/2006/relationships/slide" Target="/ppt/slides/slide4.xml" Id="Re136c6987f764208" /><Relationship Type="http://schemas.openxmlformats.org/officeDocument/2006/relationships/slide" Target="/ppt/slides/slide5.xml" Id="R1062abe8be58414e" /><Relationship Type="http://schemas.openxmlformats.org/officeDocument/2006/relationships/slide" Target="/ppt/slides/slide6.xml" Id="R8c0b5d4d467245cd" /><Relationship Type="http://schemas.openxmlformats.org/officeDocument/2006/relationships/slide" Target="/ppt/slides/slide7.xml" Id="Re2661fe6532f4c7e" /><Relationship Type="http://schemas.openxmlformats.org/officeDocument/2006/relationships/slide" Target="/ppt/slides/slide8.xml" Id="R14a9f4093bb84365" /><Relationship Type="http://schemas.openxmlformats.org/officeDocument/2006/relationships/slide" Target="/ppt/slides/slide9.xml" Id="R44fa2dd4d8294891" /><Relationship Type="http://schemas.openxmlformats.org/officeDocument/2006/relationships/slide" Target="/ppt/slides/slide10.xml" Id="Rb196d68c184a4e6d" /><Relationship Type="http://schemas.openxmlformats.org/officeDocument/2006/relationships/slide" Target="/ppt/slides/slide11.xml" Id="R8ae2abf751b840ba" /><Relationship Type="http://schemas.openxmlformats.org/officeDocument/2006/relationships/slide" Target="/ppt/slides/slide12.xml" Id="R15d0b6c9b8f44394" /><Relationship Type="http://schemas.openxmlformats.org/officeDocument/2006/relationships/slide" Target="/ppt/slides/slide13.xml" Id="R7fee328326a7458f" /><Relationship Type="http://schemas.openxmlformats.org/officeDocument/2006/relationships/slide" Target="/ppt/slides/slide14.xml" Id="R197d1764a8f04ac2" /><Relationship Type="http://schemas.openxmlformats.org/officeDocument/2006/relationships/slide" Target="/ppt/slides/slide15.xml" Id="R9e787d11cff94ddb" /><Relationship Type="http://schemas.openxmlformats.org/officeDocument/2006/relationships/slide" Target="/ppt/slides/slide16.xml" Id="Raa959acbba9642ee" /><Relationship Type="http://schemas.openxmlformats.org/officeDocument/2006/relationships/slide" Target="/ppt/slides/slide17.xml" Id="R7b1c93f78bc942f9" /><Relationship Type="http://schemas.openxmlformats.org/officeDocument/2006/relationships/slide" Target="/ppt/slides/slide18.xml" Id="Rdb082e15b614496e" /><Relationship Type="http://schemas.openxmlformats.org/officeDocument/2006/relationships/slide" Target="/ppt/slides/slide19.xml" Id="R150aba24411a412c" /><Relationship Type="http://schemas.openxmlformats.org/officeDocument/2006/relationships/slide" Target="/ppt/slides/slide20.xml" Id="Re03531d270d04b33" /><Relationship Type="http://schemas.openxmlformats.org/officeDocument/2006/relationships/slide" Target="/ppt/slides/slide21.xml" Id="R6a5592aa80b84b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7ffb80519b42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62a9961d354d7c" /><Relationship Type="http://schemas.openxmlformats.org/officeDocument/2006/relationships/notesMaster" Target="/ppt/notesMasters/notesMaster1.xml" Id="Rc3999004c88649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f6f3b8f1914830" /><Relationship Type="http://schemas.openxmlformats.org/officeDocument/2006/relationships/notesMaster" Target="/ppt/notesMasters/notesMaster1.xml" Id="Rc4fa0466cdc946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fc117d3e344d7a" /><Relationship Type="http://schemas.openxmlformats.org/officeDocument/2006/relationships/notesMaster" Target="/ppt/notesMasters/notesMaster1.xml" Id="Rf51ea6e844fa41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1cf4ab796c40e4" /><Relationship Type="http://schemas.openxmlformats.org/officeDocument/2006/relationships/notesMaster" Target="/ppt/notesMasters/notesMaster1.xml" Id="R418088fb15cb44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04a89355ef4568" /><Relationship Type="http://schemas.openxmlformats.org/officeDocument/2006/relationships/notesMaster" Target="/ppt/notesMasters/notesMaster1.xml" Id="R83f2965c740045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6c643279f94e81" /><Relationship Type="http://schemas.openxmlformats.org/officeDocument/2006/relationships/notesMaster" Target="/ppt/notesMasters/notesMaster1.xml" Id="R3ed833378eec4d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b06c519ece4255" /><Relationship Type="http://schemas.openxmlformats.org/officeDocument/2006/relationships/notesMaster" Target="/ppt/notesMasters/notesMaster1.xml" Id="R2ea1576d3ca146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03f9503792464b" /><Relationship Type="http://schemas.openxmlformats.org/officeDocument/2006/relationships/notesMaster" Target="/ppt/notesMasters/notesMaster1.xml" Id="Rb7bea78dd47c4b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514347208c43d4" /><Relationship Type="http://schemas.openxmlformats.org/officeDocument/2006/relationships/notesMaster" Target="/ppt/notesMasters/notesMaster1.xml" Id="R9e73eadf63cd45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049ba25bc64760" /><Relationship Type="http://schemas.openxmlformats.org/officeDocument/2006/relationships/notesMaster" Target="/ppt/notesMasters/notesMaster1.xml" Id="R0bd82c32181549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b11ae407734857" /><Relationship Type="http://schemas.openxmlformats.org/officeDocument/2006/relationships/notesMaster" Target="/ppt/notesMasters/notesMaster1.xml" Id="R5783ee41dd064e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3f88876f5b4fdc" /><Relationship Type="http://schemas.openxmlformats.org/officeDocument/2006/relationships/notesMaster" Target="/ppt/notesMasters/notesMaster1.xml" Id="R01dbdbefc2f149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c9b055d6404b22" /><Relationship Type="http://schemas.openxmlformats.org/officeDocument/2006/relationships/notesMaster" Target="/ppt/notesMasters/notesMaster1.xml" Id="R512f45d5ed054b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de1aef79f34be8" /><Relationship Type="http://schemas.openxmlformats.org/officeDocument/2006/relationships/notesMaster" Target="/ppt/notesMasters/notesMaster1.xml" Id="Rcd67fb34e4ee48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c0df426192549b1" /><Relationship Type="http://schemas.openxmlformats.org/officeDocument/2006/relationships/notesMaster" Target="/ppt/notesMasters/notesMaster1.xml" Id="R9b85650391a544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194c717f6a42c9" /><Relationship Type="http://schemas.openxmlformats.org/officeDocument/2006/relationships/notesMaster" Target="/ppt/notesMasters/notesMaster1.xml" Id="R1019953e0c6345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47b84728cf4d43" /><Relationship Type="http://schemas.openxmlformats.org/officeDocument/2006/relationships/notesMaster" Target="/ppt/notesMasters/notesMaster1.xml" Id="R7fe9c0a54a1f496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ef3d72831e549be" /><Relationship Type="http://schemas.openxmlformats.org/officeDocument/2006/relationships/notesMaster" Target="/ppt/notesMasters/notesMaster1.xml" Id="Ra70ada632013497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c38cec5f1ed4b55" /><Relationship Type="http://schemas.openxmlformats.org/officeDocument/2006/relationships/notesMaster" Target="/ppt/notesMasters/notesMaster1.xml" Id="Rb6b55d42c895450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3b091fd3648457e" /><Relationship Type="http://schemas.openxmlformats.org/officeDocument/2006/relationships/notesMaster" Target="/ppt/notesMasters/notesMaster1.xml" Id="Rac516246ddfc477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8dd71d624f34d47" /><Relationship Type="http://schemas.openxmlformats.org/officeDocument/2006/relationships/notesMaster" Target="/ppt/notesMasters/notesMaster1.xml" Id="R286112db15d341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 · CAPÍTULO 1 · CONCEPTO</a:t>
            </a:r>
          </a:p>
          <a:p xmlns:a="http://schemas.openxmlformats.org/drawingml/2006/main">
            <a:r>
              <a:t>Título: Cerrar el proyecto acumulativo</a:t>
            </a:r>
          </a:p>
          <a:p xmlns:a="http://schemas.openxmlformats.org/drawingml/2006/main">
            <a:r>
              <a:t>Sesión: Aplicación final y sustentación</a:t>
            </a:r>
          </a:p>
          <a:p xmlns:a="http://schemas.openxmlformats.org/drawingml/2006/main">
            <a:r>
              <a:t>Archivo: 11-sustentacion-final-editable-v2.pptx</a:t>
            </a:r>
          </a:p>
          <a:p xmlns:a="http://schemas.openxmlformats.org/drawingml/2006/main">
            <a:r>
              <a:t>Sección que soporta: Objetivos y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https://github.com/javierrosado/ariwalab-course-langchain/blob/27c24090f1662f9473b673d2020e7bffee04490b/modulo-3-produccion/sesion-11-sustentacion-final/README.md</a:t>
            </a:r>
          </a:p>
          <a:p xmlns:a="http://schemas.openxmlformats.org/drawingml/2006/main">
            <a:r>
              <a:t>Contexto adicional: laboratorios, demos y soluciones de modulo-3-produccion/sesion-11-sustentacion-final;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Integrar las evidencias construidas desde L1 sin inventar un proyecto nuevo.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Cerrar el proyecto acumulativo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S11 cierra e integra las capacidades construidas durante 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entregable prueba que la observabilidad viene del Space real?».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Sistema: Agente con tools, RAG, memoria y guardrails.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Operación: API desplegada, trazas y resultados de evaluación.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Cierre: Cliente web, documento de diseño y demo end-to-end.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S11 cierra e integra las capacidades construidas durante 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Sistema; Operación; Cierre.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equipo ya tiene una API que consulta planes y consumo.</a:t>
            </a:r>
          </a:p>
          <a:p xmlns:a="http://schemas.openxmlformats.org/drawingml/2006/main">
            <a:r>
              <a:t>Reutilizar: Conservar su checkpoint desplegado.</a:t>
            </a:r>
          </a:p>
          <a:p xmlns:a="http://schemas.openxmlformats.org/drawingml/2006/main">
            <a:r>
              <a:t>Completar: Añadir cliente y documentación de arquitectura.</a:t>
            </a:r>
          </a:p>
          <a:p xmlns:a="http://schemas.openxmlformats.org/drawingml/2006/main">
            <a:r>
              <a:t>Verificar: Demostrar desde la interfaz hasta la fuente de datos.</a:t>
            </a:r>
          </a:p>
          <a:p xmlns:a="http://schemas.openxmlformats.org/drawingml/2006/main">
            <a:r>
              <a:t>Resultado: La entrega final muestra continuidad entre decisiones y resultados.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entregable prueba que la observabilidad viene del Space real?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S11 cierra e integra las capacidades construidas durante 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Reescribir el proyecto al final y perder la evidencia previa.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S8–S10: despliegue, trazas y comparación de versiones.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Seminario: contraste; Foundry: bonus opcional · Sigue: Cliente web y streaming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 · CAPÍTULO 1 · DESARROLLO</a:t>
            </a:r>
          </a:p>
          <a:p xmlns:a="http://schemas.openxmlformats.org/drawingml/2006/main">
            <a:r>
              <a:t>Título: Relacionar entregable y origen</a:t>
            </a:r>
          </a:p>
          <a:p xmlns:a="http://schemas.openxmlformats.org/drawingml/2006/main">
            <a:r>
              <a:t>Sesión: Aplicación final y sustentación</a:t>
            </a:r>
          </a:p>
          <a:p xmlns:a="http://schemas.openxmlformats.org/drawingml/2006/main">
            <a:r>
              <a:t>Archivo: 11-sustentacion-final-editable-v2.pptx</a:t>
            </a:r>
          </a:p>
          <a:p xmlns:a="http://schemas.openxmlformats.org/drawingml/2006/main">
            <a:r>
              <a:t>Sección que soporta: Objetivos y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https://github.com/javierrosado/ariwalab-course-langchain/blob/27c24090f1662f9473b673d2020e7bffee04490b/modulo-3-produccion/sesion-11-sustentacion-final/README.md</a:t>
            </a:r>
          </a:p>
          <a:p xmlns:a="http://schemas.openxmlformats.org/drawingml/2006/main">
            <a:r>
              <a:t>Contexto adicional: laboratorios, demos y soluciones de modulo-3-produccion/sesion-11-sustentacion-final;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Integrar las evidencias construidas desde L1 sin inventar un proyecto nuevo.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Cerrar el proyecto acumulativo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S11 cierra e integra las capacidades construidas durante 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L8: URL pública y acceso autenticado.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L9–L10: Trazas reales y comparación v1/v2.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L11: Cliente con streaming, diseño y sustentación.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Reescribir el proyecto al final y perder la evidencia previa.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L8; L9–L10; L11.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equipo ya tiene una API que consulta planes y consumo.</a:t>
            </a:r>
          </a:p>
          <a:p xmlns:a="http://schemas.openxmlformats.org/drawingml/2006/main">
            <a:r>
              <a:t>Reutilizar: Conservar su checkpoint desplegado.</a:t>
            </a:r>
          </a:p>
          <a:p xmlns:a="http://schemas.openxmlformats.org/drawingml/2006/main">
            <a:r>
              <a:t>Completar: Añadir cliente y documentación de arquitectura.</a:t>
            </a:r>
          </a:p>
          <a:p xmlns:a="http://schemas.openxmlformats.org/drawingml/2006/main">
            <a:r>
              <a:t>Verificar: Demostrar desde la interfaz hasta la fuente de datos.</a:t>
            </a:r>
          </a:p>
          <a:p xmlns:a="http://schemas.openxmlformats.org/drawingml/2006/main">
            <a:r>
              <a:t>Resultado: La entrega final muestra continuidad entre decisiones y resultados.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entregable prueba que la observabilidad viene del Space real?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S11 cierra e integra las capacidades construidas durante 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Reescribir el proyecto al final y perder la evidencia previa.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S8–S10: despliegue, trazas y comparación de versiones.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Seminario: contraste; Foundry: bonus opcional · Sigue: Cliente web y streaming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3 · CAPÍTULO 1 · EJEMPLO</a:t>
            </a:r>
          </a:p>
          <a:p xmlns:a="http://schemas.openxmlformats.org/drawingml/2006/main">
            <a:r>
              <a:t>Título: AndesMóvil · Cerrar el proyecto acumulativo</a:t>
            </a:r>
          </a:p>
          <a:p xmlns:a="http://schemas.openxmlformats.org/drawingml/2006/main">
            <a:r>
              <a:t>Sesión: Aplicación final y sustentación</a:t>
            </a:r>
          </a:p>
          <a:p xmlns:a="http://schemas.openxmlformats.org/drawingml/2006/main">
            <a:r>
              <a:t>Archivo: 11-sustentacion-final-editable-v2.pptx</a:t>
            </a:r>
          </a:p>
          <a:p xmlns:a="http://schemas.openxmlformats.org/drawingml/2006/main">
            <a:r>
              <a:t>Sección que soporta: Objetivos y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https://github.com/javierrosado/ariwalab-course-langchain/blob/27c24090f1662f9473b673d2020e7bffee04490b/modulo-3-produccion/sesion-11-sustentacion-final/README.md</a:t>
            </a:r>
          </a:p>
          <a:p xmlns:a="http://schemas.openxmlformats.org/drawingml/2006/main">
            <a:r>
              <a:t>Contexto adicional: laboratorios, demos y soluciones de modulo-3-produccion/sesion-11-sustentacion-final;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Integrar las evidencias construidas desde L1 sin inventar un proyecto nuevo.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Cerrar el proyecto acumulativo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S11 cierra e integra las capacidades construidas durante 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equipo ya tiene una API que consulta planes y consumo.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Reutilizar: Conservar su checkpoint desplegado.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Completar: Añadir cliente y documentación de arquitectura.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Verificar: Demostrar desde la interfaz hasta la fuente de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entrega final muestra continuidad entre decisiones y resultados.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Reutilizar; Completar; Verificar.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equipo ya tiene una API que consulta planes y consumo.</a:t>
            </a:r>
          </a:p>
          <a:p xmlns:a="http://schemas.openxmlformats.org/drawingml/2006/main">
            <a:r>
              <a:t>Reutilizar: Conservar su checkpoint desplegado.</a:t>
            </a:r>
          </a:p>
          <a:p xmlns:a="http://schemas.openxmlformats.org/drawingml/2006/main">
            <a:r>
              <a:t>Completar: Añadir cliente y documentación de arquitectura.</a:t>
            </a:r>
          </a:p>
          <a:p xmlns:a="http://schemas.openxmlformats.org/drawingml/2006/main">
            <a:r>
              <a:t>Verificar: Demostrar desde la interfaz hasta la fuente de datos.</a:t>
            </a:r>
          </a:p>
          <a:p xmlns:a="http://schemas.openxmlformats.org/drawingml/2006/main">
            <a:r>
              <a:t>Resultado: La entrega final muestra continuidad entre decisiones y resultados.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entregable prueba que la observabilidad viene del Space real?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S11 cierra e integra las capacidades construidas durante 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Reescribir el proyecto al final y perder la evidencia previa.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S8–S10: despliegue, trazas y comparación de versiones.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Seminario: contraste; Foundry: bonus opcional · Sigue: Cliente web y streaming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4 · CAPÍTULO 2 · CONCEPTO</a:t>
            </a:r>
          </a:p>
          <a:p xmlns:a="http://schemas.openxmlformats.org/drawingml/2006/main">
            <a:r>
              <a:t>Título: Cliente web y streaming</a:t>
            </a:r>
          </a:p>
          <a:p xmlns:a="http://schemas.openxmlformats.org/drawingml/2006/main">
            <a:r>
              <a:t>Sesión: Aplicación final y sustentación</a:t>
            </a:r>
          </a:p>
          <a:p xmlns:a="http://schemas.openxmlformats.org/drawingml/2006/main">
            <a:r>
              <a:t>Archivo: 11-sustentacion-final-editable-v2.pptx</a:t>
            </a:r>
          </a:p>
          <a:p xmlns:a="http://schemas.openxmlformats.org/drawingml/2006/main">
            <a:r>
              <a:t>Sección que soporta: Objetivos, code/README.md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https://github.com/javierrosado/ariwalab-course-langchain/blob/27c24090f1662f9473b673d2020e7bffee04490b/modulo-3-produccion/sesion-11-sustentacion-final/README.md</a:t>
            </a:r>
          </a:p>
          <a:p xmlns:a="http://schemas.openxmlformats.org/drawingml/2006/main">
            <a:r>
              <a:t>Contexto adicional: laboratorios, demos y soluciones de modulo-3-produccion/sesion-11-sustentacion-final;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Consumir la API con un cliente que representa progresivamente la respuesta.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Cliente web y streaming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cliente debe respetar el contrato real de la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dos requisitos de la solicitud motivan usar fetch?».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Cliente HTML: Recibe la consulta y prepara la solicitud autenticada.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fetch y stream: Permiten enviar POST y leer fragmentos de la respuesta.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Interfaz: Acumula contenido y muestra errores sin ocultarlos.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El cliente debe respetar el contrato real de la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Cliente HTML; fetch y stream; Interfaz.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usuario envía una pregunta de pedido desde la interfaz final.</a:t>
            </a:r>
          </a:p>
          <a:p xmlns:a="http://schemas.openxmlformats.org/drawingml/2006/main">
            <a:r>
              <a:t>Enviar: POST con mensaje y credencial según el contrato del cliente.</a:t>
            </a:r>
          </a:p>
          <a:p xmlns:a="http://schemas.openxmlformats.org/drawingml/2006/main">
            <a:r>
              <a:t>Leer: Procesar los fragmentos recibidos de la API.</a:t>
            </a:r>
          </a:p>
          <a:p xmlns:a="http://schemas.openxmlformats.org/drawingml/2006/main">
            <a:r>
              <a:t>Mostrar: Conservar orden, finalización y manejo de errores.</a:t>
            </a:r>
          </a:p>
          <a:p xmlns:a="http://schemas.openxmlformats.org/drawingml/2006/main">
            <a:r>
              <a:t>Resultado: Una respuesta visible por partes no cambia la obligación de validar el contenido.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dos requisitos de la solicitud motivan usar fetch?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cliente debe respetar el contrato real de la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Afirmar que dividir texto en el cliente demuestra streaming nativo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S8–S10: despliegue, trazas y comparación de versiones · Capítulo previo: Cerrar el proyecto acumulativo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Seminario: contraste; Foundry: bonus opcional · Sigue: Argumentar una decisión de arquitectura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5 · CAPÍTULO 2 · DESARROLLO</a:t>
            </a:r>
          </a:p>
          <a:p xmlns:a="http://schemas.openxmlformats.org/drawingml/2006/main">
            <a:r>
              <a:t>Título: Por qué no basta EventSource</a:t>
            </a:r>
          </a:p>
          <a:p xmlns:a="http://schemas.openxmlformats.org/drawingml/2006/main">
            <a:r>
              <a:t>Sesión: Aplicación final y sustentación</a:t>
            </a:r>
          </a:p>
          <a:p xmlns:a="http://schemas.openxmlformats.org/drawingml/2006/main">
            <a:r>
              <a:t>Archivo: 11-sustentacion-final-editable-v2.pptx</a:t>
            </a:r>
          </a:p>
          <a:p xmlns:a="http://schemas.openxmlformats.org/drawingml/2006/main">
            <a:r>
              <a:t>Sección que soporta: Objetivos, code/README.md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https://github.com/javierrosado/ariwalab-course-langchain/blob/27c24090f1662f9473b673d2020e7bffee04490b/modulo-3-produccion/sesion-11-sustentacion-final/README.md</a:t>
            </a:r>
          </a:p>
          <a:p xmlns:a="http://schemas.openxmlformats.org/drawingml/2006/main">
            <a:r>
              <a:t>Contexto adicional: laboratorios, demos y soluciones de modulo-3-produccion/sesion-11-sustentacion-final;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Consumir la API con un cliente que representa progresivamente la respuesta.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Cliente web y streaming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cliente debe respetar el contrato real de la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Solicitud: El contrato necesita POST con un cuerpo.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Autenticación: La llamada usa la cabecera X-API-Key.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Lectura: fetch con ReadableStream permite consumir la respuesta incremental.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Afirmar que dividir texto en el cliente demuestra streaming nativo del modelo.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Solicitud; Autenticación; Lectura.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usuario envía una pregunta de pedido desde la interfaz final.</a:t>
            </a:r>
          </a:p>
          <a:p xmlns:a="http://schemas.openxmlformats.org/drawingml/2006/main">
            <a:r>
              <a:t>Enviar: POST con mensaje y credencial según el contrato del cliente.</a:t>
            </a:r>
          </a:p>
          <a:p xmlns:a="http://schemas.openxmlformats.org/drawingml/2006/main">
            <a:r>
              <a:t>Leer: Procesar los fragmentos recibidos de la API.</a:t>
            </a:r>
          </a:p>
          <a:p xmlns:a="http://schemas.openxmlformats.org/drawingml/2006/main">
            <a:r>
              <a:t>Mostrar: Conservar orden, finalización y manejo de errores.</a:t>
            </a:r>
          </a:p>
          <a:p xmlns:a="http://schemas.openxmlformats.org/drawingml/2006/main">
            <a:r>
              <a:t>Resultado: Una respuesta visible por partes no cambia la obligación de validar el contenido.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dos requisitos de la solicitud motivan usar fetch?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cliente debe respetar el contrato real de la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Afirmar que dividir texto en el cliente demuestra streaming nativo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S8–S10: despliegue, trazas y comparación de versiones · Capítulo previo: Cerrar el proyecto acumulativo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Seminario: contraste; Foundry: bonus opcional · Sigue: Argumentar una decisión de arquitectura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6 · CAPÍTULO 2 · EJEMPLO</a:t>
            </a:r>
          </a:p>
          <a:p xmlns:a="http://schemas.openxmlformats.org/drawingml/2006/main">
            <a:r>
              <a:t>Título: MercaSur · Cliente web y streaming</a:t>
            </a:r>
          </a:p>
          <a:p xmlns:a="http://schemas.openxmlformats.org/drawingml/2006/main">
            <a:r>
              <a:t>Sesión: Aplicación final y sustentación</a:t>
            </a:r>
          </a:p>
          <a:p xmlns:a="http://schemas.openxmlformats.org/drawingml/2006/main">
            <a:r>
              <a:t>Archivo: 11-sustentacion-final-editable-v2.pptx</a:t>
            </a:r>
          </a:p>
          <a:p xmlns:a="http://schemas.openxmlformats.org/drawingml/2006/main">
            <a:r>
              <a:t>Sección que soporta: Objetivos, code/README.md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https://github.com/javierrosado/ariwalab-course-langchain/blob/27c24090f1662f9473b673d2020e7bffee04490b/modulo-3-produccion/sesion-11-sustentacion-final/README.md</a:t>
            </a:r>
          </a:p>
          <a:p xmlns:a="http://schemas.openxmlformats.org/drawingml/2006/main">
            <a:r>
              <a:t>Contexto adicional: laboratorios, demos y soluciones de modulo-3-produccion/sesion-11-sustentacion-final;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Consumir la API con un cliente que representa progresivamente la respuesta.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Cliente web y streaming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cliente debe respetar el contrato real de la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usuario envía una pregunta de pedido desde la interfaz final.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Enviar: POST con mensaje y credencial según el contrato del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Leer: Procesar los fragmentos recibidos de la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Mostrar: Conservar orden, finalización y manejo de errores.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Una respuesta visible por partes no cambia la obligación de validar el contenido.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Enviar; Leer; Mostrar.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usuario envía una pregunta de pedido desde la interfaz final.</a:t>
            </a:r>
          </a:p>
          <a:p xmlns:a="http://schemas.openxmlformats.org/drawingml/2006/main">
            <a:r>
              <a:t>Enviar: POST con mensaje y credencial según el contrato del cliente.</a:t>
            </a:r>
          </a:p>
          <a:p xmlns:a="http://schemas.openxmlformats.org/drawingml/2006/main">
            <a:r>
              <a:t>Leer: Procesar los fragmentos recibidos de la API.</a:t>
            </a:r>
          </a:p>
          <a:p xmlns:a="http://schemas.openxmlformats.org/drawingml/2006/main">
            <a:r>
              <a:t>Mostrar: Conservar orden, finalización y manejo de errores.</a:t>
            </a:r>
          </a:p>
          <a:p xmlns:a="http://schemas.openxmlformats.org/drawingml/2006/main">
            <a:r>
              <a:t>Resultado: Una respuesta visible por partes no cambia la obligación de validar el contenido.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dos requisitos de la solicitud motivan usar fetch?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cliente debe respetar el contrato real de la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Afirmar que dividir texto en el cliente demuestra streaming nativo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S8–S10: despliegue, trazas y comparación de versiones · Capítulo previo: Cerrar el proyecto acumulativo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Seminario: contraste; Foundry: bonus opcional · Sigue: Argumentar una decisión de arquitectura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7 · CAPÍTULO 3 · CONCEPTO</a:t>
            </a:r>
          </a:p>
          <a:p xmlns:a="http://schemas.openxmlformats.org/drawingml/2006/main">
            <a:r>
              <a:t>Título: Argumentar una decisión de arquitectura</a:t>
            </a:r>
          </a:p>
          <a:p xmlns:a="http://schemas.openxmlformats.org/drawingml/2006/main">
            <a:r>
              <a:t>Sesión: Aplicación final y sustentación</a:t>
            </a:r>
          </a:p>
          <a:p xmlns:a="http://schemas.openxmlformats.org/drawingml/2006/main">
            <a:r>
              <a:t>Archivo: 11-sustentacion-final-editable-v2.pptx</a:t>
            </a:r>
          </a:p>
          <a:p xmlns:a="http://schemas.openxmlformats.org/drawingml/2006/main">
            <a:r>
              <a:t>Sección que soporta: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https://github.com/javierrosado/ariwalab-course-langchain/blob/27c24090f1662f9473b673d2020e7bffee04490b/modulo-3-produccion/sesion-11-sustentacion-final/README.md</a:t>
            </a:r>
          </a:p>
          <a:p xmlns:a="http://schemas.openxmlformats.org/drawingml/2006/main">
            <a:r>
              <a:t>Contexto adicional: laboratorios, demos y soluciones de modulo-3-produccion/sesion-11-sustentacion-final;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Pasar de nombrar una tecnología a explicar una elección y sus consecuencias.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Argumentar una decisión de arquitectura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Una decisión defendible relaciona requisito, alternativa y consecuencia.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requisito cambiaría tu elección de arquitectura?».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Alternativa: Qué opción se consideró y se descartó.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Criterio: Qué requisito inclinó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Consecuencia: Qué beneficio y compromiso produjo la elección.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Una decisión defendible relaciona requisito, alternativa y consecuencia.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Alternativa; Criterio; Consecuencia.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equipo necesita recuperar cláusulas con procedencia después de reiniciar el servicio.</a:t>
            </a:r>
          </a:p>
          <a:p xmlns:a="http://schemas.openxmlformats.org/drawingml/2006/main">
            <a:r>
              <a:t>Alternativa: Guardar el índice solo en memoria del proceso.</a:t>
            </a:r>
          </a:p>
          <a:p xmlns:a="http://schemas.openxmlformats.org/drawingml/2006/main">
            <a:r>
              <a:t>Criterio: Conservar el corpus y sus fuentes fuera del proceso.</a:t>
            </a:r>
          </a:p>
          <a:p xmlns:a="http://schemas.openxmlformats.org/drawingml/2006/main">
            <a:r>
              <a:t>Consecuencia: Usar Qdrant y asumir una dependencia de red.</a:t>
            </a:r>
          </a:p>
          <a:p xmlns:a="http://schemas.openxmlformats.org/drawingml/2006/main">
            <a:r>
              <a:t>Resultado: El argumento incluye la ventaja y el costo de la opción elegida.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requisito cambiaría tu elección de arquitectura?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Una decisión defendible relaciona requisito, alternativa y consecuencia.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Describir una lista de herramientas como si fuera una justificación.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S8–S10: despliegue, trazas y comparación de versiones · Capítulo previo: Cliente web y streaming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Seminario: contraste; Foundry: bonus opcional · Sigue: Guion de diez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8 · CAPÍTULO 3 · DESARROLLO</a:t>
            </a:r>
          </a:p>
          <a:p xmlns:a="http://schemas.openxmlformats.org/drawingml/2006/main">
            <a:r>
              <a:t>Título: Construir el argumento</a:t>
            </a:r>
          </a:p>
          <a:p xmlns:a="http://schemas.openxmlformats.org/drawingml/2006/main">
            <a:r>
              <a:t>Sesión: Aplicación final y sustentación</a:t>
            </a:r>
          </a:p>
          <a:p xmlns:a="http://schemas.openxmlformats.org/drawingml/2006/main">
            <a:r>
              <a:t>Archivo: 11-sustentacion-final-editable-v2.pptx</a:t>
            </a:r>
          </a:p>
          <a:p xmlns:a="http://schemas.openxmlformats.org/drawingml/2006/main">
            <a:r>
              <a:t>Sección que soporta: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https://github.com/javierrosado/ariwalab-course-langchain/blob/27c24090f1662f9473b673d2020e7bffee04490b/modulo-3-produccion/sesion-11-sustentacion-final/README.md</a:t>
            </a:r>
          </a:p>
          <a:p xmlns:a="http://schemas.openxmlformats.org/drawingml/2006/main">
            <a:r>
              <a:t>Contexto adicional: laboratorios, demos y soluciones de modulo-3-produccion/sesion-11-sustentacion-final;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Pasar de nombrar una tecnología a explicar una elección y sus consecuencias.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Argumentar una decisión de arquitectura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Una decisión defendible relaciona requisito, alternativa y consecuencia.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Dato insuficiente: «Usamos Qdrant» nombra una tecnología.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Decisión: Comparar Qdrant con un índice en memoria.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Justificación: El corpus debe sobrevivir a reinicios y conservar metadatos de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Describir una lista de herramientas como si fuera una justificación.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Dato insuficiente; Decisión; Justificación.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equipo necesita recuperar cláusulas con procedencia después de reiniciar el servicio.</a:t>
            </a:r>
          </a:p>
          <a:p xmlns:a="http://schemas.openxmlformats.org/drawingml/2006/main">
            <a:r>
              <a:t>Alternativa: Guardar el índice solo en memoria del proceso.</a:t>
            </a:r>
          </a:p>
          <a:p xmlns:a="http://schemas.openxmlformats.org/drawingml/2006/main">
            <a:r>
              <a:t>Criterio: Conservar el corpus y sus fuentes fuera del proceso.</a:t>
            </a:r>
          </a:p>
          <a:p xmlns:a="http://schemas.openxmlformats.org/drawingml/2006/main">
            <a:r>
              <a:t>Consecuencia: Usar Qdrant y asumir una dependencia de red.</a:t>
            </a:r>
          </a:p>
          <a:p xmlns:a="http://schemas.openxmlformats.org/drawingml/2006/main">
            <a:r>
              <a:t>Resultado: El argumento incluye la ventaja y el costo de la opción elegida.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requisito cambiaría tu elección de arquitectura?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Una decisión defendible relaciona requisito, alternativa y consecuencia.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Describir una lista de herramientas como si fuera una justificación.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S8–S10: despliegue, trazas y comparación de versiones · Capítulo previo: Cliente web y streaming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Seminario: contraste; Foundry: bonus opcional · Sigue: Guion de diez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9 · CAPÍTULO 3 · EJEMPLO</a:t>
            </a:r>
          </a:p>
          <a:p xmlns:a="http://schemas.openxmlformats.org/drawingml/2006/main">
            <a:r>
              <a:t>Título: Andina Seguros · Argumentar una decisión de arquitectura</a:t>
            </a:r>
          </a:p>
          <a:p xmlns:a="http://schemas.openxmlformats.org/drawingml/2006/main">
            <a:r>
              <a:t>Sesión: Aplicación final y sustentación</a:t>
            </a:r>
          </a:p>
          <a:p xmlns:a="http://schemas.openxmlformats.org/drawingml/2006/main">
            <a:r>
              <a:t>Archivo: 11-sustentacion-final-editable-v2.pptx</a:t>
            </a:r>
          </a:p>
          <a:p xmlns:a="http://schemas.openxmlformats.org/drawingml/2006/main">
            <a:r>
              <a:t>Sección que soporta: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https://github.com/javierrosado/ariwalab-course-langchain/blob/27c24090f1662f9473b673d2020e7bffee04490b/modulo-3-produccion/sesion-11-sustentacion-final/README.md</a:t>
            </a:r>
          </a:p>
          <a:p xmlns:a="http://schemas.openxmlformats.org/drawingml/2006/main">
            <a:r>
              <a:t>Contexto adicional: laboratorios, demos y soluciones de modulo-3-produccion/sesion-11-sustentacion-final;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Pasar de nombrar una tecnología a explicar una elección y sus consecuencias.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Argumentar una decisión de arquitectura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Una decisión defendible relaciona requisito, alternativa y consecuencia.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equipo necesita recuperar cláusulas con procedencia después de reiniciar el servicio.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Alternativa: Guardar el índice solo en memoria del proceso.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Criterio: Conservar el corpus y sus fuentes fuera del proceso.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Consecuencia: Usar Qdrant y asumir una dependencia de 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argumento incluye la ventaja y el costo de la opción elegida.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Alternativa; Criterio; Consecuencia.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equipo necesita recuperar cláusulas con procedencia después de reiniciar el servicio.</a:t>
            </a:r>
          </a:p>
          <a:p xmlns:a="http://schemas.openxmlformats.org/drawingml/2006/main">
            <a:r>
              <a:t>Alternativa: Guardar el índice solo en memoria del proceso.</a:t>
            </a:r>
          </a:p>
          <a:p xmlns:a="http://schemas.openxmlformats.org/drawingml/2006/main">
            <a:r>
              <a:t>Criterio: Conservar el corpus y sus fuentes fuera del proceso.</a:t>
            </a:r>
          </a:p>
          <a:p xmlns:a="http://schemas.openxmlformats.org/drawingml/2006/main">
            <a:r>
              <a:t>Consecuencia: Usar Qdrant y asumir una dependencia de red.</a:t>
            </a:r>
          </a:p>
          <a:p xmlns:a="http://schemas.openxmlformats.org/drawingml/2006/main">
            <a:r>
              <a:t>Resultado: El argumento incluye la ventaja y el costo de la opción elegida.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requisito cambiaría tu elección de arquitectura?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Una decisión defendible relaciona requisito, alternativa y consecuencia.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Describir una lista de herramientas como si fuera una justificación.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S8–S10: despliegue, trazas y comparación de versiones · Capítulo previo: Cliente web y streaming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Seminario: contraste; Foundry: bonus opcional · Sigue: Guion de diez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10 · CAPÍTULO 4 · CONCEPTO</a:t>
            </a:r>
          </a:p>
          <a:p xmlns:a="http://schemas.openxmlformats.org/drawingml/2006/main">
            <a:r>
              <a:t>Título: Guion de diez minutos</a:t>
            </a:r>
          </a:p>
          <a:p xmlns:a="http://schemas.openxmlformats.org/drawingml/2006/main">
            <a:r>
              <a:t>Sesión: Aplicación final y sustentación</a:t>
            </a:r>
          </a:p>
          <a:p xmlns:a="http://schemas.openxmlformats.org/drawingml/2006/main">
            <a:r>
              <a:t>Archivo: 11-sustentacion-final-editable-v2.pptx</a:t>
            </a:r>
          </a:p>
          <a:p xmlns:a="http://schemas.openxmlformats.org/drawingml/2006/main">
            <a:r>
              <a:t>Sección que soporta: §0 · guion de demo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https://github.com/javierrosado/ariwalab-course-langchain/blob/27c24090f1662f9473b673d2020e7bffee04490b/modulo-3-produccion/sesion-11-sustentacion-final/README.md</a:t>
            </a:r>
          </a:p>
          <a:p xmlns:a="http://schemas.openxmlformats.org/drawingml/2006/main">
            <a:r>
              <a:t>Contexto adicional: laboratorios, demos y soluciones de modulo-3-produccion/sesion-11-sustentacion-final;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Organizar la sustentación alrededor de un caso, una decisión y una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Guion de diez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demo comunica una decisión con evidencia, no una visita al repositorio.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recortarías si el ensayo tarda catorce minutos?».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 y demo: 1 minuto de contexto + 3 minutos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Decisión: 3 minutos para explicar alternativa, criterio y consecuencia.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Evidencia y preguntas: 1 minuto de métricas + 2 de Q&amp;A.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demo comunica una decisión con evidencia, no una visita al repositorio.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Caso y demo; Decisión; Evidencia y preguntas.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La demo explica una comisión con una fuente documental.</a:t>
            </a:r>
          </a:p>
          <a:p xmlns:a="http://schemas.openxmlformats.org/drawingml/2006/main">
            <a:r>
              <a:t>Mostrar: Consulta, herramienta o recuperación y respuesta.</a:t>
            </a:r>
          </a:p>
          <a:p xmlns:a="http://schemas.openxmlformats.org/drawingml/2006/main">
            <a:r>
              <a:t>Argumentar: Por qué exige fuente para esa afirmación.</a:t>
            </a:r>
          </a:p>
          <a:p xmlns:a="http://schemas.openxmlformats.org/drawingml/2006/main">
            <a:r>
              <a:t>Medir: Exponer la comparación v1/v2 y su límite.</a:t>
            </a:r>
          </a:p>
          <a:p xmlns:a="http://schemas.openxmlformats.org/drawingml/2006/main">
            <a:r>
              <a:t>Resultado: El panel debe entender qué funciona, por qué se diseñó así y qué se midió.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recortarías si el ensayo tarda catorce minutos?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demo comunica una decisión con evidencia, no una visita al repositorio.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Consumir el tiempo leyendo código y dejar las métricas para el final sin margen.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S8–S10: despliegue, trazas y comparación de versiones · Capítulo previo: Argumentar una decisión de arquitectura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Seminario: contraste; Foundry: bonus opcional · Sigue: Contingencia y evidencia anticipada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11 · CAPÍTULO 4 · DESARROLLO</a:t>
            </a:r>
          </a:p>
          <a:p xmlns:a="http://schemas.openxmlformats.org/drawingml/2006/main">
            <a:r>
              <a:t>Título: Ensayar para que el caso sea claro</a:t>
            </a:r>
          </a:p>
          <a:p xmlns:a="http://schemas.openxmlformats.org/drawingml/2006/main">
            <a:r>
              <a:t>Sesión: Aplicación final y sustentación</a:t>
            </a:r>
          </a:p>
          <a:p xmlns:a="http://schemas.openxmlformats.org/drawingml/2006/main">
            <a:r>
              <a:t>Archivo: 11-sustentacion-final-editable-v2.pptx</a:t>
            </a:r>
          </a:p>
          <a:p xmlns:a="http://schemas.openxmlformats.org/drawingml/2006/main">
            <a:r>
              <a:t>Sección que soporta: §0 · guion de demo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https://github.com/javierrosado/ariwalab-course-langchain/blob/27c24090f1662f9473b673d2020e7bffee04490b/modulo-3-produccion/sesion-11-sustentacion-final/README.md</a:t>
            </a:r>
          </a:p>
          <a:p xmlns:a="http://schemas.openxmlformats.org/drawingml/2006/main">
            <a:r>
              <a:t>Contexto adicional: laboratorios, demos y soluciones de modulo-3-produccion/sesion-11-sustentacion-final;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Organizar la sustentación alrededor de un caso, una decisión y una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Guion de diez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demo comunica una decisión con evidencia, no una visita al repositorio.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Elegir: Una consulta que recorra las capacidades relevantes.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Preparar: Datos sintéticos y configuración verificados.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Cronometrar: Cerrar cada bloque sin narrar archivos uno a uno.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Consumir el tiempo leyendo código y dejar las métricas para el final sin margen.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Elegir; Preparar; Cronometrar.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La demo explica una comisión con una fuente documental.</a:t>
            </a:r>
          </a:p>
          <a:p xmlns:a="http://schemas.openxmlformats.org/drawingml/2006/main">
            <a:r>
              <a:t>Mostrar: Consulta, herramienta o recuperación y respuesta.</a:t>
            </a:r>
          </a:p>
          <a:p xmlns:a="http://schemas.openxmlformats.org/drawingml/2006/main">
            <a:r>
              <a:t>Argumentar: Por qué exige fuente para esa afirmación.</a:t>
            </a:r>
          </a:p>
          <a:p xmlns:a="http://schemas.openxmlformats.org/drawingml/2006/main">
            <a:r>
              <a:t>Medir: Exponer la comparación v1/v2 y su límite.</a:t>
            </a:r>
          </a:p>
          <a:p xmlns:a="http://schemas.openxmlformats.org/drawingml/2006/main">
            <a:r>
              <a:t>Resultado: El panel debe entender qué funciona, por qué se diseñó así y qué se midió.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recortarías si el ensayo tarda catorce minutos?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demo comunica una decisión con evidencia, no una visita al repositorio.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Consumir el tiempo leyendo código y dejar las métricas para el final sin margen.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S8–S10: despliegue, trazas y comparación de versiones · Capítulo previo: Argumentar una decisión de arquitectura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Seminario: contraste; Foundry: bonus opcional · Sigue: Contingencia y evidencia anticipada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12 · CAPÍTULO 4 · EJEMPLO</a:t>
            </a:r>
          </a:p>
          <a:p xmlns:a="http://schemas.openxmlformats.org/drawingml/2006/main">
            <a:r>
              <a:t>Título: Banco Inti · Guion de diez minutos</a:t>
            </a:r>
          </a:p>
          <a:p xmlns:a="http://schemas.openxmlformats.org/drawingml/2006/main">
            <a:r>
              <a:t>Sesión: Aplicación final y sustentación</a:t>
            </a:r>
          </a:p>
          <a:p xmlns:a="http://schemas.openxmlformats.org/drawingml/2006/main">
            <a:r>
              <a:t>Archivo: 11-sustentacion-final-editable-v2.pptx</a:t>
            </a:r>
          </a:p>
          <a:p xmlns:a="http://schemas.openxmlformats.org/drawingml/2006/main">
            <a:r>
              <a:t>Sección que soporta: §0 · guion de demo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https://github.com/javierrosado/ariwalab-course-langchain/blob/27c24090f1662f9473b673d2020e7bffee04490b/modulo-3-produccion/sesion-11-sustentacion-final/README.md</a:t>
            </a:r>
          </a:p>
          <a:p xmlns:a="http://schemas.openxmlformats.org/drawingml/2006/main">
            <a:r>
              <a:t>Contexto adicional: laboratorios, demos y soluciones de modulo-3-produccion/sesion-11-sustentacion-final;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Organizar la sustentación alrededor de un caso, una decisión y una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Guion de diez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demo comunica una decisión con evidencia, no una visita al repositorio.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La demo explica una comisión con una fuente documental.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Mostrar: Consulta, herramienta o recuperación y respuesta.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Argumentar: Por qué exige fuente para esa afirmación.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Medir: Exponer la comparación v1/v2 y su límite.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panel debe entender qué funciona, por qué se diseñó así y qué se midió.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Mostrar; Argumentar; Medir.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La demo explica una comisión con una fuente documental.</a:t>
            </a:r>
          </a:p>
          <a:p xmlns:a="http://schemas.openxmlformats.org/drawingml/2006/main">
            <a:r>
              <a:t>Mostrar: Consulta, herramienta o recuperación y respuesta.</a:t>
            </a:r>
          </a:p>
          <a:p xmlns:a="http://schemas.openxmlformats.org/drawingml/2006/main">
            <a:r>
              <a:t>Argumentar: Por qué exige fuente para esa afirmación.</a:t>
            </a:r>
          </a:p>
          <a:p xmlns:a="http://schemas.openxmlformats.org/drawingml/2006/main">
            <a:r>
              <a:t>Medir: Exponer la comparación v1/v2 y su límite.</a:t>
            </a:r>
          </a:p>
          <a:p xmlns:a="http://schemas.openxmlformats.org/drawingml/2006/main">
            <a:r>
              <a:t>Resultado: El panel debe entender qué funciona, por qué se diseñó así y qué se midió.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recortarías si el ensayo tarda catorce minutos?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demo comunica una decisión con evidencia, no una visita al repositorio.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Consumir el tiempo leyendo código y dejar las métricas para el final sin margen.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S8–S10: despliegue, trazas y comparación de versiones · Capítulo previo: Argumentar una decisión de arquitectura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Seminario: contraste; Foundry: bonus opcional · Sigue: Contingencia y evidencia anticipada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13 · CAPÍTULO 5 · CONCEPTO</a:t>
            </a:r>
          </a:p>
          <a:p xmlns:a="http://schemas.openxmlformats.org/drawingml/2006/main">
            <a:r>
              <a:t>Título: Contingencia y evidencia anticipada</a:t>
            </a:r>
          </a:p>
          <a:p xmlns:a="http://schemas.openxmlformats.org/drawingml/2006/main">
            <a:r>
              <a:t>Sesión: Aplicación final y sustentación</a:t>
            </a:r>
          </a:p>
          <a:p xmlns:a="http://schemas.openxmlformats.org/drawingml/2006/main">
            <a:r>
              <a:t>Archivo: 11-sustentacion-final-editable-v2.pptx</a:t>
            </a:r>
          </a:p>
          <a:p xmlns:a="http://schemas.openxmlformats.org/drawingml/2006/main">
            <a:r>
              <a:t>Sección que soporta: §6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https://github.com/javierrosado/ariwalab-course-langchain/blob/27c24090f1662f9473b673d2020e7bffee04490b/modulo-3-produccion/sesion-11-sustentacion-final/README.md</a:t>
            </a:r>
          </a:p>
          <a:p xmlns:a="http://schemas.openxmlformats.org/drawingml/2006/main">
            <a:r>
              <a:t>Contexto adicional: laboratorios, demos y soluciones de modulo-3-produccion/sesion-11-sustentacion-final;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Preparar una alternativa de demo respaldada por la entrega de las 24 horas previas.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Contingencia y evidencia anticipada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contingencia se prepara antes del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evidencia no podrías recuperar a tiempo si esperas al día de la demo?».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Antes: Entregar URL, key al panel, traza y verificación del despliegue.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 responde: Sustentar contra la URL pública.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 falla: Usar la demo local bajo la regla de contingencia del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contingencia se prepara antes del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Antes; Si responde; Si falla.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Space no responde el día de la sustentación.</a:t>
            </a:r>
          </a:p>
          <a:p xmlns:a="http://schemas.openxmlformats.org/drawingml/2006/main">
            <a:r>
              <a:t>Comprobar: El equipo entregó toda la evidencia 24 horas antes.</a:t>
            </a:r>
          </a:p>
          <a:p xmlns:a="http://schemas.openxmlformats.org/drawingml/2006/main">
            <a:r>
              <a:t>Activar: Mostrar el mismo caso en local.</a:t>
            </a:r>
          </a:p>
          <a:p xmlns:a="http://schemas.openxmlformats.org/drawingml/2006/main">
            <a:r>
              <a:t>Defender: Usar trazas y verificación previas para sostener el despliegue.</a:t>
            </a:r>
          </a:p>
          <a:p xmlns:a="http://schemas.openxmlformats.org/drawingml/2006/main">
            <a:r>
              <a:t>Resultado: Sin la evidencia anticipada, la regla de no penalización no se aplica del mismo modo.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evidencia no podrías recuperar a tiempo si esperas al día de la demo?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contingencia se prepara antes del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Interpretar la contingencia como permiso para omitir el despliegue.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S8–S10: despliegue, trazas y comparación de versiones · Capítulo previo: Guion de diez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Seminario: contraste; Foundry: bonus opcional · Sigue: Documento de diseño de cuatro páginas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14 · CAPÍTULO 5 · DESARROLLO</a:t>
            </a:r>
          </a:p>
          <a:p xmlns:a="http://schemas.openxmlformats.org/drawingml/2006/main">
            <a:r>
              <a:t>Título: Qué hace válida la contingencia</a:t>
            </a:r>
          </a:p>
          <a:p xmlns:a="http://schemas.openxmlformats.org/drawingml/2006/main">
            <a:r>
              <a:t>Sesión: Aplicación final y sustentación</a:t>
            </a:r>
          </a:p>
          <a:p xmlns:a="http://schemas.openxmlformats.org/drawingml/2006/main">
            <a:r>
              <a:t>Archivo: 11-sustentacion-final-editable-v2.pptx</a:t>
            </a:r>
          </a:p>
          <a:p xmlns:a="http://schemas.openxmlformats.org/drawingml/2006/main">
            <a:r>
              <a:t>Sección que soporta: §6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https://github.com/javierrosado/ariwalab-course-langchain/blob/27c24090f1662f9473b673d2020e7bffee04490b/modulo-3-produccion/sesion-11-sustentacion-final/README.md</a:t>
            </a:r>
          </a:p>
          <a:p xmlns:a="http://schemas.openxmlformats.org/drawingml/2006/main">
            <a:r>
              <a:t>Contexto adicional: laboratorios, demos y soluciones de modulo-3-produccion/sesion-11-sustentacion-final;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Preparar una alternativa de demo respaldada por la entrega de las 24 horas previas.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Contingencia y evidencia anticipada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contingencia se prepara antes del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Evidencia previa: La entrega anticipada demuestra el despliegue.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Mismo sistema: El respaldo local conserva el caso y la arquitectura.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Explicación: Distinguir fallo del servicio y capacidad demostrada previamente.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Interpretar la contingencia como permiso para omitir el despliegue.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Evidencia previa; Mismo sistema; Explicación.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Space no responde el día de la sustentación.</a:t>
            </a:r>
          </a:p>
          <a:p xmlns:a="http://schemas.openxmlformats.org/drawingml/2006/main">
            <a:r>
              <a:t>Comprobar: El equipo entregó toda la evidencia 24 horas antes.</a:t>
            </a:r>
          </a:p>
          <a:p xmlns:a="http://schemas.openxmlformats.org/drawingml/2006/main">
            <a:r>
              <a:t>Activar: Mostrar el mismo caso en local.</a:t>
            </a:r>
          </a:p>
          <a:p xmlns:a="http://schemas.openxmlformats.org/drawingml/2006/main">
            <a:r>
              <a:t>Defender: Usar trazas y verificación previas para sostener el despliegue.</a:t>
            </a:r>
          </a:p>
          <a:p xmlns:a="http://schemas.openxmlformats.org/drawingml/2006/main">
            <a:r>
              <a:t>Resultado: Sin la evidencia anticipada, la regla de no penalización no se aplica del mismo modo.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evidencia no podrías recuperar a tiempo si esperas al día de la demo?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contingencia se prepara antes del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Interpretar la contingencia como permiso para omitir el despliegue.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S8–S10: despliegue, trazas y comparación de versiones · Capítulo previo: Guion de diez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Seminario: contraste; Foundry: bonus opcional · Sigue: Documento de diseño de cuatro páginas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15 · CAPÍTULO 5 · EJEMPLO</a:t>
            </a:r>
          </a:p>
          <a:p xmlns:a="http://schemas.openxmlformats.org/drawingml/2006/main">
            <a:r>
              <a:t>Título: MercaSur · Contingencia y evidencia anticipada</a:t>
            </a:r>
          </a:p>
          <a:p xmlns:a="http://schemas.openxmlformats.org/drawingml/2006/main">
            <a:r>
              <a:t>Sesión: Aplicación final y sustentación</a:t>
            </a:r>
          </a:p>
          <a:p xmlns:a="http://schemas.openxmlformats.org/drawingml/2006/main">
            <a:r>
              <a:t>Archivo: 11-sustentacion-final-editable-v2.pptx</a:t>
            </a:r>
          </a:p>
          <a:p xmlns:a="http://schemas.openxmlformats.org/drawingml/2006/main">
            <a:r>
              <a:t>Sección que soporta: §6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https://github.com/javierrosado/ariwalab-course-langchain/blob/27c24090f1662f9473b673d2020e7bffee04490b/modulo-3-produccion/sesion-11-sustentacion-final/README.md</a:t>
            </a:r>
          </a:p>
          <a:p xmlns:a="http://schemas.openxmlformats.org/drawingml/2006/main">
            <a:r>
              <a:t>Contexto adicional: laboratorios, demos y soluciones de modulo-3-produccion/sesion-11-sustentacion-final;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Preparar una alternativa de demo respaldada por la entrega de las 24 horas previas.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Contingencia y evidencia anticipada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contingencia se prepara antes del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Space no responde el día de la sustentación.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Comprobar: El equipo entregó toda la evidencia 24 horas 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Activar: Mostrar el mismo caso en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Defender: Usar trazas y verificación previas para sostener el despliegue.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Sin la evidencia anticipada, la regla de no penalización no se aplica del mismo modo.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Comprobar; Activar; Defender.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Space no responde el día de la sustentación.</a:t>
            </a:r>
          </a:p>
          <a:p xmlns:a="http://schemas.openxmlformats.org/drawingml/2006/main">
            <a:r>
              <a:t>Comprobar: El equipo entregó toda la evidencia 24 horas antes.</a:t>
            </a:r>
          </a:p>
          <a:p xmlns:a="http://schemas.openxmlformats.org/drawingml/2006/main">
            <a:r>
              <a:t>Activar: Mostrar el mismo caso en local.</a:t>
            </a:r>
          </a:p>
          <a:p xmlns:a="http://schemas.openxmlformats.org/drawingml/2006/main">
            <a:r>
              <a:t>Defender: Usar trazas y verificación previas para sostener el despliegue.</a:t>
            </a:r>
          </a:p>
          <a:p xmlns:a="http://schemas.openxmlformats.org/drawingml/2006/main">
            <a:r>
              <a:t>Resultado: Sin la evidencia anticipada, la regla de no penalización no se aplica del mismo modo.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evidencia no podrías recuperar a tiempo si esperas al día de la demo?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contingencia se prepara antes del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Interpretar la contingencia como permiso para omitir el despliegue.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S8–S10: despliegue, trazas y comparación de versiones · Capítulo previo: Guion de diez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Seminario: contraste; Foundry: bonus opcional · Sigue: Documento de diseño de cuatro páginas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16 · CAPÍTULO 6 · CONCEPTO</a:t>
            </a:r>
          </a:p>
          <a:p xmlns:a="http://schemas.openxmlformats.org/drawingml/2006/main">
            <a:r>
              <a:t>Título: Documento de diseño de cuatro páginas</a:t>
            </a:r>
          </a:p>
          <a:p xmlns:a="http://schemas.openxmlformats.org/drawingml/2006/main">
            <a:r>
              <a:t>Sesión: Aplicación final y sustentación</a:t>
            </a:r>
          </a:p>
          <a:p xmlns:a="http://schemas.openxmlformats.org/drawingml/2006/main">
            <a:r>
              <a:t>Archivo: 11-sustentacion-final-editable-v2.pptx</a:t>
            </a:r>
          </a:p>
          <a:p xmlns:a="http://schemas.openxmlformats.org/drawingml/2006/main">
            <a:r>
              <a:t>Sección que soporta: §7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https://github.com/javierrosado/ariwalab-course-langchain/blob/27c24090f1662f9473b673d2020e7bffee04490b/modulo-3-produccion/sesion-11-sustentacion-final/README.md</a:t>
            </a:r>
          </a:p>
          <a:p xmlns:a="http://schemas.openxmlformats.org/drawingml/2006/main">
            <a:r>
              <a:t>Contexto adicional: laboratorios, demos y soluciones de modulo-3-produccion/sesion-11-sustentacion-final;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Explicar alcance, arquitectura, cinco decisiones y evidencia en un documento compacto.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Documento de diseño de cuatro páginas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arquitectura debe mostrar responsabilidades y límites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flecha del diagrama explica de dónde sale una tarifa?».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 y arquitectura: Para quién sirve y cómo interactúan sus componentes.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Decisiones: Cinco elecciones con alternativa y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Evidencia: Métricas, cuellos de botella y siguiente mejora razonable.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arquitectura debe mostrar responsabilidades y límites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Caso y arquitectura; Decisiones; Evidencia.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Un nuevo integrante debe entender por qué el agente no autoriza compensaciones.</a:t>
            </a:r>
          </a:p>
          <a:p xmlns:a="http://schemas.openxmlformats.org/drawingml/2006/main">
            <a:r>
              <a:t>Alcance: La asistencia informa y registra lo permitido.</a:t>
            </a:r>
          </a:p>
          <a:p xmlns:a="http://schemas.openxmlformats.org/drawingml/2006/main">
            <a:r>
              <a:t>Arquitectura: El control de acción precede a la tool.</a:t>
            </a:r>
          </a:p>
          <a:p xmlns:a="http://schemas.openxmlformats.org/drawingml/2006/main">
            <a:r>
              <a:t>Decisión: La compensación exige un proceso humano fuera del agente.</a:t>
            </a:r>
          </a:p>
          <a:p xmlns:a="http://schemas.openxmlformats.org/drawingml/2006/main">
            <a:r>
              <a:t>Resultado: El documento permite operar y discutir el diseño sin conocer todos sus archivos.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flecha del diagrama explica de dónde sale una tarifa?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arquitectura debe mostrar responsabilidades y límites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Dibujar componentes futuros como si estuvieran implementados.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S8–S10: despliegue, trazas y comparación de versiones · Capítulo previo: Contingencia y evidencia anticipada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Seminario: contraste; Foundry: bonus opcional · Sigue: Rúbrica, laboratorio y cierre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17 · CAPÍTULO 6 · DESARROLLO</a:t>
            </a:r>
          </a:p>
          <a:p xmlns:a="http://schemas.openxmlformats.org/drawingml/2006/main">
            <a:r>
              <a:t>Título: Hacer el diagrama operable</a:t>
            </a:r>
          </a:p>
          <a:p xmlns:a="http://schemas.openxmlformats.org/drawingml/2006/main">
            <a:r>
              <a:t>Sesión: Aplicación final y sustentación</a:t>
            </a:r>
          </a:p>
          <a:p xmlns:a="http://schemas.openxmlformats.org/drawingml/2006/main">
            <a:r>
              <a:t>Archivo: 11-sustentacion-final-editable-v2.pptx</a:t>
            </a:r>
          </a:p>
          <a:p xmlns:a="http://schemas.openxmlformats.org/drawingml/2006/main">
            <a:r>
              <a:t>Sección que soporta: §7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https://github.com/javierrosado/ariwalab-course-langchain/blob/27c24090f1662f9473b673d2020e7bffee04490b/modulo-3-produccion/sesion-11-sustentacion-final/README.md</a:t>
            </a:r>
          </a:p>
          <a:p xmlns:a="http://schemas.openxmlformats.org/drawingml/2006/main">
            <a:r>
              <a:t>Contexto adicional: laboratorios, demos y soluciones de modulo-3-produccion/sesion-11-sustentacion-final;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Explicar alcance, arquitectura, cinco decisiones y evidencia en un documento compacto.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Documento de diseño de cuatro páginas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arquitectura debe mostrar responsabilidades y límites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Fronteras: Cliente, API, agente y sistemas externos diferenciados.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Relaciones: Tools, retriever y controles unidos a los efectos que producen.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Límites: Memoria de proceso, dependencias y derivaciones expresadas con precisión.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Dibujar componentes futuros como si estuvieran implementados.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Fronteras; Relaciones; Límites.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Un nuevo integrante debe entender por qué el agente no autoriza compensaciones.</a:t>
            </a:r>
          </a:p>
          <a:p xmlns:a="http://schemas.openxmlformats.org/drawingml/2006/main">
            <a:r>
              <a:t>Alcance: La asistencia informa y registra lo permitido.</a:t>
            </a:r>
          </a:p>
          <a:p xmlns:a="http://schemas.openxmlformats.org/drawingml/2006/main">
            <a:r>
              <a:t>Arquitectura: El control de acción precede a la tool.</a:t>
            </a:r>
          </a:p>
          <a:p xmlns:a="http://schemas.openxmlformats.org/drawingml/2006/main">
            <a:r>
              <a:t>Decisión: La compensación exige un proceso humano fuera del agente.</a:t>
            </a:r>
          </a:p>
          <a:p xmlns:a="http://schemas.openxmlformats.org/drawingml/2006/main">
            <a:r>
              <a:t>Resultado: El documento permite operar y discutir el diseño sin conocer todos sus archivos.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flecha del diagrama explica de dónde sale una tarifa?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arquitectura debe mostrar responsabilidades y límites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Dibujar componentes futuros como si estuvieran implementados.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S8–S10: despliegue, trazas y comparación de versiones · Capítulo previo: Contingencia y evidencia anticipada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Seminario: contraste; Foundry: bonus opcional · Sigue: Rúbrica, laboratorio y cierre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18 · CAPÍTULO 6 · EJEMPLO</a:t>
            </a:r>
          </a:p>
          <a:p xmlns:a="http://schemas.openxmlformats.org/drawingml/2006/main">
            <a:r>
              <a:t>Título: AndesMóvil · Documento de diseño de cuatro páginas</a:t>
            </a:r>
          </a:p>
          <a:p xmlns:a="http://schemas.openxmlformats.org/drawingml/2006/main">
            <a:r>
              <a:t>Sesión: Aplicación final y sustentación</a:t>
            </a:r>
          </a:p>
          <a:p xmlns:a="http://schemas.openxmlformats.org/drawingml/2006/main">
            <a:r>
              <a:t>Archivo: 11-sustentacion-final-editable-v2.pptx</a:t>
            </a:r>
          </a:p>
          <a:p xmlns:a="http://schemas.openxmlformats.org/drawingml/2006/main">
            <a:r>
              <a:t>Sección que soporta: §7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https://github.com/javierrosado/ariwalab-course-langchain/blob/27c24090f1662f9473b673d2020e7bffee04490b/modulo-3-produccion/sesion-11-sustentacion-final/README.md</a:t>
            </a:r>
          </a:p>
          <a:p xmlns:a="http://schemas.openxmlformats.org/drawingml/2006/main">
            <a:r>
              <a:t>Contexto adicional: laboratorios, demos y soluciones de modulo-3-produccion/sesion-11-sustentacion-final;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Explicar alcance, arquitectura, cinco decisiones y evidencia en un documento compacto.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Documento de diseño de cuatro páginas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arquitectura debe mostrar responsabilidades y límites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 nuevo integrante debe entender por qué el agente no autoriza compensaciones.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Alcance: La asistencia informa y registra lo permitido.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Arquitectura: El control de acción precede a la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Decisión: La compensación exige un proceso humano fuera del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documento permite operar y discutir el diseño sin conocer todos sus archivos.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Alcance; Arquitectura; Decisión.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Un nuevo integrante debe entender por qué el agente no autoriza compensaciones.</a:t>
            </a:r>
          </a:p>
          <a:p xmlns:a="http://schemas.openxmlformats.org/drawingml/2006/main">
            <a:r>
              <a:t>Alcance: La asistencia informa y registra lo permitido.</a:t>
            </a:r>
          </a:p>
          <a:p xmlns:a="http://schemas.openxmlformats.org/drawingml/2006/main">
            <a:r>
              <a:t>Arquitectura: El control de acción precede a la tool.</a:t>
            </a:r>
          </a:p>
          <a:p xmlns:a="http://schemas.openxmlformats.org/drawingml/2006/main">
            <a:r>
              <a:t>Decisión: La compensación exige un proceso humano fuera del agente.</a:t>
            </a:r>
          </a:p>
          <a:p xmlns:a="http://schemas.openxmlformats.org/drawingml/2006/main">
            <a:r>
              <a:t>Resultado: El documento permite operar y discutir el diseño sin conocer todos sus archivos.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flecha del diagrama explica de dónde sale una tarifa?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arquitectura debe mostrar responsabilidades y límites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Dibujar componentes futuros como si estuvieran implementados.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S8–S10: despliegue, trazas y comparación de versiones · Capítulo previo: Contingencia y evidencia anticipada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Seminario: contraste; Foundry: bonus opcional · Sigue: Rúbrica, laboratorio y cierre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19 · CAPÍTULO 7 · CONCEPTO</a:t>
            </a:r>
          </a:p>
          <a:p xmlns:a="http://schemas.openxmlformats.org/drawingml/2006/main">
            <a:r>
              <a:t>Título: Rúbrica, laboratorio y cierre</a:t>
            </a:r>
          </a:p>
          <a:p xmlns:a="http://schemas.openxmlformats.org/drawingml/2006/main">
            <a:r>
              <a:t>Sesión: Aplicación final y sustentación</a:t>
            </a:r>
          </a:p>
          <a:p xmlns:a="http://schemas.openxmlformats.org/drawingml/2006/main">
            <a:r>
              <a:t>Archivo: 11-sustentacion-final-editable-v2.pptx</a:t>
            </a:r>
          </a:p>
          <a:p xmlns:a="http://schemas.openxmlformats.org/drawingml/2006/main">
            <a:r>
              <a:t>Sección que soporta: §§8–10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https://github.com/javierrosado/ariwalab-course-langchain/blob/27c24090f1662f9473b673d2020e7bffee04490b/modulo-3-produccion/sesion-11-sustentacion-final/README.md</a:t>
            </a:r>
          </a:p>
          <a:p xmlns:a="http://schemas.openxmlformats.org/drawingml/2006/main">
            <a:r>
              <a:t>Contexto adicional: laboratorios, demos y soluciones de modulo-3-produccion/sesion-11-sustentacion-final;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Comprobar que cada afirmación de la sustentación tiene una evidencia disponible.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Rúbrica, laboratorio y cierre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entrega debe ser coherente entre sistema, documento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inconsistencia buscarías al revisar la entrega de otro equipo?».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Producto: Cliente funcional y recorrido completo de una consulta.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Diseño: Decisiones y límites documentados.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Evaluación: Resultados trazables y respuestas a preguntas técnicas.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entrega debe ser coherente entre sistema, documento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Producto; Diseño; Evaluación.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documento describe una versión distinta a la que está desplegada.</a:t>
            </a:r>
          </a:p>
          <a:p xmlns:a="http://schemas.openxmlformats.org/drawingml/2006/main">
            <a:r>
              <a:t>Detectar: Las tools de la demo no coinciden con el diagrama.</a:t>
            </a:r>
          </a:p>
          <a:p xmlns:a="http://schemas.openxmlformats.org/drawingml/2006/main">
            <a:r>
              <a:t>Alinear: Actualizar la evidencia de la versión realmente entregada.</a:t>
            </a:r>
          </a:p>
          <a:p xmlns:a="http://schemas.openxmlformats.org/drawingml/2006/main">
            <a:r>
              <a:t>Verificar: Otro integrante recorre el caso con documento y cliente.</a:t>
            </a:r>
          </a:p>
          <a:p xmlns:a="http://schemas.openxmlformats.org/drawingml/2006/main">
            <a:r>
              <a:t>Resultado: El seminario integra aprendizajes; Foundry se libera aparte como bonus no ponderado.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inconsistencia buscarías al revisar la entrega de otro equipo?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entrega debe ser coherente entre sistema, documento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Cerrar con capturas de distintas versiones sin identificarlo.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S8–S10: despliegue, trazas y comparación de versiones · Capítulo previo: Documento de diseño de cuatro páginas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Seminario: contraste; Foundry: bonus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20 · CAPÍTULO 7 · DESARROLLO</a:t>
            </a:r>
          </a:p>
          <a:p xmlns:a="http://schemas.openxmlformats.org/drawingml/2006/main">
            <a:r>
              <a:t>Título: Lista final de revisión</a:t>
            </a:r>
          </a:p>
          <a:p xmlns:a="http://schemas.openxmlformats.org/drawingml/2006/main">
            <a:r>
              <a:t>Sesión: Aplicación final y sustentación</a:t>
            </a:r>
          </a:p>
          <a:p xmlns:a="http://schemas.openxmlformats.org/drawingml/2006/main">
            <a:r>
              <a:t>Archivo: 11-sustentacion-final-editable-v2.pptx</a:t>
            </a:r>
          </a:p>
          <a:p xmlns:a="http://schemas.openxmlformats.org/drawingml/2006/main">
            <a:r>
              <a:t>Sección que soporta: §§8–10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https://github.com/javierrosado/ariwalab-course-langchain/blob/27c24090f1662f9473b673d2020e7bffee04490b/modulo-3-produccion/sesion-11-sustentacion-final/README.md</a:t>
            </a:r>
          </a:p>
          <a:p xmlns:a="http://schemas.openxmlformats.org/drawingml/2006/main">
            <a:r>
              <a:t>Contexto adicional: laboratorios, demos y soluciones de modulo-3-produccion/sesion-11-sustentacion-final;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Comprobar que cada afirmación de la sustentación tiene una evidencia disponible.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Rúbrica, laboratorio y cierre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entrega debe ser coherente entre sistema, documento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Acceso: URL y credencial del panel verificadas.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Evidencia: Trazas, evaluación y documento corresponden a la versión entregada.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Ensayo: Demo cronometrada con contingencia preparada.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Cerrar con capturas de distintas versiones sin identificarlo.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Acceso; Evidencia; Ensayo.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documento describe una versión distinta a la que está desplegada.</a:t>
            </a:r>
          </a:p>
          <a:p xmlns:a="http://schemas.openxmlformats.org/drawingml/2006/main">
            <a:r>
              <a:t>Detectar: Las tools de la demo no coinciden con el diagrama.</a:t>
            </a:r>
          </a:p>
          <a:p xmlns:a="http://schemas.openxmlformats.org/drawingml/2006/main">
            <a:r>
              <a:t>Alinear: Actualizar la evidencia de la versión realmente entregada.</a:t>
            </a:r>
          </a:p>
          <a:p xmlns:a="http://schemas.openxmlformats.org/drawingml/2006/main">
            <a:r>
              <a:t>Verificar: Otro integrante recorre el caso con documento y cliente.</a:t>
            </a:r>
          </a:p>
          <a:p xmlns:a="http://schemas.openxmlformats.org/drawingml/2006/main">
            <a:r>
              <a:t>Resultado: El seminario integra aprendizajes; Foundry se libera aparte como bonus no ponderado.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inconsistencia buscarías al revisar la entrega de otro equipo?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entrega debe ser coherente entre sistema, documento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Cerrar con capturas de distintas versiones sin identificarlo.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S8–S10: despliegue, trazas y comparación de versiones · Capítulo previo: Documento de diseño de cuatro páginas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Seminario: contraste; Foundry: bonus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21 · CAPÍTULO 7 · EJEMPLO</a:t>
            </a:r>
          </a:p>
          <a:p xmlns:a="http://schemas.openxmlformats.org/drawingml/2006/main">
            <a:r>
              <a:t>Título: Andina Seguros · Rúbrica, laboratorio y cierre</a:t>
            </a:r>
          </a:p>
          <a:p xmlns:a="http://schemas.openxmlformats.org/drawingml/2006/main">
            <a:r>
              <a:t>Sesión: Aplicación final y sustentación</a:t>
            </a:r>
          </a:p>
          <a:p xmlns:a="http://schemas.openxmlformats.org/drawingml/2006/main">
            <a:r>
              <a:t>Archivo: 11-sustentacion-final-editable-v2.pptx</a:t>
            </a:r>
          </a:p>
          <a:p xmlns:a="http://schemas.openxmlformats.org/drawingml/2006/main">
            <a:r>
              <a:t>Sección que soporta: §§8–10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https://github.com/javierrosado/ariwalab-course-langchain/blob/27c24090f1662f9473b673d2020e7bffee04490b/modulo-3-produccion/sesion-11-sustentacion-final/README.md</a:t>
            </a:r>
          </a:p>
          <a:p xmlns:a="http://schemas.openxmlformats.org/drawingml/2006/main">
            <a:r>
              <a:t>Contexto adicional: laboratorios, demos y soluciones de modulo-3-produccion/sesion-11-sustentacion-final;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Comprobar que cada afirmación de la sustentación tiene una evidencia disponible.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Rúbrica, laboratorio y cierre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entrega debe ser coherente entre sistema, documento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documento describe una versión distinta a la que está desplegada.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Detectar: Las tools de la demo no coinciden con el diagrama.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Alinear: Actualizar la evidencia de la versión realmente entregada.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Verificar: Otro integrante recorre el caso con documento y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seminario integra aprendizajes; Foundry se libera aparte como bonus no ponderado.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Detectar; Alinear; Verificar.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documento describe una versión distinta a la que está desplegada.</a:t>
            </a:r>
          </a:p>
          <a:p xmlns:a="http://schemas.openxmlformats.org/drawingml/2006/main">
            <a:r>
              <a:t>Detectar: Las tools de la demo no coinciden con el diagrama.</a:t>
            </a:r>
          </a:p>
          <a:p xmlns:a="http://schemas.openxmlformats.org/drawingml/2006/main">
            <a:r>
              <a:t>Alinear: Actualizar la evidencia de la versión realmente entregada.</a:t>
            </a:r>
          </a:p>
          <a:p xmlns:a="http://schemas.openxmlformats.org/drawingml/2006/main">
            <a:r>
              <a:t>Verificar: Otro integrante recorre el caso con documento y cliente.</a:t>
            </a:r>
          </a:p>
          <a:p xmlns:a="http://schemas.openxmlformats.org/drawingml/2006/main">
            <a:r>
              <a:t>Resultado: El seminario integra aprendizajes; Foundry se libera aparte como bonus no ponderado.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inconsistencia buscarías al revisar la entrega de otro equipo?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entrega debe ser coherente entre sistema, documento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Cerrar con capturas de distintas versiones sin identificarlo.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S8–S10: despliegue, trazas y comparación de versiones · Capítulo previo: Documento de diseño de cuatro páginas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Seminario: contraste; Foundry: bonus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84d7fa128947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8bd89402f8419d" /><Relationship Type="http://schemas.openxmlformats.org/officeDocument/2006/relationships/slideLayout" Target="/ppt/slideLayouts/slideLayout1.xml" Id="R0c1c184eacd949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1c184eacd949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ec37844b04536" /><Relationship Type="http://schemas.openxmlformats.org/officeDocument/2006/relationships/notesSlide" Target="/ppt/notesSlides/notesSlide1.xml" Id="Rc575a4ffccb547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8b16061694c99" /><Relationship Type="http://schemas.openxmlformats.org/officeDocument/2006/relationships/notesSlide" Target="/ppt/notesSlides/notesSlide2.xml" Id="R59a0982e59bc48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451fd4d974a77" /><Relationship Type="http://schemas.openxmlformats.org/officeDocument/2006/relationships/notesSlide" Target="/ppt/notesSlides/notesSlide3.xml" Id="R8f25d46919be48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91caee7d7439f" /><Relationship Type="http://schemas.openxmlformats.org/officeDocument/2006/relationships/notesSlide" Target="/ppt/notesSlides/notesSlide4.xml" Id="Rf61646839e004e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f8258fe5c4ec8" /><Relationship Type="http://schemas.openxmlformats.org/officeDocument/2006/relationships/notesSlide" Target="/ppt/notesSlides/notesSlide5.xml" Id="Rc4c56d61cb7748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678596c8e4d9d" /><Relationship Type="http://schemas.openxmlformats.org/officeDocument/2006/relationships/notesSlide" Target="/ppt/notesSlides/notesSlide6.xml" Id="R03ca67836a2e45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05073127f4046" /><Relationship Type="http://schemas.openxmlformats.org/officeDocument/2006/relationships/notesSlide" Target="/ppt/notesSlides/notesSlide7.xml" Id="R4d3d49737c3847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fd66acdbc4eda" /><Relationship Type="http://schemas.openxmlformats.org/officeDocument/2006/relationships/notesSlide" Target="/ppt/notesSlides/notesSlide8.xml" Id="Red2a5bd76a3146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c9b9637034021" /><Relationship Type="http://schemas.openxmlformats.org/officeDocument/2006/relationships/notesSlide" Target="/ppt/notesSlides/notesSlide9.xml" Id="R86513106354143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737af18fb45dd" /><Relationship Type="http://schemas.openxmlformats.org/officeDocument/2006/relationships/notesSlide" Target="/ppt/notesSlides/notesSlide10.xml" Id="R5f420f601de24e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1e63ebb084067" /><Relationship Type="http://schemas.openxmlformats.org/officeDocument/2006/relationships/notesSlide" Target="/ppt/notesSlides/notesSlide11.xml" Id="Rec266a303af747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3bd8769884faa" /><Relationship Type="http://schemas.openxmlformats.org/officeDocument/2006/relationships/notesSlide" Target="/ppt/notesSlides/notesSlide12.xml" Id="R5fc1b210cef54d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74a7d261a4e96" /><Relationship Type="http://schemas.openxmlformats.org/officeDocument/2006/relationships/notesSlide" Target="/ppt/notesSlides/notesSlide13.xml" Id="R6ff3f31e46d440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7853419d4441f" /><Relationship Type="http://schemas.openxmlformats.org/officeDocument/2006/relationships/notesSlide" Target="/ppt/notesSlides/notesSlide14.xml" Id="Rd2c7f2b23e544c2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3204e2e034ccd" /><Relationship Type="http://schemas.openxmlformats.org/officeDocument/2006/relationships/notesSlide" Target="/ppt/notesSlides/notesSlide15.xml" Id="R7c625fd896f543d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3396f28844744" /><Relationship Type="http://schemas.openxmlformats.org/officeDocument/2006/relationships/notesSlide" Target="/ppt/notesSlides/notesSlide16.xml" Id="R5ec04cca241442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bbaf4cdcc4d0b" /><Relationship Type="http://schemas.openxmlformats.org/officeDocument/2006/relationships/notesSlide" Target="/ppt/notesSlides/notesSlide17.xml" Id="Rcef9ed4369cc4df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30196bcf94786" /><Relationship Type="http://schemas.openxmlformats.org/officeDocument/2006/relationships/notesSlide" Target="/ppt/notesSlides/notesSlide18.xml" Id="R94686394a95248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7f08549614625" /><Relationship Type="http://schemas.openxmlformats.org/officeDocument/2006/relationships/notesSlide" Target="/ppt/notesSlides/notesSlide19.xml" Id="Rc66c2ef45df945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b927ef496416e" /><Relationship Type="http://schemas.openxmlformats.org/officeDocument/2006/relationships/notesSlide" Target="/ppt/notesSlides/notesSlide20.xml" Id="R220205cb7f6a4e7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c934a89dd40ae" /><Relationship Type="http://schemas.openxmlformats.org/officeDocument/2006/relationships/notesSlide" Target="/ppt/notesSlides/notesSlide21.xml" Id="R293609ac61ff46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F0EEC4ED-7024-447B-8344-E52F5361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28314-9878-4F29-A62C-A815C348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797E133-AF31-4D57-8DBD-B63ECE9B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8ED45C6-345C-4F2A-A532-655B406C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11 · Aplicación final y sustentación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EE686B-FCCD-40DD-AF7B-F7E52AB2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Cerrar el proyecto acumulativo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8F2AA43F-28A6-4AEC-B2C4-7B9274E4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Integrar las evidencias construidas desde L1 sin inventar un proyecto nuevo.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8AE728B8-9F5D-445B-A065-FCA17B25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BD55A6B-E411-489A-A3E2-379470C3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2838A60-FB1B-44B8-9008-31F4AE92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10CF363-8710-4100-B8AA-91EFED62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A338154-97B6-4C4B-8ABF-31E0B1D6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4EFF08A-E440-4D1C-8DC9-F4906109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CCD6FC4-1FAA-4F11-B0F5-F6584D21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11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040B9F4F-BABD-415D-A7CE-57AB6276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5D70F1A-541F-4EB5-B2DF-4EC101E4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38F08FE-AD01-4471-830D-6AA9EB5D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C6E4CB9-1FC4-4E21-9062-71D9E696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58B8D-1C26-491A-B07B-9059C4D8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F05851C-7CD2-4068-830C-66061153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978AEA0-5BBA-41CE-BD89-FA862076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Sistema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F4C70860-E85A-438D-909B-77650DCA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Agente con tools, RAG,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memoria y guardrails.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E4E923C-86C8-4000-A5D8-39BBAA1D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EAF7B7D-E4F0-4897-8343-4CF4537E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E5FB3D-9EC7-405A-9495-BF4C3F45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4E12BB5-5875-49F7-AE02-4EB995B9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5751EAD-FF32-4A9F-A7B5-5C499F74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Operación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04F4E7D0-932B-4EFA-A4D8-8BAF563A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API desplegada, trazas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resultados de evaluación.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431C5A1-BF0D-43F1-B7AE-0F6A656F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2EF3256-26C9-4821-8D42-A57F38ED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007E6F-9628-4C37-A10C-C373ED5B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A68AF56-3079-4259-9208-1C7171B0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59A9695-5F68-4FE3-B4A5-783F0EFA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Cierre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97F8A671-0B2C-43FA-A94C-FF9EF837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Cliente web, documento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diseño y demo end-to-end.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59F41855-DA62-433A-B932-459B2062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22239F5-3CFE-41EA-AF1D-41A7D01F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91A5F2E6-8EA9-4287-9A33-704E7632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entregable prueba que la observabilidad viene del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Space real?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61FAB7BA-4ECD-4EA6-B755-E7DF0703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98A12F83-2788-40B5-89F0-C13B209B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6BFE3E2C-3E62-4C40-ADFA-D0BA5DBC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Reescribir el proyecto al final y perder la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evidencia previa.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636C8024-0990-4AF3-9FAF-C70967DE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7EC4AFD1-2602-4DA8-8272-6194CD24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S11 cierra e integra las capacidades construidas durante el curso.</a:t>
            </a:r>
          </a:p>
        </p:txBody>
      </p:sp>
    </p:spTree>
    <p:extLst>
      <p:ext uri="{BB962C8B-B14F-4D97-AF65-F5344CB8AC3E}">
        <p14:creationId xmlns:p14="http://schemas.microsoft.com/office/powerpoint/2010/main" val="8104781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DB7CD645-D48C-4DF4-BE39-99366553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F1C6B-A24A-4631-9360-5F581D14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ED9BDF5-D06A-430C-BD2C-3C121B93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32832EE-FF99-44E5-98C9-25FA515C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11 · Aplicación final y sustentación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EBE93C-5C06-4D9C-AA82-629A4F4B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Relacionar entregable y origen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6CEBEE72-E580-4B7B-B89D-0EB9137D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Integrar las evidencias construidas desde L1 sin inventar un proyecto nuevo.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9A775D0-78A4-4E15-A809-590AFFE7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3B58CDC-066B-4C76-8AFF-A3A6D13D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B47E0AE9-34C9-4DB0-9B62-3A04D486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323AA30-5F49-4089-928C-D2F26571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12217E0-54DC-4825-B7EA-91A43FE8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530F947-F08E-44EB-80A4-937CCBF1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9D5EEE9-6CC5-42DA-A639-F05D7448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11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456408D8-2C5E-4201-A378-CE2BD43E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3AD7016-CEE5-4D96-8898-BAB04728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URL pública y acceso autenticado.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L9–L10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Trazas reales y comparación v1/v2.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Cliente con streaming, diseño y sustentación.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8ED3A59F-E5F1-4D0E-80F7-7C677493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F0272CDA-CB18-4207-8703-55ECCEFD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BEB764DC-A51C-4532-9C5E-6698DB73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Reescribir el proyecto al final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y perder la evidencia previa.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E5425B18-0AF6-4782-9866-51A38E33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4A99C68E-E2E7-47AB-B66D-141490FA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574E889E-CC37-408E-87EB-E8498EB1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0B6F8045-C95D-49B7-B168-3A93E8CA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entregable prueba que la observabilidad viene del Space real?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A73A49BC-87B8-41E4-9829-1293AA98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DB34DF80-2014-4EC8-9F22-961AF0B2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S11 cierra e integra las capacidades construidas durante el curso.</a:t>
            </a:r>
          </a:p>
        </p:txBody>
      </p:sp>
    </p:spTree>
    <p:extLst>
      <p:ext uri="{BB962C8B-B14F-4D97-AF65-F5344CB8AC3E}">
        <p14:creationId xmlns:p14="http://schemas.microsoft.com/office/powerpoint/2010/main" val="9408770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1391A082-AAB7-4D36-B1C1-3EF03517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03B8B-1A1C-4964-829B-23D9B41F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A3D5530-73B2-4B61-B088-5577325D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16DDD08F-8D1C-4719-8A8F-9AF7F5A7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11 · Aplicación final y sustentación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84AEC6-9ADF-48A0-95ED-CFEAF365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Cerrar el proyecto acumulativo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499F714-0164-4D17-941C-173D3F93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Integrar las evidencias construidas desde L1 sin inventar un proyecto nuevo.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48075C7-6DC8-4476-8CA0-05ADE948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88ABC62-7B86-4411-97F2-72E370B3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AABD653-A47C-4615-85B9-118FBDF8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67F2382-4E90-4E00-9435-76A790E7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6A36939-41CF-41EF-B565-4C197AAC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53F7BFF-AAB7-4470-9158-35C630A8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B8CC9023-96E1-40F6-891B-AEDE97CA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11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5D008FCF-FC3D-4212-9851-6D584263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E11FD57-7E90-4B55-A17C-A9952119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C437B8AB-1D66-479A-B9DD-C29183C1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36805B3E-F7D3-42EC-8A23-13F35D91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7F1CEA93-7835-4312-9C9F-B861BF9B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equipo ya tiene una API que consulta planes y consumo.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DE9EF69-7F26-46CC-97EA-5DBF7562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E3486AF-3790-402C-AB00-EA4A5CFF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9DEF7D-0439-4EDF-9551-9AEBD247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33CFB66-60ED-4365-9BDD-94E42CE3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E123F58-3806-4339-A141-B4BC0595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Reutilizar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B5A89E97-860B-4C6A-9B0F-91290EBA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Conservar su checkpoint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desplegado.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2C09B2D-5174-494C-8894-2CB39B38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73EA78A-61F4-4792-AE16-CC6662D6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2FBCAC-9324-4297-80B8-5269CB0B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571288B-2C11-4FD0-BC5B-96AC642C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736E7CA-9C42-434F-BBB0-1EC9FCA6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Completar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2DA2585C-A9A7-43D0-85FC-540C8251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Añadir cliente y documentación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arquitectura.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48615FA-BE42-43D8-969E-7887AAE6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D57842A-73AD-4ADA-B44C-EE9FEEDC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F44488-F53C-4A5E-823F-4F8B6529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15E21B2-72BD-458F-8254-D66EF5F2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FE5D516-47AF-4B5B-B2BC-9385F6BE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Verificar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6B7F6C9C-953B-44DF-BBF0-42CDADC0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Demostrar desde la interfaz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hasta la fuente de datos.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1993A1F0-003F-44D1-B21B-D933D0D1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31FA4E12-005D-4A0A-80CB-312A7968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CEE7AFDD-CF48-4993-A9CB-07C742BE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entrega final muestra continuidad entre decisiones y resultados.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7E1708DF-49C6-480C-97D6-D549982F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2DE2AEDB-69B2-4643-ACDE-854AB4F5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S11 cierra e integra las capacidades construidas durante el curso.</a:t>
            </a:r>
          </a:p>
        </p:txBody>
      </p:sp>
    </p:spTree>
    <p:extLst>
      <p:ext uri="{BB962C8B-B14F-4D97-AF65-F5344CB8AC3E}">
        <p14:creationId xmlns:p14="http://schemas.microsoft.com/office/powerpoint/2010/main" val="15443188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F22CE8EE-7FA6-442B-9EE9-8ECC6233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F0F8F-FFEC-4507-8496-601EF6DA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2729206-DC41-4D97-8D82-85D3E4D1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91A4016-5432-41DB-9AFD-C8814BCD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11 · Aplicación final y sustentación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9C42A9-1645-4778-B75C-9B57129A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Cliente web y streaming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2C90928E-B2DB-4B83-AB41-DB3C1C27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Consumir la API con un cliente que representa progresivamente la respuesta.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248F865-FB7C-4735-9886-2CBE324B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905C080-3E32-4823-AA2E-EABE59F0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1411FCAF-BDEE-46DD-ADF5-66F456F4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1478008-80C8-4EF4-B011-461CADF1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5DBDA5A-C917-45FB-98C8-8E5D7B43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837E037-C7F3-43A8-9A79-211EE564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E74A814-D2E9-45D2-809D-F52C931C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11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4CC601E-2B59-4A02-9232-9410E09D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324209B-0E10-4A88-B0BE-990EE10B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86AE09F-30C5-40B9-9F0C-72F6C3BD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952DC27-9EF0-4C14-8758-46026DB1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C3A855-A63C-4353-B14C-F32CCF82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BF86D2E-734E-4672-B4ED-4E286252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7D74EA0-C487-4BCC-939F-02A4117D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Cliente HTML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CD29BCCC-F961-4B8C-8B01-CBF4A987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Recibe la consulta y prepara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solicitud autenticada.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3EFA34B-FF29-4655-9F1A-F46AC408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2BEA608-3E31-45E1-9014-9317D0A9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22EBAB-9F80-4FE0-B8D1-1493A8F3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813F772-0845-47A2-B803-CDE1E89D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0DB7D5D-CDED-4570-94E1-9862C6D7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fetch y stream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B0E25EEF-D02E-40DC-B2E2-849E3F76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Permiten enviar POST y leer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fragmentos de la respuesta.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F8DC7DD-7ED5-4445-916B-AFF2D4B5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2E8DE3B-C495-4734-BAD7-AF23F255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74EA9E-7B19-4778-8059-7A663677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BD722C3-BF39-4274-9CF5-4CF8222D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AB62768-CBAD-42C2-9BEB-5A372465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Interfaz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A54A2589-8750-4B6A-88C6-9B70F896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Acumula contenido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muestra errores sin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ocultarlos.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3C2CE7C9-CF11-493D-9FCD-FFF54597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97B0825-C0C1-4421-B04F-39682D7C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14290B9E-8B37-4FE2-B949-F9639885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dos requisitos de la solicitud motivan usar fetch?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74D56E8F-A96B-44A5-8EC1-A93635BF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47A0FEA9-BC2A-4AA1-AC4D-3CC516A1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98571C78-9F31-43EF-B6A2-BC5E4751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Afirmar que dividir texto en el cliente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demuestra streaming nativo del modelo.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D305F41F-FFB7-4DF3-BEEA-CD6E63A4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45252AAF-5834-49BF-961C-B45C2C0D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cliente debe respetar el contrato real de la API.</a:t>
            </a:r>
          </a:p>
        </p:txBody>
      </p:sp>
    </p:spTree>
    <p:extLst>
      <p:ext uri="{BB962C8B-B14F-4D97-AF65-F5344CB8AC3E}">
        <p14:creationId xmlns:p14="http://schemas.microsoft.com/office/powerpoint/2010/main" val="1804677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2FF55953-5E84-4D85-B1E2-C1A538AA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36AEC-5333-4F24-A7F4-66F497FE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A2C8E3F-D72F-4A0B-B87F-7FA9E52E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BC536AE1-085C-43BF-8667-5ED22B91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11 · Aplicación final y sustentación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BED2E8-A9B0-434D-B9C5-E430F268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Por qué no basta EventSource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3D3AC851-FFD8-4A01-8AFB-A772651F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Consumir la API con un cliente que representa progresivamente la respuesta.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7A8FA111-F2F3-4A43-8D3C-022581D4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819251E-CA0D-40C2-AEC3-FEB7066A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03AEEB9B-3B85-42AC-B142-C6C4746E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80D051C-1ED4-4F40-87EA-AFAE0F14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C772F276-7105-44C5-885D-E5C56D38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4380465-09B6-4286-92ED-88C97A9D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75817A10-2442-43CA-954E-17372D90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11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C1D9772D-F7D7-4BD5-B54B-0C6092F9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3639C33-ABAC-4877-BDEC-796EAD19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Solicitud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contrato necesita POST con un cuerpo.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Autenticación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llamada usa la cabecera X-API-Key.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Lectura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fetch con ReadableStream permite consumir la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respuesta incremental.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7A407A9C-292E-4BB9-BDFF-67ADA501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1A42531D-06D4-4F68-99D3-C159AC32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438BBDD2-BF3F-4127-97F9-71E02AB7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Afirmar que dividir texto en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cliente demuestra streaming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nativo del modelo.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BDE5644C-6212-4498-BD66-EBBA70F0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AD97724E-6EF5-41B1-9C81-D9004D8E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114084C9-2167-4CF1-A2BD-00688504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FDDA976D-6627-4647-8A87-96C6C7C9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dos requisitos de la solicitud motivan usar fetch?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6F4C6BCA-8429-4F39-860A-7A43D287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D3D4138A-6CFC-460F-B7D0-5D4E6C7B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cliente debe respetar el contrato real de la API.</a:t>
            </a:r>
          </a:p>
        </p:txBody>
      </p:sp>
    </p:spTree>
    <p:extLst>
      <p:ext uri="{BB962C8B-B14F-4D97-AF65-F5344CB8AC3E}">
        <p14:creationId xmlns:p14="http://schemas.microsoft.com/office/powerpoint/2010/main" val="12927853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82A29612-5B85-4018-8983-9C361C11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156B1-4AA4-4EDB-BC23-56FA757B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AD68281-69E8-4F69-9E87-4EA2582E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99D8F5BE-2A6C-4831-984C-F910BC74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11 · Aplicación final y sustentación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19519E-D80A-415E-A5B2-7FAE606A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Cliente web y streaming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8C2FF431-D1BC-43E0-A82D-451E931E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Consumir la API con un cliente que representa progresivamente la respuesta.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888F63C-B5AB-4EA1-84D5-E43876D2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33D735D-D308-41E0-9CF5-FCC520C5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EF4002D-76D0-4827-857F-B9C953D0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8CCF691-A3A6-4512-A0FC-D4C5777E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F2D606D-1450-4D40-BF93-5C41C4C1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C53C21E-3CF7-4F10-A42B-49E21C1A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52E0452-FDB7-4130-82DD-518AE0E4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11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37236A15-F641-4756-B903-5AD57023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338F494-EF3D-4B31-8755-201C958A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32941181-BBCB-4769-9CF3-49C8E2E8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FDB44E88-73F1-4B64-A4F1-2374D4DA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85EE8C9C-CEDD-4A0E-8A25-0D727C75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usuario envía una pregunta de pedido desde la interfaz final.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7F96E3F-5535-4ECE-BC24-4C097215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2318785-F352-43AA-98E8-17650244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39F97-0428-4D4A-A769-4CAEBD1D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4891875-D8F4-46E7-83EC-3C982CC9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8626EA0-3498-4004-839D-DFC39E58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Enviar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0AEB420E-DC9C-4F0A-A555-81560267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POST con mensaje y credencial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según el contrato del cliente.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FEFFF12-F703-4148-96DE-493D3B48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73358A8-E3CC-4021-BC63-512D6A45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629592-68B9-458C-B264-3677DD17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56DF158-60B9-499B-81A5-5B1CDF97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0C1082E-0BCF-4196-BB43-B9526B27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Leer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574B8794-F709-4F5E-B5F7-819F5862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Procesar los fragmentos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recibidos de la API.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51B4CB0-F592-40E5-B708-D0949916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D14BFAC-2D73-4648-9560-342E71CE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4A2D12-A835-4356-9434-C17D847A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9C9E33E-24F8-4344-93C2-937ACF92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00DD2BA-46B3-402A-BED4-3006BCC5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Mostrar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0527A648-0538-4E95-81ED-E3F850CB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Conservar orden, finalización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manejo de errores.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70A3384D-E9C9-4FA4-937E-5E40F797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72C49EE3-F793-4C48-B226-6F501C79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D3CF63C0-5D8D-4736-9043-B4F75318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respuesta visible por partes no cambia la obligación de validar el contenido.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B31FE57C-C2E9-4865-8906-D06B6929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4ACFEE98-6F24-42F6-8996-132256FE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cliente debe respetar el contrato real de la API.</a:t>
            </a:r>
          </a:p>
        </p:txBody>
      </p:sp>
    </p:spTree>
    <p:extLst>
      <p:ext uri="{BB962C8B-B14F-4D97-AF65-F5344CB8AC3E}">
        <p14:creationId xmlns:p14="http://schemas.microsoft.com/office/powerpoint/2010/main" val="1349650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65B2DBA4-81CC-4273-9D1E-4E6AEAEA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D5744-B9C6-4CC2-844D-6D9D20E7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576393C-F37E-4B57-8E99-E70D7545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618EFF7-BCA7-4C29-A205-D0F95275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11 · Aplicación final y sustentación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E045A7-1F53-46C6-8143-212F1A9C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Argumentar una decisión de arquitectura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1B05936-13D0-4F16-9E64-A3066A64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Pasar de nombrar una tecnología a explicar una elección y sus consecuencias.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97D1ACA-68DD-4FC2-AA00-9E4847B9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700B2CE-978E-45B6-B1AD-B7F75716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6FA7CD59-6703-4EEE-ABC5-01612275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B782071-0E28-4468-A0DA-59AE9A28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5421F4B-A266-4B16-A76A-6771CA13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CF6CED2-4D7A-464C-9D8F-D14048F1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A86DAD61-A2FF-4FBC-86A0-2DD30A86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11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4D9A8A08-DFA7-469F-988C-AD648DC8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D52ACCC-5380-4CA3-99B3-39FE89CD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6BF99EB-D402-4424-BADC-E97787E4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69DB144-5BDD-40AE-8DB5-0A3B6E91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21F2D-48D1-4EF0-A1B7-35D3DE35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B1EF6E4-55F8-484E-89D3-02CB5AE4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F32F314-41A7-4600-87C3-85D58E3A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Alternativa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A64AD12F-16E6-4891-962D-E29701E6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Qué opción se consideró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 descartó.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6C34BE3-1A0C-4498-80E4-C051C82F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30B44DFC-732B-44EC-99F5-19AED760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FB3B0A-56FD-489A-8C7C-CE415CD9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9A76714-BFC5-4A0C-BE31-1B4C49AB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E0A74D3-281C-4BBC-906D-6E976C89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Criterio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736E4E4F-4266-427A-B6B8-A73D950D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Qué requisito inclinó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decisión.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175B6B7-296C-472C-9117-1C66E3EE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5CA59BD-08AB-4849-9354-7E30DA63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648748-B23A-46A7-80F3-2DF66765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97DF03E-C721-49E7-9221-CF06A04A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46D0FB3-FCDA-4CB4-9ED2-7BF358AE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Consecuencia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6DC12CF9-22B7-456C-BCE3-5247C617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Qué beneficio y compromiso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produjo la elección.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B79E9FE5-A9C4-4779-8C7A-FA3FC7B2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63ABF75-2EEA-4251-8E46-03B5351C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78C42C1D-E78C-4734-835C-4C8BCF0F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requisito cambiaría tu elección de arquitectura?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D1DF8B07-AA07-4FCA-9CA4-154C2D74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E52AF75C-1E16-4CB5-975C-6D942F18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E1B4511D-87A3-49A3-92A5-B875163F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Describir una lista de herramientas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como si fuera una justificación.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9CB3D48B-88AE-4D02-ADE0-9C0C976C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5BA58AB7-DDF7-4A9E-84C9-E46D1647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decisión defendible relaciona requisito, alternativa y consecuencia.</a:t>
            </a:r>
          </a:p>
        </p:txBody>
      </p:sp>
    </p:spTree>
    <p:extLst>
      <p:ext uri="{BB962C8B-B14F-4D97-AF65-F5344CB8AC3E}">
        <p14:creationId xmlns:p14="http://schemas.microsoft.com/office/powerpoint/2010/main" val="16977558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21523475-24D8-482A-8167-6D49DB34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07C4F-ED71-4FEA-AD5D-0C88546D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15CE619-CDB7-4CBF-91F7-EEBF0C55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13EC9365-9AD2-4B23-BF44-D55526F4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11 · Aplicación final y sustentación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409E86-2C26-48BB-8B6F-B2573313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Construir el argumento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1FB939F9-1651-4D4E-A9BB-04CA1A11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Pasar de nombrar una tecnología a explicar una elección y sus consecuencias.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41BC4E5-E59C-4DC0-AEEA-A97834B5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B1E34AE-BD32-4AEB-B4D1-E45E8F38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10DBAD9B-B59E-4C63-AC44-FFAB0425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A1D3DFC-F4CE-4427-B4E9-DA571176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B91F2DC8-15F2-4331-A7B7-31E27D41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2A6E256-4FD4-48F4-B907-5BF6BF51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621B9CD1-FBA0-4AB5-922D-A8DFDFEF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11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BD90EA1-B4F0-46A8-B2B2-488D0F43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10D0B4C-A67A-4088-BC77-4CD2AE0B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Dato insuficiente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«Usamos Qdrant» nombra una tecnología.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Decisión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Comparar Qdrant con un índice en memoria.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Justificación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corpus debe sobrevivir a reinicios y conservar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metadatos de fuente.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E94909FC-7A54-4728-9BA6-A4AB9C9E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79DE9CB4-9CA8-4925-8192-8EAB2005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B86CEEA8-3C88-4B47-8430-30BA0862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Describir una lista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herramientas como si fuera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justificación.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C72A7096-1020-4EB7-8C63-6625F11B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605D58F0-F9E1-48E5-9E5C-F8CABC26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B8FE1D14-5C57-4D91-8CD0-C3AF7FF5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91B1C488-7E96-463F-B17B-8ADA5688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requisito cambiaría tu elección de arquitectura?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14285EAA-C648-4C55-A50F-1BA8573D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302FE6D4-7C13-496B-95D4-272BA866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decisión defendible relaciona requisito, alternativa y consecuencia.</a:t>
            </a:r>
          </a:p>
        </p:txBody>
      </p:sp>
    </p:spTree>
    <p:extLst>
      <p:ext uri="{BB962C8B-B14F-4D97-AF65-F5344CB8AC3E}">
        <p14:creationId xmlns:p14="http://schemas.microsoft.com/office/powerpoint/2010/main" val="21426587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8054ED36-8AC2-435C-AB97-0F356479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C2A72-D1BB-4ACF-805F-F6B6A07F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237501D-F0F8-4950-9FCE-82689287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A99D9721-9427-47A6-B29E-231FBDDB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11 · Aplicación final y sustentación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C0C856-9409-4072-BBF1-1536FC79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Argumentar una decisión de arquitectura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7126AFC5-5114-4ED1-9950-E1E9A722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Pasar de nombrar una tecnología a explicar una elección y sus consecuencias.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A7B822FC-295D-4737-86E1-89DF57F1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E09BA50-C65A-42A6-8F96-7711CA0E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440924A-EF11-4B89-B90E-E7BC15AC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D31B0D8-5EAF-4A80-A37A-45C64C57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6CC84E20-D34A-4FEB-9086-14D00E66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56CC4A9-376E-4937-A5B4-229FCD7C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08CB36F-7CFD-4C67-9EB8-83140B26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11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41317E6E-B673-48AD-B511-65A4EFA5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36F0221-2EF4-4B52-BA50-6BB83A72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ANDINA SEGUROS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A2C3DEBA-83CB-458C-849D-A6EA24AD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53CFBF8D-88FF-4D98-8518-337BFFBF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27A5247D-82EA-4D11-B953-D73DCDD8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equipo necesita recuperar cláusulas con procedencia después de reiniciar el</a:t>
            </a:r>
          </a:p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servicio.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A8D08EF-5FAF-407D-A20A-9B61B8DB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10C7328-FC69-4EA2-902E-3256BF23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A1C46D-C558-403F-AC7D-F05F9BE9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9FD506C-82A1-4A66-94DB-4F00CC80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6529765-AF73-4E74-9499-EA0958EF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Alternativa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AA03933D-B5E0-4C08-A7AD-FA8AC805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Guardar el índice solo en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memoria del proceso.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6DBE569-90D4-4737-8D11-EA0F1AA5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48D7C4A-AB24-4AD9-8D8D-A2031876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E7FEFA-BF1B-4093-9F8A-FB7AE827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4B11AF6-F711-4B99-BAD9-48F81532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20EE277-B3F7-4EDE-BE22-E6996C56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Criterio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1A46219E-96C0-45FC-9D15-562EB689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Conservar el corpus y sus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fuentes fuera del proceso.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B1EF128-E5E4-43E1-88ED-118312E1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9133DCD-5F53-44E7-9A4D-28BD06DD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81805B-7F0A-48A3-A0F1-7E9AE54D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B23E7B9-BF45-4A80-81BD-0DDE6AE8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DF366A1-BA38-41F4-8F70-290EC00F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Consecuencia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68BDBF2F-9D68-4CE7-B982-E05A9B2A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Qdrant y asumir una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dependencia de red.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A12C2FFC-2110-4F61-8B1B-A48808F9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8ABEC5DE-1428-49BE-865B-2DA165A7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15BFC898-0A51-4484-9AA9-D066DC00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argumento incluye la ventaja y el costo de la opción elegida.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24009B02-AC3A-48F4-96E9-67AC8CC7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8354638E-05C5-4216-BE5B-47E38562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decisión defendible relaciona requisito, alternativa y consecuencia.</a:t>
            </a:r>
          </a:p>
        </p:txBody>
      </p:sp>
    </p:spTree>
    <p:extLst>
      <p:ext uri="{BB962C8B-B14F-4D97-AF65-F5344CB8AC3E}">
        <p14:creationId xmlns:p14="http://schemas.microsoft.com/office/powerpoint/2010/main" val="4044224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141CDE33-A638-4F50-80A8-77CAC56C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A603A-F8C4-4BF4-BE9A-445932F4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71C7681-CB06-48DB-8572-CFE49E9D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0001C4B-9680-4B10-BF91-D8E77D42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11 · Aplicación final y sustentación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889F6C-65D7-4ADB-9E9E-38C51313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Guion de diez minutos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91DA0050-5A76-48E2-8CBC-E1E2F65D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Organizar la sustentación alrededor de un caso, una decisión y una medición.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103A4E4-F059-4C94-89A3-27C7B275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445DD52-0A92-48C9-A3F4-CD8CCA5B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20AAF63-20D1-4935-B6F7-D4AFA03E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94D3785-E38B-47C6-90E8-B3A9D09E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6844508-BCEB-437C-8633-1E6F9356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A6A445F-25FC-4F83-AB1D-759E1C11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72E808C4-CB0A-425F-8B96-64367B62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11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A862DED-438C-4499-88BD-F9B2E793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EA010BD-2D03-401A-A8CA-59BD9B92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4E580BA-9410-4C3D-A2FA-F4030E96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28B112D-FFB4-449E-AC18-5D814D79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AF2CAE-B0E4-460D-9B94-CD6B03CE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99EE0DA-A813-4EE1-8F29-2FC63823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56BB046-F699-45E8-BB61-CDBE8337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Caso y demo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1D9CB596-9713-49AA-8F59-669F9587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1 minuto de contexto + 3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minutos de ejecución.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8F3CEA8-D33A-4AB3-9CEB-78C18B73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7F06746-EC5E-424B-BF34-9EE3753D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F96C84-41C6-4908-B2BF-55E6DC07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0595FFD-388B-4F07-ACFC-0B3CAE32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8111251-0423-4B18-9966-AD0CCB8E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Decisión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DB042304-2F30-402D-B6DF-82CCB94B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3 minutos para explicar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alternativa, criterio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consecuencia.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A376445-3827-4CCF-BADA-1C105D1A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D321348-C42F-4860-AA36-F1BCAF3C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ED51AD-1140-4928-80DB-F0625D61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F1F710A-EEE2-4FA1-96A4-61D3D7D3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BBAEE6C-81C0-4CEA-BF02-B7CA498A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Evidencia y</a:t>
            </a:r>
          </a:p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preguntas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055788C7-9BDB-4EBD-9B74-B9D82323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1 minuto de métricas + 2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Q&amp;A.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DC0D5BE9-57AC-4179-8D91-2E8D53D1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1300DFC-8BC9-463C-B72A-E41148B8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9BE5035B-EEE3-4FEC-904A-EA978A3B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recortarías si el ensayo tarda catorce minutos?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20109BC5-80D2-4402-AF34-00664C57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85C63772-6211-4F9B-9B16-A40DCEA5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81ACF1A0-8E16-43A8-B4DA-7EFE9C9A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Consumir el tiempo leyendo código y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dejar las métricas para el final sin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margen.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5D26B0D0-5859-4942-B82E-93D9EFFC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E391A47C-2F61-463C-8107-9FB46748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demo comunica una decisión con evidencia, no una visita al repositorio.</a:t>
            </a:r>
          </a:p>
        </p:txBody>
      </p:sp>
    </p:spTree>
    <p:extLst>
      <p:ext uri="{BB962C8B-B14F-4D97-AF65-F5344CB8AC3E}">
        <p14:creationId xmlns:p14="http://schemas.microsoft.com/office/powerpoint/2010/main" val="5648554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35C8D039-E04E-41A1-A7CB-CDE51F7C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5DD51-7141-41A2-B2E3-53F51DEC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757C2DC-C849-4A02-897B-2AAE3C86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BCE5F96B-593C-400F-AF5A-DE30BE63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11 · Aplicación final y sustentación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BA46DB-B0CA-453D-809D-2433896E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Ensayar para que el caso sea claro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2C84A802-8CD2-462C-8B64-B8D7983F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Organizar la sustentación alrededor de un caso, una decisión y una medición.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006513D-2500-43B0-8057-A2290236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F8F15C1-24EE-4F2A-972F-A1F9ED04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80A9B91-0C07-4EA2-B698-D43584F9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848E517-2868-420A-B02C-04939C18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545CB59-4449-4DDF-8BC3-F627165E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5EBA7DF-884C-40AC-AC2E-F2F8F3E4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004392C-3111-456F-BD38-82B02862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11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33EA7203-16B5-4E2A-BF25-F49E4811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2FAC8EC-C3E0-438E-BEE5-2CFE84B1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Elegir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Una consulta que recorra las capacidades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relevantes.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Preparar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Datos sintéticos y configuración verificados.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Cronometrar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Cerrar cada bloque sin narrar archivos uno a uno.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1BA1BE0B-D3B2-42F3-A814-3F2EB82E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D579D94C-0986-416F-9C0C-39771352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2B345533-95C0-47A7-9FC5-35A8B0DC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Consumir el tiempo leyendo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código y dejar las métricas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para el final sin margen.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28D142C8-E878-4C47-83E3-6F734988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D44B1308-4D92-4BC3-A1BF-9BC2C269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551605D9-9A87-468A-9729-3CD38DEE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5460BFFD-AC36-474B-AB90-D3AFE923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recortarías si el ensayo tarda catorce minutos?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337BFDD8-F8EC-4FD3-812E-78B483C8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FEAF327F-4279-4013-B295-4FFCF1F8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demo comunica una decisión con evidencia, no una visita al repositorio.</a:t>
            </a:r>
          </a:p>
        </p:txBody>
      </p:sp>
    </p:spTree>
    <p:extLst>
      <p:ext uri="{BB962C8B-B14F-4D97-AF65-F5344CB8AC3E}">
        <p14:creationId xmlns:p14="http://schemas.microsoft.com/office/powerpoint/2010/main" val="18819055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A38CFB6A-8356-45C4-8D40-1B3ECB8C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7145B-C101-439C-A1EE-3F1C6F7B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62ED0CF-50CB-48F5-8536-CA767A82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46F690D8-F141-4930-9080-2AC5F2B7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11 · Aplicación final y sustentación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C406D2-F1B8-49D2-BF6E-049F6389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Guion de diez minutos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D84AE18B-8E3B-47E5-A088-057CEE11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Organizar la sustentación alrededor de un caso, una decisión y una medición.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9819536-E171-42FC-A6E2-C4131FFC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F61AB9A-6D95-4066-AEB1-3DB9F8E3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A36F9F88-6CC3-4F8C-99A3-6F77DF80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1ABC015-DCDD-4C58-95CF-2C2CD194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B7540555-BE39-427C-BB8F-553E90E3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2D40641-2924-4A0F-BAD4-48BCA6BF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B0162626-3710-4E5E-9AFB-2AE72CA3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11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81BC59D-1345-4BE4-A688-1C2292EF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6EF5BBF-1E9F-4BF9-AFCB-BF940C31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EB55D0A1-C679-4951-8F0C-830845E0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E2B44B72-FD52-4D41-853E-A7EC1DBC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F8CA9415-CD6C-49FC-A962-4541C331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demo explica una comisión con una fuente documental.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9B99E05-8CC6-4537-BCD5-413A9633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A08E316-D976-4220-9250-8B09A794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1CCB57-8B94-4843-A08B-F7C51318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46C2B62-994E-4CD6-AF8F-E0D6DE05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003E204-05DD-429E-9FA3-22985E65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Mostrar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D6E9355B-2847-499D-8849-73D3B173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Consulta, herramienta 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recuperación y respuesta.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EB92CAC-EA99-4CA6-8714-D7C0989E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2494E78-202F-4EA3-BF57-9745D68D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7B1522-D10E-4717-8311-A60D094F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CBA8EB5-6126-4153-B0EE-53A8E9CB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C6A6B5A-C407-4917-B051-C58B4571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Argumentar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A2C5D1E7-73C5-47FE-B828-07014DB4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Por qué exige fuente para esa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afirmación.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100B19A-28A6-4D41-9199-C36AE4D1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ECC3DF4-62C0-49D7-9F9A-853A28AD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7DC377-3E10-4FCE-BA87-38253C65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1E2FBCD-E95F-465F-A041-F6D31ADE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C1B5F1F-3AB4-44F3-A025-DC107E2D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Medir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0A9628C7-CFE7-4715-8844-F008366A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Exponer la comparación v1/v2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 límite.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795670A6-8A91-448A-909B-21728744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4756ABCB-4D66-406B-BE14-18F8874E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9AC54F32-4BA6-45A1-9E0A-19C469CF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panel debe entender qué funciona, por qué se diseñó así y qué se midió.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FB74173B-60B7-4689-B809-DEF4E443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75614EF2-CF41-49EE-B601-B4A3B514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demo comunica una decisión con evidencia, no una visita al repositorio.</a:t>
            </a:r>
          </a:p>
        </p:txBody>
      </p:sp>
    </p:spTree>
    <p:extLst>
      <p:ext uri="{BB962C8B-B14F-4D97-AF65-F5344CB8AC3E}">
        <p14:creationId xmlns:p14="http://schemas.microsoft.com/office/powerpoint/2010/main" val="11927567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696EE7BA-FF78-4958-A490-FC9CE18F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102B3-1E34-4142-B84C-F0768B46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949F182-8FE5-49CF-8A39-5506C7D3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48E260A3-B2E7-48E1-8BBD-97D901BE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11 · Aplicación final y sustentación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57EE79-2264-4EC6-B9D4-6C69659F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Contingencia y evidencia anticipada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2ECEA23C-A8B4-4A7D-B39D-386DC0B0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Preparar una alternativa de demo respaldada por la entrega de las 24 horas previas.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18920F1-1FB4-47AC-91B3-4FF768C9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857F2F5-F184-4573-B480-A8DC560A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E745B577-90EE-4D55-8072-1FA02538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83D05CA-5587-430B-BF98-2A618F51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6D06E17-A1AE-491D-BCA4-1E1403BB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2BCB055-249E-473E-8D3D-5EBD98E3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DF6489D2-3620-45F0-822D-F888CAF4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11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7A1C9BA6-F0BA-44CE-84BA-CBED367B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11EA053-241C-4C94-90F7-82FB84D5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EBD9697-2B48-4976-A7E6-8A7C6154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85BE767-2C60-4506-AC4B-532418C4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45D6D-BA33-4C8A-9389-8C8DB648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7940954-CF2B-4979-B278-612159F5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0BB31F7-9A55-48F1-B08F-33800B8C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Antes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9D883FC7-7797-4D13-A753-4CBE9B6B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Entregar URL, key al panel,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traza y verificación del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despliegue.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63244F6-3885-49B2-8CC0-83653F27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745131E-6131-4E12-B4CC-6C1FC983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34AB60-7EC1-46FE-B533-83E9239E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730A006-71FB-4097-9901-4787C31E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11A5B4D-031D-4CC3-A066-34C2F328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 responde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7424D94B-E020-49D5-B7E1-C4365844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Sustentar contra la URL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pública.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56C5DB9-2D52-4F26-952D-9F9CA6DF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3E8D075-0771-4A2B-8B6F-1426BD9A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98F2FC-9E3B-48E9-B287-A27CB860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1196A49-85DC-4E7A-BB04-04343936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4465169-A63C-40F1-A1B1-83A26590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 falla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B26E6EB4-BD9E-42A8-BAC2-56822637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la demo local bajo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regla de contingencia del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curso.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2EA60659-77D6-4B36-93BC-CCD9F6B2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85C36D9-A6AA-4D8D-8EFB-B730CB43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494608E8-FA1F-438A-B99F-3610D549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evidencia no podrías recuperar a tiempo si esperas al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día de la demo?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81E79498-60BE-4450-AB11-8DF53039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137DACC5-ABBB-46D9-B51C-4F1D650B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717F7A3B-0BD1-4E31-B11C-009082A9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Interpretar la contingencia como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permiso para omitir el despliegue.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84D5AFC4-39C8-401A-A8DB-905E6BB2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CFA1A01B-B03F-4946-BF51-4E2659BD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contingencia se prepara antes del incidente.</a:t>
            </a:r>
          </a:p>
        </p:txBody>
      </p:sp>
    </p:spTree>
    <p:extLst>
      <p:ext uri="{BB962C8B-B14F-4D97-AF65-F5344CB8AC3E}">
        <p14:creationId xmlns:p14="http://schemas.microsoft.com/office/powerpoint/2010/main" val="4813876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2455443E-2759-46F4-87B2-4028A627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70883-C399-423E-B331-E4096CA1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8A8AB88-9298-4DD4-BB7F-25CE4849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11512A5-E1D2-45F8-AA97-3C39EA02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11 · Aplicación final y sustentación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CB9BC1-36D8-40F5-B292-475B995D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Qué hace válida la contingencia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1413C84B-DC4D-46BF-A0E7-8C12A7DC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Preparar una alternativa de demo respaldada por la entrega de las 24 horas previas.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DC04E63-8896-4611-AF5E-6192E2D0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FDDB2E1-1FE5-4EF7-93AA-C9792076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406D97C-A067-4DB2-BAB9-2B426D46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EF35EF2-72F6-42C8-96C0-E46F8B13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194A331C-34C9-4CDE-9006-F34F66BD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CB4ADEC-34C0-40EE-B94C-24723270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758A451-A7FB-43B8-9B66-5C29C41E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11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3834774A-FD47-415F-A9B9-9BBF56BA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5CA15BE-567C-4E5A-A00A-5AFFE8D3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Evidencia previa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entrega anticipada demuestra el despliegue.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Mismo sistema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respaldo local conserva el caso y la arquitectura.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Distinguir fallo del servicio y capacidad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demostrada previamente.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36398353-A752-4DD5-9FFC-F3986662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8874E412-B3DE-49E9-A9B0-15B449D5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DE6C165B-599E-479C-BD31-DA45DBB0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Interpretar la contingencia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como permiso para omitir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despliegue.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B8FDBA6B-D9AA-4D6E-AA13-22E6AA94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9E4D7E0D-6874-41C6-8E11-D315B1E4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1E33A6D6-8931-41A6-9F53-672B3CA3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A675195D-56BE-486F-8EFD-40B6D45F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evidencia no podrías recuperar a tiempo si esperas al día de la demo?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93854176-4AFC-4FCF-8128-F9CC2574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3FBBDEA5-D155-4250-950D-35167E4D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contingencia se prepara antes del incidente.</a:t>
            </a:r>
          </a:p>
        </p:txBody>
      </p:sp>
    </p:spTree>
    <p:extLst>
      <p:ext uri="{BB962C8B-B14F-4D97-AF65-F5344CB8AC3E}">
        <p14:creationId xmlns:p14="http://schemas.microsoft.com/office/powerpoint/2010/main" val="9780993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179A78AA-28E9-4A14-8AF8-6C7A2C61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CD638-071E-43BF-B23E-857EE4BF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3D364F7-A373-4FF8-9224-A89E9D9F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0655A45C-2119-4CFA-B36D-E73D20D8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11 · Aplicación final y sustentación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03168B-AABA-4A6D-8CE7-34E7CFF5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Contingencia y evidencia anticipada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76D2CAE5-074A-48BF-92EE-666B1EB8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Preparar una alternativa de demo respaldada por la entrega de las 24 horas previas.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20B024B-7D29-45D6-B46F-8832460E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8FFD530-8007-46B5-B44F-66326645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917E36F-C9DD-49F2-9ECF-23E67D09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E690EBE-7792-4C9F-A4C2-A2B9C43F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D4E4395-8CC2-48E1-95A2-53F59E30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2F15313-7DA1-4C62-8BFB-E887CF47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0F9749EC-6DF5-43BC-9232-FFD9DD26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11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07062FC3-E40C-4DA4-83B0-E2969E75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1B8F03E-2D1C-430D-96E9-AE257BBF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CDF54265-3C96-4BEF-AD58-2895E2B5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70CE9E30-0293-451D-93DF-4A4BF830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570ECEE3-AB3C-4A48-9D8D-6044731E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Space no responde el día de la sustentación.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3B55E16-CD9D-4C55-9B8B-AB45446F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64AF0A2-93C8-432F-9D50-57D94FC3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2BAE06-1AD3-4C0A-B141-BEC1A857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3562210-75B1-4CF2-83CA-4C38F3B6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D9CB7CA-0C1D-4DBA-8639-533CD5BB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EAC059D8-9EA2-43CF-83D0-FCE2B9C8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equipo entregó toda la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evidencia 24 horas antes.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A20A1B9-0922-4FE7-8B1C-139FF6DB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D759C63-3FBE-4C03-B862-F6177D34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632BE7-ADDE-4849-825F-A81C70A8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E4788D7-F46E-4BFD-8340-2028997A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3C3DCB2-9112-459F-8F87-F146D787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Activar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00D4E5D7-93EE-4894-BC7B-9A0A8D92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Mostrar el mismo caso en local.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66265E4-F394-42E5-8D85-3EA718D2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D5D4E45-E8C0-4334-84B9-BEFF22A6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DCE0FE-CF4C-4C3E-9F8B-77F7D3D6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CBA4673-639E-4B34-91A0-745E1B1F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E52E14E-FA02-4F91-BB1E-DAFE7B14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Defender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C6254F20-9C8E-4037-BFAD-D3E62B4E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trazas y verificación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previas para sostener 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despliegue.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1D6D505A-334A-4FB2-9854-5E1B1932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B6EB9259-12D4-4B85-87A7-93746975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59935115-B731-4A0D-9855-6DCA2354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Sin la evidencia anticipada, la regla de no penalización no se aplica del mismo modo.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D3C8F0B2-A23B-43F2-A184-F367F630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80052061-A7AF-4FB7-9CA9-2E275AB0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contingencia se prepara antes del incidente.</a:t>
            </a:r>
          </a:p>
        </p:txBody>
      </p:sp>
    </p:spTree>
    <p:extLst>
      <p:ext uri="{BB962C8B-B14F-4D97-AF65-F5344CB8AC3E}">
        <p14:creationId xmlns:p14="http://schemas.microsoft.com/office/powerpoint/2010/main" val="1380890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header">
            <a:extLst xmlns:a="http://schemas.openxmlformats.org/drawingml/2006/main">
              <a:ext uri="{FF2B5EF4-FFF2-40B4-BE49-F238E27FC236}">
                <a16:creationId xmlns:a16="http://schemas.microsoft.com/office/drawing/2014/main" id="{235A43D8-88B3-496F-8067-531D7E92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D3A5C-9F52-4C38-915B-796BEAA6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CF2BF2A-609D-463C-B563-68E40701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7024275-225B-4CCE-83C6-032FA678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11 · Aplicación final y sustentación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F90C8B-3763-4498-9A39-5D06A1C4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Documento de diseño de cuatro páginas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34D66D5-49C1-4858-91EF-F7762926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 alcance, arquitectura, cinco decisiones y evidencia en un documento compacto.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A2D0623-481D-4D11-957B-29EE9853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491AC52-704B-4A84-890E-D2669424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F4D16F3A-D597-4103-8A28-6607552E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933684D-C009-4038-B935-916B629C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F959ACD-EE13-4AC2-A3DC-E9308D15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471CF12-577F-43E1-A40F-C53C0259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FD5B160-11C8-4891-A1CE-2BAC96CB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11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82797129-4B72-47B4-A5BB-A2F33812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174D26A-B0A3-4C14-A1BC-B0918FDE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LA ARQUITECTURA QUE OTRO INGENIERO DEBE PODER LEER</a:t>
            </a:r>
          </a:p>
        </p:txBody>
      </p:sp>
      <p:sp>
        <p:nvSpPr>
          <p:cNvPr id="16" name="architecture-frame">
            <a:extLst xmlns:a="http://schemas.openxmlformats.org/drawingml/2006/main">
              <a:ext uri="{FF2B5EF4-FFF2-40B4-BE49-F238E27FC236}">
                <a16:creationId xmlns:a16="http://schemas.microsoft.com/office/drawing/2014/main" id="{09D737EB-2C14-4B23-B98C-08ABDC79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9239250" cy="4619625"/>
          </a:xfrm>
          <a:prstGeom xmlns:a="http://schemas.openxmlformats.org/drawingml/2006/main" prst="roundRect">
            <a:avLst>
              <a:gd name="adj" fmla="val 37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component-web">
            <a:extLst xmlns:a="http://schemas.openxmlformats.org/drawingml/2006/main">
              <a:ext uri="{FF2B5EF4-FFF2-40B4-BE49-F238E27FC236}">
                <a16:creationId xmlns:a16="http://schemas.microsoft.com/office/drawing/2014/main" id="{D912494F-D7DB-4317-84F5-AD8552E1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8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E595455E-1FB7-46CA-84E7-1B2547D0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Cliente HTML</a:t>
            </a:r>
          </a:p>
        </p:txBody>
      </p:sp>
      <p:sp>
        <p:nvSpPr>
          <p:cNvPr id="19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B33EE46D-E3F6-4CDF-9673-A317FA29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POST y streaming</a:t>
            </a:r>
          </a:p>
        </p:txBody>
      </p:sp>
      <p:sp>
        <p:nvSpPr>
          <p:cNvPr id="20" name="component-api">
            <a:extLst xmlns:a="http://schemas.openxmlformats.org/drawingml/2006/main">
              <a:ext uri="{FF2B5EF4-FFF2-40B4-BE49-F238E27FC236}">
                <a16:creationId xmlns:a16="http://schemas.microsoft.com/office/drawing/2014/main" id="{15B43A63-A661-441F-8918-0AC72201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0003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1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2F19E0D0-4E9A-4A3F-952B-6E2B0705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43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API autenticada</a:t>
            </a:r>
          </a:p>
        </p:txBody>
      </p:sp>
      <p:sp>
        <p:nvSpPr>
          <p:cNvPr id="22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AD340B61-FE4D-439B-87C9-53865C11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576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Contrato del equipo</a:t>
            </a:r>
          </a:p>
        </p:txBody>
      </p:sp>
      <p:sp>
        <p:nvSpPr>
          <p:cNvPr id="23" name="component-agent">
            <a:extLst xmlns:a="http://schemas.openxmlformats.org/drawingml/2006/main">
              <a:ext uri="{FF2B5EF4-FFF2-40B4-BE49-F238E27FC236}">
                <a16:creationId xmlns:a16="http://schemas.microsoft.com/office/drawing/2014/main" id="{4F52B5B3-7EB1-4C6C-8D36-D0023321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003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4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D8401067-50C2-4881-BCD4-1CDCB8D4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Agente</a:t>
            </a:r>
          </a:p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controlado</a:t>
            </a:r>
          </a:p>
        </p:txBody>
      </p:sp>
      <p:sp>
        <p:nvSpPr>
          <p:cNvPr id="25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A0F40AD1-4795-4400-804F-BF7E2CB6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576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Modelo, estado y límites</a:t>
            </a:r>
          </a:p>
        </p:txBody>
      </p:sp>
      <p:sp>
        <p:nvSpPr>
          <p:cNvPr id="26" name="component-tools">
            <a:extLst xmlns:a="http://schemas.openxmlformats.org/drawingml/2006/main">
              <a:ext uri="{FF2B5EF4-FFF2-40B4-BE49-F238E27FC236}">
                <a16:creationId xmlns:a16="http://schemas.microsoft.com/office/drawing/2014/main" id="{830A91E8-17C4-4A7E-9507-A4071B54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7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6FEED44E-A136-4909-A7AD-1B8D2A8A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Tools →</a:t>
            </a:r>
          </a:p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simulador</a:t>
            </a:r>
          </a:p>
        </p:txBody>
      </p:sp>
      <p:sp>
        <p:nvSpPr>
          <p:cNvPr id="28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EAC68DFF-FFB6-4C57-8D26-6D1207BB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Datos y acciones del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dominio</a:t>
            </a:r>
          </a:p>
        </p:txBody>
      </p:sp>
      <p:sp>
        <p:nvSpPr>
          <p:cNvPr id="29" name="component-rag">
            <a:extLst xmlns:a="http://schemas.openxmlformats.org/drawingml/2006/main">
              <a:ext uri="{FF2B5EF4-FFF2-40B4-BE49-F238E27FC236}">
                <a16:creationId xmlns:a16="http://schemas.microsoft.com/office/drawing/2014/main" id="{8DC5BAA5-1198-4489-A786-7720E263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0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FEE1CA66-8901-49A8-9590-C4411855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Retriever →</a:t>
            </a:r>
          </a:p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Qdrant</a:t>
            </a:r>
          </a:p>
        </p:txBody>
      </p:sp>
      <p:sp>
        <p:nvSpPr>
          <p:cNvPr id="31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DAED5A12-BD49-4F62-BB2B-04632A12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Fuentes documentales</a:t>
            </a:r>
          </a:p>
        </p:txBody>
      </p:sp>
      <p:sp>
        <p:nvSpPr>
          <p:cNvPr id="32" name="component-obs">
            <a:extLst xmlns:a="http://schemas.openxmlformats.org/drawingml/2006/main">
              <a:ext uri="{FF2B5EF4-FFF2-40B4-BE49-F238E27FC236}">
                <a16:creationId xmlns:a16="http://schemas.microsoft.com/office/drawing/2014/main" id="{7014148B-75DC-48D9-8D4F-AC458D95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3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7CBB760C-6C25-47F7-AF64-ED62AD8A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Observabilidad</a:t>
            </a:r>
          </a:p>
        </p:txBody>
      </p:sp>
      <p:sp>
        <p:nvSpPr>
          <p:cNvPr id="34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A69F7414-748E-4C63-8075-0E787550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Trazas protegidas</a:t>
            </a:r>
          </a:p>
        </p:txBody>
      </p:sp>
      <p:cxnSp>
        <p:nvCxnSpPr>
          <p:cNvPr id="82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333750" y="353853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410325" y="353853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4" name=""/>
          <p:cNvCxnSpPr>
            <a:stCxn xmlns:a="http://schemas.openxmlformats.org/drawingml/2006/main" id="23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296275" y="4076700"/>
            <a:ext cx="0" cy="13049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5" name=""/>
          <p:cNvCxnSpPr>
            <a:stCxn xmlns:a="http://schemas.openxmlformats.org/drawingml/2006/main" id="23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5219700" y="4076700"/>
            <a:ext cx="3076575" cy="13049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6" name=""/>
          <p:cNvCxnSpPr>
            <a:stCxn xmlns:a="http://schemas.openxmlformats.org/drawingml/2006/main" id="20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2143125" y="4076700"/>
            <a:ext cx="3076575" cy="13049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F09520B3-76AD-4FB7-A24F-9F45F8B4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47950"/>
            <a:ext cx="4610100" cy="4619625"/>
          </a:xfrm>
          <a:prstGeom xmlns:a="http://schemas.openxmlformats.org/drawingml/2006/main" prst="roundRect">
            <a:avLst>
              <a:gd name="adj" fmla="val 371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41" name="diagram-reading-label">
            <a:extLst xmlns:a="http://schemas.openxmlformats.org/drawingml/2006/main">
              <a:ext uri="{FF2B5EF4-FFF2-40B4-BE49-F238E27FC236}">
                <a16:creationId xmlns:a16="http://schemas.microsoft.com/office/drawing/2014/main" id="{0D5187DF-6947-46C6-9BA5-2E164651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414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CLAVE DE LECTURA</a:t>
            </a:r>
          </a:p>
        </p:txBody>
      </p:sp>
      <p:sp>
        <p:nvSpPr>
          <p:cNvPr id="42" name="diagram-reading">
            <a:extLst xmlns:a="http://schemas.openxmlformats.org/drawingml/2006/main">
              <a:ext uri="{FF2B5EF4-FFF2-40B4-BE49-F238E27FC236}">
                <a16:creationId xmlns:a16="http://schemas.microsoft.com/office/drawing/2014/main" id="{95B2C705-3E03-47C7-AA35-B76F1BA5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86125"/>
            <a:ext cx="4143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documento debe reflejar la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versión realmente entregada.</a:t>
            </a:r>
          </a:p>
        </p:txBody>
      </p:sp>
      <p:sp>
        <p:nvSpPr>
          <p:cNvPr id="43" name="diagram-question-label">
            <a:extLst xmlns:a="http://schemas.openxmlformats.org/drawingml/2006/main">
              <a:ext uri="{FF2B5EF4-FFF2-40B4-BE49-F238E27FC236}">
                <a16:creationId xmlns:a16="http://schemas.microsoft.com/office/drawing/2014/main" id="{F3FDB715-0503-477D-A534-C6CE368E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52975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PREGUNTA AL GRUPO</a:t>
            </a:r>
          </a:p>
        </p:txBody>
      </p:sp>
      <p:sp>
        <p:nvSpPr>
          <p:cNvPr id="44" name="diagram-question">
            <a:extLst xmlns:a="http://schemas.openxmlformats.org/drawingml/2006/main">
              <a:ext uri="{FF2B5EF4-FFF2-40B4-BE49-F238E27FC236}">
                <a16:creationId xmlns:a16="http://schemas.microsoft.com/office/drawing/2014/main" id="{8EF2508D-3B3F-4203-B99E-BFA18C04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0"/>
            <a:ext cx="4143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flecha del diagrama explica de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dónde sale una tarifa?</a:t>
            </a:r>
          </a:p>
        </p:txBody>
      </p:sp>
      <p:sp>
        <p:nvSpPr>
          <p:cNvPr id="45" name="diagram-caution">
            <a:extLst xmlns:a="http://schemas.openxmlformats.org/drawingml/2006/main">
              <a:ext uri="{FF2B5EF4-FFF2-40B4-BE49-F238E27FC236}">
                <a16:creationId xmlns:a16="http://schemas.microsoft.com/office/drawing/2014/main" id="{2F1B1021-D7F9-4F5C-86CB-D463D3CD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76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Error a evitar: Dibujar componentes futuros</a:t>
            </a:r>
          </a:p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como si estuvieran implementados.</a:t>
            </a:r>
          </a:p>
        </p:txBody>
      </p:sp>
      <p:sp>
        <p:nvSpPr>
          <p:cNvPr id="46" name="panel">
            <a:extLst xmlns:a="http://schemas.openxmlformats.org/drawingml/2006/main">
              <a:ext uri="{FF2B5EF4-FFF2-40B4-BE49-F238E27FC236}">
                <a16:creationId xmlns:a16="http://schemas.microsoft.com/office/drawing/2014/main" id="{0C0CDD53-CBCB-4C6B-A092-72D6FC2E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7" name="takeaway">
            <a:extLst xmlns:a="http://schemas.openxmlformats.org/drawingml/2006/main">
              <a:ext uri="{FF2B5EF4-FFF2-40B4-BE49-F238E27FC236}">
                <a16:creationId xmlns:a16="http://schemas.microsoft.com/office/drawing/2014/main" id="{D3BDFBC1-E910-42C0-865A-F6520B47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arquitectura debe mostrar responsabilidades y límites verificables.</a:t>
            </a:r>
          </a:p>
        </p:txBody>
      </p:sp>
    </p:spTree>
    <p:extLst>
      <p:ext uri="{BB962C8B-B14F-4D97-AF65-F5344CB8AC3E}">
        <p14:creationId xmlns:p14="http://schemas.microsoft.com/office/powerpoint/2010/main" val="15717065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2B6EFB42-D7D7-4264-A98D-6B89EBAF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A4BBF-33D0-4115-8CDF-B578A7BA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AA24D59-5696-4E0B-A3B8-35CD5150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88D235A-7D0F-451D-9C2E-230FA1DA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11 · Aplicación final y sustentación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CD42F4-2AE3-4105-8024-A7454286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Hacer el diagrama operable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7E5D7A7-8455-4952-B6F3-512DCEB8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 alcance, arquitectura, cinco decisiones y evidencia en un documento compacto.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DC241D8-39C0-4F1F-B6A3-D7B051C5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7BFA098-3620-4159-95A8-E67AF107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1E0EA465-D960-428F-B904-DC35CDA4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0BD6AB1-93E9-45DE-B129-B1B1E50D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A447251-F33A-4D72-B9BA-31F885AF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D020E2F-F8C6-4D12-A288-019635A4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6E9AF5A8-CA50-4C24-88CC-733220AD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11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2C3F98F3-FB89-4B43-AFF5-6042B2B9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DF2A986-19FA-49BD-A049-2D407C00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Fronteras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Cliente, API, agente y sistemas externos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diferenciados.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Relaciones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Tools, retriever y controles unidos a los efectos que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producen.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Límites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Memoria de proceso, dependencias y derivaciones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expresadas con precisión.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833A9CE6-EDE6-444C-B5D4-B1C23104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F029E6AE-EE1F-469E-998A-E4FF2AAD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FC9479A4-6026-4D5F-8F19-7FF19EEA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Dibujar componentes futuros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como si estuvieran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implementados.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9B65F246-6294-4F39-B4C7-D86AF6F2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E80196E6-FE52-4DF7-A682-D51E7737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1E515A0E-7FF1-4B5B-A494-F6124A6E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8E84ECCA-74C9-4C81-A09F-D4A76A6F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flecha del diagrama explica de dónde sale una tarifa?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7C2C9003-CA2E-46EB-B924-BD4FB94A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ECBFF157-412F-4B76-A588-E2CBE754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arquitectura debe mostrar responsabilidades y límites verificables.</a:t>
            </a:r>
          </a:p>
        </p:txBody>
      </p:sp>
    </p:spTree>
    <p:extLst>
      <p:ext uri="{BB962C8B-B14F-4D97-AF65-F5344CB8AC3E}">
        <p14:creationId xmlns:p14="http://schemas.microsoft.com/office/powerpoint/2010/main" val="1895658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7D9E6F8B-282F-49C2-BB3F-75FD760F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14101-F210-4BD7-BB01-C65EF31A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FAB4647-7C9F-4844-AFDB-DB6D98F3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F720234-9DF1-4367-AF47-4BFACCFA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11 · Aplicación final y sustentación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328F80-C55B-4327-A95C-30173413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Documento de diseño de cuatro páginas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6393452-93CC-409E-AF2D-D3BE6B68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 alcance, arquitectura, cinco decisiones y evidencia en un documento compacto.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853ADF8-9944-4159-9DA5-AAC15A9C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AC45075-2194-4F27-AF34-2068E4B0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67A36A0E-A5E8-4AE4-808A-786BBDFA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6937474-3BFE-4E26-993F-88D597B9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51F7B975-3A2E-46D2-A6D5-A9E6E8B3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4B930F0-CA74-4AD5-B1CF-DEBA601A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EE25A417-7C61-4972-BE39-E085B890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11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E71A84C-8137-453D-8C01-53583938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5A729BC-4391-45E2-A520-25D4F485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66F50FB6-55DD-45AE-93AD-6454813E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101777D3-1DDA-4E0F-AC72-5F22FEAF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B08CB3F0-629D-4DF8-9591-2B534DCD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nuevo integrante debe entender por qué el agente no autoriza</a:t>
            </a:r>
          </a:p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compensaciones.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EC5E09E-1FB7-4050-A8ED-BFCCD430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51DAE29-EA7F-4FB9-BFA4-DB3BC5C7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C6943-084D-4B16-85CD-8F1E6883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525FF79-9EF7-4366-B56F-1E9045F1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0A5D454-5821-4657-956F-B6D764BF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Alcance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7263198B-E913-4131-8343-7E6CF83D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asistencia informa y registra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lo permitido.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E611183-29E8-453A-AC45-14C7DA72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A5B3443-51C9-415F-BB92-16B01EAC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32CCC0-D3A6-4B72-BF52-7C6EEC1D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39BB2E1-7B44-49C7-A1AC-85D1BB29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8EC5AA5-CD5B-4775-897D-8854E8F8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Arquitectura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B546F144-44BE-446F-A1CC-E40ABA13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control de acción precede a la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tool.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B90AE86-093C-46CF-A1E5-673EBC71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3B309357-0792-4CF9-AF5A-EC6B4842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490D67-B00C-4D9D-9E55-E303F364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DCA2F48-4A43-4C00-9F9D-65C60D02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F478179-0978-4DCD-9117-D992D154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Decisión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9A85F348-3547-45FF-AC00-7FA1731A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compensación exige un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proceso humano fuera del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agente.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10581394-DAF7-4B7B-99D2-D09F0AF6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A35D9909-3354-4D11-B6B2-5A10E852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1E926C26-19A2-45F8-BDD5-FCBAE8AE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documento permite operar y discutir el diseño sin conocer todos sus archivos.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1469509F-2D15-4518-A6DD-BB561FF4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63A2027A-1513-4724-87A2-2EC35819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arquitectura debe mostrar responsabilidades y límites verificables.</a:t>
            </a:r>
          </a:p>
        </p:txBody>
      </p:sp>
    </p:spTree>
    <p:extLst>
      <p:ext uri="{BB962C8B-B14F-4D97-AF65-F5344CB8AC3E}">
        <p14:creationId xmlns:p14="http://schemas.microsoft.com/office/powerpoint/2010/main" val="5002628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44A5D346-C9B0-4CE6-983E-50FD92CC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1CD0E-6BBB-489F-B298-D365D23E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94F6101-3836-473D-A692-6CC85DDA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0D7B25B3-E287-47BE-87A6-FED9AE00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11 · Aplicación final y sustentación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C29DB6-2363-42E2-850E-18FCABA5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Rúbrica, laboratorio y cierre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6E74D930-CF17-41C0-9432-D9478098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 que cada afirmación de la sustentación tiene una evidencia disponible.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7A77911F-1368-4318-AA45-1732FAC0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98C1106-1D6C-4EE4-95CE-97951794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429CE6F-5A56-46A3-B49D-FB6A88A7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6CCD500-E4E0-48F7-A632-C55C39AA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8316188-0FE8-4221-87D3-EDEF0BB9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23A1433-FF6B-4B55-B8BD-0F03E16E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E2A3E8DA-1D56-4B35-82FD-43FE6E89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11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8776766F-A4E8-4C7F-96CF-AAD87E76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D6B5882-DB15-4678-8A6C-D7299F92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72BFC3A-63F1-4710-9E4B-AE774837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C1EFDF6-B37B-41E9-8674-C9F0A285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F1CE6-4EB9-4598-A431-8ED9A8D7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824C59B-5A4C-48EC-A4ED-BED675EC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25ABFA8-4563-4BAB-9113-3E5D50B9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Producto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14B3D3DC-9FF1-452F-9EC4-B6EE7A9A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Cliente funcional y recorrido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completo de una consulta.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BF5D3E0-8FF5-42CA-8585-94BEE00A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5757DC2-B75D-4EF3-B61B-24D5054A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C9D26C-3B16-447A-8F9F-1839C6F9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401A9CB-7318-4DF2-B464-BD3DA4CF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E18EC97-22E2-43A8-A71E-A25CB3A5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Diseño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7487615F-93E3-42C1-8592-777FD2E3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Decisiones y límites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documentados.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2DC028D-B78B-4B1C-B27C-A481B99F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B5CADC8-3C21-4729-84D0-AC1E57C6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6BECE8-2A26-49CD-90FF-B470EDA7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A0BF16A-B89E-4E81-96B4-62FBA044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2FE40BB-5EFB-4DD5-A65D-04417822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Evaluación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21862049-2AD2-4998-BB5C-70E6038F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Resultados trazables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respuestas a preguntas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técnicas.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C2022F92-21E4-4504-8F0E-BF040FC6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0BC8418-4BE5-43FF-AFFF-1E7B7A6C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19820AA0-F385-473D-995C-D1C1844F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inconsistencia buscarías al revisar la entrega de otro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equipo?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E4562E64-A86F-4520-B444-8DA19E08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5DE57A36-E988-4058-9916-6B4AF06D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4A62AB8C-159E-43A1-A1B7-F8314213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Cerrar con capturas de distintas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versiones sin identificarlo.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CFF29E44-35BF-4F22-A9B0-0059165E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D0487D23-9A6D-448D-8908-9381946E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entrega debe ser coherente entre sistema, documento y evidencia.</a:t>
            </a:r>
          </a:p>
        </p:txBody>
      </p:sp>
    </p:spTree>
    <p:extLst>
      <p:ext uri="{BB962C8B-B14F-4D97-AF65-F5344CB8AC3E}">
        <p14:creationId xmlns:p14="http://schemas.microsoft.com/office/powerpoint/2010/main" val="6457362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8FC5FC9E-6E10-4256-BE8E-DBC7E044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2A58C-D224-4C90-8A60-5C2761C5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63FF78B-4352-4EFA-8E50-4829DE33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D896E6B-1CFD-4CBA-B4C2-018A09A6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11 · Aplicación final y sustentación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E0C121-94E6-4FB8-A6AE-F630EF47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Lista final de revisión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B70C5F98-E332-4FD4-9381-6B1221AB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 que cada afirmación de la sustentación tiene una evidencia disponible.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B568F3F-5F42-4D13-8F8A-1E6F76B8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20AA5C6-D555-4CCD-BCF6-2D64995C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0A69647E-C335-4A66-B072-6261A38A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8294AD6-3F53-4B88-9177-9E29075B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E9E2C36-24B3-44A7-8AFE-9469BB9D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C502CB4-502E-40B1-8576-8D8B1EA3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F32929E-6219-4D27-AB34-24959BDC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11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81B4CCFE-6FB2-4027-8EF3-880E044D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FB650C7-C27F-487B-B24C-ABFDCA31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Acceso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URL y credencial del panel verificadas.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Evidencia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Trazas, evaluación y documento corresponden a la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versión entregada.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Ensayo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Demo cronometrada con contingencia preparada.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994F52B8-9CCF-4ABA-A424-65BAA754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CE133BB4-253E-4406-83B9-84B34161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8FDEBEFE-1333-4A69-922B-5633AAEB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Cerrar con capturas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distintas versiones sin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identificarlo.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C31C8531-6481-497E-B12E-BC9382F6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5259F7E5-4065-4964-A3B0-1EA750F6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9988B3E7-669E-43A8-B448-D37DE205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AA96058C-141E-4210-8556-8C2D2820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inconsistencia buscarías al revisar la entrega de otro equipo?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FF27E9BA-D195-4C2F-AEE0-21ED9C5D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85B4DDCC-083B-4BB9-B8BE-701EE3B3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entrega debe ser coherente entre sistema, documento y evidencia.</a:t>
            </a:r>
          </a:p>
        </p:txBody>
      </p:sp>
    </p:spTree>
    <p:extLst>
      <p:ext uri="{BB962C8B-B14F-4D97-AF65-F5344CB8AC3E}">
        <p14:creationId xmlns:p14="http://schemas.microsoft.com/office/powerpoint/2010/main" val="4274755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B860C12B-C125-4D42-B99B-A07DD862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B8870-B5A2-46A0-AADA-76103AE6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6111736-FACC-408E-825B-20D4B83B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DCC016B-6249-4882-B1C9-7842D080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11 · Aplicación final y sustentación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B73D17-3467-440E-857E-4023D28E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Rúbrica, laboratorio y cierre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659B9B2D-8AE2-4919-8779-80C9A2A2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 que cada afirmación de la sustentación tiene una evidencia disponible.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77EFEF62-C6EC-4961-B509-E4A43411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8FB8CBD-2211-43FE-B8C9-980C01E9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9DD27BF5-3B13-411C-B3C7-0A9128B4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1451FF2-6B63-4D64-9457-47C13794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406911B-74E8-44D8-B570-77AF0E0C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5EFFD08-1D95-4A26-BCF7-577870CF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B3258024-FA5F-4D17-B10B-CA2957DF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11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A92AC478-7F5E-43E7-B928-92B7C94F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31D589F-2106-4A0F-AEE5-E711F3FB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ANDINA SEGUROS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BC144329-FE06-4D67-BB6F-F2E351EE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5253568F-8C7F-4B62-8802-095EBAF0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9622C19A-A978-4636-84F9-D583A664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documento describe una versión distinta a la que está desplegada.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AF4E2AB-96B6-48AD-AE5E-686B3DE9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E08BF1E-B2A4-4DAE-9A86-6107FBF7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4D059-9738-4F1D-B227-9F746C6A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231EDBF-D59A-4CE6-BC7C-DA1A6276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CC13BB2-0631-4930-9F0A-D2429247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Detectar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1F00F8F2-0E45-4C75-9A5B-18D4A0AD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Las tools de la demo no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coinciden con el diagrama.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25FC245-1F31-4AB2-B189-51E9B4A1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34373E7-AC2B-4031-AFE2-5E04C2A8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3DEE8B-CF72-4C69-BFFD-9194A40A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05B2FCE-884B-41B9-9F28-D3924896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D829EF5-5E0F-4394-8740-1D72E58C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Alinear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B9425518-5319-4971-BD9A-027C1394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Actualizar la evidencia de la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versión realmente entregada.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3EC9A15-B522-4238-9C71-E95E546A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2FA4D6F-3C2B-49A0-8EAE-A3A5858B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2855AC-BA99-405A-B3DE-E7BE299D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65A8918-3A0F-4360-9C9A-04F61707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150F4BF-2A25-43A5-B7A6-6C1753F2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Verificar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7474653F-49EF-4FED-ABB5-0F22246B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Otro integrante recorre el caso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 documento y cliente.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12CABC34-6455-411C-918D-550F933A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405D16F6-A972-4549-B302-7B04C333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7C7943F3-4039-4533-925E-568F5596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seminario integra aprendizajes; Foundry se libera aparte como bonus no ponderado.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790A5FF5-5D5A-4912-8D9F-B4054B12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07CF8E1A-D19D-40BD-ADD7-7A4774E4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entrega debe ser coherente entre sistema, documento y evidencia.</a:t>
            </a:r>
          </a:p>
        </p:txBody>
      </p:sp>
    </p:spTree>
    <p:extLst>
      <p:ext uri="{BB962C8B-B14F-4D97-AF65-F5344CB8AC3E}">
        <p14:creationId xmlns:p14="http://schemas.microsoft.com/office/powerpoint/2010/main" val="11621636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2026-09-23T04:09:24.1610000Z</dcterms:created>
  <dcterms:modified xsi:type="dcterms:W3CDTF">2026-09-23T04:09:24.1610000Z</dcterms:modified>
</coreProperties>
</file>